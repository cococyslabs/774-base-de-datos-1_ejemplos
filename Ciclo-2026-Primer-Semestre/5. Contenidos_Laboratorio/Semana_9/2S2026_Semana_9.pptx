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18:49:46</a:t>
            </a:r>
          </a:p>
          <a:p>
            <a:r>
              <a:t>--------------------------------------------</a:t>
            </a:r>
          </a:p>
          <a:p>
            <a:r>
              <a:t>Las funciones de una sola fila son un código predefinido y muy potente que acepta argumentos y devuelven un valor. Un argumento se puede definir como un nombre de columna, una expresión o una constante.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18:49:47</a:t>
            </a:r>
          </a:p>
          <a:p>
            <a:r>
              <a:t>--------------------------------------------</a:t>
            </a:r>
          </a:p>
          <a:p>
            <a:r>
              <a:t>El motivo por el que Oracle diferencia entre 'V' y 'v' se debe al modo en el que almacena los caracteres.             No almacena los caracteres directamente, sino sus correspondientes valores binarios, dependiendo del juego de caracteres de la base de datos. En la mayoría del mundo occidental, se habrá utilizado un juego de caracteres ACSII como juego de caracteres de la base de datos, y los códigos binarios para 'V' y 'v' son números distintos; por lo tanto, Oracle no considera que sean iguales.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18:49:48</a:t>
            </a:r>
          </a:p>
          <a:p>
            <a:r>
              <a:t>--------------------------------------------</a:t>
            </a:r>
          </a:p>
          <a:p>
            <a:r>
              <a:t>El uso de las funciones de manipulación de mayúsculas/minúsculas en la cláusula WHERE le permite recuperar filas, independientemente de si están almacenadas en la tabla en mayúscula o minúscula. El uso de las funciones de manipulación de mayúsculas/minúsculas en la cláusula SELECT modifica la forma en la que se muestran los resultados de la consulta.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18:49:50</a:t>
            </a:r>
          </a:p>
          <a:p>
            <a:r>
              <a:t>--------------------------------------------</a:t>
            </a:r>
          </a:p>
          <a:p>
            <a:r>
              <a:t>El segundo ejemplo devuelve el número de caracteres en cada apellido de los empleados.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18:49:51</a:t>
            </a:r>
          </a:p>
          <a:p>
            <a:r>
              <a:t>--------------------------------------------</a:t>
            </a:r>
          </a:p>
          <a:p>
            <a:r>
              <a:t>Ejemplo 1: elimina la primera 'a' del inicio de la cadena 'abcba' Ejemplo 2: elimina la última 'a' del final de la cadena 'abcba'</a:t>
            </a:r>
          </a:p>
          <a:p>
            <a:r>
              <a:t>Ejemplo 3: elimina tanto la primera 'a' como la última 'a' de la cadena 'abcba'. Si se omite LEADING, TRAILING o BOTH, la función devuelve BOTH (ambos).</a:t>
            </a:r>
          </a:p>
          <a:p>
            <a:r>
              <a:t>Si el carácter especificado no es el primer (o último) carácter de la cadena, no se recorta, por ejemplo TRIM (LEADING 'a' FROM 'xyz') devolvería 'xyz'</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18:49:52</a:t>
            </a:r>
          </a:p>
          <a:p>
            <a:r>
              <a:t>--------------------------------------------</a:t>
            </a:r>
          </a:p>
          <a:p>
            <a:r>
              <a:t>Ejemplo 1: todas las instancias de 'J' en la cadena 'JACK and JUE' se sustituye por 'BL'. Ejemplo 2: si el argumento de cadena de sustitución se omite, se suprime string_to_replace. Por lo tanto todas las instancias de 'J' en la cadena 'JACK and JUE' se sustituye por 'BL'.</a:t>
            </a:r>
          </a:p>
          <a:p>
            <a:r>
              <a:t>Ejemplo 3: cada instancia del carácter 'a' en los apellidos del empleado se sustituye por un carácter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18:49:53</a:t>
            </a:r>
          </a:p>
          <a:p>
            <a:r>
              <a:t>--------------------------------------------</a:t>
            </a:r>
          </a:p>
          <a:p>
            <a:r>
              <a:t>El primer ejemplo utiliza un alias para la cabecera de columna, y es más legible y fácil de recordar que el segundo ejemplo que no tiene ningún alias de columna.</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18:50:21</a:t>
            </a:r>
          </a:p>
          <a:p>
            <a:r>
              <a:t>--------------------------------------------</a:t>
            </a:r>
          </a:p>
          <a:p>
            <a:r>
              <a:t>El uso de la función ROUND con fechas se tratará en una lección posterior.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18:50:22</a:t>
            </a:r>
          </a:p>
          <a:p>
            <a:r>
              <a:t>--------------------------------------------</a:t>
            </a:r>
          </a:p>
          <a:p>
            <a:r>
              <a:t>El uso de la función TRUNC con fechas se tratará en una lección posterior.</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18:50:22</a:t>
            </a:r>
          </a:p>
          <a:p>
            <a:r>
              <a:t>--------------------------------------------</a:t>
            </a:r>
          </a:p>
          <a:p>
            <a:r>
              <a:t>Nota: el operador de módulo se utiliza en muchos lenguajes de programación, y devuelve el resto de una operación de división.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2021-05-06 15:11:00</a:t>
            </a:r>
          </a:p>
          <a:p>
            <a:r>
              <a:t>--------------------------------------------</a:t>
            </a:r>
          </a:p>
          <a:p>
            <a:r>
              <a:t>Estos ejemplos muestran el uso de las operaciones aritméticas con fechas.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2021-05-06 15:11:01</a:t>
            </a:r>
          </a:p>
          <a:p>
            <a:r>
              <a:t>--------------------------------------------</a:t>
            </a:r>
          </a:p>
          <a:p>
            <a:r>
              <a:t>Para los ejemplos que figuran a continuación, SYSDATE es 01-Jul-2015</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2021-05-06 15:11:01</a:t>
            </a:r>
          </a:p>
          <a:p>
            <a:r>
              <a:t>--------------------------------------------</a:t>
            </a:r>
          </a:p>
          <a:p>
            <a:r>
              <a:t>Este ejemplo devuelve los empleados contratados hace más de 240 meses (20 años).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2021-05-06 15:11:01</a:t>
            </a:r>
          </a:p>
          <a:p>
            <a:r>
              <a:t>--------------------------------------------</a:t>
            </a:r>
          </a:p>
          <a:p>
            <a:r>
              <a:t>Este ejemplo agrega 12 meses a la fecha actual.</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18:52:06</a:t>
            </a:r>
          </a:p>
          <a:p>
            <a:r>
              <a:t>--------------------------------------------</a:t>
            </a:r>
          </a:p>
          <a:p>
            <a:r>
              <a:t>Las funciones anidadas se evalúan a partir de la función más profunda, continuando hacia la             menos profunda.</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18:52:11</a:t>
            </a:r>
          </a:p>
          <a:p>
            <a:r>
              <a:t>--------------------------------------------</a:t>
            </a:r>
          </a:p>
          <a:p>
            <a:r>
              <a:t>LONG es un tipo de dato de caracteres de longitud variable de hasta 2 GB de tamaño. Los tipos de dato se tratan más detalladamente más adelante en el curso.</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18:52:11</a:t>
            </a:r>
          </a:p>
          <a:p>
            <a:r>
              <a:t>--------------------------------------------</a:t>
            </a:r>
          </a:p>
          <a:p>
            <a:r>
              <a:t>NVL2 comprueba si la expresión 1 (commission_pct) tiene un valor. Si tiene un valor, se devuelve               la expresión 2 (salary + (salary * commission_pct). Si la expresión 1 es NULL, se devuelve la         expresión 3 (salary).</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18:52:13</a:t>
            </a:r>
          </a:p>
          <a:p>
            <a:r>
              <a:t>--------------------------------------------</a:t>
            </a:r>
          </a:p>
          <a:p>
            <a:r>
              <a:t>A menudo se utilizan funciones NULLIF después de realizar proyectos de migración de datos para probar si los datos del sistema de destino son los mismos que en los sistemas de origen iniciales. Por lo tanto,   se utiliza NULLIF para buscar excepciones, no coincidencias, normalmente valores nulos como resultado           de un valor NULLIF correcto, ya que desea que los datos de los sistemas de origen y destino sean exactamente los mismos.</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18:52:46</a:t>
            </a:r>
          </a:p>
          <a:p>
            <a:r>
              <a:t>--------------------------------------------</a:t>
            </a:r>
          </a:p>
          <a:p>
            <a:r>
              <a:t> </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showMasterSp="0">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2161607" y="2521799"/>
            <a:ext cx="4191000" cy="85725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4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sz="4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showMasterSp="0">
  <p:cSld name="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183005"/>
            <a:ext cx="3977640" cy="339471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183005"/>
            <a:ext cx="3977640" cy="339471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showMasterSp="0">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7620" y="0"/>
            <a:ext cx="9127236" cy="5143499"/>
          </a:xfrm>
          <a:prstGeom prst="rect">
            <a:avLst/>
          </a:prstGeom>
        </p:spPr>
      </p:pic>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385319"/>
            <a:ext cx="4735830" cy="8940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958315" y="862895"/>
            <a:ext cx="7047865" cy="1342389"/>
          </a:xfrm>
          <a:prstGeom prst="rect">
            <a:avLst/>
          </a:prstGeom>
        </p:spPr>
        <p:txBody>
          <a:bodyPr wrap="square" lIns="0" tIns="0" rIns="0" bIns="0">
            <a:spAutoFit/>
          </a:bodyPr>
          <a:lstStyle>
            <a:lvl1pPr>
              <a:defRPr sz="4800" b="0" i="0">
                <a:solidFill>
                  <a:srgbClr val="4E3629"/>
                </a:solidFill>
                <a:latin typeface="Calibri"/>
                <a:cs typeface="Calibri"/>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601456" y="6567768"/>
            <a:ext cx="340804" cy="155865"/>
          </a:xfrm>
          <a:prstGeom prst="rect">
            <a:avLst/>
          </a:prstGeom>
        </p:spPr>
        <p:txBody>
          <a:bodyPr wrap="square" lIns="0" tIns="0" rIns="0" bIns="0">
            <a:spAutoFit/>
          </a:bodyPr>
          <a:lstStyle>
            <a:lvl1pPr>
              <a:defRPr sz="1000" b="1" i="0">
                <a:solidFill>
                  <a:srgbClr val="4E3629"/>
                </a:solidFill>
                <a:latin typeface="Calibri"/>
                <a:cs typeface="Calibri"/>
              </a:defRPr>
            </a:lvl1pPr>
          </a:lstStyle>
          <a:p>
            <a:pPr marL="161290">
              <a:lnSpc>
                <a:spcPts val="1045"/>
              </a:lnSpc>
            </a:pPr>
            <a:fld id="{81D60167-4931-47E6-BA6A-407CBD079E47}" type="slidenum">
              <a:rPr dirty="0" spc="-50"/>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2.xml"/><Relationship Id="rId7"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4.xml"/><Relationship Id="rId6"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slide" Target="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slide" Target="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slide" Target="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 Id="rId5" Type="http://schemas.openxmlformats.org/officeDocument/2006/relationships/slide" Target="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slide" Target="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slide" Target="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22.xml"/><Relationship Id="rId6" Type="http://schemas.openxmlformats.org/officeDocument/2006/relationships/slide" Target="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jpg"/><Relationship Id="rId4" Type="http://schemas.openxmlformats.org/officeDocument/2006/relationships/notesSlide" Target="../notesSlides/notesSlide23.xml"/><Relationship Id="rId5" Type="http://schemas.openxmlformats.org/officeDocument/2006/relationships/slide" Target="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slide" Target="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slide" Target="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slide" Target="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slide" Target="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slide" Target="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slide" Target="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30.xml"/><Relationship Id="rId6" Type="http://schemas.openxmlformats.org/officeDocument/2006/relationships/slide" Target="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slide" Target="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slide" Target="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slide" Target="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4.xml"/><Relationship Id="rId5" Type="http://schemas.openxmlformats.org/officeDocument/2006/relationships/slide" Target="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slide" Target="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slide" Target="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slide" Target="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slide" Target="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slide" Target="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40.xml"/><Relationship Id="rId6" Type="http://schemas.openxmlformats.org/officeDocument/2006/relationships/slide" Target="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slide" Target="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42.xml"/><Relationship Id="rId5" Type="http://schemas.openxmlformats.org/officeDocument/2006/relationships/slide" Target="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slide" Target="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slide" Target="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slide" Target="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slide" Target="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slide" Target="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slide" Target="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slide" Target="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slide" Target="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slide" Target="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slide" Target="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slide" Target="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slide" Target="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notesSlide" Target="../notesSlides/notesSlide55.xml"/><Relationship Id="rId6" Type="http://schemas.openxmlformats.org/officeDocument/2006/relationships/slide" Target="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56.xml"/><Relationship Id="rId5" Type="http://schemas.openxmlformats.org/officeDocument/2006/relationships/slide" Target="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57.xml"/><Relationship Id="rId5" Type="http://schemas.openxmlformats.org/officeDocument/2006/relationships/slide" Target="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slide" Target="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slide" Target="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slide" Target="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slide" Target="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jpg"/><Relationship Id="rId3" Type="http://schemas.openxmlformats.org/officeDocument/2006/relationships/notesSlide" Target="../notesSlides/notesSlide62.xml"/><Relationship Id="rId4" Type="http://schemas.openxmlformats.org/officeDocument/2006/relationships/slide" Target="slide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5323732" y="965472"/>
          <a:ext cx="3776345" cy="684530"/>
        </p:xfrm>
        <a:graphic>
          <a:graphicData uri="http://schemas.openxmlformats.org/drawingml/2006/table">
            <a:tbl>
              <a:tblPr firstRow="1" bandRow="1">
                <a:tableStyleId>{2D5ABB26-0587-4C30-8999-92F81FD0307C}</a:tableStyleId>
              </a:tblPr>
              <a:tblGrid>
                <a:gridCol w="1518285"/>
                <a:gridCol w="2172335"/>
              </a:tblGrid>
              <a:tr h="321945">
                <a:tc>
                  <a:txBody>
                    <a:bodyPr/>
                    <a:lstStyle/>
                    <a:p>
                      <a:pPr marL="91440">
                        <a:lnSpc>
                          <a:spcPct val="100000"/>
                        </a:lnSpc>
                        <a:spcBef>
                          <a:spcPts val="340"/>
                        </a:spcBef>
                      </a:pPr>
                      <a:r>
                        <a:rPr dirty="0" sz="1400" b="1">
                          <a:latin typeface="Arial"/>
                          <a:cs typeface="Arial"/>
                        </a:rPr>
                        <a:t>Día,</a:t>
                      </a:r>
                      <a:r>
                        <a:rPr dirty="0" sz="1400" spc="45" b="1">
                          <a:latin typeface="Arial"/>
                          <a:cs typeface="Arial"/>
                        </a:rPr>
                        <a:t> </a:t>
                      </a:r>
                      <a:r>
                        <a:rPr dirty="0" sz="1400" spc="-10" b="1">
                          <a:latin typeface="Arial"/>
                          <a:cs typeface="Arial"/>
                        </a:rPr>
                        <a:t>Fecha:</a:t>
                      </a:r>
                      <a:endParaRPr sz="1400">
                        <a:latin typeface="Arial"/>
                        <a:cs typeface="Arial"/>
                      </a:endParaRPr>
                    </a:p>
                  </a:txBody>
                  <a:tcPr marL="0" marR="0" marB="0" marT="4318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315"/>
                        </a:spcBef>
                      </a:pPr>
                      <a:r>
                        <a:rPr dirty="0" sz="1400">
                          <a:latin typeface="Arial MT"/>
                          <a:cs typeface="Arial MT"/>
                        </a:rPr>
                        <a:t>Viernes</a:t>
                      </a:r>
                      <a:r>
                        <a:rPr dirty="0" sz="1400" spc="-75">
                          <a:latin typeface="Arial MT"/>
                          <a:cs typeface="Arial MT"/>
                        </a:rPr>
                        <a:t> </a:t>
                      </a:r>
                      <a:r>
                        <a:rPr dirty="0" sz="1400" spc="-10">
                          <a:latin typeface="Arial MT"/>
                          <a:cs typeface="Arial MT"/>
                        </a:rPr>
                        <a:t>26/09/2025</a:t>
                      </a:r>
                      <a:endParaRPr sz="1400">
                        <a:latin typeface="Arial MT"/>
                        <a:cs typeface="Arial MT"/>
                      </a:endParaRPr>
                    </a:p>
                  </a:txBody>
                  <a:tcPr marL="0" marR="0" marB="0" marT="40005">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362585">
                <a:tc>
                  <a:txBody>
                    <a:bodyPr/>
                    <a:lstStyle/>
                    <a:p>
                      <a:pPr marL="91440">
                        <a:lnSpc>
                          <a:spcPct val="100000"/>
                        </a:lnSpc>
                        <a:spcBef>
                          <a:spcPts val="345"/>
                        </a:spcBef>
                      </a:pPr>
                      <a:r>
                        <a:rPr dirty="0" sz="1400" b="1">
                          <a:latin typeface="Arial"/>
                          <a:cs typeface="Arial"/>
                        </a:rPr>
                        <a:t>Hora</a:t>
                      </a:r>
                      <a:r>
                        <a:rPr dirty="0" sz="1400" spc="25" b="1">
                          <a:latin typeface="Arial"/>
                          <a:cs typeface="Arial"/>
                        </a:rPr>
                        <a:t> </a:t>
                      </a:r>
                      <a:r>
                        <a:rPr dirty="0" sz="1400" b="1">
                          <a:latin typeface="Arial"/>
                          <a:cs typeface="Arial"/>
                        </a:rPr>
                        <a:t>de</a:t>
                      </a:r>
                      <a:r>
                        <a:rPr dirty="0" sz="1400" spc="20" b="1">
                          <a:latin typeface="Arial"/>
                          <a:cs typeface="Arial"/>
                        </a:rPr>
                        <a:t> </a:t>
                      </a:r>
                      <a:r>
                        <a:rPr dirty="0" sz="1400" spc="-10" b="1">
                          <a:latin typeface="Arial"/>
                          <a:cs typeface="Arial"/>
                        </a:rPr>
                        <a:t>inicio:</a:t>
                      </a:r>
                      <a:endParaRPr sz="1400">
                        <a:latin typeface="Arial"/>
                        <a:cs typeface="Arial"/>
                      </a:endParaRPr>
                    </a:p>
                  </a:txBody>
                  <a:tcPr marL="0" marR="0" marB="0" marT="43815">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320"/>
                        </a:spcBef>
                      </a:pPr>
                      <a:r>
                        <a:rPr dirty="0" sz="1400" spc="-10">
                          <a:latin typeface="Arial MT"/>
                          <a:cs typeface="Arial MT"/>
                        </a:rPr>
                        <a:t>17:20</a:t>
                      </a:r>
                      <a:endParaRPr sz="1400">
                        <a:latin typeface="Arial MT"/>
                        <a:cs typeface="Arial MT"/>
                      </a:endParaRPr>
                    </a:p>
                  </a:txBody>
                  <a:tcPr marL="0" marR="0" marB="0" marT="4064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bl>
          </a:graphicData>
        </a:graphic>
      </p:graphicFrame>
      <p:sp>
        <p:nvSpPr>
          <p:cNvPr id="3" name="object 3"/>
          <p:cNvSpPr txBox="1"/>
          <p:nvPr/>
        </p:nvSpPr>
        <p:spPr>
          <a:xfrm>
            <a:off x="1518030" y="2330322"/>
            <a:ext cx="6634480" cy="1224915"/>
          </a:xfrm>
          <a:prstGeom prst="rect">
            <a:avLst/>
          </a:prstGeom>
        </p:spPr>
        <p:txBody>
          <a:bodyPr wrap="square" lIns="0" tIns="12065" rIns="0" bIns="0" rtlCol="0" vert="horz">
            <a:spAutoFit/>
          </a:bodyPr>
          <a:lstStyle/>
          <a:p>
            <a:pPr marL="3098800" marR="5080" indent="-3086735">
              <a:lnSpc>
                <a:spcPct val="100000"/>
              </a:lnSpc>
              <a:spcBef>
                <a:spcPts val="95"/>
              </a:spcBef>
            </a:pPr>
            <a:r>
              <a:rPr dirty="0" sz="2500">
                <a:latin typeface="Arial MT"/>
                <a:cs typeface="Arial MT"/>
              </a:rPr>
              <a:t>0774</a:t>
            </a:r>
            <a:r>
              <a:rPr dirty="0" sz="2500" spc="-50">
                <a:latin typeface="Arial MT"/>
                <a:cs typeface="Arial MT"/>
              </a:rPr>
              <a:t> </a:t>
            </a:r>
            <a:r>
              <a:rPr dirty="0" sz="2500">
                <a:latin typeface="Arial MT"/>
                <a:cs typeface="Arial MT"/>
              </a:rPr>
              <a:t>–</a:t>
            </a:r>
            <a:r>
              <a:rPr dirty="0" sz="2500" spc="-30">
                <a:latin typeface="Arial MT"/>
                <a:cs typeface="Arial MT"/>
              </a:rPr>
              <a:t> </a:t>
            </a:r>
            <a:r>
              <a:rPr dirty="0" sz="2500">
                <a:latin typeface="Arial MT"/>
                <a:cs typeface="Arial MT"/>
              </a:rPr>
              <a:t>Sistemas</a:t>
            </a:r>
            <a:r>
              <a:rPr dirty="0" sz="2500" spc="-35">
                <a:latin typeface="Arial MT"/>
                <a:cs typeface="Arial MT"/>
              </a:rPr>
              <a:t> </a:t>
            </a:r>
            <a:r>
              <a:rPr dirty="0" sz="2500">
                <a:latin typeface="Arial MT"/>
                <a:cs typeface="Arial MT"/>
              </a:rPr>
              <a:t>de</a:t>
            </a:r>
            <a:r>
              <a:rPr dirty="0" sz="2500" spc="-35">
                <a:latin typeface="Arial MT"/>
                <a:cs typeface="Arial MT"/>
              </a:rPr>
              <a:t> </a:t>
            </a:r>
            <a:r>
              <a:rPr dirty="0" sz="2500">
                <a:latin typeface="Arial MT"/>
                <a:cs typeface="Arial MT"/>
              </a:rPr>
              <a:t>Bases</a:t>
            </a:r>
            <a:r>
              <a:rPr dirty="0" sz="2500" spc="-45">
                <a:latin typeface="Arial MT"/>
                <a:cs typeface="Arial MT"/>
              </a:rPr>
              <a:t> </a:t>
            </a:r>
            <a:r>
              <a:rPr dirty="0" sz="2500">
                <a:latin typeface="Arial MT"/>
                <a:cs typeface="Arial MT"/>
              </a:rPr>
              <a:t>de</a:t>
            </a:r>
            <a:r>
              <a:rPr dirty="0" sz="2500" spc="-30">
                <a:latin typeface="Arial MT"/>
                <a:cs typeface="Arial MT"/>
              </a:rPr>
              <a:t> </a:t>
            </a:r>
            <a:r>
              <a:rPr dirty="0" sz="2500">
                <a:latin typeface="Arial MT"/>
                <a:cs typeface="Arial MT"/>
              </a:rPr>
              <a:t>Datos</a:t>
            </a:r>
            <a:r>
              <a:rPr dirty="0" sz="2500" spc="-45">
                <a:latin typeface="Arial MT"/>
                <a:cs typeface="Arial MT"/>
              </a:rPr>
              <a:t> </a:t>
            </a:r>
            <a:r>
              <a:rPr dirty="0" sz="2500">
                <a:latin typeface="Arial MT"/>
                <a:cs typeface="Arial MT"/>
              </a:rPr>
              <a:t>1</a:t>
            </a:r>
            <a:r>
              <a:rPr dirty="0" sz="2500" spc="-35">
                <a:latin typeface="Arial MT"/>
                <a:cs typeface="Arial MT"/>
              </a:rPr>
              <a:t> </a:t>
            </a:r>
            <a:r>
              <a:rPr dirty="0" sz="2500" spc="-10">
                <a:latin typeface="Arial MT"/>
                <a:cs typeface="Arial MT"/>
              </a:rPr>
              <a:t>Sección </a:t>
            </a:r>
            <a:r>
              <a:rPr dirty="0" sz="2500" spc="-25">
                <a:latin typeface="Arial MT"/>
                <a:cs typeface="Arial MT"/>
              </a:rPr>
              <a:t>“N”</a:t>
            </a:r>
            <a:endParaRPr sz="2500">
              <a:latin typeface="Arial MT"/>
              <a:cs typeface="Arial MT"/>
            </a:endParaRPr>
          </a:p>
          <a:p>
            <a:pPr algn="ctr" marR="298450">
              <a:lnSpc>
                <a:spcPct val="100000"/>
              </a:lnSpc>
              <a:spcBef>
                <a:spcPts val="1045"/>
              </a:spcBef>
            </a:pPr>
            <a:r>
              <a:rPr dirty="0" sz="2000" b="1">
                <a:latin typeface="Arial"/>
                <a:cs typeface="Arial"/>
              </a:rPr>
              <a:t>Heinz</a:t>
            </a:r>
            <a:r>
              <a:rPr dirty="0" sz="2000" spc="-40" b="1">
                <a:latin typeface="Arial"/>
                <a:cs typeface="Arial"/>
              </a:rPr>
              <a:t> </a:t>
            </a:r>
            <a:r>
              <a:rPr dirty="0" sz="2000" b="1">
                <a:latin typeface="Arial"/>
                <a:cs typeface="Arial"/>
              </a:rPr>
              <a:t>Ricardo</a:t>
            </a:r>
            <a:r>
              <a:rPr dirty="0" sz="2000" spc="-35" b="1">
                <a:latin typeface="Arial"/>
                <a:cs typeface="Arial"/>
              </a:rPr>
              <a:t> </a:t>
            </a:r>
            <a:r>
              <a:rPr dirty="0" sz="2000" b="1">
                <a:latin typeface="Arial"/>
                <a:cs typeface="Arial"/>
              </a:rPr>
              <a:t>Gómez</a:t>
            </a:r>
            <a:r>
              <a:rPr dirty="0" sz="2000" spc="-35" b="1">
                <a:latin typeface="Arial"/>
                <a:cs typeface="Arial"/>
              </a:rPr>
              <a:t> </a:t>
            </a:r>
            <a:r>
              <a:rPr dirty="0" sz="2000" spc="-10" b="1">
                <a:latin typeface="Arial"/>
                <a:cs typeface="Arial"/>
              </a:rPr>
              <a:t>Galindo</a:t>
            </a:r>
            <a:endParaRPr sz="20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634983" y="79247"/>
            <a:ext cx="365760" cy="437515"/>
            <a:chOff x="8634983" y="79247"/>
            <a:chExt cx="365760" cy="437515"/>
          </a:xfrm>
        </p:grpSpPr>
        <p:sp>
          <p:nvSpPr>
            <p:cNvPr id="3" name="object 3"/>
            <p:cNvSpPr/>
            <p:nvPr/>
          </p:nvSpPr>
          <p:spPr>
            <a:xfrm>
              <a:off x="8634984" y="79247"/>
              <a:ext cx="365760" cy="437515"/>
            </a:xfrm>
            <a:custGeom>
              <a:avLst/>
              <a:gdLst/>
              <a:ahLst/>
              <a:cxnLst/>
              <a:rect l="l" t="t" r="r" b="b"/>
              <a:pathLst>
                <a:path w="365759" h="437515">
                  <a:moveTo>
                    <a:pt x="365633" y="355727"/>
                  </a:moveTo>
                  <a:lnTo>
                    <a:pt x="363347" y="344043"/>
                  </a:lnTo>
                  <a:lnTo>
                    <a:pt x="356997" y="334518"/>
                  </a:lnTo>
                  <a:lnTo>
                    <a:pt x="347472" y="328041"/>
                  </a:lnTo>
                  <a:lnTo>
                    <a:pt x="335915" y="325755"/>
                  </a:lnTo>
                  <a:lnTo>
                    <a:pt x="326771" y="325755"/>
                  </a:lnTo>
                  <a:lnTo>
                    <a:pt x="310642" y="305054"/>
                  </a:lnTo>
                  <a:lnTo>
                    <a:pt x="304292" y="292633"/>
                  </a:lnTo>
                  <a:lnTo>
                    <a:pt x="304292" y="325755"/>
                  </a:lnTo>
                  <a:lnTo>
                    <a:pt x="212598" y="325755"/>
                  </a:lnTo>
                  <a:lnTo>
                    <a:pt x="212598" y="385699"/>
                  </a:lnTo>
                  <a:lnTo>
                    <a:pt x="212598" y="390017"/>
                  </a:lnTo>
                  <a:lnTo>
                    <a:pt x="210312" y="401701"/>
                  </a:lnTo>
                  <a:lnTo>
                    <a:pt x="203835" y="411226"/>
                  </a:lnTo>
                  <a:lnTo>
                    <a:pt x="194437" y="417576"/>
                  </a:lnTo>
                  <a:lnTo>
                    <a:pt x="182880" y="419989"/>
                  </a:lnTo>
                  <a:lnTo>
                    <a:pt x="171323" y="417576"/>
                  </a:lnTo>
                  <a:lnTo>
                    <a:pt x="161798" y="411226"/>
                  </a:lnTo>
                  <a:lnTo>
                    <a:pt x="155448" y="401701"/>
                  </a:lnTo>
                  <a:lnTo>
                    <a:pt x="153035" y="390017"/>
                  </a:lnTo>
                  <a:lnTo>
                    <a:pt x="153035" y="385699"/>
                  </a:lnTo>
                  <a:lnTo>
                    <a:pt x="212598" y="385699"/>
                  </a:lnTo>
                  <a:lnTo>
                    <a:pt x="212598" y="325755"/>
                  </a:lnTo>
                  <a:lnTo>
                    <a:pt x="61341" y="325755"/>
                  </a:lnTo>
                  <a:lnTo>
                    <a:pt x="75184" y="304419"/>
                  </a:lnTo>
                  <a:lnTo>
                    <a:pt x="85217" y="281178"/>
                  </a:lnTo>
                  <a:lnTo>
                    <a:pt x="91440" y="256540"/>
                  </a:lnTo>
                  <a:lnTo>
                    <a:pt x="93599" y="230759"/>
                  </a:lnTo>
                  <a:lnTo>
                    <a:pt x="93599" y="158623"/>
                  </a:lnTo>
                  <a:lnTo>
                    <a:pt x="96774" y="134620"/>
                  </a:lnTo>
                  <a:lnTo>
                    <a:pt x="119761" y="94996"/>
                  </a:lnTo>
                  <a:lnTo>
                    <a:pt x="159131" y="71755"/>
                  </a:lnTo>
                  <a:lnTo>
                    <a:pt x="182880" y="68580"/>
                  </a:lnTo>
                  <a:lnTo>
                    <a:pt x="206502" y="71755"/>
                  </a:lnTo>
                  <a:lnTo>
                    <a:pt x="245999" y="94996"/>
                  </a:lnTo>
                  <a:lnTo>
                    <a:pt x="268986" y="134620"/>
                  </a:lnTo>
                  <a:lnTo>
                    <a:pt x="272161" y="158623"/>
                  </a:lnTo>
                  <a:lnTo>
                    <a:pt x="272161" y="230759"/>
                  </a:lnTo>
                  <a:lnTo>
                    <a:pt x="274193" y="256540"/>
                  </a:lnTo>
                  <a:lnTo>
                    <a:pt x="280416" y="281178"/>
                  </a:lnTo>
                  <a:lnTo>
                    <a:pt x="290449" y="304419"/>
                  </a:lnTo>
                  <a:lnTo>
                    <a:pt x="304292" y="325755"/>
                  </a:lnTo>
                  <a:lnTo>
                    <a:pt x="304292" y="292633"/>
                  </a:lnTo>
                  <a:lnTo>
                    <a:pt x="298831" y="281940"/>
                  </a:lnTo>
                  <a:lnTo>
                    <a:pt x="291592" y="257048"/>
                  </a:lnTo>
                  <a:lnTo>
                    <a:pt x="289179" y="230759"/>
                  </a:lnTo>
                  <a:lnTo>
                    <a:pt x="289179" y="158623"/>
                  </a:lnTo>
                  <a:lnTo>
                    <a:pt x="286385" y="134112"/>
                  </a:lnTo>
                  <a:lnTo>
                    <a:pt x="278384" y="111506"/>
                  </a:lnTo>
                  <a:lnTo>
                    <a:pt x="265811" y="91694"/>
                  </a:lnTo>
                  <a:lnTo>
                    <a:pt x="239268" y="68580"/>
                  </a:lnTo>
                  <a:lnTo>
                    <a:pt x="229616" y="62357"/>
                  </a:lnTo>
                  <a:lnTo>
                    <a:pt x="229616" y="55753"/>
                  </a:lnTo>
                  <a:lnTo>
                    <a:pt x="229616" y="47117"/>
                  </a:lnTo>
                  <a:lnTo>
                    <a:pt x="225933" y="28829"/>
                  </a:lnTo>
                  <a:lnTo>
                    <a:pt x="218059" y="17145"/>
                  </a:lnTo>
                  <a:lnTo>
                    <a:pt x="215900" y="13843"/>
                  </a:lnTo>
                  <a:lnTo>
                    <a:pt x="212598" y="11595"/>
                  </a:lnTo>
                  <a:lnTo>
                    <a:pt x="212598" y="47117"/>
                  </a:lnTo>
                  <a:lnTo>
                    <a:pt x="212598" y="55753"/>
                  </a:lnTo>
                  <a:lnTo>
                    <a:pt x="197866" y="52451"/>
                  </a:lnTo>
                  <a:lnTo>
                    <a:pt x="182880" y="51435"/>
                  </a:lnTo>
                  <a:lnTo>
                    <a:pt x="167894" y="52451"/>
                  </a:lnTo>
                  <a:lnTo>
                    <a:pt x="153035" y="55753"/>
                  </a:lnTo>
                  <a:lnTo>
                    <a:pt x="153035" y="47117"/>
                  </a:lnTo>
                  <a:lnTo>
                    <a:pt x="155448" y="35433"/>
                  </a:lnTo>
                  <a:lnTo>
                    <a:pt x="161798" y="25908"/>
                  </a:lnTo>
                  <a:lnTo>
                    <a:pt x="171323" y="19558"/>
                  </a:lnTo>
                  <a:lnTo>
                    <a:pt x="182880" y="17145"/>
                  </a:lnTo>
                  <a:lnTo>
                    <a:pt x="194437" y="19558"/>
                  </a:lnTo>
                  <a:lnTo>
                    <a:pt x="203835" y="25908"/>
                  </a:lnTo>
                  <a:lnTo>
                    <a:pt x="210312" y="35433"/>
                  </a:lnTo>
                  <a:lnTo>
                    <a:pt x="212598" y="47117"/>
                  </a:lnTo>
                  <a:lnTo>
                    <a:pt x="212598" y="11595"/>
                  </a:lnTo>
                  <a:lnTo>
                    <a:pt x="201041" y="3683"/>
                  </a:lnTo>
                  <a:lnTo>
                    <a:pt x="182880" y="0"/>
                  </a:lnTo>
                  <a:lnTo>
                    <a:pt x="164592" y="3683"/>
                  </a:lnTo>
                  <a:lnTo>
                    <a:pt x="149733" y="13843"/>
                  </a:lnTo>
                  <a:lnTo>
                    <a:pt x="139700" y="28829"/>
                  </a:lnTo>
                  <a:lnTo>
                    <a:pt x="136017" y="47117"/>
                  </a:lnTo>
                  <a:lnTo>
                    <a:pt x="136017" y="62357"/>
                  </a:lnTo>
                  <a:lnTo>
                    <a:pt x="116332" y="75057"/>
                  </a:lnTo>
                  <a:lnTo>
                    <a:pt x="99949" y="91694"/>
                  </a:lnTo>
                  <a:lnTo>
                    <a:pt x="87376" y="111506"/>
                  </a:lnTo>
                  <a:lnTo>
                    <a:pt x="79375" y="134112"/>
                  </a:lnTo>
                  <a:lnTo>
                    <a:pt x="76581" y="158623"/>
                  </a:lnTo>
                  <a:lnTo>
                    <a:pt x="76581" y="230759"/>
                  </a:lnTo>
                  <a:lnTo>
                    <a:pt x="74041" y="257048"/>
                  </a:lnTo>
                  <a:lnTo>
                    <a:pt x="66802" y="281940"/>
                  </a:lnTo>
                  <a:lnTo>
                    <a:pt x="54991" y="305054"/>
                  </a:lnTo>
                  <a:lnTo>
                    <a:pt x="38989" y="325755"/>
                  </a:lnTo>
                  <a:lnTo>
                    <a:pt x="29718" y="325755"/>
                  </a:lnTo>
                  <a:lnTo>
                    <a:pt x="18161" y="328041"/>
                  </a:lnTo>
                  <a:lnTo>
                    <a:pt x="8763" y="334518"/>
                  </a:lnTo>
                  <a:lnTo>
                    <a:pt x="2286" y="344043"/>
                  </a:lnTo>
                  <a:lnTo>
                    <a:pt x="0" y="355727"/>
                  </a:lnTo>
                  <a:lnTo>
                    <a:pt x="2286" y="367411"/>
                  </a:lnTo>
                  <a:lnTo>
                    <a:pt x="8763" y="376936"/>
                  </a:lnTo>
                  <a:lnTo>
                    <a:pt x="18161" y="383413"/>
                  </a:lnTo>
                  <a:lnTo>
                    <a:pt x="29718" y="385699"/>
                  </a:lnTo>
                  <a:lnTo>
                    <a:pt x="136017" y="385699"/>
                  </a:lnTo>
                  <a:lnTo>
                    <a:pt x="136017" y="390017"/>
                  </a:lnTo>
                  <a:lnTo>
                    <a:pt x="139700" y="408305"/>
                  </a:lnTo>
                  <a:lnTo>
                    <a:pt x="149733" y="423291"/>
                  </a:lnTo>
                  <a:lnTo>
                    <a:pt x="164592" y="433451"/>
                  </a:lnTo>
                  <a:lnTo>
                    <a:pt x="182880" y="437134"/>
                  </a:lnTo>
                  <a:lnTo>
                    <a:pt x="201041" y="433451"/>
                  </a:lnTo>
                  <a:lnTo>
                    <a:pt x="215900" y="423291"/>
                  </a:lnTo>
                  <a:lnTo>
                    <a:pt x="218059" y="419989"/>
                  </a:lnTo>
                  <a:lnTo>
                    <a:pt x="225933" y="408305"/>
                  </a:lnTo>
                  <a:lnTo>
                    <a:pt x="229616" y="390017"/>
                  </a:lnTo>
                  <a:lnTo>
                    <a:pt x="229616" y="385699"/>
                  </a:lnTo>
                  <a:lnTo>
                    <a:pt x="335915" y="385699"/>
                  </a:lnTo>
                  <a:lnTo>
                    <a:pt x="347472" y="383413"/>
                  </a:lnTo>
                  <a:lnTo>
                    <a:pt x="356997" y="376936"/>
                  </a:lnTo>
                  <a:lnTo>
                    <a:pt x="363347" y="367411"/>
                  </a:lnTo>
                  <a:lnTo>
                    <a:pt x="365633" y="355727"/>
                  </a:lnTo>
                  <a:close/>
                </a:path>
              </a:pathLst>
            </a:custGeom>
            <a:solidFill>
              <a:srgbClr val="000000"/>
            </a:solidFill>
          </p:spPr>
          <p:txBody>
            <a:bodyPr wrap="square" lIns="0" tIns="0" rIns="0" bIns="0" rtlCol="0"/>
            <a:lstStyle/>
            <a:p/>
          </p:txBody>
        </p:sp>
        <p:pic>
          <p:nvPicPr>
            <p:cNvPr id="4" name="object 4"/>
            <p:cNvPicPr/>
            <p:nvPr/>
          </p:nvPicPr>
          <p:blipFill>
            <a:blip r:embed="rId2" cstate="print"/>
            <a:stretch>
              <a:fillRect/>
            </a:stretch>
          </p:blipFill>
          <p:spPr>
            <a:xfrm>
              <a:off x="8892539" y="124967"/>
              <a:ext cx="67055" cy="111251"/>
            </a:xfrm>
            <a:prstGeom prst="rect">
              <a:avLst/>
            </a:prstGeom>
          </p:spPr>
        </p:pic>
        <p:pic>
          <p:nvPicPr>
            <p:cNvPr id="5" name="object 5"/>
            <p:cNvPicPr/>
            <p:nvPr/>
          </p:nvPicPr>
          <p:blipFill>
            <a:blip r:embed="rId3" cstate="print"/>
            <a:stretch>
              <a:fillRect/>
            </a:stretch>
          </p:blipFill>
          <p:spPr>
            <a:xfrm>
              <a:off x="8901683" y="79247"/>
              <a:ext cx="98806" cy="170561"/>
            </a:xfrm>
            <a:prstGeom prst="rect">
              <a:avLst/>
            </a:prstGeom>
          </p:spPr>
        </p:pic>
        <p:pic>
          <p:nvPicPr>
            <p:cNvPr id="6" name="object 6"/>
            <p:cNvPicPr/>
            <p:nvPr/>
          </p:nvPicPr>
          <p:blipFill>
            <a:blip r:embed="rId4" cstate="print"/>
            <a:stretch>
              <a:fillRect/>
            </a:stretch>
          </p:blipFill>
          <p:spPr>
            <a:xfrm>
              <a:off x="8674607" y="124967"/>
              <a:ext cx="68579" cy="111251"/>
            </a:xfrm>
            <a:prstGeom prst="rect">
              <a:avLst/>
            </a:prstGeom>
          </p:spPr>
        </p:pic>
        <p:pic>
          <p:nvPicPr>
            <p:cNvPr id="7" name="object 7"/>
            <p:cNvPicPr/>
            <p:nvPr/>
          </p:nvPicPr>
          <p:blipFill>
            <a:blip r:embed="rId5" cstate="print"/>
            <a:stretch>
              <a:fillRect/>
            </a:stretch>
          </p:blipFill>
          <p:spPr>
            <a:xfrm>
              <a:off x="8634983" y="79247"/>
              <a:ext cx="98806" cy="170561"/>
            </a:xfrm>
            <a:prstGeom prst="rect">
              <a:avLst/>
            </a:prstGeom>
          </p:spPr>
        </p:pic>
      </p:grpSp>
      <p:sp>
        <p:nvSpPr>
          <p:cNvPr id="8" name="object 8" descr="$PPTXTitle"/>
          <p:cNvSpPr txBox="1">
            <a:spLocks noGrp="1"/>
          </p:cNvSpPr>
          <p:nvPr>
            <p:ph type="title"/>
          </p:nvPr>
        </p:nvSpPr>
        <p:spPr>
          <a:xfrm>
            <a:off x="1136700" y="301193"/>
            <a:ext cx="5832475" cy="1169035"/>
          </a:xfrm>
          <a:prstGeom prst="rect"/>
        </p:spPr>
        <p:txBody>
          <a:bodyPr wrap="square" lIns="0" tIns="12700" rIns="0" bIns="0" rtlCol="0" vert="horz">
            <a:spAutoFit/>
          </a:bodyPr>
          <a:lstStyle/>
          <a:p>
            <a:pPr marL="12700">
              <a:lnSpc>
                <a:spcPct val="100000"/>
              </a:lnSpc>
              <a:spcBef>
                <a:spcPts val="100"/>
              </a:spcBef>
            </a:pPr>
            <a:r>
              <a:rPr dirty="0" sz="7500" spc="-919">
                <a:solidFill>
                  <a:srgbClr val="121216"/>
                </a:solidFill>
                <a:latin typeface="Trebuchet MS"/>
                <a:cs typeface="Trebuchet MS"/>
              </a:rPr>
              <a:t>Ag</a:t>
            </a:r>
            <a:r>
              <a:rPr dirty="0" sz="7500" spc="-925">
                <a:solidFill>
                  <a:srgbClr val="121216"/>
                </a:solidFill>
                <a:latin typeface="Trebuchet MS"/>
                <a:cs typeface="Trebuchet MS"/>
              </a:rPr>
              <a:t>e</a:t>
            </a:r>
            <a:r>
              <a:rPr dirty="0" sz="7500" spc="-944">
                <a:solidFill>
                  <a:srgbClr val="121216"/>
                </a:solidFill>
                <a:latin typeface="Trebuchet MS"/>
                <a:cs typeface="Trebuchet MS"/>
              </a:rPr>
              <a:t>n</a:t>
            </a:r>
            <a:r>
              <a:rPr dirty="0" sz="7500" spc="-925">
                <a:solidFill>
                  <a:srgbClr val="121216"/>
                </a:solidFill>
                <a:latin typeface="Trebuchet MS"/>
                <a:cs typeface="Trebuchet MS"/>
              </a:rPr>
              <a:t>d</a:t>
            </a:r>
            <a:r>
              <a:rPr dirty="0" sz="7500" spc="465">
                <a:solidFill>
                  <a:srgbClr val="121216"/>
                </a:solidFill>
                <a:latin typeface="Trebuchet MS"/>
                <a:cs typeface="Trebuchet MS"/>
              </a:rPr>
              <a:t>a</a:t>
            </a:r>
            <a:r>
              <a:rPr dirty="0" sz="7500" spc="-930">
                <a:solidFill>
                  <a:srgbClr val="121216"/>
                </a:solidFill>
                <a:latin typeface="Trebuchet MS"/>
                <a:cs typeface="Trebuchet MS"/>
              </a:rPr>
              <a:t>s</a:t>
            </a:r>
            <a:r>
              <a:rPr dirty="0" sz="7500" spc="-925">
                <a:solidFill>
                  <a:srgbClr val="121216"/>
                </a:solidFill>
                <a:latin typeface="Trebuchet MS"/>
                <a:cs typeface="Trebuchet MS"/>
              </a:rPr>
              <a:t>ema</a:t>
            </a:r>
            <a:r>
              <a:rPr dirty="0" sz="7500" spc="-944">
                <a:solidFill>
                  <a:srgbClr val="121216"/>
                </a:solidFill>
                <a:latin typeface="Trebuchet MS"/>
                <a:cs typeface="Trebuchet MS"/>
              </a:rPr>
              <a:t>n</a:t>
            </a:r>
            <a:r>
              <a:rPr dirty="0" sz="7500" spc="470">
                <a:solidFill>
                  <a:srgbClr val="121216"/>
                </a:solidFill>
                <a:latin typeface="Trebuchet MS"/>
                <a:cs typeface="Trebuchet MS"/>
              </a:rPr>
              <a:t>a</a:t>
            </a:r>
            <a:r>
              <a:rPr dirty="0" sz="7500" spc="-20">
                <a:solidFill>
                  <a:srgbClr val="121216"/>
                </a:solidFill>
                <a:latin typeface="Trebuchet MS"/>
                <a:cs typeface="Trebuchet MS"/>
              </a:rPr>
              <a:t>9</a:t>
            </a:r>
            <a:endParaRPr sz="7500">
              <a:latin typeface="Trebuchet MS"/>
              <a:cs typeface="Trebuchet MS"/>
            </a:endParaRPr>
          </a:p>
        </p:txBody>
      </p:sp>
      <p:sp>
        <p:nvSpPr>
          <p:cNvPr id="9" name="object 9"/>
          <p:cNvSpPr/>
          <p:nvPr/>
        </p:nvSpPr>
        <p:spPr>
          <a:xfrm>
            <a:off x="4870703" y="1880616"/>
            <a:ext cx="2607945" cy="511809"/>
          </a:xfrm>
          <a:custGeom>
            <a:avLst/>
            <a:gdLst/>
            <a:ahLst/>
            <a:cxnLst/>
            <a:rect l="l" t="t" r="r" b="b"/>
            <a:pathLst>
              <a:path w="2607945" h="511810">
                <a:moveTo>
                  <a:pt x="2341879" y="511556"/>
                </a:moveTo>
                <a:lnTo>
                  <a:pt x="2607437" y="258826"/>
                </a:lnTo>
              </a:path>
              <a:path w="2607945" h="511810">
                <a:moveTo>
                  <a:pt x="2607564" y="255143"/>
                </a:moveTo>
                <a:lnTo>
                  <a:pt x="2339467" y="0"/>
                </a:lnTo>
                <a:lnTo>
                  <a:pt x="0" y="0"/>
                </a:lnTo>
                <a:lnTo>
                  <a:pt x="0" y="511683"/>
                </a:lnTo>
              </a:path>
            </a:pathLst>
          </a:custGeom>
          <a:ln w="76200">
            <a:solidFill>
              <a:srgbClr val="000000"/>
            </a:solidFill>
          </a:ln>
        </p:spPr>
        <p:txBody>
          <a:bodyPr wrap="square" lIns="0" tIns="0" rIns="0" bIns="0" rtlCol="0"/>
          <a:lstStyle/>
          <a:p/>
        </p:txBody>
      </p:sp>
      <p:sp>
        <p:nvSpPr>
          <p:cNvPr id="10" name="object 10"/>
          <p:cNvSpPr/>
          <p:nvPr/>
        </p:nvSpPr>
        <p:spPr>
          <a:xfrm>
            <a:off x="1557527" y="2593848"/>
            <a:ext cx="2741930" cy="734060"/>
          </a:xfrm>
          <a:custGeom>
            <a:avLst/>
            <a:gdLst/>
            <a:ahLst/>
            <a:cxnLst/>
            <a:rect l="l" t="t" r="r" b="b"/>
            <a:pathLst>
              <a:path w="2741929" h="734060">
                <a:moveTo>
                  <a:pt x="2462403" y="733932"/>
                </a:moveTo>
                <a:lnTo>
                  <a:pt x="2741549" y="371220"/>
                </a:lnTo>
              </a:path>
              <a:path w="2741929" h="734060">
                <a:moveTo>
                  <a:pt x="2741676" y="366013"/>
                </a:moveTo>
                <a:lnTo>
                  <a:pt x="2459863" y="0"/>
                </a:lnTo>
                <a:lnTo>
                  <a:pt x="0" y="0"/>
                </a:lnTo>
                <a:lnTo>
                  <a:pt x="0" y="733932"/>
                </a:lnTo>
              </a:path>
            </a:pathLst>
          </a:custGeom>
          <a:ln w="76200">
            <a:solidFill>
              <a:srgbClr val="000000"/>
            </a:solidFill>
          </a:ln>
        </p:spPr>
        <p:txBody>
          <a:bodyPr wrap="square" lIns="0" tIns="0" rIns="0" bIns="0" rtlCol="0"/>
          <a:lstStyle/>
          <a:p/>
        </p:txBody>
      </p:sp>
      <p:sp>
        <p:nvSpPr>
          <p:cNvPr id="11" name="object 11"/>
          <p:cNvSpPr/>
          <p:nvPr/>
        </p:nvSpPr>
        <p:spPr>
          <a:xfrm>
            <a:off x="4867655" y="2577083"/>
            <a:ext cx="2609215" cy="502920"/>
          </a:xfrm>
          <a:custGeom>
            <a:avLst/>
            <a:gdLst/>
            <a:ahLst/>
            <a:cxnLst/>
            <a:rect l="l" t="t" r="r" b="b"/>
            <a:pathLst>
              <a:path w="2609215" h="502919">
                <a:moveTo>
                  <a:pt x="2343277" y="502412"/>
                </a:moveTo>
                <a:lnTo>
                  <a:pt x="2608961" y="254127"/>
                </a:lnTo>
              </a:path>
              <a:path w="2609215" h="502919">
                <a:moveTo>
                  <a:pt x="2609088" y="250571"/>
                </a:moveTo>
                <a:lnTo>
                  <a:pt x="2340864" y="0"/>
                </a:lnTo>
                <a:lnTo>
                  <a:pt x="0" y="0"/>
                </a:lnTo>
                <a:lnTo>
                  <a:pt x="0" y="502539"/>
                </a:lnTo>
              </a:path>
            </a:pathLst>
          </a:custGeom>
          <a:ln w="76200">
            <a:solidFill>
              <a:srgbClr val="000000"/>
            </a:solidFill>
          </a:ln>
        </p:spPr>
        <p:txBody>
          <a:bodyPr wrap="square" lIns="0" tIns="0" rIns="0" bIns="0" rtlCol="0"/>
          <a:lstStyle/>
          <a:p/>
        </p:txBody>
      </p:sp>
      <p:sp>
        <p:nvSpPr>
          <p:cNvPr id="12" name="object 12"/>
          <p:cNvSpPr/>
          <p:nvPr/>
        </p:nvSpPr>
        <p:spPr>
          <a:xfrm>
            <a:off x="1557527" y="3515867"/>
            <a:ext cx="2682240" cy="518159"/>
          </a:xfrm>
          <a:custGeom>
            <a:avLst/>
            <a:gdLst/>
            <a:ahLst/>
            <a:cxnLst/>
            <a:rect l="l" t="t" r="r" b="b"/>
            <a:pathLst>
              <a:path w="2682240" h="518160">
                <a:moveTo>
                  <a:pt x="2408936" y="517702"/>
                </a:moveTo>
                <a:lnTo>
                  <a:pt x="2682113" y="261873"/>
                </a:lnTo>
              </a:path>
              <a:path w="2682240" h="518160">
                <a:moveTo>
                  <a:pt x="2682240" y="258190"/>
                </a:moveTo>
                <a:lnTo>
                  <a:pt x="2406523" y="0"/>
                </a:lnTo>
                <a:lnTo>
                  <a:pt x="0" y="0"/>
                </a:lnTo>
                <a:lnTo>
                  <a:pt x="0" y="517740"/>
                </a:lnTo>
              </a:path>
            </a:pathLst>
          </a:custGeom>
          <a:ln w="76200">
            <a:solidFill>
              <a:srgbClr val="000000"/>
            </a:solidFill>
          </a:ln>
        </p:spPr>
        <p:txBody>
          <a:bodyPr wrap="square" lIns="0" tIns="0" rIns="0" bIns="0" rtlCol="0"/>
          <a:lstStyle/>
          <a:p/>
        </p:txBody>
      </p:sp>
      <p:sp>
        <p:nvSpPr>
          <p:cNvPr id="13" name="object 13"/>
          <p:cNvSpPr/>
          <p:nvPr/>
        </p:nvSpPr>
        <p:spPr>
          <a:xfrm>
            <a:off x="1559052" y="1700783"/>
            <a:ext cx="2680970" cy="706755"/>
          </a:xfrm>
          <a:custGeom>
            <a:avLst/>
            <a:gdLst/>
            <a:ahLst/>
            <a:cxnLst/>
            <a:rect l="l" t="t" r="r" b="b"/>
            <a:pathLst>
              <a:path w="2680970" h="706755">
                <a:moveTo>
                  <a:pt x="2407666" y="706501"/>
                </a:moveTo>
                <a:lnTo>
                  <a:pt x="2680589" y="357377"/>
                </a:lnTo>
              </a:path>
              <a:path w="2680970" h="706755">
                <a:moveTo>
                  <a:pt x="2680716" y="352424"/>
                </a:moveTo>
                <a:lnTo>
                  <a:pt x="2405126" y="0"/>
                </a:lnTo>
                <a:lnTo>
                  <a:pt x="0" y="0"/>
                </a:lnTo>
                <a:lnTo>
                  <a:pt x="0" y="706501"/>
                </a:lnTo>
              </a:path>
            </a:pathLst>
          </a:custGeom>
          <a:ln w="76200">
            <a:solidFill>
              <a:srgbClr val="000000"/>
            </a:solidFill>
          </a:ln>
        </p:spPr>
        <p:txBody>
          <a:bodyPr wrap="square" lIns="0" tIns="0" rIns="0" bIns="0" rtlCol="0"/>
          <a:lstStyle/>
          <a:p/>
        </p:txBody>
      </p:sp>
      <p:sp>
        <p:nvSpPr>
          <p:cNvPr id="14" name="object 14"/>
          <p:cNvSpPr txBox="1"/>
          <p:nvPr/>
        </p:nvSpPr>
        <p:spPr>
          <a:xfrm>
            <a:off x="1601469" y="1758543"/>
            <a:ext cx="2397125" cy="2058670"/>
          </a:xfrm>
          <a:prstGeom prst="rect">
            <a:avLst/>
          </a:prstGeom>
        </p:spPr>
        <p:txBody>
          <a:bodyPr wrap="square" lIns="0" tIns="12700" rIns="0" bIns="0" rtlCol="0" vert="horz">
            <a:spAutoFit/>
          </a:bodyPr>
          <a:lstStyle/>
          <a:p>
            <a:pPr marL="12700" marR="5080" indent="818515">
              <a:lnSpc>
                <a:spcPct val="106400"/>
              </a:lnSpc>
              <a:spcBef>
                <a:spcPts val="100"/>
              </a:spcBef>
            </a:pPr>
            <a:r>
              <a:rPr dirty="0" sz="1400" spc="-10">
                <a:solidFill>
                  <a:srgbClr val="252525"/>
                </a:solidFill>
                <a:latin typeface="Arial MT"/>
                <a:cs typeface="Arial MT"/>
              </a:rPr>
              <a:t>Anuncios </a:t>
            </a:r>
            <a:r>
              <a:rPr dirty="0" sz="1400">
                <a:solidFill>
                  <a:srgbClr val="252525"/>
                </a:solidFill>
                <a:latin typeface="Arial MT"/>
                <a:cs typeface="Arial MT"/>
              </a:rPr>
              <a:t>Congreso,</a:t>
            </a:r>
            <a:r>
              <a:rPr dirty="0" sz="1400" spc="-65">
                <a:solidFill>
                  <a:srgbClr val="252525"/>
                </a:solidFill>
                <a:latin typeface="Arial MT"/>
                <a:cs typeface="Arial MT"/>
              </a:rPr>
              <a:t> </a:t>
            </a:r>
            <a:r>
              <a:rPr dirty="0" sz="1400">
                <a:solidFill>
                  <a:srgbClr val="252525"/>
                </a:solidFill>
                <a:latin typeface="Arial MT"/>
                <a:cs typeface="Arial MT"/>
              </a:rPr>
              <a:t>Corto</a:t>
            </a:r>
            <a:r>
              <a:rPr dirty="0" sz="1400" spc="-55">
                <a:solidFill>
                  <a:srgbClr val="252525"/>
                </a:solidFill>
                <a:latin typeface="Arial MT"/>
                <a:cs typeface="Arial MT"/>
              </a:rPr>
              <a:t> </a:t>
            </a:r>
            <a:r>
              <a:rPr dirty="0" sz="1400">
                <a:solidFill>
                  <a:srgbClr val="252525"/>
                </a:solidFill>
                <a:latin typeface="Arial MT"/>
                <a:cs typeface="Arial MT"/>
              </a:rPr>
              <a:t>2,</a:t>
            </a:r>
            <a:r>
              <a:rPr dirty="0" sz="1400" spc="-40">
                <a:solidFill>
                  <a:srgbClr val="252525"/>
                </a:solidFill>
                <a:latin typeface="Arial MT"/>
                <a:cs typeface="Arial MT"/>
              </a:rPr>
              <a:t> </a:t>
            </a:r>
            <a:r>
              <a:rPr dirty="0" sz="1400">
                <a:solidFill>
                  <a:srgbClr val="252525"/>
                </a:solidFill>
                <a:latin typeface="Arial MT"/>
                <a:cs typeface="Arial MT"/>
              </a:rPr>
              <a:t>Horario</a:t>
            </a:r>
            <a:r>
              <a:rPr dirty="0" sz="1400" spc="-50">
                <a:solidFill>
                  <a:srgbClr val="252525"/>
                </a:solidFill>
                <a:latin typeface="Arial MT"/>
                <a:cs typeface="Arial MT"/>
              </a:rPr>
              <a:t> </a:t>
            </a:r>
            <a:r>
              <a:rPr dirty="0" sz="1400" spc="-25">
                <a:solidFill>
                  <a:srgbClr val="252525"/>
                </a:solidFill>
                <a:latin typeface="Arial MT"/>
                <a:cs typeface="Arial MT"/>
              </a:rPr>
              <a:t>de</a:t>
            </a:r>
            <a:endParaRPr sz="1400">
              <a:latin typeface="Arial MT"/>
              <a:cs typeface="Arial MT"/>
            </a:endParaRPr>
          </a:p>
          <a:p>
            <a:pPr marL="742950">
              <a:lnSpc>
                <a:spcPct val="100000"/>
              </a:lnSpc>
            </a:pPr>
            <a:r>
              <a:rPr dirty="0" sz="1400" spc="-10">
                <a:solidFill>
                  <a:srgbClr val="252525"/>
                </a:solidFill>
                <a:latin typeface="Arial MT"/>
                <a:cs typeface="Arial MT"/>
              </a:rPr>
              <a:t>Calificación</a:t>
            </a:r>
            <a:endParaRPr sz="1400">
              <a:latin typeface="Arial MT"/>
              <a:cs typeface="Arial MT"/>
            </a:endParaRPr>
          </a:p>
          <a:p>
            <a:pPr>
              <a:lnSpc>
                <a:spcPct val="100000"/>
              </a:lnSpc>
              <a:spcBef>
                <a:spcPts val="270"/>
              </a:spcBef>
            </a:pPr>
            <a:endParaRPr sz="1400">
              <a:latin typeface="Arial MT"/>
              <a:cs typeface="Arial MT"/>
            </a:endParaRPr>
          </a:p>
          <a:p>
            <a:pPr marL="243840" marR="48260" indent="-192405">
              <a:lnSpc>
                <a:spcPct val="100000"/>
              </a:lnSpc>
            </a:pPr>
            <a:r>
              <a:rPr dirty="0" sz="1400">
                <a:solidFill>
                  <a:srgbClr val="252525"/>
                </a:solidFill>
                <a:latin typeface="Arial MT"/>
                <a:cs typeface="Arial MT"/>
              </a:rPr>
              <a:t>Manipulación</a:t>
            </a:r>
            <a:r>
              <a:rPr dirty="0" sz="1400" spc="-65">
                <a:solidFill>
                  <a:srgbClr val="252525"/>
                </a:solidFill>
                <a:latin typeface="Arial MT"/>
                <a:cs typeface="Arial MT"/>
              </a:rPr>
              <a:t> </a:t>
            </a:r>
            <a:r>
              <a:rPr dirty="0" sz="1400">
                <a:solidFill>
                  <a:srgbClr val="252525"/>
                </a:solidFill>
                <a:latin typeface="Arial MT"/>
                <a:cs typeface="Arial MT"/>
              </a:rPr>
              <a:t>de</a:t>
            </a:r>
            <a:r>
              <a:rPr dirty="0" sz="1400" spc="-35">
                <a:solidFill>
                  <a:srgbClr val="252525"/>
                </a:solidFill>
                <a:latin typeface="Arial MT"/>
                <a:cs typeface="Arial MT"/>
              </a:rPr>
              <a:t> </a:t>
            </a:r>
            <a:r>
              <a:rPr dirty="0" sz="1400" spc="-10">
                <a:solidFill>
                  <a:srgbClr val="252525"/>
                </a:solidFill>
                <a:latin typeface="Arial MT"/>
                <a:cs typeface="Arial MT"/>
              </a:rPr>
              <a:t>Mayúscuas, </a:t>
            </a:r>
            <a:r>
              <a:rPr dirty="0" sz="1400">
                <a:solidFill>
                  <a:srgbClr val="252525"/>
                </a:solidFill>
                <a:latin typeface="Arial MT"/>
                <a:cs typeface="Arial MT"/>
              </a:rPr>
              <a:t>Minúsculas</a:t>
            </a:r>
            <a:r>
              <a:rPr dirty="0" sz="1400" spc="-55">
                <a:solidFill>
                  <a:srgbClr val="252525"/>
                </a:solidFill>
                <a:latin typeface="Arial MT"/>
                <a:cs typeface="Arial MT"/>
              </a:rPr>
              <a:t> </a:t>
            </a:r>
            <a:r>
              <a:rPr dirty="0" sz="1400">
                <a:solidFill>
                  <a:srgbClr val="252525"/>
                </a:solidFill>
                <a:latin typeface="Arial MT"/>
                <a:cs typeface="Arial MT"/>
              </a:rPr>
              <a:t>y</a:t>
            </a:r>
            <a:r>
              <a:rPr dirty="0" sz="1400" spc="-30">
                <a:solidFill>
                  <a:srgbClr val="252525"/>
                </a:solidFill>
                <a:latin typeface="Arial MT"/>
                <a:cs typeface="Arial MT"/>
              </a:rPr>
              <a:t> </a:t>
            </a:r>
            <a:r>
              <a:rPr dirty="0" sz="1400" spc="-10">
                <a:solidFill>
                  <a:srgbClr val="252525"/>
                </a:solidFill>
                <a:latin typeface="Arial MT"/>
                <a:cs typeface="Arial MT"/>
              </a:rPr>
              <a:t>caracteres</a:t>
            </a:r>
            <a:endParaRPr sz="1400">
              <a:latin typeface="Arial MT"/>
              <a:cs typeface="Arial MT"/>
            </a:endParaRPr>
          </a:p>
          <a:p>
            <a:pPr>
              <a:lnSpc>
                <a:spcPct val="100000"/>
              </a:lnSpc>
            </a:pPr>
            <a:endParaRPr sz="1400">
              <a:latin typeface="Arial MT"/>
              <a:cs typeface="Arial MT"/>
            </a:endParaRPr>
          </a:p>
          <a:p>
            <a:pPr>
              <a:lnSpc>
                <a:spcPct val="100000"/>
              </a:lnSpc>
              <a:spcBef>
                <a:spcPts val="610"/>
              </a:spcBef>
            </a:pPr>
            <a:endParaRPr sz="1400">
              <a:latin typeface="Arial MT"/>
              <a:cs typeface="Arial MT"/>
            </a:endParaRPr>
          </a:p>
          <a:p>
            <a:pPr marL="147955">
              <a:lnSpc>
                <a:spcPct val="100000"/>
              </a:lnSpc>
              <a:spcBef>
                <a:spcPts val="5"/>
              </a:spcBef>
            </a:pPr>
            <a:r>
              <a:rPr dirty="0" sz="1400" spc="75">
                <a:latin typeface="Verdana"/>
                <a:cs typeface="Verdana"/>
              </a:rPr>
              <a:t>Funciones</a:t>
            </a:r>
            <a:r>
              <a:rPr dirty="0" sz="1400" spc="185">
                <a:latin typeface="Verdana"/>
                <a:cs typeface="Verdana"/>
              </a:rPr>
              <a:t> </a:t>
            </a:r>
            <a:r>
              <a:rPr dirty="0" sz="1400" spc="65">
                <a:latin typeface="Verdana"/>
                <a:cs typeface="Verdana"/>
              </a:rPr>
              <a:t>númericas</a:t>
            </a:r>
            <a:endParaRPr sz="1400">
              <a:latin typeface="Verdana"/>
              <a:cs typeface="Verdana"/>
            </a:endParaRPr>
          </a:p>
        </p:txBody>
      </p:sp>
      <p:sp>
        <p:nvSpPr>
          <p:cNvPr id="15" name="object 15"/>
          <p:cNvSpPr/>
          <p:nvPr/>
        </p:nvSpPr>
        <p:spPr>
          <a:xfrm>
            <a:off x="4860035" y="3241548"/>
            <a:ext cx="2609215" cy="502920"/>
          </a:xfrm>
          <a:custGeom>
            <a:avLst/>
            <a:gdLst/>
            <a:ahLst/>
            <a:cxnLst/>
            <a:rect l="l" t="t" r="r" b="b"/>
            <a:pathLst>
              <a:path w="2609215" h="502920">
                <a:moveTo>
                  <a:pt x="2343277" y="502411"/>
                </a:moveTo>
                <a:lnTo>
                  <a:pt x="2608961" y="254126"/>
                </a:lnTo>
              </a:path>
              <a:path w="2609215" h="502920">
                <a:moveTo>
                  <a:pt x="2609088" y="250570"/>
                </a:moveTo>
                <a:lnTo>
                  <a:pt x="2340864" y="0"/>
                </a:lnTo>
                <a:lnTo>
                  <a:pt x="0" y="0"/>
                </a:lnTo>
                <a:lnTo>
                  <a:pt x="0" y="502538"/>
                </a:lnTo>
              </a:path>
            </a:pathLst>
          </a:custGeom>
          <a:ln w="76200">
            <a:solidFill>
              <a:srgbClr val="000000"/>
            </a:solidFill>
          </a:ln>
        </p:spPr>
        <p:txBody>
          <a:bodyPr wrap="square" lIns="0" tIns="0" rIns="0" bIns="0" rtlCol="0"/>
          <a:lstStyle/>
          <a:p/>
        </p:txBody>
      </p:sp>
      <p:sp>
        <p:nvSpPr>
          <p:cNvPr id="16" name="object 16"/>
          <p:cNvSpPr txBox="1"/>
          <p:nvPr/>
        </p:nvSpPr>
        <p:spPr>
          <a:xfrm>
            <a:off x="5135626" y="2031619"/>
            <a:ext cx="1936750" cy="1726564"/>
          </a:xfrm>
          <a:prstGeom prst="rect">
            <a:avLst/>
          </a:prstGeom>
        </p:spPr>
        <p:txBody>
          <a:bodyPr wrap="square" lIns="0" tIns="12700" rIns="0" bIns="0" rtlCol="0" vert="horz">
            <a:spAutoFit/>
          </a:bodyPr>
          <a:lstStyle/>
          <a:p>
            <a:pPr marL="12700">
              <a:lnSpc>
                <a:spcPct val="100000"/>
              </a:lnSpc>
              <a:spcBef>
                <a:spcPts val="100"/>
              </a:spcBef>
            </a:pPr>
            <a:r>
              <a:rPr dirty="0" sz="1400" spc="75">
                <a:latin typeface="Verdana"/>
                <a:cs typeface="Verdana"/>
              </a:rPr>
              <a:t>Funciones</a:t>
            </a:r>
            <a:r>
              <a:rPr dirty="0" sz="1400" spc="200">
                <a:latin typeface="Verdana"/>
                <a:cs typeface="Verdana"/>
              </a:rPr>
              <a:t> </a:t>
            </a:r>
            <a:r>
              <a:rPr dirty="0" sz="1400">
                <a:latin typeface="Verdana"/>
                <a:cs typeface="Verdana"/>
              </a:rPr>
              <a:t>de</a:t>
            </a:r>
            <a:r>
              <a:rPr dirty="0" sz="1400" spc="229">
                <a:latin typeface="Verdana"/>
                <a:cs typeface="Verdana"/>
              </a:rPr>
              <a:t> </a:t>
            </a:r>
            <a:r>
              <a:rPr dirty="0" sz="1400" spc="60">
                <a:latin typeface="Verdana"/>
                <a:cs typeface="Verdana"/>
              </a:rPr>
              <a:t>fecha</a:t>
            </a:r>
            <a:endParaRPr sz="1400">
              <a:latin typeface="Verdana"/>
              <a:cs typeface="Verdana"/>
            </a:endParaRPr>
          </a:p>
          <a:p>
            <a:pPr>
              <a:lnSpc>
                <a:spcPct val="100000"/>
              </a:lnSpc>
              <a:spcBef>
                <a:spcPts val="1415"/>
              </a:spcBef>
            </a:pPr>
            <a:endParaRPr sz="1400">
              <a:latin typeface="Verdana"/>
              <a:cs typeface="Verdana"/>
            </a:endParaRPr>
          </a:p>
          <a:p>
            <a:pPr algn="ctr" marL="285115" marR="346075">
              <a:lnSpc>
                <a:spcPts val="1660"/>
              </a:lnSpc>
            </a:pPr>
            <a:r>
              <a:rPr dirty="0" sz="1400" spc="75">
                <a:latin typeface="Verdana"/>
                <a:cs typeface="Verdana"/>
              </a:rPr>
              <a:t>Funciones</a:t>
            </a:r>
            <a:r>
              <a:rPr dirty="0" sz="1400" spc="185">
                <a:latin typeface="Verdana"/>
                <a:cs typeface="Verdana"/>
              </a:rPr>
              <a:t> </a:t>
            </a:r>
            <a:r>
              <a:rPr dirty="0" sz="1400" spc="-25">
                <a:latin typeface="Verdana"/>
                <a:cs typeface="Verdana"/>
              </a:rPr>
              <a:t>de </a:t>
            </a:r>
            <a:r>
              <a:rPr dirty="0" sz="1400" spc="65">
                <a:latin typeface="Verdana"/>
                <a:cs typeface="Verdana"/>
              </a:rPr>
              <a:t>Conversión</a:t>
            </a:r>
            <a:endParaRPr sz="1400">
              <a:latin typeface="Verdana"/>
              <a:cs typeface="Verdana"/>
            </a:endParaRPr>
          </a:p>
          <a:p>
            <a:pPr>
              <a:lnSpc>
                <a:spcPct val="100000"/>
              </a:lnSpc>
              <a:spcBef>
                <a:spcPts val="70"/>
              </a:spcBef>
            </a:pPr>
            <a:endParaRPr sz="1400">
              <a:latin typeface="Verdana"/>
              <a:cs typeface="Verdana"/>
            </a:endParaRPr>
          </a:p>
          <a:p>
            <a:pPr algn="ctr" marL="142875" marR="218440">
              <a:lnSpc>
                <a:spcPct val="104299"/>
              </a:lnSpc>
            </a:pPr>
            <a:r>
              <a:rPr dirty="0" sz="1400" spc="75">
                <a:latin typeface="Verdana"/>
                <a:cs typeface="Verdana"/>
              </a:rPr>
              <a:t>Funciones</a:t>
            </a:r>
            <a:r>
              <a:rPr dirty="0" sz="1400" spc="185">
                <a:latin typeface="Verdana"/>
                <a:cs typeface="Verdana"/>
              </a:rPr>
              <a:t> </a:t>
            </a:r>
            <a:r>
              <a:rPr dirty="0" sz="1400" spc="50">
                <a:latin typeface="Verdana"/>
                <a:cs typeface="Verdana"/>
              </a:rPr>
              <a:t>NULL </a:t>
            </a:r>
            <a:r>
              <a:rPr dirty="0" sz="1400" spc="70">
                <a:latin typeface="Verdana"/>
                <a:cs typeface="Verdana"/>
              </a:rPr>
              <a:t>Condicionales</a:t>
            </a:r>
            <a:endParaRPr sz="140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169922" y="334213"/>
            <a:ext cx="4803775" cy="697230"/>
          </a:xfrm>
          <a:prstGeom prst="rect"/>
        </p:spPr>
        <p:txBody>
          <a:bodyPr wrap="square" lIns="0" tIns="13335" rIns="0" bIns="0" rtlCol="0" vert="horz">
            <a:spAutoFit/>
          </a:bodyPr>
          <a:lstStyle/>
          <a:p>
            <a:pPr marL="12700">
              <a:lnSpc>
                <a:spcPct val="100000"/>
              </a:lnSpc>
              <a:spcBef>
                <a:spcPts val="105"/>
              </a:spcBef>
            </a:pPr>
            <a:r>
              <a:rPr dirty="0" sz="4400" spc="-10">
                <a:solidFill>
                  <a:srgbClr val="000000"/>
                </a:solidFill>
                <a:latin typeface="Arial MT"/>
                <a:cs typeface="Arial MT"/>
              </a:rPr>
              <a:t>Valor</a:t>
            </a:r>
            <a:r>
              <a:rPr dirty="0" sz="4400" spc="-120">
                <a:solidFill>
                  <a:srgbClr val="000000"/>
                </a:solidFill>
                <a:latin typeface="Arial MT"/>
                <a:cs typeface="Arial MT"/>
              </a:rPr>
              <a:t> </a:t>
            </a:r>
            <a:r>
              <a:rPr dirty="0" sz="4400">
                <a:solidFill>
                  <a:srgbClr val="000000"/>
                </a:solidFill>
                <a:latin typeface="Arial MT"/>
                <a:cs typeface="Arial MT"/>
              </a:rPr>
              <a:t>de</a:t>
            </a:r>
            <a:r>
              <a:rPr dirty="0" sz="4400" spc="-95">
                <a:solidFill>
                  <a:srgbClr val="000000"/>
                </a:solidFill>
                <a:latin typeface="Arial MT"/>
                <a:cs typeface="Arial MT"/>
              </a:rPr>
              <a:t> </a:t>
            </a:r>
            <a:r>
              <a:rPr dirty="0" sz="4400">
                <a:solidFill>
                  <a:srgbClr val="000000"/>
                </a:solidFill>
                <a:latin typeface="Arial MT"/>
                <a:cs typeface="Arial MT"/>
              </a:rPr>
              <a:t>la</a:t>
            </a:r>
            <a:r>
              <a:rPr dirty="0" sz="4400" spc="-100">
                <a:solidFill>
                  <a:srgbClr val="000000"/>
                </a:solidFill>
                <a:latin typeface="Arial MT"/>
                <a:cs typeface="Arial MT"/>
              </a:rPr>
              <a:t> </a:t>
            </a:r>
            <a:r>
              <a:rPr dirty="0" sz="4400" spc="-10">
                <a:solidFill>
                  <a:srgbClr val="000000"/>
                </a:solidFill>
                <a:latin typeface="Arial MT"/>
                <a:cs typeface="Arial MT"/>
              </a:rPr>
              <a:t>semana</a:t>
            </a:r>
            <a:endParaRPr sz="4400">
              <a:latin typeface="Arial MT"/>
              <a:cs typeface="Arial MT"/>
            </a:endParaRPr>
          </a:p>
        </p:txBody>
      </p:sp>
      <p:sp>
        <p:nvSpPr>
          <p:cNvPr id="3" name="object 3"/>
          <p:cNvSpPr txBox="1"/>
          <p:nvPr/>
        </p:nvSpPr>
        <p:spPr>
          <a:xfrm>
            <a:off x="299110" y="1283970"/>
            <a:ext cx="4002404" cy="1950085"/>
          </a:xfrm>
          <a:prstGeom prst="rect">
            <a:avLst/>
          </a:prstGeom>
        </p:spPr>
        <p:txBody>
          <a:bodyPr wrap="square" lIns="0" tIns="12700" rIns="0" bIns="0" rtlCol="0" vert="horz">
            <a:spAutoFit/>
          </a:bodyPr>
          <a:lstStyle/>
          <a:p>
            <a:pPr marL="870585" indent="-857885">
              <a:lnSpc>
                <a:spcPct val="100000"/>
              </a:lnSpc>
              <a:spcBef>
                <a:spcPts val="100"/>
              </a:spcBef>
              <a:buFont typeface="Arial MT"/>
              <a:buChar char="•"/>
              <a:tabLst>
                <a:tab pos="870585" algn="l"/>
              </a:tabLst>
            </a:pPr>
            <a:r>
              <a:rPr dirty="0" sz="3000" spc="-10" b="1">
                <a:latin typeface="Arial"/>
                <a:cs typeface="Arial"/>
              </a:rPr>
              <a:t>Precisión</a:t>
            </a:r>
            <a:r>
              <a:rPr dirty="0" sz="3000" spc="-10">
                <a:latin typeface="Arial MT"/>
                <a:cs typeface="Arial MT"/>
              </a:rPr>
              <a:t>:</a:t>
            </a:r>
            <a:endParaRPr sz="3000">
              <a:latin typeface="Arial MT"/>
              <a:cs typeface="Arial MT"/>
            </a:endParaRPr>
          </a:p>
          <a:p>
            <a:pPr>
              <a:lnSpc>
                <a:spcPct val="100000"/>
              </a:lnSpc>
              <a:spcBef>
                <a:spcPts val="805"/>
              </a:spcBef>
            </a:pPr>
            <a:endParaRPr sz="3000">
              <a:latin typeface="Arial MT"/>
              <a:cs typeface="Arial MT"/>
            </a:endParaRPr>
          </a:p>
          <a:p>
            <a:pPr algn="just" marL="12700" marR="5080">
              <a:lnSpc>
                <a:spcPct val="80000"/>
              </a:lnSpc>
            </a:pPr>
            <a:r>
              <a:rPr dirty="0" sz="1900">
                <a:latin typeface="Arial MT"/>
                <a:cs typeface="Arial MT"/>
              </a:rPr>
              <a:t>La</a:t>
            </a:r>
            <a:r>
              <a:rPr dirty="0" sz="1900" spc="250">
                <a:latin typeface="Arial MT"/>
                <a:cs typeface="Arial MT"/>
              </a:rPr>
              <a:t> </a:t>
            </a:r>
            <a:r>
              <a:rPr dirty="0" sz="1900">
                <a:latin typeface="Arial MT"/>
                <a:cs typeface="Arial MT"/>
              </a:rPr>
              <a:t>precisión</a:t>
            </a:r>
            <a:r>
              <a:rPr dirty="0" sz="1900" spc="280">
                <a:latin typeface="Arial MT"/>
                <a:cs typeface="Arial MT"/>
              </a:rPr>
              <a:t> </a:t>
            </a:r>
            <a:r>
              <a:rPr dirty="0" sz="1900">
                <a:latin typeface="Arial MT"/>
                <a:cs typeface="Arial MT"/>
              </a:rPr>
              <a:t>de</a:t>
            </a:r>
            <a:r>
              <a:rPr dirty="0" sz="1900" spc="265">
                <a:latin typeface="Arial MT"/>
                <a:cs typeface="Arial MT"/>
              </a:rPr>
              <a:t> </a:t>
            </a:r>
            <a:r>
              <a:rPr dirty="0" sz="1900">
                <a:latin typeface="Arial MT"/>
                <a:cs typeface="Arial MT"/>
              </a:rPr>
              <a:t>los</a:t>
            </a:r>
            <a:r>
              <a:rPr dirty="0" sz="1900" spc="265">
                <a:latin typeface="Arial MT"/>
                <a:cs typeface="Arial MT"/>
              </a:rPr>
              <a:t> </a:t>
            </a:r>
            <a:r>
              <a:rPr dirty="0" sz="1900">
                <a:latin typeface="Arial MT"/>
                <a:cs typeface="Arial MT"/>
              </a:rPr>
              <a:t>datos</a:t>
            </a:r>
            <a:r>
              <a:rPr dirty="0" sz="1900" spc="265">
                <a:latin typeface="Arial MT"/>
                <a:cs typeface="Arial MT"/>
              </a:rPr>
              <a:t> </a:t>
            </a:r>
            <a:r>
              <a:rPr dirty="0" sz="1900">
                <a:latin typeface="Arial MT"/>
                <a:cs typeface="Arial MT"/>
              </a:rPr>
              <a:t>se</a:t>
            </a:r>
            <a:r>
              <a:rPr dirty="0" sz="1900" spc="254">
                <a:latin typeface="Arial MT"/>
                <a:cs typeface="Arial MT"/>
              </a:rPr>
              <a:t> </a:t>
            </a:r>
            <a:r>
              <a:rPr dirty="0" sz="1900" spc="-10">
                <a:latin typeface="Arial MT"/>
                <a:cs typeface="Arial MT"/>
              </a:rPr>
              <a:t>refiere </a:t>
            </a:r>
            <a:r>
              <a:rPr dirty="0" sz="1900">
                <a:latin typeface="Arial MT"/>
                <a:cs typeface="Arial MT"/>
              </a:rPr>
              <a:t>específicamente</a:t>
            </a:r>
            <a:r>
              <a:rPr dirty="0" sz="1900" spc="135">
                <a:latin typeface="Arial MT"/>
                <a:cs typeface="Arial MT"/>
              </a:rPr>
              <a:t>  </a:t>
            </a:r>
            <a:r>
              <a:rPr dirty="0" sz="1900">
                <a:latin typeface="Arial MT"/>
                <a:cs typeface="Arial MT"/>
              </a:rPr>
              <a:t>a</a:t>
            </a:r>
            <a:r>
              <a:rPr dirty="0" sz="1900" spc="125">
                <a:latin typeface="Arial MT"/>
                <a:cs typeface="Arial MT"/>
              </a:rPr>
              <a:t>  </a:t>
            </a:r>
            <a:r>
              <a:rPr dirty="0" sz="1900">
                <a:latin typeface="Arial MT"/>
                <a:cs typeface="Arial MT"/>
              </a:rPr>
              <a:t>la</a:t>
            </a:r>
            <a:r>
              <a:rPr dirty="0" sz="1900" spc="130">
                <a:latin typeface="Arial MT"/>
                <a:cs typeface="Arial MT"/>
              </a:rPr>
              <a:t>  </a:t>
            </a:r>
            <a:r>
              <a:rPr dirty="0" sz="1900" b="1">
                <a:latin typeface="Arial"/>
                <a:cs typeface="Arial"/>
              </a:rPr>
              <a:t>exactitud</a:t>
            </a:r>
            <a:r>
              <a:rPr dirty="0" sz="1900" spc="140" b="1">
                <a:latin typeface="Arial"/>
                <a:cs typeface="Arial"/>
              </a:rPr>
              <a:t>  </a:t>
            </a:r>
            <a:r>
              <a:rPr dirty="0" sz="1900" spc="-50" b="1">
                <a:latin typeface="Arial"/>
                <a:cs typeface="Arial"/>
              </a:rPr>
              <a:t>y </a:t>
            </a:r>
            <a:r>
              <a:rPr dirty="0" sz="1900" b="1">
                <a:latin typeface="Arial"/>
                <a:cs typeface="Arial"/>
              </a:rPr>
              <a:t>validez</a:t>
            </a:r>
            <a:r>
              <a:rPr dirty="0" sz="1900" spc="340" b="1">
                <a:latin typeface="Arial"/>
                <a:cs typeface="Arial"/>
              </a:rPr>
              <a:t> </a:t>
            </a:r>
            <a:r>
              <a:rPr dirty="0" sz="1900" b="1">
                <a:latin typeface="Arial"/>
                <a:cs typeface="Arial"/>
              </a:rPr>
              <a:t>de</a:t>
            </a:r>
            <a:r>
              <a:rPr dirty="0" sz="1900" spc="335" b="1">
                <a:latin typeface="Arial"/>
                <a:cs typeface="Arial"/>
              </a:rPr>
              <a:t> </a:t>
            </a:r>
            <a:r>
              <a:rPr dirty="0" sz="1900" b="1">
                <a:latin typeface="Arial"/>
                <a:cs typeface="Arial"/>
              </a:rPr>
              <a:t>los</a:t>
            </a:r>
            <a:r>
              <a:rPr dirty="0" sz="1900" spc="335" b="1">
                <a:latin typeface="Arial"/>
                <a:cs typeface="Arial"/>
              </a:rPr>
              <a:t> </a:t>
            </a:r>
            <a:r>
              <a:rPr dirty="0" sz="1900" b="1">
                <a:latin typeface="Arial"/>
                <a:cs typeface="Arial"/>
              </a:rPr>
              <a:t>datos</a:t>
            </a:r>
            <a:r>
              <a:rPr dirty="0" sz="1900" spc="340" b="1">
                <a:latin typeface="Arial"/>
                <a:cs typeface="Arial"/>
              </a:rPr>
              <a:t> </a:t>
            </a:r>
            <a:r>
              <a:rPr dirty="0" sz="1900" b="1">
                <a:latin typeface="Arial"/>
                <a:cs typeface="Arial"/>
              </a:rPr>
              <a:t>en</a:t>
            </a:r>
            <a:r>
              <a:rPr dirty="0" sz="1900" spc="335" b="1">
                <a:latin typeface="Arial"/>
                <a:cs typeface="Arial"/>
              </a:rPr>
              <a:t> </a:t>
            </a:r>
            <a:r>
              <a:rPr dirty="0" sz="1900" b="1">
                <a:latin typeface="Arial"/>
                <a:cs typeface="Arial"/>
              </a:rPr>
              <a:t>cuanto</a:t>
            </a:r>
            <a:r>
              <a:rPr dirty="0" sz="1900" spc="340" b="1">
                <a:latin typeface="Arial"/>
                <a:cs typeface="Arial"/>
              </a:rPr>
              <a:t> </a:t>
            </a:r>
            <a:r>
              <a:rPr dirty="0" sz="1900" spc="-50" b="1">
                <a:latin typeface="Arial"/>
                <a:cs typeface="Arial"/>
              </a:rPr>
              <a:t>a </a:t>
            </a:r>
            <a:r>
              <a:rPr dirty="0" sz="1900" b="1">
                <a:latin typeface="Arial"/>
                <a:cs typeface="Arial"/>
              </a:rPr>
              <a:t>reflejar</a:t>
            </a:r>
            <a:r>
              <a:rPr dirty="0" sz="1900" spc="-40" b="1">
                <a:latin typeface="Arial"/>
                <a:cs typeface="Arial"/>
              </a:rPr>
              <a:t> </a:t>
            </a:r>
            <a:r>
              <a:rPr dirty="0" sz="1900" b="1">
                <a:latin typeface="Arial"/>
                <a:cs typeface="Arial"/>
              </a:rPr>
              <a:t>valores reales</a:t>
            </a:r>
            <a:r>
              <a:rPr dirty="0" sz="1900" spc="-30" b="1">
                <a:latin typeface="Arial"/>
                <a:cs typeface="Arial"/>
              </a:rPr>
              <a:t> </a:t>
            </a:r>
            <a:r>
              <a:rPr dirty="0" sz="1900" b="1">
                <a:latin typeface="Arial"/>
                <a:cs typeface="Arial"/>
              </a:rPr>
              <a:t>del</a:t>
            </a:r>
            <a:r>
              <a:rPr dirty="0" sz="1900" spc="-55" b="1">
                <a:latin typeface="Arial"/>
                <a:cs typeface="Arial"/>
              </a:rPr>
              <a:t> </a:t>
            </a:r>
            <a:r>
              <a:rPr dirty="0" sz="1900" spc="-10" b="1">
                <a:latin typeface="Arial"/>
                <a:cs typeface="Arial"/>
              </a:rPr>
              <a:t>mundo</a:t>
            </a:r>
            <a:r>
              <a:rPr dirty="0" sz="1900" spc="-10">
                <a:latin typeface="Arial MT"/>
                <a:cs typeface="Arial MT"/>
              </a:rPr>
              <a:t>.</a:t>
            </a:r>
            <a:endParaRPr sz="1900">
              <a:latin typeface="Arial MT"/>
              <a:cs typeface="Arial MT"/>
            </a:endParaRPr>
          </a:p>
        </p:txBody>
      </p:sp>
      <p:sp>
        <p:nvSpPr>
          <p:cNvPr id="4" name="object 4"/>
          <p:cNvSpPr txBox="1"/>
          <p:nvPr/>
        </p:nvSpPr>
        <p:spPr>
          <a:xfrm>
            <a:off x="4559553" y="1055319"/>
            <a:ext cx="2275840" cy="452120"/>
          </a:xfrm>
          <a:prstGeom prst="rect">
            <a:avLst/>
          </a:prstGeom>
        </p:spPr>
        <p:txBody>
          <a:bodyPr wrap="square" lIns="0" tIns="12065" rIns="0" bIns="0" rtlCol="0" vert="horz">
            <a:spAutoFit/>
          </a:bodyPr>
          <a:lstStyle/>
          <a:p>
            <a:pPr marL="583565" indent="-570865">
              <a:lnSpc>
                <a:spcPct val="100000"/>
              </a:lnSpc>
              <a:spcBef>
                <a:spcPts val="95"/>
              </a:spcBef>
              <a:buFont typeface="Arial MT"/>
              <a:buChar char="•"/>
              <a:tabLst>
                <a:tab pos="583565" algn="l"/>
              </a:tabLst>
            </a:pPr>
            <a:r>
              <a:rPr dirty="0" sz="2800" spc="-10" b="1">
                <a:latin typeface="Arial"/>
                <a:cs typeface="Arial"/>
              </a:rPr>
              <a:t>Disciplina</a:t>
            </a:r>
            <a:endParaRPr sz="2800">
              <a:latin typeface="Arial"/>
              <a:cs typeface="Arial"/>
            </a:endParaRPr>
          </a:p>
        </p:txBody>
      </p:sp>
      <p:sp>
        <p:nvSpPr>
          <p:cNvPr id="5" name="object 5"/>
          <p:cNvSpPr txBox="1"/>
          <p:nvPr/>
        </p:nvSpPr>
        <p:spPr>
          <a:xfrm>
            <a:off x="4559553" y="1458214"/>
            <a:ext cx="4287520" cy="2548890"/>
          </a:xfrm>
          <a:prstGeom prst="rect">
            <a:avLst/>
          </a:prstGeom>
        </p:spPr>
        <p:txBody>
          <a:bodyPr wrap="square" lIns="0" tIns="40005" rIns="0" bIns="0" rtlCol="0" vert="horz">
            <a:spAutoFit/>
          </a:bodyPr>
          <a:lstStyle/>
          <a:p>
            <a:pPr algn="just" marL="12700" marR="5080">
              <a:lnSpc>
                <a:spcPct val="90000"/>
              </a:lnSpc>
              <a:spcBef>
                <a:spcPts val="315"/>
              </a:spcBef>
            </a:pPr>
            <a:r>
              <a:rPr dirty="0" sz="1800">
                <a:latin typeface="Arial MT"/>
                <a:cs typeface="Arial MT"/>
              </a:rPr>
              <a:t>Se</a:t>
            </a:r>
            <a:r>
              <a:rPr dirty="0" sz="1800" spc="235">
                <a:latin typeface="Arial MT"/>
                <a:cs typeface="Arial MT"/>
              </a:rPr>
              <a:t> </a:t>
            </a:r>
            <a:r>
              <a:rPr dirty="0" sz="1800">
                <a:latin typeface="Arial MT"/>
                <a:cs typeface="Arial MT"/>
              </a:rPr>
              <a:t>refiere</a:t>
            </a:r>
            <a:r>
              <a:rPr dirty="0" sz="1800" spc="245">
                <a:latin typeface="Arial MT"/>
                <a:cs typeface="Arial MT"/>
              </a:rPr>
              <a:t> </a:t>
            </a:r>
            <a:r>
              <a:rPr dirty="0" sz="1800">
                <a:latin typeface="Arial MT"/>
                <a:cs typeface="Arial MT"/>
              </a:rPr>
              <a:t>a</a:t>
            </a:r>
            <a:r>
              <a:rPr dirty="0" sz="1800" spc="240">
                <a:latin typeface="Arial MT"/>
                <a:cs typeface="Arial MT"/>
              </a:rPr>
              <a:t> </a:t>
            </a:r>
            <a:r>
              <a:rPr dirty="0" sz="1800">
                <a:latin typeface="Arial MT"/>
                <a:cs typeface="Arial MT"/>
              </a:rPr>
              <a:t>la</a:t>
            </a:r>
            <a:r>
              <a:rPr dirty="0" sz="1800" spc="245">
                <a:latin typeface="Arial MT"/>
                <a:cs typeface="Arial MT"/>
              </a:rPr>
              <a:t> </a:t>
            </a:r>
            <a:r>
              <a:rPr dirty="0" sz="1800">
                <a:latin typeface="Arial MT"/>
                <a:cs typeface="Arial MT"/>
              </a:rPr>
              <a:t>aplicación</a:t>
            </a:r>
            <a:r>
              <a:rPr dirty="0" sz="1800" spc="240">
                <a:latin typeface="Arial MT"/>
                <a:cs typeface="Arial MT"/>
              </a:rPr>
              <a:t> </a:t>
            </a:r>
            <a:r>
              <a:rPr dirty="0" sz="1800">
                <a:latin typeface="Arial MT"/>
                <a:cs typeface="Arial MT"/>
              </a:rPr>
              <a:t>de</a:t>
            </a:r>
            <a:r>
              <a:rPr dirty="0" sz="1800" spc="250">
                <a:latin typeface="Arial MT"/>
                <a:cs typeface="Arial MT"/>
              </a:rPr>
              <a:t> </a:t>
            </a:r>
            <a:r>
              <a:rPr dirty="0" sz="1800">
                <a:latin typeface="Arial MT"/>
                <a:cs typeface="Arial MT"/>
              </a:rPr>
              <a:t>principios</a:t>
            </a:r>
            <a:r>
              <a:rPr dirty="0" sz="1800" spc="270">
                <a:latin typeface="Arial MT"/>
                <a:cs typeface="Arial MT"/>
              </a:rPr>
              <a:t> </a:t>
            </a:r>
            <a:r>
              <a:rPr dirty="0" sz="1800" spc="-50">
                <a:latin typeface="Arial MT"/>
                <a:cs typeface="Arial MT"/>
              </a:rPr>
              <a:t>y </a:t>
            </a:r>
            <a:r>
              <a:rPr dirty="0" sz="1800">
                <a:latin typeface="Arial MT"/>
                <a:cs typeface="Arial MT"/>
              </a:rPr>
              <a:t>técnicas</a:t>
            </a:r>
            <a:r>
              <a:rPr dirty="0" sz="1800" spc="325">
                <a:latin typeface="Arial MT"/>
                <a:cs typeface="Arial MT"/>
              </a:rPr>
              <a:t>   </a:t>
            </a:r>
            <a:r>
              <a:rPr dirty="0" sz="1800">
                <a:latin typeface="Arial MT"/>
                <a:cs typeface="Arial MT"/>
              </a:rPr>
              <a:t>para</a:t>
            </a:r>
            <a:r>
              <a:rPr dirty="0" sz="1800" spc="325">
                <a:latin typeface="Arial MT"/>
                <a:cs typeface="Arial MT"/>
              </a:rPr>
              <a:t>   </a:t>
            </a:r>
            <a:r>
              <a:rPr dirty="0" sz="1800">
                <a:latin typeface="Arial MT"/>
                <a:cs typeface="Arial MT"/>
              </a:rPr>
              <a:t>gestionar,</a:t>
            </a:r>
            <a:r>
              <a:rPr dirty="0" sz="1800" spc="330">
                <a:latin typeface="Arial MT"/>
                <a:cs typeface="Arial MT"/>
              </a:rPr>
              <a:t>   </a:t>
            </a:r>
            <a:r>
              <a:rPr dirty="0" sz="1800" spc="-10">
                <a:latin typeface="Arial MT"/>
                <a:cs typeface="Arial MT"/>
              </a:rPr>
              <a:t>organizar, </a:t>
            </a:r>
            <a:r>
              <a:rPr dirty="0" sz="1800">
                <a:latin typeface="Arial MT"/>
                <a:cs typeface="Arial MT"/>
              </a:rPr>
              <a:t>almacenar</a:t>
            </a:r>
            <a:r>
              <a:rPr dirty="0" sz="1800" spc="135">
                <a:latin typeface="Arial MT"/>
                <a:cs typeface="Arial MT"/>
              </a:rPr>
              <a:t>  </a:t>
            </a:r>
            <a:r>
              <a:rPr dirty="0" sz="1800">
                <a:latin typeface="Arial MT"/>
                <a:cs typeface="Arial MT"/>
              </a:rPr>
              <a:t>y</a:t>
            </a:r>
            <a:r>
              <a:rPr dirty="0" sz="1800" spc="130">
                <a:latin typeface="Arial MT"/>
                <a:cs typeface="Arial MT"/>
              </a:rPr>
              <a:t>  </a:t>
            </a:r>
            <a:r>
              <a:rPr dirty="0" sz="1800">
                <a:latin typeface="Arial MT"/>
                <a:cs typeface="Arial MT"/>
              </a:rPr>
              <a:t>recuperar</a:t>
            </a:r>
            <a:r>
              <a:rPr dirty="0" sz="1800" spc="130">
                <a:latin typeface="Arial MT"/>
                <a:cs typeface="Arial MT"/>
              </a:rPr>
              <a:t>  </a:t>
            </a:r>
            <a:r>
              <a:rPr dirty="0" sz="1800">
                <a:latin typeface="Arial MT"/>
                <a:cs typeface="Arial MT"/>
              </a:rPr>
              <a:t>información</a:t>
            </a:r>
            <a:r>
              <a:rPr dirty="0" sz="1800" spc="135">
                <a:latin typeface="Arial MT"/>
                <a:cs typeface="Arial MT"/>
              </a:rPr>
              <a:t>  </a:t>
            </a:r>
            <a:r>
              <a:rPr dirty="0" sz="1800" spc="-25">
                <a:latin typeface="Arial MT"/>
                <a:cs typeface="Arial MT"/>
              </a:rPr>
              <a:t>de </a:t>
            </a:r>
            <a:r>
              <a:rPr dirty="0" sz="1800">
                <a:latin typeface="Arial MT"/>
                <a:cs typeface="Arial MT"/>
              </a:rPr>
              <a:t>manera</a:t>
            </a:r>
            <a:r>
              <a:rPr dirty="0" sz="1800" spc="254">
                <a:latin typeface="Arial MT"/>
                <a:cs typeface="Arial MT"/>
              </a:rPr>
              <a:t>  </a:t>
            </a:r>
            <a:r>
              <a:rPr dirty="0" sz="1800">
                <a:latin typeface="Arial MT"/>
                <a:cs typeface="Arial MT"/>
              </a:rPr>
              <a:t>eficiente,</a:t>
            </a:r>
            <a:r>
              <a:rPr dirty="0" sz="1800" spc="254">
                <a:latin typeface="Arial MT"/>
                <a:cs typeface="Arial MT"/>
              </a:rPr>
              <a:t>  </a:t>
            </a:r>
            <a:r>
              <a:rPr dirty="0" sz="1800">
                <a:latin typeface="Arial MT"/>
                <a:cs typeface="Arial MT"/>
              </a:rPr>
              <a:t>segura</a:t>
            </a:r>
            <a:r>
              <a:rPr dirty="0" sz="1800" spc="260">
                <a:latin typeface="Arial MT"/>
                <a:cs typeface="Arial MT"/>
              </a:rPr>
              <a:t>  </a:t>
            </a:r>
            <a:r>
              <a:rPr dirty="0" sz="1800">
                <a:latin typeface="Arial MT"/>
                <a:cs typeface="Arial MT"/>
              </a:rPr>
              <a:t>y</a:t>
            </a:r>
            <a:r>
              <a:rPr dirty="0" sz="1800" spc="245">
                <a:latin typeface="Arial MT"/>
                <a:cs typeface="Arial MT"/>
              </a:rPr>
              <a:t>  </a:t>
            </a:r>
            <a:r>
              <a:rPr dirty="0" sz="1800" spc="-10">
                <a:latin typeface="Arial MT"/>
                <a:cs typeface="Arial MT"/>
              </a:rPr>
              <a:t>confiable. </a:t>
            </a:r>
            <a:r>
              <a:rPr dirty="0" sz="1800">
                <a:latin typeface="Arial MT"/>
                <a:cs typeface="Arial MT"/>
              </a:rPr>
              <a:t>Involucra</a:t>
            </a:r>
            <a:r>
              <a:rPr dirty="0" sz="1800" spc="25">
                <a:latin typeface="Arial MT"/>
                <a:cs typeface="Arial MT"/>
              </a:rPr>
              <a:t> </a:t>
            </a:r>
            <a:r>
              <a:rPr dirty="0" sz="1800">
                <a:latin typeface="Arial MT"/>
                <a:cs typeface="Arial MT"/>
              </a:rPr>
              <a:t>el</a:t>
            </a:r>
            <a:r>
              <a:rPr dirty="0" sz="1800" spc="25">
                <a:latin typeface="Arial MT"/>
                <a:cs typeface="Arial MT"/>
              </a:rPr>
              <a:t> </a:t>
            </a:r>
            <a:r>
              <a:rPr dirty="0" sz="1800">
                <a:latin typeface="Arial MT"/>
                <a:cs typeface="Arial MT"/>
              </a:rPr>
              <a:t>diseño</a:t>
            </a:r>
            <a:r>
              <a:rPr dirty="0" sz="1800" spc="20">
                <a:latin typeface="Arial MT"/>
                <a:cs typeface="Arial MT"/>
              </a:rPr>
              <a:t> </a:t>
            </a:r>
            <a:r>
              <a:rPr dirty="0" sz="1800">
                <a:latin typeface="Arial MT"/>
                <a:cs typeface="Arial MT"/>
              </a:rPr>
              <a:t>de</a:t>
            </a:r>
            <a:r>
              <a:rPr dirty="0" sz="1800" spc="25">
                <a:latin typeface="Arial MT"/>
                <a:cs typeface="Arial MT"/>
              </a:rPr>
              <a:t> </a:t>
            </a:r>
            <a:r>
              <a:rPr dirty="0" sz="1800">
                <a:latin typeface="Arial MT"/>
                <a:cs typeface="Arial MT"/>
              </a:rPr>
              <a:t>la</a:t>
            </a:r>
            <a:r>
              <a:rPr dirty="0" sz="1800" spc="25">
                <a:latin typeface="Arial MT"/>
                <a:cs typeface="Arial MT"/>
              </a:rPr>
              <a:t> </a:t>
            </a:r>
            <a:r>
              <a:rPr dirty="0" sz="1800">
                <a:latin typeface="Arial MT"/>
                <a:cs typeface="Arial MT"/>
              </a:rPr>
              <a:t>estructura</a:t>
            </a:r>
            <a:r>
              <a:rPr dirty="0" sz="1800" spc="25">
                <a:latin typeface="Arial MT"/>
                <a:cs typeface="Arial MT"/>
              </a:rPr>
              <a:t> </a:t>
            </a:r>
            <a:r>
              <a:rPr dirty="0" sz="1800">
                <a:latin typeface="Arial MT"/>
                <a:cs typeface="Arial MT"/>
              </a:rPr>
              <a:t>de</a:t>
            </a:r>
            <a:r>
              <a:rPr dirty="0" sz="1800" spc="30">
                <a:latin typeface="Arial MT"/>
                <a:cs typeface="Arial MT"/>
              </a:rPr>
              <a:t> </a:t>
            </a:r>
            <a:r>
              <a:rPr dirty="0" sz="1800" spc="-25">
                <a:latin typeface="Arial MT"/>
                <a:cs typeface="Arial MT"/>
              </a:rPr>
              <a:t>los </a:t>
            </a:r>
            <a:r>
              <a:rPr dirty="0" sz="1800">
                <a:latin typeface="Arial MT"/>
                <a:cs typeface="Arial MT"/>
              </a:rPr>
              <a:t>datos,</a:t>
            </a:r>
            <a:r>
              <a:rPr dirty="0" sz="1800" spc="300">
                <a:latin typeface="Arial MT"/>
                <a:cs typeface="Arial MT"/>
              </a:rPr>
              <a:t>  </a:t>
            </a:r>
            <a:r>
              <a:rPr dirty="0" sz="1800">
                <a:latin typeface="Arial MT"/>
                <a:cs typeface="Arial MT"/>
              </a:rPr>
              <a:t>su</a:t>
            </a:r>
            <a:r>
              <a:rPr dirty="0" sz="1800" spc="315">
                <a:latin typeface="Arial MT"/>
                <a:cs typeface="Arial MT"/>
              </a:rPr>
              <a:t>  </a:t>
            </a:r>
            <a:r>
              <a:rPr dirty="0" sz="1800">
                <a:latin typeface="Arial MT"/>
                <a:cs typeface="Arial MT"/>
              </a:rPr>
              <a:t>manipulación</a:t>
            </a:r>
            <a:r>
              <a:rPr dirty="0" sz="1800" spc="310">
                <a:latin typeface="Arial MT"/>
                <a:cs typeface="Arial MT"/>
              </a:rPr>
              <a:t>  </a:t>
            </a:r>
            <a:r>
              <a:rPr dirty="0" sz="1800">
                <a:latin typeface="Arial MT"/>
                <a:cs typeface="Arial MT"/>
              </a:rPr>
              <a:t>a</a:t>
            </a:r>
            <a:r>
              <a:rPr dirty="0" sz="1800" spc="320">
                <a:latin typeface="Arial MT"/>
                <a:cs typeface="Arial MT"/>
              </a:rPr>
              <a:t>  </a:t>
            </a:r>
            <a:r>
              <a:rPr dirty="0" sz="1800">
                <a:latin typeface="Arial MT"/>
                <a:cs typeface="Arial MT"/>
              </a:rPr>
              <a:t>través</a:t>
            </a:r>
            <a:r>
              <a:rPr dirty="0" sz="1800" spc="315">
                <a:latin typeface="Arial MT"/>
                <a:cs typeface="Arial MT"/>
              </a:rPr>
              <a:t>  </a:t>
            </a:r>
            <a:r>
              <a:rPr dirty="0" sz="1800" spc="-25">
                <a:latin typeface="Arial MT"/>
                <a:cs typeface="Arial MT"/>
              </a:rPr>
              <a:t>de </a:t>
            </a:r>
            <a:r>
              <a:rPr dirty="0" sz="1800">
                <a:latin typeface="Arial MT"/>
                <a:cs typeface="Arial MT"/>
              </a:rPr>
              <a:t>lenguajes</a:t>
            </a:r>
            <a:r>
              <a:rPr dirty="0" sz="1800" spc="335">
                <a:latin typeface="Arial MT"/>
                <a:cs typeface="Arial MT"/>
              </a:rPr>
              <a:t>  </a:t>
            </a:r>
            <a:r>
              <a:rPr dirty="0" sz="1800">
                <a:latin typeface="Arial MT"/>
                <a:cs typeface="Arial MT"/>
              </a:rPr>
              <a:t>como</a:t>
            </a:r>
            <a:r>
              <a:rPr dirty="0" sz="1800" spc="340">
                <a:latin typeface="Arial MT"/>
                <a:cs typeface="Arial MT"/>
              </a:rPr>
              <a:t>  </a:t>
            </a:r>
            <a:r>
              <a:rPr dirty="0" sz="1800">
                <a:latin typeface="Arial MT"/>
                <a:cs typeface="Arial MT"/>
              </a:rPr>
              <a:t>SQL,</a:t>
            </a:r>
            <a:r>
              <a:rPr dirty="0" sz="1800" spc="345">
                <a:latin typeface="Arial MT"/>
                <a:cs typeface="Arial MT"/>
              </a:rPr>
              <a:t>  </a:t>
            </a:r>
            <a:r>
              <a:rPr dirty="0" sz="1800">
                <a:latin typeface="Arial MT"/>
                <a:cs typeface="Arial MT"/>
              </a:rPr>
              <a:t>y</a:t>
            </a:r>
            <a:r>
              <a:rPr dirty="0" sz="1800" spc="335">
                <a:latin typeface="Arial MT"/>
                <a:cs typeface="Arial MT"/>
              </a:rPr>
              <a:t>  </a:t>
            </a:r>
            <a:r>
              <a:rPr dirty="0" sz="1800">
                <a:latin typeface="Arial MT"/>
                <a:cs typeface="Arial MT"/>
              </a:rPr>
              <a:t>el</a:t>
            </a:r>
            <a:r>
              <a:rPr dirty="0" sz="1800" spc="340">
                <a:latin typeface="Arial MT"/>
                <a:cs typeface="Arial MT"/>
              </a:rPr>
              <a:t>  </a:t>
            </a:r>
            <a:r>
              <a:rPr dirty="0" sz="1800">
                <a:latin typeface="Arial MT"/>
                <a:cs typeface="Arial MT"/>
              </a:rPr>
              <a:t>uso</a:t>
            </a:r>
            <a:r>
              <a:rPr dirty="0" sz="1800" spc="335">
                <a:latin typeface="Arial MT"/>
                <a:cs typeface="Arial MT"/>
              </a:rPr>
              <a:t>  </a:t>
            </a:r>
            <a:r>
              <a:rPr dirty="0" sz="1800" spc="-25">
                <a:latin typeface="Arial MT"/>
                <a:cs typeface="Arial MT"/>
              </a:rPr>
              <a:t>de </a:t>
            </a:r>
            <a:r>
              <a:rPr dirty="0" sz="1800">
                <a:latin typeface="Arial MT"/>
                <a:cs typeface="Arial MT"/>
              </a:rPr>
              <a:t>Sistemas</a:t>
            </a:r>
            <a:r>
              <a:rPr dirty="0" sz="1800" spc="180">
                <a:latin typeface="Arial MT"/>
                <a:cs typeface="Arial MT"/>
              </a:rPr>
              <a:t> </a:t>
            </a:r>
            <a:r>
              <a:rPr dirty="0" sz="1800">
                <a:latin typeface="Arial MT"/>
                <a:cs typeface="Arial MT"/>
              </a:rPr>
              <a:t>de</a:t>
            </a:r>
            <a:r>
              <a:rPr dirty="0" sz="1800" spc="190">
                <a:latin typeface="Arial MT"/>
                <a:cs typeface="Arial MT"/>
              </a:rPr>
              <a:t> </a:t>
            </a:r>
            <a:r>
              <a:rPr dirty="0" sz="1800">
                <a:latin typeface="Arial MT"/>
                <a:cs typeface="Arial MT"/>
              </a:rPr>
              <a:t>Gestión</a:t>
            </a:r>
            <a:r>
              <a:rPr dirty="0" sz="1800" spc="190">
                <a:latin typeface="Arial MT"/>
                <a:cs typeface="Arial MT"/>
              </a:rPr>
              <a:t> </a:t>
            </a:r>
            <a:r>
              <a:rPr dirty="0" sz="1800">
                <a:latin typeface="Arial MT"/>
                <a:cs typeface="Arial MT"/>
              </a:rPr>
              <a:t>de</a:t>
            </a:r>
            <a:r>
              <a:rPr dirty="0" sz="1800" spc="185">
                <a:latin typeface="Arial MT"/>
                <a:cs typeface="Arial MT"/>
              </a:rPr>
              <a:t> </a:t>
            </a:r>
            <a:r>
              <a:rPr dirty="0" sz="1800">
                <a:latin typeface="Arial MT"/>
                <a:cs typeface="Arial MT"/>
              </a:rPr>
              <a:t>Bases</a:t>
            </a:r>
            <a:r>
              <a:rPr dirty="0" sz="1800" spc="195">
                <a:latin typeface="Arial MT"/>
                <a:cs typeface="Arial MT"/>
              </a:rPr>
              <a:t> </a:t>
            </a:r>
            <a:r>
              <a:rPr dirty="0" sz="1800">
                <a:latin typeface="Arial MT"/>
                <a:cs typeface="Arial MT"/>
              </a:rPr>
              <a:t>de</a:t>
            </a:r>
            <a:r>
              <a:rPr dirty="0" sz="1800" spc="190">
                <a:latin typeface="Arial MT"/>
                <a:cs typeface="Arial MT"/>
              </a:rPr>
              <a:t> </a:t>
            </a:r>
            <a:r>
              <a:rPr dirty="0" sz="1800" spc="-10">
                <a:latin typeface="Arial MT"/>
                <a:cs typeface="Arial MT"/>
              </a:rPr>
              <a:t>Datos </a:t>
            </a:r>
            <a:r>
              <a:rPr dirty="0" sz="1800">
                <a:latin typeface="Arial MT"/>
                <a:cs typeface="Arial MT"/>
              </a:rPr>
              <a:t>(SGBD)</a:t>
            </a:r>
            <a:r>
              <a:rPr dirty="0" sz="1800" spc="95">
                <a:latin typeface="Arial MT"/>
                <a:cs typeface="Arial MT"/>
              </a:rPr>
              <a:t>  </a:t>
            </a:r>
            <a:r>
              <a:rPr dirty="0" sz="1800">
                <a:latin typeface="Arial MT"/>
                <a:cs typeface="Arial MT"/>
              </a:rPr>
              <a:t>para</a:t>
            </a:r>
            <a:r>
              <a:rPr dirty="0" sz="1800" spc="95">
                <a:latin typeface="Arial MT"/>
                <a:cs typeface="Arial MT"/>
              </a:rPr>
              <a:t>  </a:t>
            </a:r>
            <a:r>
              <a:rPr dirty="0" sz="1800">
                <a:latin typeface="Arial MT"/>
                <a:cs typeface="Arial MT"/>
              </a:rPr>
              <a:t>controlar</a:t>
            </a:r>
            <a:r>
              <a:rPr dirty="0" sz="1800" spc="90">
                <a:latin typeface="Arial MT"/>
                <a:cs typeface="Arial MT"/>
              </a:rPr>
              <a:t>  </a:t>
            </a:r>
            <a:r>
              <a:rPr dirty="0" sz="1800">
                <a:latin typeface="Arial MT"/>
                <a:cs typeface="Arial MT"/>
              </a:rPr>
              <a:t>el</a:t>
            </a:r>
            <a:r>
              <a:rPr dirty="0" sz="1800" spc="100">
                <a:latin typeface="Arial MT"/>
                <a:cs typeface="Arial MT"/>
              </a:rPr>
              <a:t>  </a:t>
            </a:r>
            <a:r>
              <a:rPr dirty="0" sz="1800">
                <a:latin typeface="Arial MT"/>
                <a:cs typeface="Arial MT"/>
              </a:rPr>
              <a:t>acceso</a:t>
            </a:r>
            <a:r>
              <a:rPr dirty="0" sz="1800" spc="95">
                <a:latin typeface="Arial MT"/>
                <a:cs typeface="Arial MT"/>
              </a:rPr>
              <a:t>  </a:t>
            </a:r>
            <a:r>
              <a:rPr dirty="0" sz="1800">
                <a:latin typeface="Arial MT"/>
                <a:cs typeface="Arial MT"/>
              </a:rPr>
              <a:t>y</a:t>
            </a:r>
            <a:r>
              <a:rPr dirty="0" sz="1800" spc="85">
                <a:latin typeface="Arial MT"/>
                <a:cs typeface="Arial MT"/>
              </a:rPr>
              <a:t>  </a:t>
            </a:r>
            <a:r>
              <a:rPr dirty="0" sz="1800" spc="-25">
                <a:latin typeface="Arial MT"/>
                <a:cs typeface="Arial MT"/>
              </a:rPr>
              <a:t>la </a:t>
            </a:r>
            <a:r>
              <a:rPr dirty="0" sz="1800">
                <a:latin typeface="Arial MT"/>
                <a:cs typeface="Arial MT"/>
              </a:rPr>
              <a:t>integridad</a:t>
            </a:r>
            <a:r>
              <a:rPr dirty="0" sz="1800" spc="-10">
                <a:latin typeface="Arial MT"/>
                <a:cs typeface="Arial MT"/>
              </a:rPr>
              <a:t> </a:t>
            </a:r>
            <a:r>
              <a:rPr dirty="0" sz="1800">
                <a:latin typeface="Arial MT"/>
                <a:cs typeface="Arial MT"/>
              </a:rPr>
              <a:t>de</a:t>
            </a:r>
            <a:r>
              <a:rPr dirty="0" sz="1800" spc="-25">
                <a:latin typeface="Arial MT"/>
                <a:cs typeface="Arial MT"/>
              </a:rPr>
              <a:t> </a:t>
            </a:r>
            <a:r>
              <a:rPr dirty="0" sz="1800">
                <a:latin typeface="Arial MT"/>
                <a:cs typeface="Arial MT"/>
              </a:rPr>
              <a:t>la</a:t>
            </a:r>
            <a:r>
              <a:rPr dirty="0" sz="1800" spc="-15">
                <a:latin typeface="Arial MT"/>
                <a:cs typeface="Arial MT"/>
              </a:rPr>
              <a:t> </a:t>
            </a:r>
            <a:r>
              <a:rPr dirty="0" sz="1800" spc="-10">
                <a:latin typeface="Arial MT"/>
                <a:cs typeface="Arial MT"/>
              </a:rPr>
              <a:t>información</a:t>
            </a:r>
            <a:r>
              <a:rPr dirty="0" sz="2000" spc="-10">
                <a:latin typeface="Arial MT"/>
                <a:cs typeface="Arial MT"/>
              </a:rPr>
              <a:t>.</a:t>
            </a:r>
            <a:endParaRPr sz="20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p:cNvPicPr/>
            <p:nvPr/>
          </p:nvPicPr>
          <p:blipFill>
            <a:blip r:embed="rId3" cstate="print"/>
            <a:stretch>
              <a:fillRect/>
            </a:stretch>
          </p:blipFill>
          <p:spPr>
            <a:xfrm>
              <a:off x="970787" y="5570219"/>
              <a:ext cx="1258824" cy="420623"/>
            </a:xfrm>
            <a:prstGeom prst="rect">
              <a:avLst/>
            </a:prstGeom>
          </p:spPr>
        </p:pic>
      </p:grpSp>
      <p:sp>
        <p:nvSpPr>
          <p:cNvPr id="6" name="object 6"/>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descr="$PPTXTitle"/>
          <p:cNvSpPr txBox="1">
            <a:spLocks noGrp="1"/>
          </p:cNvSpPr>
          <p:nvPr>
            <p:ph type="body" idx="1"/>
          </p:nvPr>
        </p:nvSpPr>
        <p:spPr>
          <a:prstGeom prst="rect"/>
        </p:spPr>
        <p:txBody>
          <a:bodyPr wrap="square" lIns="0" tIns="153670" rIns="0" bIns="0" rtlCol="0" vert="horz">
            <a:spAutoFit/>
          </a:bodyPr>
          <a:lstStyle/>
          <a:p>
            <a:pPr marL="12700" marR="5080">
              <a:lnSpc>
                <a:spcPts val="4610"/>
              </a:lnSpc>
              <a:spcBef>
                <a:spcPts val="1210"/>
              </a:spcBef>
            </a:pPr>
            <a:r>
              <a:rPr dirty="0"/>
              <a:t>Database</a:t>
            </a:r>
            <a:r>
              <a:rPr dirty="0" spc="-190"/>
              <a:t> </a:t>
            </a:r>
            <a:r>
              <a:rPr dirty="0" spc="-20"/>
              <a:t>Programming</a:t>
            </a:r>
            <a:r>
              <a:rPr dirty="0" spc="-185"/>
              <a:t> </a:t>
            </a:r>
            <a:r>
              <a:rPr dirty="0" spc="-20"/>
              <a:t>with </a:t>
            </a:r>
            <a:r>
              <a:rPr dirty="0" spc="-25"/>
              <a:t>SQL</a:t>
            </a:r>
          </a:p>
        </p:txBody>
      </p:sp>
      <p:sp>
        <p:nvSpPr>
          <p:cNvPr id="8" name="object 8"/>
          <p:cNvSpPr txBox="1"/>
          <p:nvPr/>
        </p:nvSpPr>
        <p:spPr>
          <a:xfrm>
            <a:off x="962879" y="2400950"/>
            <a:ext cx="7253605"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4-</a:t>
            </a:r>
            <a:r>
              <a:rPr dirty="0" sz="2400" spc="-50" b="1">
                <a:solidFill>
                  <a:srgbClr val="4E3629"/>
                </a:solidFill>
                <a:latin typeface="Calibri"/>
                <a:cs typeface="Calibri"/>
              </a:rPr>
              <a:t>1</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Manipulación</a:t>
            </a:r>
            <a:r>
              <a:rPr dirty="0" sz="2400" spc="-50" b="1">
                <a:solidFill>
                  <a:srgbClr val="4E3629"/>
                </a:solidFill>
                <a:latin typeface="Calibri"/>
                <a:cs typeface="Calibri"/>
              </a:rPr>
              <a:t> </a:t>
            </a:r>
            <a:r>
              <a:rPr dirty="0" sz="2400" b="1">
                <a:solidFill>
                  <a:srgbClr val="4E3629"/>
                </a:solidFill>
                <a:latin typeface="Calibri"/>
                <a:cs typeface="Calibri"/>
              </a:rPr>
              <a:t>de</a:t>
            </a:r>
            <a:r>
              <a:rPr dirty="0" sz="2400" spc="-15" b="1">
                <a:solidFill>
                  <a:srgbClr val="4E3629"/>
                </a:solidFill>
                <a:latin typeface="Calibri"/>
                <a:cs typeface="Calibri"/>
              </a:rPr>
              <a:t> </a:t>
            </a:r>
            <a:r>
              <a:rPr dirty="0" sz="2400" spc="-10" b="1">
                <a:solidFill>
                  <a:srgbClr val="4E3629"/>
                </a:solidFill>
                <a:latin typeface="Calibri"/>
                <a:cs typeface="Calibri"/>
              </a:rPr>
              <a:t>Mayúsculas/Minúsculas</a:t>
            </a:r>
            <a:r>
              <a:rPr dirty="0" sz="2400" spc="-20" b="1">
                <a:solidFill>
                  <a:srgbClr val="4E3629"/>
                </a:solidFill>
                <a:latin typeface="Calibri"/>
                <a:cs typeface="Calibri"/>
              </a:rPr>
              <a:t> </a:t>
            </a:r>
            <a:r>
              <a:rPr dirty="0" sz="2400" b="1">
                <a:solidFill>
                  <a:srgbClr val="4E3629"/>
                </a:solidFill>
                <a:latin typeface="Calibri"/>
                <a:cs typeface="Calibri"/>
              </a:rPr>
              <a:t>y</a:t>
            </a:r>
            <a:r>
              <a:rPr dirty="0" sz="2400" spc="-40" b="1">
                <a:solidFill>
                  <a:srgbClr val="4E3629"/>
                </a:solidFill>
                <a:latin typeface="Calibri"/>
                <a:cs typeface="Calibri"/>
              </a:rPr>
              <a:t> </a:t>
            </a:r>
            <a:r>
              <a:rPr dirty="0" sz="2400" b="1">
                <a:solidFill>
                  <a:srgbClr val="4E3629"/>
                </a:solidFill>
                <a:latin typeface="Calibri"/>
                <a:cs typeface="Calibri"/>
              </a:rPr>
              <a:t>de</a:t>
            </a:r>
            <a:r>
              <a:rPr dirty="0" sz="2400" spc="-25" b="1">
                <a:solidFill>
                  <a:srgbClr val="4E3629"/>
                </a:solidFill>
                <a:latin typeface="Calibri"/>
                <a:cs typeface="Calibri"/>
              </a:rPr>
              <a:t> </a:t>
            </a:r>
            <a:r>
              <a:rPr dirty="0" sz="2400" spc="-10" b="1">
                <a:solidFill>
                  <a:srgbClr val="4E3629"/>
                </a:solidFill>
                <a:latin typeface="Calibri"/>
                <a:cs typeface="Calibri"/>
              </a:rPr>
              <a:t>Caracteres</a:t>
            </a:r>
            <a:endParaRPr sz="2400">
              <a:latin typeface="Calibri"/>
              <a:cs typeface="Calibri"/>
            </a:endParaRPr>
          </a:p>
        </p:txBody>
      </p:sp>
      <p:pic>
        <p:nvPicPr>
          <p:cNvPr id="9" name="object 9" descr="LF9A9240.jpg"/>
          <p:cNvPicPr/>
          <p:nvPr/>
        </p:nvPicPr>
        <p:blipFill>
          <a:blip r:embed="rId4" cstate="print"/>
          <a:stretch>
            <a:fillRect/>
          </a:stretch>
        </p:blipFill>
        <p:spPr>
          <a:xfrm>
            <a:off x="3698747" y="3485388"/>
            <a:ext cx="5058156" cy="29657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30"/>
              <a:t>Tabla</a:t>
            </a:r>
            <a:r>
              <a:rPr dirty="0" spc="-145"/>
              <a:t> </a:t>
            </a:r>
            <a:r>
              <a:rPr dirty="0" spc="-20"/>
              <a:t>DUAL</a:t>
            </a:r>
          </a:p>
        </p:txBody>
      </p:sp>
      <p:sp>
        <p:nvSpPr>
          <p:cNvPr id="5" name="object 5"/>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6" name="object 6"/>
          <p:cNvSpPr txBox="1">
            <a:spLocks noGrp="1"/>
          </p:cNvSpPr>
          <p:nvPr>
            <p:ph type="sldNum" idx="7" sz="quarter"/>
          </p:nvPr>
        </p:nvSpPr>
        <p:spPr>
          <a:prstGeom prst="rect"/>
        </p:spPr>
        <p:txBody>
          <a:bodyPr wrap="square" lIns="0" tIns="0" rIns="0" bIns="0" rtlCol="0" vert="horz">
            <a:spAutoFit/>
          </a:bodyPr>
          <a:lstStyle/>
          <a:p>
            <a:pPr marL="161290">
              <a:lnSpc>
                <a:spcPts val="1045"/>
              </a:lnSpc>
            </a:pPr>
            <a:fld id="{81D60167-4931-47E6-BA6A-407CBD079E47}" type="slidenum">
              <a:rPr dirty="0" spc="-50"/>
              <a:t>9</a:t>
            </a:fld>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381889"/>
            <a:ext cx="8045450" cy="4272280"/>
          </a:xfrm>
          <a:prstGeom prst="rect">
            <a:avLst/>
          </a:prstGeom>
        </p:spPr>
        <p:txBody>
          <a:bodyPr wrap="square" lIns="0" tIns="97155" rIns="0" bIns="0" rtlCol="0" vert="horz">
            <a:spAutoFit/>
          </a:bodyPr>
          <a:lstStyle/>
          <a:p>
            <a:pPr marL="182880" marR="57531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a:solidFill>
                  <a:srgbClr val="4E3629"/>
                </a:solidFill>
                <a:latin typeface="Calibri"/>
                <a:cs typeface="Calibri"/>
              </a:rPr>
              <a:t>DUAL</a:t>
            </a:r>
            <a:r>
              <a:rPr dirty="0" sz="2800" spc="-40">
                <a:solidFill>
                  <a:srgbClr val="4E3629"/>
                </a:solidFill>
                <a:latin typeface="Calibri"/>
                <a:cs typeface="Calibri"/>
              </a:rPr>
              <a:t> </a:t>
            </a:r>
            <a:r>
              <a:rPr dirty="0" sz="2800">
                <a:solidFill>
                  <a:srgbClr val="4E3629"/>
                </a:solidFill>
                <a:latin typeface="Calibri"/>
                <a:cs typeface="Calibri"/>
              </a:rPr>
              <a:t>tiene</a:t>
            </a:r>
            <a:r>
              <a:rPr dirty="0" sz="2800" spc="-45">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fila</a:t>
            </a:r>
            <a:r>
              <a:rPr dirty="0" sz="2800" spc="-50">
                <a:solidFill>
                  <a:srgbClr val="4E3629"/>
                </a:solidFill>
                <a:latin typeface="Calibri"/>
                <a:cs typeface="Calibri"/>
              </a:rPr>
              <a:t> </a:t>
            </a:r>
            <a:r>
              <a:rPr dirty="0" sz="2800">
                <a:solidFill>
                  <a:srgbClr val="4E3629"/>
                </a:solidFill>
                <a:latin typeface="Calibri"/>
                <a:cs typeface="Calibri"/>
              </a:rPr>
              <a:t>denominada</a:t>
            </a:r>
            <a:r>
              <a:rPr dirty="0" sz="2800" spc="-25">
                <a:solidFill>
                  <a:srgbClr val="4E3629"/>
                </a:solidFill>
                <a:latin typeface="Calibri"/>
                <a:cs typeface="Calibri"/>
              </a:rPr>
              <a:t> </a:t>
            </a:r>
            <a:r>
              <a:rPr dirty="0" sz="2800">
                <a:solidFill>
                  <a:srgbClr val="4E3629"/>
                </a:solidFill>
                <a:latin typeface="Calibri"/>
                <a:cs typeface="Calibri"/>
              </a:rPr>
              <a:t>"X"</a:t>
            </a:r>
            <a:r>
              <a:rPr dirty="0" sz="2800" spc="-40">
                <a:solidFill>
                  <a:srgbClr val="4E3629"/>
                </a:solidFill>
                <a:latin typeface="Calibri"/>
                <a:cs typeface="Calibri"/>
              </a:rPr>
              <a:t> </a:t>
            </a:r>
            <a:r>
              <a:rPr dirty="0" sz="2800">
                <a:solidFill>
                  <a:srgbClr val="4E3629"/>
                </a:solidFill>
                <a:latin typeface="Calibri"/>
                <a:cs typeface="Calibri"/>
              </a:rPr>
              <a:t>y</a:t>
            </a:r>
            <a:r>
              <a:rPr dirty="0" sz="2800" spc="-55">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114">
                <a:solidFill>
                  <a:srgbClr val="4E3629"/>
                </a:solidFill>
                <a:latin typeface="Calibri"/>
                <a:cs typeface="Calibri"/>
              </a:rPr>
              <a:t> </a:t>
            </a:r>
            <a:r>
              <a:rPr dirty="0" sz="2800">
                <a:solidFill>
                  <a:srgbClr val="4E3629"/>
                </a:solidFill>
                <a:latin typeface="Calibri"/>
                <a:cs typeface="Calibri"/>
              </a:rPr>
              <a:t>denominada</a:t>
            </a:r>
            <a:r>
              <a:rPr dirty="0" sz="2800" spc="-100">
                <a:solidFill>
                  <a:srgbClr val="4E3629"/>
                </a:solidFill>
                <a:latin typeface="Calibri"/>
                <a:cs typeface="Calibri"/>
              </a:rPr>
              <a:t> </a:t>
            </a:r>
            <a:r>
              <a:rPr dirty="0" sz="2800" spc="-10">
                <a:solidFill>
                  <a:srgbClr val="4E3629"/>
                </a:solidFill>
                <a:latin typeface="Calibri"/>
                <a:cs typeface="Calibri"/>
              </a:rPr>
              <a:t>"DUMMY"</a:t>
            </a:r>
            <a:endParaRPr sz="2800">
              <a:latin typeface="Calibri"/>
              <a:cs typeface="Calibri"/>
            </a:endParaRPr>
          </a:p>
          <a:p>
            <a:pPr>
              <a:lnSpc>
                <a:spcPct val="100000"/>
              </a:lnSpc>
              <a:buClr>
                <a:srgbClr val="D1350F"/>
              </a:buClr>
              <a:buFont typeface="Arial MT"/>
              <a:buChar char="•"/>
            </a:pPr>
            <a:endParaRPr sz="2800">
              <a:latin typeface="Calibri"/>
              <a:cs typeface="Calibri"/>
            </a:endParaRPr>
          </a:p>
          <a:p>
            <a:pPr>
              <a:lnSpc>
                <a:spcPct val="100000"/>
              </a:lnSpc>
              <a:spcBef>
                <a:spcPts val="940"/>
              </a:spcBef>
              <a:buClr>
                <a:srgbClr val="D1350F"/>
              </a:buClr>
              <a:buFont typeface="Arial MT"/>
              <a:buChar char="•"/>
            </a:pPr>
            <a:endParaRPr sz="2800">
              <a:latin typeface="Calibri"/>
              <a:cs typeface="Calibri"/>
            </a:endParaRPr>
          </a:p>
          <a:p>
            <a:pPr marL="159385" marR="35560" indent="-147320">
              <a:lnSpc>
                <a:spcPct val="80000"/>
              </a:lnSpc>
              <a:spcBef>
                <a:spcPts val="5"/>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9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DUAL</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crear</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sentencias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SELECT</a:t>
            </a:r>
            <a:r>
              <a:rPr dirty="0" u="heavy" sz="2800" spc="-75">
                <a:solidFill>
                  <a:srgbClr val="4E3629"/>
                </a:solidFill>
                <a:uFill>
                  <a:solidFill>
                    <a:srgbClr val="EC2814"/>
                  </a:solidFill>
                </a:uFill>
                <a:latin typeface="Calibri"/>
                <a:cs typeface="Calibri"/>
              </a:rPr>
              <a:t> </a:t>
            </a:r>
            <a:r>
              <a:rPr dirty="0" u="heavy" sz="2800" spc="-50">
                <a:solidFill>
                  <a:srgbClr val="4E3629"/>
                </a:solidFill>
                <a:uFill>
                  <a:solidFill>
                    <a:srgbClr val="EC2814"/>
                  </a:solidFill>
                </a:uFill>
                <a:latin typeface="Calibri"/>
                <a:cs typeface="Calibri"/>
              </a:rPr>
              <a:t>y</a:t>
            </a:r>
            <a:r>
              <a:rPr dirty="0" sz="2800" spc="-50">
                <a:solidFill>
                  <a:srgbClr val="4E3629"/>
                </a:solidFill>
                <a:latin typeface="Calibri"/>
                <a:cs typeface="Calibri"/>
              </a:rPr>
              <a:t> </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ejecutar</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funciones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estén</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directamente</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relacionadas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base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datos</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concreta</a:t>
            </a:r>
            <a:endParaRPr sz="2800">
              <a:latin typeface="Calibri"/>
              <a:cs typeface="Calibri"/>
            </a:endParaRPr>
          </a:p>
          <a:p>
            <a:pPr marL="182880" marR="5080"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Las</a:t>
            </a:r>
            <a:r>
              <a:rPr dirty="0" sz="2800" spc="-85">
                <a:solidFill>
                  <a:srgbClr val="4E3629"/>
                </a:solidFill>
                <a:latin typeface="Calibri"/>
                <a:cs typeface="Calibri"/>
              </a:rPr>
              <a:t> </a:t>
            </a:r>
            <a:r>
              <a:rPr dirty="0" sz="2800">
                <a:solidFill>
                  <a:srgbClr val="4E3629"/>
                </a:solidFill>
                <a:latin typeface="Calibri"/>
                <a:cs typeface="Calibri"/>
              </a:rPr>
              <a:t>consultas</a:t>
            </a:r>
            <a:r>
              <a:rPr dirty="0" sz="2800" spc="-55">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utilizan</a:t>
            </a:r>
            <a:r>
              <a:rPr dirty="0" sz="2800" spc="-65">
                <a:solidFill>
                  <a:srgbClr val="4E3629"/>
                </a:solidFill>
                <a:latin typeface="Calibri"/>
                <a:cs typeface="Calibri"/>
              </a:rPr>
              <a:t> </a:t>
            </a: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tabla</a:t>
            </a:r>
            <a:r>
              <a:rPr dirty="0" sz="2800" spc="-70">
                <a:solidFill>
                  <a:srgbClr val="4E3629"/>
                </a:solidFill>
                <a:latin typeface="Calibri"/>
                <a:cs typeface="Calibri"/>
              </a:rPr>
              <a:t> </a:t>
            </a:r>
            <a:r>
              <a:rPr dirty="0" sz="2800">
                <a:solidFill>
                  <a:srgbClr val="4E3629"/>
                </a:solidFill>
                <a:latin typeface="Calibri"/>
                <a:cs typeface="Calibri"/>
              </a:rPr>
              <a:t>DUAL</a:t>
            </a:r>
            <a:r>
              <a:rPr dirty="0" sz="2800" spc="-70">
                <a:solidFill>
                  <a:srgbClr val="4E3629"/>
                </a:solidFill>
                <a:latin typeface="Calibri"/>
                <a:cs typeface="Calibri"/>
              </a:rPr>
              <a:t> </a:t>
            </a:r>
            <a:r>
              <a:rPr dirty="0" sz="2800">
                <a:solidFill>
                  <a:srgbClr val="4E3629"/>
                </a:solidFill>
                <a:latin typeface="Calibri"/>
                <a:cs typeface="Calibri"/>
              </a:rPr>
              <a:t>devuelven</a:t>
            </a:r>
            <a:r>
              <a:rPr dirty="0" sz="2800" spc="-65">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fila</a:t>
            </a:r>
            <a:r>
              <a:rPr dirty="0" sz="2800" spc="-70">
                <a:solidFill>
                  <a:srgbClr val="4E3629"/>
                </a:solidFill>
                <a:latin typeface="Calibri"/>
                <a:cs typeface="Calibri"/>
              </a:rPr>
              <a:t> </a:t>
            </a:r>
            <a:r>
              <a:rPr dirty="0" sz="2800">
                <a:solidFill>
                  <a:srgbClr val="4E3629"/>
                </a:solidFill>
                <a:latin typeface="Calibri"/>
                <a:cs typeface="Calibri"/>
              </a:rPr>
              <a:t>como</a:t>
            </a:r>
            <a:r>
              <a:rPr dirty="0" sz="2800" spc="-70">
                <a:solidFill>
                  <a:srgbClr val="4E3629"/>
                </a:solidFill>
                <a:latin typeface="Calibri"/>
                <a:cs typeface="Calibri"/>
              </a:rPr>
              <a:t> </a:t>
            </a:r>
            <a:r>
              <a:rPr dirty="0" sz="2800" spc="-10">
                <a:solidFill>
                  <a:srgbClr val="4E3629"/>
                </a:solidFill>
                <a:latin typeface="Calibri"/>
                <a:cs typeface="Calibri"/>
              </a:rPr>
              <a:t>resultado.</a:t>
            </a:r>
            <a:r>
              <a:rPr dirty="0" sz="2800" spc="-35">
                <a:solidFill>
                  <a:srgbClr val="4E3629"/>
                </a:solidFill>
                <a:latin typeface="Calibri"/>
                <a:cs typeface="Calibri"/>
              </a:rPr>
              <a:t> </a:t>
            </a:r>
            <a:r>
              <a:rPr dirty="0" u="heavy" sz="2800">
                <a:solidFill>
                  <a:srgbClr val="4E3629"/>
                </a:solidFill>
                <a:uFill>
                  <a:solidFill>
                    <a:srgbClr val="EC2814"/>
                  </a:solidFill>
                </a:uFill>
                <a:latin typeface="Calibri"/>
                <a:cs typeface="Calibri"/>
              </a:rPr>
              <a:t>DUAL</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ser</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útil</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realizar</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cálculos</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también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evaluar</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expresiones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6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no</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derivan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3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tabla</a:t>
            </a:r>
            <a:endParaRPr sz="2800">
              <a:latin typeface="Calibri"/>
              <a:cs typeface="Calibri"/>
            </a:endParaRPr>
          </a:p>
        </p:txBody>
      </p:sp>
      <p:graphicFrame>
        <p:nvGraphicFramePr>
          <p:cNvPr id="4" name="object 4"/>
          <p:cNvGraphicFramePr>
            <a:graphicFrameLocks noGrp="1"/>
          </p:cNvGraphicFramePr>
          <p:nvPr/>
        </p:nvGraphicFramePr>
        <p:xfrm>
          <a:off x="3623884" y="2281087"/>
          <a:ext cx="1697355" cy="731520"/>
        </p:xfrm>
        <a:graphic>
          <a:graphicData uri="http://schemas.openxmlformats.org/drawingml/2006/table">
            <a:tbl>
              <a:tblPr firstRow="1" bandRow="1">
                <a:tableStyleId>{2D5ABB26-0587-4C30-8999-92F81FD0307C}</a:tableStyleId>
              </a:tblPr>
              <a:tblGrid>
                <a:gridCol w="1607820"/>
              </a:tblGrid>
              <a:tr h="365760">
                <a:tc>
                  <a:txBody>
                    <a:bodyPr/>
                    <a:lstStyle/>
                    <a:p>
                      <a:pPr marL="91440">
                        <a:lnSpc>
                          <a:spcPct val="100000"/>
                        </a:lnSpc>
                        <a:spcBef>
                          <a:spcPts val="265"/>
                        </a:spcBef>
                      </a:pPr>
                      <a:r>
                        <a:rPr dirty="0" sz="1800" spc="-10">
                          <a:solidFill>
                            <a:srgbClr val="4E3629"/>
                          </a:solidFill>
                          <a:latin typeface="Calibri"/>
                          <a:cs typeface="Calibri"/>
                        </a:rPr>
                        <a:t>DUMMY</a:t>
                      </a:r>
                      <a:endParaRPr sz="18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65760">
                <a:tc>
                  <a:txBody>
                    <a:bodyPr/>
                    <a:lstStyle/>
                    <a:p>
                      <a:pPr marL="91440">
                        <a:lnSpc>
                          <a:spcPct val="100000"/>
                        </a:lnSpc>
                        <a:spcBef>
                          <a:spcPts val="260"/>
                        </a:spcBef>
                      </a:pPr>
                      <a:r>
                        <a:rPr dirty="0" sz="1800" spc="-50">
                          <a:solidFill>
                            <a:srgbClr val="4E3629"/>
                          </a:solidFill>
                          <a:latin typeface="Calibri"/>
                          <a:cs typeface="Calibri"/>
                        </a:rPr>
                        <a:t>X</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30"/>
              <a:t>Tabla</a:t>
            </a:r>
            <a:r>
              <a:rPr dirty="0" spc="-145"/>
              <a:t> </a:t>
            </a:r>
            <a:r>
              <a:rPr dirty="0" spc="-20"/>
              <a:t>DUAL</a:t>
            </a:r>
          </a:p>
        </p:txBody>
      </p:sp>
      <p:sp>
        <p:nvSpPr>
          <p:cNvPr id="6" name="object 6"/>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fld id="{81D60167-4931-47E6-BA6A-407CBD079E47}" type="slidenum">
              <a:rPr dirty="0" spc="-50"/>
              <a:t>9</a:t>
            </a:fld>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8166100" cy="306070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DUAL</a:t>
            </a:r>
            <a:r>
              <a:rPr dirty="0" sz="2800" spc="-65">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spc="-10">
                <a:solidFill>
                  <a:srgbClr val="4E3629"/>
                </a:solidFill>
                <a:latin typeface="Calibri"/>
                <a:cs typeface="Calibri"/>
              </a:rPr>
              <a:t>utilizará</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60">
                <a:solidFill>
                  <a:srgbClr val="4E3629"/>
                </a:solidFill>
                <a:latin typeface="Calibri"/>
                <a:cs typeface="Calibri"/>
              </a:rPr>
              <a:t> </a:t>
            </a:r>
            <a:r>
              <a:rPr dirty="0" sz="2800">
                <a:solidFill>
                  <a:srgbClr val="4E3629"/>
                </a:solidFill>
                <a:latin typeface="Calibri"/>
                <a:cs typeface="Calibri"/>
              </a:rPr>
              <a:t>obtener</a:t>
            </a:r>
            <a:r>
              <a:rPr dirty="0" sz="2800" spc="-70">
                <a:solidFill>
                  <a:srgbClr val="4E3629"/>
                </a:solidFill>
                <a:latin typeface="Calibri"/>
                <a:cs typeface="Calibri"/>
              </a:rPr>
              <a:t> </a:t>
            </a:r>
            <a:r>
              <a:rPr dirty="0" sz="2800">
                <a:solidFill>
                  <a:srgbClr val="4E3629"/>
                </a:solidFill>
                <a:latin typeface="Calibri"/>
                <a:cs typeface="Calibri"/>
              </a:rPr>
              <a:t>muchas</a:t>
            </a:r>
            <a:r>
              <a:rPr dirty="0" sz="2800" spc="-6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las</a:t>
            </a:r>
            <a:r>
              <a:rPr dirty="0" sz="2800" spc="-75">
                <a:solidFill>
                  <a:srgbClr val="4E3629"/>
                </a:solidFill>
                <a:latin typeface="Calibri"/>
                <a:cs typeface="Calibri"/>
              </a:rPr>
              <a:t> </a:t>
            </a:r>
            <a:r>
              <a:rPr dirty="0" sz="2800" spc="-10">
                <a:solidFill>
                  <a:srgbClr val="4E3629"/>
                </a:solidFill>
                <a:latin typeface="Calibri"/>
                <a:cs typeface="Calibri"/>
              </a:rPr>
              <a:t>funciones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sola</a:t>
            </a:r>
            <a:r>
              <a:rPr dirty="0" sz="2800" spc="-35">
                <a:solidFill>
                  <a:srgbClr val="4E3629"/>
                </a:solidFill>
                <a:latin typeface="Calibri"/>
                <a:cs typeface="Calibri"/>
              </a:rPr>
              <a:t> </a:t>
            </a:r>
            <a:r>
              <a:rPr dirty="0" sz="2800" spc="-20">
                <a:solidFill>
                  <a:srgbClr val="4E3629"/>
                </a:solidFill>
                <a:latin typeface="Calibri"/>
                <a:cs typeface="Calibri"/>
              </a:rPr>
              <a:t>fila</a:t>
            </a:r>
            <a:endParaRPr sz="2800">
              <a:latin typeface="Calibri"/>
              <a:cs typeface="Calibri"/>
            </a:endParaRPr>
          </a:p>
          <a:p>
            <a:pPr marL="182880" marR="25400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este</a:t>
            </a:r>
            <a:r>
              <a:rPr dirty="0" sz="2800" spc="-80">
                <a:solidFill>
                  <a:srgbClr val="4E3629"/>
                </a:solidFill>
                <a:latin typeface="Calibri"/>
                <a:cs typeface="Calibri"/>
              </a:rPr>
              <a:t> </a:t>
            </a:r>
            <a:r>
              <a:rPr dirty="0" sz="2800">
                <a:solidFill>
                  <a:srgbClr val="4E3629"/>
                </a:solidFill>
                <a:latin typeface="Calibri"/>
                <a:cs typeface="Calibri"/>
              </a:rPr>
              <a:t>ejemplo,</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tabla</a:t>
            </a:r>
            <a:r>
              <a:rPr dirty="0" sz="2800" spc="-75">
                <a:solidFill>
                  <a:srgbClr val="4E3629"/>
                </a:solidFill>
                <a:latin typeface="Calibri"/>
                <a:cs typeface="Calibri"/>
              </a:rPr>
              <a:t> </a:t>
            </a:r>
            <a:r>
              <a:rPr dirty="0" sz="2800">
                <a:solidFill>
                  <a:srgbClr val="4E3629"/>
                </a:solidFill>
                <a:latin typeface="Calibri"/>
                <a:cs typeface="Calibri"/>
              </a:rPr>
              <a:t>DUAL</a:t>
            </a:r>
            <a:r>
              <a:rPr dirty="0" sz="2800" spc="-65">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a:solidFill>
                  <a:srgbClr val="4E3629"/>
                </a:solidFill>
                <a:latin typeface="Calibri"/>
                <a:cs typeface="Calibri"/>
              </a:rPr>
              <a:t>utiliza</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60">
                <a:solidFill>
                  <a:srgbClr val="4E3629"/>
                </a:solidFill>
                <a:latin typeface="Calibri"/>
                <a:cs typeface="Calibri"/>
              </a:rPr>
              <a:t> </a:t>
            </a:r>
            <a:r>
              <a:rPr dirty="0" sz="2800" spc="-10">
                <a:solidFill>
                  <a:srgbClr val="4E3629"/>
                </a:solidFill>
                <a:latin typeface="Calibri"/>
                <a:cs typeface="Calibri"/>
              </a:rPr>
              <a:t>ejecutar </a:t>
            </a:r>
            <a:r>
              <a:rPr dirty="0" sz="2800" spc="-10">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sentencia</a:t>
            </a:r>
            <a:r>
              <a:rPr dirty="0" sz="2800" spc="-60">
                <a:solidFill>
                  <a:srgbClr val="4E3629"/>
                </a:solidFill>
                <a:latin typeface="Calibri"/>
                <a:cs typeface="Calibri"/>
              </a:rPr>
              <a:t> </a:t>
            </a:r>
            <a:r>
              <a:rPr dirty="0" sz="2800">
                <a:solidFill>
                  <a:srgbClr val="4E3629"/>
                </a:solidFill>
                <a:latin typeface="Calibri"/>
                <a:cs typeface="Calibri"/>
              </a:rPr>
              <a:t>SELECT</a:t>
            </a:r>
            <a:r>
              <a:rPr dirty="0" sz="2800" spc="-70">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spc="-10">
                <a:solidFill>
                  <a:srgbClr val="4E3629"/>
                </a:solidFill>
                <a:latin typeface="Calibri"/>
                <a:cs typeface="Calibri"/>
              </a:rPr>
              <a:t>contenga</a:t>
            </a:r>
            <a:r>
              <a:rPr dirty="0" sz="2800" spc="-70">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cálculo</a:t>
            </a:r>
            <a:endParaRPr sz="2800">
              <a:latin typeface="Calibri"/>
              <a:cs typeface="Calibri"/>
            </a:endParaRPr>
          </a:p>
          <a:p>
            <a:pPr marL="182880" marR="508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Como</a:t>
            </a:r>
            <a:r>
              <a:rPr dirty="0" sz="2800" spc="-75">
                <a:solidFill>
                  <a:srgbClr val="4E3629"/>
                </a:solidFill>
                <a:latin typeface="Calibri"/>
                <a:cs typeface="Calibri"/>
              </a:rPr>
              <a:t> </a:t>
            </a:r>
            <a:r>
              <a:rPr dirty="0" sz="2800">
                <a:solidFill>
                  <a:srgbClr val="4E3629"/>
                </a:solidFill>
                <a:latin typeface="Calibri"/>
                <a:cs typeface="Calibri"/>
              </a:rPr>
              <a:t>puede</a:t>
            </a:r>
            <a:r>
              <a:rPr dirty="0" sz="2800" spc="-35">
                <a:solidFill>
                  <a:srgbClr val="4E3629"/>
                </a:solidFill>
                <a:latin typeface="Calibri"/>
                <a:cs typeface="Calibri"/>
              </a:rPr>
              <a:t> </a:t>
            </a:r>
            <a:r>
              <a:rPr dirty="0" sz="2800" spc="-50">
                <a:solidFill>
                  <a:srgbClr val="4E3629"/>
                </a:solidFill>
                <a:latin typeface="Calibri"/>
                <a:cs typeface="Calibri"/>
              </a:rPr>
              <a:t>ver,</a:t>
            </a:r>
            <a:r>
              <a:rPr dirty="0" sz="2800" spc="-7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sentencia</a:t>
            </a:r>
            <a:r>
              <a:rPr dirty="0" sz="2800" spc="-50">
                <a:solidFill>
                  <a:srgbClr val="4E3629"/>
                </a:solidFill>
                <a:latin typeface="Calibri"/>
                <a:cs typeface="Calibri"/>
              </a:rPr>
              <a:t> </a:t>
            </a:r>
            <a:r>
              <a:rPr dirty="0" sz="2800">
                <a:solidFill>
                  <a:srgbClr val="4E3629"/>
                </a:solidFill>
                <a:latin typeface="Calibri"/>
                <a:cs typeface="Calibri"/>
              </a:rPr>
              <a:t>SELECT</a:t>
            </a:r>
            <a:r>
              <a:rPr dirty="0" sz="2800" spc="-70">
                <a:solidFill>
                  <a:srgbClr val="4E3629"/>
                </a:solidFill>
                <a:latin typeface="Calibri"/>
                <a:cs typeface="Calibri"/>
              </a:rPr>
              <a:t> </a:t>
            </a:r>
            <a:r>
              <a:rPr dirty="0" sz="2800">
                <a:solidFill>
                  <a:srgbClr val="4E3629"/>
                </a:solidFill>
                <a:latin typeface="Calibri"/>
                <a:cs typeface="Calibri"/>
              </a:rPr>
              <a:t>devuelve</a:t>
            </a:r>
            <a:r>
              <a:rPr dirty="0" sz="2800" spc="-5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valor </a:t>
            </a:r>
            <a:r>
              <a:rPr dirty="0" sz="2800" spc="-10">
                <a:solidFill>
                  <a:srgbClr val="4E3629"/>
                </a:solidFill>
                <a:latin typeface="Calibri"/>
                <a:cs typeface="Calibri"/>
              </a:rPr>
              <a:t>	</a:t>
            </a:r>
            <a:r>
              <a:rPr dirty="0" sz="2800">
                <a:solidFill>
                  <a:srgbClr val="4E3629"/>
                </a:solidFill>
                <a:latin typeface="Calibri"/>
                <a:cs typeface="Calibri"/>
              </a:rPr>
              <a:t>que</a:t>
            </a:r>
            <a:r>
              <a:rPr dirty="0" sz="2800" spc="-30">
                <a:solidFill>
                  <a:srgbClr val="4E3629"/>
                </a:solidFill>
                <a:latin typeface="Calibri"/>
                <a:cs typeface="Calibri"/>
              </a:rPr>
              <a:t> </a:t>
            </a:r>
            <a:r>
              <a:rPr dirty="0" sz="2800">
                <a:solidFill>
                  <a:srgbClr val="4E3629"/>
                </a:solidFill>
                <a:latin typeface="Calibri"/>
                <a:cs typeface="Calibri"/>
              </a:rPr>
              <a:t>no</a:t>
            </a:r>
            <a:r>
              <a:rPr dirty="0" sz="2800" spc="-35">
                <a:solidFill>
                  <a:srgbClr val="4E3629"/>
                </a:solidFill>
                <a:latin typeface="Calibri"/>
                <a:cs typeface="Calibri"/>
              </a:rPr>
              <a:t> </a:t>
            </a:r>
            <a:r>
              <a:rPr dirty="0" sz="2800" spc="-10">
                <a:solidFill>
                  <a:srgbClr val="4E3629"/>
                </a:solidFill>
                <a:latin typeface="Calibri"/>
                <a:cs typeface="Calibri"/>
              </a:rPr>
              <a:t>existe</a:t>
            </a:r>
            <a:r>
              <a:rPr dirty="0" sz="2800" spc="-5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tabla</a:t>
            </a:r>
            <a:r>
              <a:rPr dirty="0" sz="2800" spc="-45">
                <a:solidFill>
                  <a:srgbClr val="4E3629"/>
                </a:solidFill>
                <a:latin typeface="Calibri"/>
                <a:cs typeface="Calibri"/>
              </a:rPr>
              <a:t> </a:t>
            </a:r>
            <a:r>
              <a:rPr dirty="0" sz="2800" spc="-20">
                <a:solidFill>
                  <a:srgbClr val="4E3629"/>
                </a:solidFill>
                <a:latin typeface="Calibri"/>
                <a:cs typeface="Calibri"/>
              </a:rPr>
              <a:t>DUAL</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Lst>
            </a:pP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devuelto</a:t>
            </a:r>
            <a:r>
              <a:rPr dirty="0" sz="2800" spc="-30">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spc="-10">
                <a:solidFill>
                  <a:srgbClr val="4E3629"/>
                </a:solidFill>
                <a:latin typeface="Calibri"/>
                <a:cs typeface="Calibri"/>
              </a:rPr>
              <a:t>resultado</a:t>
            </a:r>
            <a:r>
              <a:rPr dirty="0" sz="2800" spc="-35">
                <a:solidFill>
                  <a:srgbClr val="4E3629"/>
                </a:solidFill>
                <a:latin typeface="Calibri"/>
                <a:cs typeface="Calibri"/>
              </a:rPr>
              <a:t> </a:t>
            </a:r>
            <a:r>
              <a:rPr dirty="0" sz="2800">
                <a:solidFill>
                  <a:srgbClr val="4E3629"/>
                </a:solidFill>
                <a:latin typeface="Calibri"/>
                <a:cs typeface="Calibri"/>
              </a:rPr>
              <a:t>del</a:t>
            </a:r>
            <a:r>
              <a:rPr dirty="0" sz="2800" spc="-45">
                <a:solidFill>
                  <a:srgbClr val="4E3629"/>
                </a:solidFill>
                <a:latin typeface="Calibri"/>
                <a:cs typeface="Calibri"/>
              </a:rPr>
              <a:t> </a:t>
            </a:r>
            <a:r>
              <a:rPr dirty="0" sz="2800">
                <a:solidFill>
                  <a:srgbClr val="4E3629"/>
                </a:solidFill>
                <a:latin typeface="Calibri"/>
                <a:cs typeface="Calibri"/>
              </a:rPr>
              <a:t>cálculo</a:t>
            </a:r>
            <a:r>
              <a:rPr dirty="0" sz="2800" spc="-45">
                <a:solidFill>
                  <a:srgbClr val="4E3629"/>
                </a:solidFill>
                <a:latin typeface="Calibri"/>
                <a:cs typeface="Calibri"/>
              </a:rPr>
              <a:t> </a:t>
            </a:r>
            <a:r>
              <a:rPr dirty="0" sz="2800" spc="-10">
                <a:solidFill>
                  <a:srgbClr val="4E3629"/>
                </a:solidFill>
                <a:latin typeface="Calibri"/>
                <a:cs typeface="Calibri"/>
              </a:rPr>
              <a:t>ejecutado</a:t>
            </a:r>
            <a:endParaRPr sz="2800">
              <a:latin typeface="Calibri"/>
              <a:cs typeface="Calibri"/>
            </a:endParaRPr>
          </a:p>
        </p:txBody>
      </p:sp>
      <p:sp>
        <p:nvSpPr>
          <p:cNvPr id="4" name="object 4"/>
          <p:cNvSpPr txBox="1"/>
          <p:nvPr/>
        </p:nvSpPr>
        <p:spPr>
          <a:xfrm>
            <a:off x="405384" y="4853940"/>
            <a:ext cx="3857625" cy="858519"/>
          </a:xfrm>
          <a:prstGeom prst="rect">
            <a:avLst/>
          </a:prstGeom>
          <a:solidFill>
            <a:srgbClr val="9DBEC4">
              <a:alpha val="50199"/>
            </a:srgbClr>
          </a:solidFill>
        </p:spPr>
        <p:txBody>
          <a:bodyPr wrap="square" lIns="0" tIns="126364" rIns="0" bIns="0" rtlCol="0" vert="horz">
            <a:spAutoFit/>
          </a:bodyPr>
          <a:lstStyle/>
          <a:p>
            <a:pPr marR="1118870">
              <a:lnSpc>
                <a:spcPct val="100000"/>
              </a:lnSpc>
              <a:spcBef>
                <a:spcPts val="994"/>
              </a:spcBef>
            </a:pPr>
            <a:r>
              <a:rPr dirty="0" sz="1800" b="1">
                <a:solidFill>
                  <a:srgbClr val="4E3629"/>
                </a:solidFill>
                <a:latin typeface="Courier New"/>
                <a:cs typeface="Courier New"/>
              </a:rPr>
              <a:t>SELECT</a:t>
            </a:r>
            <a:r>
              <a:rPr dirty="0" sz="1800" spc="-60" b="1">
                <a:solidFill>
                  <a:srgbClr val="4E3629"/>
                </a:solidFill>
                <a:latin typeface="Courier New"/>
                <a:cs typeface="Courier New"/>
              </a:rPr>
              <a:t> </a:t>
            </a:r>
            <a:r>
              <a:rPr dirty="0" sz="1800" b="1">
                <a:solidFill>
                  <a:srgbClr val="4E3629"/>
                </a:solidFill>
                <a:latin typeface="Courier New"/>
                <a:cs typeface="Courier New"/>
              </a:rPr>
              <a:t>(319/29)</a:t>
            </a:r>
            <a:r>
              <a:rPr dirty="0" sz="1800" spc="-50" b="1">
                <a:solidFill>
                  <a:srgbClr val="4E3629"/>
                </a:solidFill>
                <a:latin typeface="Courier New"/>
                <a:cs typeface="Courier New"/>
              </a:rPr>
              <a:t> </a:t>
            </a:r>
            <a:r>
              <a:rPr dirty="0" sz="1800" b="1">
                <a:solidFill>
                  <a:srgbClr val="4E3629"/>
                </a:solidFill>
                <a:latin typeface="Courier New"/>
                <a:cs typeface="Courier New"/>
              </a:rPr>
              <a:t>+</a:t>
            </a:r>
            <a:r>
              <a:rPr dirty="0" sz="1800" spc="-45" b="1">
                <a:solidFill>
                  <a:srgbClr val="4E3629"/>
                </a:solidFill>
                <a:latin typeface="Courier New"/>
                <a:cs typeface="Courier New"/>
              </a:rPr>
              <a:t> </a:t>
            </a:r>
            <a:r>
              <a:rPr dirty="0" sz="1800" spc="-25" b="1">
                <a:solidFill>
                  <a:srgbClr val="4E3629"/>
                </a:solidFill>
                <a:latin typeface="Courier New"/>
                <a:cs typeface="Courier New"/>
              </a:rPr>
              <a:t>12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DUAL;</a:t>
            </a:r>
            <a:endParaRPr sz="1800">
              <a:latin typeface="Courier New"/>
              <a:cs typeface="Courier New"/>
            </a:endParaRPr>
          </a:p>
        </p:txBody>
      </p:sp>
      <p:graphicFrame>
        <p:nvGraphicFramePr>
          <p:cNvPr id="5" name="object 5"/>
          <p:cNvGraphicFramePr>
            <a:graphicFrameLocks noGrp="1"/>
          </p:cNvGraphicFramePr>
          <p:nvPr/>
        </p:nvGraphicFramePr>
        <p:xfrm>
          <a:off x="6896607" y="4847238"/>
          <a:ext cx="1936750" cy="793750"/>
        </p:xfrm>
        <a:graphic>
          <a:graphicData uri="http://schemas.openxmlformats.org/drawingml/2006/table">
            <a:tbl>
              <a:tblPr firstRow="1" bandRow="1">
                <a:tableStyleId>{2D5ABB26-0587-4C30-8999-92F81FD0307C}</a:tableStyleId>
              </a:tblPr>
              <a:tblGrid>
                <a:gridCol w="1847850"/>
              </a:tblGrid>
              <a:tr h="396875">
                <a:tc>
                  <a:txBody>
                    <a:bodyPr/>
                    <a:lstStyle/>
                    <a:p>
                      <a:pPr marL="91440">
                        <a:lnSpc>
                          <a:spcPct val="100000"/>
                        </a:lnSpc>
                        <a:spcBef>
                          <a:spcPts val="265"/>
                        </a:spcBef>
                      </a:pPr>
                      <a:r>
                        <a:rPr dirty="0" sz="1800" spc="-10">
                          <a:solidFill>
                            <a:srgbClr val="4E3629"/>
                          </a:solidFill>
                          <a:latin typeface="Calibri"/>
                          <a:cs typeface="Calibri"/>
                        </a:rPr>
                        <a:t>(319/29)+12</a:t>
                      </a:r>
                      <a:endParaRPr sz="18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96875">
                <a:tc>
                  <a:txBody>
                    <a:bodyPr/>
                    <a:lstStyle/>
                    <a:p>
                      <a:pPr marL="91440">
                        <a:lnSpc>
                          <a:spcPct val="100000"/>
                        </a:lnSpc>
                        <a:spcBef>
                          <a:spcPts val="260"/>
                        </a:spcBef>
                      </a:pPr>
                      <a:r>
                        <a:rPr dirty="0" sz="1800" spc="-25">
                          <a:solidFill>
                            <a:srgbClr val="4E3629"/>
                          </a:solidFill>
                          <a:latin typeface="Calibri"/>
                          <a:cs typeface="Calibri"/>
                        </a:rPr>
                        <a:t>23</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6953250" cy="528320"/>
          </a:xfrm>
          <a:prstGeom prst="rect"/>
        </p:spPr>
        <p:txBody>
          <a:bodyPr wrap="square" lIns="0" tIns="12700" rIns="0" bIns="0" rtlCol="0" vert="horz">
            <a:spAutoFit/>
          </a:bodyPr>
          <a:lstStyle/>
          <a:p>
            <a:pPr marL="12700">
              <a:lnSpc>
                <a:spcPct val="100000"/>
              </a:lnSpc>
              <a:spcBef>
                <a:spcPts val="100"/>
              </a:spcBef>
            </a:pPr>
            <a:r>
              <a:rPr dirty="0"/>
              <a:t>Funciones</a:t>
            </a:r>
            <a:r>
              <a:rPr dirty="0" spc="-25"/>
              <a:t> </a:t>
            </a:r>
            <a:r>
              <a:rPr dirty="0"/>
              <a:t>de</a:t>
            </a:r>
            <a:r>
              <a:rPr dirty="0" spc="-60"/>
              <a:t> </a:t>
            </a:r>
            <a:r>
              <a:rPr dirty="0" spc="-10"/>
              <a:t>Caracteres</a:t>
            </a:r>
            <a:r>
              <a:rPr dirty="0" spc="-75"/>
              <a:t> </a:t>
            </a:r>
            <a:r>
              <a:rPr dirty="0"/>
              <a:t>de</a:t>
            </a:r>
            <a:r>
              <a:rPr dirty="0" spc="-45"/>
              <a:t> </a:t>
            </a:r>
            <a:r>
              <a:rPr dirty="0"/>
              <a:t>Una</a:t>
            </a:r>
            <a:r>
              <a:rPr dirty="0" spc="-45"/>
              <a:t> </a:t>
            </a:r>
            <a:r>
              <a:rPr dirty="0"/>
              <a:t>Sola</a:t>
            </a:r>
            <a:r>
              <a:rPr dirty="0" spc="-60"/>
              <a:t> </a:t>
            </a:r>
            <a:r>
              <a:rPr dirty="0" spc="-20"/>
              <a:t>Fila</a:t>
            </a:r>
          </a:p>
        </p:txBody>
      </p:sp>
      <p:sp>
        <p:nvSpPr>
          <p:cNvPr id="4" name="object 4"/>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fld id="{81D60167-4931-47E6-BA6A-407CBD079E47}" type="slidenum">
              <a:rPr dirty="0" spc="-50"/>
              <a:t>9</a:t>
            </a:fld>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7941309" cy="3124835"/>
          </a:xfrm>
          <a:prstGeom prst="rect">
            <a:avLst/>
          </a:prstGeom>
        </p:spPr>
        <p:txBody>
          <a:bodyPr wrap="square" lIns="0" tIns="59690" rIns="0" bIns="0" rtlCol="0" vert="horz">
            <a:spAutoFit/>
          </a:bodyPr>
          <a:lstStyle/>
          <a:p>
            <a:pPr marL="182880" marR="1397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45">
                <a:solidFill>
                  <a:srgbClr val="4E3629"/>
                </a:solidFill>
                <a:latin typeface="Calibri"/>
                <a:cs typeface="Calibri"/>
              </a:rPr>
              <a:t> </a:t>
            </a:r>
            <a:r>
              <a:rPr dirty="0" sz="2800">
                <a:solidFill>
                  <a:srgbClr val="4E3629"/>
                </a:solidFill>
                <a:latin typeface="Calibri"/>
                <a:cs typeface="Calibri"/>
              </a:rPr>
              <a:t>funciones</a:t>
            </a:r>
            <a:r>
              <a:rPr dirty="0" sz="2800" spc="-10">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spc="-10">
                <a:solidFill>
                  <a:srgbClr val="4E3629"/>
                </a:solidFill>
                <a:latin typeface="Calibri"/>
                <a:cs typeface="Calibri"/>
              </a:rPr>
              <a:t>caracteres</a:t>
            </a:r>
            <a:r>
              <a:rPr dirty="0" sz="2800" spc="-5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sola</a:t>
            </a:r>
            <a:r>
              <a:rPr dirty="0" sz="2800" spc="-35">
                <a:solidFill>
                  <a:srgbClr val="4E3629"/>
                </a:solidFill>
                <a:latin typeface="Calibri"/>
                <a:cs typeface="Calibri"/>
              </a:rPr>
              <a:t> </a:t>
            </a:r>
            <a:r>
              <a:rPr dirty="0" sz="2800">
                <a:solidFill>
                  <a:srgbClr val="4E3629"/>
                </a:solidFill>
                <a:latin typeface="Calibri"/>
                <a:cs typeface="Calibri"/>
              </a:rPr>
              <a:t>fila</a:t>
            </a:r>
            <a:r>
              <a:rPr dirty="0" sz="2800" spc="-35">
                <a:solidFill>
                  <a:srgbClr val="4E3629"/>
                </a:solidFill>
                <a:latin typeface="Calibri"/>
                <a:cs typeface="Calibri"/>
              </a:rPr>
              <a:t> </a:t>
            </a:r>
            <a:r>
              <a:rPr dirty="0" sz="2800">
                <a:solidFill>
                  <a:srgbClr val="4E3629"/>
                </a:solidFill>
                <a:latin typeface="Calibri"/>
                <a:cs typeface="Calibri"/>
              </a:rPr>
              <a:t>se</a:t>
            </a:r>
            <a:r>
              <a:rPr dirty="0" sz="2800" spc="-35">
                <a:solidFill>
                  <a:srgbClr val="4E3629"/>
                </a:solidFill>
                <a:latin typeface="Calibri"/>
                <a:cs typeface="Calibri"/>
              </a:rPr>
              <a:t> </a:t>
            </a:r>
            <a:r>
              <a:rPr dirty="0" sz="2800" spc="-10">
                <a:solidFill>
                  <a:srgbClr val="4E3629"/>
                </a:solidFill>
                <a:latin typeface="Calibri"/>
                <a:cs typeface="Calibri"/>
              </a:rPr>
              <a:t>dividen </a:t>
            </a:r>
            <a:r>
              <a:rPr dirty="0" sz="2800" spc="-10">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a:solidFill>
                  <a:srgbClr val="4E3629"/>
                </a:solidFill>
                <a:latin typeface="Calibri"/>
                <a:cs typeface="Calibri"/>
              </a:rPr>
              <a:t>dos</a:t>
            </a:r>
            <a:r>
              <a:rPr dirty="0" sz="2800" spc="-30">
                <a:solidFill>
                  <a:srgbClr val="4E3629"/>
                </a:solidFill>
                <a:latin typeface="Calibri"/>
                <a:cs typeface="Calibri"/>
              </a:rPr>
              <a:t> </a:t>
            </a:r>
            <a:r>
              <a:rPr dirty="0" sz="2800" spc="-10">
                <a:solidFill>
                  <a:srgbClr val="4E3629"/>
                </a:solidFill>
                <a:latin typeface="Calibri"/>
                <a:cs typeface="Calibri"/>
              </a:rPr>
              <a:t>categorías:</a:t>
            </a:r>
            <a:endParaRPr sz="2800">
              <a:latin typeface="Calibri"/>
              <a:cs typeface="Calibri"/>
            </a:endParaRPr>
          </a:p>
          <a:p>
            <a:pPr marL="530860" marR="45720" indent="-175260">
              <a:lnSpc>
                <a:spcPts val="2590"/>
              </a:lnSpc>
              <a:spcBef>
                <a:spcPts val="425"/>
              </a:spcBef>
            </a:pPr>
            <a:r>
              <a:rPr dirty="0" sz="2400">
                <a:solidFill>
                  <a:srgbClr val="D1350F"/>
                </a:solidFill>
                <a:latin typeface="Calibri"/>
                <a:cs typeface="Calibri"/>
              </a:rPr>
              <a:t>−</a:t>
            </a:r>
            <a:r>
              <a:rPr dirty="0" sz="2400">
                <a:solidFill>
                  <a:srgbClr val="4E3629"/>
                </a:solidFill>
                <a:latin typeface="Calibri"/>
                <a:cs typeface="Calibri"/>
              </a:rPr>
              <a:t>Funciones</a:t>
            </a:r>
            <a:r>
              <a:rPr dirty="0" sz="2400" spc="-20">
                <a:solidFill>
                  <a:srgbClr val="4E3629"/>
                </a:solidFill>
                <a:latin typeface="Calibri"/>
                <a:cs typeface="Calibri"/>
              </a:rPr>
              <a:t> </a:t>
            </a:r>
            <a:r>
              <a:rPr dirty="0" sz="2400">
                <a:solidFill>
                  <a:srgbClr val="4E3629"/>
                </a:solidFill>
                <a:latin typeface="Calibri"/>
                <a:cs typeface="Calibri"/>
              </a:rPr>
              <a:t>que</a:t>
            </a:r>
            <a:r>
              <a:rPr dirty="0" sz="2400" spc="-5">
                <a:solidFill>
                  <a:srgbClr val="4E3629"/>
                </a:solidFill>
                <a:latin typeface="Calibri"/>
                <a:cs typeface="Calibri"/>
              </a:rPr>
              <a:t> </a:t>
            </a:r>
            <a:r>
              <a:rPr dirty="0" sz="2400" spc="-10">
                <a:solidFill>
                  <a:srgbClr val="4E3629"/>
                </a:solidFill>
                <a:latin typeface="Calibri"/>
                <a:cs typeface="Calibri"/>
              </a:rPr>
              <a:t>convierten</a:t>
            </a:r>
            <a:r>
              <a:rPr dirty="0" sz="2400" spc="-25">
                <a:solidFill>
                  <a:srgbClr val="4E3629"/>
                </a:solidFill>
                <a:latin typeface="Calibri"/>
                <a:cs typeface="Calibri"/>
              </a:rPr>
              <a:t> </a:t>
            </a:r>
            <a:r>
              <a:rPr dirty="0" sz="2400">
                <a:solidFill>
                  <a:srgbClr val="4E3629"/>
                </a:solidFill>
                <a:latin typeface="Calibri"/>
                <a:cs typeface="Calibri"/>
              </a:rPr>
              <a:t>las</a:t>
            </a:r>
            <a:r>
              <a:rPr dirty="0" sz="2400" spc="-15">
                <a:solidFill>
                  <a:srgbClr val="4E3629"/>
                </a:solidFill>
                <a:latin typeface="Calibri"/>
                <a:cs typeface="Calibri"/>
              </a:rPr>
              <a:t> </a:t>
            </a:r>
            <a:r>
              <a:rPr dirty="0" sz="2400" spc="-10">
                <a:solidFill>
                  <a:srgbClr val="4E3629"/>
                </a:solidFill>
                <a:latin typeface="Calibri"/>
                <a:cs typeface="Calibri"/>
              </a:rPr>
              <a:t>mayúsculas/minúsculas</a:t>
            </a:r>
            <a:r>
              <a:rPr dirty="0" sz="2400" spc="-40">
                <a:solidFill>
                  <a:srgbClr val="4E3629"/>
                </a:solidFill>
                <a:latin typeface="Calibri"/>
                <a:cs typeface="Calibri"/>
              </a:rPr>
              <a:t> </a:t>
            </a:r>
            <a:r>
              <a:rPr dirty="0" sz="2400">
                <a:solidFill>
                  <a:srgbClr val="4E3629"/>
                </a:solidFill>
                <a:latin typeface="Calibri"/>
                <a:cs typeface="Calibri"/>
              </a:rPr>
              <a:t>de</a:t>
            </a:r>
            <a:r>
              <a:rPr dirty="0" sz="2400" spc="-5">
                <a:solidFill>
                  <a:srgbClr val="4E3629"/>
                </a:solidFill>
                <a:latin typeface="Calibri"/>
                <a:cs typeface="Calibri"/>
              </a:rPr>
              <a:t> </a:t>
            </a:r>
            <a:r>
              <a:rPr dirty="0" sz="2400" spc="-25">
                <a:solidFill>
                  <a:srgbClr val="4E3629"/>
                </a:solidFill>
                <a:latin typeface="Calibri"/>
                <a:cs typeface="Calibri"/>
              </a:rPr>
              <a:t>las </a:t>
            </a:r>
            <a:r>
              <a:rPr dirty="0" sz="2400">
                <a:solidFill>
                  <a:srgbClr val="4E3629"/>
                </a:solidFill>
                <a:latin typeface="Calibri"/>
                <a:cs typeface="Calibri"/>
              </a:rPr>
              <a:t>cadenas</a:t>
            </a:r>
            <a:r>
              <a:rPr dirty="0" sz="2400" spc="-60">
                <a:solidFill>
                  <a:srgbClr val="4E3629"/>
                </a:solidFill>
                <a:latin typeface="Calibri"/>
                <a:cs typeface="Calibri"/>
              </a:rPr>
              <a:t> </a:t>
            </a:r>
            <a:r>
              <a:rPr dirty="0" sz="2400">
                <a:solidFill>
                  <a:srgbClr val="4E3629"/>
                </a:solidFill>
                <a:latin typeface="Calibri"/>
                <a:cs typeface="Calibri"/>
              </a:rPr>
              <a:t>de</a:t>
            </a:r>
            <a:r>
              <a:rPr dirty="0" sz="2400" spc="-50">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530860" marR="711200"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Funciones</a:t>
            </a:r>
            <a:r>
              <a:rPr dirty="0" sz="2400" spc="-45">
                <a:solidFill>
                  <a:srgbClr val="4E3629"/>
                </a:solidFill>
                <a:latin typeface="Calibri"/>
                <a:cs typeface="Calibri"/>
              </a:rPr>
              <a:t> </a:t>
            </a:r>
            <a:r>
              <a:rPr dirty="0" sz="2400">
                <a:solidFill>
                  <a:srgbClr val="4E3629"/>
                </a:solidFill>
                <a:latin typeface="Calibri"/>
                <a:cs typeface="Calibri"/>
              </a:rPr>
              <a:t>que</a:t>
            </a:r>
            <a:r>
              <a:rPr dirty="0" sz="2400" spc="-30">
                <a:solidFill>
                  <a:srgbClr val="4E3629"/>
                </a:solidFill>
                <a:latin typeface="Calibri"/>
                <a:cs typeface="Calibri"/>
              </a:rPr>
              <a:t> </a:t>
            </a:r>
            <a:r>
              <a:rPr dirty="0" sz="2400">
                <a:solidFill>
                  <a:srgbClr val="4E3629"/>
                </a:solidFill>
                <a:latin typeface="Calibri"/>
                <a:cs typeface="Calibri"/>
              </a:rPr>
              <a:t>puede</a:t>
            </a:r>
            <a:r>
              <a:rPr dirty="0" sz="2400" spc="-30">
                <a:solidFill>
                  <a:srgbClr val="4E3629"/>
                </a:solidFill>
                <a:latin typeface="Calibri"/>
                <a:cs typeface="Calibri"/>
              </a:rPr>
              <a:t> </a:t>
            </a:r>
            <a:r>
              <a:rPr dirty="0" sz="2400" spc="-35">
                <a:solidFill>
                  <a:srgbClr val="4E3629"/>
                </a:solidFill>
                <a:latin typeface="Calibri"/>
                <a:cs typeface="Calibri"/>
              </a:rPr>
              <a:t>unir, extraer,</a:t>
            </a:r>
            <a:r>
              <a:rPr dirty="0" sz="2400" spc="-70">
                <a:solidFill>
                  <a:srgbClr val="4E3629"/>
                </a:solidFill>
                <a:latin typeface="Calibri"/>
                <a:cs typeface="Calibri"/>
              </a:rPr>
              <a:t> </a:t>
            </a:r>
            <a:r>
              <a:rPr dirty="0" sz="2400" spc="-30">
                <a:solidFill>
                  <a:srgbClr val="4E3629"/>
                </a:solidFill>
                <a:latin typeface="Calibri"/>
                <a:cs typeface="Calibri"/>
              </a:rPr>
              <a:t>mostrar,</a:t>
            </a:r>
            <a:r>
              <a:rPr dirty="0" sz="2400" spc="-45">
                <a:solidFill>
                  <a:srgbClr val="4E3629"/>
                </a:solidFill>
                <a:latin typeface="Calibri"/>
                <a:cs typeface="Calibri"/>
              </a:rPr>
              <a:t> </a:t>
            </a:r>
            <a:r>
              <a:rPr dirty="0" sz="2400" spc="-10">
                <a:solidFill>
                  <a:srgbClr val="4E3629"/>
                </a:solidFill>
                <a:latin typeface="Calibri"/>
                <a:cs typeface="Calibri"/>
              </a:rPr>
              <a:t>encontrar, </a:t>
            </a:r>
            <a:r>
              <a:rPr dirty="0" sz="2400">
                <a:solidFill>
                  <a:srgbClr val="4E3629"/>
                </a:solidFill>
                <a:latin typeface="Calibri"/>
                <a:cs typeface="Calibri"/>
              </a:rPr>
              <a:t>rellenar</a:t>
            </a:r>
            <a:r>
              <a:rPr dirty="0" sz="2400" spc="-70">
                <a:solidFill>
                  <a:srgbClr val="4E3629"/>
                </a:solidFill>
                <a:latin typeface="Calibri"/>
                <a:cs typeface="Calibri"/>
              </a:rPr>
              <a:t> </a:t>
            </a:r>
            <a:r>
              <a:rPr dirty="0" sz="2400">
                <a:solidFill>
                  <a:srgbClr val="4E3629"/>
                </a:solidFill>
                <a:latin typeface="Calibri"/>
                <a:cs typeface="Calibri"/>
              </a:rPr>
              <a:t>y</a:t>
            </a:r>
            <a:r>
              <a:rPr dirty="0" sz="2400" spc="-50">
                <a:solidFill>
                  <a:srgbClr val="4E3629"/>
                </a:solidFill>
                <a:latin typeface="Calibri"/>
                <a:cs typeface="Calibri"/>
              </a:rPr>
              <a:t> </a:t>
            </a:r>
            <a:r>
              <a:rPr dirty="0" sz="2400" spc="-10">
                <a:solidFill>
                  <a:srgbClr val="4E3629"/>
                </a:solidFill>
                <a:latin typeface="Calibri"/>
                <a:cs typeface="Calibri"/>
              </a:rPr>
              <a:t>recortar</a:t>
            </a:r>
            <a:r>
              <a:rPr dirty="0" sz="2400" spc="-75">
                <a:solidFill>
                  <a:srgbClr val="4E3629"/>
                </a:solidFill>
                <a:latin typeface="Calibri"/>
                <a:cs typeface="Calibri"/>
              </a:rPr>
              <a:t> </a:t>
            </a:r>
            <a:r>
              <a:rPr dirty="0" sz="2400">
                <a:solidFill>
                  <a:srgbClr val="4E3629"/>
                </a:solidFill>
                <a:latin typeface="Calibri"/>
                <a:cs typeface="Calibri"/>
              </a:rPr>
              <a:t>cadenas</a:t>
            </a:r>
            <a:r>
              <a:rPr dirty="0" sz="2400" spc="-60">
                <a:solidFill>
                  <a:srgbClr val="4E3629"/>
                </a:solidFill>
                <a:latin typeface="Calibri"/>
                <a:cs typeface="Calibri"/>
              </a:rPr>
              <a:t> </a:t>
            </a:r>
            <a:r>
              <a:rPr dirty="0" sz="2400">
                <a:solidFill>
                  <a:srgbClr val="4E3629"/>
                </a:solidFill>
                <a:latin typeface="Calibri"/>
                <a:cs typeface="Calibri"/>
              </a:rPr>
              <a:t>de</a:t>
            </a:r>
            <a:r>
              <a:rPr dirty="0" sz="2400" spc="-50">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159385" marR="5080" indent="-147320">
              <a:lnSpc>
                <a:spcPts val="3030"/>
              </a:lnSpc>
              <a:spcBef>
                <a:spcPts val="78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funciones</a:t>
            </a:r>
            <a:r>
              <a:rPr dirty="0" u="heavy" sz="2800" spc="-1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sola</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pueden</a:t>
            </a:r>
            <a:r>
              <a:rPr dirty="0" u="heavy" sz="2800" spc="-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utilizar</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las</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cláusulas</a:t>
            </a:r>
            <a:r>
              <a:rPr dirty="0" u="heavy" sz="2800" spc="-40">
                <a:solidFill>
                  <a:srgbClr val="4E3629"/>
                </a:solidFill>
                <a:uFill>
                  <a:solidFill>
                    <a:srgbClr val="EC2814"/>
                  </a:solidFill>
                </a:uFill>
                <a:latin typeface="Calibri"/>
                <a:cs typeface="Calibri"/>
              </a:rPr>
              <a:t> </a:t>
            </a:r>
            <a:r>
              <a:rPr dirty="0" u="heavy" sz="2800" spc="-35">
                <a:solidFill>
                  <a:srgbClr val="4E3629"/>
                </a:solidFill>
                <a:uFill>
                  <a:solidFill>
                    <a:srgbClr val="EC2814"/>
                  </a:solidFill>
                </a:uFill>
                <a:latin typeface="Calibri"/>
                <a:cs typeface="Calibri"/>
              </a:rPr>
              <a:t>SELECT,</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WHERE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ORDER</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BY</a:t>
            </a:r>
            <a:endParaRPr sz="28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6953250" cy="528320"/>
          </a:xfrm>
          <a:prstGeom prst="rect"/>
        </p:spPr>
        <p:txBody>
          <a:bodyPr wrap="square" lIns="0" tIns="12700" rIns="0" bIns="0" rtlCol="0" vert="horz">
            <a:spAutoFit/>
          </a:bodyPr>
          <a:lstStyle/>
          <a:p>
            <a:pPr marL="12700">
              <a:lnSpc>
                <a:spcPct val="100000"/>
              </a:lnSpc>
              <a:spcBef>
                <a:spcPts val="100"/>
              </a:spcBef>
            </a:pPr>
            <a:r>
              <a:rPr dirty="0"/>
              <a:t>Funciones</a:t>
            </a:r>
            <a:r>
              <a:rPr dirty="0" spc="-25"/>
              <a:t> </a:t>
            </a:r>
            <a:r>
              <a:rPr dirty="0"/>
              <a:t>de</a:t>
            </a:r>
            <a:r>
              <a:rPr dirty="0" spc="-60"/>
              <a:t> </a:t>
            </a:r>
            <a:r>
              <a:rPr dirty="0" spc="-10"/>
              <a:t>Caracteres</a:t>
            </a:r>
            <a:r>
              <a:rPr dirty="0" spc="-75"/>
              <a:t> </a:t>
            </a:r>
            <a:r>
              <a:rPr dirty="0"/>
              <a:t>de</a:t>
            </a:r>
            <a:r>
              <a:rPr dirty="0" spc="-45"/>
              <a:t> </a:t>
            </a:r>
            <a:r>
              <a:rPr dirty="0"/>
              <a:t>Una</a:t>
            </a:r>
            <a:r>
              <a:rPr dirty="0" spc="-45"/>
              <a:t> </a:t>
            </a:r>
            <a:r>
              <a:rPr dirty="0"/>
              <a:t>Sola</a:t>
            </a:r>
            <a:r>
              <a:rPr dirty="0" spc="-60"/>
              <a:t> </a:t>
            </a:r>
            <a:r>
              <a:rPr dirty="0" spc="-20"/>
              <a:t>Fila</a:t>
            </a:r>
          </a:p>
        </p:txBody>
      </p:sp>
      <p:sp>
        <p:nvSpPr>
          <p:cNvPr id="4" name="object 4"/>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fld id="{81D60167-4931-47E6-BA6A-407CBD079E47}" type="slidenum">
              <a:rPr dirty="0" spc="-50"/>
              <a:t>9</a:t>
            </a:fld>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381889"/>
            <a:ext cx="8163559" cy="4409440"/>
          </a:xfrm>
          <a:prstGeom prst="rect">
            <a:avLst/>
          </a:prstGeom>
        </p:spPr>
        <p:txBody>
          <a:bodyPr wrap="square" lIns="0" tIns="97155" rIns="0" bIns="0" rtlCol="0" vert="horz">
            <a:spAutoFit/>
          </a:bodyPr>
          <a:lstStyle/>
          <a:p>
            <a:pPr marL="182880" marR="508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Las</a:t>
            </a:r>
            <a:r>
              <a:rPr dirty="0" sz="2800" spc="-75">
                <a:solidFill>
                  <a:srgbClr val="4E3629"/>
                </a:solidFill>
                <a:latin typeface="Calibri"/>
                <a:cs typeface="Calibri"/>
              </a:rPr>
              <a:t> </a:t>
            </a:r>
            <a:r>
              <a:rPr dirty="0" sz="2800">
                <a:solidFill>
                  <a:srgbClr val="4E3629"/>
                </a:solidFill>
                <a:latin typeface="Calibri"/>
                <a:cs typeface="Calibri"/>
              </a:rPr>
              <a:t>funciones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manipulación</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mayúsculas/minúsculas</a:t>
            </a:r>
            <a:r>
              <a:rPr dirty="0" sz="2800" spc="-55">
                <a:solidFill>
                  <a:srgbClr val="4E3629"/>
                </a:solidFill>
                <a:latin typeface="Calibri"/>
                <a:cs typeface="Calibri"/>
              </a:rPr>
              <a:t> </a:t>
            </a:r>
            <a:r>
              <a:rPr dirty="0" sz="2800">
                <a:solidFill>
                  <a:srgbClr val="4E3629"/>
                </a:solidFill>
                <a:latin typeface="Calibri"/>
                <a:cs typeface="Calibri"/>
              </a:rPr>
              <a:t>son</a:t>
            </a:r>
            <a:r>
              <a:rPr dirty="0" sz="2800" spc="-80">
                <a:solidFill>
                  <a:srgbClr val="4E3629"/>
                </a:solidFill>
                <a:latin typeface="Calibri"/>
                <a:cs typeface="Calibri"/>
              </a:rPr>
              <a:t> </a:t>
            </a:r>
            <a:r>
              <a:rPr dirty="0" sz="2800" spc="-10">
                <a:solidFill>
                  <a:srgbClr val="4E3629"/>
                </a:solidFill>
                <a:latin typeface="Calibri"/>
                <a:cs typeface="Calibri"/>
              </a:rPr>
              <a:t>importantes</a:t>
            </a:r>
            <a:r>
              <a:rPr dirty="0" sz="2800" spc="-80">
                <a:solidFill>
                  <a:srgbClr val="4E3629"/>
                </a:solidFill>
                <a:latin typeface="Calibri"/>
                <a:cs typeface="Calibri"/>
              </a:rPr>
              <a:t> </a:t>
            </a:r>
            <a:r>
              <a:rPr dirty="0" sz="2800">
                <a:solidFill>
                  <a:srgbClr val="4E3629"/>
                </a:solidFill>
                <a:latin typeface="Calibri"/>
                <a:cs typeface="Calibri"/>
              </a:rPr>
              <a:t>porque</a:t>
            </a:r>
            <a:r>
              <a:rPr dirty="0" sz="2800" spc="-70">
                <a:solidFill>
                  <a:srgbClr val="4E3629"/>
                </a:solidFill>
                <a:latin typeface="Calibri"/>
                <a:cs typeface="Calibri"/>
              </a:rPr>
              <a:t> </a:t>
            </a:r>
            <a:r>
              <a:rPr dirty="0" sz="2800" spc="-10">
                <a:solidFill>
                  <a:srgbClr val="4E3629"/>
                </a:solidFill>
                <a:latin typeface="Calibri"/>
                <a:cs typeface="Calibri"/>
              </a:rPr>
              <a:t>puede </a:t>
            </a:r>
            <a:r>
              <a:rPr dirty="0" sz="2800" spc="-1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no</a:t>
            </a:r>
            <a:r>
              <a:rPr dirty="0" sz="2800" spc="-50">
                <a:solidFill>
                  <a:srgbClr val="4E3629"/>
                </a:solidFill>
                <a:latin typeface="Calibri"/>
                <a:cs typeface="Calibri"/>
              </a:rPr>
              <a:t> </a:t>
            </a:r>
            <a:r>
              <a:rPr dirty="0" sz="2800">
                <a:solidFill>
                  <a:srgbClr val="4E3629"/>
                </a:solidFill>
                <a:latin typeface="Calibri"/>
                <a:cs typeface="Calibri"/>
              </a:rPr>
              <a:t>siempre</a:t>
            </a:r>
            <a:r>
              <a:rPr dirty="0" sz="2800" spc="-50">
                <a:solidFill>
                  <a:srgbClr val="4E3629"/>
                </a:solidFill>
                <a:latin typeface="Calibri"/>
                <a:cs typeface="Calibri"/>
              </a:rPr>
              <a:t> </a:t>
            </a:r>
            <a:r>
              <a:rPr dirty="0" sz="2800">
                <a:solidFill>
                  <a:srgbClr val="4E3629"/>
                </a:solidFill>
                <a:latin typeface="Calibri"/>
                <a:cs typeface="Calibri"/>
              </a:rPr>
              <a:t>sepa</a:t>
            </a:r>
            <a:r>
              <a:rPr dirty="0" sz="2800" spc="-50">
                <a:solidFill>
                  <a:srgbClr val="4E3629"/>
                </a:solidFill>
                <a:latin typeface="Calibri"/>
                <a:cs typeface="Calibri"/>
              </a:rPr>
              <a:t> </a:t>
            </a:r>
            <a:r>
              <a:rPr dirty="0" sz="2800">
                <a:solidFill>
                  <a:srgbClr val="4E3629"/>
                </a:solidFill>
                <a:latin typeface="Calibri"/>
                <a:cs typeface="Calibri"/>
              </a:rPr>
              <a:t>cómo</a:t>
            </a:r>
            <a:r>
              <a:rPr dirty="0" sz="2800" spc="-5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han</a:t>
            </a:r>
            <a:r>
              <a:rPr dirty="0" sz="2800" spc="-55">
                <a:solidFill>
                  <a:srgbClr val="4E3629"/>
                </a:solidFill>
                <a:latin typeface="Calibri"/>
                <a:cs typeface="Calibri"/>
              </a:rPr>
              <a:t> </a:t>
            </a:r>
            <a:r>
              <a:rPr dirty="0" sz="2800">
                <a:solidFill>
                  <a:srgbClr val="4E3629"/>
                </a:solidFill>
                <a:latin typeface="Calibri"/>
                <a:cs typeface="Calibri"/>
              </a:rPr>
              <a:t>escrito</a:t>
            </a:r>
            <a:r>
              <a:rPr dirty="0" sz="2800" spc="-50">
                <a:solidFill>
                  <a:srgbClr val="4E3629"/>
                </a:solidFill>
                <a:latin typeface="Calibri"/>
                <a:cs typeface="Calibri"/>
              </a:rPr>
              <a:t> </a:t>
            </a:r>
            <a:r>
              <a:rPr dirty="0" sz="2800" spc="-10">
                <a:solidFill>
                  <a:srgbClr val="4E3629"/>
                </a:solidFill>
                <a:latin typeface="Calibri"/>
                <a:cs typeface="Calibri"/>
              </a:rPr>
              <a:t>(mayúscula, </a:t>
            </a:r>
            <a:r>
              <a:rPr dirty="0" sz="2800" spc="-10">
                <a:solidFill>
                  <a:srgbClr val="4E3629"/>
                </a:solidFill>
                <a:latin typeface="Calibri"/>
                <a:cs typeface="Calibri"/>
              </a:rPr>
              <a:t>	</a:t>
            </a:r>
            <a:r>
              <a:rPr dirty="0" sz="2800">
                <a:solidFill>
                  <a:srgbClr val="4E3629"/>
                </a:solidFill>
                <a:latin typeface="Calibri"/>
                <a:cs typeface="Calibri"/>
              </a:rPr>
              <a:t>minúscula</a:t>
            </a:r>
            <a:r>
              <a:rPr dirty="0" sz="2800" spc="-40">
                <a:solidFill>
                  <a:srgbClr val="4E3629"/>
                </a:solidFill>
                <a:latin typeface="Calibri"/>
                <a:cs typeface="Calibri"/>
              </a:rPr>
              <a:t> </a:t>
            </a:r>
            <a:r>
              <a:rPr dirty="0" sz="2800">
                <a:solidFill>
                  <a:srgbClr val="4E3629"/>
                </a:solidFill>
                <a:latin typeface="Calibri"/>
                <a:cs typeface="Calibri"/>
              </a:rPr>
              <a:t>o</a:t>
            </a:r>
            <a:r>
              <a:rPr dirty="0" sz="2800" spc="-75">
                <a:solidFill>
                  <a:srgbClr val="4E3629"/>
                </a:solidFill>
                <a:latin typeface="Calibri"/>
                <a:cs typeface="Calibri"/>
              </a:rPr>
              <a:t> </a:t>
            </a:r>
            <a:r>
              <a:rPr dirty="0" sz="2800">
                <a:solidFill>
                  <a:srgbClr val="4E3629"/>
                </a:solidFill>
                <a:latin typeface="Calibri"/>
                <a:cs typeface="Calibri"/>
              </a:rPr>
              <a:t>mayúsculas</a:t>
            </a:r>
            <a:r>
              <a:rPr dirty="0" sz="2800" spc="-60">
                <a:solidFill>
                  <a:srgbClr val="4E3629"/>
                </a:solidFill>
                <a:latin typeface="Calibri"/>
                <a:cs typeface="Calibri"/>
              </a:rPr>
              <a:t> </a:t>
            </a:r>
            <a:r>
              <a:rPr dirty="0" sz="2800">
                <a:solidFill>
                  <a:srgbClr val="4E3629"/>
                </a:solidFill>
                <a:latin typeface="Calibri"/>
                <a:cs typeface="Calibri"/>
              </a:rPr>
              <a:t>y</a:t>
            </a:r>
            <a:r>
              <a:rPr dirty="0" sz="2800" spc="-70">
                <a:solidFill>
                  <a:srgbClr val="4E3629"/>
                </a:solidFill>
                <a:latin typeface="Calibri"/>
                <a:cs typeface="Calibri"/>
              </a:rPr>
              <a:t> </a:t>
            </a:r>
            <a:r>
              <a:rPr dirty="0" sz="2800">
                <a:solidFill>
                  <a:srgbClr val="4E3629"/>
                </a:solidFill>
                <a:latin typeface="Calibri"/>
                <a:cs typeface="Calibri"/>
              </a:rPr>
              <a:t>minúsculas)</a:t>
            </a:r>
            <a:r>
              <a:rPr dirty="0" sz="2800" spc="-40">
                <a:solidFill>
                  <a:srgbClr val="4E3629"/>
                </a:solidFill>
                <a:latin typeface="Calibri"/>
                <a:cs typeface="Calibri"/>
              </a:rPr>
              <a:t> </a:t>
            </a:r>
            <a:r>
              <a:rPr dirty="0" sz="2800">
                <a:solidFill>
                  <a:srgbClr val="4E3629"/>
                </a:solidFill>
                <a:latin typeface="Calibri"/>
                <a:cs typeface="Calibri"/>
              </a:rPr>
              <a:t>los</a:t>
            </a:r>
            <a:r>
              <a:rPr dirty="0" sz="2800" spc="-70">
                <a:solidFill>
                  <a:srgbClr val="4E3629"/>
                </a:solidFill>
                <a:latin typeface="Calibri"/>
                <a:cs typeface="Calibri"/>
              </a:rPr>
              <a:t> </a:t>
            </a:r>
            <a:r>
              <a:rPr dirty="0" sz="2800" spc="-10">
                <a:solidFill>
                  <a:srgbClr val="4E3629"/>
                </a:solidFill>
                <a:latin typeface="Calibri"/>
                <a:cs typeface="Calibri"/>
              </a:rPr>
              <a:t>datos </a:t>
            </a:r>
            <a:r>
              <a:rPr dirty="0" sz="2800" spc="-10">
                <a:solidFill>
                  <a:srgbClr val="4E3629"/>
                </a:solidFill>
                <a:latin typeface="Calibri"/>
                <a:cs typeface="Calibri"/>
              </a:rPr>
              <a:t>	</a:t>
            </a:r>
            <a:r>
              <a:rPr dirty="0" sz="2800">
                <a:solidFill>
                  <a:srgbClr val="4E3629"/>
                </a:solidFill>
                <a:latin typeface="Calibri"/>
                <a:cs typeface="Calibri"/>
              </a:rPr>
              <a:t>almacenados</a:t>
            </a:r>
            <a:r>
              <a:rPr dirty="0" sz="2800" spc="-30">
                <a:solidFill>
                  <a:srgbClr val="4E3629"/>
                </a:solidFill>
                <a:latin typeface="Calibri"/>
                <a:cs typeface="Calibri"/>
              </a:rPr>
              <a:t> </a:t>
            </a:r>
            <a:r>
              <a:rPr dirty="0" sz="2800">
                <a:solidFill>
                  <a:srgbClr val="4E3629"/>
                </a:solidFill>
                <a:latin typeface="Calibri"/>
                <a:cs typeface="Calibri"/>
              </a:rPr>
              <a:t>en</a:t>
            </a:r>
            <a:r>
              <a:rPr dirty="0" sz="2800" spc="-3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base</a:t>
            </a:r>
            <a:r>
              <a:rPr dirty="0" sz="2800" spc="-25">
                <a:solidFill>
                  <a:srgbClr val="4E3629"/>
                </a:solidFill>
                <a:latin typeface="Calibri"/>
                <a:cs typeface="Calibri"/>
              </a:rPr>
              <a:t> </a:t>
            </a:r>
            <a:r>
              <a:rPr dirty="0" sz="2800">
                <a:solidFill>
                  <a:srgbClr val="4E3629"/>
                </a:solidFill>
                <a:latin typeface="Calibri"/>
                <a:cs typeface="Calibri"/>
              </a:rPr>
              <a:t>de</a:t>
            </a:r>
            <a:r>
              <a:rPr dirty="0" sz="2800" spc="-2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algn="just" marL="159385" marR="118745" indent="-147320">
              <a:lnSpc>
                <a:spcPct val="80000"/>
              </a:lnSpc>
              <a:spcBef>
                <a:spcPts val="81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manipulación</a:t>
            </a:r>
            <a:r>
              <a:rPr dirty="0" u="heavy" sz="2800" spc="4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mayúsculas/minúsculas</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e </a:t>
            </a:r>
            <a:r>
              <a:rPr dirty="0" u="heavy" sz="2800" spc="-20">
                <a:solidFill>
                  <a:srgbClr val="4E3629"/>
                </a:solidFill>
                <a:uFill>
                  <a:solidFill>
                    <a:srgbClr val="EC2814"/>
                  </a:solidFill>
                </a:uFill>
                <a:latin typeface="Calibri"/>
                <a:cs typeface="Calibri"/>
              </a:rPr>
              <a:t>permite</a:t>
            </a:r>
            <a:r>
              <a:rPr dirty="0" sz="2800">
                <a:solidFill>
                  <a:srgbClr val="4E3629"/>
                </a:solidFill>
                <a:latin typeface="Calibri"/>
                <a:cs typeface="Calibri"/>
              </a:rPr>
              <a:t> </a:t>
            </a:r>
            <a:r>
              <a:rPr dirty="0" sz="2800">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convertir</a:t>
            </a:r>
            <a:r>
              <a:rPr dirty="0" u="heavy" sz="2800" spc="1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temporalmente</a:t>
            </a:r>
            <a:r>
              <a:rPr dirty="0" u="heavy" sz="2800" spc="1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los</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datos</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de</a:t>
            </a:r>
            <a:r>
              <a:rPr dirty="0" u="heavy" sz="280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base</a:t>
            </a:r>
            <a:r>
              <a:rPr dirty="0" u="heavy" sz="2800" spc="1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de</a:t>
            </a:r>
            <a:r>
              <a:rPr dirty="0" u="heavy" sz="2800" spc="1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datos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en</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mayúsculas</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minúsculas,</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según</a:t>
            </a:r>
            <a:r>
              <a:rPr dirty="0" u="heavy" sz="2800" spc="20">
                <a:solidFill>
                  <a:srgbClr val="4E3629"/>
                </a:solidFill>
                <a:uFill>
                  <a:solidFill>
                    <a:srgbClr val="EC2814"/>
                  </a:solidFill>
                </a:uFill>
                <a:latin typeface="Calibri"/>
                <a:cs typeface="Calibri"/>
              </a:rPr>
              <a:t> </a:t>
            </a:r>
            <a:r>
              <a:rPr dirty="0" u="heavy" sz="2800" spc="-5">
                <a:solidFill>
                  <a:srgbClr val="4E3629"/>
                </a:solidFill>
                <a:uFill>
                  <a:solidFill>
                    <a:srgbClr val="EC2814"/>
                  </a:solidFill>
                </a:uFill>
                <a:latin typeface="Calibri"/>
                <a:cs typeface="Calibri"/>
              </a:rPr>
              <a:t>desee</a:t>
            </a:r>
            <a:endParaRPr sz="2800">
              <a:latin typeface="Calibri"/>
              <a:cs typeface="Calibri"/>
            </a:endParaRPr>
          </a:p>
          <a:p>
            <a:pPr marL="182880" marR="90170" indent="-170815">
              <a:lnSpc>
                <a:spcPct val="80000"/>
              </a:lnSpc>
              <a:spcBef>
                <a:spcPts val="795"/>
              </a:spcBef>
              <a:buClr>
                <a:srgbClr val="D1350F"/>
              </a:buClr>
              <a:buFont typeface="Arial MT"/>
              <a:buChar char="•"/>
              <a:tabLst>
                <a:tab pos="184785" algn="l"/>
              </a:tabLst>
            </a:pP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evita</a:t>
            </a:r>
            <a:r>
              <a:rPr dirty="0" sz="2800" spc="-4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hecho</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no</a:t>
            </a:r>
            <a:r>
              <a:rPr dirty="0" sz="2800" spc="-35">
                <a:solidFill>
                  <a:srgbClr val="4E3629"/>
                </a:solidFill>
                <a:latin typeface="Calibri"/>
                <a:cs typeface="Calibri"/>
              </a:rPr>
              <a:t> </a:t>
            </a:r>
            <a:r>
              <a:rPr dirty="0" sz="2800">
                <a:solidFill>
                  <a:srgbClr val="4E3629"/>
                </a:solidFill>
                <a:latin typeface="Calibri"/>
                <a:cs typeface="Calibri"/>
              </a:rPr>
              <a:t>coincidan</a:t>
            </a:r>
            <a:r>
              <a:rPr dirty="0" sz="2800" spc="-25">
                <a:solidFill>
                  <a:srgbClr val="4E3629"/>
                </a:solidFill>
                <a:latin typeface="Calibri"/>
                <a:cs typeface="Calibri"/>
              </a:rPr>
              <a:t> el </a:t>
            </a:r>
            <a:r>
              <a:rPr dirty="0" sz="2800" spc="-25">
                <a:solidFill>
                  <a:srgbClr val="4E3629"/>
                </a:solidFill>
                <a:latin typeface="Calibri"/>
                <a:cs typeface="Calibri"/>
              </a:rPr>
              <a:t>	</a:t>
            </a:r>
            <a:r>
              <a:rPr dirty="0" sz="2800" spc="-10">
                <a:solidFill>
                  <a:srgbClr val="4E3629"/>
                </a:solidFill>
                <a:latin typeface="Calibri"/>
                <a:cs typeface="Calibri"/>
              </a:rPr>
              <a:t>almacenamiento</a:t>
            </a:r>
            <a:r>
              <a:rPr dirty="0" sz="2800" spc="-45">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spc="-10">
                <a:solidFill>
                  <a:srgbClr val="4E3629"/>
                </a:solidFill>
                <a:latin typeface="Calibri"/>
                <a:cs typeface="Calibri"/>
              </a:rPr>
              <a:t>mayúsculas/minúsculas</a:t>
            </a:r>
            <a:r>
              <a:rPr dirty="0" sz="2800" spc="10">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spc="-20">
                <a:solidFill>
                  <a:srgbClr val="4E3629"/>
                </a:solidFill>
                <a:latin typeface="Calibri"/>
                <a:cs typeface="Calibri"/>
              </a:rPr>
              <a:t>base </a:t>
            </a:r>
            <a:r>
              <a:rPr dirty="0" sz="2800" spc="-2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y</a:t>
            </a:r>
            <a:r>
              <a:rPr dirty="0" sz="2800" spc="-5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redacción</a:t>
            </a:r>
            <a:r>
              <a:rPr dirty="0" sz="2800" spc="-4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mayúsculas/minúsculas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las</a:t>
            </a:r>
            <a:r>
              <a:rPr dirty="0" sz="2800" spc="-20">
                <a:solidFill>
                  <a:srgbClr val="4E3629"/>
                </a:solidFill>
                <a:latin typeface="Calibri"/>
                <a:cs typeface="Calibri"/>
              </a:rPr>
              <a:t> </a:t>
            </a:r>
            <a:r>
              <a:rPr dirty="0" sz="2800" spc="-10">
                <a:solidFill>
                  <a:srgbClr val="4E3629"/>
                </a:solidFill>
                <a:latin typeface="Calibri"/>
                <a:cs typeface="Calibri"/>
              </a:rPr>
              <a:t>solicitudes</a:t>
            </a:r>
            <a:endParaRPr sz="28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761" y="3912108"/>
            <a:ext cx="0" cy="2032635"/>
          </a:xfrm>
          <a:custGeom>
            <a:avLst/>
            <a:gdLst/>
            <a:ahLst/>
            <a:cxnLst/>
            <a:rect l="l" t="t" r="r" b="b"/>
            <a:pathLst>
              <a:path w="0" h="2032635">
                <a:moveTo>
                  <a:pt x="0" y="0"/>
                </a:moveTo>
                <a:lnTo>
                  <a:pt x="0" y="2032254"/>
                </a:lnTo>
              </a:path>
            </a:pathLst>
          </a:custGeom>
          <a:ln w="19811">
            <a:solidFill>
              <a:srgbClr val="E0E2E1"/>
            </a:solidFill>
          </a:ln>
        </p:spPr>
        <p:txBody>
          <a:bodyPr wrap="square" lIns="0" tIns="0" rIns="0" bIns="0" rtlCol="0"/>
          <a:lstStyle/>
          <a:p/>
        </p:txBody>
      </p:sp>
      <p:sp>
        <p:nvSpPr>
          <p:cNvPr id="3" name="object 3"/>
          <p:cNvSpPr/>
          <p:nvPr/>
        </p:nvSpPr>
        <p:spPr>
          <a:xfrm>
            <a:off x="4572761" y="1524761"/>
            <a:ext cx="0" cy="1310005"/>
          </a:xfrm>
          <a:custGeom>
            <a:avLst/>
            <a:gdLst/>
            <a:ahLst/>
            <a:cxnLst/>
            <a:rect l="l" t="t" r="r" b="b"/>
            <a:pathLst>
              <a:path w="0" h="1310005">
                <a:moveTo>
                  <a:pt x="0" y="0"/>
                </a:moveTo>
                <a:lnTo>
                  <a:pt x="0" y="1309877"/>
                </a:lnTo>
              </a:path>
            </a:pathLst>
          </a:custGeom>
          <a:ln w="19811">
            <a:solidFill>
              <a:srgbClr val="E0E2E1"/>
            </a:solidFill>
          </a:ln>
        </p:spPr>
        <p:txBody>
          <a:bodyPr wrap="square" lIns="0" tIns="0" rIns="0" bIns="0" rtlCol="0"/>
          <a:lstStyle/>
          <a:p/>
        </p:txBody>
      </p:sp>
      <p:sp>
        <p:nvSpPr>
          <p:cNvPr id="4" name="object 4"/>
          <p:cNvSpPr txBox="1"/>
          <p:nvPr/>
        </p:nvSpPr>
        <p:spPr>
          <a:xfrm>
            <a:off x="483552" y="1491489"/>
            <a:ext cx="2879090" cy="836294"/>
          </a:xfrm>
          <a:prstGeom prst="rect">
            <a:avLst/>
          </a:prstGeom>
        </p:spPr>
        <p:txBody>
          <a:bodyPr wrap="square" lIns="0" tIns="59690" rIns="0" bIns="0" rtlCol="0" vert="horz">
            <a:spAutoFit/>
          </a:bodyPr>
          <a:lstStyle/>
          <a:p>
            <a:pPr marL="469900" marR="5080" indent="-457200">
              <a:lnSpc>
                <a:spcPts val="3030"/>
              </a:lnSpc>
              <a:spcBef>
                <a:spcPts val="470"/>
              </a:spcBef>
              <a:buClr>
                <a:srgbClr val="D1350F"/>
              </a:buClr>
              <a:buFont typeface="Arial MT"/>
              <a:buChar char="•"/>
              <a:tabLst>
                <a:tab pos="469900" algn="l"/>
              </a:tabLst>
            </a:pP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funciones</a:t>
            </a:r>
            <a:r>
              <a:rPr dirty="0" sz="2800" spc="-30">
                <a:solidFill>
                  <a:srgbClr val="4E3629"/>
                </a:solidFill>
                <a:latin typeface="Calibri"/>
                <a:cs typeface="Calibri"/>
              </a:rPr>
              <a:t> </a:t>
            </a:r>
            <a:r>
              <a:rPr dirty="0" sz="2800" spc="-25">
                <a:solidFill>
                  <a:srgbClr val="4E3629"/>
                </a:solidFill>
                <a:latin typeface="Calibri"/>
                <a:cs typeface="Calibri"/>
              </a:rPr>
              <a:t>de </a:t>
            </a:r>
            <a:r>
              <a:rPr dirty="0" sz="2800">
                <a:solidFill>
                  <a:srgbClr val="4E3629"/>
                </a:solidFill>
                <a:latin typeface="Calibri"/>
                <a:cs typeface="Calibri"/>
              </a:rPr>
              <a:t>manipulación</a:t>
            </a:r>
            <a:r>
              <a:rPr dirty="0" sz="2800" spc="-155">
                <a:solidFill>
                  <a:srgbClr val="4E3629"/>
                </a:solidFill>
                <a:latin typeface="Calibri"/>
                <a:cs typeface="Calibri"/>
              </a:rPr>
              <a:t> </a:t>
            </a:r>
            <a:r>
              <a:rPr dirty="0" sz="2800" spc="-25">
                <a:solidFill>
                  <a:srgbClr val="4E3629"/>
                </a:solidFill>
                <a:latin typeface="Calibri"/>
                <a:cs typeface="Calibri"/>
              </a:rPr>
              <a:t>de</a:t>
            </a:r>
            <a:endParaRPr sz="2800">
              <a:latin typeface="Calibri"/>
              <a:cs typeface="Calibri"/>
            </a:endParaRPr>
          </a:p>
        </p:txBody>
      </p:sp>
      <p:sp>
        <p:nvSpPr>
          <p:cNvPr id="5" name="object 5"/>
          <p:cNvSpPr txBox="1"/>
          <p:nvPr/>
        </p:nvSpPr>
        <p:spPr>
          <a:xfrm>
            <a:off x="940752" y="2259907"/>
            <a:ext cx="3426460" cy="452120"/>
          </a:xfrm>
          <a:prstGeom prst="rect">
            <a:avLst/>
          </a:prstGeom>
        </p:spPr>
        <p:txBody>
          <a:bodyPr wrap="square" lIns="0" tIns="12065" rIns="0" bIns="0" rtlCol="0" vert="horz">
            <a:spAutoFit/>
          </a:bodyPr>
          <a:lstStyle/>
          <a:p>
            <a:pPr marL="12700">
              <a:lnSpc>
                <a:spcPct val="100000"/>
              </a:lnSpc>
              <a:spcBef>
                <a:spcPts val="95"/>
              </a:spcBef>
            </a:pPr>
            <a:r>
              <a:rPr dirty="0" sz="2800" spc="-10">
                <a:solidFill>
                  <a:srgbClr val="4E3629"/>
                </a:solidFill>
                <a:latin typeface="Calibri"/>
                <a:cs typeface="Calibri"/>
              </a:rPr>
              <a:t>mayúsculas/minúsculas</a:t>
            </a:r>
            <a:endParaRPr sz="2800">
              <a:latin typeface="Calibri"/>
              <a:cs typeface="Calibri"/>
            </a:endParaRPr>
          </a:p>
        </p:txBody>
      </p:sp>
      <p:sp>
        <p:nvSpPr>
          <p:cNvPr id="6" name="object 6"/>
          <p:cNvSpPr txBox="1"/>
          <p:nvPr/>
        </p:nvSpPr>
        <p:spPr>
          <a:xfrm>
            <a:off x="940752" y="2644118"/>
            <a:ext cx="3215005" cy="3141345"/>
          </a:xfrm>
          <a:prstGeom prst="rect">
            <a:avLst/>
          </a:prstGeom>
        </p:spPr>
        <p:txBody>
          <a:bodyPr wrap="square" lIns="0" tIns="59690" rIns="0" bIns="0" rtlCol="0" vert="horz">
            <a:spAutoFit/>
          </a:bodyPr>
          <a:lstStyle/>
          <a:p>
            <a:pPr marL="12700" marR="5080">
              <a:lnSpc>
                <a:spcPts val="3030"/>
              </a:lnSpc>
              <a:spcBef>
                <a:spcPts val="470"/>
              </a:spcBef>
            </a:pPr>
            <a:r>
              <a:rPr dirty="0" sz="2800">
                <a:solidFill>
                  <a:srgbClr val="4E3629"/>
                </a:solidFill>
                <a:latin typeface="Calibri"/>
                <a:cs typeface="Calibri"/>
              </a:rPr>
              <a:t>se</a:t>
            </a:r>
            <a:r>
              <a:rPr dirty="0" sz="2800" spc="-75">
                <a:solidFill>
                  <a:srgbClr val="4E3629"/>
                </a:solidFill>
                <a:latin typeface="Calibri"/>
                <a:cs typeface="Calibri"/>
              </a:rPr>
              <a:t> </a:t>
            </a:r>
            <a:r>
              <a:rPr dirty="0" sz="2800">
                <a:solidFill>
                  <a:srgbClr val="4E3629"/>
                </a:solidFill>
                <a:latin typeface="Calibri"/>
                <a:cs typeface="Calibri"/>
              </a:rPr>
              <a:t>utilizan</a:t>
            </a:r>
            <a:r>
              <a:rPr dirty="0" sz="2800" spc="-50">
                <a:solidFill>
                  <a:srgbClr val="4E3629"/>
                </a:solidFill>
                <a:latin typeface="Calibri"/>
                <a:cs typeface="Calibri"/>
              </a:rPr>
              <a:t> </a:t>
            </a:r>
            <a:r>
              <a:rPr dirty="0" sz="2800" spc="-20">
                <a:solidFill>
                  <a:srgbClr val="4E3629"/>
                </a:solidFill>
                <a:latin typeface="Calibri"/>
                <a:cs typeface="Calibri"/>
              </a:rPr>
              <a:t>para </a:t>
            </a:r>
            <a:r>
              <a:rPr dirty="0" sz="2800" spc="-10">
                <a:solidFill>
                  <a:srgbClr val="4E3629"/>
                </a:solidFill>
                <a:latin typeface="Calibri"/>
                <a:cs typeface="Calibri"/>
              </a:rPr>
              <a:t>convertir</a:t>
            </a:r>
            <a:r>
              <a:rPr dirty="0" sz="2800" spc="-70">
                <a:solidFill>
                  <a:srgbClr val="4E3629"/>
                </a:solidFill>
                <a:latin typeface="Calibri"/>
                <a:cs typeface="Calibri"/>
              </a:rPr>
              <a:t> </a:t>
            </a:r>
            <a:r>
              <a:rPr dirty="0" sz="2800">
                <a:solidFill>
                  <a:srgbClr val="4E3629"/>
                </a:solidFill>
                <a:latin typeface="Calibri"/>
                <a:cs typeface="Calibri"/>
              </a:rPr>
              <a:t>los</a:t>
            </a:r>
            <a:r>
              <a:rPr dirty="0" sz="2800" spc="-70">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spc="-25">
                <a:solidFill>
                  <a:srgbClr val="4E3629"/>
                </a:solidFill>
                <a:latin typeface="Calibri"/>
                <a:cs typeface="Calibri"/>
              </a:rPr>
              <a:t>del </a:t>
            </a:r>
            <a:r>
              <a:rPr dirty="0" sz="2800">
                <a:solidFill>
                  <a:srgbClr val="4E3629"/>
                </a:solidFill>
                <a:latin typeface="Calibri"/>
                <a:cs typeface="Calibri"/>
              </a:rPr>
              <a:t>estado</a:t>
            </a:r>
            <a:r>
              <a:rPr dirty="0" sz="2800" spc="-45">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spc="-25">
                <a:solidFill>
                  <a:srgbClr val="4E3629"/>
                </a:solidFill>
                <a:latin typeface="Calibri"/>
                <a:cs typeface="Calibri"/>
              </a:rPr>
              <a:t>se </a:t>
            </a:r>
            <a:r>
              <a:rPr dirty="0" sz="2800">
                <a:solidFill>
                  <a:srgbClr val="4E3629"/>
                </a:solidFill>
                <a:latin typeface="Calibri"/>
                <a:cs typeface="Calibri"/>
              </a:rPr>
              <a:t>almacenan</a:t>
            </a:r>
            <a:r>
              <a:rPr dirty="0" sz="2800" spc="-5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spc="-25">
                <a:solidFill>
                  <a:srgbClr val="4E3629"/>
                </a:solidFill>
                <a:latin typeface="Calibri"/>
                <a:cs typeface="Calibri"/>
              </a:rPr>
              <a:t>una </a:t>
            </a:r>
            <a:r>
              <a:rPr dirty="0" sz="2800">
                <a:solidFill>
                  <a:srgbClr val="4E3629"/>
                </a:solidFill>
                <a:latin typeface="Calibri"/>
                <a:cs typeface="Calibri"/>
              </a:rPr>
              <a:t>tabla</a:t>
            </a:r>
            <a:r>
              <a:rPr dirty="0" sz="2800" spc="-35">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spc="-10">
                <a:solidFill>
                  <a:srgbClr val="4E3629"/>
                </a:solidFill>
                <a:latin typeface="Calibri"/>
                <a:cs typeface="Calibri"/>
              </a:rPr>
              <a:t>mayúsculas, </a:t>
            </a:r>
            <a:r>
              <a:rPr dirty="0" sz="2800">
                <a:solidFill>
                  <a:srgbClr val="4E3629"/>
                </a:solidFill>
                <a:latin typeface="Calibri"/>
                <a:cs typeface="Calibri"/>
              </a:rPr>
              <a:t>minúsculas</a:t>
            </a:r>
            <a:r>
              <a:rPr dirty="0" sz="2800" spc="-85">
                <a:solidFill>
                  <a:srgbClr val="4E3629"/>
                </a:solidFill>
                <a:latin typeface="Calibri"/>
                <a:cs typeface="Calibri"/>
              </a:rPr>
              <a:t> </a:t>
            </a:r>
            <a:r>
              <a:rPr dirty="0" sz="2800" spc="-50">
                <a:solidFill>
                  <a:srgbClr val="4E3629"/>
                </a:solidFill>
                <a:latin typeface="Calibri"/>
                <a:cs typeface="Calibri"/>
              </a:rPr>
              <a:t>o </a:t>
            </a:r>
            <a:r>
              <a:rPr dirty="0" sz="2800">
                <a:solidFill>
                  <a:srgbClr val="4E3629"/>
                </a:solidFill>
                <a:latin typeface="Calibri"/>
                <a:cs typeface="Calibri"/>
              </a:rPr>
              <a:t>mayúsculas</a:t>
            </a:r>
            <a:r>
              <a:rPr dirty="0" sz="2800" spc="-150">
                <a:solidFill>
                  <a:srgbClr val="4E3629"/>
                </a:solidFill>
                <a:latin typeface="Calibri"/>
                <a:cs typeface="Calibri"/>
              </a:rPr>
              <a:t> </a:t>
            </a:r>
            <a:r>
              <a:rPr dirty="0" sz="2800" spc="-50">
                <a:solidFill>
                  <a:srgbClr val="4E3629"/>
                </a:solidFill>
                <a:latin typeface="Calibri"/>
                <a:cs typeface="Calibri"/>
              </a:rPr>
              <a:t>y </a:t>
            </a:r>
            <a:r>
              <a:rPr dirty="0" sz="2800" spc="-10">
                <a:solidFill>
                  <a:srgbClr val="4E3629"/>
                </a:solidFill>
                <a:latin typeface="Calibri"/>
                <a:cs typeface="Calibri"/>
              </a:rPr>
              <a:t>minúsculas</a:t>
            </a:r>
            <a:endParaRPr sz="2800">
              <a:latin typeface="Calibri"/>
              <a:cs typeface="Calibri"/>
            </a:endParaRPr>
          </a:p>
        </p:txBody>
      </p:sp>
      <p:sp>
        <p:nvSpPr>
          <p:cNvPr id="7" name="object 7" descr="$PPTXTitle"/>
          <p:cNvSpPr txBox="1">
            <a:spLocks noGrp="1"/>
          </p:cNvSpPr>
          <p:nvPr>
            <p:ph type="title"/>
          </p:nvPr>
        </p:nvSpPr>
        <p:spPr>
          <a:prstGeom prst="rect"/>
        </p:spPr>
        <p:txBody>
          <a:bodyPr wrap="square" lIns="0" tIns="64135" rIns="0" bIns="0" rtlCol="0" vert="horz">
            <a:spAutoFit/>
          </a:bodyPr>
          <a:lstStyle/>
          <a:p>
            <a:pPr marL="12700" marR="5080">
              <a:lnSpc>
                <a:spcPts val="3240"/>
              </a:lnSpc>
              <a:spcBef>
                <a:spcPts val="505"/>
              </a:spcBef>
            </a:pPr>
            <a:r>
              <a:rPr dirty="0" sz="3000"/>
              <a:t>Funciones</a:t>
            </a:r>
            <a:r>
              <a:rPr dirty="0" sz="3000" spc="-65"/>
              <a:t> </a:t>
            </a:r>
            <a:r>
              <a:rPr dirty="0" sz="3000"/>
              <a:t>de</a:t>
            </a:r>
            <a:r>
              <a:rPr dirty="0" sz="3000" spc="-45"/>
              <a:t> </a:t>
            </a:r>
            <a:r>
              <a:rPr dirty="0" sz="3000"/>
              <a:t>Manipulación</a:t>
            </a:r>
            <a:r>
              <a:rPr dirty="0" sz="3000" spc="-55"/>
              <a:t> </a:t>
            </a:r>
            <a:r>
              <a:rPr dirty="0" sz="3000" spc="-25"/>
              <a:t>de </a:t>
            </a:r>
            <a:r>
              <a:rPr dirty="0" sz="3000" spc="-10"/>
              <a:t>Mayúsculas/Minúsculas</a:t>
            </a:r>
            <a:endParaRPr sz="3000"/>
          </a:p>
        </p:txBody>
      </p:sp>
      <p:sp>
        <p:nvSpPr>
          <p:cNvPr id="8" name="object 8"/>
          <p:cNvSpPr txBox="1"/>
          <p:nvPr/>
        </p:nvSpPr>
        <p:spPr>
          <a:xfrm>
            <a:off x="4357115" y="2834639"/>
            <a:ext cx="1889760" cy="1077595"/>
          </a:xfrm>
          <a:prstGeom prst="rect">
            <a:avLst/>
          </a:prstGeom>
          <a:solidFill>
            <a:srgbClr val="D1350F"/>
          </a:solidFill>
          <a:ln w="12192">
            <a:solidFill>
              <a:srgbClr val="992408"/>
            </a:solidFill>
          </a:ln>
        </p:spPr>
        <p:txBody>
          <a:bodyPr wrap="square" lIns="0" tIns="29209" rIns="0" bIns="0" rtlCol="0" vert="horz">
            <a:spAutoFit/>
          </a:bodyPr>
          <a:lstStyle/>
          <a:p>
            <a:pPr algn="ctr" marL="225425" marR="219710">
              <a:lnSpc>
                <a:spcPct val="100000"/>
              </a:lnSpc>
              <a:spcBef>
                <a:spcPts val="229"/>
              </a:spcBef>
            </a:pPr>
            <a:r>
              <a:rPr dirty="0" sz="2000" b="1">
                <a:solidFill>
                  <a:srgbClr val="FFFFFF"/>
                </a:solidFill>
                <a:latin typeface="Calibri"/>
                <a:cs typeface="Calibri"/>
              </a:rPr>
              <a:t>Funciones</a:t>
            </a:r>
            <a:r>
              <a:rPr dirty="0" sz="2000" spc="-80" b="1">
                <a:solidFill>
                  <a:srgbClr val="FFFFFF"/>
                </a:solidFill>
                <a:latin typeface="Calibri"/>
                <a:cs typeface="Calibri"/>
              </a:rPr>
              <a:t> </a:t>
            </a:r>
            <a:r>
              <a:rPr dirty="0" sz="2000" spc="-25" b="1">
                <a:solidFill>
                  <a:srgbClr val="FFFFFF"/>
                </a:solidFill>
                <a:latin typeface="Calibri"/>
                <a:cs typeface="Calibri"/>
              </a:rPr>
              <a:t>de </a:t>
            </a:r>
            <a:r>
              <a:rPr dirty="0" sz="2000" spc="-10" b="1">
                <a:solidFill>
                  <a:srgbClr val="FFFFFF"/>
                </a:solidFill>
                <a:latin typeface="Calibri"/>
                <a:cs typeface="Calibri"/>
              </a:rPr>
              <a:t>manipulación</a:t>
            </a:r>
            <a:endParaRPr sz="2000">
              <a:latin typeface="Calibri"/>
              <a:cs typeface="Calibri"/>
            </a:endParaRPr>
          </a:p>
          <a:p>
            <a:pPr algn="ctr">
              <a:lnSpc>
                <a:spcPct val="100000"/>
              </a:lnSpc>
              <a:spcBef>
                <a:spcPts val="480"/>
              </a:spcBef>
            </a:pPr>
            <a:r>
              <a:rPr dirty="0" sz="2000" spc="-10" b="1">
                <a:solidFill>
                  <a:srgbClr val="FFFFFF"/>
                </a:solidFill>
                <a:latin typeface="Calibri"/>
                <a:cs typeface="Calibri"/>
              </a:rPr>
              <a:t>Funciones</a:t>
            </a:r>
            <a:endParaRPr sz="2000">
              <a:latin typeface="Calibri"/>
              <a:cs typeface="Calibri"/>
            </a:endParaRPr>
          </a:p>
        </p:txBody>
      </p:sp>
      <p:grpSp>
        <p:nvGrpSpPr>
          <p:cNvPr id="9" name="object 9"/>
          <p:cNvGrpSpPr/>
          <p:nvPr/>
        </p:nvGrpSpPr>
        <p:grpSpPr>
          <a:xfrm>
            <a:off x="6866890" y="2832861"/>
            <a:ext cx="1902460" cy="1090295"/>
            <a:chOff x="6866890" y="2832861"/>
            <a:chExt cx="1902460" cy="1090295"/>
          </a:xfrm>
        </p:grpSpPr>
        <p:sp>
          <p:nvSpPr>
            <p:cNvPr id="10" name="object 10"/>
            <p:cNvSpPr/>
            <p:nvPr/>
          </p:nvSpPr>
          <p:spPr>
            <a:xfrm>
              <a:off x="6873240" y="2839211"/>
              <a:ext cx="1889760" cy="1077595"/>
            </a:xfrm>
            <a:custGeom>
              <a:avLst/>
              <a:gdLst/>
              <a:ahLst/>
              <a:cxnLst/>
              <a:rect l="l" t="t" r="r" b="b"/>
              <a:pathLst>
                <a:path w="1889759" h="1077595">
                  <a:moveTo>
                    <a:pt x="1889759" y="0"/>
                  </a:moveTo>
                  <a:lnTo>
                    <a:pt x="0" y="0"/>
                  </a:lnTo>
                  <a:lnTo>
                    <a:pt x="0" y="1077468"/>
                  </a:lnTo>
                  <a:lnTo>
                    <a:pt x="1889759" y="1077468"/>
                  </a:lnTo>
                  <a:lnTo>
                    <a:pt x="1889759" y="0"/>
                  </a:lnTo>
                  <a:close/>
                </a:path>
              </a:pathLst>
            </a:custGeom>
            <a:solidFill>
              <a:srgbClr val="D1350F"/>
            </a:solidFill>
          </p:spPr>
          <p:txBody>
            <a:bodyPr wrap="square" lIns="0" tIns="0" rIns="0" bIns="0" rtlCol="0"/>
            <a:lstStyle/>
            <a:p/>
          </p:txBody>
        </p:sp>
        <p:sp>
          <p:nvSpPr>
            <p:cNvPr id="11" name="object 11"/>
            <p:cNvSpPr/>
            <p:nvPr/>
          </p:nvSpPr>
          <p:spPr>
            <a:xfrm>
              <a:off x="6873240" y="2839211"/>
              <a:ext cx="1889760" cy="1077595"/>
            </a:xfrm>
            <a:custGeom>
              <a:avLst/>
              <a:gdLst/>
              <a:ahLst/>
              <a:cxnLst/>
              <a:rect l="l" t="t" r="r" b="b"/>
              <a:pathLst>
                <a:path w="1889759" h="1077595">
                  <a:moveTo>
                    <a:pt x="0" y="1077468"/>
                  </a:moveTo>
                  <a:lnTo>
                    <a:pt x="1889759" y="1077468"/>
                  </a:lnTo>
                  <a:lnTo>
                    <a:pt x="1889759" y="0"/>
                  </a:lnTo>
                  <a:lnTo>
                    <a:pt x="0" y="0"/>
                  </a:lnTo>
                  <a:lnTo>
                    <a:pt x="0" y="1077468"/>
                  </a:lnTo>
                  <a:close/>
                </a:path>
              </a:pathLst>
            </a:custGeom>
            <a:ln w="12192">
              <a:solidFill>
                <a:srgbClr val="992408"/>
              </a:solidFill>
            </a:ln>
          </p:spPr>
          <p:txBody>
            <a:bodyPr wrap="square" lIns="0" tIns="0" rIns="0" bIns="0" rtlCol="0"/>
            <a:lstStyle/>
            <a:p/>
          </p:txBody>
        </p:sp>
      </p:grpSp>
      <p:sp>
        <p:nvSpPr>
          <p:cNvPr id="12" name="object 12"/>
          <p:cNvSpPr txBox="1"/>
          <p:nvPr/>
        </p:nvSpPr>
        <p:spPr>
          <a:xfrm>
            <a:off x="7086327" y="2855531"/>
            <a:ext cx="1462405" cy="1002030"/>
          </a:xfrm>
          <a:prstGeom prst="rect">
            <a:avLst/>
          </a:prstGeom>
        </p:spPr>
        <p:txBody>
          <a:bodyPr wrap="square" lIns="0" tIns="13335" rIns="0" bIns="0" rtlCol="0" vert="horz">
            <a:spAutoFit/>
          </a:bodyPr>
          <a:lstStyle/>
          <a:p>
            <a:pPr algn="ctr" marL="12700" marR="5080" indent="635">
              <a:lnSpc>
                <a:spcPct val="100000"/>
              </a:lnSpc>
              <a:spcBef>
                <a:spcPts val="105"/>
              </a:spcBef>
            </a:pPr>
            <a:r>
              <a:rPr dirty="0" sz="2000" b="1">
                <a:solidFill>
                  <a:srgbClr val="FFFFFF"/>
                </a:solidFill>
                <a:latin typeface="Calibri"/>
                <a:cs typeface="Calibri"/>
              </a:rPr>
              <a:t>Funciones</a:t>
            </a:r>
            <a:r>
              <a:rPr dirty="0" sz="2000" spc="-70" b="1">
                <a:solidFill>
                  <a:srgbClr val="FFFFFF"/>
                </a:solidFill>
                <a:latin typeface="Calibri"/>
                <a:cs typeface="Calibri"/>
              </a:rPr>
              <a:t> </a:t>
            </a:r>
            <a:r>
              <a:rPr dirty="0" sz="2000" spc="-25" b="1">
                <a:solidFill>
                  <a:srgbClr val="FFFFFF"/>
                </a:solidFill>
                <a:latin typeface="Calibri"/>
                <a:cs typeface="Calibri"/>
              </a:rPr>
              <a:t>de </a:t>
            </a:r>
            <a:r>
              <a:rPr dirty="0" sz="2000" spc="-10" b="1">
                <a:solidFill>
                  <a:srgbClr val="FFFFFF"/>
                </a:solidFill>
                <a:latin typeface="Calibri"/>
                <a:cs typeface="Calibri"/>
              </a:rPr>
              <a:t>manipulación</a:t>
            </a:r>
            <a:endParaRPr sz="2000">
              <a:latin typeface="Calibri"/>
              <a:cs typeface="Calibri"/>
            </a:endParaRPr>
          </a:p>
          <a:p>
            <a:pPr algn="ctr">
              <a:lnSpc>
                <a:spcPct val="100000"/>
              </a:lnSpc>
              <a:spcBef>
                <a:spcPts val="480"/>
              </a:spcBef>
            </a:pPr>
            <a:r>
              <a:rPr dirty="0" sz="2000" spc="-10" b="1">
                <a:solidFill>
                  <a:srgbClr val="FFFFFF"/>
                </a:solidFill>
                <a:latin typeface="Calibri"/>
                <a:cs typeface="Calibri"/>
              </a:rPr>
              <a:t>Funciones</a:t>
            </a:r>
            <a:endParaRPr sz="2000">
              <a:latin typeface="Calibri"/>
              <a:cs typeface="Calibri"/>
            </a:endParaRPr>
          </a:p>
        </p:txBody>
      </p:sp>
      <p:grpSp>
        <p:nvGrpSpPr>
          <p:cNvPr id="13" name="object 13"/>
          <p:cNvGrpSpPr/>
          <p:nvPr/>
        </p:nvGrpSpPr>
        <p:grpSpPr>
          <a:xfrm>
            <a:off x="5431535" y="2074926"/>
            <a:ext cx="2581910" cy="757555"/>
            <a:chOff x="5431535" y="2074926"/>
            <a:chExt cx="2581910" cy="757555"/>
          </a:xfrm>
        </p:grpSpPr>
        <p:sp>
          <p:nvSpPr>
            <p:cNvPr id="14" name="object 14"/>
            <p:cNvSpPr/>
            <p:nvPr/>
          </p:nvSpPr>
          <p:spPr>
            <a:xfrm>
              <a:off x="5446013" y="2612898"/>
              <a:ext cx="0" cy="219710"/>
            </a:xfrm>
            <a:custGeom>
              <a:avLst/>
              <a:gdLst/>
              <a:ahLst/>
              <a:cxnLst/>
              <a:rect l="l" t="t" r="r" b="b"/>
              <a:pathLst>
                <a:path w="0" h="219710">
                  <a:moveTo>
                    <a:pt x="0" y="219455"/>
                  </a:moveTo>
                  <a:lnTo>
                    <a:pt x="0" y="0"/>
                  </a:lnTo>
                </a:path>
              </a:pathLst>
            </a:custGeom>
            <a:ln w="28956">
              <a:solidFill>
                <a:srgbClr val="4E3629"/>
              </a:solidFill>
            </a:ln>
          </p:spPr>
          <p:txBody>
            <a:bodyPr wrap="square" lIns="0" tIns="0" rIns="0" bIns="0" rtlCol="0"/>
            <a:lstStyle/>
            <a:p/>
          </p:txBody>
        </p:sp>
        <p:sp>
          <p:nvSpPr>
            <p:cNvPr id="15" name="object 15"/>
            <p:cNvSpPr/>
            <p:nvPr/>
          </p:nvSpPr>
          <p:spPr>
            <a:xfrm>
              <a:off x="7998713" y="2612898"/>
              <a:ext cx="0" cy="210820"/>
            </a:xfrm>
            <a:custGeom>
              <a:avLst/>
              <a:gdLst/>
              <a:ahLst/>
              <a:cxnLst/>
              <a:rect l="l" t="t" r="r" b="b"/>
              <a:pathLst>
                <a:path w="0" h="210819">
                  <a:moveTo>
                    <a:pt x="0" y="210312"/>
                  </a:moveTo>
                  <a:lnTo>
                    <a:pt x="0" y="0"/>
                  </a:lnTo>
                </a:path>
              </a:pathLst>
            </a:custGeom>
            <a:ln w="28956">
              <a:solidFill>
                <a:srgbClr val="4E3629"/>
              </a:solidFill>
            </a:ln>
          </p:spPr>
          <p:txBody>
            <a:bodyPr wrap="square" lIns="0" tIns="0" rIns="0" bIns="0" rtlCol="0"/>
            <a:lstStyle/>
            <a:p/>
          </p:txBody>
        </p:sp>
        <p:sp>
          <p:nvSpPr>
            <p:cNvPr id="16" name="object 16"/>
            <p:cNvSpPr/>
            <p:nvPr/>
          </p:nvSpPr>
          <p:spPr>
            <a:xfrm>
              <a:off x="5446013" y="2612898"/>
              <a:ext cx="2552700" cy="0"/>
            </a:xfrm>
            <a:custGeom>
              <a:avLst/>
              <a:gdLst/>
              <a:ahLst/>
              <a:cxnLst/>
              <a:rect l="l" t="t" r="r" b="b"/>
              <a:pathLst>
                <a:path w="2552700" h="0">
                  <a:moveTo>
                    <a:pt x="0" y="0"/>
                  </a:moveTo>
                  <a:lnTo>
                    <a:pt x="2552700" y="0"/>
                  </a:lnTo>
                </a:path>
              </a:pathLst>
            </a:custGeom>
            <a:ln w="28956">
              <a:solidFill>
                <a:srgbClr val="4E3629"/>
              </a:solidFill>
            </a:ln>
          </p:spPr>
          <p:txBody>
            <a:bodyPr wrap="square" lIns="0" tIns="0" rIns="0" bIns="0" rtlCol="0"/>
            <a:lstStyle/>
            <a:p/>
          </p:txBody>
        </p:sp>
        <p:sp>
          <p:nvSpPr>
            <p:cNvPr id="17" name="object 17"/>
            <p:cNvSpPr/>
            <p:nvPr/>
          </p:nvSpPr>
          <p:spPr>
            <a:xfrm>
              <a:off x="6813041" y="2074926"/>
              <a:ext cx="0" cy="538480"/>
            </a:xfrm>
            <a:custGeom>
              <a:avLst/>
              <a:gdLst/>
              <a:ahLst/>
              <a:cxnLst/>
              <a:rect l="l" t="t" r="r" b="b"/>
              <a:pathLst>
                <a:path w="0" h="538480">
                  <a:moveTo>
                    <a:pt x="0" y="537972"/>
                  </a:moveTo>
                  <a:lnTo>
                    <a:pt x="0" y="0"/>
                  </a:lnTo>
                </a:path>
              </a:pathLst>
            </a:custGeom>
            <a:ln w="28956">
              <a:solidFill>
                <a:srgbClr val="4E3629"/>
              </a:solidFill>
            </a:ln>
          </p:spPr>
          <p:txBody>
            <a:bodyPr wrap="square" lIns="0" tIns="0" rIns="0" bIns="0" rtlCol="0"/>
            <a:lstStyle/>
            <a:p/>
          </p:txBody>
        </p:sp>
      </p:grpSp>
      <p:sp>
        <p:nvSpPr>
          <p:cNvPr id="18" name="object 18"/>
          <p:cNvSpPr txBox="1"/>
          <p:nvPr/>
        </p:nvSpPr>
        <p:spPr>
          <a:xfrm>
            <a:off x="4956021" y="3861502"/>
            <a:ext cx="852169" cy="1122680"/>
          </a:xfrm>
          <a:prstGeom prst="rect">
            <a:avLst/>
          </a:prstGeom>
        </p:spPr>
        <p:txBody>
          <a:bodyPr wrap="square" lIns="0" tIns="12065" rIns="0" bIns="0" rtlCol="0" vert="horz">
            <a:spAutoFit/>
          </a:bodyPr>
          <a:lstStyle/>
          <a:p>
            <a:pPr algn="just" marL="12700" marR="5080">
              <a:lnSpc>
                <a:spcPct val="120000"/>
              </a:lnSpc>
              <a:spcBef>
                <a:spcPts val="95"/>
              </a:spcBef>
            </a:pPr>
            <a:r>
              <a:rPr dirty="0" sz="2000" spc="-10">
                <a:solidFill>
                  <a:srgbClr val="4E3629"/>
                </a:solidFill>
                <a:latin typeface="Calibri"/>
                <a:cs typeface="Calibri"/>
              </a:rPr>
              <a:t>LOWER UPPER INITCAP</a:t>
            </a:r>
            <a:endParaRPr sz="2000">
              <a:latin typeface="Calibri"/>
              <a:cs typeface="Calibri"/>
            </a:endParaRPr>
          </a:p>
        </p:txBody>
      </p:sp>
      <p:sp>
        <p:nvSpPr>
          <p:cNvPr id="22" name="object 22"/>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23" name="object 23"/>
          <p:cNvSpPr txBox="1">
            <a:spLocks noGrp="1"/>
          </p:cNvSpPr>
          <p:nvPr>
            <p:ph type="sldNum" idx="7" sz="quarter"/>
          </p:nvPr>
        </p:nvSpPr>
        <p:spPr>
          <a:prstGeom prst="rect"/>
        </p:spPr>
        <p:txBody>
          <a:bodyPr wrap="square" lIns="0" tIns="0" rIns="0" bIns="0" rtlCol="0" vert="horz">
            <a:spAutoFit/>
          </a:bodyPr>
          <a:lstStyle/>
          <a:p>
            <a:pPr marL="161290">
              <a:lnSpc>
                <a:spcPts val="1045"/>
              </a:lnSpc>
            </a:pPr>
            <a:fld id="{81D60167-4931-47E6-BA6A-407CBD079E47}" type="slidenum">
              <a:rPr dirty="0" spc="-50"/>
              <a:t>9</a:t>
            </a:fld>
          </a:p>
        </p:txBody>
      </p:sp>
      <p:sp>
        <p:nvSpPr>
          <p:cNvPr id="24" name="object 24"/>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9" name="object 19"/>
          <p:cNvSpPr txBox="1"/>
          <p:nvPr/>
        </p:nvSpPr>
        <p:spPr>
          <a:xfrm>
            <a:off x="7311746" y="3861502"/>
            <a:ext cx="1336675" cy="2585720"/>
          </a:xfrm>
          <a:prstGeom prst="rect">
            <a:avLst/>
          </a:prstGeom>
        </p:spPr>
        <p:txBody>
          <a:bodyPr wrap="square" lIns="0" tIns="12065" rIns="0" bIns="0" rtlCol="0" vert="horz">
            <a:spAutoFit/>
          </a:bodyPr>
          <a:lstStyle/>
          <a:p>
            <a:pPr algn="just" marL="12700" marR="459740">
              <a:lnSpc>
                <a:spcPct val="120000"/>
              </a:lnSpc>
              <a:spcBef>
                <a:spcPts val="95"/>
              </a:spcBef>
            </a:pPr>
            <a:r>
              <a:rPr dirty="0" sz="2000" spc="-35">
                <a:solidFill>
                  <a:srgbClr val="4E3629"/>
                </a:solidFill>
                <a:latin typeface="Calibri"/>
                <a:cs typeface="Calibri"/>
              </a:rPr>
              <a:t>CONCAT </a:t>
            </a:r>
            <a:r>
              <a:rPr dirty="0" sz="2000" spc="-10">
                <a:solidFill>
                  <a:srgbClr val="4E3629"/>
                </a:solidFill>
                <a:latin typeface="Calibri"/>
                <a:cs typeface="Calibri"/>
              </a:rPr>
              <a:t>SUBSTR LENGTH INSTR</a:t>
            </a:r>
            <a:endParaRPr sz="2000">
              <a:latin typeface="Calibri"/>
              <a:cs typeface="Calibri"/>
            </a:endParaRPr>
          </a:p>
          <a:p>
            <a:pPr marL="12700" marR="5080">
              <a:lnSpc>
                <a:spcPct val="120000"/>
              </a:lnSpc>
            </a:pPr>
            <a:r>
              <a:rPr dirty="0" sz="2000" spc="-25">
                <a:solidFill>
                  <a:srgbClr val="4E3629"/>
                </a:solidFill>
                <a:latin typeface="Calibri"/>
                <a:cs typeface="Calibri"/>
              </a:rPr>
              <a:t>LPAD</a:t>
            </a:r>
            <a:r>
              <a:rPr dirty="0" sz="2000" spc="-55">
                <a:solidFill>
                  <a:srgbClr val="4E3629"/>
                </a:solidFill>
                <a:latin typeface="Calibri"/>
                <a:cs typeface="Calibri"/>
              </a:rPr>
              <a:t> </a:t>
            </a:r>
            <a:r>
              <a:rPr dirty="0" sz="2000">
                <a:solidFill>
                  <a:srgbClr val="4E3629"/>
                </a:solidFill>
                <a:latin typeface="Calibri"/>
                <a:cs typeface="Calibri"/>
              </a:rPr>
              <a:t>|</a:t>
            </a:r>
            <a:r>
              <a:rPr dirty="0" sz="2000" spc="-45">
                <a:solidFill>
                  <a:srgbClr val="4E3629"/>
                </a:solidFill>
                <a:latin typeface="Calibri"/>
                <a:cs typeface="Calibri"/>
              </a:rPr>
              <a:t> </a:t>
            </a:r>
            <a:r>
              <a:rPr dirty="0" sz="2000" spc="-35">
                <a:solidFill>
                  <a:srgbClr val="4E3629"/>
                </a:solidFill>
                <a:latin typeface="Calibri"/>
                <a:cs typeface="Calibri"/>
              </a:rPr>
              <a:t>RPAD </a:t>
            </a:r>
            <a:r>
              <a:rPr dirty="0" sz="2000" spc="-20">
                <a:solidFill>
                  <a:srgbClr val="4E3629"/>
                </a:solidFill>
                <a:latin typeface="Calibri"/>
                <a:cs typeface="Calibri"/>
              </a:rPr>
              <a:t>TRIM </a:t>
            </a:r>
            <a:r>
              <a:rPr dirty="0" sz="2000" spc="-10">
                <a:solidFill>
                  <a:srgbClr val="4E3629"/>
                </a:solidFill>
                <a:latin typeface="Calibri"/>
                <a:cs typeface="Calibri"/>
              </a:rPr>
              <a:t>REPLACE</a:t>
            </a:r>
            <a:endParaRPr sz="2000">
              <a:latin typeface="Calibri"/>
              <a:cs typeface="Calibri"/>
            </a:endParaRPr>
          </a:p>
        </p:txBody>
      </p:sp>
      <p:sp>
        <p:nvSpPr>
          <p:cNvPr id="20" name="object 20"/>
          <p:cNvSpPr txBox="1"/>
          <p:nvPr/>
        </p:nvSpPr>
        <p:spPr>
          <a:xfrm>
            <a:off x="5357634" y="1175679"/>
            <a:ext cx="2595245" cy="330835"/>
          </a:xfrm>
          <a:prstGeom prst="rect">
            <a:avLst/>
          </a:prstGeom>
        </p:spPr>
        <p:txBody>
          <a:bodyPr wrap="square" lIns="0" tIns="13335" rIns="0" bIns="0" rtlCol="0" vert="horz">
            <a:spAutoFit/>
          </a:bodyPr>
          <a:lstStyle/>
          <a:p>
            <a:pPr marL="12700">
              <a:lnSpc>
                <a:spcPct val="100000"/>
              </a:lnSpc>
              <a:spcBef>
                <a:spcPts val="105"/>
              </a:spcBef>
            </a:pPr>
            <a:r>
              <a:rPr dirty="0" sz="2000" b="1">
                <a:solidFill>
                  <a:srgbClr val="4E3629"/>
                </a:solidFill>
                <a:latin typeface="Calibri"/>
                <a:cs typeface="Calibri"/>
              </a:rPr>
              <a:t>CHARACTER</a:t>
            </a:r>
            <a:r>
              <a:rPr dirty="0" sz="2000" spc="-75" b="1">
                <a:solidFill>
                  <a:srgbClr val="4E3629"/>
                </a:solidFill>
                <a:latin typeface="Calibri"/>
                <a:cs typeface="Calibri"/>
              </a:rPr>
              <a:t> </a:t>
            </a:r>
            <a:r>
              <a:rPr dirty="0" sz="2000" spc="-10" b="1">
                <a:solidFill>
                  <a:srgbClr val="4E3629"/>
                </a:solidFill>
                <a:latin typeface="Calibri"/>
                <a:cs typeface="Calibri"/>
              </a:rPr>
              <a:t>FUNCTIONS</a:t>
            </a:r>
            <a:endParaRPr sz="2000">
              <a:latin typeface="Calibri"/>
              <a:cs typeface="Calibri"/>
            </a:endParaRPr>
          </a:p>
        </p:txBody>
      </p:sp>
      <p:sp>
        <p:nvSpPr>
          <p:cNvPr id="21" name="object 21"/>
          <p:cNvSpPr txBox="1"/>
          <p:nvPr/>
        </p:nvSpPr>
        <p:spPr>
          <a:xfrm>
            <a:off x="5503164" y="1650492"/>
            <a:ext cx="2503170" cy="401320"/>
          </a:xfrm>
          <a:prstGeom prst="rect">
            <a:avLst/>
          </a:prstGeom>
          <a:solidFill>
            <a:srgbClr val="D1350F"/>
          </a:solidFill>
          <a:ln w="12192">
            <a:solidFill>
              <a:srgbClr val="992408"/>
            </a:solidFill>
          </a:ln>
        </p:spPr>
        <p:txBody>
          <a:bodyPr wrap="square" lIns="0" tIns="29209" rIns="0" bIns="0" rtlCol="0" vert="horz">
            <a:spAutoFit/>
          </a:bodyPr>
          <a:lstStyle/>
          <a:p>
            <a:pPr marL="95250">
              <a:lnSpc>
                <a:spcPct val="100000"/>
              </a:lnSpc>
              <a:spcBef>
                <a:spcPts val="229"/>
              </a:spcBef>
            </a:pPr>
            <a:r>
              <a:rPr dirty="0" sz="2000" b="1">
                <a:solidFill>
                  <a:srgbClr val="FFFFFF"/>
                </a:solidFill>
                <a:latin typeface="Calibri"/>
                <a:cs typeface="Calibri"/>
              </a:rPr>
              <a:t>Funciones</a:t>
            </a:r>
            <a:r>
              <a:rPr dirty="0" sz="2000" spc="-60" b="1">
                <a:solidFill>
                  <a:srgbClr val="FFFFFF"/>
                </a:solidFill>
                <a:latin typeface="Calibri"/>
                <a:cs typeface="Calibri"/>
              </a:rPr>
              <a:t> </a:t>
            </a:r>
            <a:r>
              <a:rPr dirty="0" sz="2000" b="1">
                <a:solidFill>
                  <a:srgbClr val="FFFFFF"/>
                </a:solidFill>
                <a:latin typeface="Calibri"/>
                <a:cs typeface="Calibri"/>
              </a:rPr>
              <a:t>de</a:t>
            </a:r>
            <a:r>
              <a:rPr dirty="0" sz="2000" spc="-20" b="1">
                <a:solidFill>
                  <a:srgbClr val="FFFFFF"/>
                </a:solidFill>
                <a:latin typeface="Calibri"/>
                <a:cs typeface="Calibri"/>
              </a:rPr>
              <a:t> </a:t>
            </a:r>
            <a:r>
              <a:rPr dirty="0" sz="2000" spc="-10" b="1">
                <a:solidFill>
                  <a:srgbClr val="FFFFFF"/>
                </a:solidFill>
                <a:latin typeface="Calibri"/>
                <a:cs typeface="Calibri"/>
              </a:rPr>
              <a:t>Carácter</a:t>
            </a:r>
            <a:endParaRPr sz="20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64135" rIns="0" bIns="0" rtlCol="0" vert="horz">
            <a:spAutoFit/>
          </a:bodyPr>
          <a:lstStyle/>
          <a:p>
            <a:pPr marL="12700" marR="5080">
              <a:lnSpc>
                <a:spcPts val="3240"/>
              </a:lnSpc>
              <a:spcBef>
                <a:spcPts val="505"/>
              </a:spcBef>
            </a:pPr>
            <a:r>
              <a:rPr dirty="0" sz="3000"/>
              <a:t>Funciones</a:t>
            </a:r>
            <a:r>
              <a:rPr dirty="0" sz="3000" spc="-65"/>
              <a:t> </a:t>
            </a:r>
            <a:r>
              <a:rPr dirty="0" sz="3000"/>
              <a:t>de</a:t>
            </a:r>
            <a:r>
              <a:rPr dirty="0" sz="3000" spc="-45"/>
              <a:t> </a:t>
            </a:r>
            <a:r>
              <a:rPr dirty="0" sz="3000"/>
              <a:t>Manipulación</a:t>
            </a:r>
            <a:r>
              <a:rPr dirty="0" sz="3000" spc="-55"/>
              <a:t> </a:t>
            </a:r>
            <a:r>
              <a:rPr dirty="0" sz="3000" spc="-25"/>
              <a:t>de </a:t>
            </a:r>
            <a:r>
              <a:rPr dirty="0" sz="3000" spc="-10"/>
              <a:t>Mayúsculas/Minúsculas</a:t>
            </a:r>
            <a:endParaRPr sz="3000"/>
          </a:p>
        </p:txBody>
      </p:sp>
      <p:sp>
        <p:nvSpPr>
          <p:cNvPr id="5" name="object 5"/>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6" name="object 6"/>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12</a:t>
            </a: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8124825" cy="4112895"/>
          </a:xfrm>
          <a:prstGeom prst="rect">
            <a:avLst/>
          </a:prstGeom>
        </p:spPr>
        <p:txBody>
          <a:bodyPr wrap="square" lIns="0" tIns="59690" rIns="0" bIns="0" rtlCol="0" vert="horz">
            <a:spAutoFit/>
          </a:bodyPr>
          <a:lstStyle/>
          <a:p>
            <a:pPr marL="182880" marR="6921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75">
                <a:solidFill>
                  <a:srgbClr val="4E3629"/>
                </a:solidFill>
                <a:latin typeface="Calibri"/>
                <a:cs typeface="Calibri"/>
              </a:rPr>
              <a:t> </a:t>
            </a:r>
            <a:r>
              <a:rPr dirty="0" sz="2800">
                <a:solidFill>
                  <a:srgbClr val="4E3629"/>
                </a:solidFill>
                <a:latin typeface="Calibri"/>
                <a:cs typeface="Calibri"/>
              </a:rPr>
              <a:t>funciones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manipulación</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mayúsculas/minúsculas</a:t>
            </a:r>
            <a:r>
              <a:rPr dirty="0" sz="2800" spc="-25">
                <a:solidFill>
                  <a:srgbClr val="4E3629"/>
                </a:solidFill>
                <a:latin typeface="Calibri"/>
                <a:cs typeface="Calibri"/>
              </a:rPr>
              <a:t> </a:t>
            </a:r>
            <a:r>
              <a:rPr dirty="0" sz="2800">
                <a:solidFill>
                  <a:srgbClr val="4E3629"/>
                </a:solidFill>
                <a:latin typeface="Calibri"/>
                <a:cs typeface="Calibri"/>
              </a:rPr>
              <a:t>suelen</a:t>
            </a:r>
            <a:r>
              <a:rPr dirty="0" sz="2800" spc="-55">
                <a:solidFill>
                  <a:srgbClr val="4E3629"/>
                </a:solidFill>
                <a:latin typeface="Calibri"/>
                <a:cs typeface="Calibri"/>
              </a:rPr>
              <a:t> </a:t>
            </a:r>
            <a:r>
              <a:rPr dirty="0" sz="2800">
                <a:solidFill>
                  <a:srgbClr val="4E3629"/>
                </a:solidFill>
                <a:latin typeface="Calibri"/>
                <a:cs typeface="Calibri"/>
              </a:rPr>
              <a:t>ser</a:t>
            </a:r>
            <a:r>
              <a:rPr dirty="0" sz="2800" spc="-65">
                <a:solidFill>
                  <a:srgbClr val="4E3629"/>
                </a:solidFill>
                <a:latin typeface="Calibri"/>
                <a:cs typeface="Calibri"/>
              </a:rPr>
              <a:t> </a:t>
            </a:r>
            <a:r>
              <a:rPr dirty="0" sz="2800">
                <a:solidFill>
                  <a:srgbClr val="4E3629"/>
                </a:solidFill>
                <a:latin typeface="Calibri"/>
                <a:cs typeface="Calibri"/>
              </a:rPr>
              <a:t>útiles</a:t>
            </a:r>
            <a:r>
              <a:rPr dirty="0" sz="2800" spc="-55">
                <a:solidFill>
                  <a:srgbClr val="4E3629"/>
                </a:solidFill>
                <a:latin typeface="Calibri"/>
                <a:cs typeface="Calibri"/>
              </a:rPr>
              <a:t> </a:t>
            </a:r>
            <a:r>
              <a:rPr dirty="0" sz="2800">
                <a:solidFill>
                  <a:srgbClr val="4E3629"/>
                </a:solidFill>
                <a:latin typeface="Calibri"/>
                <a:cs typeface="Calibri"/>
              </a:rPr>
              <a:t>cuando</a:t>
            </a:r>
            <a:r>
              <a:rPr dirty="0" sz="2800" spc="-45">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está</a:t>
            </a:r>
            <a:r>
              <a:rPr dirty="0" sz="2800" spc="-40">
                <a:solidFill>
                  <a:srgbClr val="4E3629"/>
                </a:solidFill>
                <a:latin typeface="Calibri"/>
                <a:cs typeface="Calibri"/>
              </a:rPr>
              <a:t> </a:t>
            </a:r>
            <a:r>
              <a:rPr dirty="0" sz="2800" spc="-10">
                <a:solidFill>
                  <a:srgbClr val="4E3629"/>
                </a:solidFill>
                <a:latin typeface="Calibri"/>
                <a:cs typeface="Calibri"/>
              </a:rPr>
              <a:t>realizando</a:t>
            </a:r>
            <a:r>
              <a:rPr dirty="0" sz="2800" spc="-5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búsqueda</a:t>
            </a:r>
            <a:r>
              <a:rPr dirty="0" sz="2800" spc="-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sabe</a:t>
            </a:r>
            <a:r>
              <a:rPr dirty="0" sz="2800" spc="-45">
                <a:solidFill>
                  <a:srgbClr val="4E3629"/>
                </a:solidFill>
                <a:latin typeface="Calibri"/>
                <a:cs typeface="Calibri"/>
              </a:rPr>
              <a:t> </a:t>
            </a:r>
            <a:r>
              <a:rPr dirty="0" sz="2800">
                <a:solidFill>
                  <a:srgbClr val="4E3629"/>
                </a:solidFill>
                <a:latin typeface="Calibri"/>
                <a:cs typeface="Calibri"/>
              </a:rPr>
              <a:t>si</a:t>
            </a:r>
            <a:r>
              <a:rPr dirty="0" sz="2800" spc="-60">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datos</a:t>
            </a:r>
            <a:r>
              <a:rPr dirty="0" sz="2800" spc="-95">
                <a:solidFill>
                  <a:srgbClr val="4E3629"/>
                </a:solidFill>
                <a:latin typeface="Calibri"/>
                <a:cs typeface="Calibri"/>
              </a:rPr>
              <a:t> </a:t>
            </a:r>
            <a:r>
              <a:rPr dirty="0" sz="2800">
                <a:solidFill>
                  <a:srgbClr val="4E3629"/>
                </a:solidFill>
                <a:latin typeface="Calibri"/>
                <a:cs typeface="Calibri"/>
              </a:rPr>
              <a:t>que</a:t>
            </a:r>
            <a:r>
              <a:rPr dirty="0" sz="2800" spc="-90">
                <a:solidFill>
                  <a:srgbClr val="4E3629"/>
                </a:solidFill>
                <a:latin typeface="Calibri"/>
                <a:cs typeface="Calibri"/>
              </a:rPr>
              <a:t> </a:t>
            </a:r>
            <a:r>
              <a:rPr dirty="0" sz="2800">
                <a:solidFill>
                  <a:srgbClr val="4E3629"/>
                </a:solidFill>
                <a:latin typeface="Calibri"/>
                <a:cs typeface="Calibri"/>
              </a:rPr>
              <a:t>está</a:t>
            </a:r>
            <a:r>
              <a:rPr dirty="0" sz="2800" spc="-90">
                <a:solidFill>
                  <a:srgbClr val="4E3629"/>
                </a:solidFill>
                <a:latin typeface="Calibri"/>
                <a:cs typeface="Calibri"/>
              </a:rPr>
              <a:t> </a:t>
            </a:r>
            <a:r>
              <a:rPr dirty="0" sz="2800">
                <a:solidFill>
                  <a:srgbClr val="4E3629"/>
                </a:solidFill>
                <a:latin typeface="Calibri"/>
                <a:cs typeface="Calibri"/>
              </a:rPr>
              <a:t>buscando</a:t>
            </a:r>
            <a:r>
              <a:rPr dirty="0" sz="2800" spc="-60">
                <a:solidFill>
                  <a:srgbClr val="4E3629"/>
                </a:solidFill>
                <a:latin typeface="Calibri"/>
                <a:cs typeface="Calibri"/>
              </a:rPr>
              <a:t> </a:t>
            </a:r>
            <a:r>
              <a:rPr dirty="0" sz="2800">
                <a:solidFill>
                  <a:srgbClr val="4E3629"/>
                </a:solidFill>
                <a:latin typeface="Calibri"/>
                <a:cs typeface="Calibri"/>
              </a:rPr>
              <a:t>están</a:t>
            </a:r>
            <a:r>
              <a:rPr dirty="0" sz="2800" spc="-95">
                <a:solidFill>
                  <a:srgbClr val="4E3629"/>
                </a:solidFill>
                <a:latin typeface="Calibri"/>
                <a:cs typeface="Calibri"/>
              </a:rPr>
              <a:t> </a:t>
            </a:r>
            <a:r>
              <a:rPr dirty="0" sz="2800">
                <a:solidFill>
                  <a:srgbClr val="4E3629"/>
                </a:solidFill>
                <a:latin typeface="Calibri"/>
                <a:cs typeface="Calibri"/>
              </a:rPr>
              <a:t>en</a:t>
            </a:r>
            <a:r>
              <a:rPr dirty="0" sz="2800" spc="-95">
                <a:solidFill>
                  <a:srgbClr val="4E3629"/>
                </a:solidFill>
                <a:latin typeface="Calibri"/>
                <a:cs typeface="Calibri"/>
              </a:rPr>
              <a:t> </a:t>
            </a:r>
            <a:r>
              <a:rPr dirty="0" sz="2800">
                <a:solidFill>
                  <a:srgbClr val="4E3629"/>
                </a:solidFill>
                <a:latin typeface="Calibri"/>
                <a:cs typeface="Calibri"/>
              </a:rPr>
              <a:t>mayúsculas</a:t>
            </a:r>
            <a:r>
              <a:rPr dirty="0" sz="2800" spc="-75">
                <a:solidFill>
                  <a:srgbClr val="4E3629"/>
                </a:solidFill>
                <a:latin typeface="Calibri"/>
                <a:cs typeface="Calibri"/>
              </a:rPr>
              <a:t> </a:t>
            </a:r>
            <a:r>
              <a:rPr dirty="0" sz="2800" spc="-50">
                <a:solidFill>
                  <a:srgbClr val="4E3629"/>
                </a:solidFill>
                <a:latin typeface="Calibri"/>
                <a:cs typeface="Calibri"/>
              </a:rPr>
              <a:t>o </a:t>
            </a:r>
            <a:r>
              <a:rPr dirty="0" sz="2800" spc="-50">
                <a:solidFill>
                  <a:srgbClr val="4E3629"/>
                </a:solidFill>
                <a:latin typeface="Calibri"/>
                <a:cs typeface="Calibri"/>
              </a:rPr>
              <a:t>	</a:t>
            </a:r>
            <a:r>
              <a:rPr dirty="0" sz="2800" spc="-10">
                <a:solidFill>
                  <a:srgbClr val="4E3629"/>
                </a:solidFill>
                <a:latin typeface="Calibri"/>
                <a:cs typeface="Calibri"/>
              </a:rPr>
              <a:t>minúsculas</a:t>
            </a:r>
            <a:endParaRPr sz="2800">
              <a:latin typeface="Calibri"/>
              <a:cs typeface="Calibri"/>
            </a:endParaRPr>
          </a:p>
          <a:p>
            <a:pPr marL="182880" marR="5080" indent="-170815">
              <a:lnSpc>
                <a:spcPts val="3030"/>
              </a:lnSpc>
              <a:spcBef>
                <a:spcPts val="775"/>
              </a:spcBef>
              <a:buClr>
                <a:srgbClr val="D1350F"/>
              </a:buClr>
              <a:buFont typeface="Arial MT"/>
              <a:buChar char="•"/>
              <a:tabLst>
                <a:tab pos="184785" algn="l"/>
              </a:tabLst>
            </a:pPr>
            <a:r>
              <a:rPr dirty="0" sz="2800">
                <a:solidFill>
                  <a:srgbClr val="4E3629"/>
                </a:solidFill>
                <a:latin typeface="Calibri"/>
                <a:cs typeface="Calibri"/>
              </a:rPr>
              <a:t>Desde</a:t>
            </a:r>
            <a:r>
              <a:rPr dirty="0" sz="2800" spc="-30">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punto</a:t>
            </a:r>
            <a:r>
              <a:rPr dirty="0" sz="2800" spc="-3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vista</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base</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datos,</a:t>
            </a:r>
            <a:r>
              <a:rPr dirty="0" sz="2800" spc="-40">
                <a:solidFill>
                  <a:srgbClr val="4E3629"/>
                </a:solidFill>
                <a:latin typeface="Calibri"/>
                <a:cs typeface="Calibri"/>
              </a:rPr>
              <a:t> </a:t>
            </a:r>
            <a:r>
              <a:rPr dirty="0" sz="2800">
                <a:solidFill>
                  <a:srgbClr val="4E3629"/>
                </a:solidFill>
                <a:latin typeface="Calibri"/>
                <a:cs typeface="Calibri"/>
              </a:rPr>
              <a:t>'V'</a:t>
            </a:r>
            <a:r>
              <a:rPr dirty="0" sz="2800" spc="-55">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a:solidFill>
                  <a:srgbClr val="4E3629"/>
                </a:solidFill>
                <a:latin typeface="Calibri"/>
                <a:cs typeface="Calibri"/>
              </a:rPr>
              <a:t>'v'</a:t>
            </a:r>
            <a:r>
              <a:rPr dirty="0" sz="2800" spc="-55">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son</a:t>
            </a:r>
            <a:r>
              <a:rPr dirty="0" sz="2800" spc="-60">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mismo</a:t>
            </a:r>
            <a:r>
              <a:rPr dirty="0" sz="2800" spc="-50">
                <a:solidFill>
                  <a:srgbClr val="4E3629"/>
                </a:solidFill>
                <a:latin typeface="Calibri"/>
                <a:cs typeface="Calibri"/>
              </a:rPr>
              <a:t> </a:t>
            </a:r>
            <a:r>
              <a:rPr dirty="0" sz="2800" spc="-10">
                <a:solidFill>
                  <a:srgbClr val="4E3629"/>
                </a:solidFill>
                <a:latin typeface="Calibri"/>
                <a:cs typeface="Calibri"/>
              </a:rPr>
              <a:t>carácter</a:t>
            </a:r>
            <a:r>
              <a:rPr dirty="0" sz="2800" spc="-85">
                <a:solidFill>
                  <a:srgbClr val="4E3629"/>
                </a:solidFill>
                <a:latin typeface="Calibri"/>
                <a:cs typeface="Calibri"/>
              </a:rPr>
              <a:t> </a:t>
            </a:r>
            <a:r>
              <a:rPr dirty="0" sz="2800" spc="-5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como</a:t>
            </a:r>
            <a:r>
              <a:rPr dirty="0" sz="2800" spc="-60">
                <a:solidFill>
                  <a:srgbClr val="4E3629"/>
                </a:solidFill>
                <a:latin typeface="Calibri"/>
                <a:cs typeface="Calibri"/>
              </a:rPr>
              <a:t> </a:t>
            </a:r>
            <a:r>
              <a:rPr dirty="0" sz="2800">
                <a:solidFill>
                  <a:srgbClr val="4E3629"/>
                </a:solidFill>
                <a:latin typeface="Calibri"/>
                <a:cs typeface="Calibri"/>
              </a:rPr>
              <a:t>tal,</a:t>
            </a:r>
            <a:r>
              <a:rPr dirty="0" sz="2800" spc="-75">
                <a:solidFill>
                  <a:srgbClr val="4E3629"/>
                </a:solidFill>
                <a:latin typeface="Calibri"/>
                <a:cs typeface="Calibri"/>
              </a:rPr>
              <a:t> </a:t>
            </a:r>
            <a:r>
              <a:rPr dirty="0" sz="2800">
                <a:solidFill>
                  <a:srgbClr val="4E3629"/>
                </a:solidFill>
                <a:latin typeface="Calibri"/>
                <a:cs typeface="Calibri"/>
              </a:rPr>
              <a:t>necesita</a:t>
            </a:r>
            <a:r>
              <a:rPr dirty="0" sz="2800" spc="-60">
                <a:solidFill>
                  <a:srgbClr val="4E3629"/>
                </a:solidFill>
                <a:latin typeface="Calibri"/>
                <a:cs typeface="Calibri"/>
              </a:rPr>
              <a:t> </a:t>
            </a:r>
            <a:r>
              <a:rPr dirty="0" sz="2800" spc="-10">
                <a:solidFill>
                  <a:srgbClr val="4E3629"/>
                </a:solidFill>
                <a:latin typeface="Calibri"/>
                <a:cs typeface="Calibri"/>
              </a:rPr>
              <a:t>buscar </a:t>
            </a:r>
            <a:r>
              <a:rPr dirty="0" sz="2800" spc="-10">
                <a:solidFill>
                  <a:srgbClr val="4E3629"/>
                </a:solidFill>
                <a:latin typeface="Calibri"/>
                <a:cs typeface="Calibri"/>
              </a:rPr>
              <a:t>	</a:t>
            </a:r>
            <a:r>
              <a:rPr dirty="0" sz="2800">
                <a:solidFill>
                  <a:srgbClr val="4E3629"/>
                </a:solidFill>
                <a:latin typeface="Calibri"/>
                <a:cs typeface="Calibri"/>
              </a:rPr>
              <a:t>utilizando</a:t>
            </a:r>
            <a:r>
              <a:rPr dirty="0" sz="2800" spc="-65">
                <a:solidFill>
                  <a:srgbClr val="4E3629"/>
                </a:solidFill>
                <a:latin typeface="Calibri"/>
                <a:cs typeface="Calibri"/>
              </a:rPr>
              <a:t> </a:t>
            </a:r>
            <a:r>
              <a:rPr dirty="0" sz="2800">
                <a:solidFill>
                  <a:srgbClr val="4E3629"/>
                </a:solidFill>
                <a:latin typeface="Calibri"/>
                <a:cs typeface="Calibri"/>
              </a:rPr>
              <a:t>las</a:t>
            </a:r>
            <a:r>
              <a:rPr dirty="0" sz="2800" spc="-105">
                <a:solidFill>
                  <a:srgbClr val="4E3629"/>
                </a:solidFill>
                <a:latin typeface="Calibri"/>
                <a:cs typeface="Calibri"/>
              </a:rPr>
              <a:t> </a:t>
            </a:r>
            <a:r>
              <a:rPr dirty="0" sz="2800" spc="-10">
                <a:solidFill>
                  <a:srgbClr val="4E3629"/>
                </a:solidFill>
                <a:latin typeface="Calibri"/>
                <a:cs typeface="Calibri"/>
              </a:rPr>
              <a:t>mayúsculas/minúsculas</a:t>
            </a:r>
            <a:r>
              <a:rPr dirty="0" sz="2800" spc="-45">
                <a:solidFill>
                  <a:srgbClr val="4E3629"/>
                </a:solidFill>
                <a:latin typeface="Calibri"/>
                <a:cs typeface="Calibri"/>
              </a:rPr>
              <a:t> </a:t>
            </a:r>
            <a:r>
              <a:rPr dirty="0" sz="2800" spc="-10">
                <a:solidFill>
                  <a:srgbClr val="4E3629"/>
                </a:solidFill>
                <a:latin typeface="Calibri"/>
                <a:cs typeface="Calibri"/>
              </a:rPr>
              <a:t>adecuadas</a:t>
            </a:r>
            <a:endParaRPr sz="2800">
              <a:latin typeface="Calibri"/>
              <a:cs typeface="Calibri"/>
            </a:endParaRPr>
          </a:p>
          <a:p>
            <a:pPr marL="159385" marR="203200" indent="-147320">
              <a:lnSpc>
                <a:spcPts val="3030"/>
              </a:lnSpc>
              <a:spcBef>
                <a:spcPts val="785"/>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LOWER(columna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expresión)</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convierte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alfabéticos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minúscula</a:t>
            </a:r>
            <a:endParaRPr sz="2800">
              <a:latin typeface="Calibri"/>
              <a:cs typeface="Calibri"/>
            </a:endParaRPr>
          </a:p>
        </p:txBody>
      </p:sp>
      <p:sp>
        <p:nvSpPr>
          <p:cNvPr id="4" name="object 4"/>
          <p:cNvSpPr txBox="1"/>
          <p:nvPr/>
        </p:nvSpPr>
        <p:spPr>
          <a:xfrm>
            <a:off x="4437888" y="5410200"/>
            <a:ext cx="4467225" cy="922019"/>
          </a:xfrm>
          <a:prstGeom prst="rect">
            <a:avLst/>
          </a:prstGeom>
          <a:solidFill>
            <a:srgbClr val="9DBEC4">
              <a:alpha val="50199"/>
            </a:srgbClr>
          </a:solidFill>
        </p:spPr>
        <p:txBody>
          <a:bodyPr wrap="square" lIns="0" tIns="0" rIns="0" bIns="0" rtlCol="0" vert="horz">
            <a:spAutoFit/>
          </a:bodyPr>
          <a:lstStyle/>
          <a:p>
            <a:pPr marL="635">
              <a:lnSpc>
                <a:spcPts val="1830"/>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a:t>
            </a:r>
            <a:endParaRPr sz="1800">
              <a:latin typeface="Courier New"/>
              <a:cs typeface="Courier New"/>
            </a:endParaRPr>
          </a:p>
          <a:p>
            <a:pPr marL="635">
              <a:lnSpc>
                <a:spcPct val="100000"/>
              </a:lnSpc>
              <a:spcBef>
                <a:spcPts val="500"/>
              </a:spcBef>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635">
              <a:lnSpc>
                <a:spcPct val="100000"/>
              </a:lnSpc>
              <a:spcBef>
                <a:spcPts val="505"/>
              </a:spcBef>
            </a:pPr>
            <a:r>
              <a:rPr dirty="0" sz="1800" b="1">
                <a:solidFill>
                  <a:srgbClr val="4E3629"/>
                </a:solidFill>
                <a:latin typeface="Courier New"/>
                <a:cs typeface="Courier New"/>
              </a:rPr>
              <a:t>WHERE</a:t>
            </a:r>
            <a:r>
              <a:rPr dirty="0" sz="1800" spc="-85" b="1">
                <a:solidFill>
                  <a:srgbClr val="4E3629"/>
                </a:solidFill>
                <a:latin typeface="Courier New"/>
                <a:cs typeface="Courier New"/>
              </a:rPr>
              <a:t> </a:t>
            </a:r>
            <a:r>
              <a:rPr dirty="0" sz="1800" b="1">
                <a:solidFill>
                  <a:srgbClr val="4E3629"/>
                </a:solidFill>
                <a:latin typeface="Courier New"/>
                <a:cs typeface="Courier New"/>
              </a:rPr>
              <a:t>LOWER(last_name)</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70" b="1">
                <a:solidFill>
                  <a:srgbClr val="4E3629"/>
                </a:solidFill>
                <a:latin typeface="Courier New"/>
                <a:cs typeface="Courier New"/>
              </a:rPr>
              <a:t> </a:t>
            </a:r>
            <a:r>
              <a:rPr dirty="0" sz="1800" spc="-10" b="1">
                <a:solidFill>
                  <a:srgbClr val="4E3629"/>
                </a:solidFill>
                <a:latin typeface="Courier New"/>
                <a:cs typeface="Courier New"/>
              </a:rPr>
              <a:t>'abel';</a:t>
            </a:r>
            <a:endParaRPr sz="1800">
              <a:latin typeface="Courier New"/>
              <a:cs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64135" rIns="0" bIns="0" rtlCol="0" vert="horz">
            <a:spAutoFit/>
          </a:bodyPr>
          <a:lstStyle/>
          <a:p>
            <a:pPr marL="12700" marR="5080">
              <a:lnSpc>
                <a:spcPts val="3240"/>
              </a:lnSpc>
              <a:spcBef>
                <a:spcPts val="505"/>
              </a:spcBef>
            </a:pPr>
            <a:r>
              <a:rPr dirty="0" sz="3000"/>
              <a:t>Funciones</a:t>
            </a:r>
            <a:r>
              <a:rPr dirty="0" sz="3000" spc="-65"/>
              <a:t> </a:t>
            </a:r>
            <a:r>
              <a:rPr dirty="0" sz="3000"/>
              <a:t>de</a:t>
            </a:r>
            <a:r>
              <a:rPr dirty="0" sz="3000" spc="-45"/>
              <a:t> </a:t>
            </a:r>
            <a:r>
              <a:rPr dirty="0" sz="3000"/>
              <a:t>Manipulación</a:t>
            </a:r>
            <a:r>
              <a:rPr dirty="0" sz="3000" spc="-55"/>
              <a:t> </a:t>
            </a:r>
            <a:r>
              <a:rPr dirty="0" sz="3000" spc="-25"/>
              <a:t>de </a:t>
            </a:r>
            <a:r>
              <a:rPr dirty="0" sz="3000" spc="-10"/>
              <a:t>Mayúsculas/Minúsculas</a:t>
            </a:r>
            <a:endParaRPr sz="3000"/>
          </a:p>
        </p:txBody>
      </p:sp>
      <p:sp>
        <p:nvSpPr>
          <p:cNvPr id="7" name="object 7"/>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13</a:t>
            </a: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7832090" cy="836294"/>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UPPER(columna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expresión)</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convierte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alfabéticos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mayúscula</a:t>
            </a:r>
            <a:endParaRPr sz="2800">
              <a:latin typeface="Calibri"/>
              <a:cs typeface="Calibri"/>
            </a:endParaRPr>
          </a:p>
        </p:txBody>
      </p:sp>
      <p:sp>
        <p:nvSpPr>
          <p:cNvPr id="4" name="object 4"/>
          <p:cNvSpPr txBox="1"/>
          <p:nvPr/>
        </p:nvSpPr>
        <p:spPr>
          <a:xfrm>
            <a:off x="483552" y="3256409"/>
            <a:ext cx="8013700" cy="122047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INITCAP(columna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expresión)</a:t>
            </a:r>
            <a:r>
              <a:rPr dirty="0" u="heavy" sz="2800" spc="-4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convierte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7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caracteres</a:t>
            </a:r>
            <a:r>
              <a:rPr dirty="0" u="heavy" sz="2800" spc="-9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alfabéticos</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mayúscula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primera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letra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cada</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palabra</a:t>
            </a:r>
            <a:endParaRPr sz="2800">
              <a:latin typeface="Calibri"/>
              <a:cs typeface="Calibri"/>
            </a:endParaRPr>
          </a:p>
        </p:txBody>
      </p:sp>
      <p:sp>
        <p:nvSpPr>
          <p:cNvPr id="5" name="object 5"/>
          <p:cNvSpPr txBox="1"/>
          <p:nvPr/>
        </p:nvSpPr>
        <p:spPr>
          <a:xfrm>
            <a:off x="393191" y="2374392"/>
            <a:ext cx="8345805" cy="914400"/>
          </a:xfrm>
          <a:prstGeom prst="rect">
            <a:avLst/>
          </a:prstGeom>
          <a:solidFill>
            <a:srgbClr val="9DBEC4">
              <a:alpha val="50199"/>
            </a:srgbClr>
          </a:solidFill>
        </p:spPr>
        <p:txBody>
          <a:bodyPr wrap="square" lIns="0" tIns="17780" rIns="0" bIns="0" rtlCol="0" vert="horz">
            <a:spAutoFit/>
          </a:bodyPr>
          <a:lstStyle/>
          <a:p>
            <a:pPr marL="1270" marR="5741035">
              <a:lnSpc>
                <a:spcPct val="100000"/>
              </a:lnSpc>
              <a:spcBef>
                <a:spcPts val="140"/>
              </a:spcBef>
              <a:tabLst>
                <a:tab pos="1911985" algn="l"/>
              </a:tabLst>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 </a:t>
            </a:r>
            <a:r>
              <a:rPr dirty="0" sz="1800" b="1">
                <a:solidFill>
                  <a:srgbClr val="4E3629"/>
                </a:solidFill>
                <a:latin typeface="Courier New"/>
                <a:cs typeface="Courier New"/>
              </a:rPr>
              <a:t>FROM</a:t>
            </a:r>
            <a:r>
              <a:rPr dirty="0" sz="1800" spc="-50" b="1">
                <a:solidFill>
                  <a:srgbClr val="4E3629"/>
                </a:solidFill>
                <a:latin typeface="Courier New"/>
                <a:cs typeface="Courier New"/>
              </a:rPr>
              <a:t> </a:t>
            </a:r>
            <a:r>
              <a:rPr dirty="0" sz="1800" spc="-20" b="1">
                <a:solidFill>
                  <a:srgbClr val="4E3629"/>
                </a:solidFill>
                <a:latin typeface="Courier New"/>
                <a:cs typeface="Courier New"/>
              </a:rPr>
              <a:t>empl</a:t>
            </a:r>
            <a:r>
              <a:rPr dirty="0" sz="1800" b="1">
                <a:solidFill>
                  <a:srgbClr val="4E3629"/>
                </a:solidFill>
                <a:latin typeface="Courier New"/>
                <a:cs typeface="Courier New"/>
              </a:rPr>
              <a:t>	</a:t>
            </a:r>
            <a:r>
              <a:rPr dirty="0" sz="1800" spc="-20" b="1">
                <a:solidFill>
                  <a:srgbClr val="4E3629"/>
                </a:solidFill>
                <a:latin typeface="Courier New"/>
                <a:cs typeface="Courier New"/>
              </a:rPr>
              <a:t>oyees</a:t>
            </a:r>
            <a:endParaRPr sz="1800">
              <a:latin typeface="Courier New"/>
              <a:cs typeface="Courier New"/>
            </a:endParaRPr>
          </a:p>
          <a:p>
            <a:pPr marL="1270">
              <a:lnSpc>
                <a:spcPct val="100000"/>
              </a:lnSpc>
            </a:pPr>
            <a:r>
              <a:rPr dirty="0" sz="1800" b="1">
                <a:solidFill>
                  <a:srgbClr val="4E3629"/>
                </a:solidFill>
                <a:latin typeface="Courier New"/>
                <a:cs typeface="Courier New"/>
              </a:rPr>
              <a:t>WHERE</a:t>
            </a:r>
            <a:r>
              <a:rPr dirty="0" sz="1800" spc="-85" b="1">
                <a:solidFill>
                  <a:srgbClr val="4E3629"/>
                </a:solidFill>
                <a:latin typeface="Courier New"/>
                <a:cs typeface="Courier New"/>
              </a:rPr>
              <a:t> </a:t>
            </a:r>
            <a:r>
              <a:rPr dirty="0" sz="1800" b="1">
                <a:solidFill>
                  <a:srgbClr val="4E3629"/>
                </a:solidFill>
                <a:latin typeface="Courier New"/>
                <a:cs typeface="Courier New"/>
              </a:rPr>
              <a:t>UPPER(last_name)</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70" b="1">
                <a:solidFill>
                  <a:srgbClr val="4E3629"/>
                </a:solidFill>
                <a:latin typeface="Courier New"/>
                <a:cs typeface="Courier New"/>
              </a:rPr>
              <a:t> </a:t>
            </a:r>
            <a:r>
              <a:rPr dirty="0" sz="1800" spc="-10" b="1">
                <a:solidFill>
                  <a:srgbClr val="4E3629"/>
                </a:solidFill>
                <a:latin typeface="Courier New"/>
                <a:cs typeface="Courier New"/>
              </a:rPr>
              <a:t>'ABEL';</a:t>
            </a:r>
            <a:endParaRPr sz="1800">
              <a:latin typeface="Courier New"/>
              <a:cs typeface="Courier New"/>
            </a:endParaRPr>
          </a:p>
        </p:txBody>
      </p:sp>
      <p:sp>
        <p:nvSpPr>
          <p:cNvPr id="6" name="object 6"/>
          <p:cNvSpPr txBox="1"/>
          <p:nvPr/>
        </p:nvSpPr>
        <p:spPr>
          <a:xfrm>
            <a:off x="393191" y="4506467"/>
            <a:ext cx="8345805" cy="1031875"/>
          </a:xfrm>
          <a:prstGeom prst="rect">
            <a:avLst/>
          </a:prstGeom>
          <a:solidFill>
            <a:srgbClr val="9DBEC4">
              <a:alpha val="50199"/>
            </a:srgbClr>
          </a:solidFill>
        </p:spPr>
        <p:txBody>
          <a:bodyPr wrap="square" lIns="0" tIns="76835" rIns="0" bIns="0" rtlCol="0" vert="horz">
            <a:spAutoFit/>
          </a:bodyPr>
          <a:lstStyle/>
          <a:p>
            <a:pPr marL="1270" marR="6150610">
              <a:lnSpc>
                <a:spcPct val="100000"/>
              </a:lnSpc>
              <a:spcBef>
                <a:spcPts val="605"/>
              </a:spcBef>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1270">
              <a:lnSpc>
                <a:spcPct val="100000"/>
              </a:lnSpc>
            </a:pPr>
            <a:r>
              <a:rPr dirty="0" sz="1800" b="1">
                <a:solidFill>
                  <a:srgbClr val="4E3629"/>
                </a:solidFill>
                <a:latin typeface="Courier New"/>
                <a:cs typeface="Courier New"/>
              </a:rPr>
              <a:t>WHERE</a:t>
            </a:r>
            <a:r>
              <a:rPr dirty="0" sz="1800" spc="-90" b="1">
                <a:solidFill>
                  <a:srgbClr val="4E3629"/>
                </a:solidFill>
                <a:latin typeface="Courier New"/>
                <a:cs typeface="Courier New"/>
              </a:rPr>
              <a:t> </a:t>
            </a:r>
            <a:r>
              <a:rPr dirty="0" sz="1800" b="1">
                <a:solidFill>
                  <a:srgbClr val="4E3629"/>
                </a:solidFill>
                <a:latin typeface="Courier New"/>
                <a:cs typeface="Courier New"/>
              </a:rPr>
              <a:t>INITCAP(last_name)</a:t>
            </a:r>
            <a:r>
              <a:rPr dirty="0" sz="1800" spc="-80" b="1">
                <a:solidFill>
                  <a:srgbClr val="4E3629"/>
                </a:solidFill>
                <a:latin typeface="Courier New"/>
                <a:cs typeface="Courier New"/>
              </a:rPr>
              <a:t> </a:t>
            </a:r>
            <a:r>
              <a:rPr dirty="0" sz="1800" b="1">
                <a:solidFill>
                  <a:srgbClr val="4E3629"/>
                </a:solidFill>
                <a:latin typeface="Courier New"/>
                <a:cs typeface="Courier New"/>
              </a:rPr>
              <a:t>=</a:t>
            </a:r>
            <a:r>
              <a:rPr dirty="0" sz="1800" spc="-80" b="1">
                <a:solidFill>
                  <a:srgbClr val="4E3629"/>
                </a:solidFill>
                <a:latin typeface="Courier New"/>
                <a:cs typeface="Courier New"/>
              </a:rPr>
              <a:t> </a:t>
            </a:r>
            <a:r>
              <a:rPr dirty="0" sz="1800" spc="-10" b="1">
                <a:solidFill>
                  <a:srgbClr val="4E3629"/>
                </a:solidFill>
                <a:latin typeface="Courier New"/>
                <a:cs typeface="Courier New"/>
              </a:rPr>
              <a:t>'Abel';</a:t>
            </a:r>
            <a:endParaRPr sz="1800">
              <a:latin typeface="Courier New"/>
              <a:cs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15</a:t>
            </a:r>
            <a:endParaRPr sz="850">
              <a:latin typeface="Calibri"/>
              <a:cs typeface="Calibri"/>
            </a:endParaRPr>
          </a:p>
        </p:txBody>
      </p:sp>
      <p:sp>
        <p:nvSpPr>
          <p:cNvPr id="3" name="object 3"/>
          <p:cNvSpPr txBox="1"/>
          <p:nvPr/>
        </p:nvSpPr>
        <p:spPr>
          <a:xfrm>
            <a:off x="483552" y="1355371"/>
            <a:ext cx="8167370" cy="2150745"/>
          </a:xfrm>
          <a:prstGeom prst="rect">
            <a:avLst/>
          </a:prstGeom>
        </p:spPr>
        <p:txBody>
          <a:bodyPr wrap="square" lIns="0" tIns="71755" rIns="0" bIns="0" rtlCol="0" vert="horz">
            <a:spAutoFit/>
          </a:bodyPr>
          <a:lstStyle/>
          <a:p>
            <a:pPr marL="160020" indent="-147320">
              <a:lnSpc>
                <a:spcPct val="100000"/>
              </a:lnSpc>
              <a:spcBef>
                <a:spcPts val="565"/>
              </a:spcBef>
              <a:buClr>
                <a:srgbClr val="D1350F"/>
              </a:buClr>
              <a:buFont typeface="Arial MT"/>
              <a:buChar char="•"/>
              <a:tabLst>
                <a:tab pos="160020" algn="l"/>
              </a:tabLst>
            </a:pPr>
            <a:r>
              <a:rPr dirty="0" u="heavy" sz="2800" spc="-515">
                <a:solidFill>
                  <a:srgbClr val="4E3629"/>
                </a:solidFill>
                <a:uFill>
                  <a:solidFill>
                    <a:srgbClr val="EC2814"/>
                  </a:solidFill>
                </a:uFill>
                <a:latin typeface="Calibri"/>
                <a:cs typeface="Calibri"/>
              </a:rPr>
              <a:t> </a:t>
            </a:r>
            <a:r>
              <a:rPr dirty="0" u="heavy" sz="2800" spc="-55">
                <a:solidFill>
                  <a:srgbClr val="4E3629"/>
                </a:solidFill>
                <a:uFill>
                  <a:solidFill>
                    <a:srgbClr val="EC2814"/>
                  </a:solidFill>
                </a:uFill>
                <a:latin typeface="Calibri"/>
                <a:cs typeface="Calibri"/>
              </a:rPr>
              <a:t>CONCAT:</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dos</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valores</a:t>
            </a:r>
            <a:endParaRPr sz="2800">
              <a:latin typeface="Calibri"/>
              <a:cs typeface="Calibri"/>
            </a:endParaRPr>
          </a:p>
          <a:p>
            <a:pPr marL="182880" marR="5080" indent="-170815">
              <a:lnSpc>
                <a:spcPts val="3030"/>
              </a:lnSpc>
              <a:spcBef>
                <a:spcPts val="844"/>
              </a:spcBef>
              <a:buClr>
                <a:srgbClr val="D1350F"/>
              </a:buClr>
              <a:buFont typeface="Arial MT"/>
              <a:buChar char="•"/>
              <a:tabLst>
                <a:tab pos="184785" algn="l"/>
              </a:tabLst>
            </a:pPr>
            <a:r>
              <a:rPr dirty="0" sz="2800" spc="-50">
                <a:solidFill>
                  <a:srgbClr val="4E3629"/>
                </a:solidFill>
                <a:latin typeface="Calibri"/>
                <a:cs typeface="Calibri"/>
              </a:rPr>
              <a:t>Toma</a:t>
            </a:r>
            <a:r>
              <a:rPr dirty="0" sz="2800" spc="-55">
                <a:solidFill>
                  <a:srgbClr val="4E3629"/>
                </a:solidFill>
                <a:latin typeface="Calibri"/>
                <a:cs typeface="Calibri"/>
              </a:rPr>
              <a:t> </a:t>
            </a:r>
            <a:r>
              <a:rPr dirty="0" sz="2800">
                <a:solidFill>
                  <a:srgbClr val="4E3629"/>
                </a:solidFill>
                <a:latin typeface="Calibri"/>
                <a:cs typeface="Calibri"/>
              </a:rPr>
              <a:t>2</a:t>
            </a:r>
            <a:r>
              <a:rPr dirty="0" sz="2800" spc="-45">
                <a:solidFill>
                  <a:srgbClr val="4E3629"/>
                </a:solidFill>
                <a:latin typeface="Calibri"/>
                <a:cs typeface="Calibri"/>
              </a:rPr>
              <a:t> </a:t>
            </a:r>
            <a:r>
              <a:rPr dirty="0" sz="2800" spc="-10">
                <a:solidFill>
                  <a:srgbClr val="4E3629"/>
                </a:solidFill>
                <a:latin typeface="Calibri"/>
                <a:cs typeface="Calibri"/>
              </a:rPr>
              <a:t>argumentos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cadena</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caracteres</a:t>
            </a:r>
            <a:r>
              <a:rPr dirty="0" sz="2800" spc="-70">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une</a:t>
            </a:r>
            <a:r>
              <a:rPr dirty="0" sz="2800" spc="-3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segunda</a:t>
            </a:r>
            <a:r>
              <a:rPr dirty="0" sz="2800" spc="-40">
                <a:solidFill>
                  <a:srgbClr val="4E3629"/>
                </a:solidFill>
                <a:latin typeface="Calibri"/>
                <a:cs typeface="Calibri"/>
              </a:rPr>
              <a:t> </a:t>
            </a:r>
            <a:r>
              <a:rPr dirty="0" sz="2800">
                <a:solidFill>
                  <a:srgbClr val="4E3629"/>
                </a:solidFill>
                <a:latin typeface="Calibri"/>
                <a:cs typeface="Calibri"/>
              </a:rPr>
              <a:t>cadena</a:t>
            </a:r>
            <a:r>
              <a:rPr dirty="0" sz="2800" spc="-50">
                <a:solidFill>
                  <a:srgbClr val="4E3629"/>
                </a:solidFill>
                <a:latin typeface="Calibri"/>
                <a:cs typeface="Calibri"/>
              </a:rPr>
              <a:t> </a:t>
            </a:r>
            <a:r>
              <a:rPr dirty="0" sz="2800">
                <a:solidFill>
                  <a:srgbClr val="4E3629"/>
                </a:solidFill>
                <a:latin typeface="Calibri"/>
                <a:cs typeface="Calibri"/>
              </a:rPr>
              <a:t>a</a:t>
            </a:r>
            <a:r>
              <a:rPr dirty="0" sz="2800" spc="-7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primera.</a:t>
            </a:r>
            <a:r>
              <a:rPr dirty="0" sz="2800" spc="-35">
                <a:solidFill>
                  <a:srgbClr val="4E3629"/>
                </a:solidFill>
                <a:latin typeface="Calibri"/>
                <a:cs typeface="Calibri"/>
              </a:rPr>
              <a:t> </a:t>
            </a:r>
            <a:r>
              <a:rPr dirty="0" sz="2800" spc="-30">
                <a:solidFill>
                  <a:srgbClr val="4E3629"/>
                </a:solidFill>
                <a:latin typeface="Calibri"/>
                <a:cs typeface="Calibri"/>
              </a:rPr>
              <a:t>También</a:t>
            </a:r>
            <a:r>
              <a:rPr dirty="0" sz="2800" spc="-6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spc="-10">
                <a:solidFill>
                  <a:srgbClr val="4E3629"/>
                </a:solidFill>
                <a:latin typeface="Calibri"/>
                <a:cs typeface="Calibri"/>
              </a:rPr>
              <a:t>puede </a:t>
            </a:r>
            <a:r>
              <a:rPr dirty="0" sz="2800" spc="-10">
                <a:solidFill>
                  <a:srgbClr val="4E3629"/>
                </a:solidFill>
                <a:latin typeface="Calibri"/>
                <a:cs typeface="Calibri"/>
              </a:rPr>
              <a:t>	</a:t>
            </a:r>
            <a:r>
              <a:rPr dirty="0" sz="2800">
                <a:solidFill>
                  <a:srgbClr val="4E3629"/>
                </a:solidFill>
                <a:latin typeface="Calibri"/>
                <a:cs typeface="Calibri"/>
              </a:rPr>
              <a:t>escribir</a:t>
            </a:r>
            <a:r>
              <a:rPr dirty="0" sz="2800" spc="-70">
                <a:solidFill>
                  <a:srgbClr val="4E3629"/>
                </a:solidFill>
                <a:latin typeface="Calibri"/>
                <a:cs typeface="Calibri"/>
              </a:rPr>
              <a:t> </a:t>
            </a:r>
            <a:r>
              <a:rPr dirty="0" sz="2800">
                <a:solidFill>
                  <a:srgbClr val="4E3629"/>
                </a:solidFill>
                <a:latin typeface="Calibri"/>
                <a:cs typeface="Calibri"/>
              </a:rPr>
              <a:t>mediante</a:t>
            </a:r>
            <a:r>
              <a:rPr dirty="0" sz="2800" spc="-75">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operador</a:t>
            </a:r>
            <a:r>
              <a:rPr dirty="0" sz="2800" spc="-7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concatenación:</a:t>
            </a:r>
            <a:r>
              <a:rPr dirty="0" sz="2800" spc="-75">
                <a:solidFill>
                  <a:srgbClr val="4E3629"/>
                </a:solidFill>
                <a:latin typeface="Calibri"/>
                <a:cs typeface="Calibri"/>
              </a:rPr>
              <a:t> </a:t>
            </a:r>
            <a:r>
              <a:rPr dirty="0" sz="2800" spc="-10">
                <a:solidFill>
                  <a:srgbClr val="4E3629"/>
                </a:solidFill>
                <a:latin typeface="Calibri"/>
                <a:cs typeface="Calibri"/>
              </a:rPr>
              <a:t>'Hello'</a:t>
            </a:r>
            <a:endParaRPr sz="2800">
              <a:latin typeface="Calibri"/>
              <a:cs typeface="Calibri"/>
            </a:endParaRPr>
          </a:p>
          <a:p>
            <a:pPr marL="184785">
              <a:lnSpc>
                <a:spcPts val="2970"/>
              </a:lnSpc>
            </a:pPr>
            <a:r>
              <a:rPr dirty="0" sz="2800">
                <a:solidFill>
                  <a:srgbClr val="4E3629"/>
                </a:solidFill>
                <a:latin typeface="Calibri"/>
                <a:cs typeface="Calibri"/>
              </a:rPr>
              <a:t>||</a:t>
            </a:r>
            <a:r>
              <a:rPr dirty="0" sz="2800" spc="-30">
                <a:solidFill>
                  <a:srgbClr val="4E3629"/>
                </a:solidFill>
                <a:latin typeface="Calibri"/>
                <a:cs typeface="Calibri"/>
              </a:rPr>
              <a:t> </a:t>
            </a:r>
            <a:r>
              <a:rPr dirty="0" sz="2800" spc="-10">
                <a:solidFill>
                  <a:srgbClr val="4E3629"/>
                </a:solidFill>
                <a:latin typeface="Calibri"/>
                <a:cs typeface="Calibri"/>
              </a:rPr>
              <a:t>'World'</a:t>
            </a:r>
            <a:endParaRPr sz="2800">
              <a:latin typeface="Calibri"/>
              <a:cs typeface="Calibri"/>
            </a:endParaRPr>
          </a:p>
        </p:txBody>
      </p:sp>
      <p:graphicFrame>
        <p:nvGraphicFramePr>
          <p:cNvPr id="4" name="object 4"/>
          <p:cNvGraphicFramePr>
            <a:graphicFrameLocks noGrp="1"/>
          </p:cNvGraphicFramePr>
          <p:nvPr/>
        </p:nvGraphicFramePr>
        <p:xfrm>
          <a:off x="398462" y="3751326"/>
          <a:ext cx="8435975" cy="1943100"/>
        </p:xfrm>
        <a:graphic>
          <a:graphicData uri="http://schemas.openxmlformats.org/drawingml/2006/table">
            <a:tbl>
              <a:tblPr firstRow="1" bandRow="1">
                <a:tableStyleId>{2D5ABB26-0587-4C30-8999-92F81FD0307C}</a:tableStyleId>
              </a:tblPr>
              <a:tblGrid>
                <a:gridCol w="5892800"/>
                <a:gridCol w="2453004"/>
              </a:tblGrid>
              <a:tr h="395605">
                <a:tc>
                  <a:txBody>
                    <a:bodyPr/>
                    <a:lstStyle/>
                    <a:p>
                      <a:pPr marL="100965">
                        <a:lnSpc>
                          <a:spcPct val="100000"/>
                        </a:lnSpc>
                        <a:spcBef>
                          <a:spcPts val="270"/>
                        </a:spcBef>
                      </a:pPr>
                      <a:r>
                        <a:rPr dirty="0" sz="1600" spc="-10" b="1">
                          <a:solidFill>
                            <a:srgbClr val="4E3629"/>
                          </a:solidFill>
                          <a:latin typeface="Calibri"/>
                          <a:cs typeface="Calibri"/>
                        </a:rPr>
                        <a:t>Ejemplos:</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0965">
                        <a:lnSpc>
                          <a:spcPct val="100000"/>
                        </a:lnSpc>
                        <a:spcBef>
                          <a:spcPts val="259"/>
                        </a:spcBef>
                      </a:pPr>
                      <a:r>
                        <a:rPr dirty="0" sz="1600" spc="-10" b="1">
                          <a:solidFill>
                            <a:srgbClr val="4E3629"/>
                          </a:solidFill>
                          <a:latin typeface="Calibri"/>
                          <a:cs typeface="Calibri"/>
                        </a:rPr>
                        <a:t>resultado</a:t>
                      </a:r>
                      <a:endParaRPr sz="1600">
                        <a:latin typeface="Calibri"/>
                        <a:cs typeface="Calibri"/>
                      </a:endParaRPr>
                    </a:p>
                  </a:txBody>
                  <a:tcPr marL="0" marR="0" marB="0" marT="3301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100965" marR="3145790">
                        <a:lnSpc>
                          <a:spcPts val="2230"/>
                        </a:lnSpc>
                        <a:spcBef>
                          <a:spcPts val="75"/>
                        </a:spcBef>
                      </a:pPr>
                      <a:r>
                        <a:rPr dirty="0" sz="1600">
                          <a:solidFill>
                            <a:srgbClr val="4E3629"/>
                          </a:solidFill>
                          <a:latin typeface="Calibri"/>
                          <a:cs typeface="Calibri"/>
                        </a:rPr>
                        <a:t>SELECT</a:t>
                      </a:r>
                      <a:r>
                        <a:rPr dirty="0" sz="1600" spc="-45">
                          <a:solidFill>
                            <a:srgbClr val="4E3629"/>
                          </a:solidFill>
                          <a:latin typeface="Calibri"/>
                          <a:cs typeface="Calibri"/>
                        </a:rPr>
                        <a:t> </a:t>
                      </a:r>
                      <a:r>
                        <a:rPr dirty="0" sz="1600" spc="-10">
                          <a:solidFill>
                            <a:srgbClr val="4E3629"/>
                          </a:solidFill>
                          <a:latin typeface="Calibri"/>
                          <a:cs typeface="Calibri"/>
                        </a:rPr>
                        <a:t>CONCAT('Hello',</a:t>
                      </a:r>
                      <a:r>
                        <a:rPr dirty="0" sz="1600" spc="-50">
                          <a:solidFill>
                            <a:srgbClr val="4E3629"/>
                          </a:solidFill>
                          <a:latin typeface="Calibri"/>
                          <a:cs typeface="Calibri"/>
                        </a:rPr>
                        <a:t> </a:t>
                      </a:r>
                      <a:r>
                        <a:rPr dirty="0" sz="1600" spc="-10">
                          <a:solidFill>
                            <a:srgbClr val="4E3629"/>
                          </a:solidFill>
                          <a:latin typeface="Calibri"/>
                          <a:cs typeface="Calibri"/>
                        </a:rPr>
                        <a:t>'World')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0965">
                        <a:lnSpc>
                          <a:spcPct val="100000"/>
                        </a:lnSpc>
                        <a:spcBef>
                          <a:spcPts val="270"/>
                        </a:spcBef>
                      </a:pPr>
                      <a:r>
                        <a:rPr dirty="0" sz="1600" spc="-10">
                          <a:solidFill>
                            <a:srgbClr val="4E3629"/>
                          </a:solidFill>
                          <a:latin typeface="Calibri"/>
                          <a:cs typeface="Calibri"/>
                        </a:rPr>
                        <a:t>HelloWorld</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920115">
                <a:tc>
                  <a:txBody>
                    <a:bodyPr/>
                    <a:lstStyle/>
                    <a:p>
                      <a:pPr marL="100965" marR="2505075">
                        <a:lnSpc>
                          <a:spcPts val="2230"/>
                        </a:lnSpc>
                        <a:spcBef>
                          <a:spcPts val="75"/>
                        </a:spcBef>
                      </a:pPr>
                      <a:r>
                        <a:rPr dirty="0" sz="1600">
                          <a:solidFill>
                            <a:srgbClr val="4E3629"/>
                          </a:solidFill>
                          <a:latin typeface="Calibri"/>
                          <a:cs typeface="Calibri"/>
                        </a:rPr>
                        <a:t>SELECT</a:t>
                      </a:r>
                      <a:r>
                        <a:rPr dirty="0" sz="1600" spc="30">
                          <a:solidFill>
                            <a:srgbClr val="4E3629"/>
                          </a:solidFill>
                          <a:latin typeface="Calibri"/>
                          <a:cs typeface="Calibri"/>
                        </a:rPr>
                        <a:t> </a:t>
                      </a:r>
                      <a:r>
                        <a:rPr dirty="0" sz="1600" spc="-20">
                          <a:solidFill>
                            <a:srgbClr val="4E3629"/>
                          </a:solidFill>
                          <a:latin typeface="Calibri"/>
                          <a:cs typeface="Calibri"/>
                        </a:rPr>
                        <a:t>CONCAT(first_name,</a:t>
                      </a:r>
                      <a:r>
                        <a:rPr dirty="0" sz="1600" spc="5">
                          <a:solidFill>
                            <a:srgbClr val="4E3629"/>
                          </a:solidFill>
                          <a:latin typeface="Calibri"/>
                          <a:cs typeface="Calibri"/>
                        </a:rPr>
                        <a:t> </a:t>
                      </a:r>
                      <a:r>
                        <a:rPr dirty="0" sz="1600" spc="-10">
                          <a:solidFill>
                            <a:srgbClr val="4E3629"/>
                          </a:solidFill>
                          <a:latin typeface="Calibri"/>
                          <a:cs typeface="Calibri"/>
                        </a:rPr>
                        <a:t>last_name)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0965" marR="1326515">
                        <a:lnSpc>
                          <a:spcPts val="2300"/>
                        </a:lnSpc>
                        <a:spcBef>
                          <a:spcPts val="15"/>
                        </a:spcBef>
                      </a:pPr>
                      <a:r>
                        <a:rPr dirty="0" sz="1600" spc="-10">
                          <a:solidFill>
                            <a:srgbClr val="4E3629"/>
                          </a:solidFill>
                          <a:latin typeface="Calibri"/>
                          <a:cs typeface="Calibri"/>
                        </a:rPr>
                        <a:t>EllenAbel CurtisDavies</a:t>
                      </a:r>
                      <a:endParaRPr sz="1600">
                        <a:latin typeface="Calibri"/>
                        <a:cs typeface="Calibri"/>
                      </a:endParaRPr>
                    </a:p>
                    <a:p>
                      <a:pPr marL="100965">
                        <a:lnSpc>
                          <a:spcPct val="100000"/>
                        </a:lnSpc>
                        <a:spcBef>
                          <a:spcPts val="265"/>
                        </a:spcBef>
                      </a:pPr>
                      <a:r>
                        <a:rPr dirty="0" sz="1600" spc="-50">
                          <a:solidFill>
                            <a:srgbClr val="4E3629"/>
                          </a:solidFill>
                          <a:latin typeface="Calibri"/>
                          <a:cs typeface="Calibri"/>
                        </a:rPr>
                        <a:t>…</a:t>
                      </a:r>
                      <a:endParaRPr sz="1600">
                        <a:latin typeface="Calibri"/>
                        <a:cs typeface="Calibri"/>
                      </a:endParaRPr>
                    </a:p>
                  </a:txBody>
                  <a:tcPr marL="0" marR="0" marB="0" marT="190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16</a:t>
            </a:r>
            <a:endParaRPr sz="850">
              <a:latin typeface="Calibri"/>
              <a:cs typeface="Calibri"/>
            </a:endParaRPr>
          </a:p>
        </p:txBody>
      </p:sp>
      <p:sp>
        <p:nvSpPr>
          <p:cNvPr id="3" name="object 3"/>
          <p:cNvSpPr txBox="1"/>
          <p:nvPr/>
        </p:nvSpPr>
        <p:spPr>
          <a:xfrm>
            <a:off x="483552" y="1415417"/>
            <a:ext cx="7681595" cy="2576195"/>
          </a:xfrm>
          <a:prstGeom prst="rect">
            <a:avLst/>
          </a:prstGeom>
        </p:spPr>
        <p:txBody>
          <a:bodyPr wrap="square" lIns="0" tIns="59690" rIns="0" bIns="0" rtlCol="0" vert="horz">
            <a:spAutoFit/>
          </a:bodyPr>
          <a:lstStyle/>
          <a:p>
            <a:pPr marL="159385" marR="120142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SUBSTR:</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extrae</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cadena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longitud</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determinada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Los</a:t>
            </a:r>
            <a:r>
              <a:rPr dirty="0" sz="2800" spc="-70">
                <a:solidFill>
                  <a:srgbClr val="4E3629"/>
                </a:solidFill>
                <a:latin typeface="Calibri"/>
                <a:cs typeface="Calibri"/>
              </a:rPr>
              <a:t> </a:t>
            </a:r>
            <a:r>
              <a:rPr dirty="0" sz="2800" spc="-10">
                <a:solidFill>
                  <a:srgbClr val="4E3629"/>
                </a:solidFill>
                <a:latin typeface="Calibri"/>
                <a:cs typeface="Calibri"/>
              </a:rPr>
              <a:t>argumentos</a:t>
            </a:r>
            <a:r>
              <a:rPr dirty="0" sz="2800" spc="-55">
                <a:solidFill>
                  <a:srgbClr val="4E3629"/>
                </a:solidFill>
                <a:latin typeface="Calibri"/>
                <a:cs typeface="Calibri"/>
              </a:rPr>
              <a:t> </a:t>
            </a:r>
            <a:r>
              <a:rPr dirty="0" sz="2800">
                <a:solidFill>
                  <a:srgbClr val="4E3629"/>
                </a:solidFill>
                <a:latin typeface="Calibri"/>
                <a:cs typeface="Calibri"/>
              </a:rPr>
              <a:t>son</a:t>
            </a:r>
            <a:r>
              <a:rPr dirty="0" sz="2800" spc="-65">
                <a:solidFill>
                  <a:srgbClr val="4E3629"/>
                </a:solidFill>
                <a:latin typeface="Calibri"/>
                <a:cs typeface="Calibri"/>
              </a:rPr>
              <a:t> </a:t>
            </a:r>
            <a:r>
              <a:rPr dirty="0" sz="2800">
                <a:solidFill>
                  <a:srgbClr val="4E3629"/>
                </a:solidFill>
                <a:latin typeface="Calibri"/>
                <a:cs typeface="Calibri"/>
              </a:rPr>
              <a:t>(cadena</a:t>
            </a:r>
            <a:r>
              <a:rPr dirty="0" sz="2800" spc="-5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caracteres,</a:t>
            </a:r>
            <a:r>
              <a:rPr dirty="0" sz="2800" spc="-65">
                <a:solidFill>
                  <a:srgbClr val="4E3629"/>
                </a:solidFill>
                <a:latin typeface="Calibri"/>
                <a:cs typeface="Calibri"/>
              </a:rPr>
              <a:t> </a:t>
            </a:r>
            <a:r>
              <a:rPr dirty="0" sz="2800" spc="-10">
                <a:solidFill>
                  <a:srgbClr val="4E3629"/>
                </a:solidFill>
                <a:latin typeface="Calibri"/>
                <a:cs typeface="Calibri"/>
              </a:rPr>
              <a:t>posición </a:t>
            </a:r>
            <a:r>
              <a:rPr dirty="0" sz="2800" spc="-10">
                <a:solidFill>
                  <a:srgbClr val="4E3629"/>
                </a:solidFill>
                <a:latin typeface="Calibri"/>
                <a:cs typeface="Calibri"/>
              </a:rPr>
              <a:t>	</a:t>
            </a:r>
            <a:r>
              <a:rPr dirty="0" sz="2800">
                <a:solidFill>
                  <a:srgbClr val="4E3629"/>
                </a:solidFill>
                <a:latin typeface="Calibri"/>
                <a:cs typeface="Calibri"/>
              </a:rPr>
              <a:t>inicial,</a:t>
            </a:r>
            <a:r>
              <a:rPr dirty="0" sz="2800" spc="-60">
                <a:solidFill>
                  <a:srgbClr val="4E3629"/>
                </a:solidFill>
                <a:latin typeface="Calibri"/>
                <a:cs typeface="Calibri"/>
              </a:rPr>
              <a:t> </a:t>
            </a:r>
            <a:r>
              <a:rPr dirty="0" sz="2800" spc="-10">
                <a:solidFill>
                  <a:srgbClr val="4E3629"/>
                </a:solidFill>
                <a:latin typeface="Calibri"/>
                <a:cs typeface="Calibri"/>
              </a:rPr>
              <a:t>Length)</a:t>
            </a:r>
            <a:endParaRPr sz="2800">
              <a:latin typeface="Calibri"/>
              <a:cs typeface="Calibri"/>
            </a:endParaRPr>
          </a:p>
          <a:p>
            <a:pPr marL="182880" marR="306705"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El</a:t>
            </a:r>
            <a:r>
              <a:rPr dirty="0" sz="2800" spc="-75">
                <a:solidFill>
                  <a:srgbClr val="4E3629"/>
                </a:solidFill>
                <a:latin typeface="Calibri"/>
                <a:cs typeface="Calibri"/>
              </a:rPr>
              <a:t> </a:t>
            </a:r>
            <a:r>
              <a:rPr dirty="0" sz="2800" spc="-10">
                <a:solidFill>
                  <a:srgbClr val="4E3629"/>
                </a:solidFill>
                <a:latin typeface="Calibri"/>
                <a:cs typeface="Calibri"/>
              </a:rPr>
              <a:t>argumento</a:t>
            </a:r>
            <a:r>
              <a:rPr dirty="0" sz="2800" spc="-55">
                <a:solidFill>
                  <a:srgbClr val="4E3629"/>
                </a:solidFill>
                <a:latin typeface="Calibri"/>
                <a:cs typeface="Calibri"/>
              </a:rPr>
              <a:t> </a:t>
            </a:r>
            <a:r>
              <a:rPr dirty="0" sz="2800">
                <a:solidFill>
                  <a:srgbClr val="4E3629"/>
                </a:solidFill>
                <a:latin typeface="Calibri"/>
                <a:cs typeface="Calibri"/>
              </a:rPr>
              <a:t>Length</a:t>
            </a:r>
            <a:r>
              <a:rPr dirty="0" sz="2800" spc="-4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a:solidFill>
                  <a:srgbClr val="4E3629"/>
                </a:solidFill>
                <a:latin typeface="Calibri"/>
                <a:cs typeface="Calibri"/>
              </a:rPr>
              <a:t>opcional</a:t>
            </a:r>
            <a:r>
              <a:rPr dirty="0" sz="2800" spc="-45">
                <a:solidFill>
                  <a:srgbClr val="4E3629"/>
                </a:solidFill>
                <a:latin typeface="Calibri"/>
                <a:cs typeface="Calibri"/>
              </a:rPr>
              <a:t> </a:t>
            </a:r>
            <a:r>
              <a:rPr dirty="0" sz="2800" spc="-50">
                <a:solidFill>
                  <a:srgbClr val="4E3629"/>
                </a:solidFill>
                <a:latin typeface="Calibri"/>
                <a:cs typeface="Calibri"/>
              </a:rPr>
              <a:t>y,</a:t>
            </a:r>
            <a:r>
              <a:rPr dirty="0" sz="2800" spc="-55">
                <a:solidFill>
                  <a:srgbClr val="4E3629"/>
                </a:solidFill>
                <a:latin typeface="Calibri"/>
                <a:cs typeface="Calibri"/>
              </a:rPr>
              <a:t> </a:t>
            </a: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spc="-10">
                <a:solidFill>
                  <a:srgbClr val="4E3629"/>
                </a:solidFill>
                <a:latin typeface="Calibri"/>
                <a:cs typeface="Calibri"/>
              </a:rPr>
              <a:t>omite, </a:t>
            </a:r>
            <a:r>
              <a:rPr dirty="0" sz="2800" spc="-10">
                <a:solidFill>
                  <a:srgbClr val="4E3629"/>
                </a:solidFill>
                <a:latin typeface="Calibri"/>
                <a:cs typeface="Calibri"/>
              </a:rPr>
              <a:t>	</a:t>
            </a:r>
            <a:r>
              <a:rPr dirty="0" sz="2800">
                <a:solidFill>
                  <a:srgbClr val="4E3629"/>
                </a:solidFill>
                <a:latin typeface="Calibri"/>
                <a:cs typeface="Calibri"/>
              </a:rPr>
              <a:t>devuelve</a:t>
            </a:r>
            <a:r>
              <a:rPr dirty="0" sz="2800" spc="-55">
                <a:solidFill>
                  <a:srgbClr val="4E3629"/>
                </a:solidFill>
                <a:latin typeface="Calibri"/>
                <a:cs typeface="Calibri"/>
              </a:rPr>
              <a:t> </a:t>
            </a:r>
            <a:r>
              <a:rPr dirty="0" sz="2800">
                <a:solidFill>
                  <a:srgbClr val="4E3629"/>
                </a:solidFill>
                <a:latin typeface="Calibri"/>
                <a:cs typeface="Calibri"/>
              </a:rPr>
              <a:t>todos</a:t>
            </a:r>
            <a:r>
              <a:rPr dirty="0" sz="2800" spc="-5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spc="-10">
                <a:solidFill>
                  <a:srgbClr val="4E3629"/>
                </a:solidFill>
                <a:latin typeface="Calibri"/>
                <a:cs typeface="Calibri"/>
              </a:rPr>
              <a:t>caracteres</a:t>
            </a:r>
            <a:r>
              <a:rPr dirty="0" sz="2800" spc="-65">
                <a:solidFill>
                  <a:srgbClr val="4E3629"/>
                </a:solidFill>
                <a:latin typeface="Calibri"/>
                <a:cs typeface="Calibri"/>
              </a:rPr>
              <a:t> </a:t>
            </a:r>
            <a:r>
              <a:rPr dirty="0" sz="2800">
                <a:solidFill>
                  <a:srgbClr val="4E3629"/>
                </a:solidFill>
                <a:latin typeface="Calibri"/>
                <a:cs typeface="Calibri"/>
              </a:rPr>
              <a:t>al</a:t>
            </a:r>
            <a:r>
              <a:rPr dirty="0" sz="2800" spc="-65">
                <a:solidFill>
                  <a:srgbClr val="4E3629"/>
                </a:solidFill>
                <a:latin typeface="Calibri"/>
                <a:cs typeface="Calibri"/>
              </a:rPr>
              <a:t> </a:t>
            </a:r>
            <a:r>
              <a:rPr dirty="0" sz="2800">
                <a:solidFill>
                  <a:srgbClr val="4E3629"/>
                </a:solidFill>
                <a:latin typeface="Calibri"/>
                <a:cs typeface="Calibri"/>
              </a:rPr>
              <a:t>final</a:t>
            </a:r>
            <a:r>
              <a:rPr dirty="0" sz="2800" spc="-5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cadena</a:t>
            </a:r>
            <a:endParaRPr sz="2800">
              <a:latin typeface="Calibri"/>
              <a:cs typeface="Calibri"/>
            </a:endParaRPr>
          </a:p>
        </p:txBody>
      </p:sp>
      <p:graphicFrame>
        <p:nvGraphicFramePr>
          <p:cNvPr id="4" name="object 4"/>
          <p:cNvGraphicFramePr>
            <a:graphicFrameLocks noGrp="1"/>
          </p:cNvGraphicFramePr>
          <p:nvPr/>
        </p:nvGraphicFramePr>
        <p:xfrm>
          <a:off x="1954212" y="4086726"/>
          <a:ext cx="5891530" cy="2216785"/>
        </p:xfrm>
        <a:graphic>
          <a:graphicData uri="http://schemas.openxmlformats.org/drawingml/2006/table">
            <a:tbl>
              <a:tblPr firstRow="1" bandRow="1">
                <a:tableStyleId>{2D5ABB26-0587-4C30-8999-92F81FD0307C}</a:tableStyleId>
              </a:tblPr>
              <a:tblGrid>
                <a:gridCol w="4299585"/>
                <a:gridCol w="1501775"/>
              </a:tblGrid>
              <a:tr h="334645">
                <a:tc>
                  <a:txBody>
                    <a:bodyPr/>
                    <a:lstStyle/>
                    <a:p>
                      <a:pPr marL="90805">
                        <a:lnSpc>
                          <a:spcPct val="100000"/>
                        </a:lnSpc>
                        <a:spcBef>
                          <a:spcPts val="270"/>
                        </a:spcBef>
                      </a:pPr>
                      <a:r>
                        <a:rPr dirty="0" sz="1600" spc="-10" b="1">
                          <a:solidFill>
                            <a:srgbClr val="4E3629"/>
                          </a:solidFill>
                          <a:latin typeface="Calibri"/>
                          <a:cs typeface="Calibri"/>
                        </a:rPr>
                        <a:t>Ejemplos:</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b="1">
                          <a:solidFill>
                            <a:srgbClr val="4E3629"/>
                          </a:solidFill>
                          <a:latin typeface="Calibri"/>
                          <a:cs typeface="Calibri"/>
                        </a:rPr>
                        <a:t>resultado</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0805" marR="148717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spc="-10">
                          <a:solidFill>
                            <a:srgbClr val="4E3629"/>
                          </a:solidFill>
                          <a:latin typeface="Calibri"/>
                          <a:cs typeface="Calibri"/>
                        </a:rPr>
                        <a:t>SUBSTR('HelloWorld',1,5)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59"/>
                        </a:spcBef>
                      </a:pPr>
                      <a:r>
                        <a:rPr dirty="0" sz="1600" spc="-10">
                          <a:solidFill>
                            <a:srgbClr val="4E3629"/>
                          </a:solidFill>
                          <a:latin typeface="Calibri"/>
                          <a:cs typeface="Calibri"/>
                        </a:rPr>
                        <a:t>Hello</a:t>
                      </a:r>
                      <a:endParaRPr sz="1600">
                        <a:latin typeface="Calibri"/>
                        <a:cs typeface="Calibri"/>
                      </a:endParaRPr>
                    </a:p>
                  </a:txBody>
                  <a:tcPr marL="0" marR="0" marB="0" marT="3301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0805" marR="1589405">
                        <a:lnSpc>
                          <a:spcPts val="2230"/>
                        </a:lnSpc>
                        <a:spcBef>
                          <a:spcPts val="75"/>
                        </a:spcBef>
                      </a:pPr>
                      <a:r>
                        <a:rPr dirty="0" sz="1600">
                          <a:solidFill>
                            <a:srgbClr val="4E3629"/>
                          </a:solidFill>
                          <a:latin typeface="Calibri"/>
                          <a:cs typeface="Calibri"/>
                        </a:rPr>
                        <a:t>SELECT</a:t>
                      </a:r>
                      <a:r>
                        <a:rPr dirty="0" sz="1600" spc="-20">
                          <a:solidFill>
                            <a:srgbClr val="4E3629"/>
                          </a:solidFill>
                          <a:latin typeface="Calibri"/>
                          <a:cs typeface="Calibri"/>
                        </a:rPr>
                        <a:t> </a:t>
                      </a:r>
                      <a:r>
                        <a:rPr dirty="0" sz="1600" spc="-10">
                          <a:solidFill>
                            <a:srgbClr val="4E3629"/>
                          </a:solidFill>
                          <a:latin typeface="Calibri"/>
                          <a:cs typeface="Calibri"/>
                        </a:rPr>
                        <a:t>SUBSTR('HelloWorld',</a:t>
                      </a:r>
                      <a:r>
                        <a:rPr dirty="0" sz="1600" spc="20">
                          <a:solidFill>
                            <a:srgbClr val="4E3629"/>
                          </a:solidFill>
                          <a:latin typeface="Calibri"/>
                          <a:cs typeface="Calibri"/>
                        </a:rPr>
                        <a:t> </a:t>
                      </a:r>
                      <a:r>
                        <a:rPr dirty="0" sz="1600" spc="-25">
                          <a:solidFill>
                            <a:srgbClr val="4E3629"/>
                          </a:solidFill>
                          <a:latin typeface="Calibri"/>
                          <a:cs typeface="Calibri"/>
                        </a:rPr>
                        <a:t>6)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a:solidFill>
                            <a:srgbClr val="4E3629"/>
                          </a:solidFill>
                          <a:latin typeface="Calibri"/>
                          <a:cs typeface="Calibri"/>
                        </a:rPr>
                        <a:t>Mundo</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0805" marR="165227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spc="-10">
                          <a:solidFill>
                            <a:srgbClr val="4E3629"/>
                          </a:solidFill>
                          <a:latin typeface="Calibri"/>
                          <a:cs typeface="Calibri"/>
                        </a:rPr>
                        <a:t>SUBSTR(last_name,1,3)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marR="1078230">
                        <a:lnSpc>
                          <a:spcPts val="2320"/>
                        </a:lnSpc>
                      </a:pPr>
                      <a:r>
                        <a:rPr dirty="0" sz="1600" spc="-25">
                          <a:solidFill>
                            <a:srgbClr val="4E3629"/>
                          </a:solidFill>
                          <a:latin typeface="Calibri"/>
                          <a:cs typeface="Calibri"/>
                        </a:rPr>
                        <a:t>Abe Dav</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17</a:t>
            </a:r>
            <a:endParaRPr sz="850">
              <a:latin typeface="Calibri"/>
              <a:cs typeface="Calibri"/>
            </a:endParaRPr>
          </a:p>
        </p:txBody>
      </p:sp>
      <p:sp>
        <p:nvSpPr>
          <p:cNvPr id="3" name="object 3"/>
          <p:cNvSpPr txBox="1"/>
          <p:nvPr/>
        </p:nvSpPr>
        <p:spPr>
          <a:xfrm>
            <a:off x="483552" y="1415417"/>
            <a:ext cx="7987665" cy="2090420"/>
          </a:xfrm>
          <a:prstGeom prst="rect">
            <a:avLst/>
          </a:prstGeom>
        </p:spPr>
        <p:txBody>
          <a:bodyPr wrap="square" lIns="0" tIns="59690" rIns="0" bIns="0" rtlCol="0" vert="horz">
            <a:spAutoFit/>
          </a:bodyPr>
          <a:lstStyle/>
          <a:p>
            <a:pPr marL="159385" marR="120650"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LENGTH:</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muestra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longitud</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cadena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como</a:t>
            </a:r>
            <a:r>
              <a:rPr dirty="0" u="heavy" sz="2800" spc="-5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numérico</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función</a:t>
            </a:r>
            <a:r>
              <a:rPr dirty="0" sz="2800" spc="-30">
                <a:solidFill>
                  <a:srgbClr val="4E3629"/>
                </a:solidFill>
                <a:latin typeface="Calibri"/>
                <a:cs typeface="Calibri"/>
              </a:rPr>
              <a:t> </a:t>
            </a:r>
            <a:r>
              <a:rPr dirty="0" sz="2800">
                <a:solidFill>
                  <a:srgbClr val="4E3629"/>
                </a:solidFill>
                <a:latin typeface="Calibri"/>
                <a:cs typeface="Calibri"/>
              </a:rPr>
              <a:t>toma</a:t>
            </a:r>
            <a:r>
              <a:rPr dirty="0" sz="2800" spc="-5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cadena</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caracteres</a:t>
            </a:r>
            <a:r>
              <a:rPr dirty="0" sz="2800" spc="-70">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spc="-10">
                <a:solidFill>
                  <a:srgbClr val="4E3629"/>
                </a:solidFill>
                <a:latin typeface="Calibri"/>
                <a:cs typeface="Calibri"/>
              </a:rPr>
              <a:t>argumento</a:t>
            </a:r>
            <a:r>
              <a:rPr dirty="0" sz="2800" spc="-55">
                <a:solidFill>
                  <a:srgbClr val="4E3629"/>
                </a:solidFill>
                <a:latin typeface="Calibri"/>
                <a:cs typeface="Calibri"/>
              </a:rPr>
              <a:t> </a:t>
            </a:r>
            <a:r>
              <a:rPr dirty="0" sz="2800">
                <a:solidFill>
                  <a:srgbClr val="4E3629"/>
                </a:solidFill>
                <a:latin typeface="Calibri"/>
                <a:cs typeface="Calibri"/>
              </a:rPr>
              <a:t>y</a:t>
            </a:r>
            <a:r>
              <a:rPr dirty="0" sz="2800" spc="-70">
                <a:solidFill>
                  <a:srgbClr val="4E3629"/>
                </a:solidFill>
                <a:latin typeface="Calibri"/>
                <a:cs typeface="Calibri"/>
              </a:rPr>
              <a:t> </a:t>
            </a:r>
            <a:r>
              <a:rPr dirty="0" sz="2800">
                <a:solidFill>
                  <a:srgbClr val="4E3629"/>
                </a:solidFill>
                <a:latin typeface="Calibri"/>
                <a:cs typeface="Calibri"/>
              </a:rPr>
              <a:t>devuelve</a:t>
            </a:r>
            <a:r>
              <a:rPr dirty="0" sz="2800" spc="-5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número</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caracteres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25">
                <a:solidFill>
                  <a:srgbClr val="4E3629"/>
                </a:solidFill>
                <a:latin typeface="Calibri"/>
                <a:cs typeface="Calibri"/>
              </a:rPr>
              <a:t>esa </a:t>
            </a:r>
            <a:r>
              <a:rPr dirty="0" sz="2800" spc="-25">
                <a:solidFill>
                  <a:srgbClr val="4E3629"/>
                </a:solidFill>
                <a:latin typeface="Calibri"/>
                <a:cs typeface="Calibri"/>
              </a:rPr>
              <a:t>	</a:t>
            </a:r>
            <a:r>
              <a:rPr dirty="0" sz="2800">
                <a:solidFill>
                  <a:srgbClr val="4E3629"/>
                </a:solidFill>
                <a:latin typeface="Calibri"/>
                <a:cs typeface="Calibri"/>
              </a:rPr>
              <a:t>cadena</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caracteres</a:t>
            </a:r>
            <a:endParaRPr sz="2800">
              <a:latin typeface="Calibri"/>
              <a:cs typeface="Calibri"/>
            </a:endParaRPr>
          </a:p>
        </p:txBody>
      </p:sp>
      <p:graphicFrame>
        <p:nvGraphicFramePr>
          <p:cNvPr id="4" name="object 4"/>
          <p:cNvGraphicFramePr>
            <a:graphicFrameLocks noGrp="1"/>
          </p:cNvGraphicFramePr>
          <p:nvPr/>
        </p:nvGraphicFramePr>
        <p:xfrm>
          <a:off x="1198562" y="3751326"/>
          <a:ext cx="6032500" cy="2046604"/>
        </p:xfrm>
        <a:graphic>
          <a:graphicData uri="http://schemas.openxmlformats.org/drawingml/2006/table">
            <a:tbl>
              <a:tblPr firstRow="1" bandRow="1">
                <a:tableStyleId>{2D5ABB26-0587-4C30-8999-92F81FD0307C}</a:tableStyleId>
              </a:tblPr>
              <a:tblGrid>
                <a:gridCol w="4072254"/>
                <a:gridCol w="1871979"/>
              </a:tblGrid>
              <a:tr h="39560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153289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spc="-10">
                          <a:solidFill>
                            <a:srgbClr val="4E3629"/>
                          </a:solidFill>
                          <a:latin typeface="Calibri"/>
                          <a:cs typeface="Calibri"/>
                        </a:rPr>
                        <a:t>LENGTH('HelloWorld')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25">
                          <a:solidFill>
                            <a:srgbClr val="4E3629"/>
                          </a:solidFill>
                          <a:latin typeface="Calibri"/>
                          <a:cs typeface="Calibri"/>
                        </a:rPr>
                        <a:t>10</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23619">
                <a:tc>
                  <a:txBody>
                    <a:bodyPr/>
                    <a:lstStyle/>
                    <a:p>
                      <a:pPr marL="91440" marR="169418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spc="-10">
                          <a:solidFill>
                            <a:srgbClr val="4E3629"/>
                          </a:solidFill>
                          <a:latin typeface="Calibri"/>
                          <a:cs typeface="Calibri"/>
                        </a:rPr>
                        <a:t>LENGTH(last_name)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1800" spc="-50">
                          <a:solidFill>
                            <a:srgbClr val="4E3629"/>
                          </a:solidFill>
                          <a:latin typeface="Calibri"/>
                          <a:cs typeface="Calibri"/>
                        </a:rPr>
                        <a:t>4</a:t>
                      </a:r>
                      <a:endParaRPr sz="1800">
                        <a:latin typeface="Calibri"/>
                        <a:cs typeface="Calibri"/>
                      </a:endParaRPr>
                    </a:p>
                    <a:p>
                      <a:pPr marL="91440">
                        <a:lnSpc>
                          <a:spcPct val="100000"/>
                        </a:lnSpc>
                        <a:spcBef>
                          <a:spcPts val="430"/>
                        </a:spcBef>
                      </a:pPr>
                      <a:r>
                        <a:rPr dirty="0" sz="1800" spc="-50">
                          <a:solidFill>
                            <a:srgbClr val="4E3629"/>
                          </a:solidFill>
                          <a:latin typeface="Calibri"/>
                          <a:cs typeface="Calibri"/>
                        </a:rPr>
                        <a:t>6</a:t>
                      </a:r>
                      <a:endParaRPr sz="1800">
                        <a:latin typeface="Calibri"/>
                        <a:cs typeface="Calibri"/>
                      </a:endParaRPr>
                    </a:p>
                    <a:p>
                      <a:pPr marL="91440">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p:cNvSpPr/>
          <p:nvPr/>
        </p:nvSpPr>
        <p:spPr>
          <a:xfrm>
            <a:off x="644499" y="2332595"/>
            <a:ext cx="7567295" cy="1152525"/>
          </a:xfrm>
          <a:custGeom>
            <a:avLst/>
            <a:gdLst/>
            <a:ahLst/>
            <a:cxnLst/>
            <a:rect l="l" t="t" r="r" b="b"/>
            <a:pathLst>
              <a:path w="7567295" h="1152525">
                <a:moveTo>
                  <a:pt x="3785870" y="962469"/>
                </a:moveTo>
                <a:lnTo>
                  <a:pt x="3780548" y="906221"/>
                </a:lnTo>
                <a:lnTo>
                  <a:pt x="3766108" y="854532"/>
                </a:lnTo>
                <a:lnTo>
                  <a:pt x="3744823" y="811961"/>
                </a:lnTo>
                <a:lnTo>
                  <a:pt x="3718979" y="783069"/>
                </a:lnTo>
                <a:lnTo>
                  <a:pt x="3690848" y="772426"/>
                </a:lnTo>
                <a:lnTo>
                  <a:pt x="118986" y="772426"/>
                </a:lnTo>
                <a:lnTo>
                  <a:pt x="65011" y="811961"/>
                </a:lnTo>
                <a:lnTo>
                  <a:pt x="43726" y="854532"/>
                </a:lnTo>
                <a:lnTo>
                  <a:pt x="29273" y="906221"/>
                </a:lnTo>
                <a:lnTo>
                  <a:pt x="23964" y="962469"/>
                </a:lnTo>
                <a:lnTo>
                  <a:pt x="29273" y="1018730"/>
                </a:lnTo>
                <a:lnTo>
                  <a:pt x="43726" y="1070419"/>
                </a:lnTo>
                <a:lnTo>
                  <a:pt x="65011" y="1112989"/>
                </a:lnTo>
                <a:lnTo>
                  <a:pt x="90855" y="1141882"/>
                </a:lnTo>
                <a:lnTo>
                  <a:pt x="118986" y="1152525"/>
                </a:lnTo>
                <a:lnTo>
                  <a:pt x="3690848" y="1152525"/>
                </a:lnTo>
                <a:lnTo>
                  <a:pt x="3744823" y="1112989"/>
                </a:lnTo>
                <a:lnTo>
                  <a:pt x="3766108" y="1070419"/>
                </a:lnTo>
                <a:lnTo>
                  <a:pt x="3780548" y="1018730"/>
                </a:lnTo>
                <a:lnTo>
                  <a:pt x="3785870" y="962469"/>
                </a:lnTo>
                <a:close/>
              </a:path>
              <a:path w="7567295" h="1152525">
                <a:moveTo>
                  <a:pt x="7146709" y="578269"/>
                </a:moveTo>
                <a:lnTo>
                  <a:pt x="7141388" y="522008"/>
                </a:lnTo>
                <a:lnTo>
                  <a:pt x="7126948" y="470319"/>
                </a:lnTo>
                <a:lnTo>
                  <a:pt x="7105663" y="427748"/>
                </a:lnTo>
                <a:lnTo>
                  <a:pt x="7079818" y="398856"/>
                </a:lnTo>
                <a:lnTo>
                  <a:pt x="7051688" y="388213"/>
                </a:lnTo>
                <a:lnTo>
                  <a:pt x="118986" y="388213"/>
                </a:lnTo>
                <a:lnTo>
                  <a:pt x="65011" y="427748"/>
                </a:lnTo>
                <a:lnTo>
                  <a:pt x="43726" y="470319"/>
                </a:lnTo>
                <a:lnTo>
                  <a:pt x="29273" y="522008"/>
                </a:lnTo>
                <a:lnTo>
                  <a:pt x="23964" y="578269"/>
                </a:lnTo>
                <a:lnTo>
                  <a:pt x="29273" y="634517"/>
                </a:lnTo>
                <a:lnTo>
                  <a:pt x="43726" y="686206"/>
                </a:lnTo>
                <a:lnTo>
                  <a:pt x="65011" y="728776"/>
                </a:lnTo>
                <a:lnTo>
                  <a:pt x="90855" y="757669"/>
                </a:lnTo>
                <a:lnTo>
                  <a:pt x="118986" y="768311"/>
                </a:lnTo>
                <a:lnTo>
                  <a:pt x="7051688" y="768311"/>
                </a:lnTo>
                <a:lnTo>
                  <a:pt x="7105663" y="728776"/>
                </a:lnTo>
                <a:lnTo>
                  <a:pt x="7126948" y="686206"/>
                </a:lnTo>
                <a:lnTo>
                  <a:pt x="7141388" y="634517"/>
                </a:lnTo>
                <a:lnTo>
                  <a:pt x="7146709" y="578269"/>
                </a:lnTo>
                <a:close/>
              </a:path>
              <a:path w="7567295" h="1152525">
                <a:moveTo>
                  <a:pt x="7566711" y="193878"/>
                </a:moveTo>
                <a:lnTo>
                  <a:pt x="7561288" y="136486"/>
                </a:lnTo>
                <a:lnTo>
                  <a:pt x="7546556" y="83756"/>
                </a:lnTo>
                <a:lnTo>
                  <a:pt x="7524839" y="40322"/>
                </a:lnTo>
                <a:lnTo>
                  <a:pt x="7498474" y="10858"/>
                </a:lnTo>
                <a:lnTo>
                  <a:pt x="7469772" y="0"/>
                </a:lnTo>
                <a:lnTo>
                  <a:pt x="96939" y="0"/>
                </a:lnTo>
                <a:lnTo>
                  <a:pt x="41871" y="40322"/>
                </a:lnTo>
                <a:lnTo>
                  <a:pt x="20154" y="83756"/>
                </a:lnTo>
                <a:lnTo>
                  <a:pt x="5422" y="136486"/>
                </a:lnTo>
                <a:lnTo>
                  <a:pt x="0" y="193878"/>
                </a:lnTo>
                <a:lnTo>
                  <a:pt x="5422" y="251269"/>
                </a:lnTo>
                <a:lnTo>
                  <a:pt x="20154" y="303999"/>
                </a:lnTo>
                <a:lnTo>
                  <a:pt x="41871" y="347433"/>
                </a:lnTo>
                <a:lnTo>
                  <a:pt x="68237" y="376897"/>
                </a:lnTo>
                <a:lnTo>
                  <a:pt x="96939" y="387756"/>
                </a:lnTo>
                <a:lnTo>
                  <a:pt x="7469772" y="387756"/>
                </a:lnTo>
                <a:lnTo>
                  <a:pt x="7524839" y="347433"/>
                </a:lnTo>
                <a:lnTo>
                  <a:pt x="7546556" y="303999"/>
                </a:lnTo>
                <a:lnTo>
                  <a:pt x="7561288" y="251269"/>
                </a:lnTo>
                <a:lnTo>
                  <a:pt x="7566711" y="193878"/>
                </a:lnTo>
                <a:close/>
              </a:path>
            </a:pathLst>
          </a:custGeom>
          <a:solidFill>
            <a:srgbClr val="FACD5A">
              <a:alpha val="75000"/>
            </a:srgbClr>
          </a:solidFill>
        </p:spPr>
        <p:txBody>
          <a:bodyPr wrap="square" lIns="0" tIns="0" rIns="0" bIns="0" rtlCol="0"/>
          <a:lstStyle/>
          <a:p/>
        </p:txBody>
      </p:sp>
      <p:pic>
        <p:nvPicPr>
          <p:cNvPr id="4" name="object 4"/>
          <p:cNvPicPr/>
          <p:nvPr/>
        </p:nvPicPr>
        <p:blipFill>
          <a:blip r:embed="rId2" cstate="print"/>
          <a:stretch>
            <a:fillRect/>
          </a:stretch>
        </p:blipFill>
        <p:spPr>
          <a:xfrm>
            <a:off x="0" y="0"/>
            <a:ext cx="9144000" cy="254507"/>
          </a:xfrm>
          <a:prstGeom prst="rect">
            <a:avLst/>
          </a:prstGeom>
        </p:spPr>
      </p:pic>
      <p:pic>
        <p:nvPicPr>
          <p:cNvPr id="5" name="object 5"/>
          <p:cNvPicPr/>
          <p:nvPr/>
        </p:nvPicPr>
        <p:blipFill>
          <a:blip r:embed="rId3" cstate="print"/>
          <a:stretch>
            <a:fillRect/>
          </a:stretch>
        </p:blipFill>
        <p:spPr>
          <a:xfrm>
            <a:off x="405384" y="6178295"/>
            <a:ext cx="1258824" cy="420624"/>
          </a:xfrm>
          <a:prstGeom prst="rect">
            <a:avLst/>
          </a:prstGeom>
        </p:spPr>
      </p:pic>
      <p:sp>
        <p:nvSpPr>
          <p:cNvPr id="6" name="object 6" descr="$PPTXTitle"/>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9" name="object 9"/>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1" name="object 11"/>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18</a:t>
            </a:r>
            <a:endParaRPr sz="850">
              <a:latin typeface="Calibri"/>
              <a:cs typeface="Calibri"/>
            </a:endParaRPr>
          </a:p>
        </p:txBody>
      </p:sp>
      <p:sp>
        <p:nvSpPr>
          <p:cNvPr id="7" name="object 7"/>
          <p:cNvSpPr txBox="1"/>
          <p:nvPr/>
        </p:nvSpPr>
        <p:spPr>
          <a:xfrm>
            <a:off x="483552" y="1415417"/>
            <a:ext cx="7740015" cy="2960370"/>
          </a:xfrm>
          <a:prstGeom prst="rect">
            <a:avLst/>
          </a:prstGeom>
        </p:spPr>
        <p:txBody>
          <a:bodyPr wrap="square" lIns="0" tIns="59690" rIns="0" bIns="0" rtlCol="0" vert="horz">
            <a:spAutoFit/>
          </a:bodyPr>
          <a:lstStyle/>
          <a:p>
            <a:pPr marL="182880" marR="107061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I</a:t>
            </a:r>
            <a:r>
              <a:rPr dirty="0" u="heavy" sz="2800">
                <a:solidFill>
                  <a:srgbClr val="4E3629"/>
                </a:solidFill>
                <a:uFill>
                  <a:solidFill>
                    <a:srgbClr val="EC2814"/>
                  </a:solidFill>
                </a:uFill>
                <a:latin typeface="Calibri"/>
                <a:cs typeface="Calibri"/>
              </a:rPr>
              <a:t>NSTR:</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encuentra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posición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numérica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8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los</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caracteres</a:t>
            </a:r>
            <a:r>
              <a:rPr dirty="0" u="heavy" sz="2800" spc="-114">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especificados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INSTR</a:t>
            </a:r>
            <a:r>
              <a:rPr dirty="0" sz="2800" spc="-60">
                <a:solidFill>
                  <a:srgbClr val="4E3629"/>
                </a:solidFill>
                <a:latin typeface="Calibri"/>
                <a:cs typeface="Calibri"/>
              </a:rPr>
              <a:t> </a:t>
            </a:r>
            <a:r>
              <a:rPr dirty="0" sz="2800">
                <a:solidFill>
                  <a:srgbClr val="4E3629"/>
                </a:solidFill>
                <a:latin typeface="Calibri"/>
                <a:cs typeface="Calibri"/>
              </a:rPr>
              <a:t>busca</a:t>
            </a:r>
            <a:r>
              <a:rPr dirty="0" sz="2800" spc="-4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primera</a:t>
            </a:r>
            <a:r>
              <a:rPr dirty="0" sz="2800" spc="-60">
                <a:solidFill>
                  <a:srgbClr val="4E3629"/>
                </a:solidFill>
                <a:latin typeface="Calibri"/>
                <a:cs typeface="Calibri"/>
              </a:rPr>
              <a:t> </a:t>
            </a:r>
            <a:r>
              <a:rPr dirty="0" sz="2800">
                <a:solidFill>
                  <a:srgbClr val="4E3629"/>
                </a:solidFill>
                <a:latin typeface="Calibri"/>
                <a:cs typeface="Calibri"/>
              </a:rPr>
              <a:t>incidencia</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subcadena </a:t>
            </a:r>
            <a:r>
              <a:rPr dirty="0" sz="2800" spc="-10">
                <a:solidFill>
                  <a:srgbClr val="4E3629"/>
                </a:solidFill>
                <a:latin typeface="Calibri"/>
                <a:cs typeface="Calibri"/>
              </a:rPr>
              <a:t>	</a:t>
            </a:r>
            <a:r>
              <a:rPr dirty="0" sz="2800">
                <a:solidFill>
                  <a:srgbClr val="4E3629"/>
                </a:solidFill>
                <a:latin typeface="Calibri"/>
                <a:cs typeface="Calibri"/>
              </a:rPr>
              <a:t>dentro</a:t>
            </a:r>
            <a:r>
              <a:rPr dirty="0" sz="2800" spc="-5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cadena</a:t>
            </a:r>
            <a:r>
              <a:rPr dirty="0" sz="2800" spc="-6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caracteres</a:t>
            </a:r>
            <a:r>
              <a:rPr dirty="0" sz="2800" spc="-90">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devuelve</a:t>
            </a:r>
            <a:r>
              <a:rPr dirty="0" sz="2800" spc="-6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posición</a:t>
            </a:r>
            <a:r>
              <a:rPr dirty="0" sz="2800" spc="-50">
                <a:solidFill>
                  <a:srgbClr val="4E3629"/>
                </a:solidFill>
                <a:latin typeface="Calibri"/>
                <a:cs typeface="Calibri"/>
              </a:rPr>
              <a:t> </a:t>
            </a:r>
            <a:r>
              <a:rPr dirty="0" sz="2800">
                <a:solidFill>
                  <a:srgbClr val="4E3629"/>
                </a:solidFill>
                <a:latin typeface="Calibri"/>
                <a:cs typeface="Calibri"/>
              </a:rPr>
              <a:t>como</a:t>
            </a:r>
            <a:r>
              <a:rPr dirty="0" sz="2800" spc="-80">
                <a:solidFill>
                  <a:srgbClr val="4E3629"/>
                </a:solidFill>
                <a:latin typeface="Calibri"/>
                <a:cs typeface="Calibri"/>
              </a:rPr>
              <a:t> </a:t>
            </a:r>
            <a:r>
              <a:rPr dirty="0" sz="2800">
                <a:solidFill>
                  <a:srgbClr val="4E3629"/>
                </a:solidFill>
                <a:latin typeface="Calibri"/>
                <a:cs typeface="Calibri"/>
              </a:rPr>
              <a:t>un</a:t>
            </a:r>
            <a:r>
              <a:rPr dirty="0" sz="2800" spc="-60">
                <a:solidFill>
                  <a:srgbClr val="4E3629"/>
                </a:solidFill>
                <a:latin typeface="Calibri"/>
                <a:cs typeface="Calibri"/>
              </a:rPr>
              <a:t> </a:t>
            </a:r>
            <a:r>
              <a:rPr dirty="0" sz="2800" spc="-10">
                <a:solidFill>
                  <a:srgbClr val="4E3629"/>
                </a:solidFill>
                <a:latin typeface="Calibri"/>
                <a:cs typeface="Calibri"/>
              </a:rPr>
              <a:t>número</a:t>
            </a:r>
            <a:endParaRPr sz="2800">
              <a:latin typeface="Calibri"/>
              <a:cs typeface="Calibri"/>
            </a:endParaRPr>
          </a:p>
          <a:p>
            <a:pPr marL="182880" marR="729615"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Si</a:t>
            </a:r>
            <a:r>
              <a:rPr dirty="0" sz="2800" spc="-60">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spc="-10">
                <a:solidFill>
                  <a:srgbClr val="4E3629"/>
                </a:solidFill>
                <a:latin typeface="Calibri"/>
                <a:cs typeface="Calibri"/>
              </a:rPr>
              <a:t>encuentra</a:t>
            </a:r>
            <a:r>
              <a:rPr dirty="0" sz="2800" spc="-3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subcadena,</a:t>
            </a:r>
            <a:r>
              <a:rPr dirty="0" sz="2800" spc="-3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devuelve</a:t>
            </a:r>
            <a:r>
              <a:rPr dirty="0" sz="2800" spc="-50">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número</a:t>
            </a:r>
            <a:r>
              <a:rPr dirty="0" sz="2800" spc="-114">
                <a:solidFill>
                  <a:srgbClr val="4E3629"/>
                </a:solidFill>
                <a:latin typeface="Calibri"/>
                <a:cs typeface="Calibri"/>
              </a:rPr>
              <a:t> </a:t>
            </a:r>
            <a:r>
              <a:rPr dirty="0" sz="2800" spc="-20">
                <a:solidFill>
                  <a:srgbClr val="4E3629"/>
                </a:solidFill>
                <a:latin typeface="Calibri"/>
                <a:cs typeface="Calibri"/>
              </a:rPr>
              <a:t>cero</a:t>
            </a:r>
            <a:endParaRPr sz="2800">
              <a:latin typeface="Calibri"/>
              <a:cs typeface="Calibri"/>
            </a:endParaRPr>
          </a:p>
        </p:txBody>
      </p:sp>
      <p:graphicFrame>
        <p:nvGraphicFramePr>
          <p:cNvPr id="8" name="object 8"/>
          <p:cNvGraphicFramePr>
            <a:graphicFrameLocks noGrp="1"/>
          </p:cNvGraphicFramePr>
          <p:nvPr/>
        </p:nvGraphicFramePr>
        <p:xfrm>
          <a:off x="1799371" y="4446716"/>
          <a:ext cx="7034530" cy="1912620"/>
        </p:xfrm>
        <a:graphic>
          <a:graphicData uri="http://schemas.openxmlformats.org/drawingml/2006/table">
            <a:tbl>
              <a:tblPr firstRow="1" bandRow="1">
                <a:tableStyleId>{2D5ABB26-0587-4C30-8999-92F81FD0307C}</a:tableStyleId>
              </a:tblPr>
              <a:tblGrid>
                <a:gridCol w="4983480"/>
                <a:gridCol w="1962150"/>
              </a:tblGrid>
              <a:tr h="36512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2259330">
                        <a:lnSpc>
                          <a:spcPts val="2230"/>
                        </a:lnSpc>
                        <a:spcBef>
                          <a:spcPts val="75"/>
                        </a:spcBef>
                      </a:pPr>
                      <a:r>
                        <a:rPr dirty="0" sz="1600">
                          <a:solidFill>
                            <a:srgbClr val="4E3629"/>
                          </a:solidFill>
                          <a:latin typeface="Calibri"/>
                          <a:cs typeface="Calibri"/>
                        </a:rPr>
                        <a:t>SELECT</a:t>
                      </a:r>
                      <a:r>
                        <a:rPr dirty="0" sz="1600" spc="-20">
                          <a:solidFill>
                            <a:srgbClr val="4E3629"/>
                          </a:solidFill>
                          <a:latin typeface="Calibri"/>
                          <a:cs typeface="Calibri"/>
                        </a:rPr>
                        <a:t> </a:t>
                      </a:r>
                      <a:r>
                        <a:rPr dirty="0" sz="1600" spc="-10">
                          <a:solidFill>
                            <a:srgbClr val="4E3629"/>
                          </a:solidFill>
                          <a:latin typeface="Calibri"/>
                          <a:cs typeface="Calibri"/>
                        </a:rPr>
                        <a:t>INSTR('HelloWorld',</a:t>
                      </a:r>
                      <a:r>
                        <a:rPr dirty="0" sz="1600">
                          <a:solidFill>
                            <a:srgbClr val="4E3629"/>
                          </a:solidFill>
                          <a:latin typeface="Calibri"/>
                          <a:cs typeface="Calibri"/>
                        </a:rPr>
                        <a:t> </a:t>
                      </a:r>
                      <a:r>
                        <a:rPr dirty="0" sz="1600" spc="-20">
                          <a:solidFill>
                            <a:srgbClr val="4E3629"/>
                          </a:solidFill>
                          <a:latin typeface="Calibri"/>
                          <a:cs typeface="Calibri"/>
                        </a:rPr>
                        <a:t>'W')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70"/>
                        </a:spcBef>
                      </a:pPr>
                      <a:r>
                        <a:rPr dirty="0" sz="1600" spc="-50">
                          <a:solidFill>
                            <a:srgbClr val="4E3629"/>
                          </a:solidFill>
                          <a:latin typeface="Calibri"/>
                          <a:cs typeface="Calibri"/>
                        </a:rPr>
                        <a:t>6</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920115">
                <a:tc>
                  <a:txBody>
                    <a:bodyPr/>
                    <a:lstStyle/>
                    <a:p>
                      <a:pPr marL="91440" marR="1553845">
                        <a:lnSpc>
                          <a:spcPts val="2230"/>
                        </a:lnSpc>
                        <a:spcBef>
                          <a:spcPts val="75"/>
                        </a:spcBef>
                      </a:pPr>
                      <a:r>
                        <a:rPr dirty="0" sz="1600">
                          <a:solidFill>
                            <a:srgbClr val="4E3629"/>
                          </a:solidFill>
                          <a:latin typeface="Calibri"/>
                          <a:cs typeface="Calibri"/>
                        </a:rPr>
                        <a:t>SELECT</a:t>
                      </a:r>
                      <a:r>
                        <a:rPr dirty="0" sz="1600" spc="-5">
                          <a:solidFill>
                            <a:srgbClr val="4E3629"/>
                          </a:solidFill>
                          <a:latin typeface="Calibri"/>
                          <a:cs typeface="Calibri"/>
                        </a:rPr>
                        <a:t> </a:t>
                      </a:r>
                      <a:r>
                        <a:rPr dirty="0" sz="1600">
                          <a:solidFill>
                            <a:srgbClr val="4E3629"/>
                          </a:solidFill>
                          <a:latin typeface="Calibri"/>
                          <a:cs typeface="Calibri"/>
                        </a:rPr>
                        <a:t>last_name,</a:t>
                      </a:r>
                      <a:r>
                        <a:rPr dirty="0" sz="1600" spc="-45">
                          <a:solidFill>
                            <a:srgbClr val="4E3629"/>
                          </a:solidFill>
                          <a:latin typeface="Calibri"/>
                          <a:cs typeface="Calibri"/>
                        </a:rPr>
                        <a:t> </a:t>
                      </a:r>
                      <a:r>
                        <a:rPr dirty="0" sz="1600" spc="-10">
                          <a:solidFill>
                            <a:srgbClr val="4E3629"/>
                          </a:solidFill>
                          <a:latin typeface="Calibri"/>
                          <a:cs typeface="Calibri"/>
                        </a:rPr>
                        <a:t>INSTR(last_name,</a:t>
                      </a:r>
                      <a:r>
                        <a:rPr dirty="0" sz="1600" spc="-20">
                          <a:solidFill>
                            <a:srgbClr val="4E3629"/>
                          </a:solidFill>
                          <a:latin typeface="Calibri"/>
                          <a:cs typeface="Calibri"/>
                        </a:rPr>
                        <a:t> 'a')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54"/>
                        </a:spcBef>
                      </a:pPr>
                      <a:r>
                        <a:rPr dirty="0" sz="1600">
                          <a:solidFill>
                            <a:srgbClr val="4E3629"/>
                          </a:solidFill>
                          <a:latin typeface="Calibri"/>
                          <a:cs typeface="Calibri"/>
                        </a:rPr>
                        <a:t>Abel</a:t>
                      </a:r>
                      <a:r>
                        <a:rPr dirty="0" sz="1600" spc="330">
                          <a:solidFill>
                            <a:srgbClr val="4E3629"/>
                          </a:solidFill>
                          <a:latin typeface="Calibri"/>
                          <a:cs typeface="Calibri"/>
                        </a:rPr>
                        <a:t> </a:t>
                      </a:r>
                      <a:r>
                        <a:rPr dirty="0" sz="1600" spc="-50">
                          <a:solidFill>
                            <a:srgbClr val="4E3629"/>
                          </a:solidFill>
                          <a:latin typeface="Calibri"/>
                          <a:cs typeface="Calibri"/>
                        </a:rPr>
                        <a:t>0</a:t>
                      </a:r>
                      <a:endParaRPr sz="1600">
                        <a:latin typeface="Calibri"/>
                        <a:cs typeface="Calibri"/>
                      </a:endParaRPr>
                    </a:p>
                    <a:p>
                      <a:pPr marL="90805">
                        <a:lnSpc>
                          <a:spcPct val="100000"/>
                        </a:lnSpc>
                        <a:spcBef>
                          <a:spcPts val="385"/>
                        </a:spcBef>
                      </a:pPr>
                      <a:r>
                        <a:rPr dirty="0" sz="1600">
                          <a:solidFill>
                            <a:srgbClr val="4E3629"/>
                          </a:solidFill>
                          <a:latin typeface="Calibri"/>
                          <a:cs typeface="Calibri"/>
                        </a:rPr>
                        <a:t>Davies</a:t>
                      </a:r>
                      <a:r>
                        <a:rPr dirty="0" sz="1600" spc="295">
                          <a:solidFill>
                            <a:srgbClr val="4E3629"/>
                          </a:solidFill>
                          <a:latin typeface="Calibri"/>
                          <a:cs typeface="Calibri"/>
                        </a:rPr>
                        <a:t> </a:t>
                      </a:r>
                      <a:r>
                        <a:rPr dirty="0" sz="1600" spc="-60">
                          <a:solidFill>
                            <a:srgbClr val="4E3629"/>
                          </a:solidFill>
                          <a:latin typeface="Calibri"/>
                          <a:cs typeface="Calibri"/>
                        </a:rPr>
                        <a:t>2</a:t>
                      </a:r>
                      <a:endParaRPr sz="1600">
                        <a:latin typeface="Calibri"/>
                        <a:cs typeface="Calibri"/>
                      </a:endParaRPr>
                    </a:p>
                    <a:p>
                      <a:pPr marL="90805">
                        <a:lnSpc>
                          <a:spcPct val="100000"/>
                        </a:lnSpc>
                        <a:spcBef>
                          <a:spcPts val="400"/>
                        </a:spcBef>
                      </a:pPr>
                      <a:r>
                        <a:rPr dirty="0" sz="1600" spc="-50">
                          <a:solidFill>
                            <a:srgbClr val="4E3629"/>
                          </a:solidFill>
                          <a:latin typeface="Calibri"/>
                          <a:cs typeface="Calibri"/>
                        </a:rPr>
                        <a:t>…</a:t>
                      </a:r>
                      <a:endParaRPr sz="1600">
                        <a:latin typeface="Calibri"/>
                        <a:cs typeface="Calibri"/>
                      </a:endParaRPr>
                    </a:p>
                  </a:txBody>
                  <a:tcPr marL="0" marR="0" marB="0" marT="32384">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19</a:t>
            </a:r>
            <a:endParaRPr sz="850">
              <a:latin typeface="Calibri"/>
              <a:cs typeface="Calibri"/>
            </a:endParaRPr>
          </a:p>
        </p:txBody>
      </p:sp>
      <p:sp>
        <p:nvSpPr>
          <p:cNvPr id="3" name="object 3"/>
          <p:cNvSpPr txBox="1"/>
          <p:nvPr/>
        </p:nvSpPr>
        <p:spPr>
          <a:xfrm>
            <a:off x="483552" y="1415417"/>
            <a:ext cx="7977505" cy="2474595"/>
          </a:xfrm>
          <a:prstGeom prst="rect">
            <a:avLst/>
          </a:prstGeom>
        </p:spPr>
        <p:txBody>
          <a:bodyPr wrap="square" lIns="0" tIns="59690" rIns="0" bIns="0" rtlCol="0" vert="horz">
            <a:spAutoFit/>
          </a:bodyPr>
          <a:lstStyle/>
          <a:p>
            <a:pPr algn="just" marL="159385" marR="667385"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spc="-55">
                <a:solidFill>
                  <a:srgbClr val="4E3629"/>
                </a:solidFill>
                <a:uFill>
                  <a:solidFill>
                    <a:srgbClr val="EC2814"/>
                  </a:solidFill>
                </a:uFill>
                <a:latin typeface="Calibri"/>
                <a:cs typeface="Calibri"/>
              </a:rPr>
              <a:t>LPAD:</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rellena</a:t>
            </a:r>
            <a:r>
              <a:rPr dirty="0" u="heavy" sz="2800" spc="1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parte</a:t>
            </a:r>
            <a:r>
              <a:rPr dirty="0" u="heavy" sz="280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izquierda</a:t>
            </a:r>
            <a:r>
              <a:rPr dirty="0" u="heavy" sz="2800" spc="3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una</a:t>
            </a:r>
            <a:r>
              <a:rPr dirty="0" u="heavy" sz="2800" spc="1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cadena</a:t>
            </a:r>
            <a:r>
              <a:rPr dirty="0" u="heavy" sz="2800" spc="1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sz="2800">
                <a:solidFill>
                  <a:srgbClr val="4E3629"/>
                </a:solidFill>
                <a:latin typeface="Calibri"/>
                <a:cs typeface="Calibri"/>
              </a:rPr>
              <a:t> </a:t>
            </a:r>
            <a:r>
              <a:rPr dirty="0" sz="2800">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caracteres,</a:t>
            </a:r>
            <a:r>
              <a:rPr dirty="0" u="heavy" sz="280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dando</a:t>
            </a:r>
            <a:r>
              <a:rPr dirty="0" u="heavy" sz="2800" spc="3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lugar</a:t>
            </a:r>
            <a:r>
              <a:rPr dirty="0" u="heavy" sz="2800" spc="-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un</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valor</a:t>
            </a:r>
            <a:r>
              <a:rPr dirty="0" u="heavy" sz="2800" spc="-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justificado</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sz="2800">
                <a:solidFill>
                  <a:srgbClr val="4E3629"/>
                </a:solidFill>
                <a:latin typeface="Calibri"/>
                <a:cs typeface="Calibri"/>
              </a:rPr>
              <a:t> </a:t>
            </a:r>
            <a:r>
              <a:rPr dirty="0" sz="2800">
                <a:solidFill>
                  <a:srgbClr val="4E3629"/>
                </a:solidFill>
                <a:latin typeface="Calibri"/>
                <a:cs typeface="Calibri"/>
              </a:rPr>
              <a:t>	</a:t>
            </a:r>
            <a:r>
              <a:rPr dirty="0" u="heavy" sz="2800" spc="-20">
                <a:solidFill>
                  <a:srgbClr val="4E3629"/>
                </a:solidFill>
                <a:uFill>
                  <a:solidFill>
                    <a:srgbClr val="EC2814"/>
                  </a:solidFill>
                </a:uFill>
                <a:latin typeface="Calibri"/>
                <a:cs typeface="Calibri"/>
              </a:rPr>
              <a:t>derecha</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spc="-35">
                <a:solidFill>
                  <a:srgbClr val="4E3629"/>
                </a:solidFill>
                <a:latin typeface="Calibri"/>
                <a:cs typeface="Calibri"/>
              </a:rPr>
              <a:t>LPAD</a:t>
            </a:r>
            <a:r>
              <a:rPr dirty="0" sz="2800" spc="-60">
                <a:solidFill>
                  <a:srgbClr val="4E3629"/>
                </a:solidFill>
                <a:latin typeface="Calibri"/>
                <a:cs typeface="Calibri"/>
              </a:rPr>
              <a:t> </a:t>
            </a:r>
            <a:r>
              <a:rPr dirty="0" sz="2800">
                <a:solidFill>
                  <a:srgbClr val="4E3629"/>
                </a:solidFill>
                <a:latin typeface="Calibri"/>
                <a:cs typeface="Calibri"/>
              </a:rPr>
              <a:t>necesita</a:t>
            </a:r>
            <a:r>
              <a:rPr dirty="0" sz="2800" spc="-60">
                <a:solidFill>
                  <a:srgbClr val="4E3629"/>
                </a:solidFill>
                <a:latin typeface="Calibri"/>
                <a:cs typeface="Calibri"/>
              </a:rPr>
              <a:t> </a:t>
            </a:r>
            <a:r>
              <a:rPr dirty="0" sz="2800">
                <a:solidFill>
                  <a:srgbClr val="4E3629"/>
                </a:solidFill>
                <a:latin typeface="Calibri"/>
                <a:cs typeface="Calibri"/>
              </a:rPr>
              <a:t>3</a:t>
            </a:r>
            <a:r>
              <a:rPr dirty="0" sz="2800" spc="-65">
                <a:solidFill>
                  <a:srgbClr val="4E3629"/>
                </a:solidFill>
                <a:latin typeface="Calibri"/>
                <a:cs typeface="Calibri"/>
              </a:rPr>
              <a:t> </a:t>
            </a:r>
            <a:r>
              <a:rPr dirty="0" sz="2800" spc="-10">
                <a:solidFill>
                  <a:srgbClr val="4E3629"/>
                </a:solidFill>
                <a:latin typeface="Calibri"/>
                <a:cs typeface="Calibri"/>
              </a:rPr>
              <a:t>argumentos:</a:t>
            </a:r>
            <a:r>
              <a:rPr dirty="0" sz="2800" spc="-7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cadena</a:t>
            </a:r>
            <a:r>
              <a:rPr dirty="0" sz="2800" spc="-7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caracteres,</a:t>
            </a:r>
            <a:r>
              <a:rPr dirty="0" sz="2800" spc="-70">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número</a:t>
            </a:r>
            <a:r>
              <a:rPr dirty="0" sz="2800" spc="-30">
                <a:solidFill>
                  <a:srgbClr val="4E3629"/>
                </a:solidFill>
                <a:latin typeface="Calibri"/>
                <a:cs typeface="Calibri"/>
              </a:rPr>
              <a:t> </a:t>
            </a:r>
            <a:r>
              <a:rPr dirty="0" sz="2800">
                <a:solidFill>
                  <a:srgbClr val="4E3629"/>
                </a:solidFill>
                <a:latin typeface="Calibri"/>
                <a:cs typeface="Calibri"/>
              </a:rPr>
              <a:t>total</a:t>
            </a:r>
            <a:r>
              <a:rPr dirty="0" sz="2800" spc="-7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caracteres</a:t>
            </a:r>
            <a:r>
              <a:rPr dirty="0" sz="2800" spc="-65">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spc="-10">
                <a:solidFill>
                  <a:srgbClr val="4E3629"/>
                </a:solidFill>
                <a:latin typeface="Calibri"/>
                <a:cs typeface="Calibri"/>
              </a:rPr>
              <a:t>cadena </a:t>
            </a:r>
            <a:r>
              <a:rPr dirty="0" sz="2800" spc="-10">
                <a:solidFill>
                  <a:srgbClr val="4E3629"/>
                </a:solidFill>
                <a:latin typeface="Calibri"/>
                <a:cs typeface="Calibri"/>
              </a:rPr>
              <a:t>	</a:t>
            </a:r>
            <a:r>
              <a:rPr dirty="0" sz="2800">
                <a:solidFill>
                  <a:srgbClr val="4E3629"/>
                </a:solidFill>
                <a:latin typeface="Calibri"/>
                <a:cs typeface="Calibri"/>
              </a:rPr>
              <a:t>rellena</a:t>
            </a:r>
            <a:r>
              <a:rPr dirty="0" sz="2800" spc="-35">
                <a:solidFill>
                  <a:srgbClr val="4E3629"/>
                </a:solidFill>
                <a:latin typeface="Calibri"/>
                <a:cs typeface="Calibri"/>
              </a:rPr>
              <a:t> </a:t>
            </a:r>
            <a:r>
              <a:rPr dirty="0" sz="2800">
                <a:solidFill>
                  <a:srgbClr val="4E3629"/>
                </a:solidFill>
                <a:latin typeface="Calibri"/>
                <a:cs typeface="Calibri"/>
              </a:rPr>
              <a:t>y</a:t>
            </a:r>
            <a:r>
              <a:rPr dirty="0" sz="2800" spc="-40">
                <a:solidFill>
                  <a:srgbClr val="4E3629"/>
                </a:solidFill>
                <a:latin typeface="Calibri"/>
                <a:cs typeface="Calibri"/>
              </a:rPr>
              <a:t> </a:t>
            </a:r>
            <a:r>
              <a:rPr dirty="0" sz="2800">
                <a:solidFill>
                  <a:srgbClr val="4E3629"/>
                </a:solidFill>
                <a:latin typeface="Calibri"/>
                <a:cs typeface="Calibri"/>
              </a:rPr>
              <a:t>el</a:t>
            </a:r>
            <a:r>
              <a:rPr dirty="0" sz="2800" spc="-45">
                <a:solidFill>
                  <a:srgbClr val="4E3629"/>
                </a:solidFill>
                <a:latin typeface="Calibri"/>
                <a:cs typeface="Calibri"/>
              </a:rPr>
              <a:t> </a:t>
            </a:r>
            <a:r>
              <a:rPr dirty="0" sz="2800" spc="-10">
                <a:solidFill>
                  <a:srgbClr val="4E3629"/>
                </a:solidFill>
                <a:latin typeface="Calibri"/>
                <a:cs typeface="Calibri"/>
              </a:rPr>
              <a:t>carácter</a:t>
            </a:r>
            <a:r>
              <a:rPr dirty="0" sz="2800" spc="-50">
                <a:solidFill>
                  <a:srgbClr val="4E3629"/>
                </a:solidFill>
                <a:latin typeface="Calibri"/>
                <a:cs typeface="Calibri"/>
              </a:rPr>
              <a:t> </a:t>
            </a:r>
            <a:r>
              <a:rPr dirty="0" sz="2800">
                <a:solidFill>
                  <a:srgbClr val="4E3629"/>
                </a:solidFill>
                <a:latin typeface="Calibri"/>
                <a:cs typeface="Calibri"/>
              </a:rPr>
              <a:t>con</a:t>
            </a:r>
            <a:r>
              <a:rPr dirty="0" sz="2800" spc="-25">
                <a:solidFill>
                  <a:srgbClr val="4E3629"/>
                </a:solidFill>
                <a:latin typeface="Calibri"/>
                <a:cs typeface="Calibri"/>
              </a:rPr>
              <a:t> </a:t>
            </a:r>
            <a:r>
              <a:rPr dirty="0" sz="2800">
                <a:solidFill>
                  <a:srgbClr val="4E3629"/>
                </a:solidFill>
                <a:latin typeface="Calibri"/>
                <a:cs typeface="Calibri"/>
              </a:rPr>
              <a:t>el</a:t>
            </a:r>
            <a:r>
              <a:rPr dirty="0" sz="2800" spc="-50">
                <a:solidFill>
                  <a:srgbClr val="4E3629"/>
                </a:solidFill>
                <a:latin typeface="Calibri"/>
                <a:cs typeface="Calibri"/>
              </a:rPr>
              <a:t> </a:t>
            </a:r>
            <a:r>
              <a:rPr dirty="0" sz="2800">
                <a:solidFill>
                  <a:srgbClr val="4E3629"/>
                </a:solidFill>
                <a:latin typeface="Calibri"/>
                <a:cs typeface="Calibri"/>
              </a:rPr>
              <a:t>que</a:t>
            </a:r>
            <a:r>
              <a:rPr dirty="0" sz="2800" spc="-10">
                <a:solidFill>
                  <a:srgbClr val="4E3629"/>
                </a:solidFill>
                <a:latin typeface="Calibri"/>
                <a:cs typeface="Calibri"/>
              </a:rPr>
              <a:t> rellenarla</a:t>
            </a:r>
            <a:endParaRPr sz="2800">
              <a:latin typeface="Calibri"/>
              <a:cs typeface="Calibri"/>
            </a:endParaRPr>
          </a:p>
        </p:txBody>
      </p:sp>
      <p:graphicFrame>
        <p:nvGraphicFramePr>
          <p:cNvPr id="4" name="object 4"/>
          <p:cNvGraphicFramePr>
            <a:graphicFrameLocks noGrp="1"/>
          </p:cNvGraphicFramePr>
          <p:nvPr/>
        </p:nvGraphicFramePr>
        <p:xfrm>
          <a:off x="939800" y="4000573"/>
          <a:ext cx="7056120" cy="2016125"/>
        </p:xfrm>
        <a:graphic>
          <a:graphicData uri="http://schemas.openxmlformats.org/drawingml/2006/table">
            <a:tbl>
              <a:tblPr firstRow="1" bandRow="1">
                <a:tableStyleId>{2D5ABB26-0587-4C30-8999-92F81FD0307C}</a:tableStyleId>
              </a:tblPr>
              <a:tblGrid>
                <a:gridCol w="4421505"/>
                <a:gridCol w="2545079"/>
              </a:tblGrid>
              <a:tr h="36512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1623695">
                        <a:lnSpc>
                          <a:spcPts val="2230"/>
                        </a:lnSpc>
                        <a:spcBef>
                          <a:spcPts val="75"/>
                        </a:spcBef>
                      </a:pPr>
                      <a:r>
                        <a:rPr dirty="0" sz="1600">
                          <a:solidFill>
                            <a:srgbClr val="4E3629"/>
                          </a:solidFill>
                          <a:latin typeface="Calibri"/>
                          <a:cs typeface="Calibri"/>
                        </a:rPr>
                        <a:t>SELECT</a:t>
                      </a:r>
                      <a:r>
                        <a:rPr dirty="0" sz="1600" spc="-70">
                          <a:solidFill>
                            <a:srgbClr val="4E3629"/>
                          </a:solidFill>
                          <a:latin typeface="Calibri"/>
                          <a:cs typeface="Calibri"/>
                        </a:rPr>
                        <a:t> </a:t>
                      </a:r>
                      <a:r>
                        <a:rPr dirty="0" sz="1600" spc="-10">
                          <a:solidFill>
                            <a:srgbClr val="4E3629"/>
                          </a:solidFill>
                          <a:latin typeface="Calibri"/>
                          <a:cs typeface="Calibri"/>
                        </a:rPr>
                        <a:t>LPAD('HelloWorld',15,</a:t>
                      </a:r>
                      <a:r>
                        <a:rPr dirty="0" sz="1600" spc="-35">
                          <a:solidFill>
                            <a:srgbClr val="4E3629"/>
                          </a:solidFill>
                          <a:latin typeface="Calibri"/>
                          <a:cs typeface="Calibri"/>
                        </a:rPr>
                        <a:t> </a:t>
                      </a:r>
                      <a:r>
                        <a:rPr dirty="0" sz="1600" spc="-10">
                          <a:solidFill>
                            <a:srgbClr val="4E3629"/>
                          </a:solidFill>
                          <a:latin typeface="Calibri"/>
                          <a:cs typeface="Calibri"/>
                        </a:rPr>
                        <a:t>'-</a:t>
                      </a:r>
                      <a:r>
                        <a:rPr dirty="0" sz="1600" spc="-25">
                          <a:solidFill>
                            <a:srgbClr val="4E3629"/>
                          </a:solidFill>
                          <a:latin typeface="Calibri"/>
                          <a:cs typeface="Calibri"/>
                        </a:rPr>
                        <a:t>')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60"/>
                        </a:spcBef>
                      </a:pPr>
                      <a:r>
                        <a:rPr dirty="0" sz="1800">
                          <a:solidFill>
                            <a:srgbClr val="4E3629"/>
                          </a:solidFill>
                          <a:latin typeface="Calibri"/>
                          <a:cs typeface="Calibri"/>
                        </a:rPr>
                        <a:t>-----</a:t>
                      </a:r>
                      <a:r>
                        <a:rPr dirty="0" sz="1800" spc="-10">
                          <a:solidFill>
                            <a:srgbClr val="4E3629"/>
                          </a:solidFill>
                          <a:latin typeface="Calibri"/>
                          <a:cs typeface="Calibri"/>
                        </a:rPr>
                        <a:t>HelloWorld</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23619">
                <a:tc>
                  <a:txBody>
                    <a:bodyPr/>
                    <a:lstStyle/>
                    <a:p>
                      <a:pPr marL="91440" marR="1753870">
                        <a:lnSpc>
                          <a:spcPts val="2230"/>
                        </a:lnSpc>
                        <a:spcBef>
                          <a:spcPts val="75"/>
                        </a:spcBef>
                      </a:pPr>
                      <a:r>
                        <a:rPr dirty="0" sz="1600">
                          <a:solidFill>
                            <a:srgbClr val="4E3629"/>
                          </a:solidFill>
                          <a:latin typeface="Calibri"/>
                          <a:cs typeface="Calibri"/>
                        </a:rPr>
                        <a:t>SELECT</a:t>
                      </a:r>
                      <a:r>
                        <a:rPr dirty="0" sz="1600" spc="-55">
                          <a:solidFill>
                            <a:srgbClr val="4E3629"/>
                          </a:solidFill>
                          <a:latin typeface="Calibri"/>
                          <a:cs typeface="Calibri"/>
                        </a:rPr>
                        <a:t> </a:t>
                      </a:r>
                      <a:r>
                        <a:rPr dirty="0" sz="1600" spc="-10">
                          <a:solidFill>
                            <a:srgbClr val="4E3629"/>
                          </a:solidFill>
                          <a:latin typeface="Calibri"/>
                          <a:cs typeface="Calibri"/>
                        </a:rPr>
                        <a:t>LPAD(last_name,</a:t>
                      </a:r>
                      <a:r>
                        <a:rPr dirty="0" sz="1600" spc="-75">
                          <a:solidFill>
                            <a:srgbClr val="4E3629"/>
                          </a:solidFill>
                          <a:latin typeface="Calibri"/>
                          <a:cs typeface="Calibri"/>
                        </a:rPr>
                        <a:t> </a:t>
                      </a:r>
                      <a:r>
                        <a:rPr dirty="0" sz="1600" spc="-10">
                          <a:solidFill>
                            <a:srgbClr val="4E3629"/>
                          </a:solidFill>
                          <a:latin typeface="Calibri"/>
                          <a:cs typeface="Calibri"/>
                        </a:rPr>
                        <a:t>10,'*')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40"/>
                        </a:spcBef>
                      </a:pPr>
                      <a:r>
                        <a:rPr dirty="0" sz="1800" spc="-10">
                          <a:solidFill>
                            <a:srgbClr val="4E3629"/>
                          </a:solidFill>
                          <a:latin typeface="Calibri"/>
                          <a:cs typeface="Calibri"/>
                        </a:rPr>
                        <a:t>******Abel</a:t>
                      </a:r>
                      <a:endParaRPr sz="1800">
                        <a:latin typeface="Calibri"/>
                        <a:cs typeface="Calibri"/>
                      </a:endParaRPr>
                    </a:p>
                    <a:p>
                      <a:pPr marL="90805">
                        <a:lnSpc>
                          <a:spcPct val="100000"/>
                        </a:lnSpc>
                        <a:spcBef>
                          <a:spcPts val="430"/>
                        </a:spcBef>
                      </a:pPr>
                      <a:r>
                        <a:rPr dirty="0" sz="1800" spc="-10">
                          <a:solidFill>
                            <a:srgbClr val="4E3629"/>
                          </a:solidFill>
                          <a:latin typeface="Calibri"/>
                          <a:cs typeface="Calibri"/>
                        </a:rPr>
                        <a:t>****Davies</a:t>
                      </a:r>
                      <a:endParaRPr sz="1800">
                        <a:latin typeface="Calibri"/>
                        <a:cs typeface="Calibri"/>
                      </a:endParaRPr>
                    </a:p>
                    <a:p>
                      <a:pPr marL="90805">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20</a:t>
            </a:r>
            <a:endParaRPr sz="850">
              <a:latin typeface="Calibri"/>
              <a:cs typeface="Calibri"/>
            </a:endParaRPr>
          </a:p>
        </p:txBody>
      </p:sp>
      <p:sp>
        <p:nvSpPr>
          <p:cNvPr id="3" name="object 3"/>
          <p:cNvSpPr txBox="1"/>
          <p:nvPr/>
        </p:nvSpPr>
        <p:spPr>
          <a:xfrm>
            <a:off x="483552" y="1415417"/>
            <a:ext cx="7227570" cy="1220470"/>
          </a:xfrm>
          <a:prstGeom prst="rect">
            <a:avLst/>
          </a:prstGeom>
        </p:spPr>
        <p:txBody>
          <a:bodyPr wrap="square" lIns="0" tIns="59690" rIns="0" bIns="0" rtlCol="0" vert="horz">
            <a:spAutoFit/>
          </a:bodyPr>
          <a:lstStyle/>
          <a:p>
            <a:pPr algn="just"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spc="-60">
                <a:solidFill>
                  <a:srgbClr val="4E3629"/>
                </a:solidFill>
                <a:uFill>
                  <a:solidFill>
                    <a:srgbClr val="EC2814"/>
                  </a:solidFill>
                </a:uFill>
                <a:latin typeface="Calibri"/>
                <a:cs typeface="Calibri"/>
              </a:rPr>
              <a:t>RPAD:</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rellena</a:t>
            </a:r>
            <a:r>
              <a:rPr dirty="0" u="heavy" sz="2800" spc="2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parte</a:t>
            </a:r>
            <a:r>
              <a:rPr dirty="0" u="heavy" sz="280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derecha</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de</a:t>
            </a:r>
            <a:r>
              <a:rPr dirty="0" u="heavy" sz="2800" spc="1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una</a:t>
            </a:r>
            <a:r>
              <a:rPr dirty="0" u="heavy" sz="2800" spc="1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cadena</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de</a:t>
            </a:r>
            <a:r>
              <a:rPr dirty="0" sz="2800">
                <a:solidFill>
                  <a:srgbClr val="4E3629"/>
                </a:solidFill>
                <a:latin typeface="Calibri"/>
                <a:cs typeface="Calibri"/>
              </a:rPr>
              <a:t> </a:t>
            </a:r>
            <a:r>
              <a:rPr dirty="0" sz="2800">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caracteres,</a:t>
            </a:r>
            <a:r>
              <a:rPr dirty="0" u="heavy" sz="280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dando</a:t>
            </a:r>
            <a:r>
              <a:rPr dirty="0" u="heavy" sz="2800" spc="3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lugar</a:t>
            </a:r>
            <a:r>
              <a:rPr dirty="0" u="heavy" sz="2800" spc="-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un</a:t>
            </a:r>
            <a:r>
              <a:rPr dirty="0" u="heavy" sz="2800" spc="2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valor</a:t>
            </a:r>
            <a:r>
              <a:rPr dirty="0" u="heavy" sz="2800" spc="-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justificado</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l</a:t>
            </a:r>
            <a:r>
              <a:rPr dirty="0" u="heavy" sz="2800">
                <a:solidFill>
                  <a:srgbClr val="4E3629"/>
                </a:solidFill>
                <a:uFill>
                  <a:solidFill>
                    <a:srgbClr val="EC2814"/>
                  </a:solidFill>
                </a:uFill>
                <a:latin typeface="Calibri"/>
                <a:cs typeface="Calibri"/>
              </a:rPr>
              <a:t>a</a:t>
            </a:r>
            <a:r>
              <a:rPr dirty="0" sz="2800">
                <a:solidFill>
                  <a:srgbClr val="4E3629"/>
                </a:solidFill>
                <a:latin typeface="Calibri"/>
                <a:cs typeface="Calibri"/>
              </a:rPr>
              <a:t> </a:t>
            </a:r>
            <a:r>
              <a:rPr dirty="0" sz="2800">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izquierda</a:t>
            </a:r>
            <a:endParaRPr sz="2800">
              <a:latin typeface="Calibri"/>
              <a:cs typeface="Calibri"/>
            </a:endParaRPr>
          </a:p>
        </p:txBody>
      </p:sp>
      <p:graphicFrame>
        <p:nvGraphicFramePr>
          <p:cNvPr id="4" name="object 4"/>
          <p:cNvGraphicFramePr>
            <a:graphicFrameLocks noGrp="1"/>
          </p:cNvGraphicFramePr>
          <p:nvPr/>
        </p:nvGraphicFramePr>
        <p:xfrm>
          <a:off x="898526" y="3127375"/>
          <a:ext cx="7197725" cy="2046604"/>
        </p:xfrm>
        <a:graphic>
          <a:graphicData uri="http://schemas.openxmlformats.org/drawingml/2006/table">
            <a:tbl>
              <a:tblPr firstRow="1" bandRow="1">
                <a:tableStyleId>{2D5ABB26-0587-4C30-8999-92F81FD0307C}</a:tableStyleId>
              </a:tblPr>
              <a:tblGrid>
                <a:gridCol w="4695825"/>
                <a:gridCol w="2413000"/>
              </a:tblGrid>
              <a:tr h="39560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1873250">
                        <a:lnSpc>
                          <a:spcPts val="2230"/>
                        </a:lnSpc>
                        <a:spcBef>
                          <a:spcPts val="75"/>
                        </a:spcBef>
                      </a:pPr>
                      <a:r>
                        <a:rPr dirty="0" sz="1600">
                          <a:solidFill>
                            <a:srgbClr val="4E3629"/>
                          </a:solidFill>
                          <a:latin typeface="Calibri"/>
                          <a:cs typeface="Calibri"/>
                        </a:rPr>
                        <a:t>SELECT</a:t>
                      </a:r>
                      <a:r>
                        <a:rPr dirty="0" sz="1600" spc="25">
                          <a:solidFill>
                            <a:srgbClr val="4E3629"/>
                          </a:solidFill>
                          <a:latin typeface="Calibri"/>
                          <a:cs typeface="Calibri"/>
                        </a:rPr>
                        <a:t> </a:t>
                      </a:r>
                      <a:r>
                        <a:rPr dirty="0" sz="1600" spc="-20">
                          <a:solidFill>
                            <a:srgbClr val="4E3629"/>
                          </a:solidFill>
                          <a:latin typeface="Calibri"/>
                          <a:cs typeface="Calibri"/>
                        </a:rPr>
                        <a:t>RPAD('HelloWorld',15,</a:t>
                      </a:r>
                      <a:r>
                        <a:rPr dirty="0" sz="1600" spc="60">
                          <a:solidFill>
                            <a:srgbClr val="4E3629"/>
                          </a:solidFill>
                          <a:latin typeface="Calibri"/>
                          <a:cs typeface="Calibri"/>
                        </a:rPr>
                        <a:t> </a:t>
                      </a:r>
                      <a:r>
                        <a:rPr dirty="0" sz="1600">
                          <a:solidFill>
                            <a:srgbClr val="4E3629"/>
                          </a:solidFill>
                          <a:latin typeface="Calibri"/>
                          <a:cs typeface="Calibri"/>
                        </a:rPr>
                        <a:t>'-</a:t>
                      </a:r>
                      <a:r>
                        <a:rPr dirty="0" sz="1600" spc="-25">
                          <a:solidFill>
                            <a:srgbClr val="4E3629"/>
                          </a:solidFill>
                          <a:latin typeface="Calibri"/>
                          <a:cs typeface="Calibri"/>
                        </a:rPr>
                        <a:t>')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60"/>
                        </a:spcBef>
                      </a:pPr>
                      <a:r>
                        <a:rPr dirty="0" sz="1800" spc="-25">
                          <a:solidFill>
                            <a:srgbClr val="4E3629"/>
                          </a:solidFill>
                          <a:latin typeface="Calibri"/>
                          <a:cs typeface="Calibri"/>
                        </a:rPr>
                        <a:t>HelloWorld-</a:t>
                      </a:r>
                      <a:r>
                        <a:rPr dirty="0" sz="1800">
                          <a:solidFill>
                            <a:srgbClr val="4E3629"/>
                          </a:solidFill>
                          <a:latin typeface="Calibri"/>
                          <a:cs typeface="Calibri"/>
                        </a:rPr>
                        <a:t>----</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23619">
                <a:tc>
                  <a:txBody>
                    <a:bodyPr/>
                    <a:lstStyle/>
                    <a:p>
                      <a:pPr marL="91440" marR="2002155">
                        <a:lnSpc>
                          <a:spcPts val="2230"/>
                        </a:lnSpc>
                        <a:spcBef>
                          <a:spcPts val="75"/>
                        </a:spcBef>
                      </a:pPr>
                      <a:r>
                        <a:rPr dirty="0" sz="1600">
                          <a:solidFill>
                            <a:srgbClr val="4E3629"/>
                          </a:solidFill>
                          <a:latin typeface="Calibri"/>
                          <a:cs typeface="Calibri"/>
                        </a:rPr>
                        <a:t>SELECT</a:t>
                      </a:r>
                      <a:r>
                        <a:rPr dirty="0" sz="1600" spc="15">
                          <a:solidFill>
                            <a:srgbClr val="4E3629"/>
                          </a:solidFill>
                          <a:latin typeface="Calibri"/>
                          <a:cs typeface="Calibri"/>
                        </a:rPr>
                        <a:t> </a:t>
                      </a:r>
                      <a:r>
                        <a:rPr dirty="0" sz="1600" spc="-20">
                          <a:solidFill>
                            <a:srgbClr val="4E3629"/>
                          </a:solidFill>
                          <a:latin typeface="Calibri"/>
                          <a:cs typeface="Calibri"/>
                        </a:rPr>
                        <a:t>RPAD(last_name,</a:t>
                      </a:r>
                      <a:r>
                        <a:rPr dirty="0" sz="1600" spc="5">
                          <a:solidFill>
                            <a:srgbClr val="4E3629"/>
                          </a:solidFill>
                          <a:latin typeface="Calibri"/>
                          <a:cs typeface="Calibri"/>
                        </a:rPr>
                        <a:t> </a:t>
                      </a:r>
                      <a:r>
                        <a:rPr dirty="0" sz="1600" spc="-10">
                          <a:solidFill>
                            <a:srgbClr val="4E3629"/>
                          </a:solidFill>
                          <a:latin typeface="Calibri"/>
                          <a:cs typeface="Calibri"/>
                        </a:rPr>
                        <a:t>10,'*') </a:t>
                      </a:r>
                      <a:r>
                        <a:rPr dirty="0" sz="1600">
                          <a:solidFill>
                            <a:srgbClr val="4E3629"/>
                          </a:solidFill>
                          <a:latin typeface="Calibri"/>
                          <a:cs typeface="Calibri"/>
                        </a:rPr>
                        <a:t>FROM</a:t>
                      </a:r>
                      <a:r>
                        <a:rPr dirty="0" sz="1600" spc="-60">
                          <a:solidFill>
                            <a:srgbClr val="4E3629"/>
                          </a:solidFill>
                          <a:latin typeface="Calibri"/>
                          <a:cs typeface="Calibri"/>
                        </a:rPr>
                        <a:t> </a:t>
                      </a:r>
                      <a:r>
                        <a:rPr dirty="0" sz="1600" spc="-10">
                          <a:solidFill>
                            <a:srgbClr val="4E3629"/>
                          </a:solidFill>
                          <a:latin typeface="Calibri"/>
                          <a:cs typeface="Calibri"/>
                        </a:rPr>
                        <a:t>employees;</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40"/>
                        </a:spcBef>
                      </a:pPr>
                      <a:r>
                        <a:rPr dirty="0" sz="1800" spc="-10">
                          <a:solidFill>
                            <a:srgbClr val="4E3629"/>
                          </a:solidFill>
                          <a:latin typeface="Calibri"/>
                          <a:cs typeface="Calibri"/>
                        </a:rPr>
                        <a:t>Abel******</a:t>
                      </a:r>
                      <a:endParaRPr sz="1800">
                        <a:latin typeface="Calibri"/>
                        <a:cs typeface="Calibri"/>
                      </a:endParaRPr>
                    </a:p>
                    <a:p>
                      <a:pPr marL="90805">
                        <a:lnSpc>
                          <a:spcPct val="100000"/>
                        </a:lnSpc>
                        <a:spcBef>
                          <a:spcPts val="430"/>
                        </a:spcBef>
                      </a:pPr>
                      <a:r>
                        <a:rPr dirty="0" sz="1800" spc="-10">
                          <a:solidFill>
                            <a:srgbClr val="4E3629"/>
                          </a:solidFill>
                          <a:latin typeface="Calibri"/>
                          <a:cs typeface="Calibri"/>
                        </a:rPr>
                        <a:t>Davies****</a:t>
                      </a:r>
                      <a:endParaRPr sz="1800">
                        <a:latin typeface="Calibri"/>
                        <a:cs typeface="Calibri"/>
                      </a:endParaRPr>
                    </a:p>
                    <a:p>
                      <a:pPr marL="90805">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5" name="object 5"/>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21</a:t>
            </a:r>
            <a:endParaRPr sz="850">
              <a:latin typeface="Calibri"/>
              <a:cs typeface="Calibri"/>
            </a:endParaRPr>
          </a:p>
        </p:txBody>
      </p:sp>
      <p:sp>
        <p:nvSpPr>
          <p:cNvPr id="3" name="object 3"/>
          <p:cNvSpPr txBox="1"/>
          <p:nvPr/>
        </p:nvSpPr>
        <p:spPr>
          <a:xfrm>
            <a:off x="483552" y="1415417"/>
            <a:ext cx="7907020" cy="132207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TRIM:</a:t>
            </a:r>
            <a:r>
              <a:rPr dirty="0" u="heavy" sz="2800" spc="-10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elimina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todos</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8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r>
              <a:rPr dirty="0" u="heavy" sz="2800" spc="-10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especificados,</a:t>
            </a:r>
            <a:r>
              <a:rPr dirty="0" u="heavy" sz="2800" spc="-7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ya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sea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principio,</a:t>
            </a:r>
            <a:r>
              <a:rPr dirty="0" u="heavy" sz="2800" spc="-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final,</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ambos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3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cadena</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sintaxis</a:t>
            </a:r>
            <a:r>
              <a:rPr dirty="0" sz="2800" spc="-2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función</a:t>
            </a:r>
            <a:r>
              <a:rPr dirty="0" sz="2800" spc="-25">
                <a:solidFill>
                  <a:srgbClr val="4E3629"/>
                </a:solidFill>
                <a:latin typeface="Calibri"/>
                <a:cs typeface="Calibri"/>
              </a:rPr>
              <a:t> </a:t>
            </a:r>
            <a:r>
              <a:rPr dirty="0" sz="2800">
                <a:solidFill>
                  <a:srgbClr val="4E3629"/>
                </a:solidFill>
                <a:latin typeface="Calibri"/>
                <a:cs typeface="Calibri"/>
              </a:rPr>
              <a:t>TRIM</a:t>
            </a:r>
            <a:r>
              <a:rPr dirty="0" sz="2800" spc="-60">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graphicFrame>
        <p:nvGraphicFramePr>
          <p:cNvPr id="4" name="object 4"/>
          <p:cNvGraphicFramePr>
            <a:graphicFrameLocks noGrp="1"/>
          </p:cNvGraphicFramePr>
          <p:nvPr/>
        </p:nvGraphicFramePr>
        <p:xfrm>
          <a:off x="712787" y="2937376"/>
          <a:ext cx="7164705" cy="2465070"/>
        </p:xfrm>
        <a:graphic>
          <a:graphicData uri="http://schemas.openxmlformats.org/drawingml/2006/table">
            <a:tbl>
              <a:tblPr firstRow="1" bandRow="1">
                <a:tableStyleId>{2D5ABB26-0587-4C30-8999-92F81FD0307C}</a:tableStyleId>
              </a:tblPr>
              <a:tblGrid>
                <a:gridCol w="5146040"/>
                <a:gridCol w="1930400"/>
              </a:tblGrid>
              <a:tr h="395605">
                <a:tc>
                  <a:txBody>
                    <a:bodyPr/>
                    <a:lstStyle/>
                    <a:p>
                      <a:pPr marL="91440">
                        <a:lnSpc>
                          <a:spcPct val="100000"/>
                        </a:lnSpc>
                        <a:spcBef>
                          <a:spcPts val="260"/>
                        </a:spcBef>
                      </a:pPr>
                      <a:r>
                        <a:rPr dirty="0" sz="1800" spc="-10" b="1">
                          <a:solidFill>
                            <a:srgbClr val="4E3629"/>
                          </a:solidFill>
                          <a:latin typeface="Calibri"/>
                          <a:cs typeface="Calibri"/>
                        </a:rPr>
                        <a:t>Ejemplos:</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b="1">
                          <a:solidFill>
                            <a:srgbClr val="4E3629"/>
                          </a:solidFill>
                          <a:latin typeface="Calibri"/>
                          <a:cs typeface="Calibri"/>
                        </a:rPr>
                        <a:t>resultado</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747395">
                <a:tc>
                  <a:txBody>
                    <a:bodyPr/>
                    <a:lstStyle/>
                    <a:p>
                      <a:pPr marL="91440" marR="1705610">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a:solidFill>
                            <a:srgbClr val="4E3629"/>
                          </a:solidFill>
                          <a:latin typeface="Calibri"/>
                          <a:cs typeface="Calibri"/>
                        </a:rPr>
                        <a:t>TRIM(LEADING</a:t>
                      </a:r>
                      <a:r>
                        <a:rPr dirty="0" sz="1600" spc="-45">
                          <a:solidFill>
                            <a:srgbClr val="4E3629"/>
                          </a:solidFill>
                          <a:latin typeface="Calibri"/>
                          <a:cs typeface="Calibri"/>
                        </a:rPr>
                        <a:t> </a:t>
                      </a:r>
                      <a:r>
                        <a:rPr dirty="0" sz="1600">
                          <a:solidFill>
                            <a:srgbClr val="4E3629"/>
                          </a:solidFill>
                          <a:latin typeface="Calibri"/>
                          <a:cs typeface="Calibri"/>
                        </a:rPr>
                        <a:t>'a'</a:t>
                      </a:r>
                      <a:r>
                        <a:rPr dirty="0" sz="1600" spc="-60">
                          <a:solidFill>
                            <a:srgbClr val="4E3629"/>
                          </a:solidFill>
                          <a:latin typeface="Calibri"/>
                          <a:cs typeface="Calibri"/>
                        </a:rPr>
                        <a:t> </a:t>
                      </a:r>
                      <a:r>
                        <a:rPr dirty="0" sz="1600">
                          <a:solidFill>
                            <a:srgbClr val="4E3629"/>
                          </a:solidFill>
                          <a:latin typeface="Calibri"/>
                          <a:cs typeface="Calibri"/>
                        </a:rPr>
                        <a:t>FROM</a:t>
                      </a:r>
                      <a:r>
                        <a:rPr dirty="0" sz="1600" spc="-45">
                          <a:solidFill>
                            <a:srgbClr val="4E3629"/>
                          </a:solidFill>
                          <a:latin typeface="Calibri"/>
                          <a:cs typeface="Calibri"/>
                        </a:rPr>
                        <a:t> </a:t>
                      </a:r>
                      <a:r>
                        <a:rPr dirty="0" sz="1600" spc="-10">
                          <a:solidFill>
                            <a:srgbClr val="4E3629"/>
                          </a:solidFill>
                          <a:latin typeface="Calibri"/>
                          <a:cs typeface="Calibri"/>
                        </a:rPr>
                        <a:t>'abcba')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1800" spc="-20">
                          <a:solidFill>
                            <a:srgbClr val="4E3629"/>
                          </a:solidFill>
                          <a:latin typeface="Calibri"/>
                          <a:cs typeface="Calibri"/>
                        </a:rPr>
                        <a:t>bcba</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27380">
                <a:tc>
                  <a:txBody>
                    <a:bodyPr/>
                    <a:lstStyle/>
                    <a:p>
                      <a:pPr marL="91440" marR="1666875">
                        <a:lnSpc>
                          <a:spcPts val="2230"/>
                        </a:lnSpc>
                        <a:spcBef>
                          <a:spcPts val="75"/>
                        </a:spcBef>
                      </a:pPr>
                      <a:r>
                        <a:rPr dirty="0" sz="1600">
                          <a:solidFill>
                            <a:srgbClr val="4E3629"/>
                          </a:solidFill>
                          <a:latin typeface="Calibri"/>
                          <a:cs typeface="Calibri"/>
                        </a:rPr>
                        <a:t>SELECT</a:t>
                      </a:r>
                      <a:r>
                        <a:rPr dirty="0" sz="1600" spc="-30">
                          <a:solidFill>
                            <a:srgbClr val="4E3629"/>
                          </a:solidFill>
                          <a:latin typeface="Calibri"/>
                          <a:cs typeface="Calibri"/>
                        </a:rPr>
                        <a:t> </a:t>
                      </a:r>
                      <a:r>
                        <a:rPr dirty="0" sz="1600">
                          <a:solidFill>
                            <a:srgbClr val="4E3629"/>
                          </a:solidFill>
                          <a:latin typeface="Calibri"/>
                          <a:cs typeface="Calibri"/>
                        </a:rPr>
                        <a:t>TRIM(TRAILING</a:t>
                      </a:r>
                      <a:r>
                        <a:rPr dirty="0" sz="1600" spc="-45">
                          <a:solidFill>
                            <a:srgbClr val="4E3629"/>
                          </a:solidFill>
                          <a:latin typeface="Calibri"/>
                          <a:cs typeface="Calibri"/>
                        </a:rPr>
                        <a:t> </a:t>
                      </a:r>
                      <a:r>
                        <a:rPr dirty="0" sz="1600">
                          <a:solidFill>
                            <a:srgbClr val="4E3629"/>
                          </a:solidFill>
                          <a:latin typeface="Calibri"/>
                          <a:cs typeface="Calibri"/>
                        </a:rPr>
                        <a:t>'a'</a:t>
                      </a:r>
                      <a:r>
                        <a:rPr dirty="0" sz="1600" spc="-50">
                          <a:solidFill>
                            <a:srgbClr val="4E3629"/>
                          </a:solidFill>
                          <a:latin typeface="Calibri"/>
                          <a:cs typeface="Calibri"/>
                        </a:rPr>
                        <a:t> </a:t>
                      </a:r>
                      <a:r>
                        <a:rPr dirty="0" sz="1600">
                          <a:solidFill>
                            <a:srgbClr val="4E3629"/>
                          </a:solidFill>
                          <a:latin typeface="Calibri"/>
                          <a:cs typeface="Calibri"/>
                        </a:rPr>
                        <a:t>FROM</a:t>
                      </a:r>
                      <a:r>
                        <a:rPr dirty="0" sz="1600" spc="-25">
                          <a:solidFill>
                            <a:srgbClr val="4E3629"/>
                          </a:solidFill>
                          <a:latin typeface="Calibri"/>
                          <a:cs typeface="Calibri"/>
                        </a:rPr>
                        <a:t> </a:t>
                      </a:r>
                      <a:r>
                        <a:rPr dirty="0" sz="1600" spc="-10">
                          <a:solidFill>
                            <a:srgbClr val="4E3629"/>
                          </a:solidFill>
                          <a:latin typeface="Calibri"/>
                          <a:cs typeface="Calibri"/>
                        </a:rPr>
                        <a:t>'abcba')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20">
                          <a:solidFill>
                            <a:srgbClr val="4E3629"/>
                          </a:solidFill>
                          <a:latin typeface="Calibri"/>
                          <a:cs typeface="Calibri"/>
                        </a:rPr>
                        <a:t>abcb</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94690">
                <a:tc>
                  <a:txBody>
                    <a:bodyPr/>
                    <a:lstStyle/>
                    <a:p>
                      <a:pPr marL="91440" marR="1976755">
                        <a:lnSpc>
                          <a:spcPts val="2230"/>
                        </a:lnSpc>
                        <a:spcBef>
                          <a:spcPts val="75"/>
                        </a:spcBef>
                      </a:pPr>
                      <a:r>
                        <a:rPr dirty="0" sz="1600">
                          <a:solidFill>
                            <a:srgbClr val="4E3629"/>
                          </a:solidFill>
                          <a:latin typeface="Calibri"/>
                          <a:cs typeface="Calibri"/>
                        </a:rPr>
                        <a:t>SELECT</a:t>
                      </a:r>
                      <a:r>
                        <a:rPr dirty="0" sz="1600" spc="-40">
                          <a:solidFill>
                            <a:srgbClr val="4E3629"/>
                          </a:solidFill>
                          <a:latin typeface="Calibri"/>
                          <a:cs typeface="Calibri"/>
                        </a:rPr>
                        <a:t> </a:t>
                      </a:r>
                      <a:r>
                        <a:rPr dirty="0" sz="1600">
                          <a:solidFill>
                            <a:srgbClr val="4E3629"/>
                          </a:solidFill>
                          <a:latin typeface="Calibri"/>
                          <a:cs typeface="Calibri"/>
                        </a:rPr>
                        <a:t>TRIM(BOTH</a:t>
                      </a:r>
                      <a:r>
                        <a:rPr dirty="0" sz="1600" spc="-40">
                          <a:solidFill>
                            <a:srgbClr val="4E3629"/>
                          </a:solidFill>
                          <a:latin typeface="Calibri"/>
                          <a:cs typeface="Calibri"/>
                        </a:rPr>
                        <a:t> </a:t>
                      </a:r>
                      <a:r>
                        <a:rPr dirty="0" sz="1600">
                          <a:solidFill>
                            <a:srgbClr val="4E3629"/>
                          </a:solidFill>
                          <a:latin typeface="Calibri"/>
                          <a:cs typeface="Calibri"/>
                        </a:rPr>
                        <a:t>'a'</a:t>
                      </a:r>
                      <a:r>
                        <a:rPr dirty="0" sz="1600" spc="-65">
                          <a:solidFill>
                            <a:srgbClr val="4E3629"/>
                          </a:solidFill>
                          <a:latin typeface="Calibri"/>
                          <a:cs typeface="Calibri"/>
                        </a:rPr>
                        <a:t> </a:t>
                      </a:r>
                      <a:r>
                        <a:rPr dirty="0" sz="1600">
                          <a:solidFill>
                            <a:srgbClr val="4E3629"/>
                          </a:solidFill>
                          <a:latin typeface="Calibri"/>
                          <a:cs typeface="Calibri"/>
                        </a:rPr>
                        <a:t>FROM</a:t>
                      </a:r>
                      <a:r>
                        <a:rPr dirty="0" sz="1600" spc="-45">
                          <a:solidFill>
                            <a:srgbClr val="4E3629"/>
                          </a:solidFill>
                          <a:latin typeface="Calibri"/>
                          <a:cs typeface="Calibri"/>
                        </a:rPr>
                        <a:t> </a:t>
                      </a:r>
                      <a:r>
                        <a:rPr dirty="0" sz="1600" spc="-10">
                          <a:solidFill>
                            <a:srgbClr val="4E3629"/>
                          </a:solidFill>
                          <a:latin typeface="Calibri"/>
                          <a:cs typeface="Calibri"/>
                        </a:rPr>
                        <a:t>'abcba') </a:t>
                      </a:r>
                      <a:r>
                        <a:rPr dirty="0" sz="1600">
                          <a:solidFill>
                            <a:srgbClr val="4E3629"/>
                          </a:solidFill>
                          <a:latin typeface="Calibri"/>
                          <a:cs typeface="Calibri"/>
                        </a:rPr>
                        <a:t>FROM</a:t>
                      </a:r>
                      <a:r>
                        <a:rPr dirty="0" sz="1600" spc="-50">
                          <a:solidFill>
                            <a:srgbClr val="4E3629"/>
                          </a:solidFill>
                          <a:latin typeface="Calibri"/>
                          <a:cs typeface="Calibri"/>
                        </a:rPr>
                        <a:t> </a:t>
                      </a:r>
                      <a:r>
                        <a:rPr dirty="0" sz="1600" spc="-20">
                          <a:solidFill>
                            <a:srgbClr val="4E3629"/>
                          </a:solidFill>
                          <a:latin typeface="Calibri"/>
                          <a:cs typeface="Calibri"/>
                        </a:rPr>
                        <a:t>DUAL;</a:t>
                      </a:r>
                      <a:endParaRPr sz="1600">
                        <a:latin typeface="Calibri"/>
                        <a:cs typeface="Calibri"/>
                      </a:endParaRPr>
                    </a:p>
                  </a:txBody>
                  <a:tcPr marL="0" marR="0" marB="0" marT="95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1800" spc="-25">
                          <a:solidFill>
                            <a:srgbClr val="4E3629"/>
                          </a:solidFill>
                          <a:latin typeface="Calibri"/>
                          <a:cs typeface="Calibri"/>
                        </a:rPr>
                        <a:t>bcb</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p:cNvSpPr/>
          <p:nvPr/>
        </p:nvSpPr>
        <p:spPr>
          <a:xfrm>
            <a:off x="1002665" y="4126458"/>
            <a:ext cx="7477125" cy="655955"/>
          </a:xfrm>
          <a:custGeom>
            <a:avLst/>
            <a:gdLst/>
            <a:ahLst/>
            <a:cxnLst/>
            <a:rect l="l" t="t" r="r" b="b"/>
            <a:pathLst>
              <a:path w="7477125" h="655954">
                <a:moveTo>
                  <a:pt x="864273" y="492315"/>
                </a:moveTo>
                <a:lnTo>
                  <a:pt x="857262" y="432409"/>
                </a:lnTo>
                <a:lnTo>
                  <a:pt x="838784" y="380161"/>
                </a:lnTo>
                <a:lnTo>
                  <a:pt x="812647" y="343204"/>
                </a:lnTo>
                <a:lnTo>
                  <a:pt x="782701" y="329184"/>
                </a:lnTo>
                <a:lnTo>
                  <a:pt x="93306" y="329184"/>
                </a:lnTo>
                <a:lnTo>
                  <a:pt x="63360" y="343204"/>
                </a:lnTo>
                <a:lnTo>
                  <a:pt x="37223" y="380161"/>
                </a:lnTo>
                <a:lnTo>
                  <a:pt x="18745" y="432409"/>
                </a:lnTo>
                <a:lnTo>
                  <a:pt x="11734" y="492315"/>
                </a:lnTo>
                <a:lnTo>
                  <a:pt x="18745" y="552208"/>
                </a:lnTo>
                <a:lnTo>
                  <a:pt x="37223" y="604469"/>
                </a:lnTo>
                <a:lnTo>
                  <a:pt x="63360" y="641426"/>
                </a:lnTo>
                <a:lnTo>
                  <a:pt x="93306" y="655447"/>
                </a:lnTo>
                <a:lnTo>
                  <a:pt x="782701" y="655447"/>
                </a:lnTo>
                <a:lnTo>
                  <a:pt x="812647" y="641426"/>
                </a:lnTo>
                <a:lnTo>
                  <a:pt x="838784" y="604469"/>
                </a:lnTo>
                <a:lnTo>
                  <a:pt x="857262" y="552208"/>
                </a:lnTo>
                <a:lnTo>
                  <a:pt x="864273" y="492315"/>
                </a:lnTo>
                <a:close/>
              </a:path>
              <a:path w="7477125" h="655954">
                <a:moveTo>
                  <a:pt x="7477112" y="163131"/>
                </a:moveTo>
                <a:lnTo>
                  <a:pt x="7470102" y="103225"/>
                </a:lnTo>
                <a:lnTo>
                  <a:pt x="7451623" y="50977"/>
                </a:lnTo>
                <a:lnTo>
                  <a:pt x="7425499" y="14020"/>
                </a:lnTo>
                <a:lnTo>
                  <a:pt x="7395553" y="0"/>
                </a:lnTo>
                <a:lnTo>
                  <a:pt x="81572" y="0"/>
                </a:lnTo>
                <a:lnTo>
                  <a:pt x="51625" y="14020"/>
                </a:lnTo>
                <a:lnTo>
                  <a:pt x="25488" y="50977"/>
                </a:lnTo>
                <a:lnTo>
                  <a:pt x="7010" y="103225"/>
                </a:lnTo>
                <a:lnTo>
                  <a:pt x="0" y="163131"/>
                </a:lnTo>
                <a:lnTo>
                  <a:pt x="7010" y="223024"/>
                </a:lnTo>
                <a:lnTo>
                  <a:pt x="25488" y="275285"/>
                </a:lnTo>
                <a:lnTo>
                  <a:pt x="51625" y="312242"/>
                </a:lnTo>
                <a:lnTo>
                  <a:pt x="81572" y="326263"/>
                </a:lnTo>
                <a:lnTo>
                  <a:pt x="7395553" y="326263"/>
                </a:lnTo>
                <a:lnTo>
                  <a:pt x="7425499" y="312242"/>
                </a:lnTo>
                <a:lnTo>
                  <a:pt x="7451623" y="275285"/>
                </a:lnTo>
                <a:lnTo>
                  <a:pt x="7470102" y="223024"/>
                </a:lnTo>
                <a:lnTo>
                  <a:pt x="7477112" y="163131"/>
                </a:lnTo>
                <a:close/>
              </a:path>
            </a:pathLst>
          </a:custGeom>
          <a:solidFill>
            <a:srgbClr val="FB5C89">
              <a:alpha val="75000"/>
            </a:srgbClr>
          </a:solidFill>
        </p:spPr>
        <p:txBody>
          <a:bodyPr wrap="square" lIns="0" tIns="0" rIns="0" bIns="0" rtlCol="0"/>
          <a:lstStyle/>
          <a:p/>
        </p:txBody>
      </p:sp>
      <p:sp>
        <p:nvSpPr>
          <p:cNvPr id="4" name="object 4"/>
          <p:cNvSpPr/>
          <p:nvPr/>
        </p:nvSpPr>
        <p:spPr>
          <a:xfrm>
            <a:off x="1002677" y="3746975"/>
            <a:ext cx="7251065" cy="326390"/>
          </a:xfrm>
          <a:custGeom>
            <a:avLst/>
            <a:gdLst/>
            <a:ahLst/>
            <a:cxnLst/>
            <a:rect l="l" t="t" r="r" b="b"/>
            <a:pathLst>
              <a:path w="7251065" h="326389">
                <a:moveTo>
                  <a:pt x="7169475" y="0"/>
                </a:moveTo>
                <a:lnTo>
                  <a:pt x="81564" y="0"/>
                </a:lnTo>
                <a:lnTo>
                  <a:pt x="51615" y="14018"/>
                </a:lnTo>
                <a:lnTo>
                  <a:pt x="25488" y="50977"/>
                </a:lnTo>
                <a:lnTo>
                  <a:pt x="7009" y="103230"/>
                </a:lnTo>
                <a:lnTo>
                  <a:pt x="0" y="163128"/>
                </a:lnTo>
                <a:lnTo>
                  <a:pt x="7009" y="223027"/>
                </a:lnTo>
                <a:lnTo>
                  <a:pt x="25488" y="275280"/>
                </a:lnTo>
                <a:lnTo>
                  <a:pt x="51615" y="312239"/>
                </a:lnTo>
                <a:lnTo>
                  <a:pt x="81564" y="326257"/>
                </a:lnTo>
                <a:lnTo>
                  <a:pt x="7169475" y="326257"/>
                </a:lnTo>
                <a:lnTo>
                  <a:pt x="7199424" y="312239"/>
                </a:lnTo>
                <a:lnTo>
                  <a:pt x="7225550" y="275280"/>
                </a:lnTo>
                <a:lnTo>
                  <a:pt x="7244030" y="223027"/>
                </a:lnTo>
                <a:lnTo>
                  <a:pt x="7251039" y="163128"/>
                </a:lnTo>
                <a:lnTo>
                  <a:pt x="7244030" y="103230"/>
                </a:lnTo>
                <a:lnTo>
                  <a:pt x="7225550" y="50977"/>
                </a:lnTo>
                <a:lnTo>
                  <a:pt x="7199424" y="14018"/>
                </a:lnTo>
                <a:lnTo>
                  <a:pt x="7169475" y="0"/>
                </a:lnTo>
                <a:close/>
              </a:path>
            </a:pathLst>
          </a:custGeom>
          <a:solidFill>
            <a:srgbClr val="FACD5A">
              <a:alpha val="75000"/>
            </a:srgbClr>
          </a:solidFill>
        </p:spPr>
        <p:txBody>
          <a:bodyPr wrap="square" lIns="0" tIns="0" rIns="0" bIns="0" rtlCol="0"/>
          <a:lstStyle/>
          <a:p/>
        </p:txBody>
      </p:sp>
      <p:pic>
        <p:nvPicPr>
          <p:cNvPr id="5" name="object 5"/>
          <p:cNvPicPr/>
          <p:nvPr/>
        </p:nvPicPr>
        <p:blipFill>
          <a:blip r:embed="rId2" cstate="print"/>
          <a:stretch>
            <a:fillRect/>
          </a:stretch>
        </p:blipFill>
        <p:spPr>
          <a:xfrm>
            <a:off x="0" y="0"/>
            <a:ext cx="9144000" cy="254507"/>
          </a:xfrm>
          <a:prstGeom prst="rect">
            <a:avLst/>
          </a:prstGeom>
        </p:spPr>
      </p:pic>
      <p:pic>
        <p:nvPicPr>
          <p:cNvPr id="6" name="object 6"/>
          <p:cNvPicPr/>
          <p:nvPr/>
        </p:nvPicPr>
        <p:blipFill>
          <a:blip r:embed="rId3" cstate="print"/>
          <a:stretch>
            <a:fillRect/>
          </a:stretch>
        </p:blipFill>
        <p:spPr>
          <a:xfrm>
            <a:off x="405384" y="6178295"/>
            <a:ext cx="1258824" cy="420624"/>
          </a:xfrm>
          <a:prstGeom prst="rect">
            <a:avLst/>
          </a:prstGeom>
        </p:spPr>
      </p:pic>
      <p:sp>
        <p:nvSpPr>
          <p:cNvPr id="7" name="object 7" descr="$PPTXTitle"/>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11" name="object 11"/>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12" name="object 12"/>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22</a:t>
            </a:r>
          </a:p>
        </p:txBody>
      </p:sp>
      <p:sp>
        <p:nvSpPr>
          <p:cNvPr id="13" name="object 13"/>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p:cNvSpPr txBox="1"/>
          <p:nvPr/>
        </p:nvSpPr>
        <p:spPr>
          <a:xfrm>
            <a:off x="483552" y="1415417"/>
            <a:ext cx="8141334" cy="132207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REPLACE:</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sustituye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secuencia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7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cadena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por</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otro</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juego</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caracteres</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sintaxis</a:t>
            </a:r>
            <a:r>
              <a:rPr dirty="0" sz="2800" spc="-3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función</a:t>
            </a:r>
            <a:r>
              <a:rPr dirty="0" sz="2800" spc="-35">
                <a:solidFill>
                  <a:srgbClr val="4E3629"/>
                </a:solidFill>
                <a:latin typeface="Calibri"/>
                <a:cs typeface="Calibri"/>
              </a:rPr>
              <a:t> </a:t>
            </a:r>
            <a:r>
              <a:rPr dirty="0" sz="2800">
                <a:solidFill>
                  <a:srgbClr val="4E3629"/>
                </a:solidFill>
                <a:latin typeface="Calibri"/>
                <a:cs typeface="Calibri"/>
              </a:rPr>
              <a:t>REPLACE</a:t>
            </a:r>
            <a:r>
              <a:rPr dirty="0" sz="2800" spc="-65">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9" name="object 9"/>
          <p:cNvSpPr txBox="1"/>
          <p:nvPr/>
        </p:nvSpPr>
        <p:spPr>
          <a:xfrm>
            <a:off x="826452" y="3701417"/>
            <a:ext cx="7679055" cy="180848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D1350F"/>
                </a:solidFill>
                <a:latin typeface="Calibri"/>
                <a:cs typeface="Calibri"/>
              </a:rPr>
              <a:t>−</a:t>
            </a:r>
            <a:r>
              <a:rPr dirty="0" sz="2400">
                <a:solidFill>
                  <a:srgbClr val="4E3629"/>
                </a:solidFill>
                <a:latin typeface="Calibri"/>
                <a:cs typeface="Calibri"/>
              </a:rPr>
              <a:t>string1</a:t>
            </a:r>
            <a:r>
              <a:rPr dirty="0" sz="2400" spc="-50">
                <a:solidFill>
                  <a:srgbClr val="4E3629"/>
                </a:solidFill>
                <a:latin typeface="Calibri"/>
                <a:cs typeface="Calibri"/>
              </a:rPr>
              <a:t> </a:t>
            </a:r>
            <a:r>
              <a:rPr dirty="0" sz="2400">
                <a:solidFill>
                  <a:srgbClr val="4E3629"/>
                </a:solidFill>
                <a:latin typeface="Calibri"/>
                <a:cs typeface="Calibri"/>
              </a:rPr>
              <a:t>es</a:t>
            </a:r>
            <a:r>
              <a:rPr dirty="0" sz="2400" spc="-35">
                <a:solidFill>
                  <a:srgbClr val="4E3629"/>
                </a:solidFill>
                <a:latin typeface="Calibri"/>
                <a:cs typeface="Calibri"/>
              </a:rPr>
              <a:t> </a:t>
            </a:r>
            <a:r>
              <a:rPr dirty="0" sz="2400">
                <a:solidFill>
                  <a:srgbClr val="4E3629"/>
                </a:solidFill>
                <a:latin typeface="Calibri"/>
                <a:cs typeface="Calibri"/>
              </a:rPr>
              <a:t>la</a:t>
            </a:r>
            <a:r>
              <a:rPr dirty="0" sz="2400" spc="-40">
                <a:solidFill>
                  <a:srgbClr val="4E3629"/>
                </a:solidFill>
                <a:latin typeface="Calibri"/>
                <a:cs typeface="Calibri"/>
              </a:rPr>
              <a:t> </a:t>
            </a:r>
            <a:r>
              <a:rPr dirty="0" sz="2400">
                <a:solidFill>
                  <a:srgbClr val="4E3629"/>
                </a:solidFill>
                <a:latin typeface="Calibri"/>
                <a:cs typeface="Calibri"/>
              </a:rPr>
              <a:t>cadena</a:t>
            </a:r>
            <a:r>
              <a:rPr dirty="0" sz="2400" spc="-30">
                <a:solidFill>
                  <a:srgbClr val="4E3629"/>
                </a:solidFill>
                <a:latin typeface="Calibri"/>
                <a:cs typeface="Calibri"/>
              </a:rPr>
              <a:t> </a:t>
            </a:r>
            <a:r>
              <a:rPr dirty="0" sz="2400">
                <a:solidFill>
                  <a:srgbClr val="4E3629"/>
                </a:solidFill>
                <a:latin typeface="Calibri"/>
                <a:cs typeface="Calibri"/>
              </a:rPr>
              <a:t>que</a:t>
            </a:r>
            <a:r>
              <a:rPr dirty="0" sz="2400" spc="-30">
                <a:solidFill>
                  <a:srgbClr val="4E3629"/>
                </a:solidFill>
                <a:latin typeface="Calibri"/>
                <a:cs typeface="Calibri"/>
              </a:rPr>
              <a:t> </a:t>
            </a:r>
            <a:r>
              <a:rPr dirty="0" sz="2400">
                <a:solidFill>
                  <a:srgbClr val="4E3629"/>
                </a:solidFill>
                <a:latin typeface="Calibri"/>
                <a:cs typeface="Calibri"/>
              </a:rPr>
              <a:t>cuyos</a:t>
            </a:r>
            <a:r>
              <a:rPr dirty="0" sz="2400" spc="-45">
                <a:solidFill>
                  <a:srgbClr val="4E3629"/>
                </a:solidFill>
                <a:latin typeface="Calibri"/>
                <a:cs typeface="Calibri"/>
              </a:rPr>
              <a:t> </a:t>
            </a:r>
            <a:r>
              <a:rPr dirty="0" sz="2400" spc="-10">
                <a:solidFill>
                  <a:srgbClr val="4E3629"/>
                </a:solidFill>
                <a:latin typeface="Calibri"/>
                <a:cs typeface="Calibri"/>
              </a:rPr>
              <a:t>caracteres</a:t>
            </a:r>
            <a:r>
              <a:rPr dirty="0" sz="2400" spc="-55">
                <a:solidFill>
                  <a:srgbClr val="4E3629"/>
                </a:solidFill>
                <a:latin typeface="Calibri"/>
                <a:cs typeface="Calibri"/>
              </a:rPr>
              <a:t> </a:t>
            </a:r>
            <a:r>
              <a:rPr dirty="0" sz="2400">
                <a:solidFill>
                  <a:srgbClr val="4E3629"/>
                </a:solidFill>
                <a:latin typeface="Calibri"/>
                <a:cs typeface="Calibri"/>
              </a:rPr>
              <a:t>serán</a:t>
            </a:r>
            <a:r>
              <a:rPr dirty="0" sz="2400" spc="-30">
                <a:solidFill>
                  <a:srgbClr val="4E3629"/>
                </a:solidFill>
                <a:latin typeface="Calibri"/>
                <a:cs typeface="Calibri"/>
              </a:rPr>
              <a:t> </a:t>
            </a:r>
            <a:r>
              <a:rPr dirty="0" sz="2400" spc="-10">
                <a:solidFill>
                  <a:srgbClr val="4E3629"/>
                </a:solidFill>
                <a:latin typeface="Calibri"/>
                <a:cs typeface="Calibri"/>
              </a:rPr>
              <a:t>sustituidos</a:t>
            </a:r>
            <a:endParaRPr sz="2400">
              <a:latin typeface="Calibri"/>
              <a:cs typeface="Calibri"/>
            </a:endParaRPr>
          </a:p>
          <a:p>
            <a:pPr marL="187325" marR="15875" indent="-175260">
              <a:lnSpc>
                <a:spcPts val="2590"/>
              </a:lnSpc>
              <a:spcBef>
                <a:spcPts val="434"/>
              </a:spcBef>
            </a:pPr>
            <a:r>
              <a:rPr dirty="0" sz="2400">
                <a:solidFill>
                  <a:srgbClr val="D1350F"/>
                </a:solidFill>
                <a:latin typeface="Calibri"/>
                <a:cs typeface="Calibri"/>
              </a:rPr>
              <a:t>−</a:t>
            </a:r>
            <a:r>
              <a:rPr dirty="0" sz="2400">
                <a:solidFill>
                  <a:srgbClr val="4E3629"/>
                </a:solidFill>
                <a:latin typeface="Calibri"/>
                <a:cs typeface="Calibri"/>
              </a:rPr>
              <a:t>String_to_replace</a:t>
            </a:r>
            <a:r>
              <a:rPr dirty="0" sz="2400" spc="-60">
                <a:solidFill>
                  <a:srgbClr val="4E3629"/>
                </a:solidFill>
                <a:latin typeface="Calibri"/>
                <a:cs typeface="Calibri"/>
              </a:rPr>
              <a:t> </a:t>
            </a:r>
            <a:r>
              <a:rPr dirty="0" sz="2400">
                <a:solidFill>
                  <a:srgbClr val="4E3629"/>
                </a:solidFill>
                <a:latin typeface="Calibri"/>
                <a:cs typeface="Calibri"/>
              </a:rPr>
              <a:t>es</a:t>
            </a:r>
            <a:r>
              <a:rPr dirty="0" sz="2400" spc="-45">
                <a:solidFill>
                  <a:srgbClr val="4E3629"/>
                </a:solidFill>
                <a:latin typeface="Calibri"/>
                <a:cs typeface="Calibri"/>
              </a:rPr>
              <a:t> </a:t>
            </a:r>
            <a:r>
              <a:rPr dirty="0" sz="2400">
                <a:solidFill>
                  <a:srgbClr val="4E3629"/>
                </a:solidFill>
                <a:latin typeface="Calibri"/>
                <a:cs typeface="Calibri"/>
              </a:rPr>
              <a:t>la</a:t>
            </a:r>
            <a:r>
              <a:rPr dirty="0" sz="2400" spc="-50">
                <a:solidFill>
                  <a:srgbClr val="4E3629"/>
                </a:solidFill>
                <a:latin typeface="Calibri"/>
                <a:cs typeface="Calibri"/>
              </a:rPr>
              <a:t> </a:t>
            </a:r>
            <a:r>
              <a:rPr dirty="0" sz="2400">
                <a:solidFill>
                  <a:srgbClr val="4E3629"/>
                </a:solidFill>
                <a:latin typeface="Calibri"/>
                <a:cs typeface="Calibri"/>
              </a:rPr>
              <a:t>cadena</a:t>
            </a:r>
            <a:r>
              <a:rPr dirty="0" sz="2400" spc="-40">
                <a:solidFill>
                  <a:srgbClr val="4E3629"/>
                </a:solidFill>
                <a:latin typeface="Calibri"/>
                <a:cs typeface="Calibri"/>
              </a:rPr>
              <a:t> </a:t>
            </a:r>
            <a:r>
              <a:rPr dirty="0" sz="2400">
                <a:solidFill>
                  <a:srgbClr val="4E3629"/>
                </a:solidFill>
                <a:latin typeface="Calibri"/>
                <a:cs typeface="Calibri"/>
              </a:rPr>
              <a:t>que</a:t>
            </a:r>
            <a:r>
              <a:rPr dirty="0" sz="2400" spc="-40">
                <a:solidFill>
                  <a:srgbClr val="4E3629"/>
                </a:solidFill>
                <a:latin typeface="Calibri"/>
                <a:cs typeface="Calibri"/>
              </a:rPr>
              <a:t> </a:t>
            </a:r>
            <a:r>
              <a:rPr dirty="0" sz="2400">
                <a:solidFill>
                  <a:srgbClr val="4E3629"/>
                </a:solidFill>
                <a:latin typeface="Calibri"/>
                <a:cs typeface="Calibri"/>
              </a:rPr>
              <a:t>se</a:t>
            </a:r>
            <a:r>
              <a:rPr dirty="0" sz="2400" spc="-35">
                <a:solidFill>
                  <a:srgbClr val="4E3629"/>
                </a:solidFill>
                <a:latin typeface="Calibri"/>
                <a:cs typeface="Calibri"/>
              </a:rPr>
              <a:t> </a:t>
            </a:r>
            <a:r>
              <a:rPr dirty="0" sz="2400" spc="-10">
                <a:solidFill>
                  <a:srgbClr val="4E3629"/>
                </a:solidFill>
                <a:latin typeface="Calibri"/>
                <a:cs typeface="Calibri"/>
              </a:rPr>
              <a:t>buscará</a:t>
            </a:r>
            <a:r>
              <a:rPr dirty="0" sz="2400" spc="-40">
                <a:solidFill>
                  <a:srgbClr val="4E3629"/>
                </a:solidFill>
                <a:latin typeface="Calibri"/>
                <a:cs typeface="Calibri"/>
              </a:rPr>
              <a:t> </a:t>
            </a:r>
            <a:r>
              <a:rPr dirty="0" sz="2400">
                <a:solidFill>
                  <a:srgbClr val="4E3629"/>
                </a:solidFill>
                <a:latin typeface="Calibri"/>
                <a:cs typeface="Calibri"/>
              </a:rPr>
              <a:t>y</a:t>
            </a:r>
            <a:r>
              <a:rPr dirty="0" sz="2400" spc="-45">
                <a:solidFill>
                  <a:srgbClr val="4E3629"/>
                </a:solidFill>
                <a:latin typeface="Calibri"/>
                <a:cs typeface="Calibri"/>
              </a:rPr>
              <a:t> </a:t>
            </a:r>
            <a:r>
              <a:rPr dirty="0" sz="2400">
                <a:solidFill>
                  <a:srgbClr val="4E3629"/>
                </a:solidFill>
                <a:latin typeface="Calibri"/>
                <a:cs typeface="Calibri"/>
              </a:rPr>
              <a:t>se</a:t>
            </a:r>
            <a:r>
              <a:rPr dirty="0" sz="2400" spc="-35">
                <a:solidFill>
                  <a:srgbClr val="4E3629"/>
                </a:solidFill>
                <a:latin typeface="Calibri"/>
                <a:cs typeface="Calibri"/>
              </a:rPr>
              <a:t> </a:t>
            </a:r>
            <a:r>
              <a:rPr dirty="0" sz="2400">
                <a:solidFill>
                  <a:srgbClr val="4E3629"/>
                </a:solidFill>
                <a:latin typeface="Calibri"/>
                <a:cs typeface="Calibri"/>
              </a:rPr>
              <a:t>sacará</a:t>
            </a:r>
            <a:r>
              <a:rPr dirty="0" sz="2400" spc="-50">
                <a:solidFill>
                  <a:srgbClr val="4E3629"/>
                </a:solidFill>
                <a:latin typeface="Calibri"/>
                <a:cs typeface="Calibri"/>
              </a:rPr>
              <a:t> </a:t>
            </a:r>
            <a:r>
              <a:rPr dirty="0" sz="2400" spc="-25">
                <a:solidFill>
                  <a:srgbClr val="4E3629"/>
                </a:solidFill>
                <a:latin typeface="Calibri"/>
                <a:cs typeface="Calibri"/>
              </a:rPr>
              <a:t>de </a:t>
            </a:r>
            <a:r>
              <a:rPr dirty="0" sz="2400" spc="-10">
                <a:solidFill>
                  <a:srgbClr val="4E3629"/>
                </a:solidFill>
                <a:latin typeface="Calibri"/>
                <a:cs typeface="Calibri"/>
              </a:rPr>
              <a:t>string1</a:t>
            </a:r>
            <a:endParaRPr sz="2400">
              <a:latin typeface="Calibri"/>
              <a:cs typeface="Calibri"/>
            </a:endParaRPr>
          </a:p>
          <a:p>
            <a:pPr marL="187325" marR="5080"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[replacement_string]</a:t>
            </a:r>
            <a:r>
              <a:rPr dirty="0" sz="2400" spc="-65">
                <a:solidFill>
                  <a:srgbClr val="4E3629"/>
                </a:solidFill>
                <a:latin typeface="Calibri"/>
                <a:cs typeface="Calibri"/>
              </a:rPr>
              <a:t> </a:t>
            </a:r>
            <a:r>
              <a:rPr dirty="0" sz="2400">
                <a:solidFill>
                  <a:srgbClr val="4E3629"/>
                </a:solidFill>
                <a:latin typeface="Calibri"/>
                <a:cs typeface="Calibri"/>
              </a:rPr>
              <a:t>es</a:t>
            </a:r>
            <a:r>
              <a:rPr dirty="0" sz="2400" spc="-50">
                <a:solidFill>
                  <a:srgbClr val="4E3629"/>
                </a:solidFill>
                <a:latin typeface="Calibri"/>
                <a:cs typeface="Calibri"/>
              </a:rPr>
              <a:t> </a:t>
            </a:r>
            <a:r>
              <a:rPr dirty="0" sz="2400">
                <a:solidFill>
                  <a:srgbClr val="4E3629"/>
                </a:solidFill>
                <a:latin typeface="Calibri"/>
                <a:cs typeface="Calibri"/>
              </a:rPr>
              <a:t>la</a:t>
            </a:r>
            <a:r>
              <a:rPr dirty="0" sz="2400" spc="-55">
                <a:solidFill>
                  <a:srgbClr val="4E3629"/>
                </a:solidFill>
                <a:latin typeface="Calibri"/>
                <a:cs typeface="Calibri"/>
              </a:rPr>
              <a:t> </a:t>
            </a:r>
            <a:r>
              <a:rPr dirty="0" sz="2400">
                <a:solidFill>
                  <a:srgbClr val="4E3629"/>
                </a:solidFill>
                <a:latin typeface="Calibri"/>
                <a:cs typeface="Calibri"/>
              </a:rPr>
              <a:t>nueva</a:t>
            </a:r>
            <a:r>
              <a:rPr dirty="0" sz="2400" spc="-35">
                <a:solidFill>
                  <a:srgbClr val="4E3629"/>
                </a:solidFill>
                <a:latin typeface="Calibri"/>
                <a:cs typeface="Calibri"/>
              </a:rPr>
              <a:t> </a:t>
            </a:r>
            <a:r>
              <a:rPr dirty="0" sz="2400">
                <a:solidFill>
                  <a:srgbClr val="4E3629"/>
                </a:solidFill>
                <a:latin typeface="Calibri"/>
                <a:cs typeface="Calibri"/>
              </a:rPr>
              <a:t>cadena</a:t>
            </a:r>
            <a:r>
              <a:rPr dirty="0" sz="2400" spc="-55">
                <a:solidFill>
                  <a:srgbClr val="4E3629"/>
                </a:solidFill>
                <a:latin typeface="Calibri"/>
                <a:cs typeface="Calibri"/>
              </a:rPr>
              <a:t> </a:t>
            </a:r>
            <a:r>
              <a:rPr dirty="0" sz="2400">
                <a:solidFill>
                  <a:srgbClr val="4E3629"/>
                </a:solidFill>
                <a:latin typeface="Calibri"/>
                <a:cs typeface="Calibri"/>
              </a:rPr>
              <a:t>que</a:t>
            </a:r>
            <a:r>
              <a:rPr dirty="0" sz="2400" spc="-25">
                <a:solidFill>
                  <a:srgbClr val="4E3629"/>
                </a:solidFill>
                <a:latin typeface="Calibri"/>
                <a:cs typeface="Calibri"/>
              </a:rPr>
              <a:t> </a:t>
            </a:r>
            <a:r>
              <a:rPr dirty="0" sz="2400">
                <a:solidFill>
                  <a:srgbClr val="4E3629"/>
                </a:solidFill>
                <a:latin typeface="Calibri"/>
                <a:cs typeface="Calibri"/>
              </a:rPr>
              <a:t>se</a:t>
            </a:r>
            <a:r>
              <a:rPr dirty="0" sz="2400" spc="-45">
                <a:solidFill>
                  <a:srgbClr val="4E3629"/>
                </a:solidFill>
                <a:latin typeface="Calibri"/>
                <a:cs typeface="Calibri"/>
              </a:rPr>
              <a:t> </a:t>
            </a:r>
            <a:r>
              <a:rPr dirty="0" sz="2400">
                <a:solidFill>
                  <a:srgbClr val="4E3629"/>
                </a:solidFill>
                <a:latin typeface="Calibri"/>
                <a:cs typeface="Calibri"/>
              </a:rPr>
              <a:t>va</a:t>
            </a:r>
            <a:r>
              <a:rPr dirty="0" sz="2400" spc="-45">
                <a:solidFill>
                  <a:srgbClr val="4E3629"/>
                </a:solidFill>
                <a:latin typeface="Calibri"/>
                <a:cs typeface="Calibri"/>
              </a:rPr>
              <a:t> </a:t>
            </a:r>
            <a:r>
              <a:rPr dirty="0" sz="2400">
                <a:solidFill>
                  <a:srgbClr val="4E3629"/>
                </a:solidFill>
                <a:latin typeface="Calibri"/>
                <a:cs typeface="Calibri"/>
              </a:rPr>
              <a:t>a</a:t>
            </a:r>
            <a:r>
              <a:rPr dirty="0" sz="2400" spc="-55">
                <a:solidFill>
                  <a:srgbClr val="4E3629"/>
                </a:solidFill>
                <a:latin typeface="Calibri"/>
                <a:cs typeface="Calibri"/>
              </a:rPr>
              <a:t> </a:t>
            </a:r>
            <a:r>
              <a:rPr dirty="0" sz="2400" spc="-10">
                <a:solidFill>
                  <a:srgbClr val="4E3629"/>
                </a:solidFill>
                <a:latin typeface="Calibri"/>
                <a:cs typeface="Calibri"/>
              </a:rPr>
              <a:t>insertar </a:t>
            </a:r>
            <a:r>
              <a:rPr dirty="0" sz="2400">
                <a:solidFill>
                  <a:srgbClr val="4E3629"/>
                </a:solidFill>
                <a:latin typeface="Calibri"/>
                <a:cs typeface="Calibri"/>
              </a:rPr>
              <a:t>en</a:t>
            </a:r>
            <a:r>
              <a:rPr dirty="0" sz="2400" spc="-25">
                <a:solidFill>
                  <a:srgbClr val="4E3629"/>
                </a:solidFill>
                <a:latin typeface="Calibri"/>
                <a:cs typeface="Calibri"/>
              </a:rPr>
              <a:t> </a:t>
            </a:r>
            <a:r>
              <a:rPr dirty="0" sz="2400" spc="-10">
                <a:solidFill>
                  <a:srgbClr val="4E3629"/>
                </a:solidFill>
                <a:latin typeface="Calibri"/>
                <a:cs typeface="Calibri"/>
              </a:rPr>
              <a:t>string1</a:t>
            </a:r>
            <a:endParaRPr sz="2400">
              <a:latin typeface="Calibri"/>
              <a:cs typeface="Calibri"/>
            </a:endParaRPr>
          </a:p>
        </p:txBody>
      </p:sp>
      <p:sp>
        <p:nvSpPr>
          <p:cNvPr id="10" name="object 10"/>
          <p:cNvSpPr txBox="1"/>
          <p:nvPr/>
        </p:nvSpPr>
        <p:spPr>
          <a:xfrm>
            <a:off x="393191" y="2921507"/>
            <a:ext cx="8345805" cy="508000"/>
          </a:xfrm>
          <a:prstGeom prst="rect">
            <a:avLst/>
          </a:prstGeom>
          <a:solidFill>
            <a:srgbClr val="9DBEC4">
              <a:alpha val="50199"/>
            </a:srgbClr>
          </a:solidFill>
        </p:spPr>
        <p:txBody>
          <a:bodyPr wrap="square" lIns="0" tIns="88900" rIns="0" bIns="0" rtlCol="0" vert="horz">
            <a:spAutoFit/>
          </a:bodyPr>
          <a:lstStyle/>
          <a:p>
            <a:pPr>
              <a:lnSpc>
                <a:spcPct val="100000"/>
              </a:lnSpc>
              <a:spcBef>
                <a:spcPts val="700"/>
              </a:spcBef>
            </a:pPr>
            <a:r>
              <a:rPr dirty="0" sz="1800" b="1">
                <a:solidFill>
                  <a:srgbClr val="4E3629"/>
                </a:solidFill>
                <a:latin typeface="Courier New"/>
                <a:cs typeface="Courier New"/>
              </a:rPr>
              <a:t>REPLACE</a:t>
            </a:r>
            <a:r>
              <a:rPr dirty="0" sz="1800" spc="-135" b="1">
                <a:solidFill>
                  <a:srgbClr val="4E3629"/>
                </a:solidFill>
                <a:latin typeface="Courier New"/>
                <a:cs typeface="Courier New"/>
              </a:rPr>
              <a:t> </a:t>
            </a:r>
            <a:r>
              <a:rPr dirty="0" sz="1800" b="1">
                <a:solidFill>
                  <a:srgbClr val="4E3629"/>
                </a:solidFill>
                <a:latin typeface="Courier New"/>
                <a:cs typeface="Courier New"/>
              </a:rPr>
              <a:t>(string1,</a:t>
            </a:r>
            <a:r>
              <a:rPr dirty="0" sz="1800" spc="-130" b="1">
                <a:solidFill>
                  <a:srgbClr val="4E3629"/>
                </a:solidFill>
                <a:latin typeface="Courier New"/>
                <a:cs typeface="Courier New"/>
              </a:rPr>
              <a:t> </a:t>
            </a:r>
            <a:r>
              <a:rPr dirty="0" sz="1800" b="1">
                <a:solidFill>
                  <a:srgbClr val="4E3629"/>
                </a:solidFill>
                <a:latin typeface="Courier New"/>
                <a:cs typeface="Courier New"/>
              </a:rPr>
              <a:t>string_to_replace,</a:t>
            </a:r>
            <a:r>
              <a:rPr dirty="0" sz="1800" spc="-135" b="1">
                <a:solidFill>
                  <a:srgbClr val="4E3629"/>
                </a:solidFill>
                <a:latin typeface="Courier New"/>
                <a:cs typeface="Courier New"/>
              </a:rPr>
              <a:t> </a:t>
            </a:r>
            <a:r>
              <a:rPr dirty="0" sz="1800" b="1">
                <a:solidFill>
                  <a:srgbClr val="4E3629"/>
                </a:solidFill>
                <a:latin typeface="Courier New"/>
                <a:cs typeface="Courier New"/>
              </a:rPr>
              <a:t>[replacement_string]</a:t>
            </a:r>
            <a:r>
              <a:rPr dirty="0" sz="1800" spc="-130" b="1">
                <a:solidFill>
                  <a:srgbClr val="4E3629"/>
                </a:solidFill>
                <a:latin typeface="Courier New"/>
                <a:cs typeface="Courier New"/>
              </a:rPr>
              <a:t> </a:t>
            </a:r>
            <a:r>
              <a:rPr dirty="0" sz="1800" spc="-50" b="1">
                <a:solidFill>
                  <a:srgbClr val="4E3629"/>
                </a:solidFill>
                <a:latin typeface="Courier New"/>
                <a:cs typeface="Courier New"/>
              </a:rPr>
              <a:t>)</a:t>
            </a:r>
            <a:endParaRPr sz="1800">
              <a:latin typeface="Courier New"/>
              <a:cs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7111365" cy="528320"/>
          </a:xfrm>
          <a:prstGeom prst="rect"/>
        </p:spPr>
        <p:txBody>
          <a:bodyPr wrap="square" lIns="0" tIns="12700" rIns="0" bIns="0" rtlCol="0" vert="horz">
            <a:spAutoFit/>
          </a:bodyPr>
          <a:lstStyle/>
          <a:p>
            <a:pPr marL="12700">
              <a:lnSpc>
                <a:spcPct val="100000"/>
              </a:lnSpc>
              <a:spcBef>
                <a:spcPts val="100"/>
              </a:spcBef>
            </a:pPr>
            <a:r>
              <a:rPr dirty="0"/>
              <a:t>Funciones</a:t>
            </a:r>
            <a:r>
              <a:rPr dirty="0" spc="-45"/>
              <a:t> </a:t>
            </a:r>
            <a:r>
              <a:rPr dirty="0"/>
              <a:t>de</a:t>
            </a:r>
            <a:r>
              <a:rPr dirty="0" spc="-85"/>
              <a:t> </a:t>
            </a:r>
            <a:r>
              <a:rPr dirty="0"/>
              <a:t>Manipulación</a:t>
            </a:r>
            <a:r>
              <a:rPr dirty="0" spc="-40"/>
              <a:t> </a:t>
            </a:r>
            <a:r>
              <a:rPr dirty="0"/>
              <a:t>de</a:t>
            </a:r>
            <a:r>
              <a:rPr dirty="0" spc="-70"/>
              <a:t> </a:t>
            </a:r>
            <a:r>
              <a:rPr dirty="0" spc="-10"/>
              <a:t>Caracteres</a:t>
            </a:r>
          </a:p>
        </p:txBody>
      </p:sp>
      <p:sp>
        <p:nvSpPr>
          <p:cNvPr id="4" name="object 4"/>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23</a:t>
            </a: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graphicFrame>
        <p:nvGraphicFramePr>
          <p:cNvPr id="3" name="object 3"/>
          <p:cNvGraphicFramePr>
            <a:graphicFrameLocks noGrp="1"/>
          </p:cNvGraphicFramePr>
          <p:nvPr/>
        </p:nvGraphicFramePr>
        <p:xfrm>
          <a:off x="398462" y="1441450"/>
          <a:ext cx="8435340" cy="3183255"/>
        </p:xfrm>
        <a:graphic>
          <a:graphicData uri="http://schemas.openxmlformats.org/drawingml/2006/table">
            <a:tbl>
              <a:tblPr firstRow="1" bandRow="1">
                <a:tableStyleId>{2D5ABB26-0587-4C30-8999-92F81FD0307C}</a:tableStyleId>
              </a:tblPr>
              <a:tblGrid>
                <a:gridCol w="6473190"/>
                <a:gridCol w="1873250"/>
              </a:tblGrid>
              <a:tr h="495300">
                <a:tc>
                  <a:txBody>
                    <a:bodyPr/>
                    <a:lstStyle/>
                    <a:p>
                      <a:pPr marL="101600">
                        <a:lnSpc>
                          <a:spcPct val="100000"/>
                        </a:lnSpc>
                        <a:spcBef>
                          <a:spcPts val="240"/>
                        </a:spcBef>
                      </a:pPr>
                      <a:r>
                        <a:rPr dirty="0" sz="2000" spc="-10" b="1">
                          <a:solidFill>
                            <a:srgbClr val="4E3629"/>
                          </a:solidFill>
                          <a:latin typeface="Calibri"/>
                          <a:cs typeface="Calibri"/>
                        </a:rPr>
                        <a:t>Ejemplos:</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1600">
                        <a:lnSpc>
                          <a:spcPct val="100000"/>
                        </a:lnSpc>
                        <a:spcBef>
                          <a:spcPts val="240"/>
                        </a:spcBef>
                      </a:pPr>
                      <a:r>
                        <a:rPr dirty="0" sz="2000" spc="-10" b="1">
                          <a:solidFill>
                            <a:srgbClr val="4E3629"/>
                          </a:solidFill>
                          <a:latin typeface="Calibri"/>
                          <a:cs typeface="Calibri"/>
                        </a:rPr>
                        <a:t>resultado</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780415">
                <a:tc>
                  <a:txBody>
                    <a:bodyPr/>
                    <a:lstStyle/>
                    <a:p>
                      <a:pPr marL="101600" marR="2766060">
                        <a:lnSpc>
                          <a:spcPts val="2520"/>
                        </a:lnSpc>
                        <a:spcBef>
                          <a:spcPts val="20"/>
                        </a:spcBef>
                      </a:pPr>
                      <a:r>
                        <a:rPr dirty="0" sz="1800">
                          <a:solidFill>
                            <a:srgbClr val="4E3629"/>
                          </a:solidFill>
                          <a:latin typeface="Calibri"/>
                          <a:cs typeface="Calibri"/>
                        </a:rPr>
                        <a:t>SELECT</a:t>
                      </a:r>
                      <a:r>
                        <a:rPr dirty="0" sz="1800" spc="-30">
                          <a:solidFill>
                            <a:srgbClr val="4E3629"/>
                          </a:solidFill>
                          <a:latin typeface="Calibri"/>
                          <a:cs typeface="Calibri"/>
                        </a:rPr>
                        <a:t> </a:t>
                      </a:r>
                      <a:r>
                        <a:rPr dirty="0" sz="1800" spc="-10">
                          <a:solidFill>
                            <a:srgbClr val="4E3629"/>
                          </a:solidFill>
                          <a:latin typeface="Calibri"/>
                          <a:cs typeface="Calibri"/>
                        </a:rPr>
                        <a:t>REPLACE('JACK</a:t>
                      </a:r>
                      <a:r>
                        <a:rPr dirty="0" sz="1800" spc="-15">
                          <a:solidFill>
                            <a:srgbClr val="4E3629"/>
                          </a:solidFill>
                          <a:latin typeface="Calibri"/>
                          <a:cs typeface="Calibri"/>
                        </a:rPr>
                        <a:t> </a:t>
                      </a:r>
                      <a:r>
                        <a:rPr dirty="0" sz="1800">
                          <a:solidFill>
                            <a:srgbClr val="4E3629"/>
                          </a:solidFill>
                          <a:latin typeface="Calibri"/>
                          <a:cs typeface="Calibri"/>
                        </a:rPr>
                        <a:t>and</a:t>
                      </a:r>
                      <a:r>
                        <a:rPr dirty="0" sz="1800" spc="-40">
                          <a:solidFill>
                            <a:srgbClr val="4E3629"/>
                          </a:solidFill>
                          <a:latin typeface="Calibri"/>
                          <a:cs typeface="Calibri"/>
                        </a:rPr>
                        <a:t> </a:t>
                      </a:r>
                      <a:r>
                        <a:rPr dirty="0" sz="1800" spc="-10">
                          <a:solidFill>
                            <a:srgbClr val="4E3629"/>
                          </a:solidFill>
                          <a:latin typeface="Calibri"/>
                          <a:cs typeface="Calibri"/>
                        </a:rPr>
                        <a:t>JUE','J','BL')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DUAL;</a:t>
                      </a:r>
                      <a:endParaRPr sz="1800">
                        <a:latin typeface="Calibri"/>
                        <a:cs typeface="Calibri"/>
                      </a:endParaRPr>
                    </a:p>
                  </a:txBody>
                  <a:tcPr marL="0" marR="0" marB="0" marT="25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1600" marR="658495">
                        <a:lnSpc>
                          <a:spcPct val="100499"/>
                        </a:lnSpc>
                        <a:spcBef>
                          <a:spcPts val="219"/>
                        </a:spcBef>
                      </a:pPr>
                      <a:r>
                        <a:rPr dirty="0" sz="2000">
                          <a:solidFill>
                            <a:srgbClr val="4E3629"/>
                          </a:solidFill>
                          <a:latin typeface="Calibri"/>
                          <a:cs typeface="Calibri"/>
                        </a:rPr>
                        <a:t>BLACK</a:t>
                      </a:r>
                      <a:r>
                        <a:rPr dirty="0" sz="2000" spc="-50">
                          <a:solidFill>
                            <a:srgbClr val="4E3629"/>
                          </a:solidFill>
                          <a:latin typeface="Calibri"/>
                          <a:cs typeface="Calibri"/>
                        </a:rPr>
                        <a:t> </a:t>
                      </a:r>
                      <a:r>
                        <a:rPr dirty="0" sz="2000" spc="-25">
                          <a:solidFill>
                            <a:srgbClr val="4E3629"/>
                          </a:solidFill>
                          <a:latin typeface="Calibri"/>
                          <a:cs typeface="Calibri"/>
                        </a:rPr>
                        <a:t>and </a:t>
                      </a:r>
                      <a:r>
                        <a:rPr dirty="0" sz="2000" spc="-20">
                          <a:solidFill>
                            <a:srgbClr val="4E3629"/>
                          </a:solidFill>
                          <a:latin typeface="Calibri"/>
                          <a:cs typeface="Calibri"/>
                        </a:rPr>
                        <a:t>BLUE</a:t>
                      </a:r>
                      <a:endParaRPr sz="2000">
                        <a:latin typeface="Calibri"/>
                        <a:cs typeface="Calibri"/>
                      </a:endParaRPr>
                    </a:p>
                  </a:txBody>
                  <a:tcPr marL="0" marR="0" marB="0" marT="2793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780415">
                <a:tc>
                  <a:txBody>
                    <a:bodyPr/>
                    <a:lstStyle/>
                    <a:p>
                      <a:pPr marL="101600" marR="3145155">
                        <a:lnSpc>
                          <a:spcPts val="2520"/>
                        </a:lnSpc>
                        <a:spcBef>
                          <a:spcPts val="20"/>
                        </a:spcBef>
                      </a:pPr>
                      <a:r>
                        <a:rPr dirty="0" sz="1800">
                          <a:solidFill>
                            <a:srgbClr val="4E3629"/>
                          </a:solidFill>
                          <a:latin typeface="Calibri"/>
                          <a:cs typeface="Calibri"/>
                        </a:rPr>
                        <a:t>SELECT</a:t>
                      </a:r>
                      <a:r>
                        <a:rPr dirty="0" sz="1800" spc="-30">
                          <a:solidFill>
                            <a:srgbClr val="4E3629"/>
                          </a:solidFill>
                          <a:latin typeface="Calibri"/>
                          <a:cs typeface="Calibri"/>
                        </a:rPr>
                        <a:t> </a:t>
                      </a:r>
                      <a:r>
                        <a:rPr dirty="0" sz="1800" spc="-10">
                          <a:solidFill>
                            <a:srgbClr val="4E3629"/>
                          </a:solidFill>
                          <a:latin typeface="Calibri"/>
                          <a:cs typeface="Calibri"/>
                        </a:rPr>
                        <a:t>REPLACE('JACK</a:t>
                      </a:r>
                      <a:r>
                        <a:rPr dirty="0" sz="1800" spc="-15">
                          <a:solidFill>
                            <a:srgbClr val="4E3629"/>
                          </a:solidFill>
                          <a:latin typeface="Calibri"/>
                          <a:cs typeface="Calibri"/>
                        </a:rPr>
                        <a:t> </a:t>
                      </a:r>
                      <a:r>
                        <a:rPr dirty="0" sz="1800">
                          <a:solidFill>
                            <a:srgbClr val="4E3629"/>
                          </a:solidFill>
                          <a:latin typeface="Calibri"/>
                          <a:cs typeface="Calibri"/>
                        </a:rPr>
                        <a:t>and</a:t>
                      </a:r>
                      <a:r>
                        <a:rPr dirty="0" sz="1800" spc="-40">
                          <a:solidFill>
                            <a:srgbClr val="4E3629"/>
                          </a:solidFill>
                          <a:latin typeface="Calibri"/>
                          <a:cs typeface="Calibri"/>
                        </a:rPr>
                        <a:t> </a:t>
                      </a:r>
                      <a:r>
                        <a:rPr dirty="0" sz="1800" spc="-10">
                          <a:solidFill>
                            <a:srgbClr val="4E3629"/>
                          </a:solidFill>
                          <a:latin typeface="Calibri"/>
                          <a:cs typeface="Calibri"/>
                        </a:rPr>
                        <a:t>JUE','J')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DUAL;</a:t>
                      </a:r>
                      <a:endParaRPr sz="1800">
                        <a:latin typeface="Calibri"/>
                        <a:cs typeface="Calibri"/>
                      </a:endParaRPr>
                    </a:p>
                  </a:txBody>
                  <a:tcPr marL="0" marR="0" marB="0" marT="25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1600">
                        <a:lnSpc>
                          <a:spcPct val="100000"/>
                        </a:lnSpc>
                        <a:spcBef>
                          <a:spcPts val="240"/>
                        </a:spcBef>
                      </a:pPr>
                      <a:r>
                        <a:rPr dirty="0" sz="2000">
                          <a:solidFill>
                            <a:srgbClr val="4E3629"/>
                          </a:solidFill>
                          <a:latin typeface="Calibri"/>
                          <a:cs typeface="Calibri"/>
                        </a:rPr>
                        <a:t>ACK</a:t>
                      </a:r>
                      <a:r>
                        <a:rPr dirty="0" sz="2000" spc="-35">
                          <a:solidFill>
                            <a:srgbClr val="4E3629"/>
                          </a:solidFill>
                          <a:latin typeface="Calibri"/>
                          <a:cs typeface="Calibri"/>
                        </a:rPr>
                        <a:t> </a:t>
                      </a:r>
                      <a:r>
                        <a:rPr dirty="0" sz="2000">
                          <a:solidFill>
                            <a:srgbClr val="4E3629"/>
                          </a:solidFill>
                          <a:latin typeface="Calibri"/>
                          <a:cs typeface="Calibri"/>
                        </a:rPr>
                        <a:t>and</a:t>
                      </a:r>
                      <a:r>
                        <a:rPr dirty="0" sz="2000" spc="-20">
                          <a:solidFill>
                            <a:srgbClr val="4E3629"/>
                          </a:solidFill>
                          <a:latin typeface="Calibri"/>
                          <a:cs typeface="Calibri"/>
                        </a:rPr>
                        <a:t> </a:t>
                      </a:r>
                      <a:r>
                        <a:rPr dirty="0" sz="2000" spc="-25">
                          <a:solidFill>
                            <a:srgbClr val="4E3629"/>
                          </a:solidFill>
                          <a:latin typeface="Calibri"/>
                          <a:cs typeface="Calibri"/>
                        </a:rPr>
                        <a:t>UE</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127125">
                <a:tc>
                  <a:txBody>
                    <a:bodyPr/>
                    <a:lstStyle/>
                    <a:p>
                      <a:pPr marL="101600" marR="3199765">
                        <a:lnSpc>
                          <a:spcPts val="2520"/>
                        </a:lnSpc>
                        <a:spcBef>
                          <a:spcPts val="20"/>
                        </a:spcBef>
                      </a:pPr>
                      <a:r>
                        <a:rPr dirty="0" sz="1800">
                          <a:solidFill>
                            <a:srgbClr val="4E3629"/>
                          </a:solidFill>
                          <a:latin typeface="Calibri"/>
                          <a:cs typeface="Calibri"/>
                        </a:rPr>
                        <a:t>SELECT</a:t>
                      </a:r>
                      <a:r>
                        <a:rPr dirty="0" sz="1800" spc="-50">
                          <a:solidFill>
                            <a:srgbClr val="4E3629"/>
                          </a:solidFill>
                          <a:latin typeface="Calibri"/>
                          <a:cs typeface="Calibri"/>
                        </a:rPr>
                        <a:t> </a:t>
                      </a:r>
                      <a:r>
                        <a:rPr dirty="0" sz="1800" spc="-10">
                          <a:solidFill>
                            <a:srgbClr val="4E3629"/>
                          </a:solidFill>
                          <a:latin typeface="Calibri"/>
                          <a:cs typeface="Calibri"/>
                        </a:rPr>
                        <a:t>REPLACE(last_name,'a','*')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employees;</a:t>
                      </a:r>
                      <a:endParaRPr sz="1800">
                        <a:latin typeface="Calibri"/>
                        <a:cs typeface="Calibri"/>
                      </a:endParaRPr>
                    </a:p>
                  </a:txBody>
                  <a:tcPr marL="0" marR="0" marB="0" marT="25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1600">
                        <a:lnSpc>
                          <a:spcPct val="100000"/>
                        </a:lnSpc>
                        <a:spcBef>
                          <a:spcPts val="229"/>
                        </a:spcBef>
                      </a:pPr>
                      <a:r>
                        <a:rPr dirty="0" sz="2000" spc="-20">
                          <a:solidFill>
                            <a:srgbClr val="4E3629"/>
                          </a:solidFill>
                          <a:latin typeface="Calibri"/>
                          <a:cs typeface="Calibri"/>
                        </a:rPr>
                        <a:t>Abel</a:t>
                      </a:r>
                      <a:endParaRPr sz="2000">
                        <a:latin typeface="Calibri"/>
                        <a:cs typeface="Calibri"/>
                      </a:endParaRPr>
                    </a:p>
                    <a:p>
                      <a:pPr marL="101600" marR="877569">
                        <a:lnSpc>
                          <a:spcPts val="2890"/>
                        </a:lnSpc>
                        <a:spcBef>
                          <a:spcPts val="170"/>
                        </a:spcBef>
                      </a:pPr>
                      <a:r>
                        <a:rPr dirty="0" sz="2000" spc="-10">
                          <a:solidFill>
                            <a:srgbClr val="4E3629"/>
                          </a:solidFill>
                          <a:latin typeface="Calibri"/>
                          <a:cs typeface="Calibri"/>
                        </a:rPr>
                        <a:t>D*vies </a:t>
                      </a:r>
                      <a:r>
                        <a:rPr dirty="0" sz="2000">
                          <a:solidFill>
                            <a:srgbClr val="4E3629"/>
                          </a:solidFill>
                          <a:latin typeface="Calibri"/>
                          <a:cs typeface="Calibri"/>
                        </a:rPr>
                        <a:t>De</a:t>
                      </a:r>
                      <a:r>
                        <a:rPr dirty="0" sz="2000" spc="-10">
                          <a:solidFill>
                            <a:srgbClr val="4E3629"/>
                          </a:solidFill>
                          <a:latin typeface="Calibri"/>
                          <a:cs typeface="Calibri"/>
                        </a:rPr>
                        <a:t> </a:t>
                      </a:r>
                      <a:r>
                        <a:rPr dirty="0" sz="2000" spc="-20">
                          <a:solidFill>
                            <a:srgbClr val="4E3629"/>
                          </a:solidFill>
                          <a:latin typeface="Calibri"/>
                          <a:cs typeface="Calibri"/>
                        </a:rPr>
                        <a:t>H**n</a:t>
                      </a:r>
                      <a:endParaRPr sz="2000">
                        <a:latin typeface="Calibri"/>
                        <a:cs typeface="Calibri"/>
                      </a:endParaRPr>
                    </a:p>
                  </a:txBody>
                  <a:tcPr marL="0" marR="0" marB="0" marT="2920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6756400" cy="528320"/>
          </a:xfrm>
          <a:prstGeom prst="rect"/>
        </p:spPr>
        <p:txBody>
          <a:bodyPr wrap="square" lIns="0" tIns="12700" rIns="0" bIns="0" rtlCol="0" vert="horz">
            <a:spAutoFit/>
          </a:bodyPr>
          <a:lstStyle/>
          <a:p>
            <a:pPr marL="12700">
              <a:lnSpc>
                <a:spcPct val="100000"/>
              </a:lnSpc>
              <a:spcBef>
                <a:spcPts val="100"/>
              </a:spcBef>
            </a:pPr>
            <a:r>
              <a:rPr dirty="0"/>
              <a:t>Uso</a:t>
            </a:r>
            <a:r>
              <a:rPr dirty="0" spc="-50"/>
              <a:t> </a:t>
            </a:r>
            <a:r>
              <a:rPr dirty="0"/>
              <a:t>de</a:t>
            </a:r>
            <a:r>
              <a:rPr dirty="0" spc="-50"/>
              <a:t> </a:t>
            </a:r>
            <a:r>
              <a:rPr dirty="0"/>
              <a:t>Alias</a:t>
            </a:r>
            <a:r>
              <a:rPr dirty="0" spc="-30"/>
              <a:t> </a:t>
            </a:r>
            <a:r>
              <a:rPr dirty="0"/>
              <a:t>de</a:t>
            </a:r>
            <a:r>
              <a:rPr dirty="0" spc="-35"/>
              <a:t> </a:t>
            </a:r>
            <a:r>
              <a:rPr dirty="0"/>
              <a:t>Columna</a:t>
            </a:r>
            <a:r>
              <a:rPr dirty="0" spc="-35"/>
              <a:t> </a:t>
            </a:r>
            <a:r>
              <a:rPr dirty="0"/>
              <a:t>con</a:t>
            </a:r>
            <a:r>
              <a:rPr dirty="0" spc="-40"/>
              <a:t> </a:t>
            </a:r>
            <a:r>
              <a:rPr dirty="0" spc="-10"/>
              <a:t>Funciones</a:t>
            </a:r>
          </a:p>
        </p:txBody>
      </p:sp>
      <p:sp>
        <p:nvSpPr>
          <p:cNvPr id="7" name="object 7"/>
          <p:cNvSpPr txBox="1"/>
          <p:nvPr/>
        </p:nvSpPr>
        <p:spPr>
          <a:xfrm>
            <a:off x="2576521" y="6472031"/>
            <a:ext cx="2052955" cy="367030"/>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1</a:t>
            </a:r>
            <a:endParaRPr sz="850">
              <a:latin typeface="Calibri"/>
              <a:cs typeface="Calibri"/>
            </a:endParaRPr>
          </a:p>
          <a:p>
            <a:pPr marL="12700" marR="5080">
              <a:lnSpc>
                <a:spcPts val="919"/>
              </a:lnSpc>
              <a:spcBef>
                <a:spcPts val="60"/>
              </a:spcBef>
            </a:pPr>
            <a:r>
              <a:rPr dirty="0" sz="850" spc="-10">
                <a:solidFill>
                  <a:srgbClr val="4E3629"/>
                </a:solidFill>
                <a:latin typeface="Calibri"/>
                <a:cs typeface="Calibri"/>
              </a:rPr>
              <a:t>Manipulación</a:t>
            </a:r>
            <a:r>
              <a:rPr dirty="0" sz="850" spc="5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10">
                <a:solidFill>
                  <a:srgbClr val="4E3629"/>
                </a:solidFill>
                <a:latin typeface="Calibri"/>
                <a:cs typeface="Calibri"/>
              </a:rPr>
              <a:t>Mayúsculas/Minúsculas</a:t>
            </a:r>
            <a:r>
              <a:rPr dirty="0" sz="850" spc="60">
                <a:solidFill>
                  <a:srgbClr val="4E3629"/>
                </a:solidFill>
                <a:latin typeface="Calibri"/>
                <a:cs typeface="Calibri"/>
              </a:rPr>
              <a:t> </a:t>
            </a:r>
            <a:r>
              <a:rPr dirty="0" sz="850">
                <a:solidFill>
                  <a:srgbClr val="4E3629"/>
                </a:solidFill>
                <a:latin typeface="Calibri"/>
                <a:cs typeface="Calibri"/>
              </a:rPr>
              <a:t>y</a:t>
            </a:r>
            <a:r>
              <a:rPr dirty="0" sz="850" spc="5">
                <a:solidFill>
                  <a:srgbClr val="4E3629"/>
                </a:solidFill>
                <a:latin typeface="Calibri"/>
                <a:cs typeface="Calibri"/>
              </a:rPr>
              <a:t> </a:t>
            </a:r>
            <a:r>
              <a:rPr dirty="0" sz="850" spc="-25">
                <a:solidFill>
                  <a:srgbClr val="4E3629"/>
                </a:solidFill>
                <a:latin typeface="Calibri"/>
                <a:cs typeface="Calibri"/>
              </a:rPr>
              <a:t>de</a:t>
            </a:r>
            <a:r>
              <a:rPr dirty="0" sz="850" spc="500">
                <a:solidFill>
                  <a:srgbClr val="4E3629"/>
                </a:solidFill>
                <a:latin typeface="Calibri"/>
                <a:cs typeface="Calibri"/>
              </a:rPr>
              <a:t> </a:t>
            </a:r>
            <a:r>
              <a:rPr dirty="0" sz="850" spc="-10">
                <a:solidFill>
                  <a:srgbClr val="4E3629"/>
                </a:solidFill>
                <a:latin typeface="Calibri"/>
                <a:cs typeface="Calibri"/>
              </a:rPr>
              <a:t>Caracteres</a:t>
            </a:r>
            <a:endParaRPr sz="850">
              <a:latin typeface="Calibri"/>
              <a:cs typeface="Calibri"/>
            </a:endParaRPr>
          </a:p>
        </p:txBody>
      </p:sp>
      <p:sp>
        <p:nvSpPr>
          <p:cNvPr id="8" name="object 8"/>
          <p:cNvSpPr txBox="1"/>
          <p:nvPr/>
        </p:nvSpPr>
        <p:spPr>
          <a:xfrm>
            <a:off x="8750490" y="6567768"/>
            <a:ext cx="153670" cy="152400"/>
          </a:xfrm>
          <a:prstGeom prst="rect">
            <a:avLst/>
          </a:prstGeom>
        </p:spPr>
        <p:txBody>
          <a:bodyPr wrap="square" lIns="0" tIns="0" rIns="0" bIns="0" rtlCol="0" vert="horz">
            <a:spAutoFit/>
          </a:bodyPr>
          <a:lstStyle/>
          <a:p>
            <a:pPr marL="12700">
              <a:lnSpc>
                <a:spcPts val="1045"/>
              </a:lnSpc>
            </a:pPr>
            <a:r>
              <a:rPr dirty="0" sz="1000" spc="-25" b="1">
                <a:solidFill>
                  <a:srgbClr val="4E3629"/>
                </a:solidFill>
                <a:latin typeface="Calibri"/>
                <a:cs typeface="Calibri"/>
              </a:rPr>
              <a:t>26</a:t>
            </a:r>
            <a:endParaRPr sz="1000">
              <a:latin typeface="Calibri"/>
              <a:cs typeface="Calibri"/>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graphicFrame>
        <p:nvGraphicFramePr>
          <p:cNvPr id="3" name="object 3"/>
          <p:cNvGraphicFramePr>
            <a:graphicFrameLocks noGrp="1"/>
          </p:cNvGraphicFramePr>
          <p:nvPr/>
        </p:nvGraphicFramePr>
        <p:xfrm>
          <a:off x="7296815" y="1609784"/>
          <a:ext cx="1525270" cy="1362709"/>
        </p:xfrm>
        <a:graphic>
          <a:graphicData uri="http://schemas.openxmlformats.org/drawingml/2006/table">
            <a:tbl>
              <a:tblPr firstRow="1" bandRow="1">
                <a:tableStyleId>{2D5ABB26-0587-4C30-8999-92F81FD0307C}</a:tableStyleId>
              </a:tblPr>
              <a:tblGrid>
                <a:gridCol w="1435735"/>
              </a:tblGrid>
              <a:tr h="335280">
                <a:tc>
                  <a:txBody>
                    <a:bodyPr/>
                    <a:lstStyle/>
                    <a:p>
                      <a:pPr marL="90805">
                        <a:lnSpc>
                          <a:spcPct val="100000"/>
                        </a:lnSpc>
                        <a:spcBef>
                          <a:spcPts val="270"/>
                        </a:spcBef>
                      </a:pPr>
                      <a:r>
                        <a:rPr dirty="0" sz="1600" b="1">
                          <a:solidFill>
                            <a:srgbClr val="4E3629"/>
                          </a:solidFill>
                          <a:latin typeface="Calibri"/>
                          <a:cs typeface="Calibri"/>
                        </a:rPr>
                        <a:t>User</a:t>
                      </a:r>
                      <a:r>
                        <a:rPr dirty="0" sz="1600" spc="-35" b="1">
                          <a:solidFill>
                            <a:srgbClr val="4E3629"/>
                          </a:solidFill>
                          <a:latin typeface="Calibri"/>
                          <a:cs typeface="Calibri"/>
                        </a:rPr>
                        <a:t> </a:t>
                      </a:r>
                      <a:r>
                        <a:rPr dirty="0" sz="1600" spc="-20" b="1">
                          <a:solidFill>
                            <a:srgbClr val="4E3629"/>
                          </a:solidFill>
                          <a:latin typeface="Calibri"/>
                          <a:cs typeface="Calibri"/>
                        </a:rPr>
                        <a:t>Name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35280">
                <a:tc>
                  <a:txBody>
                    <a:bodyPr/>
                    <a:lstStyle/>
                    <a:p>
                      <a:pPr marL="90805">
                        <a:lnSpc>
                          <a:spcPct val="100000"/>
                        </a:lnSpc>
                        <a:spcBef>
                          <a:spcPts val="270"/>
                        </a:spcBef>
                      </a:pPr>
                      <a:r>
                        <a:rPr dirty="0" sz="1600" spc="-10">
                          <a:solidFill>
                            <a:srgbClr val="4E3629"/>
                          </a:solidFill>
                          <a:latin typeface="Calibri"/>
                          <a:cs typeface="Calibri"/>
                        </a:rPr>
                        <a:t>abele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35280">
                <a:tc>
                  <a:txBody>
                    <a:bodyPr/>
                    <a:lstStyle/>
                    <a:p>
                      <a:pPr marL="90805">
                        <a:lnSpc>
                          <a:spcPct val="100000"/>
                        </a:lnSpc>
                        <a:spcBef>
                          <a:spcPts val="270"/>
                        </a:spcBef>
                      </a:pPr>
                      <a:r>
                        <a:rPr dirty="0" sz="1600" spc="-10">
                          <a:solidFill>
                            <a:srgbClr val="4E3629"/>
                          </a:solidFill>
                          <a:latin typeface="Calibri"/>
                          <a:cs typeface="Calibri"/>
                        </a:rPr>
                        <a:t>daviesc</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56870">
                <a:tc>
                  <a:txBody>
                    <a:bodyPr/>
                    <a:lstStyle/>
                    <a:p>
                      <a:pPr marL="90805">
                        <a:lnSpc>
                          <a:spcPct val="100000"/>
                        </a:lnSpc>
                        <a:spcBef>
                          <a:spcPts val="270"/>
                        </a:spcBef>
                      </a:pPr>
                      <a:r>
                        <a:rPr dirty="0" sz="1600">
                          <a:solidFill>
                            <a:srgbClr val="4E3629"/>
                          </a:solidFill>
                          <a:latin typeface="Calibri"/>
                          <a:cs typeface="Calibri"/>
                        </a:rPr>
                        <a:t>de</a:t>
                      </a:r>
                      <a:r>
                        <a:rPr dirty="0" sz="1600" spc="-15">
                          <a:solidFill>
                            <a:srgbClr val="4E3629"/>
                          </a:solidFill>
                          <a:latin typeface="Calibri"/>
                          <a:cs typeface="Calibri"/>
                        </a:rPr>
                        <a:t> </a:t>
                      </a:r>
                      <a:r>
                        <a:rPr dirty="0" sz="1600" spc="-10">
                          <a:solidFill>
                            <a:srgbClr val="4E3629"/>
                          </a:solidFill>
                          <a:latin typeface="Calibri"/>
                          <a:cs typeface="Calibri"/>
                        </a:rPr>
                        <a:t>haanl</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graphicFrame>
        <p:nvGraphicFramePr>
          <p:cNvPr id="4" name="object 4"/>
          <p:cNvGraphicFramePr>
            <a:graphicFrameLocks noGrp="1"/>
          </p:cNvGraphicFramePr>
          <p:nvPr/>
        </p:nvGraphicFramePr>
        <p:xfrm>
          <a:off x="1488281" y="4289004"/>
          <a:ext cx="6243955" cy="1522730"/>
        </p:xfrm>
        <a:graphic>
          <a:graphicData uri="http://schemas.openxmlformats.org/drawingml/2006/table">
            <a:tbl>
              <a:tblPr firstRow="1" bandRow="1">
                <a:tableStyleId>{2D5ABB26-0587-4C30-8999-92F81FD0307C}</a:tableStyleId>
              </a:tblPr>
              <a:tblGrid>
                <a:gridCol w="6155055"/>
              </a:tblGrid>
              <a:tr h="334645">
                <a:tc>
                  <a:txBody>
                    <a:bodyPr/>
                    <a:lstStyle/>
                    <a:p>
                      <a:pPr marL="91440">
                        <a:lnSpc>
                          <a:spcPct val="100000"/>
                        </a:lnSpc>
                        <a:spcBef>
                          <a:spcPts val="270"/>
                        </a:spcBef>
                      </a:pPr>
                      <a:r>
                        <a:rPr dirty="0" sz="1600" spc="-10" b="1">
                          <a:solidFill>
                            <a:srgbClr val="4E3629"/>
                          </a:solidFill>
                          <a:latin typeface="Calibri"/>
                          <a:cs typeface="Calibri"/>
                        </a:rPr>
                        <a:t>LOWER(LAST_NAME)||LOWER(SUBSTR(FIRST_NAME,1,1))</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96240">
                <a:tc>
                  <a:txBody>
                    <a:bodyPr/>
                    <a:lstStyle/>
                    <a:p>
                      <a:pPr marL="114300">
                        <a:lnSpc>
                          <a:spcPct val="100000"/>
                        </a:lnSpc>
                        <a:spcBef>
                          <a:spcPts val="500"/>
                        </a:spcBef>
                      </a:pPr>
                      <a:r>
                        <a:rPr dirty="0" sz="1600" spc="-20">
                          <a:solidFill>
                            <a:srgbClr val="4E3629"/>
                          </a:solidFill>
                          <a:latin typeface="Calibri"/>
                          <a:cs typeface="Calibri"/>
                        </a:rPr>
                        <a:t>does</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95605">
                <a:tc>
                  <a:txBody>
                    <a:bodyPr/>
                    <a:lstStyle/>
                    <a:p>
                      <a:pPr marL="114300">
                        <a:lnSpc>
                          <a:spcPct val="100000"/>
                        </a:lnSpc>
                        <a:spcBef>
                          <a:spcPts val="500"/>
                        </a:spcBef>
                      </a:pPr>
                      <a:r>
                        <a:rPr dirty="0" sz="1600" spc="-10">
                          <a:solidFill>
                            <a:srgbClr val="4E3629"/>
                          </a:solidFill>
                          <a:latin typeface="Calibri"/>
                          <a:cs typeface="Calibri"/>
                        </a:rPr>
                        <a:t>millerb</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96240">
                <a:tc>
                  <a:txBody>
                    <a:bodyPr/>
                    <a:lstStyle/>
                    <a:p>
                      <a:pPr marL="114300">
                        <a:lnSpc>
                          <a:spcPct val="100000"/>
                        </a:lnSpc>
                        <a:spcBef>
                          <a:spcPts val="500"/>
                        </a:spcBef>
                      </a:pPr>
                      <a:r>
                        <a:rPr dirty="0" sz="1600" spc="-10">
                          <a:solidFill>
                            <a:srgbClr val="4E3629"/>
                          </a:solidFill>
                          <a:latin typeface="Calibri"/>
                          <a:cs typeface="Calibri"/>
                        </a:rPr>
                        <a:t>tuttlem</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p:cNvSpPr txBox="1"/>
          <p:nvPr/>
        </p:nvSpPr>
        <p:spPr>
          <a:xfrm>
            <a:off x="393191" y="1615439"/>
            <a:ext cx="6400800" cy="1163320"/>
          </a:xfrm>
          <a:prstGeom prst="rect">
            <a:avLst/>
          </a:prstGeom>
          <a:solidFill>
            <a:srgbClr val="9DBEC4">
              <a:alpha val="50199"/>
            </a:srgbClr>
          </a:solidFill>
        </p:spPr>
        <p:txBody>
          <a:bodyPr wrap="square" lIns="0" tIns="5080" rIns="0" bIns="0" rtlCol="0" vert="horz">
            <a:spAutoFit/>
          </a:bodyPr>
          <a:lstStyle/>
          <a:p>
            <a:pPr marR="2433320">
              <a:lnSpc>
                <a:spcPct val="100000"/>
              </a:lnSpc>
              <a:spcBef>
                <a:spcPts val="40"/>
              </a:spcBef>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LOWER(last_name)|| LOWER(SUBSTR(first_name,1,1))</a:t>
            </a:r>
            <a:endParaRPr sz="1800">
              <a:latin typeface="Courier New"/>
              <a:cs typeface="Courier New"/>
            </a:endParaRPr>
          </a:p>
          <a:p>
            <a:pPr marR="4207510" indent="274320">
              <a:lnSpc>
                <a:spcPct val="100000"/>
              </a:lnSpc>
            </a:pPr>
            <a:r>
              <a:rPr dirty="0" sz="1800" b="1">
                <a:solidFill>
                  <a:srgbClr val="4E3629"/>
                </a:solidFill>
                <a:latin typeface="Courier New"/>
                <a:cs typeface="Courier New"/>
              </a:rPr>
              <a:t>AS</a:t>
            </a:r>
            <a:r>
              <a:rPr dirty="0" sz="1800" spc="-40" b="1">
                <a:solidFill>
                  <a:srgbClr val="4E3629"/>
                </a:solidFill>
                <a:latin typeface="Courier New"/>
                <a:cs typeface="Courier New"/>
              </a:rPr>
              <a:t> </a:t>
            </a:r>
            <a:r>
              <a:rPr dirty="0" sz="1800" b="1">
                <a:solidFill>
                  <a:srgbClr val="4E3629"/>
                </a:solidFill>
                <a:latin typeface="Courier New"/>
                <a:cs typeface="Courier New"/>
              </a:rPr>
              <a:t>"User</a:t>
            </a:r>
            <a:r>
              <a:rPr dirty="0" sz="1800" spc="-45" b="1">
                <a:solidFill>
                  <a:srgbClr val="4E3629"/>
                </a:solidFill>
                <a:latin typeface="Courier New"/>
                <a:cs typeface="Courier New"/>
              </a:rPr>
              <a:t> </a:t>
            </a:r>
            <a:r>
              <a:rPr dirty="0" sz="1800" spc="-10" b="1">
                <a:solidFill>
                  <a:srgbClr val="4E3629"/>
                </a:solidFill>
                <a:latin typeface="Courier New"/>
                <a:cs typeface="Courier New"/>
              </a:rPr>
              <a:t>Name"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p:txBody>
      </p:sp>
      <p:sp>
        <p:nvSpPr>
          <p:cNvPr id="6" name="object 6"/>
          <p:cNvSpPr txBox="1"/>
          <p:nvPr/>
        </p:nvSpPr>
        <p:spPr>
          <a:xfrm>
            <a:off x="393191" y="3366515"/>
            <a:ext cx="8357870" cy="681355"/>
          </a:xfrm>
          <a:prstGeom prst="rect">
            <a:avLst/>
          </a:prstGeom>
          <a:solidFill>
            <a:srgbClr val="9DBEC4">
              <a:alpha val="50199"/>
            </a:srgbClr>
          </a:solidFill>
        </p:spPr>
        <p:txBody>
          <a:bodyPr wrap="square" lIns="0" tIns="38100" rIns="0" bIns="0" rtlCol="0" vert="horz">
            <a:spAutoFit/>
          </a:bodyPr>
          <a:lstStyle/>
          <a:p>
            <a:pPr marR="842644">
              <a:lnSpc>
                <a:spcPct val="100000"/>
              </a:lnSpc>
              <a:spcBef>
                <a:spcPts val="300"/>
              </a:spcBef>
            </a:pPr>
            <a:r>
              <a:rPr dirty="0" sz="1800" b="1">
                <a:solidFill>
                  <a:srgbClr val="4E3629"/>
                </a:solidFill>
                <a:latin typeface="Courier New"/>
                <a:cs typeface="Courier New"/>
              </a:rPr>
              <a:t>SELECT</a:t>
            </a:r>
            <a:r>
              <a:rPr dirty="0" sz="1800" spc="-65" b="1">
                <a:solidFill>
                  <a:srgbClr val="4E3629"/>
                </a:solidFill>
                <a:latin typeface="Courier New"/>
                <a:cs typeface="Courier New"/>
              </a:rPr>
              <a:t> </a:t>
            </a:r>
            <a:r>
              <a:rPr dirty="0" sz="1800" b="1">
                <a:solidFill>
                  <a:srgbClr val="4E3629"/>
                </a:solidFill>
                <a:latin typeface="Courier New"/>
                <a:cs typeface="Courier New"/>
              </a:rPr>
              <a:t>LOWER</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(last_name)||LOWER(SUBSTR(first_name,1,1))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f_staffs;</a:t>
            </a:r>
            <a:endParaRPr sz="1800">
              <a:latin typeface="Courier New"/>
              <a:cs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p:cNvPicPr/>
            <p:nvPr/>
          </p:nvPicPr>
          <p:blipFill>
            <a:blip r:embed="rId3" cstate="print"/>
            <a:stretch>
              <a:fillRect/>
            </a:stretch>
          </p:blipFill>
          <p:spPr>
            <a:xfrm>
              <a:off x="970787" y="5570219"/>
              <a:ext cx="1258824" cy="420623"/>
            </a:xfrm>
            <a:prstGeom prst="rect">
              <a:avLst/>
            </a:prstGeom>
          </p:spPr>
        </p:pic>
      </p:grpSp>
      <p:sp>
        <p:nvSpPr>
          <p:cNvPr id="6" name="object 6"/>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descr="$PPTXTitle"/>
          <p:cNvSpPr txBox="1">
            <a:spLocks noGrp="1"/>
          </p:cNvSpPr>
          <p:nvPr>
            <p:ph type="body" idx="1"/>
          </p:nvPr>
        </p:nvSpPr>
        <p:spPr>
          <a:prstGeom prst="rect"/>
        </p:spPr>
        <p:txBody>
          <a:bodyPr wrap="square" lIns="0" tIns="153670" rIns="0" bIns="0" rtlCol="0" vert="horz">
            <a:spAutoFit/>
          </a:bodyPr>
          <a:lstStyle/>
          <a:p>
            <a:pPr marL="12700" marR="5080">
              <a:lnSpc>
                <a:spcPts val="4610"/>
              </a:lnSpc>
              <a:spcBef>
                <a:spcPts val="1210"/>
              </a:spcBef>
            </a:pPr>
            <a:r>
              <a:rPr dirty="0"/>
              <a:t>Database</a:t>
            </a:r>
            <a:r>
              <a:rPr dirty="0" spc="-190"/>
              <a:t> </a:t>
            </a:r>
            <a:r>
              <a:rPr dirty="0" spc="-20"/>
              <a:t>Programming</a:t>
            </a:r>
            <a:r>
              <a:rPr dirty="0" spc="-185"/>
              <a:t> </a:t>
            </a:r>
            <a:r>
              <a:rPr dirty="0" spc="-20"/>
              <a:t>with </a:t>
            </a:r>
            <a:r>
              <a:rPr dirty="0" spc="-25"/>
              <a:t>SQL</a:t>
            </a:r>
          </a:p>
        </p:txBody>
      </p:sp>
      <p:sp>
        <p:nvSpPr>
          <p:cNvPr id="8" name="object 8"/>
          <p:cNvSpPr txBox="1"/>
          <p:nvPr/>
        </p:nvSpPr>
        <p:spPr>
          <a:xfrm>
            <a:off x="962879" y="2400950"/>
            <a:ext cx="2713990"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4-</a:t>
            </a:r>
            <a:r>
              <a:rPr dirty="0" sz="2400" spc="-50" b="1">
                <a:solidFill>
                  <a:srgbClr val="4E3629"/>
                </a:solidFill>
                <a:latin typeface="Calibri"/>
                <a:cs typeface="Calibri"/>
              </a:rPr>
              <a:t>2</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Funciones</a:t>
            </a:r>
            <a:r>
              <a:rPr dirty="0" sz="2400" spc="-55" b="1">
                <a:solidFill>
                  <a:srgbClr val="4E3629"/>
                </a:solidFill>
                <a:latin typeface="Calibri"/>
                <a:cs typeface="Calibri"/>
              </a:rPr>
              <a:t> </a:t>
            </a:r>
            <a:r>
              <a:rPr dirty="0" sz="2400" spc="-10" b="1">
                <a:solidFill>
                  <a:srgbClr val="4E3629"/>
                </a:solidFill>
                <a:latin typeface="Calibri"/>
                <a:cs typeface="Calibri"/>
              </a:rPr>
              <a:t>Numéricas</a:t>
            </a:r>
            <a:endParaRPr sz="2400">
              <a:latin typeface="Calibri"/>
              <a:cs typeface="Calibri"/>
            </a:endParaRPr>
          </a:p>
        </p:txBody>
      </p:sp>
      <p:pic>
        <p:nvPicPr>
          <p:cNvPr id="9" name="object 9" descr="86527974.jpg"/>
          <p:cNvPicPr/>
          <p:nvPr/>
        </p:nvPicPr>
        <p:blipFill>
          <a:blip r:embed="rId4" cstate="print"/>
          <a:stretch>
            <a:fillRect/>
          </a:stretch>
        </p:blipFill>
        <p:spPr>
          <a:xfrm>
            <a:off x="3698747" y="3485388"/>
            <a:ext cx="5058156" cy="296570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Funciones</a:t>
            </a:r>
            <a:r>
              <a:rPr dirty="0" spc="-70"/>
              <a:t> </a:t>
            </a:r>
            <a:r>
              <a:rPr dirty="0" spc="-10"/>
              <a:t>Numéricas</a:t>
            </a:r>
          </a:p>
        </p:txBody>
      </p:sp>
      <p:sp>
        <p:nvSpPr>
          <p:cNvPr id="3" name="object 3"/>
          <p:cNvSpPr txBox="1"/>
          <p:nvPr/>
        </p:nvSpPr>
        <p:spPr>
          <a:xfrm>
            <a:off x="483552" y="1393401"/>
            <a:ext cx="5041900" cy="1617345"/>
          </a:xfrm>
          <a:prstGeom prst="rect">
            <a:avLst/>
          </a:prstGeom>
        </p:spPr>
        <p:txBody>
          <a:bodyPr wrap="square" lIns="0" tIns="34290" rIns="0" bIns="0" rtlCol="0" vert="horz">
            <a:spAutoFit/>
          </a:bodyPr>
          <a:lstStyle/>
          <a:p>
            <a:pPr marL="183515" indent="-170815">
              <a:lnSpc>
                <a:spcPct val="100000"/>
              </a:lnSpc>
              <a:spcBef>
                <a:spcPts val="270"/>
              </a:spcBef>
              <a:buClr>
                <a:srgbClr val="D1350F"/>
              </a:buClr>
              <a:buFont typeface="Arial MT"/>
              <a:buChar char="•"/>
              <a:tabLst>
                <a:tab pos="183515" algn="l"/>
              </a:tabLst>
            </a:pPr>
            <a:r>
              <a:rPr dirty="0" sz="2800">
                <a:solidFill>
                  <a:srgbClr val="4E3629"/>
                </a:solidFill>
                <a:latin typeface="Calibri"/>
                <a:cs typeface="Calibri"/>
              </a:rPr>
              <a:t>Las</a:t>
            </a:r>
            <a:r>
              <a:rPr dirty="0" sz="2800" spc="-90">
                <a:solidFill>
                  <a:srgbClr val="4E3629"/>
                </a:solidFill>
                <a:latin typeface="Calibri"/>
                <a:cs typeface="Calibri"/>
              </a:rPr>
              <a:t> </a:t>
            </a:r>
            <a:r>
              <a:rPr dirty="0" sz="2800">
                <a:solidFill>
                  <a:srgbClr val="4E3629"/>
                </a:solidFill>
                <a:latin typeface="Calibri"/>
                <a:cs typeface="Calibri"/>
              </a:rPr>
              <a:t>tres</a:t>
            </a:r>
            <a:r>
              <a:rPr dirty="0" sz="2800" spc="-70">
                <a:solidFill>
                  <a:srgbClr val="4E3629"/>
                </a:solidFill>
                <a:latin typeface="Calibri"/>
                <a:cs typeface="Calibri"/>
              </a:rPr>
              <a:t> </a:t>
            </a:r>
            <a:r>
              <a:rPr dirty="0" sz="2800">
                <a:solidFill>
                  <a:srgbClr val="4E3629"/>
                </a:solidFill>
                <a:latin typeface="Calibri"/>
                <a:cs typeface="Calibri"/>
              </a:rPr>
              <a:t>funciones</a:t>
            </a:r>
            <a:r>
              <a:rPr dirty="0" sz="2800" spc="-50">
                <a:solidFill>
                  <a:srgbClr val="4E3629"/>
                </a:solidFill>
                <a:latin typeface="Calibri"/>
                <a:cs typeface="Calibri"/>
              </a:rPr>
              <a:t> </a:t>
            </a:r>
            <a:r>
              <a:rPr dirty="0" sz="2800">
                <a:solidFill>
                  <a:srgbClr val="4E3629"/>
                </a:solidFill>
                <a:latin typeface="Calibri"/>
                <a:cs typeface="Calibri"/>
              </a:rPr>
              <a:t>numéricas</a:t>
            </a:r>
            <a:r>
              <a:rPr dirty="0" sz="2800" spc="-60">
                <a:solidFill>
                  <a:srgbClr val="4E3629"/>
                </a:solidFill>
                <a:latin typeface="Calibri"/>
                <a:cs typeface="Calibri"/>
              </a:rPr>
              <a:t> </a:t>
            </a:r>
            <a:r>
              <a:rPr dirty="0" sz="2800" spc="-20">
                <a:solidFill>
                  <a:srgbClr val="4E3629"/>
                </a:solidFill>
                <a:latin typeface="Calibri"/>
                <a:cs typeface="Calibri"/>
              </a:rPr>
              <a:t>son:</a:t>
            </a:r>
            <a:endParaRPr sz="2800">
              <a:latin typeface="Calibri"/>
              <a:cs typeface="Calibri"/>
            </a:endParaRPr>
          </a:p>
          <a:p>
            <a:pPr marL="355600">
              <a:lnSpc>
                <a:spcPct val="100000"/>
              </a:lnSpc>
              <a:spcBef>
                <a:spcPts val="145"/>
              </a:spcBef>
            </a:pPr>
            <a:r>
              <a:rPr dirty="0" sz="2400" spc="-10">
                <a:solidFill>
                  <a:srgbClr val="D1350F"/>
                </a:solidFill>
                <a:latin typeface="Calibri"/>
                <a:cs typeface="Calibri"/>
              </a:rPr>
              <a:t>−</a:t>
            </a:r>
            <a:r>
              <a:rPr dirty="0" sz="2400" spc="-10">
                <a:solidFill>
                  <a:srgbClr val="4E3629"/>
                </a:solidFill>
                <a:latin typeface="Calibri"/>
                <a:cs typeface="Calibri"/>
              </a:rPr>
              <a:t>ROUND</a:t>
            </a:r>
            <a:endParaRPr sz="2400">
              <a:latin typeface="Calibri"/>
              <a:cs typeface="Calibri"/>
            </a:endParaRPr>
          </a:p>
          <a:p>
            <a:pPr marL="355600">
              <a:lnSpc>
                <a:spcPct val="100000"/>
              </a:lnSpc>
              <a:spcBef>
                <a:spcPts val="110"/>
              </a:spcBef>
            </a:pPr>
            <a:r>
              <a:rPr dirty="0" sz="2400" spc="-10">
                <a:solidFill>
                  <a:srgbClr val="D1350F"/>
                </a:solidFill>
                <a:latin typeface="Calibri"/>
                <a:cs typeface="Calibri"/>
              </a:rPr>
              <a:t>−</a:t>
            </a:r>
            <a:r>
              <a:rPr dirty="0" sz="2400" spc="-10">
                <a:solidFill>
                  <a:srgbClr val="4E3629"/>
                </a:solidFill>
                <a:latin typeface="Calibri"/>
                <a:cs typeface="Calibri"/>
              </a:rPr>
              <a:t>TRUNC</a:t>
            </a:r>
            <a:endParaRPr sz="2400">
              <a:latin typeface="Calibri"/>
              <a:cs typeface="Calibri"/>
            </a:endParaRPr>
          </a:p>
          <a:p>
            <a:pPr marL="355600">
              <a:lnSpc>
                <a:spcPct val="100000"/>
              </a:lnSpc>
              <a:spcBef>
                <a:spcPts val="105"/>
              </a:spcBef>
            </a:pPr>
            <a:r>
              <a:rPr dirty="0" sz="2400" spc="-20">
                <a:solidFill>
                  <a:srgbClr val="D1350F"/>
                </a:solidFill>
                <a:latin typeface="Calibri"/>
                <a:cs typeface="Calibri"/>
              </a:rPr>
              <a:t>−</a:t>
            </a:r>
            <a:r>
              <a:rPr dirty="0" sz="2400" spc="-20">
                <a:solidFill>
                  <a:srgbClr val="4E3629"/>
                </a:solidFill>
                <a:latin typeface="Calibri"/>
                <a:cs typeface="Calibri"/>
              </a:rPr>
              <a:t>MOD</a:t>
            </a:r>
            <a:endParaRPr sz="2400">
              <a:latin typeface="Calibri"/>
              <a:cs typeface="Calibri"/>
            </a:endParaRPr>
          </a:p>
        </p:txBody>
      </p:sp>
      <p:grpSp>
        <p:nvGrpSpPr>
          <p:cNvPr id="4" name="object 4"/>
          <p:cNvGrpSpPr/>
          <p:nvPr/>
        </p:nvGrpSpPr>
        <p:grpSpPr>
          <a:xfrm>
            <a:off x="5049011" y="2540520"/>
            <a:ext cx="3542029" cy="3540760"/>
            <a:chOff x="5049011" y="2540520"/>
            <a:chExt cx="3542029" cy="3540760"/>
          </a:xfrm>
        </p:grpSpPr>
        <p:pic>
          <p:nvPicPr>
            <p:cNvPr id="5" name="object 5"/>
            <p:cNvPicPr/>
            <p:nvPr/>
          </p:nvPicPr>
          <p:blipFill>
            <a:blip r:embed="rId2" cstate="print"/>
            <a:stretch>
              <a:fillRect/>
            </a:stretch>
          </p:blipFill>
          <p:spPr>
            <a:xfrm>
              <a:off x="5049011" y="2540520"/>
              <a:ext cx="3541776" cy="3540238"/>
            </a:xfrm>
            <a:prstGeom prst="rect">
              <a:avLst/>
            </a:prstGeom>
          </p:spPr>
        </p:pic>
        <p:pic>
          <p:nvPicPr>
            <p:cNvPr id="6" name="object 6"/>
            <p:cNvPicPr/>
            <p:nvPr/>
          </p:nvPicPr>
          <p:blipFill>
            <a:blip r:embed="rId3" cstate="print"/>
            <a:stretch>
              <a:fillRect/>
            </a:stretch>
          </p:blipFill>
          <p:spPr>
            <a:xfrm>
              <a:off x="5241035" y="2732531"/>
              <a:ext cx="3155154" cy="3152204"/>
            </a:xfrm>
            <a:prstGeom prst="rect">
              <a:avLst/>
            </a:prstGeom>
          </p:spPr>
        </p:pic>
      </p:grpSp>
      <p:sp>
        <p:nvSpPr>
          <p:cNvPr id="7" name="object 7"/>
          <p:cNvSpPr txBox="1"/>
          <p:nvPr/>
        </p:nvSpPr>
        <p:spPr>
          <a:xfrm>
            <a:off x="2855904" y="6510552"/>
            <a:ext cx="96393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10">
                <a:solidFill>
                  <a:srgbClr val="4E3629"/>
                </a:solidFill>
                <a:latin typeface="Calibri"/>
                <a:cs typeface="Calibri"/>
              </a:rPr>
              <a:t>Numéricas</a:t>
            </a:r>
            <a:endParaRPr sz="850">
              <a:latin typeface="Calibri"/>
              <a:cs typeface="Calibri"/>
            </a:endParaRP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6</a:t>
            </a: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ROUND</a:t>
            </a:r>
          </a:p>
        </p:txBody>
      </p:sp>
      <p:sp>
        <p:nvSpPr>
          <p:cNvPr id="6" name="object 6"/>
          <p:cNvSpPr txBox="1"/>
          <p:nvPr/>
        </p:nvSpPr>
        <p:spPr>
          <a:xfrm>
            <a:off x="2855904" y="6510552"/>
            <a:ext cx="96393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10">
                <a:solidFill>
                  <a:srgbClr val="4E3629"/>
                </a:solidFill>
                <a:latin typeface="Calibri"/>
                <a:cs typeface="Calibri"/>
              </a:rPr>
              <a:t>Numéricas</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7</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359029"/>
            <a:ext cx="7562215" cy="2289175"/>
          </a:xfrm>
          <a:prstGeom prst="rect">
            <a:avLst/>
          </a:prstGeom>
        </p:spPr>
        <p:txBody>
          <a:bodyPr wrap="square" lIns="0" tIns="132080" rIns="0" bIns="0" rtlCol="0" vert="horz">
            <a:spAutoFit/>
          </a:bodyPr>
          <a:lstStyle/>
          <a:p>
            <a:pPr marL="184785" marR="73660" indent="-172720">
              <a:lnSpc>
                <a:spcPct val="70000"/>
              </a:lnSpc>
              <a:spcBef>
                <a:spcPts val="1040"/>
              </a:spcBef>
              <a:buClr>
                <a:srgbClr val="D1350F"/>
              </a:buClr>
              <a:buFont typeface="Arial MT"/>
              <a:buChar char="•"/>
              <a:tabLst>
                <a:tab pos="184785" algn="l"/>
              </a:tabLst>
            </a:pPr>
            <a:r>
              <a:rPr dirty="0" sz="2600">
                <a:solidFill>
                  <a:srgbClr val="4E3629"/>
                </a:solidFill>
                <a:latin typeface="Calibri"/>
                <a:cs typeface="Calibri"/>
              </a:rPr>
              <a:t>ROUND</a:t>
            </a:r>
            <a:r>
              <a:rPr dirty="0" sz="2600" spc="-75">
                <a:solidFill>
                  <a:srgbClr val="4E3629"/>
                </a:solidFill>
                <a:latin typeface="Calibri"/>
                <a:cs typeface="Calibri"/>
              </a:rPr>
              <a:t> </a:t>
            </a:r>
            <a:r>
              <a:rPr dirty="0" sz="2600">
                <a:solidFill>
                  <a:srgbClr val="4E3629"/>
                </a:solidFill>
                <a:latin typeface="Calibri"/>
                <a:cs typeface="Calibri"/>
              </a:rPr>
              <a:t>se</a:t>
            </a:r>
            <a:r>
              <a:rPr dirty="0" sz="2600" spc="-80">
                <a:solidFill>
                  <a:srgbClr val="4E3629"/>
                </a:solidFill>
                <a:latin typeface="Calibri"/>
                <a:cs typeface="Calibri"/>
              </a:rPr>
              <a:t> </a:t>
            </a:r>
            <a:r>
              <a:rPr dirty="0" sz="2600">
                <a:solidFill>
                  <a:srgbClr val="4E3629"/>
                </a:solidFill>
                <a:latin typeface="Calibri"/>
                <a:cs typeface="Calibri"/>
              </a:rPr>
              <a:t>puede</a:t>
            </a:r>
            <a:r>
              <a:rPr dirty="0" sz="2600" spc="-80">
                <a:solidFill>
                  <a:srgbClr val="4E3629"/>
                </a:solidFill>
                <a:latin typeface="Calibri"/>
                <a:cs typeface="Calibri"/>
              </a:rPr>
              <a:t> </a:t>
            </a:r>
            <a:r>
              <a:rPr dirty="0" sz="2600">
                <a:solidFill>
                  <a:srgbClr val="4E3629"/>
                </a:solidFill>
                <a:latin typeface="Calibri"/>
                <a:cs typeface="Calibri"/>
              </a:rPr>
              <a:t>utilizar</a:t>
            </a:r>
            <a:r>
              <a:rPr dirty="0" sz="2600" spc="-65">
                <a:solidFill>
                  <a:srgbClr val="4E3629"/>
                </a:solidFill>
                <a:latin typeface="Calibri"/>
                <a:cs typeface="Calibri"/>
              </a:rPr>
              <a:t> </a:t>
            </a:r>
            <a:r>
              <a:rPr dirty="0" sz="2600">
                <a:solidFill>
                  <a:srgbClr val="4E3629"/>
                </a:solidFill>
                <a:latin typeface="Calibri"/>
                <a:cs typeface="Calibri"/>
              </a:rPr>
              <a:t>tanto</a:t>
            </a:r>
            <a:r>
              <a:rPr dirty="0" sz="2600" spc="-60">
                <a:solidFill>
                  <a:srgbClr val="4E3629"/>
                </a:solidFill>
                <a:latin typeface="Calibri"/>
                <a:cs typeface="Calibri"/>
              </a:rPr>
              <a:t> </a:t>
            </a:r>
            <a:r>
              <a:rPr dirty="0" sz="2600">
                <a:solidFill>
                  <a:srgbClr val="4E3629"/>
                </a:solidFill>
                <a:latin typeface="Calibri"/>
                <a:cs typeface="Calibri"/>
              </a:rPr>
              <a:t>con</a:t>
            </a:r>
            <a:r>
              <a:rPr dirty="0" sz="2600" spc="-60">
                <a:solidFill>
                  <a:srgbClr val="4E3629"/>
                </a:solidFill>
                <a:latin typeface="Calibri"/>
                <a:cs typeface="Calibri"/>
              </a:rPr>
              <a:t> </a:t>
            </a:r>
            <a:r>
              <a:rPr dirty="0" sz="2600">
                <a:solidFill>
                  <a:srgbClr val="4E3629"/>
                </a:solidFill>
                <a:latin typeface="Calibri"/>
                <a:cs typeface="Calibri"/>
              </a:rPr>
              <a:t>números</a:t>
            </a:r>
            <a:r>
              <a:rPr dirty="0" sz="2600" spc="-80">
                <a:solidFill>
                  <a:srgbClr val="4E3629"/>
                </a:solidFill>
                <a:latin typeface="Calibri"/>
                <a:cs typeface="Calibri"/>
              </a:rPr>
              <a:t> </a:t>
            </a:r>
            <a:r>
              <a:rPr dirty="0" sz="2600">
                <a:solidFill>
                  <a:srgbClr val="4E3629"/>
                </a:solidFill>
                <a:latin typeface="Calibri"/>
                <a:cs typeface="Calibri"/>
              </a:rPr>
              <a:t>como</a:t>
            </a:r>
            <a:r>
              <a:rPr dirty="0" sz="2600" spc="-50">
                <a:solidFill>
                  <a:srgbClr val="4E3629"/>
                </a:solidFill>
                <a:latin typeface="Calibri"/>
                <a:cs typeface="Calibri"/>
              </a:rPr>
              <a:t> </a:t>
            </a:r>
            <a:r>
              <a:rPr dirty="0" sz="2600" spc="-25">
                <a:solidFill>
                  <a:srgbClr val="4E3629"/>
                </a:solidFill>
                <a:latin typeface="Calibri"/>
                <a:cs typeface="Calibri"/>
              </a:rPr>
              <a:t>con </a:t>
            </a:r>
            <a:r>
              <a:rPr dirty="0" sz="2600" spc="-10">
                <a:solidFill>
                  <a:srgbClr val="4E3629"/>
                </a:solidFill>
                <a:latin typeface="Calibri"/>
                <a:cs typeface="Calibri"/>
              </a:rPr>
              <a:t>fechas</a:t>
            </a:r>
            <a:endParaRPr sz="2600">
              <a:latin typeface="Calibri"/>
              <a:cs typeface="Calibri"/>
            </a:endParaRPr>
          </a:p>
          <a:p>
            <a:pPr marL="184785" indent="-172085">
              <a:lnSpc>
                <a:spcPts val="2510"/>
              </a:lnSpc>
              <a:buClr>
                <a:srgbClr val="D1350F"/>
              </a:buClr>
              <a:buFont typeface="Arial MT"/>
              <a:buChar char="•"/>
              <a:tabLst>
                <a:tab pos="184785" algn="l"/>
              </a:tabLst>
            </a:pPr>
            <a:r>
              <a:rPr dirty="0" sz="2600">
                <a:solidFill>
                  <a:srgbClr val="4E3629"/>
                </a:solidFill>
                <a:latin typeface="Calibri"/>
                <a:cs typeface="Calibri"/>
              </a:rPr>
              <a:t>Se</a:t>
            </a:r>
            <a:r>
              <a:rPr dirty="0" sz="2600" spc="-75">
                <a:solidFill>
                  <a:srgbClr val="4E3629"/>
                </a:solidFill>
                <a:latin typeface="Calibri"/>
                <a:cs typeface="Calibri"/>
              </a:rPr>
              <a:t> </a:t>
            </a:r>
            <a:r>
              <a:rPr dirty="0" sz="2600">
                <a:solidFill>
                  <a:srgbClr val="4E3629"/>
                </a:solidFill>
                <a:latin typeface="Calibri"/>
                <a:cs typeface="Calibri"/>
              </a:rPr>
              <a:t>utiliza</a:t>
            </a:r>
            <a:r>
              <a:rPr dirty="0" sz="2600" spc="-60">
                <a:solidFill>
                  <a:srgbClr val="4E3629"/>
                </a:solidFill>
                <a:latin typeface="Calibri"/>
                <a:cs typeface="Calibri"/>
              </a:rPr>
              <a:t> </a:t>
            </a:r>
            <a:r>
              <a:rPr dirty="0" sz="2600">
                <a:solidFill>
                  <a:srgbClr val="4E3629"/>
                </a:solidFill>
                <a:latin typeface="Calibri"/>
                <a:cs typeface="Calibri"/>
              </a:rPr>
              <a:t>principalmente</a:t>
            </a:r>
            <a:r>
              <a:rPr dirty="0" sz="2600" spc="-110">
                <a:solidFill>
                  <a:srgbClr val="4E3629"/>
                </a:solidFill>
                <a:latin typeface="Calibri"/>
                <a:cs typeface="Calibri"/>
              </a:rPr>
              <a:t> </a:t>
            </a:r>
            <a:r>
              <a:rPr dirty="0" sz="2600">
                <a:solidFill>
                  <a:srgbClr val="4E3629"/>
                </a:solidFill>
                <a:latin typeface="Calibri"/>
                <a:cs typeface="Calibri"/>
              </a:rPr>
              <a:t>para</a:t>
            </a:r>
            <a:r>
              <a:rPr dirty="0" sz="2600" spc="-70">
                <a:solidFill>
                  <a:srgbClr val="4E3629"/>
                </a:solidFill>
                <a:latin typeface="Calibri"/>
                <a:cs typeface="Calibri"/>
              </a:rPr>
              <a:t> </a:t>
            </a:r>
            <a:r>
              <a:rPr dirty="0" sz="2600">
                <a:solidFill>
                  <a:srgbClr val="4E3629"/>
                </a:solidFill>
                <a:latin typeface="Calibri"/>
                <a:cs typeface="Calibri"/>
              </a:rPr>
              <a:t>redondear</a:t>
            </a:r>
            <a:r>
              <a:rPr dirty="0" sz="2600" spc="-80">
                <a:solidFill>
                  <a:srgbClr val="4E3629"/>
                </a:solidFill>
                <a:latin typeface="Calibri"/>
                <a:cs typeface="Calibri"/>
              </a:rPr>
              <a:t> </a:t>
            </a:r>
            <a:r>
              <a:rPr dirty="0" sz="2600">
                <a:solidFill>
                  <a:srgbClr val="4E3629"/>
                </a:solidFill>
                <a:latin typeface="Calibri"/>
                <a:cs typeface="Calibri"/>
              </a:rPr>
              <a:t>números</a:t>
            </a:r>
            <a:r>
              <a:rPr dirty="0" sz="2600" spc="-85">
                <a:solidFill>
                  <a:srgbClr val="4E3629"/>
                </a:solidFill>
                <a:latin typeface="Calibri"/>
                <a:cs typeface="Calibri"/>
              </a:rPr>
              <a:t> </a:t>
            </a:r>
            <a:r>
              <a:rPr dirty="0" sz="2600">
                <a:solidFill>
                  <a:srgbClr val="4E3629"/>
                </a:solidFill>
                <a:latin typeface="Calibri"/>
                <a:cs typeface="Calibri"/>
              </a:rPr>
              <a:t>a</a:t>
            </a:r>
            <a:r>
              <a:rPr dirty="0" sz="2600" spc="-60">
                <a:solidFill>
                  <a:srgbClr val="4E3629"/>
                </a:solidFill>
                <a:latin typeface="Calibri"/>
                <a:cs typeface="Calibri"/>
              </a:rPr>
              <a:t> </a:t>
            </a:r>
            <a:r>
              <a:rPr dirty="0" sz="2600" spc="-25">
                <a:solidFill>
                  <a:srgbClr val="4E3629"/>
                </a:solidFill>
                <a:latin typeface="Calibri"/>
                <a:cs typeface="Calibri"/>
              </a:rPr>
              <a:t>un</a:t>
            </a:r>
            <a:endParaRPr sz="2600">
              <a:latin typeface="Calibri"/>
              <a:cs typeface="Calibri"/>
            </a:endParaRPr>
          </a:p>
          <a:p>
            <a:pPr marL="184785">
              <a:lnSpc>
                <a:spcPts val="2185"/>
              </a:lnSpc>
            </a:pPr>
            <a:r>
              <a:rPr dirty="0" sz="2600">
                <a:solidFill>
                  <a:srgbClr val="4E3629"/>
                </a:solidFill>
                <a:latin typeface="Calibri"/>
                <a:cs typeface="Calibri"/>
              </a:rPr>
              <a:t>número</a:t>
            </a:r>
            <a:r>
              <a:rPr dirty="0" sz="2600" spc="-75">
                <a:solidFill>
                  <a:srgbClr val="4E3629"/>
                </a:solidFill>
                <a:latin typeface="Calibri"/>
                <a:cs typeface="Calibri"/>
              </a:rPr>
              <a:t> </a:t>
            </a:r>
            <a:r>
              <a:rPr dirty="0" sz="2600">
                <a:solidFill>
                  <a:srgbClr val="4E3629"/>
                </a:solidFill>
                <a:latin typeface="Calibri"/>
                <a:cs typeface="Calibri"/>
              </a:rPr>
              <a:t>especificado</a:t>
            </a:r>
            <a:r>
              <a:rPr dirty="0" sz="2600" spc="-90">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posiciones</a:t>
            </a:r>
            <a:r>
              <a:rPr dirty="0" sz="2600" spc="-65">
                <a:solidFill>
                  <a:srgbClr val="4E3629"/>
                </a:solidFill>
                <a:latin typeface="Calibri"/>
                <a:cs typeface="Calibri"/>
              </a:rPr>
              <a:t> </a:t>
            </a:r>
            <a:r>
              <a:rPr dirty="0" sz="2600">
                <a:solidFill>
                  <a:srgbClr val="4E3629"/>
                </a:solidFill>
                <a:latin typeface="Calibri"/>
                <a:cs typeface="Calibri"/>
              </a:rPr>
              <a:t>decimales,</a:t>
            </a:r>
            <a:r>
              <a:rPr dirty="0" sz="2600" spc="-85">
                <a:solidFill>
                  <a:srgbClr val="4E3629"/>
                </a:solidFill>
                <a:latin typeface="Calibri"/>
                <a:cs typeface="Calibri"/>
              </a:rPr>
              <a:t> </a:t>
            </a:r>
            <a:r>
              <a:rPr dirty="0" sz="2600" spc="-20">
                <a:solidFill>
                  <a:srgbClr val="4E3629"/>
                </a:solidFill>
                <a:latin typeface="Calibri"/>
                <a:cs typeface="Calibri"/>
              </a:rPr>
              <a:t>pero</a:t>
            </a:r>
            <a:endParaRPr sz="2600">
              <a:latin typeface="Calibri"/>
              <a:cs typeface="Calibri"/>
            </a:endParaRPr>
          </a:p>
          <a:p>
            <a:pPr marL="184785" marR="19685">
              <a:lnSpc>
                <a:spcPct val="70000"/>
              </a:lnSpc>
              <a:spcBef>
                <a:spcPts val="465"/>
              </a:spcBef>
            </a:pPr>
            <a:r>
              <a:rPr dirty="0" sz="2600">
                <a:solidFill>
                  <a:srgbClr val="4E3629"/>
                </a:solidFill>
                <a:latin typeface="Calibri"/>
                <a:cs typeface="Calibri"/>
              </a:rPr>
              <a:t>también</a:t>
            </a:r>
            <a:r>
              <a:rPr dirty="0" sz="2600" spc="-65">
                <a:solidFill>
                  <a:srgbClr val="4E3629"/>
                </a:solidFill>
                <a:latin typeface="Calibri"/>
                <a:cs typeface="Calibri"/>
              </a:rPr>
              <a:t> </a:t>
            </a:r>
            <a:r>
              <a:rPr dirty="0" sz="2600">
                <a:solidFill>
                  <a:srgbClr val="4E3629"/>
                </a:solidFill>
                <a:latin typeface="Calibri"/>
                <a:cs typeface="Calibri"/>
              </a:rPr>
              <a:t>se</a:t>
            </a:r>
            <a:r>
              <a:rPr dirty="0" sz="2600" spc="-70">
                <a:solidFill>
                  <a:srgbClr val="4E3629"/>
                </a:solidFill>
                <a:latin typeface="Calibri"/>
                <a:cs typeface="Calibri"/>
              </a:rPr>
              <a:t> </a:t>
            </a:r>
            <a:r>
              <a:rPr dirty="0" sz="2600">
                <a:solidFill>
                  <a:srgbClr val="4E3629"/>
                </a:solidFill>
                <a:latin typeface="Calibri"/>
                <a:cs typeface="Calibri"/>
              </a:rPr>
              <a:t>puede</a:t>
            </a:r>
            <a:r>
              <a:rPr dirty="0" sz="2600" spc="-70">
                <a:solidFill>
                  <a:srgbClr val="4E3629"/>
                </a:solidFill>
                <a:latin typeface="Calibri"/>
                <a:cs typeface="Calibri"/>
              </a:rPr>
              <a:t> </a:t>
            </a:r>
            <a:r>
              <a:rPr dirty="0" sz="2600">
                <a:solidFill>
                  <a:srgbClr val="4E3629"/>
                </a:solidFill>
                <a:latin typeface="Calibri"/>
                <a:cs typeface="Calibri"/>
              </a:rPr>
              <a:t>utilizar</a:t>
            </a:r>
            <a:r>
              <a:rPr dirty="0" sz="2600" spc="-60">
                <a:solidFill>
                  <a:srgbClr val="4E3629"/>
                </a:solidFill>
                <a:latin typeface="Calibri"/>
                <a:cs typeface="Calibri"/>
              </a:rPr>
              <a:t> </a:t>
            </a:r>
            <a:r>
              <a:rPr dirty="0" sz="2600">
                <a:solidFill>
                  <a:srgbClr val="4E3629"/>
                </a:solidFill>
                <a:latin typeface="Calibri"/>
                <a:cs typeface="Calibri"/>
              </a:rPr>
              <a:t>para</a:t>
            </a:r>
            <a:r>
              <a:rPr dirty="0" sz="2600" spc="-60">
                <a:solidFill>
                  <a:srgbClr val="4E3629"/>
                </a:solidFill>
                <a:latin typeface="Calibri"/>
                <a:cs typeface="Calibri"/>
              </a:rPr>
              <a:t> </a:t>
            </a:r>
            <a:r>
              <a:rPr dirty="0" sz="2600">
                <a:solidFill>
                  <a:srgbClr val="4E3629"/>
                </a:solidFill>
                <a:latin typeface="Calibri"/>
                <a:cs typeface="Calibri"/>
              </a:rPr>
              <a:t>redondear</a:t>
            </a:r>
            <a:r>
              <a:rPr dirty="0" sz="2600" spc="-60">
                <a:solidFill>
                  <a:srgbClr val="4E3629"/>
                </a:solidFill>
                <a:latin typeface="Calibri"/>
                <a:cs typeface="Calibri"/>
              </a:rPr>
              <a:t> </a:t>
            </a:r>
            <a:r>
              <a:rPr dirty="0" sz="2600">
                <a:solidFill>
                  <a:srgbClr val="4E3629"/>
                </a:solidFill>
                <a:latin typeface="Calibri"/>
                <a:cs typeface="Calibri"/>
              </a:rPr>
              <a:t>números</a:t>
            </a:r>
            <a:r>
              <a:rPr dirty="0" sz="2600" spc="-80">
                <a:solidFill>
                  <a:srgbClr val="4E3629"/>
                </a:solidFill>
                <a:latin typeface="Calibri"/>
                <a:cs typeface="Calibri"/>
              </a:rPr>
              <a:t> </a:t>
            </a:r>
            <a:r>
              <a:rPr dirty="0" sz="2600">
                <a:solidFill>
                  <a:srgbClr val="4E3629"/>
                </a:solidFill>
                <a:latin typeface="Calibri"/>
                <a:cs typeface="Calibri"/>
              </a:rPr>
              <a:t>a</a:t>
            </a:r>
            <a:r>
              <a:rPr dirty="0" sz="2600" spc="-50">
                <a:solidFill>
                  <a:srgbClr val="4E3629"/>
                </a:solidFill>
                <a:latin typeface="Calibri"/>
                <a:cs typeface="Calibri"/>
              </a:rPr>
              <a:t> </a:t>
            </a:r>
            <a:r>
              <a:rPr dirty="0" sz="2600" spc="-25">
                <a:solidFill>
                  <a:srgbClr val="4E3629"/>
                </a:solidFill>
                <a:latin typeface="Calibri"/>
                <a:cs typeface="Calibri"/>
              </a:rPr>
              <a:t>la </a:t>
            </a:r>
            <a:r>
              <a:rPr dirty="0" sz="2600">
                <a:solidFill>
                  <a:srgbClr val="4E3629"/>
                </a:solidFill>
                <a:latin typeface="Calibri"/>
                <a:cs typeface="Calibri"/>
              </a:rPr>
              <a:t>izquierda</a:t>
            </a:r>
            <a:r>
              <a:rPr dirty="0" sz="2600" spc="-75">
                <a:solidFill>
                  <a:srgbClr val="4E3629"/>
                </a:solidFill>
                <a:latin typeface="Calibri"/>
                <a:cs typeface="Calibri"/>
              </a:rPr>
              <a:t> </a:t>
            </a:r>
            <a:r>
              <a:rPr dirty="0" sz="2600">
                <a:solidFill>
                  <a:srgbClr val="4E3629"/>
                </a:solidFill>
                <a:latin typeface="Calibri"/>
                <a:cs typeface="Calibri"/>
              </a:rPr>
              <a:t>de</a:t>
            </a:r>
            <a:r>
              <a:rPr dirty="0" sz="2600" spc="-75">
                <a:solidFill>
                  <a:srgbClr val="4E3629"/>
                </a:solidFill>
                <a:latin typeface="Calibri"/>
                <a:cs typeface="Calibri"/>
              </a:rPr>
              <a:t> </a:t>
            </a:r>
            <a:r>
              <a:rPr dirty="0" sz="2600">
                <a:solidFill>
                  <a:srgbClr val="4E3629"/>
                </a:solidFill>
                <a:latin typeface="Calibri"/>
                <a:cs typeface="Calibri"/>
              </a:rPr>
              <a:t>la</a:t>
            </a:r>
            <a:r>
              <a:rPr dirty="0" sz="2600" spc="-40">
                <a:solidFill>
                  <a:srgbClr val="4E3629"/>
                </a:solidFill>
                <a:latin typeface="Calibri"/>
                <a:cs typeface="Calibri"/>
              </a:rPr>
              <a:t> </a:t>
            </a:r>
            <a:r>
              <a:rPr dirty="0" sz="2600">
                <a:solidFill>
                  <a:srgbClr val="4E3629"/>
                </a:solidFill>
                <a:latin typeface="Calibri"/>
                <a:cs typeface="Calibri"/>
              </a:rPr>
              <a:t>coma</a:t>
            </a:r>
            <a:r>
              <a:rPr dirty="0" sz="2600" spc="-50">
                <a:solidFill>
                  <a:srgbClr val="4E3629"/>
                </a:solidFill>
                <a:latin typeface="Calibri"/>
                <a:cs typeface="Calibri"/>
              </a:rPr>
              <a:t> </a:t>
            </a:r>
            <a:r>
              <a:rPr dirty="0" sz="2600" spc="-10">
                <a:solidFill>
                  <a:srgbClr val="4E3629"/>
                </a:solidFill>
                <a:latin typeface="Calibri"/>
                <a:cs typeface="Calibri"/>
              </a:rPr>
              <a:t>decimal</a:t>
            </a:r>
            <a:endParaRPr sz="2600">
              <a:latin typeface="Calibri"/>
              <a:cs typeface="Calibri"/>
            </a:endParaRPr>
          </a:p>
          <a:p>
            <a:pPr marL="259715" indent="-247015">
              <a:lnSpc>
                <a:spcPts val="2985"/>
              </a:lnSpc>
              <a:buClr>
                <a:srgbClr val="D1350F"/>
              </a:buClr>
              <a:buFont typeface="Arial MT"/>
              <a:buChar char="•"/>
              <a:tabLst>
                <a:tab pos="259715" algn="l"/>
              </a:tabLst>
            </a:pPr>
            <a:r>
              <a:rPr dirty="0" sz="2600" spc="-10">
                <a:solidFill>
                  <a:srgbClr val="4E3629"/>
                </a:solidFill>
                <a:latin typeface="Calibri"/>
                <a:cs typeface="Calibri"/>
              </a:rPr>
              <a:t>Sintaxis:</a:t>
            </a:r>
            <a:endParaRPr sz="2600">
              <a:latin typeface="Calibri"/>
              <a:cs typeface="Calibri"/>
            </a:endParaRPr>
          </a:p>
        </p:txBody>
      </p:sp>
      <p:sp>
        <p:nvSpPr>
          <p:cNvPr id="4" name="object 4"/>
          <p:cNvSpPr txBox="1"/>
          <p:nvPr/>
        </p:nvSpPr>
        <p:spPr>
          <a:xfrm>
            <a:off x="483552" y="3983357"/>
            <a:ext cx="8169275" cy="1736089"/>
          </a:xfrm>
          <a:prstGeom prst="rect">
            <a:avLst/>
          </a:prstGeom>
        </p:spPr>
        <p:txBody>
          <a:bodyPr wrap="square" lIns="0" tIns="132080" rIns="0" bIns="0" rtlCol="0" vert="horz">
            <a:spAutoFit/>
          </a:bodyPr>
          <a:lstStyle/>
          <a:p>
            <a:pPr marL="184785" marR="5080" indent="-172720">
              <a:lnSpc>
                <a:spcPct val="70000"/>
              </a:lnSpc>
              <a:spcBef>
                <a:spcPts val="1040"/>
              </a:spcBef>
              <a:buClr>
                <a:srgbClr val="D1350F"/>
              </a:buClr>
              <a:buFont typeface="Arial MT"/>
              <a:buChar char="•"/>
              <a:tabLst>
                <a:tab pos="184785" algn="l"/>
              </a:tabLst>
            </a:pPr>
            <a:r>
              <a:rPr dirty="0" sz="2600" spc="-50">
                <a:solidFill>
                  <a:srgbClr val="4E3629"/>
                </a:solidFill>
                <a:latin typeface="Calibri"/>
                <a:cs typeface="Calibri"/>
              </a:rPr>
              <a:t>Tenga</a:t>
            </a:r>
            <a:r>
              <a:rPr dirty="0" sz="2600" spc="-55">
                <a:solidFill>
                  <a:srgbClr val="4E3629"/>
                </a:solidFill>
                <a:latin typeface="Calibri"/>
                <a:cs typeface="Calibri"/>
              </a:rPr>
              <a:t> </a:t>
            </a:r>
            <a:r>
              <a:rPr dirty="0" sz="2600">
                <a:solidFill>
                  <a:srgbClr val="4E3629"/>
                </a:solidFill>
                <a:latin typeface="Calibri"/>
                <a:cs typeface="Calibri"/>
              </a:rPr>
              <a:t>en</a:t>
            </a:r>
            <a:r>
              <a:rPr dirty="0" sz="2600" spc="-45">
                <a:solidFill>
                  <a:srgbClr val="4E3629"/>
                </a:solidFill>
                <a:latin typeface="Calibri"/>
                <a:cs typeface="Calibri"/>
              </a:rPr>
              <a:t> </a:t>
            </a:r>
            <a:r>
              <a:rPr dirty="0" sz="2600">
                <a:solidFill>
                  <a:srgbClr val="4E3629"/>
                </a:solidFill>
                <a:latin typeface="Calibri"/>
                <a:cs typeface="Calibri"/>
              </a:rPr>
              <a:t>cuenta</a:t>
            </a:r>
            <a:r>
              <a:rPr dirty="0" sz="2600" spc="-55">
                <a:solidFill>
                  <a:srgbClr val="4E3629"/>
                </a:solidFill>
                <a:latin typeface="Calibri"/>
                <a:cs typeface="Calibri"/>
              </a:rPr>
              <a:t> </a:t>
            </a:r>
            <a:r>
              <a:rPr dirty="0" sz="2600">
                <a:solidFill>
                  <a:srgbClr val="4E3629"/>
                </a:solidFill>
                <a:latin typeface="Calibri"/>
                <a:cs typeface="Calibri"/>
              </a:rPr>
              <a:t>que</a:t>
            </a:r>
            <a:r>
              <a:rPr dirty="0" sz="2600" spc="-40">
                <a:solidFill>
                  <a:srgbClr val="4E3629"/>
                </a:solidFill>
                <a:latin typeface="Calibri"/>
                <a:cs typeface="Calibri"/>
              </a:rPr>
              <a:t> </a:t>
            </a:r>
            <a:r>
              <a:rPr dirty="0" sz="2600">
                <a:solidFill>
                  <a:srgbClr val="4E3629"/>
                </a:solidFill>
                <a:latin typeface="Calibri"/>
                <a:cs typeface="Calibri"/>
              </a:rPr>
              <a:t>si</a:t>
            </a:r>
            <a:r>
              <a:rPr dirty="0" sz="2600" spc="-40">
                <a:solidFill>
                  <a:srgbClr val="4E3629"/>
                </a:solidFill>
                <a:latin typeface="Calibri"/>
                <a:cs typeface="Calibri"/>
              </a:rPr>
              <a:t> </a:t>
            </a: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número</a:t>
            </a:r>
            <a:r>
              <a:rPr dirty="0" sz="2600" spc="-5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a:solidFill>
                  <a:srgbClr val="4E3629"/>
                </a:solidFill>
                <a:latin typeface="Calibri"/>
                <a:cs typeface="Calibri"/>
              </a:rPr>
              <a:t>posiciones</a:t>
            </a:r>
            <a:r>
              <a:rPr dirty="0" sz="2600" spc="-50">
                <a:solidFill>
                  <a:srgbClr val="4E3629"/>
                </a:solidFill>
                <a:latin typeface="Calibri"/>
                <a:cs typeface="Calibri"/>
              </a:rPr>
              <a:t> </a:t>
            </a:r>
            <a:r>
              <a:rPr dirty="0" sz="2600" spc="-10">
                <a:solidFill>
                  <a:srgbClr val="4E3629"/>
                </a:solidFill>
                <a:latin typeface="Calibri"/>
                <a:cs typeface="Calibri"/>
              </a:rPr>
              <a:t>decimales </a:t>
            </a:r>
            <a:r>
              <a:rPr dirty="0" sz="2600">
                <a:solidFill>
                  <a:srgbClr val="4E3629"/>
                </a:solidFill>
                <a:latin typeface="Calibri"/>
                <a:cs typeface="Calibri"/>
              </a:rPr>
              <a:t>no</a:t>
            </a:r>
            <a:r>
              <a:rPr dirty="0" sz="2600" spc="-55">
                <a:solidFill>
                  <a:srgbClr val="4E3629"/>
                </a:solidFill>
                <a:latin typeface="Calibri"/>
                <a:cs typeface="Calibri"/>
              </a:rPr>
              <a:t> </a:t>
            </a:r>
            <a:r>
              <a:rPr dirty="0" sz="2600">
                <a:solidFill>
                  <a:srgbClr val="4E3629"/>
                </a:solidFill>
                <a:latin typeface="Calibri"/>
                <a:cs typeface="Calibri"/>
              </a:rPr>
              <a:t>está</a:t>
            </a:r>
            <a:r>
              <a:rPr dirty="0" sz="2600" spc="-60">
                <a:solidFill>
                  <a:srgbClr val="4E3629"/>
                </a:solidFill>
                <a:latin typeface="Calibri"/>
                <a:cs typeface="Calibri"/>
              </a:rPr>
              <a:t> </a:t>
            </a:r>
            <a:r>
              <a:rPr dirty="0" sz="2600">
                <a:solidFill>
                  <a:srgbClr val="4E3629"/>
                </a:solidFill>
                <a:latin typeface="Calibri"/>
                <a:cs typeface="Calibri"/>
              </a:rPr>
              <a:t>especificado</a:t>
            </a:r>
            <a:r>
              <a:rPr dirty="0" sz="2600" spc="-80">
                <a:solidFill>
                  <a:srgbClr val="4E3629"/>
                </a:solidFill>
                <a:latin typeface="Calibri"/>
                <a:cs typeface="Calibri"/>
              </a:rPr>
              <a:t> </a:t>
            </a:r>
            <a:r>
              <a:rPr dirty="0" sz="2600">
                <a:solidFill>
                  <a:srgbClr val="4E3629"/>
                </a:solidFill>
                <a:latin typeface="Calibri"/>
                <a:cs typeface="Calibri"/>
              </a:rPr>
              <a:t>o</a:t>
            </a:r>
            <a:r>
              <a:rPr dirty="0" sz="2600" spc="-50">
                <a:solidFill>
                  <a:srgbClr val="4E3629"/>
                </a:solidFill>
                <a:latin typeface="Calibri"/>
                <a:cs typeface="Calibri"/>
              </a:rPr>
              <a:t> </a:t>
            </a:r>
            <a:r>
              <a:rPr dirty="0" sz="2600">
                <a:solidFill>
                  <a:srgbClr val="4E3629"/>
                </a:solidFill>
                <a:latin typeface="Calibri"/>
                <a:cs typeface="Calibri"/>
              </a:rPr>
              <a:t>es</a:t>
            </a:r>
            <a:r>
              <a:rPr dirty="0" sz="2600" spc="-60">
                <a:solidFill>
                  <a:srgbClr val="4E3629"/>
                </a:solidFill>
                <a:latin typeface="Calibri"/>
                <a:cs typeface="Calibri"/>
              </a:rPr>
              <a:t> </a:t>
            </a:r>
            <a:r>
              <a:rPr dirty="0" sz="2600">
                <a:solidFill>
                  <a:srgbClr val="4E3629"/>
                </a:solidFill>
                <a:latin typeface="Calibri"/>
                <a:cs typeface="Calibri"/>
              </a:rPr>
              <a:t>cero,</a:t>
            </a:r>
            <a:r>
              <a:rPr dirty="0" sz="2600" spc="-65">
                <a:solidFill>
                  <a:srgbClr val="4E3629"/>
                </a:solidFill>
                <a:latin typeface="Calibri"/>
                <a:cs typeface="Calibri"/>
              </a:rPr>
              <a:t> </a:t>
            </a:r>
            <a:r>
              <a:rPr dirty="0" sz="2600">
                <a:solidFill>
                  <a:srgbClr val="4E3629"/>
                </a:solidFill>
                <a:latin typeface="Calibri"/>
                <a:cs typeface="Calibri"/>
              </a:rPr>
              <a:t>el</a:t>
            </a:r>
            <a:r>
              <a:rPr dirty="0" sz="2600" spc="-55">
                <a:solidFill>
                  <a:srgbClr val="4E3629"/>
                </a:solidFill>
                <a:latin typeface="Calibri"/>
                <a:cs typeface="Calibri"/>
              </a:rPr>
              <a:t> </a:t>
            </a:r>
            <a:r>
              <a:rPr dirty="0" sz="2600">
                <a:solidFill>
                  <a:srgbClr val="4E3629"/>
                </a:solidFill>
                <a:latin typeface="Calibri"/>
                <a:cs typeface="Calibri"/>
              </a:rPr>
              <a:t>número</a:t>
            </a:r>
            <a:r>
              <a:rPr dirty="0" sz="2600" spc="-70">
                <a:solidFill>
                  <a:srgbClr val="4E3629"/>
                </a:solidFill>
                <a:latin typeface="Calibri"/>
                <a:cs typeface="Calibri"/>
              </a:rPr>
              <a:t> </a:t>
            </a:r>
            <a:r>
              <a:rPr dirty="0" sz="2600">
                <a:solidFill>
                  <a:srgbClr val="4E3629"/>
                </a:solidFill>
                <a:latin typeface="Calibri"/>
                <a:cs typeface="Calibri"/>
              </a:rPr>
              <a:t>se</a:t>
            </a:r>
            <a:r>
              <a:rPr dirty="0" sz="2600" spc="-70">
                <a:solidFill>
                  <a:srgbClr val="4E3629"/>
                </a:solidFill>
                <a:latin typeface="Calibri"/>
                <a:cs typeface="Calibri"/>
              </a:rPr>
              <a:t> </a:t>
            </a:r>
            <a:r>
              <a:rPr dirty="0" sz="2600">
                <a:solidFill>
                  <a:srgbClr val="4E3629"/>
                </a:solidFill>
                <a:latin typeface="Calibri"/>
                <a:cs typeface="Calibri"/>
              </a:rPr>
              <a:t>redondeará</a:t>
            </a:r>
            <a:r>
              <a:rPr dirty="0" sz="2600" spc="-70">
                <a:solidFill>
                  <a:srgbClr val="4E3629"/>
                </a:solidFill>
                <a:latin typeface="Calibri"/>
                <a:cs typeface="Calibri"/>
              </a:rPr>
              <a:t> </a:t>
            </a:r>
            <a:r>
              <a:rPr dirty="0" sz="2600" spc="-25">
                <a:solidFill>
                  <a:srgbClr val="4E3629"/>
                </a:solidFill>
                <a:latin typeface="Calibri"/>
                <a:cs typeface="Calibri"/>
              </a:rPr>
              <a:t>sin </a:t>
            </a:r>
            <a:r>
              <a:rPr dirty="0" sz="2600" spc="-10">
                <a:solidFill>
                  <a:srgbClr val="4E3629"/>
                </a:solidFill>
                <a:latin typeface="Calibri"/>
                <a:cs typeface="Calibri"/>
              </a:rPr>
              <a:t>decimales</a:t>
            </a:r>
            <a:endParaRPr sz="2600">
              <a:latin typeface="Calibri"/>
              <a:cs typeface="Calibri"/>
            </a:endParaRPr>
          </a:p>
          <a:p>
            <a:pPr marL="184785" indent="-172085">
              <a:lnSpc>
                <a:spcPts val="2920"/>
              </a:lnSpc>
              <a:buClr>
                <a:srgbClr val="D1350F"/>
              </a:buClr>
              <a:buFont typeface="Arial MT"/>
              <a:buChar char="•"/>
              <a:tabLst>
                <a:tab pos="184785" algn="l"/>
                <a:tab pos="2755265" algn="l"/>
              </a:tabLst>
            </a:pPr>
            <a:r>
              <a:rPr dirty="0" sz="2600" spc="-10">
                <a:solidFill>
                  <a:srgbClr val="4E3629"/>
                </a:solidFill>
                <a:latin typeface="Calibri"/>
                <a:cs typeface="Calibri"/>
              </a:rPr>
              <a:t>ROUND(45.926)</a:t>
            </a:r>
            <a:r>
              <a:rPr dirty="0" sz="2600">
                <a:solidFill>
                  <a:srgbClr val="4E3629"/>
                </a:solidFill>
                <a:latin typeface="Calibri"/>
                <a:cs typeface="Calibri"/>
              </a:rPr>
              <a:t>	</a:t>
            </a:r>
            <a:r>
              <a:rPr dirty="0" sz="2600" spc="-25">
                <a:solidFill>
                  <a:srgbClr val="4E3629"/>
                </a:solidFill>
                <a:latin typeface="Calibri"/>
                <a:cs typeface="Calibri"/>
              </a:rPr>
              <a:t>46</a:t>
            </a:r>
            <a:endParaRPr sz="2600">
              <a:latin typeface="Calibri"/>
              <a:cs typeface="Calibri"/>
            </a:endParaRPr>
          </a:p>
          <a:p>
            <a:pPr marL="184785" indent="-172085">
              <a:lnSpc>
                <a:spcPts val="3055"/>
              </a:lnSpc>
              <a:buClr>
                <a:srgbClr val="D1350F"/>
              </a:buClr>
              <a:buFont typeface="Arial MT"/>
              <a:buChar char="•"/>
              <a:tabLst>
                <a:tab pos="184785" algn="l"/>
              </a:tabLst>
            </a:pPr>
            <a:r>
              <a:rPr dirty="0" sz="2600">
                <a:solidFill>
                  <a:srgbClr val="4E3629"/>
                </a:solidFill>
                <a:latin typeface="Calibri"/>
                <a:cs typeface="Calibri"/>
              </a:rPr>
              <a:t>ROUND(45.926,</a:t>
            </a:r>
            <a:r>
              <a:rPr dirty="0" sz="2600" spc="-80">
                <a:solidFill>
                  <a:srgbClr val="4E3629"/>
                </a:solidFill>
                <a:latin typeface="Calibri"/>
                <a:cs typeface="Calibri"/>
              </a:rPr>
              <a:t> </a:t>
            </a:r>
            <a:r>
              <a:rPr dirty="0" sz="2600">
                <a:solidFill>
                  <a:srgbClr val="4E3629"/>
                </a:solidFill>
                <a:latin typeface="Calibri"/>
                <a:cs typeface="Calibri"/>
              </a:rPr>
              <a:t>0)</a:t>
            </a:r>
            <a:r>
              <a:rPr dirty="0" sz="2600" spc="190">
                <a:solidFill>
                  <a:srgbClr val="4E3629"/>
                </a:solidFill>
                <a:latin typeface="Calibri"/>
                <a:cs typeface="Calibri"/>
              </a:rPr>
              <a:t> </a:t>
            </a:r>
            <a:r>
              <a:rPr dirty="0" sz="2600" spc="-25">
                <a:solidFill>
                  <a:srgbClr val="4E3629"/>
                </a:solidFill>
                <a:latin typeface="Calibri"/>
                <a:cs typeface="Calibri"/>
              </a:rPr>
              <a:t>46</a:t>
            </a:r>
            <a:endParaRPr sz="2600">
              <a:latin typeface="Calibri"/>
              <a:cs typeface="Calibri"/>
            </a:endParaRPr>
          </a:p>
        </p:txBody>
      </p:sp>
      <p:sp>
        <p:nvSpPr>
          <p:cNvPr id="5" name="object 5"/>
          <p:cNvSpPr txBox="1"/>
          <p:nvPr/>
        </p:nvSpPr>
        <p:spPr>
          <a:xfrm>
            <a:off x="393191" y="3636264"/>
            <a:ext cx="8345805" cy="398145"/>
          </a:xfrm>
          <a:prstGeom prst="rect">
            <a:avLst/>
          </a:prstGeom>
          <a:solidFill>
            <a:srgbClr val="9DBEC4">
              <a:alpha val="50199"/>
            </a:srgbClr>
          </a:solidFill>
        </p:spPr>
        <p:txBody>
          <a:bodyPr wrap="square" lIns="0" tIns="34290" rIns="0" bIns="0" rtlCol="0" vert="horz">
            <a:spAutoFit/>
          </a:bodyPr>
          <a:lstStyle/>
          <a:p>
            <a:pPr>
              <a:lnSpc>
                <a:spcPct val="100000"/>
              </a:lnSpc>
              <a:spcBef>
                <a:spcPts val="270"/>
              </a:spcBef>
            </a:pPr>
            <a:r>
              <a:rPr dirty="0" sz="1800" b="1">
                <a:solidFill>
                  <a:srgbClr val="4E3629"/>
                </a:solidFill>
                <a:latin typeface="Courier New"/>
                <a:cs typeface="Courier New"/>
              </a:rPr>
              <a:t>ROUND(column|expression,</a:t>
            </a:r>
            <a:r>
              <a:rPr dirty="0" sz="1800" spc="-160" b="1">
                <a:solidFill>
                  <a:srgbClr val="4E3629"/>
                </a:solidFill>
                <a:latin typeface="Courier New"/>
                <a:cs typeface="Courier New"/>
              </a:rPr>
              <a:t> </a:t>
            </a:r>
            <a:r>
              <a:rPr dirty="0" sz="1800" b="1">
                <a:solidFill>
                  <a:srgbClr val="4E3629"/>
                </a:solidFill>
                <a:latin typeface="Courier New"/>
                <a:cs typeface="Courier New"/>
              </a:rPr>
              <a:t>decimal</a:t>
            </a:r>
            <a:r>
              <a:rPr dirty="0" sz="1800" spc="-150" b="1">
                <a:solidFill>
                  <a:srgbClr val="4E3629"/>
                </a:solidFill>
                <a:latin typeface="Courier New"/>
                <a:cs typeface="Courier New"/>
              </a:rPr>
              <a:t> </a:t>
            </a:r>
            <a:r>
              <a:rPr dirty="0" sz="1800" spc="-10" b="1">
                <a:solidFill>
                  <a:srgbClr val="4E3629"/>
                </a:solidFill>
                <a:latin typeface="Courier New"/>
                <a:cs typeface="Courier New"/>
              </a:rPr>
              <a:t>places)</a:t>
            </a:r>
            <a:endParaRPr sz="1800">
              <a:latin typeface="Courier New"/>
              <a:cs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ROUND</a:t>
            </a:r>
          </a:p>
        </p:txBody>
      </p:sp>
      <p:sp>
        <p:nvSpPr>
          <p:cNvPr id="4" name="object 4"/>
          <p:cNvSpPr txBox="1"/>
          <p:nvPr/>
        </p:nvSpPr>
        <p:spPr>
          <a:xfrm>
            <a:off x="2855904" y="6510552"/>
            <a:ext cx="96393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10">
                <a:solidFill>
                  <a:srgbClr val="4E3629"/>
                </a:solidFill>
                <a:latin typeface="Calibri"/>
                <a:cs typeface="Calibri"/>
              </a:rPr>
              <a:t>Numéricas</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8</a:t>
            </a: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8081009" cy="3444875"/>
          </a:xfrm>
          <a:prstGeom prst="rect">
            <a:avLst/>
          </a:prstGeom>
        </p:spPr>
        <p:txBody>
          <a:bodyPr wrap="square" lIns="0" tIns="59690" rIns="0" bIns="0" rtlCol="0" vert="horz">
            <a:spAutoFit/>
          </a:bodyPr>
          <a:lstStyle/>
          <a:p>
            <a:pPr marL="182880" marR="15684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Si</a:t>
            </a:r>
            <a:r>
              <a:rPr dirty="0" sz="2800" spc="-60">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número</a:t>
            </a:r>
            <a:r>
              <a:rPr dirty="0" sz="2800" spc="-2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posiciones</a:t>
            </a:r>
            <a:r>
              <a:rPr dirty="0" sz="2800" spc="-30">
                <a:solidFill>
                  <a:srgbClr val="4E3629"/>
                </a:solidFill>
                <a:latin typeface="Calibri"/>
                <a:cs typeface="Calibri"/>
              </a:rPr>
              <a:t> </a:t>
            </a:r>
            <a:r>
              <a:rPr dirty="0" sz="2800">
                <a:solidFill>
                  <a:srgbClr val="4E3629"/>
                </a:solidFill>
                <a:latin typeface="Calibri"/>
                <a:cs typeface="Calibri"/>
              </a:rPr>
              <a:t>decimales</a:t>
            </a:r>
            <a:r>
              <a:rPr dirty="0" sz="2800" spc="-50">
                <a:solidFill>
                  <a:srgbClr val="4E3629"/>
                </a:solidFill>
                <a:latin typeface="Calibri"/>
                <a:cs typeface="Calibri"/>
              </a:rPr>
              <a:t> </a:t>
            </a:r>
            <a:r>
              <a:rPr dirty="0" sz="2800">
                <a:solidFill>
                  <a:srgbClr val="4E3629"/>
                </a:solidFill>
                <a:latin typeface="Calibri"/>
                <a:cs typeface="Calibri"/>
              </a:rPr>
              <a:t>es</a:t>
            </a:r>
            <a:r>
              <a:rPr dirty="0" sz="2800" spc="-70">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spc="-10">
                <a:solidFill>
                  <a:srgbClr val="4E3629"/>
                </a:solidFill>
                <a:latin typeface="Calibri"/>
                <a:cs typeface="Calibri"/>
              </a:rPr>
              <a:t>número 	positivo,</a:t>
            </a:r>
            <a:r>
              <a:rPr dirty="0" sz="2800" spc="-55">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número</a:t>
            </a:r>
            <a:r>
              <a:rPr dirty="0" sz="2800" spc="-4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redondea</a:t>
            </a:r>
            <a:r>
              <a:rPr dirty="0" sz="2800" spc="-45">
                <a:solidFill>
                  <a:srgbClr val="4E3629"/>
                </a:solidFill>
                <a:latin typeface="Calibri"/>
                <a:cs typeface="Calibri"/>
              </a:rPr>
              <a:t> </a:t>
            </a:r>
            <a:r>
              <a:rPr dirty="0" sz="2800">
                <a:solidFill>
                  <a:srgbClr val="4E3629"/>
                </a:solidFill>
                <a:latin typeface="Calibri"/>
                <a:cs typeface="Calibri"/>
              </a:rPr>
              <a:t>a</a:t>
            </a:r>
            <a:r>
              <a:rPr dirty="0" sz="2800" spc="-75">
                <a:solidFill>
                  <a:srgbClr val="4E3629"/>
                </a:solidFill>
                <a:latin typeface="Calibri"/>
                <a:cs typeface="Calibri"/>
              </a:rPr>
              <a:t> </a:t>
            </a:r>
            <a:r>
              <a:rPr dirty="0" sz="2800">
                <a:solidFill>
                  <a:srgbClr val="4E3629"/>
                </a:solidFill>
                <a:latin typeface="Calibri"/>
                <a:cs typeface="Calibri"/>
              </a:rPr>
              <a:t>ese</a:t>
            </a:r>
            <a:r>
              <a:rPr dirty="0" sz="2800" spc="-70">
                <a:solidFill>
                  <a:srgbClr val="4E3629"/>
                </a:solidFill>
                <a:latin typeface="Calibri"/>
                <a:cs typeface="Calibri"/>
              </a:rPr>
              <a:t> </a:t>
            </a:r>
            <a:r>
              <a:rPr dirty="0" sz="2800">
                <a:solidFill>
                  <a:srgbClr val="4E3629"/>
                </a:solidFill>
                <a:latin typeface="Calibri"/>
                <a:cs typeface="Calibri"/>
              </a:rPr>
              <a:t>número</a:t>
            </a:r>
            <a:r>
              <a:rPr dirty="0" sz="2800" spc="-3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posiciones</a:t>
            </a:r>
            <a:r>
              <a:rPr dirty="0" sz="2800" spc="-35">
                <a:solidFill>
                  <a:srgbClr val="4E3629"/>
                </a:solidFill>
                <a:latin typeface="Calibri"/>
                <a:cs typeface="Calibri"/>
              </a:rPr>
              <a:t> </a:t>
            </a:r>
            <a:r>
              <a:rPr dirty="0" sz="2800">
                <a:solidFill>
                  <a:srgbClr val="4E3629"/>
                </a:solidFill>
                <a:latin typeface="Calibri"/>
                <a:cs typeface="Calibri"/>
              </a:rPr>
              <a:t>decimales</a:t>
            </a:r>
            <a:r>
              <a:rPr dirty="0" sz="2800" spc="-50">
                <a:solidFill>
                  <a:srgbClr val="4E3629"/>
                </a:solidFill>
                <a:latin typeface="Calibri"/>
                <a:cs typeface="Calibri"/>
              </a:rPr>
              <a:t> </a:t>
            </a:r>
            <a:r>
              <a:rPr dirty="0" sz="2800">
                <a:solidFill>
                  <a:srgbClr val="4E3629"/>
                </a:solidFill>
                <a:latin typeface="Calibri"/>
                <a:cs typeface="Calibri"/>
              </a:rPr>
              <a:t>a</a:t>
            </a:r>
            <a:r>
              <a:rPr dirty="0" sz="2800" spc="-5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derecha</a:t>
            </a:r>
            <a:r>
              <a:rPr dirty="0" sz="2800" spc="-4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coma</a:t>
            </a:r>
            <a:r>
              <a:rPr dirty="0" sz="2800" spc="-60">
                <a:solidFill>
                  <a:srgbClr val="4E3629"/>
                </a:solidFill>
                <a:latin typeface="Calibri"/>
                <a:cs typeface="Calibri"/>
              </a:rPr>
              <a:t> </a:t>
            </a:r>
            <a:r>
              <a:rPr dirty="0" sz="2800" spc="-10">
                <a:solidFill>
                  <a:srgbClr val="4E3629"/>
                </a:solidFill>
                <a:latin typeface="Calibri"/>
                <a:cs typeface="Calibri"/>
              </a:rPr>
              <a:t>decimal</a:t>
            </a:r>
            <a:endParaRPr sz="2800">
              <a:latin typeface="Calibri"/>
              <a:cs typeface="Calibri"/>
            </a:endParaRPr>
          </a:p>
          <a:p>
            <a:pPr marL="183515" indent="-170815">
              <a:lnSpc>
                <a:spcPct val="100000"/>
              </a:lnSpc>
              <a:spcBef>
                <a:spcPts val="409"/>
              </a:spcBef>
              <a:buClr>
                <a:srgbClr val="D1350F"/>
              </a:buClr>
              <a:buFont typeface="Arial MT"/>
              <a:buChar char="•"/>
              <a:tabLst>
                <a:tab pos="183515" algn="l"/>
                <a:tab pos="3092450" algn="l"/>
              </a:tabLst>
            </a:pPr>
            <a:r>
              <a:rPr dirty="0" sz="2800" spc="-10">
                <a:solidFill>
                  <a:srgbClr val="4E3629"/>
                </a:solidFill>
                <a:latin typeface="Calibri"/>
                <a:cs typeface="Calibri"/>
              </a:rPr>
              <a:t>ROUND(45.926,</a:t>
            </a:r>
            <a:r>
              <a:rPr dirty="0" sz="2800" spc="-40">
                <a:solidFill>
                  <a:srgbClr val="4E3629"/>
                </a:solidFill>
                <a:latin typeface="Calibri"/>
                <a:cs typeface="Calibri"/>
              </a:rPr>
              <a:t> </a:t>
            </a:r>
            <a:r>
              <a:rPr dirty="0" sz="2800" spc="-25">
                <a:solidFill>
                  <a:srgbClr val="4E3629"/>
                </a:solidFill>
                <a:latin typeface="Calibri"/>
                <a:cs typeface="Calibri"/>
              </a:rPr>
              <a:t>2)</a:t>
            </a:r>
            <a:r>
              <a:rPr dirty="0" sz="2800">
                <a:solidFill>
                  <a:srgbClr val="4E3629"/>
                </a:solidFill>
                <a:latin typeface="Calibri"/>
                <a:cs typeface="Calibri"/>
              </a:rPr>
              <a:t>	</a:t>
            </a:r>
            <a:r>
              <a:rPr dirty="0" sz="2800" spc="-10">
                <a:solidFill>
                  <a:srgbClr val="4E3629"/>
                </a:solidFill>
                <a:latin typeface="Calibri"/>
                <a:cs typeface="Calibri"/>
              </a:rPr>
              <a:t>45.93</a:t>
            </a:r>
            <a:endParaRPr sz="2800">
              <a:latin typeface="Calibri"/>
              <a:cs typeface="Calibri"/>
            </a:endParaRPr>
          </a:p>
          <a:p>
            <a:pPr marL="182880" marR="508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Si</a:t>
            </a:r>
            <a:r>
              <a:rPr dirty="0" sz="2800" spc="-60">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número</a:t>
            </a:r>
            <a:r>
              <a:rPr dirty="0" sz="2800" spc="-2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posiciones</a:t>
            </a:r>
            <a:r>
              <a:rPr dirty="0" sz="2800" spc="-30">
                <a:solidFill>
                  <a:srgbClr val="4E3629"/>
                </a:solidFill>
                <a:latin typeface="Calibri"/>
                <a:cs typeface="Calibri"/>
              </a:rPr>
              <a:t> </a:t>
            </a:r>
            <a:r>
              <a:rPr dirty="0" sz="2800">
                <a:solidFill>
                  <a:srgbClr val="4E3629"/>
                </a:solidFill>
                <a:latin typeface="Calibri"/>
                <a:cs typeface="Calibri"/>
              </a:rPr>
              <a:t>decimales</a:t>
            </a:r>
            <a:r>
              <a:rPr dirty="0" sz="2800" spc="-50">
                <a:solidFill>
                  <a:srgbClr val="4E3629"/>
                </a:solidFill>
                <a:latin typeface="Calibri"/>
                <a:cs typeface="Calibri"/>
              </a:rPr>
              <a:t> </a:t>
            </a:r>
            <a:r>
              <a:rPr dirty="0" sz="2800">
                <a:solidFill>
                  <a:srgbClr val="4E3629"/>
                </a:solidFill>
                <a:latin typeface="Calibri"/>
                <a:cs typeface="Calibri"/>
              </a:rPr>
              <a:t>es</a:t>
            </a:r>
            <a:r>
              <a:rPr dirty="0" sz="2800" spc="-70">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spc="-10">
                <a:solidFill>
                  <a:srgbClr val="4E3629"/>
                </a:solidFill>
                <a:latin typeface="Calibri"/>
                <a:cs typeface="Calibri"/>
              </a:rPr>
              <a:t>número 	negativo,</a:t>
            </a:r>
            <a:r>
              <a:rPr dirty="0" sz="2800" spc="-8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número</a:t>
            </a:r>
            <a:r>
              <a:rPr dirty="0" sz="2800" spc="-35">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redondea</a:t>
            </a:r>
            <a:r>
              <a:rPr dirty="0" sz="2800" spc="-45">
                <a:solidFill>
                  <a:srgbClr val="4E3629"/>
                </a:solidFill>
                <a:latin typeface="Calibri"/>
                <a:cs typeface="Calibri"/>
              </a:rPr>
              <a:t> </a:t>
            </a:r>
            <a:r>
              <a:rPr dirty="0" sz="2800">
                <a:solidFill>
                  <a:srgbClr val="4E3629"/>
                </a:solidFill>
                <a:latin typeface="Calibri"/>
                <a:cs typeface="Calibri"/>
              </a:rPr>
              <a:t>a</a:t>
            </a:r>
            <a:r>
              <a:rPr dirty="0" sz="2800" spc="-80">
                <a:solidFill>
                  <a:srgbClr val="4E3629"/>
                </a:solidFill>
                <a:latin typeface="Calibri"/>
                <a:cs typeface="Calibri"/>
              </a:rPr>
              <a:t> </a:t>
            </a:r>
            <a:r>
              <a:rPr dirty="0" sz="2800">
                <a:solidFill>
                  <a:srgbClr val="4E3629"/>
                </a:solidFill>
                <a:latin typeface="Calibri"/>
                <a:cs typeface="Calibri"/>
              </a:rPr>
              <a:t>ese</a:t>
            </a:r>
            <a:r>
              <a:rPr dirty="0" sz="2800" spc="-70">
                <a:solidFill>
                  <a:srgbClr val="4E3629"/>
                </a:solidFill>
                <a:latin typeface="Calibri"/>
                <a:cs typeface="Calibri"/>
              </a:rPr>
              <a:t> </a:t>
            </a:r>
            <a:r>
              <a:rPr dirty="0" sz="2800">
                <a:solidFill>
                  <a:srgbClr val="4E3629"/>
                </a:solidFill>
                <a:latin typeface="Calibri"/>
                <a:cs typeface="Calibri"/>
              </a:rPr>
              <a:t>número</a:t>
            </a:r>
            <a:r>
              <a:rPr dirty="0" sz="2800" spc="-3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posiciones</a:t>
            </a:r>
            <a:r>
              <a:rPr dirty="0" sz="2800" spc="-35">
                <a:solidFill>
                  <a:srgbClr val="4E3629"/>
                </a:solidFill>
                <a:latin typeface="Calibri"/>
                <a:cs typeface="Calibri"/>
              </a:rPr>
              <a:t> </a:t>
            </a:r>
            <a:r>
              <a:rPr dirty="0" sz="2800">
                <a:solidFill>
                  <a:srgbClr val="4E3629"/>
                </a:solidFill>
                <a:latin typeface="Calibri"/>
                <a:cs typeface="Calibri"/>
              </a:rPr>
              <a:t>decimales</a:t>
            </a:r>
            <a:r>
              <a:rPr dirty="0" sz="2800" spc="-50">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spc="-10">
                <a:solidFill>
                  <a:srgbClr val="4E3629"/>
                </a:solidFill>
                <a:latin typeface="Calibri"/>
                <a:cs typeface="Calibri"/>
              </a:rPr>
              <a:t>izquierda</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coma</a:t>
            </a:r>
            <a:r>
              <a:rPr dirty="0" sz="2800" spc="-60">
                <a:solidFill>
                  <a:srgbClr val="4E3629"/>
                </a:solidFill>
                <a:latin typeface="Calibri"/>
                <a:cs typeface="Calibri"/>
              </a:rPr>
              <a:t> </a:t>
            </a:r>
            <a:r>
              <a:rPr dirty="0" sz="2800" spc="-10">
                <a:solidFill>
                  <a:srgbClr val="4E3629"/>
                </a:solidFill>
                <a:latin typeface="Calibri"/>
                <a:cs typeface="Calibri"/>
              </a:rPr>
              <a:t>decimal</a:t>
            </a:r>
            <a:endParaRPr sz="2800">
              <a:latin typeface="Calibri"/>
              <a:cs typeface="Calibri"/>
            </a:endParaRPr>
          </a:p>
          <a:p>
            <a:pPr marL="183515" indent="-170815">
              <a:lnSpc>
                <a:spcPct val="100000"/>
              </a:lnSpc>
              <a:spcBef>
                <a:spcPts val="400"/>
              </a:spcBef>
              <a:buClr>
                <a:srgbClr val="D1350F"/>
              </a:buClr>
              <a:buFont typeface="Arial MT"/>
              <a:buChar char="•"/>
              <a:tabLst>
                <a:tab pos="183515" algn="l"/>
              </a:tabLst>
            </a:pPr>
            <a:r>
              <a:rPr dirty="0" sz="2800" spc="-10">
                <a:solidFill>
                  <a:srgbClr val="4E3629"/>
                </a:solidFill>
                <a:latin typeface="Calibri"/>
                <a:cs typeface="Calibri"/>
              </a:rPr>
              <a:t>ROUND(45.926,</a:t>
            </a:r>
            <a:r>
              <a:rPr dirty="0" sz="2800" spc="20">
                <a:solidFill>
                  <a:srgbClr val="4E3629"/>
                </a:solidFill>
                <a:latin typeface="Calibri"/>
                <a:cs typeface="Calibri"/>
              </a:rPr>
              <a:t> </a:t>
            </a:r>
            <a:r>
              <a:rPr dirty="0" sz="2800" spc="-20">
                <a:solidFill>
                  <a:srgbClr val="4E3629"/>
                </a:solidFill>
                <a:latin typeface="Calibri"/>
                <a:cs typeface="Calibri"/>
              </a:rPr>
              <a:t>-</a:t>
            </a:r>
            <a:r>
              <a:rPr dirty="0" sz="2800">
                <a:solidFill>
                  <a:srgbClr val="4E3629"/>
                </a:solidFill>
                <a:latin typeface="Calibri"/>
                <a:cs typeface="Calibri"/>
              </a:rPr>
              <a:t>1)</a:t>
            </a:r>
            <a:r>
              <a:rPr dirty="0" sz="2800" spc="590">
                <a:solidFill>
                  <a:srgbClr val="4E3629"/>
                </a:solidFill>
                <a:latin typeface="Calibri"/>
                <a:cs typeface="Calibri"/>
              </a:rPr>
              <a:t> </a:t>
            </a:r>
            <a:r>
              <a:rPr dirty="0" sz="2800" spc="-25">
                <a:solidFill>
                  <a:srgbClr val="4E3629"/>
                </a:solidFill>
                <a:latin typeface="Calibri"/>
                <a:cs typeface="Calibri"/>
              </a:rPr>
              <a:t>50</a:t>
            </a:r>
            <a:endParaRPr sz="28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TRUNC</a:t>
            </a:r>
          </a:p>
        </p:txBody>
      </p:sp>
      <p:sp>
        <p:nvSpPr>
          <p:cNvPr id="6" name="object 6"/>
          <p:cNvSpPr txBox="1"/>
          <p:nvPr/>
        </p:nvSpPr>
        <p:spPr>
          <a:xfrm>
            <a:off x="2855904" y="6510552"/>
            <a:ext cx="96393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10">
                <a:solidFill>
                  <a:srgbClr val="4E3629"/>
                </a:solidFill>
                <a:latin typeface="Calibri"/>
                <a:cs typeface="Calibri"/>
              </a:rPr>
              <a:t>Numéricas</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9</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381889"/>
            <a:ext cx="8043545" cy="3385820"/>
          </a:xfrm>
          <a:prstGeom prst="rect">
            <a:avLst/>
          </a:prstGeom>
        </p:spPr>
        <p:txBody>
          <a:bodyPr wrap="square" lIns="0" tIns="97155" rIns="0" bIns="0" rtlCol="0" vert="horz">
            <a:spAutoFit/>
          </a:bodyPr>
          <a:lstStyle/>
          <a:p>
            <a:pPr marL="159385" marR="5080" indent="-147320">
              <a:lnSpc>
                <a:spcPct val="80000"/>
              </a:lnSpc>
              <a:spcBef>
                <a:spcPts val="765"/>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función</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TRUNC</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utilizar</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tanto</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con</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números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como</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con</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fechas.</a:t>
            </a:r>
            <a:r>
              <a:rPr dirty="0" sz="2800" spc="-55">
                <a:solidFill>
                  <a:srgbClr val="4E3629"/>
                </a:solidFill>
                <a:latin typeface="Calibri"/>
                <a:cs typeface="Calibri"/>
              </a:rPr>
              <a:t> </a:t>
            </a:r>
            <a:r>
              <a:rPr dirty="0" sz="2800" spc="-10">
                <a:solidFill>
                  <a:srgbClr val="4E3629"/>
                </a:solidFill>
                <a:latin typeface="Calibri"/>
                <a:cs typeface="Calibri"/>
              </a:rPr>
              <a:t>Principalmente</a:t>
            </a:r>
            <a:r>
              <a:rPr dirty="0" sz="2800" spc="-50">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a:solidFill>
                  <a:srgbClr val="4E3629"/>
                </a:solidFill>
                <a:latin typeface="Calibri"/>
                <a:cs typeface="Calibri"/>
              </a:rPr>
              <a:t>utiliza</a:t>
            </a:r>
            <a:r>
              <a:rPr dirty="0" sz="2800" spc="-65">
                <a:solidFill>
                  <a:srgbClr val="4E3629"/>
                </a:solidFill>
                <a:latin typeface="Calibri"/>
                <a:cs typeface="Calibri"/>
              </a:rPr>
              <a:t> </a:t>
            </a:r>
            <a:r>
              <a:rPr dirty="0" sz="2800" spc="-20">
                <a:solidFill>
                  <a:srgbClr val="4E3629"/>
                </a:solidFill>
                <a:latin typeface="Calibri"/>
                <a:cs typeface="Calibri"/>
              </a:rPr>
              <a:t>para </a:t>
            </a:r>
            <a:r>
              <a:rPr dirty="0" sz="2800" spc="-20">
                <a:solidFill>
                  <a:srgbClr val="4E3629"/>
                </a:solidFill>
                <a:latin typeface="Calibri"/>
                <a:cs typeface="Calibri"/>
              </a:rPr>
              <a:t>	</a:t>
            </a:r>
            <a:r>
              <a:rPr dirty="0" sz="2800">
                <a:solidFill>
                  <a:srgbClr val="4E3629"/>
                </a:solidFill>
                <a:latin typeface="Calibri"/>
                <a:cs typeface="Calibri"/>
              </a:rPr>
              <a:t>terminar</a:t>
            </a:r>
            <a:r>
              <a:rPr dirty="0" sz="2800" spc="-40">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spc="-10">
                <a:solidFill>
                  <a:srgbClr val="4E3629"/>
                </a:solidFill>
                <a:latin typeface="Calibri"/>
                <a:cs typeface="Calibri"/>
              </a:rPr>
              <a:t>expresión</a:t>
            </a:r>
            <a:r>
              <a:rPr dirty="0" sz="2800" spc="-35">
                <a:solidFill>
                  <a:srgbClr val="4E3629"/>
                </a:solidFill>
                <a:latin typeface="Calibri"/>
                <a:cs typeface="Calibri"/>
              </a:rPr>
              <a:t> </a:t>
            </a:r>
            <a:r>
              <a:rPr dirty="0" sz="2800">
                <a:solidFill>
                  <a:srgbClr val="4E3629"/>
                </a:solidFill>
                <a:latin typeface="Calibri"/>
                <a:cs typeface="Calibri"/>
              </a:rPr>
              <a:t>o</a:t>
            </a:r>
            <a:r>
              <a:rPr dirty="0" sz="2800" spc="-50">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valor</a:t>
            </a:r>
            <a:r>
              <a:rPr dirty="0" sz="2800" spc="-5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spc="-25">
                <a:solidFill>
                  <a:srgbClr val="4E3629"/>
                </a:solidFill>
                <a:latin typeface="Calibri"/>
                <a:cs typeface="Calibri"/>
              </a:rPr>
              <a:t>un </a:t>
            </a:r>
            <a:r>
              <a:rPr dirty="0" sz="2800" spc="-25">
                <a:solidFill>
                  <a:srgbClr val="4E3629"/>
                </a:solidFill>
                <a:latin typeface="Calibri"/>
                <a:cs typeface="Calibri"/>
              </a:rPr>
              <a:t>	</a:t>
            </a:r>
            <a:r>
              <a:rPr dirty="0" sz="2800">
                <a:solidFill>
                  <a:srgbClr val="4E3629"/>
                </a:solidFill>
                <a:latin typeface="Calibri"/>
                <a:cs typeface="Calibri"/>
              </a:rPr>
              <a:t>número</a:t>
            </a:r>
            <a:r>
              <a:rPr dirty="0" sz="2800" spc="-95">
                <a:solidFill>
                  <a:srgbClr val="4E3629"/>
                </a:solidFill>
                <a:latin typeface="Calibri"/>
                <a:cs typeface="Calibri"/>
              </a:rPr>
              <a:t> </a:t>
            </a:r>
            <a:r>
              <a:rPr dirty="0" sz="2800">
                <a:solidFill>
                  <a:srgbClr val="4E3629"/>
                </a:solidFill>
                <a:latin typeface="Calibri"/>
                <a:cs typeface="Calibri"/>
              </a:rPr>
              <a:t>especificado</a:t>
            </a:r>
            <a:r>
              <a:rPr dirty="0" sz="2800" spc="-95">
                <a:solidFill>
                  <a:srgbClr val="4E3629"/>
                </a:solidFill>
                <a:latin typeface="Calibri"/>
                <a:cs typeface="Calibri"/>
              </a:rPr>
              <a:t> </a:t>
            </a:r>
            <a:r>
              <a:rPr dirty="0" sz="2800">
                <a:solidFill>
                  <a:srgbClr val="4E3629"/>
                </a:solidFill>
                <a:latin typeface="Calibri"/>
                <a:cs typeface="Calibri"/>
              </a:rPr>
              <a:t>de</a:t>
            </a:r>
            <a:r>
              <a:rPr dirty="0" sz="2800" spc="-114">
                <a:solidFill>
                  <a:srgbClr val="4E3629"/>
                </a:solidFill>
                <a:latin typeface="Calibri"/>
                <a:cs typeface="Calibri"/>
              </a:rPr>
              <a:t> </a:t>
            </a:r>
            <a:r>
              <a:rPr dirty="0" sz="2800">
                <a:solidFill>
                  <a:srgbClr val="4E3629"/>
                </a:solidFill>
                <a:latin typeface="Calibri"/>
                <a:cs typeface="Calibri"/>
              </a:rPr>
              <a:t>posiciones</a:t>
            </a:r>
            <a:r>
              <a:rPr dirty="0" sz="2800" spc="-85">
                <a:solidFill>
                  <a:srgbClr val="4E3629"/>
                </a:solidFill>
                <a:latin typeface="Calibri"/>
                <a:cs typeface="Calibri"/>
              </a:rPr>
              <a:t> </a:t>
            </a:r>
            <a:r>
              <a:rPr dirty="0" sz="2800" spc="-10">
                <a:solidFill>
                  <a:srgbClr val="4E3629"/>
                </a:solidFill>
                <a:latin typeface="Calibri"/>
                <a:cs typeface="Calibri"/>
              </a:rPr>
              <a:t>decimales</a:t>
            </a:r>
            <a:endParaRPr sz="2800">
              <a:latin typeface="Calibri"/>
              <a:cs typeface="Calibri"/>
            </a:endParaRPr>
          </a:p>
          <a:p>
            <a:pPr marL="182880" marR="216535" indent="-170815">
              <a:lnSpc>
                <a:spcPct val="80000"/>
              </a:lnSpc>
              <a:spcBef>
                <a:spcPts val="810"/>
              </a:spcBef>
              <a:buClr>
                <a:srgbClr val="D1350F"/>
              </a:buClr>
              <a:buFont typeface="Arial MT"/>
              <a:buChar char="•"/>
              <a:tabLst>
                <a:tab pos="184785" algn="l"/>
              </a:tabLst>
            </a:pPr>
            <a:r>
              <a:rPr dirty="0" sz="2800">
                <a:solidFill>
                  <a:srgbClr val="4E3629"/>
                </a:solidFill>
                <a:latin typeface="Calibri"/>
                <a:cs typeface="Calibri"/>
              </a:rPr>
              <a:t>Cuando</a:t>
            </a:r>
            <a:r>
              <a:rPr dirty="0" sz="2800" spc="-35">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usa</a:t>
            </a:r>
            <a:r>
              <a:rPr dirty="0" sz="2800" spc="-40">
                <a:solidFill>
                  <a:srgbClr val="4E3629"/>
                </a:solidFill>
                <a:latin typeface="Calibri"/>
                <a:cs typeface="Calibri"/>
              </a:rPr>
              <a:t> </a:t>
            </a:r>
            <a:r>
              <a:rPr dirty="0" sz="2800">
                <a:solidFill>
                  <a:srgbClr val="4E3629"/>
                </a:solidFill>
                <a:latin typeface="Calibri"/>
                <a:cs typeface="Calibri"/>
              </a:rPr>
              <a:t>TRUNC,</a:t>
            </a:r>
            <a:r>
              <a:rPr dirty="0" sz="2800" spc="-45">
                <a:solidFill>
                  <a:srgbClr val="4E3629"/>
                </a:solidFill>
                <a:latin typeface="Calibri"/>
                <a:cs typeface="Calibri"/>
              </a:rPr>
              <a:t> </a:t>
            </a:r>
            <a:r>
              <a:rPr dirty="0" sz="2800">
                <a:solidFill>
                  <a:srgbClr val="4E3629"/>
                </a:solidFill>
                <a:latin typeface="Calibri"/>
                <a:cs typeface="Calibri"/>
              </a:rPr>
              <a:t>si</a:t>
            </a:r>
            <a:r>
              <a:rPr dirty="0" sz="2800" spc="-50">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número</a:t>
            </a:r>
            <a:r>
              <a:rPr dirty="0" sz="2800" spc="-3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posiciones </a:t>
            </a:r>
            <a:r>
              <a:rPr dirty="0" sz="2800" spc="-10">
                <a:solidFill>
                  <a:srgbClr val="4E3629"/>
                </a:solidFill>
                <a:latin typeface="Calibri"/>
                <a:cs typeface="Calibri"/>
              </a:rPr>
              <a:t>	</a:t>
            </a:r>
            <a:r>
              <a:rPr dirty="0" sz="2800">
                <a:solidFill>
                  <a:srgbClr val="4E3629"/>
                </a:solidFill>
                <a:latin typeface="Calibri"/>
                <a:cs typeface="Calibri"/>
              </a:rPr>
              <a:t>decimales</a:t>
            </a:r>
            <a:r>
              <a:rPr dirty="0" sz="2800" spc="-60">
                <a:solidFill>
                  <a:srgbClr val="4E3629"/>
                </a:solidFill>
                <a:latin typeface="Calibri"/>
                <a:cs typeface="Calibri"/>
              </a:rPr>
              <a:t> </a:t>
            </a:r>
            <a:r>
              <a:rPr dirty="0" sz="2800">
                <a:solidFill>
                  <a:srgbClr val="4E3629"/>
                </a:solidFill>
                <a:latin typeface="Calibri"/>
                <a:cs typeface="Calibri"/>
              </a:rPr>
              <a:t>no</a:t>
            </a:r>
            <a:r>
              <a:rPr dirty="0" sz="2800" spc="-50">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ha</a:t>
            </a:r>
            <a:r>
              <a:rPr dirty="0" sz="2800" spc="-50">
                <a:solidFill>
                  <a:srgbClr val="4E3629"/>
                </a:solidFill>
                <a:latin typeface="Calibri"/>
                <a:cs typeface="Calibri"/>
              </a:rPr>
              <a:t> </a:t>
            </a:r>
            <a:r>
              <a:rPr dirty="0" sz="2800" spc="-10">
                <a:solidFill>
                  <a:srgbClr val="4E3629"/>
                </a:solidFill>
                <a:latin typeface="Calibri"/>
                <a:cs typeface="Calibri"/>
              </a:rPr>
              <a:t>especificado,</a:t>
            </a:r>
            <a:r>
              <a:rPr dirty="0" sz="2800" spc="-60">
                <a:solidFill>
                  <a:srgbClr val="4E3629"/>
                </a:solidFill>
                <a:latin typeface="Calibri"/>
                <a:cs typeface="Calibri"/>
              </a:rPr>
              <a:t> </a:t>
            </a:r>
            <a:r>
              <a:rPr dirty="0" sz="2800">
                <a:solidFill>
                  <a:srgbClr val="4E3629"/>
                </a:solidFill>
                <a:latin typeface="Calibri"/>
                <a:cs typeface="Calibri"/>
              </a:rPr>
              <a:t>entonces,</a:t>
            </a:r>
            <a:r>
              <a:rPr dirty="0" sz="2800" spc="-40">
                <a:solidFill>
                  <a:srgbClr val="4E3629"/>
                </a:solidFill>
                <a:latin typeface="Calibri"/>
                <a:cs typeface="Calibri"/>
              </a:rPr>
              <a:t> </a:t>
            </a:r>
            <a:r>
              <a:rPr dirty="0" sz="2800">
                <a:solidFill>
                  <a:srgbClr val="4E3629"/>
                </a:solidFill>
                <a:latin typeface="Calibri"/>
                <a:cs typeface="Calibri"/>
              </a:rPr>
              <a:t>tal</a:t>
            </a:r>
            <a:r>
              <a:rPr dirty="0" sz="2800" spc="-75">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a:solidFill>
                  <a:srgbClr val="4E3629"/>
                </a:solidFill>
                <a:latin typeface="Calibri"/>
                <a:cs typeface="Calibri"/>
              </a:rPr>
              <a:t>ocurre</a:t>
            </a:r>
            <a:r>
              <a:rPr dirty="0" sz="2800" spc="-70">
                <a:solidFill>
                  <a:srgbClr val="4E3629"/>
                </a:solidFill>
                <a:latin typeface="Calibri"/>
                <a:cs typeface="Calibri"/>
              </a:rPr>
              <a:t> </a:t>
            </a:r>
            <a:r>
              <a:rPr dirty="0" sz="2800">
                <a:solidFill>
                  <a:srgbClr val="4E3629"/>
                </a:solidFill>
                <a:latin typeface="Calibri"/>
                <a:cs typeface="Calibri"/>
              </a:rPr>
              <a:t>con</a:t>
            </a:r>
            <a:r>
              <a:rPr dirty="0" sz="2800" spc="-75">
                <a:solidFill>
                  <a:srgbClr val="4E3629"/>
                </a:solidFill>
                <a:latin typeface="Calibri"/>
                <a:cs typeface="Calibri"/>
              </a:rPr>
              <a:t> </a:t>
            </a:r>
            <a:r>
              <a:rPr dirty="0" sz="2800" spc="-10">
                <a:solidFill>
                  <a:srgbClr val="4E3629"/>
                </a:solidFill>
                <a:latin typeface="Calibri"/>
                <a:cs typeface="Calibri"/>
              </a:rPr>
              <a:t>ROUND,</a:t>
            </a:r>
            <a:r>
              <a:rPr dirty="0" sz="2800" spc="-60">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número</a:t>
            </a:r>
            <a:r>
              <a:rPr dirty="0" sz="2800" spc="-60">
                <a:solidFill>
                  <a:srgbClr val="4E3629"/>
                </a:solidFill>
                <a:latin typeface="Calibri"/>
                <a:cs typeface="Calibri"/>
              </a:rPr>
              <a:t> </a:t>
            </a:r>
            <a:r>
              <a:rPr dirty="0" sz="2800">
                <a:solidFill>
                  <a:srgbClr val="4E3629"/>
                </a:solidFill>
                <a:latin typeface="Calibri"/>
                <a:cs typeface="Calibri"/>
              </a:rPr>
              <a:t>especificado</a:t>
            </a:r>
            <a:r>
              <a:rPr dirty="0" sz="2800" spc="-60">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spc="-10">
                <a:solidFill>
                  <a:srgbClr val="4E3629"/>
                </a:solidFill>
                <a:latin typeface="Calibri"/>
                <a:cs typeface="Calibri"/>
              </a:rPr>
              <a:t>define </a:t>
            </a:r>
            <a:r>
              <a:rPr dirty="0" sz="2800" spc="-10">
                <a:solidFill>
                  <a:srgbClr val="4E3629"/>
                </a:solidFill>
                <a:latin typeface="Calibri"/>
                <a:cs typeface="Calibri"/>
              </a:rPr>
              <a:t>	</a:t>
            </a:r>
            <a:r>
              <a:rPr dirty="0" sz="2800">
                <a:solidFill>
                  <a:srgbClr val="4E3629"/>
                </a:solidFill>
                <a:latin typeface="Calibri"/>
                <a:cs typeface="Calibri"/>
              </a:rPr>
              <a:t>por</a:t>
            </a:r>
            <a:r>
              <a:rPr dirty="0" sz="2800" spc="-55">
                <a:solidFill>
                  <a:srgbClr val="4E3629"/>
                </a:solidFill>
                <a:latin typeface="Calibri"/>
                <a:cs typeface="Calibri"/>
              </a:rPr>
              <a:t> </a:t>
            </a:r>
            <a:r>
              <a:rPr dirty="0" sz="2800" spc="-10">
                <a:solidFill>
                  <a:srgbClr val="4E3629"/>
                </a:solidFill>
                <a:latin typeface="Calibri"/>
                <a:cs typeface="Calibri"/>
              </a:rPr>
              <a:t>defecto</a:t>
            </a:r>
            <a:r>
              <a:rPr dirty="0" sz="2800" spc="-6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spc="-20">
                <a:solidFill>
                  <a:srgbClr val="4E3629"/>
                </a:solidFill>
                <a:latin typeface="Calibri"/>
                <a:cs typeface="Calibri"/>
              </a:rPr>
              <a:t>cero</a:t>
            </a:r>
            <a:endParaRPr sz="2800">
              <a:latin typeface="Calibri"/>
              <a:cs typeface="Calibri"/>
            </a:endParaRPr>
          </a:p>
          <a:p>
            <a:pPr marL="183515" indent="-170815">
              <a:lnSpc>
                <a:spcPct val="100000"/>
              </a:lnSpc>
              <a:spcBef>
                <a:spcPts val="120"/>
              </a:spcBef>
              <a:buClr>
                <a:srgbClr val="D1350F"/>
              </a:buClr>
              <a:buFont typeface="Arial MT"/>
              <a:buChar char="•"/>
              <a:tabLst>
                <a:tab pos="183515" algn="l"/>
              </a:tabLst>
            </a:pPr>
            <a:r>
              <a:rPr dirty="0" sz="2800" spc="-10">
                <a:solidFill>
                  <a:srgbClr val="4E3629"/>
                </a:solidFill>
                <a:latin typeface="Calibri"/>
                <a:cs typeface="Calibri"/>
              </a:rPr>
              <a:t>Sintaxis:</a:t>
            </a:r>
            <a:endParaRPr sz="2800">
              <a:latin typeface="Calibri"/>
              <a:cs typeface="Calibri"/>
            </a:endParaRPr>
          </a:p>
        </p:txBody>
      </p:sp>
      <p:sp>
        <p:nvSpPr>
          <p:cNvPr id="4" name="object 4"/>
          <p:cNvSpPr txBox="1"/>
          <p:nvPr/>
        </p:nvSpPr>
        <p:spPr>
          <a:xfrm>
            <a:off x="483552" y="5202557"/>
            <a:ext cx="398780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 pos="3164840" algn="l"/>
              </a:tabLst>
            </a:pPr>
            <a:r>
              <a:rPr dirty="0" sz="2800">
                <a:solidFill>
                  <a:srgbClr val="4E3629"/>
                </a:solidFill>
                <a:latin typeface="Calibri"/>
                <a:cs typeface="Calibri"/>
              </a:rPr>
              <a:t>TRUNC</a:t>
            </a:r>
            <a:r>
              <a:rPr dirty="0" sz="2800" spc="-80">
                <a:solidFill>
                  <a:srgbClr val="4E3629"/>
                </a:solidFill>
                <a:latin typeface="Calibri"/>
                <a:cs typeface="Calibri"/>
              </a:rPr>
              <a:t> </a:t>
            </a:r>
            <a:r>
              <a:rPr dirty="0" sz="2800">
                <a:solidFill>
                  <a:srgbClr val="4E3629"/>
                </a:solidFill>
                <a:latin typeface="Calibri"/>
                <a:cs typeface="Calibri"/>
              </a:rPr>
              <a:t>(45.926,</a:t>
            </a:r>
            <a:r>
              <a:rPr dirty="0" sz="2800" spc="-45">
                <a:solidFill>
                  <a:srgbClr val="4E3629"/>
                </a:solidFill>
                <a:latin typeface="Calibri"/>
                <a:cs typeface="Calibri"/>
              </a:rPr>
              <a:t> </a:t>
            </a:r>
            <a:r>
              <a:rPr dirty="0" sz="2800" spc="-25">
                <a:solidFill>
                  <a:srgbClr val="4E3629"/>
                </a:solidFill>
                <a:latin typeface="Calibri"/>
                <a:cs typeface="Calibri"/>
              </a:rPr>
              <a:t>2)</a:t>
            </a:r>
            <a:r>
              <a:rPr dirty="0" sz="2800">
                <a:solidFill>
                  <a:srgbClr val="4E3629"/>
                </a:solidFill>
                <a:latin typeface="Calibri"/>
                <a:cs typeface="Calibri"/>
              </a:rPr>
              <a:t>	</a:t>
            </a:r>
            <a:r>
              <a:rPr dirty="0" sz="2800" spc="-10">
                <a:solidFill>
                  <a:srgbClr val="4E3629"/>
                </a:solidFill>
                <a:latin typeface="Calibri"/>
                <a:cs typeface="Calibri"/>
              </a:rPr>
              <a:t>45.92</a:t>
            </a:r>
            <a:endParaRPr sz="2800">
              <a:latin typeface="Calibri"/>
              <a:cs typeface="Calibri"/>
            </a:endParaRPr>
          </a:p>
        </p:txBody>
      </p:sp>
      <p:sp>
        <p:nvSpPr>
          <p:cNvPr id="5" name="object 5"/>
          <p:cNvSpPr txBox="1"/>
          <p:nvPr/>
        </p:nvSpPr>
        <p:spPr>
          <a:xfrm>
            <a:off x="405384" y="4828032"/>
            <a:ext cx="8345805" cy="338455"/>
          </a:xfrm>
          <a:prstGeom prst="rect">
            <a:avLst/>
          </a:prstGeom>
          <a:solidFill>
            <a:srgbClr val="9DBEC4">
              <a:alpha val="50199"/>
            </a:srgbClr>
          </a:solidFill>
        </p:spPr>
        <p:txBody>
          <a:bodyPr wrap="square" lIns="0" tIns="4445" rIns="0" bIns="0" rtlCol="0" vert="horz">
            <a:spAutoFit/>
          </a:bodyPr>
          <a:lstStyle/>
          <a:p>
            <a:pPr>
              <a:lnSpc>
                <a:spcPct val="100000"/>
              </a:lnSpc>
              <a:spcBef>
                <a:spcPts val="35"/>
              </a:spcBef>
            </a:pPr>
            <a:r>
              <a:rPr dirty="0" sz="1800" b="1">
                <a:solidFill>
                  <a:srgbClr val="4E3629"/>
                </a:solidFill>
                <a:latin typeface="Courier New"/>
                <a:cs typeface="Courier New"/>
              </a:rPr>
              <a:t>TRUNC(column|expression,</a:t>
            </a:r>
            <a:r>
              <a:rPr dirty="0" sz="1800" spc="-160" b="1">
                <a:solidFill>
                  <a:srgbClr val="4E3629"/>
                </a:solidFill>
                <a:latin typeface="Courier New"/>
                <a:cs typeface="Courier New"/>
              </a:rPr>
              <a:t> </a:t>
            </a:r>
            <a:r>
              <a:rPr dirty="0" sz="1800" b="1">
                <a:solidFill>
                  <a:srgbClr val="4E3629"/>
                </a:solidFill>
                <a:latin typeface="Courier New"/>
                <a:cs typeface="Courier New"/>
              </a:rPr>
              <a:t>decimal</a:t>
            </a:r>
            <a:r>
              <a:rPr dirty="0" sz="1800" spc="-150" b="1">
                <a:solidFill>
                  <a:srgbClr val="4E3629"/>
                </a:solidFill>
                <a:latin typeface="Courier New"/>
                <a:cs typeface="Courier New"/>
              </a:rPr>
              <a:t> </a:t>
            </a:r>
            <a:r>
              <a:rPr dirty="0" sz="1800" spc="-10" b="1">
                <a:solidFill>
                  <a:srgbClr val="4E3629"/>
                </a:solidFill>
                <a:latin typeface="Courier New"/>
                <a:cs typeface="Courier New"/>
              </a:rPr>
              <a:t>places)</a:t>
            </a:r>
            <a:endParaRPr sz="1800">
              <a:latin typeface="Courier New"/>
              <a:cs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TRUNC</a:t>
            </a:r>
          </a:p>
        </p:txBody>
      </p:sp>
      <p:sp>
        <p:nvSpPr>
          <p:cNvPr id="4" name="object 4"/>
          <p:cNvSpPr txBox="1"/>
          <p:nvPr/>
        </p:nvSpPr>
        <p:spPr>
          <a:xfrm>
            <a:off x="2855904" y="6510552"/>
            <a:ext cx="96393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10">
                <a:solidFill>
                  <a:srgbClr val="4E3629"/>
                </a:solidFill>
                <a:latin typeface="Calibri"/>
                <a:cs typeface="Calibri"/>
              </a:rPr>
              <a:t>Numéricas</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10</a:t>
            </a: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7416165" cy="393128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Al</a:t>
            </a:r>
            <a:r>
              <a:rPr dirty="0" sz="2800" spc="-50">
                <a:solidFill>
                  <a:srgbClr val="4E3629"/>
                </a:solidFill>
                <a:latin typeface="Calibri"/>
                <a:cs typeface="Calibri"/>
              </a:rPr>
              <a:t> </a:t>
            </a:r>
            <a:r>
              <a:rPr dirty="0" sz="2800">
                <a:solidFill>
                  <a:srgbClr val="4E3629"/>
                </a:solidFill>
                <a:latin typeface="Calibri"/>
                <a:cs typeface="Calibri"/>
              </a:rPr>
              <a:t>igual</a:t>
            </a:r>
            <a:r>
              <a:rPr dirty="0" sz="2800" spc="-6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con</a:t>
            </a:r>
            <a:r>
              <a:rPr dirty="0" sz="2800" spc="-50">
                <a:solidFill>
                  <a:srgbClr val="4E3629"/>
                </a:solidFill>
                <a:latin typeface="Calibri"/>
                <a:cs typeface="Calibri"/>
              </a:rPr>
              <a:t> </a:t>
            </a:r>
            <a:r>
              <a:rPr dirty="0" sz="2800">
                <a:solidFill>
                  <a:srgbClr val="4E3629"/>
                </a:solidFill>
                <a:latin typeface="Calibri"/>
                <a:cs typeface="Calibri"/>
              </a:rPr>
              <a:t>ROUND,</a:t>
            </a:r>
            <a:r>
              <a:rPr dirty="0" sz="2800" spc="-40">
                <a:solidFill>
                  <a:srgbClr val="4E3629"/>
                </a:solidFill>
                <a:latin typeface="Calibri"/>
                <a:cs typeface="Calibri"/>
              </a:rPr>
              <a:t> </a:t>
            </a:r>
            <a:r>
              <a:rPr dirty="0" sz="2800">
                <a:solidFill>
                  <a:srgbClr val="4E3629"/>
                </a:solidFill>
                <a:latin typeface="Calibri"/>
                <a:cs typeface="Calibri"/>
              </a:rPr>
              <a:t>si</a:t>
            </a:r>
            <a:r>
              <a:rPr dirty="0" sz="2800" spc="-4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expresión</a:t>
            </a:r>
            <a:r>
              <a:rPr dirty="0" sz="2800" spc="-30">
                <a:solidFill>
                  <a:srgbClr val="4E3629"/>
                </a:solidFill>
                <a:latin typeface="Calibri"/>
                <a:cs typeface="Calibri"/>
              </a:rPr>
              <a:t> </a:t>
            </a:r>
            <a:r>
              <a:rPr dirty="0" sz="2800">
                <a:solidFill>
                  <a:srgbClr val="4E3629"/>
                </a:solidFill>
                <a:latin typeface="Calibri"/>
                <a:cs typeface="Calibri"/>
              </a:rPr>
              <a:t>TRUNC</a:t>
            </a:r>
            <a:r>
              <a:rPr dirty="0" sz="2800" spc="-55">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especifica</a:t>
            </a:r>
            <a:r>
              <a:rPr dirty="0" sz="2800" spc="-90">
                <a:solidFill>
                  <a:srgbClr val="4E3629"/>
                </a:solidFill>
                <a:latin typeface="Calibri"/>
                <a:cs typeface="Calibri"/>
              </a:rPr>
              <a:t> </a:t>
            </a:r>
            <a:r>
              <a:rPr dirty="0" sz="2800">
                <a:solidFill>
                  <a:srgbClr val="4E3629"/>
                </a:solidFill>
                <a:latin typeface="Calibri"/>
                <a:cs typeface="Calibri"/>
              </a:rPr>
              <a:t>el</a:t>
            </a:r>
            <a:r>
              <a:rPr dirty="0" sz="2800" spc="-95">
                <a:solidFill>
                  <a:srgbClr val="4E3629"/>
                </a:solidFill>
                <a:latin typeface="Calibri"/>
                <a:cs typeface="Calibri"/>
              </a:rPr>
              <a:t> </a:t>
            </a:r>
            <a:r>
              <a:rPr dirty="0" sz="2800">
                <a:solidFill>
                  <a:srgbClr val="4E3629"/>
                </a:solidFill>
                <a:latin typeface="Calibri"/>
                <a:cs typeface="Calibri"/>
              </a:rPr>
              <a:t>número</a:t>
            </a:r>
            <a:r>
              <a:rPr dirty="0" sz="2800" spc="-6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posiciones</a:t>
            </a:r>
            <a:r>
              <a:rPr dirty="0" sz="2800" spc="-70">
                <a:solidFill>
                  <a:srgbClr val="4E3629"/>
                </a:solidFill>
                <a:latin typeface="Calibri"/>
                <a:cs typeface="Calibri"/>
              </a:rPr>
              <a:t> </a:t>
            </a:r>
            <a:r>
              <a:rPr dirty="0" sz="2800">
                <a:solidFill>
                  <a:srgbClr val="4E3629"/>
                </a:solidFill>
                <a:latin typeface="Calibri"/>
                <a:cs typeface="Calibri"/>
              </a:rPr>
              <a:t>decimales</a:t>
            </a:r>
            <a:r>
              <a:rPr dirty="0" sz="2800" spc="-65">
                <a:solidFill>
                  <a:srgbClr val="4E3629"/>
                </a:solidFill>
                <a:latin typeface="Calibri"/>
                <a:cs typeface="Calibri"/>
              </a:rPr>
              <a:t> </a:t>
            </a:r>
            <a:r>
              <a:rPr dirty="0" sz="2800" spc="-50">
                <a:solidFill>
                  <a:srgbClr val="4E3629"/>
                </a:solidFill>
                <a:latin typeface="Calibri"/>
                <a:cs typeface="Calibri"/>
              </a:rPr>
              <a:t>o </a:t>
            </a:r>
            <a:r>
              <a:rPr dirty="0" sz="2800" spc="-50">
                <a:solidFill>
                  <a:srgbClr val="4E3629"/>
                </a:solidFill>
                <a:latin typeface="Calibri"/>
                <a:cs typeface="Calibri"/>
              </a:rPr>
              <a:t>	</a:t>
            </a:r>
            <a:r>
              <a:rPr dirty="0" sz="2800">
                <a:solidFill>
                  <a:srgbClr val="4E3629"/>
                </a:solidFill>
                <a:latin typeface="Calibri"/>
                <a:cs typeface="Calibri"/>
              </a:rPr>
              <a:t>especifica</a:t>
            </a:r>
            <a:r>
              <a:rPr dirty="0" sz="2800" spc="-70">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a:solidFill>
                  <a:srgbClr val="4E3629"/>
                </a:solidFill>
                <a:latin typeface="Calibri"/>
                <a:cs typeface="Calibri"/>
              </a:rPr>
              <a:t>cero,</a:t>
            </a:r>
            <a:r>
              <a:rPr dirty="0" sz="2800" spc="-65">
                <a:solidFill>
                  <a:srgbClr val="4E3629"/>
                </a:solidFill>
                <a:latin typeface="Calibri"/>
                <a:cs typeface="Calibri"/>
              </a:rPr>
              <a:t> </a:t>
            </a: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número</a:t>
            </a:r>
            <a:r>
              <a:rPr dirty="0" sz="2800" spc="-50">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trunca</a:t>
            </a:r>
            <a:r>
              <a:rPr dirty="0" sz="2800" spc="-5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spc="-20">
                <a:solidFill>
                  <a:srgbClr val="4E3629"/>
                </a:solidFill>
                <a:latin typeface="Calibri"/>
                <a:cs typeface="Calibri"/>
              </a:rPr>
              <a:t>cero </a:t>
            </a:r>
            <a:r>
              <a:rPr dirty="0" sz="2800" spc="-20">
                <a:solidFill>
                  <a:srgbClr val="4E3629"/>
                </a:solidFill>
                <a:latin typeface="Calibri"/>
                <a:cs typeface="Calibri"/>
              </a:rPr>
              <a:t>	</a:t>
            </a:r>
            <a:r>
              <a:rPr dirty="0" sz="2800">
                <a:solidFill>
                  <a:srgbClr val="4E3629"/>
                </a:solidFill>
                <a:latin typeface="Calibri"/>
                <a:cs typeface="Calibri"/>
              </a:rPr>
              <a:t>posiciones</a:t>
            </a:r>
            <a:r>
              <a:rPr dirty="0" sz="2800" spc="-110">
                <a:solidFill>
                  <a:srgbClr val="4E3629"/>
                </a:solidFill>
                <a:latin typeface="Calibri"/>
                <a:cs typeface="Calibri"/>
              </a:rPr>
              <a:t> </a:t>
            </a:r>
            <a:r>
              <a:rPr dirty="0" sz="2800" spc="-10">
                <a:solidFill>
                  <a:srgbClr val="4E3629"/>
                </a:solidFill>
                <a:latin typeface="Calibri"/>
                <a:cs typeface="Calibri"/>
              </a:rPr>
              <a:t>decimales</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 pos="3084195" algn="l"/>
              </a:tabLst>
            </a:pPr>
            <a:r>
              <a:rPr dirty="0" sz="2800">
                <a:solidFill>
                  <a:srgbClr val="4E3629"/>
                </a:solidFill>
                <a:latin typeface="Calibri"/>
                <a:cs typeface="Calibri"/>
              </a:rPr>
              <a:t>TRUNC</a:t>
            </a:r>
            <a:r>
              <a:rPr dirty="0" sz="2800" spc="-80">
                <a:solidFill>
                  <a:srgbClr val="4E3629"/>
                </a:solidFill>
                <a:latin typeface="Calibri"/>
                <a:cs typeface="Calibri"/>
              </a:rPr>
              <a:t> </a:t>
            </a:r>
            <a:r>
              <a:rPr dirty="0" sz="2800">
                <a:solidFill>
                  <a:srgbClr val="4E3629"/>
                </a:solidFill>
                <a:latin typeface="Calibri"/>
                <a:cs typeface="Calibri"/>
              </a:rPr>
              <a:t>(45.926,</a:t>
            </a:r>
            <a:r>
              <a:rPr dirty="0" sz="2800" spc="-45">
                <a:solidFill>
                  <a:srgbClr val="4E3629"/>
                </a:solidFill>
                <a:latin typeface="Calibri"/>
                <a:cs typeface="Calibri"/>
              </a:rPr>
              <a:t> </a:t>
            </a:r>
            <a:r>
              <a:rPr dirty="0" sz="2800" spc="-25">
                <a:solidFill>
                  <a:srgbClr val="4E3629"/>
                </a:solidFill>
                <a:latin typeface="Calibri"/>
                <a:cs typeface="Calibri"/>
              </a:rPr>
              <a:t>0)</a:t>
            </a:r>
            <a:r>
              <a:rPr dirty="0" sz="2800">
                <a:solidFill>
                  <a:srgbClr val="4E3629"/>
                </a:solidFill>
                <a:latin typeface="Calibri"/>
                <a:cs typeface="Calibri"/>
              </a:rPr>
              <a:t>	</a:t>
            </a:r>
            <a:r>
              <a:rPr dirty="0" sz="2800" spc="-25">
                <a:solidFill>
                  <a:srgbClr val="4E3629"/>
                </a:solidFill>
                <a:latin typeface="Calibri"/>
                <a:cs typeface="Calibri"/>
              </a:rPr>
              <a:t>45</a:t>
            </a:r>
            <a:endParaRPr sz="2800">
              <a:latin typeface="Calibri"/>
              <a:cs typeface="Calibri"/>
            </a:endParaRPr>
          </a:p>
          <a:p>
            <a:pPr marL="183515" indent="-170815">
              <a:lnSpc>
                <a:spcPct val="100000"/>
              </a:lnSpc>
              <a:spcBef>
                <a:spcPts val="470"/>
              </a:spcBef>
              <a:buClr>
                <a:srgbClr val="D1350F"/>
              </a:buClr>
              <a:buFont typeface="Arial MT"/>
              <a:buChar char="•"/>
              <a:tabLst>
                <a:tab pos="183515" algn="l"/>
                <a:tab pos="2836545" algn="l"/>
              </a:tabLst>
            </a:pPr>
            <a:r>
              <a:rPr dirty="0" sz="2800">
                <a:solidFill>
                  <a:srgbClr val="4E3629"/>
                </a:solidFill>
                <a:latin typeface="Calibri"/>
                <a:cs typeface="Calibri"/>
              </a:rPr>
              <a:t>TRUNC</a:t>
            </a:r>
            <a:r>
              <a:rPr dirty="0" sz="2800" spc="-50">
                <a:solidFill>
                  <a:srgbClr val="4E3629"/>
                </a:solidFill>
                <a:latin typeface="Calibri"/>
                <a:cs typeface="Calibri"/>
              </a:rPr>
              <a:t> </a:t>
            </a:r>
            <a:r>
              <a:rPr dirty="0" sz="2800" spc="-10">
                <a:solidFill>
                  <a:srgbClr val="4E3629"/>
                </a:solidFill>
                <a:latin typeface="Calibri"/>
                <a:cs typeface="Calibri"/>
              </a:rPr>
              <a:t>(45.926)</a:t>
            </a:r>
            <a:r>
              <a:rPr dirty="0" sz="2800">
                <a:solidFill>
                  <a:srgbClr val="4E3629"/>
                </a:solidFill>
                <a:latin typeface="Calibri"/>
                <a:cs typeface="Calibri"/>
              </a:rPr>
              <a:t>	</a:t>
            </a:r>
            <a:r>
              <a:rPr dirty="0" sz="2800" spc="-25">
                <a:solidFill>
                  <a:srgbClr val="4E3629"/>
                </a:solidFill>
                <a:latin typeface="Calibri"/>
                <a:cs typeface="Calibri"/>
              </a:rPr>
              <a:t>45</a:t>
            </a:r>
            <a:endParaRPr sz="2800">
              <a:latin typeface="Calibri"/>
              <a:cs typeface="Calibri"/>
            </a:endParaRPr>
          </a:p>
          <a:p>
            <a:pPr marL="183515" indent="-170815">
              <a:lnSpc>
                <a:spcPct val="100000"/>
              </a:lnSpc>
              <a:spcBef>
                <a:spcPts val="455"/>
              </a:spcBef>
              <a:buClr>
                <a:srgbClr val="D1350F"/>
              </a:buClr>
              <a:buFont typeface="Arial MT"/>
              <a:buChar char="•"/>
              <a:tabLst>
                <a:tab pos="183515" algn="l"/>
              </a:tabLst>
            </a:pPr>
            <a:r>
              <a:rPr dirty="0" sz="2800">
                <a:solidFill>
                  <a:srgbClr val="4E3629"/>
                </a:solidFill>
                <a:latin typeface="Calibri"/>
                <a:cs typeface="Calibri"/>
              </a:rPr>
              <a:t>Recuerde</a:t>
            </a:r>
            <a:r>
              <a:rPr dirty="0" sz="2800" spc="-55">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TRUNC</a:t>
            </a:r>
            <a:r>
              <a:rPr dirty="0" sz="2800" spc="-60">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redondea</a:t>
            </a:r>
            <a:r>
              <a:rPr dirty="0" sz="2800" spc="-4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spc="-10">
                <a:solidFill>
                  <a:srgbClr val="4E3629"/>
                </a:solidFill>
                <a:latin typeface="Calibri"/>
                <a:cs typeface="Calibri"/>
              </a:rPr>
              <a:t>número.</a:t>
            </a:r>
            <a:endParaRPr sz="2800">
              <a:latin typeface="Calibri"/>
              <a:cs typeface="Calibri"/>
            </a:endParaRPr>
          </a:p>
          <a:p>
            <a:pPr marL="182880" marR="699770" indent="-170815">
              <a:lnSpc>
                <a:spcPts val="3030"/>
              </a:lnSpc>
              <a:spcBef>
                <a:spcPts val="845"/>
              </a:spcBef>
              <a:buClr>
                <a:srgbClr val="D1350F"/>
              </a:buClr>
              <a:buFont typeface="Arial MT"/>
              <a:buChar char="•"/>
              <a:tabLst>
                <a:tab pos="184785" algn="l"/>
              </a:tabLst>
            </a:pPr>
            <a:r>
              <a:rPr dirty="0" sz="2800" spc="-10">
                <a:solidFill>
                  <a:srgbClr val="4E3629"/>
                </a:solidFill>
                <a:latin typeface="Calibri"/>
                <a:cs typeface="Calibri"/>
              </a:rPr>
              <a:t>Simplemente</a:t>
            </a:r>
            <a:r>
              <a:rPr dirty="0" sz="2800" spc="-50">
                <a:solidFill>
                  <a:srgbClr val="4E3629"/>
                </a:solidFill>
                <a:latin typeface="Calibri"/>
                <a:cs typeface="Calibri"/>
              </a:rPr>
              <a:t> </a:t>
            </a:r>
            <a:r>
              <a:rPr dirty="0" sz="2800">
                <a:solidFill>
                  <a:srgbClr val="4E3629"/>
                </a:solidFill>
                <a:latin typeface="Calibri"/>
                <a:cs typeface="Calibri"/>
              </a:rPr>
              <a:t>termina</a:t>
            </a:r>
            <a:r>
              <a:rPr dirty="0" sz="2800" spc="-6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35">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punto 	determinado</a:t>
            </a:r>
            <a:endParaRPr sz="280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25"/>
              <a:t>MOD</a:t>
            </a:r>
          </a:p>
        </p:txBody>
      </p:sp>
      <p:sp>
        <p:nvSpPr>
          <p:cNvPr id="4" name="object 4"/>
          <p:cNvSpPr txBox="1"/>
          <p:nvPr/>
        </p:nvSpPr>
        <p:spPr>
          <a:xfrm>
            <a:off x="2855904" y="6510552"/>
            <a:ext cx="96393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10">
                <a:solidFill>
                  <a:srgbClr val="4E3629"/>
                </a:solidFill>
                <a:latin typeface="Calibri"/>
                <a:cs typeface="Calibri"/>
              </a:rPr>
              <a:t>Numéricas</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11</a:t>
            </a: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8031480" cy="344487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función</a:t>
            </a:r>
            <a:r>
              <a:rPr dirty="0" sz="2800" spc="-30">
                <a:solidFill>
                  <a:srgbClr val="4E3629"/>
                </a:solidFill>
                <a:latin typeface="Calibri"/>
                <a:cs typeface="Calibri"/>
              </a:rPr>
              <a:t> </a:t>
            </a:r>
            <a:r>
              <a:rPr dirty="0" sz="2800">
                <a:solidFill>
                  <a:srgbClr val="4E3629"/>
                </a:solidFill>
                <a:latin typeface="Calibri"/>
                <a:cs typeface="Calibri"/>
              </a:rPr>
              <a:t>MOD</a:t>
            </a:r>
            <a:r>
              <a:rPr dirty="0" sz="2800" spc="-45">
                <a:solidFill>
                  <a:srgbClr val="4E3629"/>
                </a:solidFill>
                <a:latin typeface="Calibri"/>
                <a:cs typeface="Calibri"/>
              </a:rPr>
              <a:t> </a:t>
            </a:r>
            <a:r>
              <a:rPr dirty="0" sz="2800" spc="-10">
                <a:solidFill>
                  <a:srgbClr val="4E3629"/>
                </a:solidFill>
                <a:latin typeface="Calibri"/>
                <a:cs typeface="Calibri"/>
              </a:rPr>
              <a:t>encuentra</a:t>
            </a:r>
            <a:r>
              <a:rPr dirty="0" sz="2800" spc="-3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resto</a:t>
            </a:r>
            <a:r>
              <a:rPr dirty="0" sz="2800" spc="-50">
                <a:solidFill>
                  <a:srgbClr val="4E3629"/>
                </a:solidFill>
                <a:latin typeface="Calibri"/>
                <a:cs typeface="Calibri"/>
              </a:rPr>
              <a:t> </a:t>
            </a:r>
            <a:r>
              <a:rPr dirty="0" sz="2800">
                <a:solidFill>
                  <a:srgbClr val="4E3629"/>
                </a:solidFill>
                <a:latin typeface="Calibri"/>
                <a:cs typeface="Calibri"/>
              </a:rPr>
              <a:t>después</a:t>
            </a:r>
            <a:r>
              <a:rPr dirty="0" sz="2800" spc="-2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spc="-25">
                <a:solidFill>
                  <a:srgbClr val="4E3629"/>
                </a:solidFill>
                <a:latin typeface="Calibri"/>
                <a:cs typeface="Calibri"/>
              </a:rPr>
              <a:t>un </a:t>
            </a:r>
            <a:r>
              <a:rPr dirty="0" sz="2800" spc="-2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divida</a:t>
            </a:r>
            <a:r>
              <a:rPr dirty="0" sz="2800" spc="-45">
                <a:solidFill>
                  <a:srgbClr val="4E3629"/>
                </a:solidFill>
                <a:latin typeface="Calibri"/>
                <a:cs typeface="Calibri"/>
              </a:rPr>
              <a:t> </a:t>
            </a:r>
            <a:r>
              <a:rPr dirty="0" sz="2800">
                <a:solidFill>
                  <a:srgbClr val="4E3629"/>
                </a:solidFill>
                <a:latin typeface="Calibri"/>
                <a:cs typeface="Calibri"/>
              </a:rPr>
              <a:t>entre</a:t>
            </a:r>
            <a:r>
              <a:rPr dirty="0" sz="2800" spc="-70">
                <a:solidFill>
                  <a:srgbClr val="4E3629"/>
                </a:solidFill>
                <a:latin typeface="Calibri"/>
                <a:cs typeface="Calibri"/>
              </a:rPr>
              <a:t> </a:t>
            </a:r>
            <a:r>
              <a:rPr dirty="0" sz="2800">
                <a:solidFill>
                  <a:srgbClr val="4E3629"/>
                </a:solidFill>
                <a:latin typeface="Calibri"/>
                <a:cs typeface="Calibri"/>
              </a:rPr>
              <a:t>otro</a:t>
            </a:r>
            <a:r>
              <a:rPr dirty="0" sz="2800" spc="-55">
                <a:solidFill>
                  <a:srgbClr val="4E3629"/>
                </a:solidFill>
                <a:latin typeface="Calibri"/>
                <a:cs typeface="Calibri"/>
              </a:rPr>
              <a:t> </a:t>
            </a:r>
            <a:r>
              <a:rPr dirty="0" sz="2800" spc="-10">
                <a:solidFill>
                  <a:srgbClr val="4E3629"/>
                </a:solidFill>
                <a:latin typeface="Calibri"/>
                <a:cs typeface="Calibri"/>
              </a:rPr>
              <a:t>valor</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Por</a:t>
            </a:r>
            <a:r>
              <a:rPr dirty="0" sz="2800" spc="-55">
                <a:solidFill>
                  <a:srgbClr val="4E3629"/>
                </a:solidFill>
                <a:latin typeface="Calibri"/>
                <a:cs typeface="Calibri"/>
              </a:rPr>
              <a:t> </a:t>
            </a:r>
            <a:r>
              <a:rPr dirty="0" sz="2800">
                <a:solidFill>
                  <a:srgbClr val="4E3629"/>
                </a:solidFill>
                <a:latin typeface="Calibri"/>
                <a:cs typeface="Calibri"/>
              </a:rPr>
              <a:t>ejemplo,</a:t>
            </a:r>
            <a:r>
              <a:rPr dirty="0" sz="2800" spc="-4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MOD</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5</a:t>
            </a:r>
            <a:r>
              <a:rPr dirty="0" sz="2800" spc="-55">
                <a:solidFill>
                  <a:srgbClr val="4E3629"/>
                </a:solidFill>
                <a:latin typeface="Calibri"/>
                <a:cs typeface="Calibri"/>
              </a:rPr>
              <a:t> </a:t>
            </a:r>
            <a:r>
              <a:rPr dirty="0" sz="2800">
                <a:solidFill>
                  <a:srgbClr val="4E3629"/>
                </a:solidFill>
                <a:latin typeface="Calibri"/>
                <a:cs typeface="Calibri"/>
              </a:rPr>
              <a:t>dividido</a:t>
            </a:r>
            <a:r>
              <a:rPr dirty="0" sz="2800" spc="-25">
                <a:solidFill>
                  <a:srgbClr val="4E3629"/>
                </a:solidFill>
                <a:latin typeface="Calibri"/>
                <a:cs typeface="Calibri"/>
              </a:rPr>
              <a:t> </a:t>
            </a:r>
            <a:r>
              <a:rPr dirty="0" sz="2800">
                <a:solidFill>
                  <a:srgbClr val="4E3629"/>
                </a:solidFill>
                <a:latin typeface="Calibri"/>
                <a:cs typeface="Calibri"/>
              </a:rPr>
              <a:t>entre</a:t>
            </a:r>
            <a:r>
              <a:rPr dirty="0" sz="2800" spc="-50">
                <a:solidFill>
                  <a:srgbClr val="4E3629"/>
                </a:solidFill>
                <a:latin typeface="Calibri"/>
                <a:cs typeface="Calibri"/>
              </a:rPr>
              <a:t> </a:t>
            </a:r>
            <a:r>
              <a:rPr dirty="0" sz="2800">
                <a:solidFill>
                  <a:srgbClr val="4E3629"/>
                </a:solidFill>
                <a:latin typeface="Calibri"/>
                <a:cs typeface="Calibri"/>
              </a:rPr>
              <a:t>2</a:t>
            </a:r>
            <a:r>
              <a:rPr dirty="0" sz="2800" spc="-55">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spc="-50">
                <a:solidFill>
                  <a:srgbClr val="4E3629"/>
                </a:solidFill>
                <a:latin typeface="Calibri"/>
                <a:cs typeface="Calibri"/>
              </a:rPr>
              <a:t>1</a:t>
            </a:r>
            <a:endParaRPr sz="2800">
              <a:latin typeface="Calibri"/>
              <a:cs typeface="Calibri"/>
            </a:endParaRPr>
          </a:p>
          <a:p>
            <a:pPr marL="159385" marR="244475" indent="-147320">
              <a:lnSpc>
                <a:spcPts val="3030"/>
              </a:lnSpc>
              <a:spcBef>
                <a:spcPts val="844"/>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MOD</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utilizar</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determinar</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si</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6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es</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par</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50">
                <a:solidFill>
                  <a:srgbClr val="4E3629"/>
                </a:solidFill>
                <a:uFill>
                  <a:solidFill>
                    <a:srgbClr val="EC2814"/>
                  </a:solidFill>
                </a:uFill>
                <a:latin typeface="Calibri"/>
                <a:cs typeface="Calibri"/>
              </a:rPr>
              <a:t> </a:t>
            </a:r>
            <a:r>
              <a:rPr dirty="0" u="heavy" sz="2800" spc="-40">
                <a:solidFill>
                  <a:srgbClr val="4E3629"/>
                </a:solidFill>
                <a:uFill>
                  <a:solidFill>
                    <a:srgbClr val="EC2814"/>
                  </a:solidFill>
                </a:uFill>
                <a:latin typeface="Calibri"/>
                <a:cs typeface="Calibri"/>
              </a:rPr>
              <a:t>impar</a:t>
            </a:r>
            <a:r>
              <a:rPr dirty="0" sz="2800" spc="-40">
                <a:solidFill>
                  <a:srgbClr val="4E3629"/>
                </a:solidFill>
                <a:latin typeface="Calibri"/>
                <a:cs typeface="Calibri"/>
              </a:rPr>
              <a:t>.</a:t>
            </a:r>
            <a:r>
              <a:rPr dirty="0" sz="2800" spc="-35">
                <a:solidFill>
                  <a:srgbClr val="4E3629"/>
                </a:solidFill>
                <a:latin typeface="Calibri"/>
                <a:cs typeface="Calibri"/>
              </a:rPr>
              <a:t> </a:t>
            </a:r>
            <a:r>
              <a:rPr dirty="0" sz="2800">
                <a:solidFill>
                  <a:srgbClr val="4E3629"/>
                </a:solidFill>
                <a:latin typeface="Calibri"/>
                <a:cs typeface="Calibri"/>
              </a:rPr>
              <a:t>Si</a:t>
            </a:r>
            <a:r>
              <a:rPr dirty="0" sz="2800" spc="-4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divide</a:t>
            </a:r>
            <a:r>
              <a:rPr dirty="0" sz="2800" spc="-25">
                <a:solidFill>
                  <a:srgbClr val="4E3629"/>
                </a:solidFill>
                <a:latin typeface="Calibri"/>
                <a:cs typeface="Calibri"/>
              </a:rPr>
              <a:t> </a:t>
            </a:r>
            <a:r>
              <a:rPr dirty="0" sz="2800">
                <a:solidFill>
                  <a:srgbClr val="4E3629"/>
                </a:solidFill>
                <a:latin typeface="Calibri"/>
                <a:cs typeface="Calibri"/>
              </a:rPr>
              <a:t>un</a:t>
            </a:r>
            <a:r>
              <a:rPr dirty="0" sz="2800" spc="-30">
                <a:solidFill>
                  <a:srgbClr val="4E3629"/>
                </a:solidFill>
                <a:latin typeface="Calibri"/>
                <a:cs typeface="Calibri"/>
              </a:rPr>
              <a:t> </a:t>
            </a:r>
            <a:r>
              <a:rPr dirty="0" sz="2800">
                <a:solidFill>
                  <a:srgbClr val="4E3629"/>
                </a:solidFill>
                <a:latin typeface="Calibri"/>
                <a:cs typeface="Calibri"/>
              </a:rPr>
              <a:t>valor</a:t>
            </a:r>
            <a:r>
              <a:rPr dirty="0" sz="2800" spc="-50">
                <a:solidFill>
                  <a:srgbClr val="4E3629"/>
                </a:solidFill>
                <a:latin typeface="Calibri"/>
                <a:cs typeface="Calibri"/>
              </a:rPr>
              <a:t> </a:t>
            </a:r>
            <a:r>
              <a:rPr dirty="0" sz="2800">
                <a:solidFill>
                  <a:srgbClr val="4E3629"/>
                </a:solidFill>
                <a:latin typeface="Calibri"/>
                <a:cs typeface="Calibri"/>
              </a:rPr>
              <a:t>entre</a:t>
            </a:r>
            <a:r>
              <a:rPr dirty="0" sz="2800" spc="-50">
                <a:solidFill>
                  <a:srgbClr val="4E3629"/>
                </a:solidFill>
                <a:latin typeface="Calibri"/>
                <a:cs typeface="Calibri"/>
              </a:rPr>
              <a:t> </a:t>
            </a:r>
            <a:r>
              <a:rPr dirty="0" sz="2800">
                <a:solidFill>
                  <a:srgbClr val="4E3629"/>
                </a:solidFill>
                <a:latin typeface="Calibri"/>
                <a:cs typeface="Calibri"/>
              </a:rPr>
              <a:t>2</a:t>
            </a:r>
            <a:r>
              <a:rPr dirty="0" sz="2800" spc="-35">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a:solidFill>
                  <a:srgbClr val="4E3629"/>
                </a:solidFill>
                <a:latin typeface="Calibri"/>
                <a:cs typeface="Calibri"/>
              </a:rPr>
              <a:t>no</a:t>
            </a:r>
            <a:r>
              <a:rPr dirty="0" sz="2800" spc="-35">
                <a:solidFill>
                  <a:srgbClr val="4E3629"/>
                </a:solidFill>
                <a:latin typeface="Calibri"/>
                <a:cs typeface="Calibri"/>
              </a:rPr>
              <a:t> </a:t>
            </a:r>
            <a:r>
              <a:rPr dirty="0" sz="2800" spc="-25">
                <a:solidFill>
                  <a:srgbClr val="4E3629"/>
                </a:solidFill>
                <a:latin typeface="Calibri"/>
                <a:cs typeface="Calibri"/>
              </a:rPr>
              <a:t>hay </a:t>
            </a:r>
            <a:r>
              <a:rPr dirty="0" sz="2800" spc="-25">
                <a:solidFill>
                  <a:srgbClr val="4E3629"/>
                </a:solidFill>
                <a:latin typeface="Calibri"/>
                <a:cs typeface="Calibri"/>
              </a:rPr>
              <a:t>	</a:t>
            </a:r>
            <a:r>
              <a:rPr dirty="0" sz="2800">
                <a:solidFill>
                  <a:srgbClr val="4E3629"/>
                </a:solidFill>
                <a:latin typeface="Calibri"/>
                <a:cs typeface="Calibri"/>
              </a:rPr>
              <a:t>ningún</a:t>
            </a:r>
            <a:r>
              <a:rPr dirty="0" sz="2800" spc="-60">
                <a:solidFill>
                  <a:srgbClr val="4E3629"/>
                </a:solidFill>
                <a:latin typeface="Calibri"/>
                <a:cs typeface="Calibri"/>
              </a:rPr>
              <a:t> </a:t>
            </a:r>
            <a:r>
              <a:rPr dirty="0" sz="2800" spc="-10">
                <a:solidFill>
                  <a:srgbClr val="4E3629"/>
                </a:solidFill>
                <a:latin typeface="Calibri"/>
                <a:cs typeface="Calibri"/>
              </a:rPr>
              <a:t>resto,</a:t>
            </a:r>
            <a:r>
              <a:rPr dirty="0" sz="2800" spc="-70">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número</a:t>
            </a:r>
            <a:r>
              <a:rPr dirty="0" sz="2800" spc="-60">
                <a:solidFill>
                  <a:srgbClr val="4E3629"/>
                </a:solidFill>
                <a:latin typeface="Calibri"/>
                <a:cs typeface="Calibri"/>
              </a:rPr>
              <a:t> </a:t>
            </a:r>
            <a:r>
              <a:rPr dirty="0" sz="2800">
                <a:solidFill>
                  <a:srgbClr val="4E3629"/>
                </a:solidFill>
                <a:latin typeface="Calibri"/>
                <a:cs typeface="Calibri"/>
              </a:rPr>
              <a:t>debe</a:t>
            </a:r>
            <a:r>
              <a:rPr dirty="0" sz="2800" spc="-60">
                <a:solidFill>
                  <a:srgbClr val="4E3629"/>
                </a:solidFill>
                <a:latin typeface="Calibri"/>
                <a:cs typeface="Calibri"/>
              </a:rPr>
              <a:t> </a:t>
            </a:r>
            <a:r>
              <a:rPr dirty="0" sz="2800">
                <a:solidFill>
                  <a:srgbClr val="4E3629"/>
                </a:solidFill>
                <a:latin typeface="Calibri"/>
                <a:cs typeface="Calibri"/>
              </a:rPr>
              <a:t>ser</a:t>
            </a:r>
            <a:r>
              <a:rPr dirty="0" sz="2800" spc="-80">
                <a:solidFill>
                  <a:srgbClr val="4E3629"/>
                </a:solidFill>
                <a:latin typeface="Calibri"/>
                <a:cs typeface="Calibri"/>
              </a:rPr>
              <a:t> </a:t>
            </a:r>
            <a:r>
              <a:rPr dirty="0" sz="2800">
                <a:solidFill>
                  <a:srgbClr val="4E3629"/>
                </a:solidFill>
                <a:latin typeface="Calibri"/>
                <a:cs typeface="Calibri"/>
              </a:rPr>
              <a:t>un</a:t>
            </a:r>
            <a:r>
              <a:rPr dirty="0" sz="2800" spc="-65">
                <a:solidFill>
                  <a:srgbClr val="4E3629"/>
                </a:solidFill>
                <a:latin typeface="Calibri"/>
                <a:cs typeface="Calibri"/>
              </a:rPr>
              <a:t> </a:t>
            </a:r>
            <a:r>
              <a:rPr dirty="0" sz="2800">
                <a:solidFill>
                  <a:srgbClr val="4E3629"/>
                </a:solidFill>
                <a:latin typeface="Calibri"/>
                <a:cs typeface="Calibri"/>
              </a:rPr>
              <a:t>número</a:t>
            </a:r>
            <a:r>
              <a:rPr dirty="0" sz="2800" spc="-50">
                <a:solidFill>
                  <a:srgbClr val="4E3629"/>
                </a:solidFill>
                <a:latin typeface="Calibri"/>
                <a:cs typeface="Calibri"/>
              </a:rPr>
              <a:t> </a:t>
            </a:r>
            <a:r>
              <a:rPr dirty="0" sz="2800" spc="-25">
                <a:solidFill>
                  <a:srgbClr val="4E3629"/>
                </a:solidFill>
                <a:latin typeface="Calibri"/>
                <a:cs typeface="Calibri"/>
              </a:rPr>
              <a:t>par</a:t>
            </a:r>
            <a:endParaRPr sz="2800">
              <a:latin typeface="Calibri"/>
              <a:cs typeface="Calibri"/>
            </a:endParaRPr>
          </a:p>
          <a:p>
            <a:pPr marL="182880" marR="753110" indent="-170815">
              <a:lnSpc>
                <a:spcPts val="3030"/>
              </a:lnSpc>
              <a:spcBef>
                <a:spcPts val="775"/>
              </a:spcBef>
              <a:buClr>
                <a:srgbClr val="D1350F"/>
              </a:buClr>
              <a:buFont typeface="Arial MT"/>
              <a:buChar char="•"/>
              <a:tabLst>
                <a:tab pos="184785" algn="l"/>
              </a:tabLst>
            </a:pPr>
            <a:r>
              <a:rPr dirty="0" sz="2800">
                <a:solidFill>
                  <a:srgbClr val="4E3629"/>
                </a:solidFill>
                <a:latin typeface="Calibri"/>
                <a:cs typeface="Calibri"/>
              </a:rPr>
              <a:t>Por</a:t>
            </a:r>
            <a:r>
              <a:rPr dirty="0" sz="2800" spc="-50">
                <a:solidFill>
                  <a:srgbClr val="4E3629"/>
                </a:solidFill>
                <a:latin typeface="Calibri"/>
                <a:cs typeface="Calibri"/>
              </a:rPr>
              <a:t> </a:t>
            </a:r>
            <a:r>
              <a:rPr dirty="0" sz="2800">
                <a:solidFill>
                  <a:srgbClr val="4E3629"/>
                </a:solidFill>
                <a:latin typeface="Calibri"/>
                <a:cs typeface="Calibri"/>
              </a:rPr>
              <a:t>ejemplo,</a:t>
            </a:r>
            <a:r>
              <a:rPr dirty="0" sz="2800" spc="-35">
                <a:solidFill>
                  <a:srgbClr val="4E3629"/>
                </a:solidFill>
                <a:latin typeface="Calibri"/>
                <a:cs typeface="Calibri"/>
              </a:rPr>
              <a:t> </a:t>
            </a:r>
            <a:r>
              <a:rPr dirty="0" sz="2800">
                <a:solidFill>
                  <a:srgbClr val="4E3629"/>
                </a:solidFill>
                <a:latin typeface="Calibri"/>
                <a:cs typeface="Calibri"/>
              </a:rPr>
              <a:t>si</a:t>
            </a:r>
            <a:r>
              <a:rPr dirty="0" sz="2800" spc="-5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MOD</a:t>
            </a:r>
            <a:r>
              <a:rPr dirty="0" sz="2800" spc="-4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x</a:t>
            </a:r>
            <a:r>
              <a:rPr dirty="0" sz="2800" spc="-55">
                <a:solidFill>
                  <a:srgbClr val="4E3629"/>
                </a:solidFill>
                <a:latin typeface="Calibri"/>
                <a:cs typeface="Calibri"/>
              </a:rPr>
              <a:t> </a:t>
            </a:r>
            <a:r>
              <a:rPr dirty="0" sz="2800">
                <a:solidFill>
                  <a:srgbClr val="4E3629"/>
                </a:solidFill>
                <a:latin typeface="Calibri"/>
                <a:cs typeface="Calibri"/>
              </a:rPr>
              <a:t>dividido</a:t>
            </a:r>
            <a:r>
              <a:rPr dirty="0" sz="2800" spc="-15">
                <a:solidFill>
                  <a:srgbClr val="4E3629"/>
                </a:solidFill>
                <a:latin typeface="Calibri"/>
                <a:cs typeface="Calibri"/>
              </a:rPr>
              <a:t> </a:t>
            </a:r>
            <a:r>
              <a:rPr dirty="0" sz="2800">
                <a:solidFill>
                  <a:srgbClr val="4E3629"/>
                </a:solidFill>
                <a:latin typeface="Calibri"/>
                <a:cs typeface="Calibri"/>
              </a:rPr>
              <a:t>entre</a:t>
            </a:r>
            <a:r>
              <a:rPr dirty="0" sz="2800" spc="-55">
                <a:solidFill>
                  <a:srgbClr val="4E3629"/>
                </a:solidFill>
                <a:latin typeface="Calibri"/>
                <a:cs typeface="Calibri"/>
              </a:rPr>
              <a:t> </a:t>
            </a:r>
            <a:r>
              <a:rPr dirty="0" sz="2800">
                <a:solidFill>
                  <a:srgbClr val="4E3629"/>
                </a:solidFill>
                <a:latin typeface="Calibri"/>
                <a:cs typeface="Calibri"/>
              </a:rPr>
              <a:t>2</a:t>
            </a:r>
            <a:r>
              <a:rPr dirty="0" sz="2800" spc="-50">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spc="-25">
                <a:solidFill>
                  <a:srgbClr val="4E3629"/>
                </a:solidFill>
                <a:latin typeface="Calibri"/>
                <a:cs typeface="Calibri"/>
              </a:rPr>
              <a:t>0, </a:t>
            </a:r>
            <a:r>
              <a:rPr dirty="0" sz="2800" spc="-25">
                <a:solidFill>
                  <a:srgbClr val="4E3629"/>
                </a:solidFill>
                <a:latin typeface="Calibri"/>
                <a:cs typeface="Calibri"/>
              </a:rPr>
              <a:t>	</a:t>
            </a:r>
            <a:r>
              <a:rPr dirty="0" sz="2800" spc="-10">
                <a:solidFill>
                  <a:srgbClr val="4E3629"/>
                </a:solidFill>
                <a:latin typeface="Calibri"/>
                <a:cs typeface="Calibri"/>
              </a:rPr>
              <a:t>entonces,</a:t>
            </a:r>
            <a:r>
              <a:rPr dirty="0" sz="2800" spc="-45">
                <a:solidFill>
                  <a:srgbClr val="4E3629"/>
                </a:solidFill>
                <a:latin typeface="Calibri"/>
                <a:cs typeface="Calibri"/>
              </a:rPr>
              <a:t> </a:t>
            </a:r>
            <a:r>
              <a:rPr dirty="0" sz="2800">
                <a:solidFill>
                  <a:srgbClr val="4E3629"/>
                </a:solidFill>
                <a:latin typeface="Calibri"/>
                <a:cs typeface="Calibri"/>
              </a:rPr>
              <a:t>x</a:t>
            </a:r>
            <a:r>
              <a:rPr dirty="0" sz="2800" spc="-55">
                <a:solidFill>
                  <a:srgbClr val="4E3629"/>
                </a:solidFill>
                <a:latin typeface="Calibri"/>
                <a:cs typeface="Calibri"/>
              </a:rPr>
              <a:t> </a:t>
            </a:r>
            <a:r>
              <a:rPr dirty="0" sz="2800">
                <a:solidFill>
                  <a:srgbClr val="4E3629"/>
                </a:solidFill>
                <a:latin typeface="Calibri"/>
                <a:cs typeface="Calibri"/>
              </a:rPr>
              <a:t>debe</a:t>
            </a:r>
            <a:r>
              <a:rPr dirty="0" sz="2800" spc="-50">
                <a:solidFill>
                  <a:srgbClr val="4E3629"/>
                </a:solidFill>
                <a:latin typeface="Calibri"/>
                <a:cs typeface="Calibri"/>
              </a:rPr>
              <a:t> </a:t>
            </a:r>
            <a:r>
              <a:rPr dirty="0" sz="2800">
                <a:solidFill>
                  <a:srgbClr val="4E3629"/>
                </a:solidFill>
                <a:latin typeface="Calibri"/>
                <a:cs typeface="Calibri"/>
              </a:rPr>
              <a:t>ser</a:t>
            </a:r>
            <a:r>
              <a:rPr dirty="0" sz="2800" spc="-50">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número</a:t>
            </a:r>
            <a:r>
              <a:rPr dirty="0" sz="2800" spc="-40">
                <a:solidFill>
                  <a:srgbClr val="4E3629"/>
                </a:solidFill>
                <a:latin typeface="Calibri"/>
                <a:cs typeface="Calibri"/>
              </a:rPr>
              <a:t> </a:t>
            </a:r>
            <a:r>
              <a:rPr dirty="0" sz="2800" spc="-25">
                <a:solidFill>
                  <a:srgbClr val="4E3629"/>
                </a:solidFill>
                <a:latin typeface="Calibri"/>
                <a:cs typeface="Calibri"/>
              </a:rPr>
              <a:t>par</a:t>
            </a:r>
            <a:endParaRPr sz="28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25"/>
              <a:t>MOD</a:t>
            </a:r>
          </a:p>
        </p:txBody>
      </p:sp>
      <p:sp>
        <p:nvSpPr>
          <p:cNvPr id="7" name="object 7"/>
          <p:cNvSpPr txBox="1"/>
          <p:nvPr/>
        </p:nvSpPr>
        <p:spPr>
          <a:xfrm>
            <a:off x="2855904" y="6510552"/>
            <a:ext cx="96393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10">
                <a:solidFill>
                  <a:srgbClr val="4E3629"/>
                </a:solidFill>
                <a:latin typeface="Calibri"/>
                <a:cs typeface="Calibri"/>
              </a:rPr>
              <a:t>Numéricas</a:t>
            </a:r>
            <a:endParaRPr sz="850">
              <a:latin typeface="Calibri"/>
              <a:cs typeface="Calibri"/>
            </a:endParaRP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12</a:t>
            </a: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7654290"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columna</a:t>
            </a:r>
            <a:r>
              <a:rPr dirty="0" sz="2800" spc="-40">
                <a:solidFill>
                  <a:srgbClr val="4E3629"/>
                </a:solidFill>
                <a:latin typeface="Calibri"/>
                <a:cs typeface="Calibri"/>
              </a:rPr>
              <a:t> </a:t>
            </a:r>
            <a:r>
              <a:rPr dirty="0" sz="2800">
                <a:solidFill>
                  <a:srgbClr val="4E3629"/>
                </a:solidFill>
                <a:latin typeface="Calibri"/>
                <a:cs typeface="Calibri"/>
              </a:rPr>
              <a:t>"Mod</a:t>
            </a:r>
            <a:r>
              <a:rPr dirty="0" sz="2800" spc="-35">
                <a:solidFill>
                  <a:srgbClr val="4E3629"/>
                </a:solidFill>
                <a:latin typeface="Calibri"/>
                <a:cs typeface="Calibri"/>
              </a:rPr>
              <a:t> </a:t>
            </a:r>
            <a:r>
              <a:rPr dirty="0" sz="2800">
                <a:solidFill>
                  <a:srgbClr val="4E3629"/>
                </a:solidFill>
                <a:latin typeface="Calibri"/>
                <a:cs typeface="Calibri"/>
              </a:rPr>
              <a:t>Demo"</a:t>
            </a:r>
            <a:r>
              <a:rPr dirty="0" sz="2800" spc="-45">
                <a:solidFill>
                  <a:srgbClr val="4E3629"/>
                </a:solidFill>
                <a:latin typeface="Calibri"/>
                <a:cs typeface="Calibri"/>
              </a:rPr>
              <a:t> </a:t>
            </a:r>
            <a:r>
              <a:rPr dirty="0" sz="2800" spc="-20">
                <a:solidFill>
                  <a:srgbClr val="4E3629"/>
                </a:solidFill>
                <a:latin typeface="Calibri"/>
                <a:cs typeface="Calibri"/>
              </a:rPr>
              <a:t>mostrará</a:t>
            </a:r>
            <a:r>
              <a:rPr dirty="0" sz="2800" spc="-50">
                <a:solidFill>
                  <a:srgbClr val="4E3629"/>
                </a:solidFill>
                <a:latin typeface="Calibri"/>
                <a:cs typeface="Calibri"/>
              </a:rPr>
              <a:t> </a:t>
            </a:r>
            <a:r>
              <a:rPr dirty="0" sz="2800">
                <a:solidFill>
                  <a:srgbClr val="4E3629"/>
                </a:solidFill>
                <a:latin typeface="Calibri"/>
                <a:cs typeface="Calibri"/>
              </a:rPr>
              <a:t>si</a:t>
            </a:r>
            <a:r>
              <a:rPr dirty="0" sz="2800" spc="-6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número</a:t>
            </a:r>
            <a:r>
              <a:rPr dirty="0" sz="2800" spc="-25">
                <a:solidFill>
                  <a:srgbClr val="4E3629"/>
                </a:solidFill>
                <a:latin typeface="Calibri"/>
                <a:cs typeface="Calibri"/>
              </a:rPr>
              <a:t> de </a:t>
            </a:r>
            <a:r>
              <a:rPr dirty="0" sz="2800" spc="-25">
                <a:solidFill>
                  <a:srgbClr val="4E3629"/>
                </a:solidFill>
                <a:latin typeface="Calibri"/>
                <a:cs typeface="Calibri"/>
              </a:rPr>
              <a:t>	</a:t>
            </a:r>
            <a:r>
              <a:rPr dirty="0" sz="2800" spc="-10">
                <a:solidFill>
                  <a:srgbClr val="4E3629"/>
                </a:solidFill>
                <a:latin typeface="Calibri"/>
                <a:cs typeface="Calibri"/>
              </a:rPr>
              <a:t>aeropuertos</a:t>
            </a:r>
            <a:r>
              <a:rPr dirty="0" sz="2800" spc="-3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cada</a:t>
            </a:r>
            <a:r>
              <a:rPr dirty="0" sz="2800" spc="-40">
                <a:solidFill>
                  <a:srgbClr val="4E3629"/>
                </a:solidFill>
                <a:latin typeface="Calibri"/>
                <a:cs typeface="Calibri"/>
              </a:rPr>
              <a:t> </a:t>
            </a:r>
            <a:r>
              <a:rPr dirty="0" sz="2800">
                <a:solidFill>
                  <a:srgbClr val="4E3629"/>
                </a:solidFill>
                <a:latin typeface="Calibri"/>
                <a:cs typeface="Calibri"/>
              </a:rPr>
              <a:t>país</a:t>
            </a:r>
            <a:r>
              <a:rPr dirty="0" sz="2800" spc="-30">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a:solidFill>
                  <a:srgbClr val="4E3629"/>
                </a:solidFill>
                <a:latin typeface="Calibri"/>
                <a:cs typeface="Calibri"/>
              </a:rPr>
              <a:t>un</a:t>
            </a:r>
            <a:r>
              <a:rPr dirty="0" sz="2800" spc="-30">
                <a:solidFill>
                  <a:srgbClr val="4E3629"/>
                </a:solidFill>
                <a:latin typeface="Calibri"/>
                <a:cs typeface="Calibri"/>
              </a:rPr>
              <a:t> </a:t>
            </a:r>
            <a:r>
              <a:rPr dirty="0" sz="2800">
                <a:solidFill>
                  <a:srgbClr val="4E3629"/>
                </a:solidFill>
                <a:latin typeface="Calibri"/>
                <a:cs typeface="Calibri"/>
              </a:rPr>
              <a:t>número</a:t>
            </a:r>
            <a:r>
              <a:rPr dirty="0" sz="2800" spc="-10">
                <a:solidFill>
                  <a:srgbClr val="4E3629"/>
                </a:solidFill>
                <a:latin typeface="Calibri"/>
                <a:cs typeface="Calibri"/>
              </a:rPr>
              <a:t> </a:t>
            </a:r>
            <a:r>
              <a:rPr dirty="0" sz="2800">
                <a:solidFill>
                  <a:srgbClr val="4E3629"/>
                </a:solidFill>
                <a:latin typeface="Calibri"/>
                <a:cs typeface="Calibri"/>
              </a:rPr>
              <a:t>par</a:t>
            </a:r>
            <a:r>
              <a:rPr dirty="0" sz="2800" spc="-50">
                <a:solidFill>
                  <a:srgbClr val="4E3629"/>
                </a:solidFill>
                <a:latin typeface="Calibri"/>
                <a:cs typeface="Calibri"/>
              </a:rPr>
              <a:t> </a:t>
            </a:r>
            <a:r>
              <a:rPr dirty="0" sz="2800">
                <a:solidFill>
                  <a:srgbClr val="4E3629"/>
                </a:solidFill>
                <a:latin typeface="Calibri"/>
                <a:cs typeface="Calibri"/>
              </a:rPr>
              <a:t>o</a:t>
            </a:r>
            <a:r>
              <a:rPr dirty="0" sz="2800" spc="-50">
                <a:solidFill>
                  <a:srgbClr val="4E3629"/>
                </a:solidFill>
                <a:latin typeface="Calibri"/>
                <a:cs typeface="Calibri"/>
              </a:rPr>
              <a:t> </a:t>
            </a:r>
            <a:r>
              <a:rPr dirty="0" sz="2800" spc="-10">
                <a:solidFill>
                  <a:srgbClr val="4E3629"/>
                </a:solidFill>
                <a:latin typeface="Calibri"/>
                <a:cs typeface="Calibri"/>
              </a:rPr>
              <a:t>impar</a:t>
            </a:r>
            <a:endParaRPr sz="2800">
              <a:latin typeface="Calibri"/>
              <a:cs typeface="Calibri"/>
            </a:endParaRPr>
          </a:p>
        </p:txBody>
      </p:sp>
      <p:sp>
        <p:nvSpPr>
          <p:cNvPr id="4" name="object 4"/>
          <p:cNvSpPr txBox="1"/>
          <p:nvPr/>
        </p:nvSpPr>
        <p:spPr>
          <a:xfrm>
            <a:off x="483552" y="3742565"/>
            <a:ext cx="4233545"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1</a:t>
            </a:r>
            <a:r>
              <a:rPr dirty="0" sz="2800" spc="-60">
                <a:solidFill>
                  <a:srgbClr val="4E3629"/>
                </a:solidFill>
                <a:latin typeface="Calibri"/>
                <a:cs typeface="Calibri"/>
              </a:rPr>
              <a:t> </a:t>
            </a:r>
            <a:r>
              <a:rPr dirty="0" sz="2800">
                <a:solidFill>
                  <a:srgbClr val="4E3629"/>
                </a:solidFill>
                <a:latin typeface="Calibri"/>
                <a:cs typeface="Calibri"/>
              </a:rPr>
              <a:t>Significa</a:t>
            </a:r>
            <a:r>
              <a:rPr dirty="0" sz="2800" spc="-6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40">
                <a:solidFill>
                  <a:srgbClr val="4E3629"/>
                </a:solidFill>
                <a:latin typeface="Calibri"/>
                <a:cs typeface="Calibri"/>
              </a:rPr>
              <a:t> </a:t>
            </a:r>
            <a:r>
              <a:rPr dirty="0" sz="2800" spc="-25">
                <a:solidFill>
                  <a:srgbClr val="4E3629"/>
                </a:solidFill>
                <a:latin typeface="Calibri"/>
                <a:cs typeface="Calibri"/>
              </a:rPr>
              <a:t>es 	impar,</a:t>
            </a:r>
            <a:r>
              <a:rPr dirty="0" sz="2800" spc="-60">
                <a:solidFill>
                  <a:srgbClr val="4E3629"/>
                </a:solidFill>
                <a:latin typeface="Calibri"/>
                <a:cs typeface="Calibri"/>
              </a:rPr>
              <a:t> </a:t>
            </a:r>
            <a:r>
              <a:rPr dirty="0" sz="2800">
                <a:solidFill>
                  <a:srgbClr val="4E3629"/>
                </a:solidFill>
                <a:latin typeface="Calibri"/>
                <a:cs typeface="Calibri"/>
              </a:rPr>
              <a:t>y</a:t>
            </a:r>
            <a:r>
              <a:rPr dirty="0" sz="2800" spc="-90">
                <a:solidFill>
                  <a:srgbClr val="4E3629"/>
                </a:solidFill>
                <a:latin typeface="Calibri"/>
                <a:cs typeface="Calibri"/>
              </a:rPr>
              <a:t> </a:t>
            </a:r>
            <a:r>
              <a:rPr dirty="0" sz="2800">
                <a:solidFill>
                  <a:srgbClr val="4E3629"/>
                </a:solidFill>
                <a:latin typeface="Calibri"/>
                <a:cs typeface="Calibri"/>
              </a:rPr>
              <a:t>cero</a:t>
            </a:r>
            <a:r>
              <a:rPr dirty="0" sz="2800" spc="-80">
                <a:solidFill>
                  <a:srgbClr val="4E3629"/>
                </a:solidFill>
                <a:latin typeface="Calibri"/>
                <a:cs typeface="Calibri"/>
              </a:rPr>
              <a:t> </a:t>
            </a:r>
            <a:r>
              <a:rPr dirty="0" sz="2800">
                <a:solidFill>
                  <a:srgbClr val="4E3629"/>
                </a:solidFill>
                <a:latin typeface="Calibri"/>
                <a:cs typeface="Calibri"/>
              </a:rPr>
              <a:t>significa</a:t>
            </a:r>
            <a:r>
              <a:rPr dirty="0" sz="2800" spc="-65">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es</a:t>
            </a:r>
            <a:r>
              <a:rPr dirty="0" sz="2800" spc="-30">
                <a:solidFill>
                  <a:srgbClr val="4E3629"/>
                </a:solidFill>
                <a:latin typeface="Calibri"/>
                <a:cs typeface="Calibri"/>
              </a:rPr>
              <a:t> </a:t>
            </a:r>
            <a:r>
              <a:rPr dirty="0" sz="2800" spc="-25">
                <a:solidFill>
                  <a:srgbClr val="4E3629"/>
                </a:solidFill>
                <a:latin typeface="Calibri"/>
                <a:cs typeface="Calibri"/>
              </a:rPr>
              <a:t>par</a:t>
            </a:r>
            <a:endParaRPr sz="2800">
              <a:latin typeface="Calibri"/>
              <a:cs typeface="Calibri"/>
            </a:endParaRPr>
          </a:p>
        </p:txBody>
      </p:sp>
      <p:graphicFrame>
        <p:nvGraphicFramePr>
          <p:cNvPr id="5" name="object 5"/>
          <p:cNvGraphicFramePr>
            <a:graphicFrameLocks noGrp="1"/>
          </p:cNvGraphicFramePr>
          <p:nvPr/>
        </p:nvGraphicFramePr>
        <p:xfrm>
          <a:off x="5417779" y="2411037"/>
          <a:ext cx="3278504" cy="2989580"/>
        </p:xfrm>
        <a:graphic>
          <a:graphicData uri="http://schemas.openxmlformats.org/drawingml/2006/table">
            <a:tbl>
              <a:tblPr firstRow="1" bandRow="1">
                <a:tableStyleId>{2D5ABB26-0587-4C30-8999-92F81FD0307C}</a:tableStyleId>
              </a:tblPr>
              <a:tblGrid>
                <a:gridCol w="2089785"/>
                <a:gridCol w="1099185"/>
              </a:tblGrid>
              <a:tr h="411480">
                <a:tc>
                  <a:txBody>
                    <a:bodyPr/>
                    <a:lstStyle/>
                    <a:p>
                      <a:pPr marL="71755">
                        <a:lnSpc>
                          <a:spcPct val="100000"/>
                        </a:lnSpc>
                        <a:spcBef>
                          <a:spcPts val="560"/>
                        </a:spcBef>
                      </a:pPr>
                      <a:r>
                        <a:rPr dirty="0" sz="1600" spc="-10" b="1">
                          <a:solidFill>
                            <a:srgbClr val="4E3629"/>
                          </a:solidFill>
                          <a:latin typeface="Calibri"/>
                          <a:cs typeface="Calibri"/>
                        </a:rPr>
                        <a:t>COUNTRY_NAME</a:t>
                      </a:r>
                      <a:endParaRPr sz="1600">
                        <a:latin typeface="Calibri"/>
                        <a:cs typeface="Calibri"/>
                      </a:endParaRPr>
                    </a:p>
                  </a:txBody>
                  <a:tcPr marL="0" marR="0" marB="0" marT="7112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560"/>
                        </a:spcBef>
                      </a:pPr>
                      <a:r>
                        <a:rPr dirty="0" sz="1600" b="1">
                          <a:solidFill>
                            <a:srgbClr val="4E3629"/>
                          </a:solidFill>
                          <a:latin typeface="Calibri"/>
                          <a:cs typeface="Calibri"/>
                        </a:rPr>
                        <a:t>Mod</a:t>
                      </a:r>
                      <a:r>
                        <a:rPr dirty="0" sz="1600" spc="-20" b="1">
                          <a:solidFill>
                            <a:srgbClr val="4E3629"/>
                          </a:solidFill>
                          <a:latin typeface="Calibri"/>
                          <a:cs typeface="Calibri"/>
                        </a:rPr>
                        <a:t> Demo</a:t>
                      </a:r>
                      <a:endParaRPr sz="1600">
                        <a:latin typeface="Calibri"/>
                        <a:cs typeface="Calibri"/>
                      </a:endParaRPr>
                    </a:p>
                  </a:txBody>
                  <a:tcPr marL="0" marR="0" marB="0" marT="7112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68300">
                <a:tc>
                  <a:txBody>
                    <a:bodyPr/>
                    <a:lstStyle/>
                    <a:p>
                      <a:pPr marL="71755">
                        <a:lnSpc>
                          <a:spcPct val="100000"/>
                        </a:lnSpc>
                        <a:spcBef>
                          <a:spcPts val="390"/>
                        </a:spcBef>
                      </a:pPr>
                      <a:r>
                        <a:rPr dirty="0" sz="1600" spc="-10">
                          <a:solidFill>
                            <a:srgbClr val="4E3629"/>
                          </a:solidFill>
                          <a:latin typeface="Calibri"/>
                          <a:cs typeface="Calibri"/>
                        </a:rPr>
                        <a:t>Canada</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90"/>
                        </a:spcBef>
                      </a:pPr>
                      <a:r>
                        <a:rPr dirty="0" sz="1600" spc="-50">
                          <a:solidFill>
                            <a:srgbClr val="4E3629"/>
                          </a:solidFill>
                          <a:latin typeface="Calibri"/>
                          <a:cs typeface="Calibri"/>
                        </a:rPr>
                        <a:t>1</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68300">
                <a:tc>
                  <a:txBody>
                    <a:bodyPr/>
                    <a:lstStyle/>
                    <a:p>
                      <a:pPr marL="71755">
                        <a:lnSpc>
                          <a:spcPct val="100000"/>
                        </a:lnSpc>
                        <a:spcBef>
                          <a:spcPts val="390"/>
                        </a:spcBef>
                      </a:pPr>
                      <a:r>
                        <a:rPr dirty="0" sz="1600">
                          <a:solidFill>
                            <a:srgbClr val="4E3629"/>
                          </a:solidFill>
                          <a:latin typeface="Calibri"/>
                          <a:cs typeface="Calibri"/>
                        </a:rPr>
                        <a:t>Republic</a:t>
                      </a:r>
                      <a:r>
                        <a:rPr dirty="0" sz="1600" spc="-60">
                          <a:solidFill>
                            <a:srgbClr val="4E3629"/>
                          </a:solidFill>
                          <a:latin typeface="Calibri"/>
                          <a:cs typeface="Calibri"/>
                        </a:rPr>
                        <a:t> </a:t>
                      </a:r>
                      <a:r>
                        <a:rPr dirty="0" sz="1600">
                          <a:solidFill>
                            <a:srgbClr val="4E3629"/>
                          </a:solidFill>
                          <a:latin typeface="Calibri"/>
                          <a:cs typeface="Calibri"/>
                        </a:rPr>
                        <a:t>of</a:t>
                      </a:r>
                      <a:r>
                        <a:rPr dirty="0" sz="1600" spc="-25">
                          <a:solidFill>
                            <a:srgbClr val="4E3629"/>
                          </a:solidFill>
                          <a:latin typeface="Calibri"/>
                          <a:cs typeface="Calibri"/>
                        </a:rPr>
                        <a:t> </a:t>
                      </a:r>
                      <a:r>
                        <a:rPr dirty="0" sz="1600">
                          <a:solidFill>
                            <a:srgbClr val="4E3629"/>
                          </a:solidFill>
                          <a:latin typeface="Calibri"/>
                          <a:cs typeface="Calibri"/>
                        </a:rPr>
                        <a:t>Costa</a:t>
                      </a:r>
                      <a:r>
                        <a:rPr dirty="0" sz="1600" spc="-40">
                          <a:solidFill>
                            <a:srgbClr val="4E3629"/>
                          </a:solidFill>
                          <a:latin typeface="Calibri"/>
                          <a:cs typeface="Calibri"/>
                        </a:rPr>
                        <a:t> </a:t>
                      </a:r>
                      <a:r>
                        <a:rPr dirty="0" sz="1600" spc="-20">
                          <a:solidFill>
                            <a:srgbClr val="4E3629"/>
                          </a:solidFill>
                          <a:latin typeface="Calibri"/>
                          <a:cs typeface="Calibri"/>
                        </a:rPr>
                        <a:t>Rica</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90"/>
                        </a:spcBef>
                      </a:pPr>
                      <a:r>
                        <a:rPr dirty="0" sz="1600" spc="-50">
                          <a:solidFill>
                            <a:srgbClr val="4E3629"/>
                          </a:solidFill>
                          <a:latin typeface="Calibri"/>
                          <a:cs typeface="Calibri"/>
                        </a:rPr>
                        <a:t>0</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68300">
                <a:tc>
                  <a:txBody>
                    <a:bodyPr/>
                    <a:lstStyle/>
                    <a:p>
                      <a:pPr marL="71755">
                        <a:lnSpc>
                          <a:spcPct val="100000"/>
                        </a:lnSpc>
                        <a:spcBef>
                          <a:spcPts val="390"/>
                        </a:spcBef>
                      </a:pPr>
                      <a:r>
                        <a:rPr dirty="0" sz="1600">
                          <a:solidFill>
                            <a:srgbClr val="4E3629"/>
                          </a:solidFill>
                          <a:latin typeface="Calibri"/>
                          <a:cs typeface="Calibri"/>
                        </a:rPr>
                        <a:t>Republic</a:t>
                      </a:r>
                      <a:r>
                        <a:rPr dirty="0" sz="1600" spc="-45">
                          <a:solidFill>
                            <a:srgbClr val="4E3629"/>
                          </a:solidFill>
                          <a:latin typeface="Calibri"/>
                          <a:cs typeface="Calibri"/>
                        </a:rPr>
                        <a:t> </a:t>
                      </a:r>
                      <a:r>
                        <a:rPr dirty="0" sz="1600">
                          <a:solidFill>
                            <a:srgbClr val="4E3629"/>
                          </a:solidFill>
                          <a:latin typeface="Calibri"/>
                          <a:cs typeface="Calibri"/>
                        </a:rPr>
                        <a:t>of</a:t>
                      </a:r>
                      <a:r>
                        <a:rPr dirty="0" sz="1600" spc="-10">
                          <a:solidFill>
                            <a:srgbClr val="4E3629"/>
                          </a:solidFill>
                          <a:latin typeface="Calibri"/>
                          <a:cs typeface="Calibri"/>
                        </a:rPr>
                        <a:t> </a:t>
                      </a:r>
                      <a:r>
                        <a:rPr dirty="0" sz="1600">
                          <a:solidFill>
                            <a:srgbClr val="4E3629"/>
                          </a:solidFill>
                          <a:latin typeface="Calibri"/>
                          <a:cs typeface="Calibri"/>
                        </a:rPr>
                        <a:t>Cape</a:t>
                      </a:r>
                      <a:r>
                        <a:rPr dirty="0" sz="1600" spc="-25">
                          <a:solidFill>
                            <a:srgbClr val="4E3629"/>
                          </a:solidFill>
                          <a:latin typeface="Calibri"/>
                          <a:cs typeface="Calibri"/>
                        </a:rPr>
                        <a:t> </a:t>
                      </a:r>
                      <a:r>
                        <a:rPr dirty="0" sz="1600" spc="-10">
                          <a:solidFill>
                            <a:srgbClr val="4E3629"/>
                          </a:solidFill>
                          <a:latin typeface="Calibri"/>
                          <a:cs typeface="Calibri"/>
                        </a:rPr>
                        <a:t>Verde</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90"/>
                        </a:spcBef>
                      </a:pPr>
                      <a:r>
                        <a:rPr dirty="0" sz="1600" spc="-50">
                          <a:solidFill>
                            <a:srgbClr val="4E3629"/>
                          </a:solidFill>
                          <a:latin typeface="Calibri"/>
                          <a:cs typeface="Calibri"/>
                        </a:rPr>
                        <a:t>1</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68300">
                <a:tc>
                  <a:txBody>
                    <a:bodyPr/>
                    <a:lstStyle/>
                    <a:p>
                      <a:pPr marL="71755">
                        <a:lnSpc>
                          <a:spcPct val="100000"/>
                        </a:lnSpc>
                        <a:spcBef>
                          <a:spcPts val="390"/>
                        </a:spcBef>
                      </a:pPr>
                      <a:r>
                        <a:rPr dirty="0" sz="1600" spc="-10">
                          <a:solidFill>
                            <a:srgbClr val="4E3629"/>
                          </a:solidFill>
                          <a:latin typeface="Calibri"/>
                          <a:cs typeface="Calibri"/>
                        </a:rPr>
                        <a:t>Greenland</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90"/>
                        </a:spcBef>
                      </a:pPr>
                      <a:r>
                        <a:rPr dirty="0" sz="1600" spc="-50">
                          <a:solidFill>
                            <a:srgbClr val="4E3629"/>
                          </a:solidFill>
                          <a:latin typeface="Calibri"/>
                          <a:cs typeface="Calibri"/>
                        </a:rPr>
                        <a:t>0</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68300">
                <a:tc>
                  <a:txBody>
                    <a:bodyPr/>
                    <a:lstStyle/>
                    <a:p>
                      <a:pPr marL="71755">
                        <a:lnSpc>
                          <a:spcPct val="100000"/>
                        </a:lnSpc>
                        <a:spcBef>
                          <a:spcPts val="390"/>
                        </a:spcBef>
                      </a:pPr>
                      <a:r>
                        <a:rPr dirty="0" sz="1600">
                          <a:solidFill>
                            <a:srgbClr val="4E3629"/>
                          </a:solidFill>
                          <a:latin typeface="Calibri"/>
                          <a:cs typeface="Calibri"/>
                        </a:rPr>
                        <a:t>Dominican</a:t>
                      </a:r>
                      <a:r>
                        <a:rPr dirty="0" sz="1600" spc="-70">
                          <a:solidFill>
                            <a:srgbClr val="4E3629"/>
                          </a:solidFill>
                          <a:latin typeface="Calibri"/>
                          <a:cs typeface="Calibri"/>
                        </a:rPr>
                        <a:t> </a:t>
                      </a:r>
                      <a:r>
                        <a:rPr dirty="0" sz="1600" spc="-10">
                          <a:solidFill>
                            <a:srgbClr val="4E3629"/>
                          </a:solidFill>
                          <a:latin typeface="Calibri"/>
                          <a:cs typeface="Calibri"/>
                        </a:rPr>
                        <a:t>Republic</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90"/>
                        </a:spcBef>
                      </a:pPr>
                      <a:r>
                        <a:rPr dirty="0" sz="1600" spc="-50">
                          <a:solidFill>
                            <a:srgbClr val="4E3629"/>
                          </a:solidFill>
                          <a:latin typeface="Calibri"/>
                          <a:cs typeface="Calibri"/>
                        </a:rPr>
                        <a:t>0</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68300">
                <a:tc>
                  <a:txBody>
                    <a:bodyPr/>
                    <a:lstStyle/>
                    <a:p>
                      <a:pPr marL="71755">
                        <a:lnSpc>
                          <a:spcPct val="100000"/>
                        </a:lnSpc>
                        <a:spcBef>
                          <a:spcPts val="390"/>
                        </a:spcBef>
                      </a:pPr>
                      <a:r>
                        <a:rPr dirty="0" sz="1600">
                          <a:solidFill>
                            <a:srgbClr val="4E3629"/>
                          </a:solidFill>
                          <a:latin typeface="Calibri"/>
                          <a:cs typeface="Calibri"/>
                        </a:rPr>
                        <a:t>State</a:t>
                      </a:r>
                      <a:r>
                        <a:rPr dirty="0" sz="1600" spc="-50">
                          <a:solidFill>
                            <a:srgbClr val="4E3629"/>
                          </a:solidFill>
                          <a:latin typeface="Calibri"/>
                          <a:cs typeface="Calibri"/>
                        </a:rPr>
                        <a:t> </a:t>
                      </a:r>
                      <a:r>
                        <a:rPr dirty="0" sz="1600">
                          <a:solidFill>
                            <a:srgbClr val="4E3629"/>
                          </a:solidFill>
                          <a:latin typeface="Calibri"/>
                          <a:cs typeface="Calibri"/>
                        </a:rPr>
                        <a:t>of</a:t>
                      </a:r>
                      <a:r>
                        <a:rPr dirty="0" sz="1600" spc="-30">
                          <a:solidFill>
                            <a:srgbClr val="4E3629"/>
                          </a:solidFill>
                          <a:latin typeface="Calibri"/>
                          <a:cs typeface="Calibri"/>
                        </a:rPr>
                        <a:t> </a:t>
                      </a:r>
                      <a:r>
                        <a:rPr dirty="0" sz="1600" spc="-10">
                          <a:solidFill>
                            <a:srgbClr val="4E3629"/>
                          </a:solidFill>
                          <a:latin typeface="Calibri"/>
                          <a:cs typeface="Calibri"/>
                        </a:rPr>
                        <a:t>Eritrea</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90"/>
                        </a:spcBef>
                      </a:pPr>
                      <a:r>
                        <a:rPr dirty="0" sz="1600" spc="-50">
                          <a:solidFill>
                            <a:srgbClr val="4E3629"/>
                          </a:solidFill>
                          <a:latin typeface="Calibri"/>
                          <a:cs typeface="Calibri"/>
                        </a:rPr>
                        <a:t>1</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68300">
                <a:tc>
                  <a:txBody>
                    <a:bodyPr/>
                    <a:lstStyle/>
                    <a:p>
                      <a:pPr marL="71755">
                        <a:lnSpc>
                          <a:spcPct val="100000"/>
                        </a:lnSpc>
                        <a:spcBef>
                          <a:spcPts val="390"/>
                        </a:spcBef>
                      </a:pPr>
                      <a:r>
                        <a:rPr dirty="0" sz="1600" spc="-50">
                          <a:solidFill>
                            <a:srgbClr val="4E3629"/>
                          </a:solidFill>
                          <a:latin typeface="Calibri"/>
                          <a:cs typeface="Calibri"/>
                        </a:rPr>
                        <a:t>…</a:t>
                      </a:r>
                      <a:endParaRPr sz="1600">
                        <a:latin typeface="Calibri"/>
                        <a:cs typeface="Calibri"/>
                      </a:endParaRPr>
                    </a:p>
                  </a:txBody>
                  <a:tcPr marL="0" marR="0" marB="0" marT="4953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6" name="object 6"/>
          <p:cNvSpPr txBox="1"/>
          <p:nvPr/>
        </p:nvSpPr>
        <p:spPr>
          <a:xfrm>
            <a:off x="405384" y="2417064"/>
            <a:ext cx="4944110" cy="1100455"/>
          </a:xfrm>
          <a:prstGeom prst="rect">
            <a:avLst/>
          </a:prstGeom>
          <a:solidFill>
            <a:srgbClr val="9DBEC4">
              <a:alpha val="50199"/>
            </a:srgbClr>
          </a:solidFill>
        </p:spPr>
        <p:txBody>
          <a:bodyPr wrap="square" lIns="0" tIns="111125" rIns="0" bIns="0" rtlCol="0" vert="horz">
            <a:spAutoFit/>
          </a:bodyPr>
          <a:lstStyle/>
          <a:p>
            <a:pPr marR="21590">
              <a:lnSpc>
                <a:spcPct val="100000"/>
              </a:lnSpc>
              <a:spcBef>
                <a:spcPts val="875"/>
              </a:spcBef>
            </a:pPr>
            <a:r>
              <a:rPr dirty="0" sz="1800" b="1">
                <a:solidFill>
                  <a:srgbClr val="4E3629"/>
                </a:solidFill>
                <a:latin typeface="Courier New"/>
                <a:cs typeface="Courier New"/>
              </a:rPr>
              <a:t>SELECT</a:t>
            </a:r>
            <a:r>
              <a:rPr dirty="0" sz="1800" spc="-100" b="1">
                <a:solidFill>
                  <a:srgbClr val="4E3629"/>
                </a:solidFill>
                <a:latin typeface="Courier New"/>
                <a:cs typeface="Courier New"/>
              </a:rPr>
              <a:t> </a:t>
            </a:r>
            <a:r>
              <a:rPr dirty="0" sz="1800" b="1">
                <a:solidFill>
                  <a:srgbClr val="4E3629"/>
                </a:solidFill>
                <a:latin typeface="Courier New"/>
                <a:cs typeface="Courier New"/>
              </a:rPr>
              <a:t>country_name,</a:t>
            </a:r>
            <a:r>
              <a:rPr dirty="0" sz="1800" spc="-95" b="1">
                <a:solidFill>
                  <a:srgbClr val="4E3629"/>
                </a:solidFill>
                <a:latin typeface="Courier New"/>
                <a:cs typeface="Courier New"/>
              </a:rPr>
              <a:t> </a:t>
            </a:r>
            <a:r>
              <a:rPr dirty="0" sz="1800" spc="-10" b="1">
                <a:solidFill>
                  <a:srgbClr val="4E3629"/>
                </a:solidFill>
                <a:latin typeface="Courier New"/>
                <a:cs typeface="Courier New"/>
              </a:rPr>
              <a:t>MOD(airports,2) </a:t>
            </a:r>
            <a:r>
              <a:rPr dirty="0" sz="1800" b="1">
                <a:solidFill>
                  <a:srgbClr val="4E3629"/>
                </a:solidFill>
                <a:latin typeface="Courier New"/>
                <a:cs typeface="Courier New"/>
              </a:rPr>
              <a:t>AS</a:t>
            </a:r>
            <a:r>
              <a:rPr dirty="0" sz="1800" spc="-40" b="1">
                <a:solidFill>
                  <a:srgbClr val="4E3629"/>
                </a:solidFill>
                <a:latin typeface="Courier New"/>
                <a:cs typeface="Courier New"/>
              </a:rPr>
              <a:t> </a:t>
            </a:r>
            <a:r>
              <a:rPr dirty="0" sz="1800" b="1">
                <a:solidFill>
                  <a:srgbClr val="4E3629"/>
                </a:solidFill>
                <a:latin typeface="Courier New"/>
                <a:cs typeface="Courier New"/>
              </a:rPr>
              <a:t>"Mod</a:t>
            </a:r>
            <a:r>
              <a:rPr dirty="0" sz="1800" spc="-30" b="1">
                <a:solidFill>
                  <a:srgbClr val="4E3629"/>
                </a:solidFill>
                <a:latin typeface="Courier New"/>
                <a:cs typeface="Courier New"/>
              </a:rPr>
              <a:t> </a:t>
            </a:r>
            <a:r>
              <a:rPr dirty="0" sz="1800" spc="-20" b="1">
                <a:solidFill>
                  <a:srgbClr val="4E3629"/>
                </a:solidFill>
                <a:latin typeface="Courier New"/>
                <a:cs typeface="Courier New"/>
              </a:rPr>
              <a:t>Demo"</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wf_countries;</a:t>
            </a:r>
            <a:endParaRPr sz="1800">
              <a:latin typeface="Courier New"/>
              <a:cs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p:cNvPicPr/>
            <p:nvPr/>
          </p:nvPicPr>
          <p:blipFill>
            <a:blip r:embed="rId3" cstate="print"/>
            <a:stretch>
              <a:fillRect/>
            </a:stretch>
          </p:blipFill>
          <p:spPr>
            <a:xfrm>
              <a:off x="970787" y="5570219"/>
              <a:ext cx="1258824" cy="420623"/>
            </a:xfrm>
            <a:prstGeom prst="rect">
              <a:avLst/>
            </a:prstGeom>
          </p:spPr>
        </p:pic>
      </p:grpSp>
      <p:sp>
        <p:nvSpPr>
          <p:cNvPr id="6" name="object 6"/>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descr="$PPTXTitle"/>
          <p:cNvSpPr txBox="1">
            <a:spLocks noGrp="1"/>
          </p:cNvSpPr>
          <p:nvPr>
            <p:ph type="body" idx="1"/>
          </p:nvPr>
        </p:nvSpPr>
        <p:spPr>
          <a:prstGeom prst="rect"/>
        </p:spPr>
        <p:txBody>
          <a:bodyPr wrap="square" lIns="0" tIns="153670" rIns="0" bIns="0" rtlCol="0" vert="horz">
            <a:spAutoFit/>
          </a:bodyPr>
          <a:lstStyle/>
          <a:p>
            <a:pPr marL="12700" marR="5080">
              <a:lnSpc>
                <a:spcPts val="4610"/>
              </a:lnSpc>
              <a:spcBef>
                <a:spcPts val="1210"/>
              </a:spcBef>
            </a:pPr>
            <a:r>
              <a:rPr dirty="0"/>
              <a:t>Database</a:t>
            </a:r>
            <a:r>
              <a:rPr dirty="0" spc="-190"/>
              <a:t> </a:t>
            </a:r>
            <a:r>
              <a:rPr dirty="0" spc="-20"/>
              <a:t>Programming</a:t>
            </a:r>
            <a:r>
              <a:rPr dirty="0" spc="-185"/>
              <a:t> </a:t>
            </a:r>
            <a:r>
              <a:rPr dirty="0" spc="-20"/>
              <a:t>with </a:t>
            </a:r>
            <a:r>
              <a:rPr dirty="0" spc="-25"/>
              <a:t>SQL</a:t>
            </a:r>
          </a:p>
        </p:txBody>
      </p:sp>
      <p:sp>
        <p:nvSpPr>
          <p:cNvPr id="8" name="object 8"/>
          <p:cNvSpPr txBox="1"/>
          <p:nvPr/>
        </p:nvSpPr>
        <p:spPr>
          <a:xfrm>
            <a:off x="962879" y="2400950"/>
            <a:ext cx="2482215"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4-</a:t>
            </a:r>
            <a:r>
              <a:rPr dirty="0" sz="2400" spc="-50" b="1">
                <a:solidFill>
                  <a:srgbClr val="4E3629"/>
                </a:solidFill>
                <a:latin typeface="Calibri"/>
                <a:cs typeface="Calibri"/>
              </a:rPr>
              <a:t>3</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Funciones</a:t>
            </a:r>
            <a:r>
              <a:rPr dirty="0" sz="2400" spc="-45" b="1">
                <a:solidFill>
                  <a:srgbClr val="4E3629"/>
                </a:solidFill>
                <a:latin typeface="Calibri"/>
                <a:cs typeface="Calibri"/>
              </a:rPr>
              <a:t> </a:t>
            </a:r>
            <a:r>
              <a:rPr dirty="0" sz="2400" b="1">
                <a:solidFill>
                  <a:srgbClr val="4E3629"/>
                </a:solidFill>
                <a:latin typeface="Calibri"/>
                <a:cs typeface="Calibri"/>
              </a:rPr>
              <a:t>de</a:t>
            </a:r>
            <a:r>
              <a:rPr dirty="0" sz="2400" spc="-25" b="1">
                <a:solidFill>
                  <a:srgbClr val="4E3629"/>
                </a:solidFill>
                <a:latin typeface="Calibri"/>
                <a:cs typeface="Calibri"/>
              </a:rPr>
              <a:t> </a:t>
            </a:r>
            <a:r>
              <a:rPr dirty="0" sz="2400" spc="-20" b="1">
                <a:solidFill>
                  <a:srgbClr val="4E3629"/>
                </a:solidFill>
                <a:latin typeface="Calibri"/>
                <a:cs typeface="Calibri"/>
              </a:rPr>
              <a:t>Fecha</a:t>
            </a:r>
            <a:endParaRPr sz="2400">
              <a:latin typeface="Calibri"/>
              <a:cs typeface="Calibri"/>
            </a:endParaRPr>
          </a:p>
        </p:txBody>
      </p:sp>
      <p:pic>
        <p:nvPicPr>
          <p:cNvPr id="9" name="object 9" descr="79083764.jpg"/>
          <p:cNvPicPr/>
          <p:nvPr/>
        </p:nvPicPr>
        <p:blipFill>
          <a:blip r:embed="rId4" cstate="print"/>
          <a:stretch>
            <a:fillRect/>
          </a:stretch>
        </p:blipFill>
        <p:spPr>
          <a:xfrm>
            <a:off x="3698747" y="3485388"/>
            <a:ext cx="5055108" cy="296570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Visualización</a:t>
            </a:r>
            <a:r>
              <a:rPr dirty="0" spc="-50"/>
              <a:t> </a:t>
            </a:r>
            <a:r>
              <a:rPr dirty="0"/>
              <a:t>de</a:t>
            </a:r>
            <a:r>
              <a:rPr dirty="0" spc="-70"/>
              <a:t> </a:t>
            </a:r>
            <a:r>
              <a:rPr dirty="0" spc="-10"/>
              <a:t>Fechas</a:t>
            </a:r>
          </a:p>
        </p:txBody>
      </p:sp>
      <p:sp>
        <p:nvSpPr>
          <p:cNvPr id="4" name="object 4"/>
          <p:cNvSpPr txBox="1"/>
          <p:nvPr/>
        </p:nvSpPr>
        <p:spPr>
          <a:xfrm>
            <a:off x="2855904" y="6510552"/>
            <a:ext cx="888365"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20">
                <a:solidFill>
                  <a:srgbClr val="4E3629"/>
                </a:solidFill>
                <a:latin typeface="Calibri"/>
                <a:cs typeface="Calibri"/>
              </a:rPr>
              <a:t> </a:t>
            </a:r>
            <a:r>
              <a:rPr dirty="0" sz="850">
                <a:solidFill>
                  <a:srgbClr val="4E3629"/>
                </a:solidFill>
                <a:latin typeface="Calibri"/>
                <a:cs typeface="Calibri"/>
              </a:rPr>
              <a:t>de</a:t>
            </a:r>
            <a:r>
              <a:rPr dirty="0" sz="850" spc="-35">
                <a:solidFill>
                  <a:srgbClr val="4E3629"/>
                </a:solidFill>
                <a:latin typeface="Calibri"/>
                <a:cs typeface="Calibri"/>
              </a:rPr>
              <a:t> </a:t>
            </a:r>
            <a:r>
              <a:rPr dirty="0" sz="850" spc="-10">
                <a:solidFill>
                  <a:srgbClr val="4E3629"/>
                </a:solidFill>
                <a:latin typeface="Calibri"/>
                <a:cs typeface="Calibri"/>
              </a:rPr>
              <a:t>Fecha</a:t>
            </a:r>
            <a:endParaRPr sz="850">
              <a:latin typeface="Calibri"/>
              <a:cs typeface="Calibri"/>
            </a:endParaRPr>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p:cNvSpPr txBox="1">
            <a:spLocks noGrp="1"/>
          </p:cNvSpPr>
          <p:nvPr>
            <p:ph type="sldNum" idx="7" sz="quarter"/>
          </p:nvPr>
        </p:nvSpPr>
        <p:spPr>
          <a:prstGeom prst="rect"/>
        </p:spPr>
        <p:txBody>
          <a:bodyPr wrap="square" lIns="0" tIns="0" rIns="0" bIns="0" rtlCol="0" vert="horz">
            <a:spAutoFit/>
          </a:bodyPr>
          <a:lstStyle/>
          <a:p>
            <a:pPr marL="92710">
              <a:lnSpc>
                <a:spcPts val="910"/>
              </a:lnSpc>
            </a:pPr>
            <a:r>
              <a:rPr dirty="0" sz="850" spc="-50" b="0">
                <a:latin typeface="Calibri"/>
                <a:cs typeface="Calibri"/>
              </a:rPr>
              <a:t>5</a:t>
            </a:r>
            <a:endParaRPr sz="850">
              <a:latin typeface="Calibri"/>
              <a:cs typeface="Calibri"/>
            </a:endParaRPr>
          </a:p>
        </p:txBody>
      </p:sp>
      <p:sp>
        <p:nvSpPr>
          <p:cNvPr id="3" name="object 3"/>
          <p:cNvSpPr txBox="1"/>
          <p:nvPr/>
        </p:nvSpPr>
        <p:spPr>
          <a:xfrm>
            <a:off x="483552" y="1381889"/>
            <a:ext cx="8179434" cy="4272280"/>
          </a:xfrm>
          <a:prstGeom prst="rect">
            <a:avLst/>
          </a:prstGeom>
        </p:spPr>
        <p:txBody>
          <a:bodyPr wrap="square" lIns="0" tIns="97155" rIns="0" bIns="0" rtlCol="0" vert="horz">
            <a:spAutoFit/>
          </a:bodyPr>
          <a:lstStyle/>
          <a:p>
            <a:pPr marL="159385" marR="113030" indent="-147320">
              <a:lnSpc>
                <a:spcPct val="80000"/>
              </a:lnSpc>
              <a:spcBef>
                <a:spcPts val="765"/>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visualización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por</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defecto</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formato</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entrada</a:t>
            </a:r>
            <a:r>
              <a:rPr dirty="0" u="heavy" sz="2800" spc="-5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las</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fechas</a:t>
            </a:r>
            <a:r>
              <a:rPr dirty="0" u="heavy" sz="2800" spc="-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a:t>
            </a:r>
            <a:r>
              <a:rPr dirty="0" u="heavy" sz="2800" spc="-15">
                <a:solidFill>
                  <a:srgbClr val="4E3629"/>
                </a:solidFill>
                <a:uFill>
                  <a:solidFill>
                    <a:srgbClr val="EC2814"/>
                  </a:solidFill>
                </a:uFill>
                <a:latin typeface="Calibri"/>
                <a:cs typeface="Calibri"/>
              </a:rPr>
              <a:t> </a:t>
            </a:r>
            <a:r>
              <a:rPr dirty="0" u="heavy" sz="2800" spc="-30">
                <a:solidFill>
                  <a:srgbClr val="4E3629"/>
                </a:solidFill>
                <a:uFill>
                  <a:solidFill>
                    <a:srgbClr val="EC2814"/>
                  </a:solidFill>
                </a:uFill>
                <a:latin typeface="Calibri"/>
                <a:cs typeface="Calibri"/>
              </a:rPr>
              <a:t>DD-Mon-</a:t>
            </a:r>
            <a:r>
              <a:rPr dirty="0" u="heavy" sz="2800" spc="-20">
                <a:solidFill>
                  <a:srgbClr val="4E3629"/>
                </a:solidFill>
                <a:uFill>
                  <a:solidFill>
                    <a:srgbClr val="EC2814"/>
                  </a:solidFill>
                </a:uFill>
                <a:latin typeface="Calibri"/>
                <a:cs typeface="Calibri"/>
              </a:rPr>
              <a:t>YYYY</a:t>
            </a:r>
            <a:endParaRPr sz="2800">
              <a:latin typeface="Calibri"/>
              <a:cs typeface="Calibri"/>
            </a:endParaRPr>
          </a:p>
          <a:p>
            <a:pPr marL="183515" indent="-170815">
              <a:lnSpc>
                <a:spcPct val="100000"/>
              </a:lnSpc>
              <a:spcBef>
                <a:spcPts val="135"/>
              </a:spcBef>
              <a:buClr>
                <a:srgbClr val="D1350F"/>
              </a:buClr>
              <a:buFont typeface="Arial MT"/>
              <a:buChar char="•"/>
              <a:tabLst>
                <a:tab pos="183515" algn="l"/>
              </a:tabLst>
            </a:pPr>
            <a:r>
              <a:rPr dirty="0" sz="2800">
                <a:solidFill>
                  <a:srgbClr val="4E3629"/>
                </a:solidFill>
                <a:latin typeface="Calibri"/>
                <a:cs typeface="Calibri"/>
              </a:rPr>
              <a:t>Por</a:t>
            </a:r>
            <a:r>
              <a:rPr dirty="0" sz="2800" spc="-75">
                <a:solidFill>
                  <a:srgbClr val="4E3629"/>
                </a:solidFill>
                <a:latin typeface="Calibri"/>
                <a:cs typeface="Calibri"/>
              </a:rPr>
              <a:t> </a:t>
            </a:r>
            <a:r>
              <a:rPr dirty="0" sz="2800">
                <a:solidFill>
                  <a:srgbClr val="4E3629"/>
                </a:solidFill>
                <a:latin typeface="Calibri"/>
                <a:cs typeface="Calibri"/>
              </a:rPr>
              <a:t>ejemplo:</a:t>
            </a:r>
            <a:r>
              <a:rPr dirty="0" sz="2800" spc="-60">
                <a:solidFill>
                  <a:srgbClr val="4E3629"/>
                </a:solidFill>
                <a:latin typeface="Calibri"/>
                <a:cs typeface="Calibri"/>
              </a:rPr>
              <a:t> </a:t>
            </a:r>
            <a:r>
              <a:rPr dirty="0" sz="2800" spc="-25">
                <a:solidFill>
                  <a:srgbClr val="4E3629"/>
                </a:solidFill>
                <a:latin typeface="Calibri"/>
                <a:cs typeface="Calibri"/>
              </a:rPr>
              <a:t>02-Dec-</a:t>
            </a:r>
            <a:r>
              <a:rPr dirty="0" sz="2800" spc="-20">
                <a:solidFill>
                  <a:srgbClr val="4E3629"/>
                </a:solidFill>
                <a:latin typeface="Calibri"/>
                <a:cs typeface="Calibri"/>
              </a:rPr>
              <a:t>2014</a:t>
            </a:r>
            <a:endParaRPr sz="2800">
              <a:latin typeface="Calibri"/>
              <a:cs typeface="Calibri"/>
            </a:endParaRPr>
          </a:p>
          <a:p>
            <a:pPr marL="182880" marR="321945" indent="-170815">
              <a:lnSpc>
                <a:spcPct val="80000"/>
              </a:lnSpc>
              <a:spcBef>
                <a:spcPts val="790"/>
              </a:spcBef>
              <a:buClr>
                <a:srgbClr val="D1350F"/>
              </a:buClr>
              <a:buFont typeface="Arial MT"/>
              <a:buChar char="•"/>
              <a:tabLst>
                <a:tab pos="184785" algn="l"/>
              </a:tabLst>
            </a:pPr>
            <a:r>
              <a:rPr dirty="0" sz="2800">
                <a:solidFill>
                  <a:srgbClr val="4E3629"/>
                </a:solidFill>
                <a:latin typeface="Calibri"/>
                <a:cs typeface="Calibri"/>
              </a:rPr>
              <a:t>Sin</a:t>
            </a:r>
            <a:r>
              <a:rPr dirty="0" sz="2800" spc="-55">
                <a:solidFill>
                  <a:srgbClr val="4E3629"/>
                </a:solidFill>
                <a:latin typeface="Calibri"/>
                <a:cs typeface="Calibri"/>
              </a:rPr>
              <a:t> </a:t>
            </a:r>
            <a:r>
              <a:rPr dirty="0" sz="2800" spc="-10">
                <a:solidFill>
                  <a:srgbClr val="4E3629"/>
                </a:solidFill>
                <a:latin typeface="Calibri"/>
                <a:cs typeface="Calibri"/>
              </a:rPr>
              <a:t>embargo,</a:t>
            </a:r>
            <a:r>
              <a:rPr dirty="0" sz="2800" spc="-45">
                <a:solidFill>
                  <a:srgbClr val="4E3629"/>
                </a:solidFill>
                <a:latin typeface="Calibri"/>
                <a:cs typeface="Calibri"/>
              </a:rPr>
              <a:t> </a:t>
            </a: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bases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datos</a:t>
            </a:r>
            <a:r>
              <a:rPr dirty="0" sz="2800" spc="-50">
                <a:solidFill>
                  <a:srgbClr val="4E3629"/>
                </a:solidFill>
                <a:latin typeface="Calibri"/>
                <a:cs typeface="Calibri"/>
              </a:rPr>
              <a:t> </a:t>
            </a:r>
            <a:r>
              <a:rPr dirty="0" sz="2800">
                <a:solidFill>
                  <a:srgbClr val="4E3629"/>
                </a:solidFill>
                <a:latin typeface="Calibri"/>
                <a:cs typeface="Calibri"/>
              </a:rPr>
              <a:t>Oracle</a:t>
            </a:r>
            <a:r>
              <a:rPr dirty="0" sz="2800" spc="-60">
                <a:solidFill>
                  <a:srgbClr val="4E3629"/>
                </a:solidFill>
                <a:latin typeface="Calibri"/>
                <a:cs typeface="Calibri"/>
              </a:rPr>
              <a:t> </a:t>
            </a:r>
            <a:r>
              <a:rPr dirty="0" sz="2800" spc="-10">
                <a:solidFill>
                  <a:srgbClr val="4E3629"/>
                </a:solidFill>
                <a:latin typeface="Calibri"/>
                <a:cs typeface="Calibri"/>
              </a:rPr>
              <a:t>almacena </a:t>
            </a:r>
            <a:r>
              <a:rPr dirty="0" sz="2800" spc="-10">
                <a:solidFill>
                  <a:srgbClr val="4E3629"/>
                </a:solidFill>
                <a:latin typeface="Calibri"/>
                <a:cs typeface="Calibri"/>
              </a:rPr>
              <a:t>	</a:t>
            </a:r>
            <a:r>
              <a:rPr dirty="0" sz="2800">
                <a:solidFill>
                  <a:srgbClr val="4E3629"/>
                </a:solidFill>
                <a:latin typeface="Calibri"/>
                <a:cs typeface="Calibri"/>
              </a:rPr>
              <a:t>fechas</a:t>
            </a:r>
            <a:r>
              <a:rPr dirty="0" sz="2800" spc="-70">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a:solidFill>
                  <a:srgbClr val="4E3629"/>
                </a:solidFill>
                <a:latin typeface="Calibri"/>
                <a:cs typeface="Calibri"/>
              </a:rPr>
              <a:t>modo</a:t>
            </a:r>
            <a:r>
              <a:rPr dirty="0" sz="2800" spc="-60">
                <a:solidFill>
                  <a:srgbClr val="4E3629"/>
                </a:solidFill>
                <a:latin typeface="Calibri"/>
                <a:cs typeface="Calibri"/>
              </a:rPr>
              <a:t> </a:t>
            </a:r>
            <a:r>
              <a:rPr dirty="0" sz="2800">
                <a:solidFill>
                  <a:srgbClr val="4E3629"/>
                </a:solidFill>
                <a:latin typeface="Calibri"/>
                <a:cs typeface="Calibri"/>
              </a:rPr>
              <a:t>interno</a:t>
            </a:r>
            <a:r>
              <a:rPr dirty="0" sz="2800" spc="-70">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un</a:t>
            </a:r>
            <a:r>
              <a:rPr dirty="0" sz="2800" spc="-65">
                <a:solidFill>
                  <a:srgbClr val="4E3629"/>
                </a:solidFill>
                <a:latin typeface="Calibri"/>
                <a:cs typeface="Calibri"/>
              </a:rPr>
              <a:t> </a:t>
            </a:r>
            <a:r>
              <a:rPr dirty="0" sz="2800" spc="-10">
                <a:solidFill>
                  <a:srgbClr val="4E3629"/>
                </a:solidFill>
                <a:latin typeface="Calibri"/>
                <a:cs typeface="Calibri"/>
              </a:rPr>
              <a:t>formato</a:t>
            </a:r>
            <a:r>
              <a:rPr dirty="0" sz="2800" spc="-90">
                <a:solidFill>
                  <a:srgbClr val="4E3629"/>
                </a:solidFill>
                <a:latin typeface="Calibri"/>
                <a:cs typeface="Calibri"/>
              </a:rPr>
              <a:t> </a:t>
            </a:r>
            <a:r>
              <a:rPr dirty="0" sz="2800">
                <a:solidFill>
                  <a:srgbClr val="4E3629"/>
                </a:solidFill>
                <a:latin typeface="Calibri"/>
                <a:cs typeface="Calibri"/>
              </a:rPr>
              <a:t>numérico</a:t>
            </a:r>
            <a:r>
              <a:rPr dirty="0" sz="2800" spc="-50">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spc="-10">
                <a:solidFill>
                  <a:srgbClr val="4E3629"/>
                </a:solidFill>
                <a:latin typeface="Calibri"/>
                <a:cs typeface="Calibri"/>
              </a:rPr>
              <a:t>representa</a:t>
            </a:r>
            <a:r>
              <a:rPr dirty="0" sz="2800" spc="-30">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siglo,</a:t>
            </a:r>
            <a:r>
              <a:rPr dirty="0" sz="2800" spc="-3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año,</a:t>
            </a:r>
            <a:r>
              <a:rPr dirty="0" sz="2800" spc="-5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mes,</a:t>
            </a:r>
            <a:r>
              <a:rPr dirty="0" sz="2800" spc="-3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día,</a:t>
            </a:r>
            <a:r>
              <a:rPr dirty="0" sz="2800" spc="-3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hora,</a:t>
            </a:r>
            <a:r>
              <a:rPr dirty="0" sz="2800" spc="-3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minuto</a:t>
            </a:r>
            <a:r>
              <a:rPr dirty="0" sz="2800" spc="-15">
                <a:solidFill>
                  <a:srgbClr val="4E3629"/>
                </a:solidFill>
                <a:latin typeface="Calibri"/>
                <a:cs typeface="Calibri"/>
              </a:rPr>
              <a:t> </a:t>
            </a:r>
            <a:r>
              <a:rPr dirty="0" sz="2800">
                <a:solidFill>
                  <a:srgbClr val="4E3629"/>
                </a:solidFill>
                <a:latin typeface="Calibri"/>
                <a:cs typeface="Calibri"/>
              </a:rPr>
              <a:t>y</a:t>
            </a:r>
            <a:r>
              <a:rPr dirty="0" sz="2800" spc="-30">
                <a:solidFill>
                  <a:srgbClr val="4E3629"/>
                </a:solidFill>
                <a:latin typeface="Calibri"/>
                <a:cs typeface="Calibri"/>
              </a:rPr>
              <a:t> </a:t>
            </a:r>
            <a:r>
              <a:rPr dirty="0" sz="2800">
                <a:solidFill>
                  <a:srgbClr val="4E3629"/>
                </a:solidFill>
                <a:latin typeface="Calibri"/>
                <a:cs typeface="Calibri"/>
              </a:rPr>
              <a:t>el</a:t>
            </a:r>
            <a:r>
              <a:rPr dirty="0" sz="2800" spc="-40">
                <a:solidFill>
                  <a:srgbClr val="4E3629"/>
                </a:solidFill>
                <a:latin typeface="Calibri"/>
                <a:cs typeface="Calibri"/>
              </a:rPr>
              <a:t> </a:t>
            </a:r>
            <a:r>
              <a:rPr dirty="0" sz="2800" spc="-10">
                <a:solidFill>
                  <a:srgbClr val="4E3629"/>
                </a:solidFill>
                <a:latin typeface="Calibri"/>
                <a:cs typeface="Calibri"/>
              </a:rPr>
              <a:t>segundo</a:t>
            </a:r>
            <a:endParaRPr sz="2800">
              <a:latin typeface="Calibri"/>
              <a:cs typeface="Calibri"/>
            </a:endParaRPr>
          </a:p>
          <a:p>
            <a:pPr marL="183515" indent="-170815">
              <a:lnSpc>
                <a:spcPts val="3025"/>
              </a:lnSpc>
              <a:spcBef>
                <a:spcPts val="135"/>
              </a:spcBef>
              <a:buClr>
                <a:srgbClr val="D1350F"/>
              </a:buClr>
              <a:buFont typeface="Arial MT"/>
              <a:buChar char="•"/>
              <a:tabLst>
                <a:tab pos="183515" algn="l"/>
              </a:tabLst>
            </a:pPr>
            <a:r>
              <a:rPr dirty="0" sz="2800">
                <a:solidFill>
                  <a:srgbClr val="4E3629"/>
                </a:solidFill>
                <a:latin typeface="Calibri"/>
                <a:cs typeface="Calibri"/>
              </a:rPr>
              <a:t>Las</a:t>
            </a:r>
            <a:r>
              <a:rPr dirty="0" sz="2800" spc="-55">
                <a:solidFill>
                  <a:srgbClr val="4E3629"/>
                </a:solidFill>
                <a:latin typeface="Calibri"/>
                <a:cs typeface="Calibri"/>
              </a:rPr>
              <a:t> </a:t>
            </a:r>
            <a:r>
              <a:rPr dirty="0" sz="2800">
                <a:solidFill>
                  <a:srgbClr val="4E3629"/>
                </a:solidFill>
                <a:latin typeface="Calibri"/>
                <a:cs typeface="Calibri"/>
              </a:rPr>
              <a:t>fechas</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Oracle</a:t>
            </a:r>
            <a:r>
              <a:rPr dirty="0" sz="2800" spc="-55">
                <a:solidFill>
                  <a:srgbClr val="4E3629"/>
                </a:solidFill>
                <a:latin typeface="Calibri"/>
                <a:cs typeface="Calibri"/>
              </a:rPr>
              <a:t> </a:t>
            </a:r>
            <a:r>
              <a:rPr dirty="0" sz="2800">
                <a:solidFill>
                  <a:srgbClr val="4E3629"/>
                </a:solidFill>
                <a:latin typeface="Calibri"/>
                <a:cs typeface="Calibri"/>
              </a:rPr>
              <a:t>válidas</a:t>
            </a:r>
            <a:r>
              <a:rPr dirty="0" sz="2800" spc="-50">
                <a:solidFill>
                  <a:srgbClr val="4E3629"/>
                </a:solidFill>
                <a:latin typeface="Calibri"/>
                <a:cs typeface="Calibri"/>
              </a:rPr>
              <a:t> </a:t>
            </a:r>
            <a:r>
              <a:rPr dirty="0" sz="2800">
                <a:solidFill>
                  <a:srgbClr val="4E3629"/>
                </a:solidFill>
                <a:latin typeface="Calibri"/>
                <a:cs typeface="Calibri"/>
              </a:rPr>
              <a:t>son</a:t>
            </a:r>
            <a:r>
              <a:rPr dirty="0" sz="2800" spc="-35">
                <a:solidFill>
                  <a:srgbClr val="4E3629"/>
                </a:solidFill>
                <a:latin typeface="Calibri"/>
                <a:cs typeface="Calibri"/>
              </a:rPr>
              <a:t> </a:t>
            </a:r>
            <a:r>
              <a:rPr dirty="0" sz="2800">
                <a:solidFill>
                  <a:srgbClr val="4E3629"/>
                </a:solidFill>
                <a:latin typeface="Calibri"/>
                <a:cs typeface="Calibri"/>
              </a:rPr>
              <a:t>del</a:t>
            </a:r>
            <a:r>
              <a:rPr dirty="0" sz="2800" spc="-45">
                <a:solidFill>
                  <a:srgbClr val="4E3629"/>
                </a:solidFill>
                <a:latin typeface="Calibri"/>
                <a:cs typeface="Calibri"/>
              </a:rPr>
              <a:t> </a:t>
            </a:r>
            <a:r>
              <a:rPr dirty="0" sz="2800">
                <a:solidFill>
                  <a:srgbClr val="4E3629"/>
                </a:solidFill>
                <a:latin typeface="Calibri"/>
                <a:cs typeface="Calibri"/>
              </a:rPr>
              <a:t>1</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enero</a:t>
            </a:r>
            <a:r>
              <a:rPr dirty="0" sz="2800" spc="-3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20">
                <a:solidFill>
                  <a:srgbClr val="4E3629"/>
                </a:solidFill>
                <a:latin typeface="Calibri"/>
                <a:cs typeface="Calibri"/>
              </a:rPr>
              <a:t>4712</a:t>
            </a:r>
            <a:endParaRPr sz="2800">
              <a:latin typeface="Calibri"/>
              <a:cs typeface="Calibri"/>
            </a:endParaRPr>
          </a:p>
          <a:p>
            <a:pPr marL="184785">
              <a:lnSpc>
                <a:spcPts val="3025"/>
              </a:lnSpc>
            </a:pPr>
            <a:r>
              <a:rPr dirty="0" sz="2800">
                <a:solidFill>
                  <a:srgbClr val="4E3629"/>
                </a:solidFill>
                <a:latin typeface="Calibri"/>
                <a:cs typeface="Calibri"/>
              </a:rPr>
              <a:t>A.C.</a:t>
            </a:r>
            <a:r>
              <a:rPr dirty="0" sz="2800" spc="-35">
                <a:solidFill>
                  <a:srgbClr val="4E3629"/>
                </a:solidFill>
                <a:latin typeface="Calibri"/>
                <a:cs typeface="Calibri"/>
              </a:rPr>
              <a:t> </a:t>
            </a:r>
            <a:r>
              <a:rPr dirty="0" sz="2800">
                <a:solidFill>
                  <a:srgbClr val="4E3629"/>
                </a:solidFill>
                <a:latin typeface="Calibri"/>
                <a:cs typeface="Calibri"/>
              </a:rPr>
              <a:t>y</a:t>
            </a:r>
            <a:r>
              <a:rPr dirty="0" sz="2800" spc="-4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31</a:t>
            </a:r>
            <a:r>
              <a:rPr dirty="0" sz="2800" spc="-2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diciembre</a:t>
            </a:r>
            <a:r>
              <a:rPr dirty="0" sz="2800" spc="-2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9999</a:t>
            </a:r>
            <a:r>
              <a:rPr dirty="0" sz="2800" spc="-15">
                <a:solidFill>
                  <a:srgbClr val="4E3629"/>
                </a:solidFill>
                <a:latin typeface="Calibri"/>
                <a:cs typeface="Calibri"/>
              </a:rPr>
              <a:t> </a:t>
            </a:r>
            <a:r>
              <a:rPr dirty="0" sz="2800" spc="-20">
                <a:solidFill>
                  <a:srgbClr val="4E3629"/>
                </a:solidFill>
                <a:latin typeface="Calibri"/>
                <a:cs typeface="Calibri"/>
              </a:rPr>
              <a:t>D.C.</a:t>
            </a:r>
            <a:endParaRPr sz="2800">
              <a:latin typeface="Calibri"/>
              <a:cs typeface="Calibri"/>
            </a:endParaRPr>
          </a:p>
          <a:p>
            <a:pPr marL="182880" marR="109220"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Esto</a:t>
            </a:r>
            <a:r>
              <a:rPr dirty="0" sz="2800" spc="-90">
                <a:solidFill>
                  <a:srgbClr val="4E3629"/>
                </a:solidFill>
                <a:latin typeface="Calibri"/>
                <a:cs typeface="Calibri"/>
              </a:rPr>
              <a:t> </a:t>
            </a:r>
            <a:r>
              <a:rPr dirty="0" sz="2800" spc="-10">
                <a:solidFill>
                  <a:srgbClr val="4E3629"/>
                </a:solidFill>
                <a:latin typeface="Calibri"/>
                <a:cs typeface="Calibri"/>
              </a:rPr>
              <a:t>representa</a:t>
            </a:r>
            <a:r>
              <a:rPr dirty="0" sz="2800" spc="-60">
                <a:solidFill>
                  <a:srgbClr val="4E3629"/>
                </a:solidFill>
                <a:latin typeface="Calibri"/>
                <a:cs typeface="Calibri"/>
              </a:rPr>
              <a:t> </a:t>
            </a:r>
            <a:r>
              <a:rPr dirty="0" sz="2800">
                <a:solidFill>
                  <a:srgbClr val="4E3629"/>
                </a:solidFill>
                <a:latin typeface="Calibri"/>
                <a:cs typeface="Calibri"/>
              </a:rPr>
              <a:t>el</a:t>
            </a:r>
            <a:r>
              <a:rPr dirty="0" sz="2800" spc="-95">
                <a:solidFill>
                  <a:srgbClr val="4E3629"/>
                </a:solidFill>
                <a:latin typeface="Calibri"/>
                <a:cs typeface="Calibri"/>
              </a:rPr>
              <a:t> </a:t>
            </a:r>
            <a:r>
              <a:rPr dirty="0" sz="2800">
                <a:solidFill>
                  <a:srgbClr val="4E3629"/>
                </a:solidFill>
                <a:latin typeface="Calibri"/>
                <a:cs typeface="Calibri"/>
              </a:rPr>
              <a:t>rango</a:t>
            </a:r>
            <a:r>
              <a:rPr dirty="0" sz="2800" spc="-8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fechas</a:t>
            </a:r>
            <a:r>
              <a:rPr dirty="0" sz="2800" spc="-80">
                <a:solidFill>
                  <a:srgbClr val="4E3629"/>
                </a:solidFill>
                <a:latin typeface="Calibri"/>
                <a:cs typeface="Calibri"/>
              </a:rPr>
              <a:t> </a:t>
            </a:r>
            <a:r>
              <a:rPr dirty="0" sz="2800">
                <a:solidFill>
                  <a:srgbClr val="4E3629"/>
                </a:solidFill>
                <a:latin typeface="Calibri"/>
                <a:cs typeface="Calibri"/>
              </a:rPr>
              <a:t>que</a:t>
            </a:r>
            <a:r>
              <a:rPr dirty="0" sz="2800" spc="-80">
                <a:solidFill>
                  <a:srgbClr val="4E3629"/>
                </a:solidFill>
                <a:latin typeface="Calibri"/>
                <a:cs typeface="Calibri"/>
              </a:rPr>
              <a:t> </a:t>
            </a:r>
            <a:r>
              <a:rPr dirty="0" sz="2800" spc="-10">
                <a:solidFill>
                  <a:srgbClr val="4E3629"/>
                </a:solidFill>
                <a:latin typeface="Calibri"/>
                <a:cs typeface="Calibri"/>
              </a:rPr>
              <a:t>puede </a:t>
            </a:r>
            <a:r>
              <a:rPr dirty="0" sz="2800" spc="-10">
                <a:solidFill>
                  <a:srgbClr val="4E3629"/>
                </a:solidFill>
                <a:latin typeface="Calibri"/>
                <a:cs typeface="Calibri"/>
              </a:rPr>
              <a:t>	</a:t>
            </a:r>
            <a:r>
              <a:rPr dirty="0" sz="2800">
                <a:solidFill>
                  <a:srgbClr val="4E3629"/>
                </a:solidFill>
                <a:latin typeface="Calibri"/>
                <a:cs typeface="Calibri"/>
              </a:rPr>
              <a:t>almacenar</a:t>
            </a:r>
            <a:r>
              <a:rPr dirty="0" sz="2800" spc="-50">
                <a:solidFill>
                  <a:srgbClr val="4E3629"/>
                </a:solidFill>
                <a:latin typeface="Calibri"/>
                <a:cs typeface="Calibri"/>
              </a:rPr>
              <a:t> </a:t>
            </a:r>
            <a:r>
              <a:rPr dirty="0" sz="2800" spc="-20">
                <a:solidFill>
                  <a:srgbClr val="4E3629"/>
                </a:solidFill>
                <a:latin typeface="Calibri"/>
                <a:cs typeface="Calibri"/>
              </a:rPr>
              <a:t>correctamente</a:t>
            </a:r>
            <a:r>
              <a:rPr dirty="0" sz="2800" spc="-4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una</a:t>
            </a:r>
            <a:r>
              <a:rPr dirty="0" sz="2800" spc="-10">
                <a:solidFill>
                  <a:srgbClr val="4E3629"/>
                </a:solidFill>
                <a:latin typeface="Calibri"/>
                <a:cs typeface="Calibri"/>
              </a:rPr>
              <a:t> </a:t>
            </a:r>
            <a:r>
              <a:rPr dirty="0" sz="2800">
                <a:solidFill>
                  <a:srgbClr val="4E3629"/>
                </a:solidFill>
                <a:latin typeface="Calibri"/>
                <a:cs typeface="Calibri"/>
              </a:rPr>
              <a:t>base</a:t>
            </a:r>
            <a:r>
              <a:rPr dirty="0" sz="2800" spc="-3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datos</a:t>
            </a:r>
            <a:r>
              <a:rPr dirty="0" sz="2800" spc="-30">
                <a:solidFill>
                  <a:srgbClr val="4E3629"/>
                </a:solidFill>
                <a:latin typeface="Calibri"/>
                <a:cs typeface="Calibri"/>
              </a:rPr>
              <a:t> </a:t>
            </a:r>
            <a:r>
              <a:rPr dirty="0" sz="2800" spc="-10">
                <a:solidFill>
                  <a:srgbClr val="4E3629"/>
                </a:solidFill>
                <a:latin typeface="Calibri"/>
                <a:cs typeface="Calibri"/>
              </a:rPr>
              <a:t>Oracle</a:t>
            </a:r>
            <a:endParaRPr sz="280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1477645" cy="528320"/>
          </a:xfrm>
          <a:prstGeom prst="rect"/>
        </p:spPr>
        <p:txBody>
          <a:bodyPr wrap="square" lIns="0" tIns="12700" rIns="0" bIns="0" rtlCol="0" vert="horz">
            <a:spAutoFit/>
          </a:bodyPr>
          <a:lstStyle/>
          <a:p>
            <a:pPr marL="12700">
              <a:lnSpc>
                <a:spcPct val="100000"/>
              </a:lnSpc>
              <a:spcBef>
                <a:spcPts val="100"/>
              </a:spcBef>
            </a:pPr>
            <a:r>
              <a:rPr dirty="0" spc="-45"/>
              <a:t>SYSDATE</a:t>
            </a:r>
          </a:p>
        </p:txBody>
      </p:sp>
      <p:sp>
        <p:nvSpPr>
          <p:cNvPr id="6" name="object 6"/>
          <p:cNvSpPr txBox="1"/>
          <p:nvPr/>
        </p:nvSpPr>
        <p:spPr>
          <a:xfrm>
            <a:off x="2855904" y="6510552"/>
            <a:ext cx="888365"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20">
                <a:solidFill>
                  <a:srgbClr val="4E3629"/>
                </a:solidFill>
                <a:latin typeface="Calibri"/>
                <a:cs typeface="Calibri"/>
              </a:rPr>
              <a:t> </a:t>
            </a:r>
            <a:r>
              <a:rPr dirty="0" sz="850">
                <a:solidFill>
                  <a:srgbClr val="4E3629"/>
                </a:solidFill>
                <a:latin typeface="Calibri"/>
                <a:cs typeface="Calibri"/>
              </a:rPr>
              <a:t>de</a:t>
            </a:r>
            <a:r>
              <a:rPr dirty="0" sz="850" spc="-35">
                <a:solidFill>
                  <a:srgbClr val="4E3629"/>
                </a:solidFill>
                <a:latin typeface="Calibri"/>
                <a:cs typeface="Calibri"/>
              </a:rPr>
              <a:t> </a:t>
            </a:r>
            <a:r>
              <a:rPr dirty="0" sz="850" spc="-10">
                <a:solidFill>
                  <a:srgbClr val="4E3629"/>
                </a:solidFill>
                <a:latin typeface="Calibri"/>
                <a:cs typeface="Calibri"/>
              </a:rPr>
              <a:t>Fecha</a:t>
            </a:r>
            <a:endParaRPr sz="850">
              <a:latin typeface="Calibri"/>
              <a:cs typeface="Calibri"/>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92710">
              <a:lnSpc>
                <a:spcPts val="910"/>
              </a:lnSpc>
            </a:pPr>
            <a:r>
              <a:rPr dirty="0" sz="850" spc="-50" b="0">
                <a:latin typeface="Calibri"/>
                <a:cs typeface="Calibri"/>
              </a:rPr>
              <a:t>6</a:t>
            </a:r>
            <a:endParaRPr sz="850">
              <a:latin typeface="Calibri"/>
              <a:cs typeface="Calibri"/>
            </a:endParaRPr>
          </a:p>
        </p:txBody>
      </p:sp>
      <p:sp>
        <p:nvSpPr>
          <p:cNvPr id="3" name="object 3"/>
          <p:cNvSpPr txBox="1"/>
          <p:nvPr/>
        </p:nvSpPr>
        <p:spPr>
          <a:xfrm>
            <a:off x="483552" y="1415417"/>
            <a:ext cx="8135620" cy="170624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40">
                <a:solidFill>
                  <a:srgbClr val="4E3629"/>
                </a:solidFill>
                <a:latin typeface="Calibri"/>
                <a:cs typeface="Calibri"/>
              </a:rPr>
              <a:t>SYSDATE</a:t>
            </a:r>
            <a:r>
              <a:rPr dirty="0" sz="2800" spc="-60">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función</a:t>
            </a:r>
            <a:r>
              <a:rPr dirty="0" sz="2800" spc="-3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fecha</a:t>
            </a:r>
            <a:r>
              <a:rPr dirty="0" sz="2800" spc="-5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devuelve</a:t>
            </a:r>
            <a:r>
              <a:rPr dirty="0" sz="2800" spc="-4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fecha </a:t>
            </a:r>
            <a:r>
              <a:rPr dirty="0" sz="2800" spc="-10">
                <a:solidFill>
                  <a:srgbClr val="4E3629"/>
                </a:solidFill>
                <a:latin typeface="Calibri"/>
                <a:cs typeface="Calibri"/>
              </a:rPr>
              <a:t>	</a:t>
            </a:r>
            <a:r>
              <a:rPr dirty="0" sz="2800">
                <a:solidFill>
                  <a:srgbClr val="4E3629"/>
                </a:solidFill>
                <a:latin typeface="Calibri"/>
                <a:cs typeface="Calibri"/>
              </a:rPr>
              <a:t>y</a:t>
            </a:r>
            <a:r>
              <a:rPr dirty="0" sz="2800" spc="-45">
                <a:solidFill>
                  <a:srgbClr val="4E3629"/>
                </a:solidFill>
                <a:latin typeface="Calibri"/>
                <a:cs typeface="Calibri"/>
              </a:rPr>
              <a:t> </a:t>
            </a:r>
            <a:r>
              <a:rPr dirty="0" sz="2800">
                <a:solidFill>
                  <a:srgbClr val="4E3629"/>
                </a:solidFill>
                <a:latin typeface="Calibri"/>
                <a:cs typeface="Calibri"/>
              </a:rPr>
              <a:t>hora</a:t>
            </a:r>
            <a:r>
              <a:rPr dirty="0" sz="2800" spc="-20">
                <a:solidFill>
                  <a:srgbClr val="4E3629"/>
                </a:solidFill>
                <a:latin typeface="Calibri"/>
                <a:cs typeface="Calibri"/>
              </a:rPr>
              <a:t> </a:t>
            </a:r>
            <a:r>
              <a:rPr dirty="0" sz="2800">
                <a:solidFill>
                  <a:srgbClr val="4E3629"/>
                </a:solidFill>
                <a:latin typeface="Calibri"/>
                <a:cs typeface="Calibri"/>
              </a:rPr>
              <a:t>actuales</a:t>
            </a:r>
            <a:r>
              <a:rPr dirty="0" sz="2800" spc="-25">
                <a:solidFill>
                  <a:srgbClr val="4E3629"/>
                </a:solidFill>
                <a:latin typeface="Calibri"/>
                <a:cs typeface="Calibri"/>
              </a:rPr>
              <a:t> </a:t>
            </a:r>
            <a:r>
              <a:rPr dirty="0" sz="2800">
                <a:solidFill>
                  <a:srgbClr val="4E3629"/>
                </a:solidFill>
                <a:latin typeface="Calibri"/>
                <a:cs typeface="Calibri"/>
              </a:rPr>
              <a:t>del</a:t>
            </a:r>
            <a:r>
              <a:rPr dirty="0" sz="2800" spc="-40">
                <a:solidFill>
                  <a:srgbClr val="4E3629"/>
                </a:solidFill>
                <a:latin typeface="Calibri"/>
                <a:cs typeface="Calibri"/>
              </a:rPr>
              <a:t> </a:t>
            </a:r>
            <a:r>
              <a:rPr dirty="0" sz="2800">
                <a:solidFill>
                  <a:srgbClr val="4E3629"/>
                </a:solidFill>
                <a:latin typeface="Calibri"/>
                <a:cs typeface="Calibri"/>
              </a:rPr>
              <a:t>servidor</a:t>
            </a:r>
            <a:r>
              <a:rPr dirty="0" sz="2800" spc="-10">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base</a:t>
            </a:r>
            <a:r>
              <a:rPr dirty="0" sz="2800" spc="-25">
                <a:solidFill>
                  <a:srgbClr val="4E3629"/>
                </a:solidFill>
                <a:latin typeface="Calibri"/>
                <a:cs typeface="Calibri"/>
              </a:rPr>
              <a:t> </a:t>
            </a:r>
            <a:r>
              <a:rPr dirty="0" sz="2800">
                <a:solidFill>
                  <a:srgbClr val="4E3629"/>
                </a:solidFill>
                <a:latin typeface="Calibri"/>
                <a:cs typeface="Calibri"/>
              </a:rPr>
              <a:t>de</a:t>
            </a:r>
            <a:r>
              <a:rPr dirty="0" sz="2800" spc="-2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marL="182880" marR="236854"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Utilice</a:t>
            </a:r>
            <a:r>
              <a:rPr dirty="0" sz="2800" spc="-90">
                <a:solidFill>
                  <a:srgbClr val="4E3629"/>
                </a:solidFill>
                <a:latin typeface="Calibri"/>
                <a:cs typeface="Calibri"/>
              </a:rPr>
              <a:t> </a:t>
            </a:r>
            <a:r>
              <a:rPr dirty="0" sz="2800" spc="-35">
                <a:solidFill>
                  <a:srgbClr val="4E3629"/>
                </a:solidFill>
                <a:latin typeface="Calibri"/>
                <a:cs typeface="Calibri"/>
              </a:rPr>
              <a:t>SYSDATE</a:t>
            </a:r>
            <a:r>
              <a:rPr dirty="0" sz="2800" spc="-85">
                <a:solidFill>
                  <a:srgbClr val="4E3629"/>
                </a:solidFill>
                <a:latin typeface="Calibri"/>
                <a:cs typeface="Calibri"/>
              </a:rPr>
              <a:t> </a:t>
            </a: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mostrar</a:t>
            </a:r>
            <a:r>
              <a:rPr dirty="0" sz="2800" spc="-65">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fecha</a:t>
            </a:r>
            <a:r>
              <a:rPr dirty="0" sz="2800" spc="-85">
                <a:solidFill>
                  <a:srgbClr val="4E3629"/>
                </a:solidFill>
                <a:latin typeface="Calibri"/>
                <a:cs typeface="Calibri"/>
              </a:rPr>
              <a:t> </a:t>
            </a:r>
            <a:r>
              <a:rPr dirty="0" sz="2800">
                <a:solidFill>
                  <a:srgbClr val="4E3629"/>
                </a:solidFill>
                <a:latin typeface="Calibri"/>
                <a:cs typeface="Calibri"/>
              </a:rPr>
              <a:t>actual,</a:t>
            </a:r>
            <a:r>
              <a:rPr dirty="0" sz="2800" spc="-85">
                <a:solidFill>
                  <a:srgbClr val="4E3629"/>
                </a:solidFill>
                <a:latin typeface="Calibri"/>
                <a:cs typeface="Calibri"/>
              </a:rPr>
              <a:t> </a:t>
            </a:r>
            <a:r>
              <a:rPr dirty="0" sz="2800">
                <a:solidFill>
                  <a:srgbClr val="4E3629"/>
                </a:solidFill>
                <a:latin typeface="Calibri"/>
                <a:cs typeface="Calibri"/>
              </a:rPr>
              <a:t>utilice</a:t>
            </a:r>
            <a:r>
              <a:rPr dirty="0" sz="2800" spc="-6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60">
                <a:solidFill>
                  <a:srgbClr val="4E3629"/>
                </a:solidFill>
                <a:latin typeface="Calibri"/>
                <a:cs typeface="Calibri"/>
              </a:rPr>
              <a:t> </a:t>
            </a:r>
            <a:r>
              <a:rPr dirty="0" sz="2800" spc="-20">
                <a:solidFill>
                  <a:srgbClr val="4E3629"/>
                </a:solidFill>
                <a:latin typeface="Calibri"/>
                <a:cs typeface="Calibri"/>
              </a:rPr>
              <a:t>DUAL</a:t>
            </a:r>
            <a:endParaRPr sz="2800">
              <a:latin typeface="Calibri"/>
              <a:cs typeface="Calibri"/>
            </a:endParaRPr>
          </a:p>
        </p:txBody>
      </p:sp>
      <p:graphicFrame>
        <p:nvGraphicFramePr>
          <p:cNvPr id="4" name="object 4"/>
          <p:cNvGraphicFramePr>
            <a:graphicFrameLocks noGrp="1"/>
          </p:cNvGraphicFramePr>
          <p:nvPr/>
        </p:nvGraphicFramePr>
        <p:xfrm>
          <a:off x="3457827" y="4327601"/>
          <a:ext cx="1752600" cy="800100"/>
        </p:xfrm>
        <a:graphic>
          <a:graphicData uri="http://schemas.openxmlformats.org/drawingml/2006/table">
            <a:tbl>
              <a:tblPr firstRow="1" bandRow="1">
                <a:tableStyleId>{2D5ABB26-0587-4C30-8999-92F81FD0307C}</a:tableStyleId>
              </a:tblPr>
              <a:tblGrid>
                <a:gridCol w="1663064"/>
              </a:tblGrid>
              <a:tr h="384810">
                <a:tc>
                  <a:txBody>
                    <a:bodyPr/>
                    <a:lstStyle/>
                    <a:p>
                      <a:pPr marL="71755">
                        <a:lnSpc>
                          <a:spcPct val="100000"/>
                        </a:lnSpc>
                        <a:spcBef>
                          <a:spcPts val="455"/>
                        </a:spcBef>
                      </a:pPr>
                      <a:r>
                        <a:rPr dirty="0" sz="1600" spc="-10" b="1">
                          <a:solidFill>
                            <a:srgbClr val="4E3629"/>
                          </a:solidFill>
                          <a:latin typeface="Calibri"/>
                          <a:cs typeface="Calibri"/>
                        </a:rPr>
                        <a:t>SYSDATE</a:t>
                      </a:r>
                      <a:endParaRPr sz="1600">
                        <a:latin typeface="Calibri"/>
                        <a:cs typeface="Calibri"/>
                      </a:endParaRPr>
                    </a:p>
                  </a:txBody>
                  <a:tcPr marL="0" marR="0" marB="0" marT="5778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415290">
                <a:tc>
                  <a:txBody>
                    <a:bodyPr/>
                    <a:lstStyle/>
                    <a:p>
                      <a:pPr marL="71755">
                        <a:lnSpc>
                          <a:spcPct val="100000"/>
                        </a:lnSpc>
                        <a:spcBef>
                          <a:spcPts val="575"/>
                        </a:spcBef>
                      </a:pPr>
                      <a:r>
                        <a:rPr dirty="0" sz="1600" spc="-10">
                          <a:solidFill>
                            <a:srgbClr val="4E3629"/>
                          </a:solidFill>
                          <a:latin typeface="Calibri"/>
                          <a:cs typeface="Calibri"/>
                        </a:rPr>
                        <a:t>01-Jul-</a:t>
                      </a:r>
                      <a:r>
                        <a:rPr dirty="0" sz="1600" spc="-20">
                          <a:solidFill>
                            <a:srgbClr val="4E3629"/>
                          </a:solidFill>
                          <a:latin typeface="Calibri"/>
                          <a:cs typeface="Calibri"/>
                        </a:rPr>
                        <a:t>2017</a:t>
                      </a:r>
                      <a:endParaRPr sz="1600">
                        <a:latin typeface="Calibri"/>
                        <a:cs typeface="Calibri"/>
                      </a:endParaRPr>
                    </a:p>
                  </a:txBody>
                  <a:tcPr marL="0" marR="0" marB="0" marT="7302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5" name="object 5"/>
          <p:cNvSpPr txBox="1"/>
          <p:nvPr/>
        </p:nvSpPr>
        <p:spPr>
          <a:xfrm>
            <a:off x="405384" y="3337559"/>
            <a:ext cx="8345805" cy="603885"/>
          </a:xfrm>
          <a:prstGeom prst="rect">
            <a:avLst/>
          </a:prstGeom>
          <a:solidFill>
            <a:srgbClr val="9DBEC4">
              <a:alpha val="50199"/>
            </a:srgbClr>
          </a:solidFill>
        </p:spPr>
        <p:txBody>
          <a:bodyPr wrap="square" lIns="0" tIns="0" rIns="0" bIns="0" rtlCol="0" vert="horz">
            <a:spAutoFit/>
          </a:bodyPr>
          <a:lstStyle/>
          <a:p>
            <a:pPr>
              <a:lnSpc>
                <a:spcPct val="100000"/>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SYSDATE</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dual;</a:t>
            </a:r>
            <a:endParaRPr sz="1800">
              <a:latin typeface="Courier New"/>
              <a:cs typeface="Courier New"/>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25"/>
              <a:t>Trabajar</a:t>
            </a:r>
            <a:r>
              <a:rPr dirty="0" spc="-110"/>
              <a:t> </a:t>
            </a:r>
            <a:r>
              <a:rPr dirty="0"/>
              <a:t>con</a:t>
            </a:r>
            <a:r>
              <a:rPr dirty="0" spc="-90"/>
              <a:t> </a:t>
            </a:r>
            <a:r>
              <a:rPr dirty="0" spc="-10"/>
              <a:t>fechas</a:t>
            </a:r>
          </a:p>
        </p:txBody>
      </p:sp>
      <p:sp>
        <p:nvSpPr>
          <p:cNvPr id="4" name="object 4"/>
          <p:cNvSpPr txBox="1"/>
          <p:nvPr/>
        </p:nvSpPr>
        <p:spPr>
          <a:xfrm>
            <a:off x="2855904" y="6510552"/>
            <a:ext cx="888365"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20">
                <a:solidFill>
                  <a:srgbClr val="4E3629"/>
                </a:solidFill>
                <a:latin typeface="Calibri"/>
                <a:cs typeface="Calibri"/>
              </a:rPr>
              <a:t> </a:t>
            </a:r>
            <a:r>
              <a:rPr dirty="0" sz="850">
                <a:solidFill>
                  <a:srgbClr val="4E3629"/>
                </a:solidFill>
                <a:latin typeface="Calibri"/>
                <a:cs typeface="Calibri"/>
              </a:rPr>
              <a:t>de</a:t>
            </a:r>
            <a:r>
              <a:rPr dirty="0" sz="850" spc="-35">
                <a:solidFill>
                  <a:srgbClr val="4E3629"/>
                </a:solidFill>
                <a:latin typeface="Calibri"/>
                <a:cs typeface="Calibri"/>
              </a:rPr>
              <a:t> </a:t>
            </a:r>
            <a:r>
              <a:rPr dirty="0" sz="850" spc="-10">
                <a:solidFill>
                  <a:srgbClr val="4E3629"/>
                </a:solidFill>
                <a:latin typeface="Calibri"/>
                <a:cs typeface="Calibri"/>
              </a:rPr>
              <a:t>Fecha</a:t>
            </a:r>
            <a:endParaRPr sz="850">
              <a:latin typeface="Calibri"/>
              <a:cs typeface="Calibri"/>
            </a:endParaRPr>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8</a:t>
            </a:r>
            <a:endParaRPr sz="850">
              <a:latin typeface="Calibri"/>
              <a:cs typeface="Calibri"/>
            </a:endParaRPr>
          </a:p>
        </p:txBody>
      </p:sp>
      <p:graphicFrame>
        <p:nvGraphicFramePr>
          <p:cNvPr id="3" name="object 3"/>
          <p:cNvGraphicFramePr>
            <a:graphicFrameLocks noGrp="1"/>
          </p:cNvGraphicFramePr>
          <p:nvPr/>
        </p:nvGraphicFramePr>
        <p:xfrm>
          <a:off x="398462" y="1441450"/>
          <a:ext cx="8437880" cy="3959860"/>
        </p:xfrm>
        <a:graphic>
          <a:graphicData uri="http://schemas.openxmlformats.org/drawingml/2006/table">
            <a:tbl>
              <a:tblPr firstRow="1" bandRow="1">
                <a:tableStyleId>{2D5ABB26-0587-4C30-8999-92F81FD0307C}</a:tableStyleId>
              </a:tblPr>
              <a:tblGrid>
                <a:gridCol w="5331460"/>
                <a:gridCol w="3016885"/>
              </a:tblGrid>
              <a:tr h="395605">
                <a:tc>
                  <a:txBody>
                    <a:bodyPr/>
                    <a:lstStyle/>
                    <a:p>
                      <a:pPr marL="104139">
                        <a:lnSpc>
                          <a:spcPct val="100000"/>
                        </a:lnSpc>
                        <a:spcBef>
                          <a:spcPts val="240"/>
                        </a:spcBef>
                      </a:pPr>
                      <a:r>
                        <a:rPr dirty="0" sz="2000" spc="-10" b="1">
                          <a:solidFill>
                            <a:srgbClr val="4E3629"/>
                          </a:solidFill>
                          <a:latin typeface="Calibri"/>
                          <a:cs typeface="Calibri"/>
                        </a:rPr>
                        <a:t>Ejemplos:</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4139">
                        <a:lnSpc>
                          <a:spcPct val="100000"/>
                        </a:lnSpc>
                        <a:spcBef>
                          <a:spcPts val="240"/>
                        </a:spcBef>
                      </a:pPr>
                      <a:r>
                        <a:rPr dirty="0" sz="2000" spc="-10" b="1">
                          <a:solidFill>
                            <a:srgbClr val="4E3629"/>
                          </a:solidFill>
                          <a:latin typeface="Calibri"/>
                          <a:cs typeface="Calibri"/>
                        </a:rPr>
                        <a:t>resultado</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639445">
                <a:tc>
                  <a:txBody>
                    <a:bodyPr/>
                    <a:lstStyle/>
                    <a:p>
                      <a:pPr marL="104139" marR="2090420">
                        <a:lnSpc>
                          <a:spcPts val="2090"/>
                        </a:lnSpc>
                        <a:spcBef>
                          <a:spcPts val="365"/>
                        </a:spcBef>
                      </a:pPr>
                      <a:r>
                        <a:rPr dirty="0" sz="1800">
                          <a:solidFill>
                            <a:srgbClr val="4E3629"/>
                          </a:solidFill>
                          <a:latin typeface="Calibri"/>
                          <a:cs typeface="Calibri"/>
                        </a:rPr>
                        <a:t>SELECT</a:t>
                      </a:r>
                      <a:r>
                        <a:rPr dirty="0" sz="1800" spc="-40">
                          <a:solidFill>
                            <a:srgbClr val="4E3629"/>
                          </a:solidFill>
                          <a:latin typeface="Calibri"/>
                          <a:cs typeface="Calibri"/>
                        </a:rPr>
                        <a:t> </a:t>
                      </a:r>
                      <a:r>
                        <a:rPr dirty="0" sz="1800">
                          <a:solidFill>
                            <a:srgbClr val="4E3629"/>
                          </a:solidFill>
                          <a:latin typeface="Calibri"/>
                          <a:cs typeface="Calibri"/>
                        </a:rPr>
                        <a:t>last_name,</a:t>
                      </a:r>
                      <a:r>
                        <a:rPr dirty="0" sz="1800" spc="-55">
                          <a:solidFill>
                            <a:srgbClr val="4E3629"/>
                          </a:solidFill>
                          <a:latin typeface="Calibri"/>
                          <a:cs typeface="Calibri"/>
                        </a:rPr>
                        <a:t> </a:t>
                      </a:r>
                      <a:r>
                        <a:rPr dirty="0" sz="1800" spc="-10">
                          <a:solidFill>
                            <a:srgbClr val="4E3629"/>
                          </a:solidFill>
                          <a:latin typeface="Calibri"/>
                          <a:cs typeface="Calibri"/>
                        </a:rPr>
                        <a:t>hire_date</a:t>
                      </a:r>
                      <a:r>
                        <a:rPr dirty="0" sz="1800" spc="-30">
                          <a:solidFill>
                            <a:srgbClr val="4E3629"/>
                          </a:solidFill>
                          <a:latin typeface="Calibri"/>
                          <a:cs typeface="Calibri"/>
                        </a:rPr>
                        <a:t> </a:t>
                      </a:r>
                      <a:r>
                        <a:rPr dirty="0" sz="1800">
                          <a:solidFill>
                            <a:srgbClr val="4E3629"/>
                          </a:solidFill>
                          <a:latin typeface="Calibri"/>
                          <a:cs typeface="Calibri"/>
                        </a:rPr>
                        <a:t>+</a:t>
                      </a:r>
                      <a:r>
                        <a:rPr dirty="0" sz="1800" spc="-35">
                          <a:solidFill>
                            <a:srgbClr val="4E3629"/>
                          </a:solidFill>
                          <a:latin typeface="Calibri"/>
                          <a:cs typeface="Calibri"/>
                        </a:rPr>
                        <a:t> </a:t>
                      </a:r>
                      <a:r>
                        <a:rPr dirty="0" sz="1800" spc="-25">
                          <a:solidFill>
                            <a:srgbClr val="4E3629"/>
                          </a:solidFill>
                          <a:latin typeface="Calibri"/>
                          <a:cs typeface="Calibri"/>
                        </a:rPr>
                        <a:t>60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employees;</a:t>
                      </a:r>
                      <a:endParaRPr sz="1800">
                        <a:latin typeface="Calibri"/>
                        <a:cs typeface="Calibri"/>
                      </a:endParaRPr>
                    </a:p>
                  </a:txBody>
                  <a:tcPr marL="0" marR="0" marB="0" marT="463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4139">
                        <a:lnSpc>
                          <a:spcPct val="100000"/>
                        </a:lnSpc>
                        <a:spcBef>
                          <a:spcPts val="240"/>
                        </a:spcBef>
                      </a:pPr>
                      <a:r>
                        <a:rPr dirty="0" sz="2000" spc="-10">
                          <a:solidFill>
                            <a:srgbClr val="4E3629"/>
                          </a:solidFill>
                          <a:latin typeface="Calibri"/>
                          <a:cs typeface="Calibri"/>
                        </a:rPr>
                        <a:t>Agrega</a:t>
                      </a:r>
                      <a:r>
                        <a:rPr dirty="0" sz="2000" spc="-50">
                          <a:solidFill>
                            <a:srgbClr val="4E3629"/>
                          </a:solidFill>
                          <a:latin typeface="Calibri"/>
                          <a:cs typeface="Calibri"/>
                        </a:rPr>
                        <a:t> </a:t>
                      </a:r>
                      <a:r>
                        <a:rPr dirty="0" sz="2000">
                          <a:solidFill>
                            <a:srgbClr val="4E3629"/>
                          </a:solidFill>
                          <a:latin typeface="Calibri"/>
                          <a:cs typeface="Calibri"/>
                        </a:rPr>
                        <a:t>60</a:t>
                      </a:r>
                      <a:r>
                        <a:rPr dirty="0" sz="2000" spc="-35">
                          <a:solidFill>
                            <a:srgbClr val="4E3629"/>
                          </a:solidFill>
                          <a:latin typeface="Calibri"/>
                          <a:cs typeface="Calibri"/>
                        </a:rPr>
                        <a:t> </a:t>
                      </a:r>
                      <a:r>
                        <a:rPr dirty="0" sz="2000">
                          <a:solidFill>
                            <a:srgbClr val="4E3629"/>
                          </a:solidFill>
                          <a:latin typeface="Calibri"/>
                          <a:cs typeface="Calibri"/>
                        </a:rPr>
                        <a:t>días</a:t>
                      </a:r>
                      <a:r>
                        <a:rPr dirty="0" sz="2000" spc="-15">
                          <a:solidFill>
                            <a:srgbClr val="4E3629"/>
                          </a:solidFill>
                          <a:latin typeface="Calibri"/>
                          <a:cs typeface="Calibri"/>
                        </a:rPr>
                        <a:t> </a:t>
                      </a:r>
                      <a:r>
                        <a:rPr dirty="0" sz="2000">
                          <a:solidFill>
                            <a:srgbClr val="4E3629"/>
                          </a:solidFill>
                          <a:latin typeface="Calibri"/>
                          <a:cs typeface="Calibri"/>
                        </a:rPr>
                        <a:t>a</a:t>
                      </a:r>
                      <a:r>
                        <a:rPr dirty="0" sz="2000" spc="-20">
                          <a:solidFill>
                            <a:srgbClr val="4E3629"/>
                          </a:solidFill>
                          <a:latin typeface="Calibri"/>
                          <a:cs typeface="Calibri"/>
                        </a:rPr>
                        <a:t> </a:t>
                      </a:r>
                      <a:r>
                        <a:rPr dirty="0" sz="2000" spc="-10">
                          <a:solidFill>
                            <a:srgbClr val="4E3629"/>
                          </a:solidFill>
                          <a:latin typeface="Calibri"/>
                          <a:cs typeface="Calibri"/>
                        </a:rPr>
                        <a:t>hire_date</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05205">
                <a:tc>
                  <a:txBody>
                    <a:bodyPr/>
                    <a:lstStyle/>
                    <a:p>
                      <a:pPr marL="182245" marR="2453005" indent="-78105">
                        <a:lnSpc>
                          <a:spcPct val="100000"/>
                        </a:lnSpc>
                        <a:spcBef>
                          <a:spcPts val="240"/>
                        </a:spcBef>
                      </a:pPr>
                      <a:r>
                        <a:rPr dirty="0" sz="1800">
                          <a:solidFill>
                            <a:srgbClr val="4E3629"/>
                          </a:solidFill>
                          <a:latin typeface="Calibri"/>
                          <a:cs typeface="Calibri"/>
                        </a:rPr>
                        <a:t>SELECT</a:t>
                      </a:r>
                      <a:r>
                        <a:rPr dirty="0" sz="1800" spc="-55">
                          <a:solidFill>
                            <a:srgbClr val="4E3629"/>
                          </a:solidFill>
                          <a:latin typeface="Calibri"/>
                          <a:cs typeface="Calibri"/>
                        </a:rPr>
                        <a:t> </a:t>
                      </a:r>
                      <a:r>
                        <a:rPr dirty="0" sz="1800">
                          <a:solidFill>
                            <a:srgbClr val="4E3629"/>
                          </a:solidFill>
                          <a:latin typeface="Calibri"/>
                          <a:cs typeface="Calibri"/>
                        </a:rPr>
                        <a:t>last_name,</a:t>
                      </a:r>
                      <a:r>
                        <a:rPr dirty="0" sz="1800" spc="-60">
                          <a:solidFill>
                            <a:srgbClr val="4E3629"/>
                          </a:solidFill>
                          <a:latin typeface="Calibri"/>
                          <a:cs typeface="Calibri"/>
                        </a:rPr>
                        <a:t> </a:t>
                      </a:r>
                      <a:r>
                        <a:rPr dirty="0" sz="1800" spc="-25">
                          <a:solidFill>
                            <a:srgbClr val="4E3629"/>
                          </a:solidFill>
                          <a:latin typeface="Calibri"/>
                          <a:cs typeface="Calibri"/>
                        </a:rPr>
                        <a:t>(SYSDATE</a:t>
                      </a:r>
                      <a:r>
                        <a:rPr dirty="0" sz="1800" spc="-65">
                          <a:solidFill>
                            <a:srgbClr val="4E3629"/>
                          </a:solidFill>
                          <a:latin typeface="Calibri"/>
                          <a:cs typeface="Calibri"/>
                        </a:rPr>
                        <a:t> </a:t>
                      </a:r>
                      <a:r>
                        <a:rPr dirty="0" sz="1800" spc="-50">
                          <a:solidFill>
                            <a:srgbClr val="4E3629"/>
                          </a:solidFill>
                          <a:latin typeface="Calibri"/>
                          <a:cs typeface="Calibri"/>
                        </a:rPr>
                        <a:t>- </a:t>
                      </a:r>
                      <a:r>
                        <a:rPr dirty="0" sz="1800" spc="-10">
                          <a:solidFill>
                            <a:srgbClr val="4E3629"/>
                          </a:solidFill>
                          <a:latin typeface="Calibri"/>
                          <a:cs typeface="Calibri"/>
                        </a:rPr>
                        <a:t>hire_date)/7</a:t>
                      </a:r>
                      <a:endParaRPr sz="1800">
                        <a:latin typeface="Calibri"/>
                        <a:cs typeface="Calibri"/>
                      </a:endParaRPr>
                    </a:p>
                    <a:p>
                      <a:pPr marL="104139">
                        <a:lnSpc>
                          <a:spcPts val="2090"/>
                        </a:lnSpc>
                      </a:pP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employees;</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algn="just" marL="104139" marR="584835">
                        <a:lnSpc>
                          <a:spcPct val="100299"/>
                        </a:lnSpc>
                        <a:spcBef>
                          <a:spcPts val="225"/>
                        </a:spcBef>
                      </a:pPr>
                      <a:r>
                        <a:rPr dirty="0" sz="2000" spc="-10">
                          <a:solidFill>
                            <a:srgbClr val="4E3629"/>
                          </a:solidFill>
                          <a:latin typeface="Calibri"/>
                          <a:cs typeface="Calibri"/>
                        </a:rPr>
                        <a:t>Muestra</a:t>
                      </a:r>
                      <a:r>
                        <a:rPr dirty="0" sz="2000" spc="-45">
                          <a:solidFill>
                            <a:srgbClr val="4E3629"/>
                          </a:solidFill>
                          <a:latin typeface="Calibri"/>
                          <a:cs typeface="Calibri"/>
                        </a:rPr>
                        <a:t> </a:t>
                      </a:r>
                      <a:r>
                        <a:rPr dirty="0" sz="2000">
                          <a:solidFill>
                            <a:srgbClr val="4E3629"/>
                          </a:solidFill>
                          <a:latin typeface="Calibri"/>
                          <a:cs typeface="Calibri"/>
                        </a:rPr>
                        <a:t>el</a:t>
                      </a:r>
                      <a:r>
                        <a:rPr dirty="0" sz="2000" spc="-35">
                          <a:solidFill>
                            <a:srgbClr val="4E3629"/>
                          </a:solidFill>
                          <a:latin typeface="Calibri"/>
                          <a:cs typeface="Calibri"/>
                        </a:rPr>
                        <a:t> </a:t>
                      </a:r>
                      <a:r>
                        <a:rPr dirty="0" sz="2000">
                          <a:solidFill>
                            <a:srgbClr val="4E3629"/>
                          </a:solidFill>
                          <a:latin typeface="Calibri"/>
                          <a:cs typeface="Calibri"/>
                        </a:rPr>
                        <a:t>número</a:t>
                      </a:r>
                      <a:r>
                        <a:rPr dirty="0" sz="2000" spc="-55">
                          <a:solidFill>
                            <a:srgbClr val="4E3629"/>
                          </a:solidFill>
                          <a:latin typeface="Calibri"/>
                          <a:cs typeface="Calibri"/>
                        </a:rPr>
                        <a:t> </a:t>
                      </a:r>
                      <a:r>
                        <a:rPr dirty="0" sz="2000" spc="-25">
                          <a:solidFill>
                            <a:srgbClr val="4E3629"/>
                          </a:solidFill>
                          <a:latin typeface="Calibri"/>
                          <a:cs typeface="Calibri"/>
                        </a:rPr>
                        <a:t>de </a:t>
                      </a:r>
                      <a:r>
                        <a:rPr dirty="0" sz="2000">
                          <a:solidFill>
                            <a:srgbClr val="4E3629"/>
                          </a:solidFill>
                          <a:latin typeface="Calibri"/>
                          <a:cs typeface="Calibri"/>
                        </a:rPr>
                        <a:t>semanas</a:t>
                      </a:r>
                      <a:r>
                        <a:rPr dirty="0" sz="2000" spc="-35">
                          <a:solidFill>
                            <a:srgbClr val="4E3629"/>
                          </a:solidFill>
                          <a:latin typeface="Calibri"/>
                          <a:cs typeface="Calibri"/>
                        </a:rPr>
                        <a:t> </a:t>
                      </a:r>
                      <a:r>
                        <a:rPr dirty="0" sz="2000">
                          <a:solidFill>
                            <a:srgbClr val="4E3629"/>
                          </a:solidFill>
                          <a:latin typeface="Calibri"/>
                          <a:cs typeface="Calibri"/>
                        </a:rPr>
                        <a:t>desde</a:t>
                      </a:r>
                      <a:r>
                        <a:rPr dirty="0" sz="2000" spc="-40">
                          <a:solidFill>
                            <a:srgbClr val="4E3629"/>
                          </a:solidFill>
                          <a:latin typeface="Calibri"/>
                          <a:cs typeface="Calibri"/>
                        </a:rPr>
                        <a:t> </a:t>
                      </a:r>
                      <a:r>
                        <a:rPr dirty="0" sz="2000">
                          <a:solidFill>
                            <a:srgbClr val="4E3629"/>
                          </a:solidFill>
                          <a:latin typeface="Calibri"/>
                          <a:cs typeface="Calibri"/>
                        </a:rPr>
                        <a:t>que</a:t>
                      </a:r>
                      <a:r>
                        <a:rPr dirty="0" sz="2000" spc="-55">
                          <a:solidFill>
                            <a:srgbClr val="4E3629"/>
                          </a:solidFill>
                          <a:latin typeface="Calibri"/>
                          <a:cs typeface="Calibri"/>
                        </a:rPr>
                        <a:t> </a:t>
                      </a:r>
                      <a:r>
                        <a:rPr dirty="0" sz="2000" spc="-25">
                          <a:solidFill>
                            <a:srgbClr val="4E3629"/>
                          </a:solidFill>
                          <a:latin typeface="Calibri"/>
                          <a:cs typeface="Calibri"/>
                        </a:rPr>
                        <a:t>se </a:t>
                      </a:r>
                      <a:r>
                        <a:rPr dirty="0" sz="2000" spc="-10">
                          <a:solidFill>
                            <a:srgbClr val="4E3629"/>
                          </a:solidFill>
                          <a:latin typeface="Calibri"/>
                          <a:cs typeface="Calibri"/>
                        </a:rPr>
                        <a:t>contrató</a:t>
                      </a:r>
                      <a:r>
                        <a:rPr dirty="0" sz="2000" spc="-65">
                          <a:solidFill>
                            <a:srgbClr val="4E3629"/>
                          </a:solidFill>
                          <a:latin typeface="Calibri"/>
                          <a:cs typeface="Calibri"/>
                        </a:rPr>
                        <a:t> </a:t>
                      </a:r>
                      <a:r>
                        <a:rPr dirty="0" sz="2000">
                          <a:solidFill>
                            <a:srgbClr val="4E3629"/>
                          </a:solidFill>
                          <a:latin typeface="Calibri"/>
                          <a:cs typeface="Calibri"/>
                        </a:rPr>
                        <a:t>al</a:t>
                      </a:r>
                      <a:r>
                        <a:rPr dirty="0" sz="2000" spc="-45">
                          <a:solidFill>
                            <a:srgbClr val="4E3629"/>
                          </a:solidFill>
                          <a:latin typeface="Calibri"/>
                          <a:cs typeface="Calibri"/>
                        </a:rPr>
                        <a:t> </a:t>
                      </a:r>
                      <a:r>
                        <a:rPr dirty="0" sz="2000" spc="-10">
                          <a:solidFill>
                            <a:srgbClr val="4E3629"/>
                          </a:solidFill>
                          <a:latin typeface="Calibri"/>
                          <a:cs typeface="Calibri"/>
                        </a:rPr>
                        <a:t>empleado</a:t>
                      </a:r>
                      <a:endParaRPr sz="20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919605">
                <a:tc>
                  <a:txBody>
                    <a:bodyPr/>
                    <a:lstStyle/>
                    <a:p>
                      <a:pPr marL="182245" marR="2117725" indent="-78105">
                        <a:lnSpc>
                          <a:spcPct val="100000"/>
                        </a:lnSpc>
                        <a:spcBef>
                          <a:spcPts val="240"/>
                        </a:spcBef>
                      </a:pPr>
                      <a:r>
                        <a:rPr dirty="0" sz="1800">
                          <a:solidFill>
                            <a:srgbClr val="4E3629"/>
                          </a:solidFill>
                          <a:latin typeface="Calibri"/>
                          <a:cs typeface="Calibri"/>
                        </a:rPr>
                        <a:t>SELECT</a:t>
                      </a:r>
                      <a:r>
                        <a:rPr dirty="0" sz="1800" spc="-60">
                          <a:solidFill>
                            <a:srgbClr val="4E3629"/>
                          </a:solidFill>
                          <a:latin typeface="Calibri"/>
                          <a:cs typeface="Calibri"/>
                        </a:rPr>
                        <a:t> </a:t>
                      </a:r>
                      <a:r>
                        <a:rPr dirty="0" sz="1800">
                          <a:solidFill>
                            <a:srgbClr val="4E3629"/>
                          </a:solidFill>
                          <a:latin typeface="Calibri"/>
                          <a:cs typeface="Calibri"/>
                        </a:rPr>
                        <a:t>employee_id,</a:t>
                      </a:r>
                      <a:r>
                        <a:rPr dirty="0" sz="1800" spc="-50">
                          <a:solidFill>
                            <a:srgbClr val="4E3629"/>
                          </a:solidFill>
                          <a:latin typeface="Calibri"/>
                          <a:cs typeface="Calibri"/>
                        </a:rPr>
                        <a:t> </a:t>
                      </a:r>
                      <a:r>
                        <a:rPr dirty="0" sz="1800" spc="-10">
                          <a:solidFill>
                            <a:srgbClr val="4E3629"/>
                          </a:solidFill>
                          <a:latin typeface="Calibri"/>
                          <a:cs typeface="Calibri"/>
                        </a:rPr>
                        <a:t>(end_date</a:t>
                      </a:r>
                      <a:r>
                        <a:rPr dirty="0" sz="1800" spc="-55">
                          <a:solidFill>
                            <a:srgbClr val="4E3629"/>
                          </a:solidFill>
                          <a:latin typeface="Calibri"/>
                          <a:cs typeface="Calibri"/>
                        </a:rPr>
                        <a:t> </a:t>
                      </a:r>
                      <a:r>
                        <a:rPr dirty="0" sz="1800" spc="-50">
                          <a:solidFill>
                            <a:srgbClr val="4E3629"/>
                          </a:solidFill>
                          <a:latin typeface="Calibri"/>
                          <a:cs typeface="Calibri"/>
                        </a:rPr>
                        <a:t>- </a:t>
                      </a:r>
                      <a:r>
                        <a:rPr dirty="0" sz="1800" spc="-10">
                          <a:solidFill>
                            <a:srgbClr val="4E3629"/>
                          </a:solidFill>
                          <a:latin typeface="Calibri"/>
                          <a:cs typeface="Calibri"/>
                        </a:rPr>
                        <a:t>start_date)/365</a:t>
                      </a:r>
                      <a:endParaRPr sz="1800">
                        <a:latin typeface="Calibri"/>
                        <a:cs typeface="Calibri"/>
                      </a:endParaRPr>
                    </a:p>
                    <a:p>
                      <a:pPr marL="104139" marR="3054350" indent="104775">
                        <a:lnSpc>
                          <a:spcPct val="100000"/>
                        </a:lnSpc>
                      </a:pPr>
                      <a:r>
                        <a:rPr dirty="0" sz="1800">
                          <a:solidFill>
                            <a:srgbClr val="4E3629"/>
                          </a:solidFill>
                          <a:latin typeface="Calibri"/>
                          <a:cs typeface="Calibri"/>
                        </a:rPr>
                        <a:t>AS</a:t>
                      </a:r>
                      <a:r>
                        <a:rPr dirty="0" sz="1800" spc="-40">
                          <a:solidFill>
                            <a:srgbClr val="4E3629"/>
                          </a:solidFill>
                          <a:latin typeface="Calibri"/>
                          <a:cs typeface="Calibri"/>
                        </a:rPr>
                        <a:t> </a:t>
                      </a:r>
                      <a:r>
                        <a:rPr dirty="0" sz="1800" spc="-25">
                          <a:solidFill>
                            <a:srgbClr val="4E3629"/>
                          </a:solidFill>
                          <a:latin typeface="Calibri"/>
                          <a:cs typeface="Calibri"/>
                        </a:rPr>
                        <a:t>"Tenure</a:t>
                      </a:r>
                      <a:r>
                        <a:rPr dirty="0" sz="1800" spc="-10">
                          <a:solidFill>
                            <a:srgbClr val="4E3629"/>
                          </a:solidFill>
                          <a:latin typeface="Calibri"/>
                          <a:cs typeface="Calibri"/>
                        </a:rPr>
                        <a:t> </a:t>
                      </a:r>
                      <a:r>
                        <a:rPr dirty="0" sz="1800">
                          <a:solidFill>
                            <a:srgbClr val="4E3629"/>
                          </a:solidFill>
                          <a:latin typeface="Calibri"/>
                          <a:cs typeface="Calibri"/>
                        </a:rPr>
                        <a:t>in</a:t>
                      </a:r>
                      <a:r>
                        <a:rPr dirty="0" sz="1800" spc="-10">
                          <a:solidFill>
                            <a:srgbClr val="4E3629"/>
                          </a:solidFill>
                          <a:latin typeface="Calibri"/>
                          <a:cs typeface="Calibri"/>
                        </a:rPr>
                        <a:t> </a:t>
                      </a:r>
                      <a:r>
                        <a:rPr dirty="0" sz="1800">
                          <a:solidFill>
                            <a:srgbClr val="4E3629"/>
                          </a:solidFill>
                          <a:latin typeface="Calibri"/>
                          <a:cs typeface="Calibri"/>
                        </a:rPr>
                        <a:t>last</a:t>
                      </a:r>
                      <a:r>
                        <a:rPr dirty="0" sz="1800" spc="-30">
                          <a:solidFill>
                            <a:srgbClr val="4E3629"/>
                          </a:solidFill>
                          <a:latin typeface="Calibri"/>
                          <a:cs typeface="Calibri"/>
                        </a:rPr>
                        <a:t> </a:t>
                      </a:r>
                      <a:r>
                        <a:rPr dirty="0" sz="1800" spc="-20">
                          <a:solidFill>
                            <a:srgbClr val="4E3629"/>
                          </a:solidFill>
                          <a:latin typeface="Calibri"/>
                          <a:cs typeface="Calibri"/>
                        </a:rPr>
                        <a:t>job"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job_history;</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04139" marR="325120">
                        <a:lnSpc>
                          <a:spcPct val="100099"/>
                        </a:lnSpc>
                        <a:spcBef>
                          <a:spcPts val="229"/>
                        </a:spcBef>
                      </a:pPr>
                      <a:r>
                        <a:rPr dirty="0" sz="2000">
                          <a:solidFill>
                            <a:srgbClr val="4E3629"/>
                          </a:solidFill>
                          <a:latin typeface="Calibri"/>
                          <a:cs typeface="Calibri"/>
                        </a:rPr>
                        <a:t>Busca</a:t>
                      </a:r>
                      <a:r>
                        <a:rPr dirty="0" sz="2000" spc="-50">
                          <a:solidFill>
                            <a:srgbClr val="4E3629"/>
                          </a:solidFill>
                          <a:latin typeface="Calibri"/>
                          <a:cs typeface="Calibri"/>
                        </a:rPr>
                        <a:t> </a:t>
                      </a:r>
                      <a:r>
                        <a:rPr dirty="0" sz="2000">
                          <a:solidFill>
                            <a:srgbClr val="4E3629"/>
                          </a:solidFill>
                          <a:latin typeface="Calibri"/>
                          <a:cs typeface="Calibri"/>
                        </a:rPr>
                        <a:t>el</a:t>
                      </a:r>
                      <a:r>
                        <a:rPr dirty="0" sz="2000" spc="-35">
                          <a:solidFill>
                            <a:srgbClr val="4E3629"/>
                          </a:solidFill>
                          <a:latin typeface="Calibri"/>
                          <a:cs typeface="Calibri"/>
                        </a:rPr>
                        <a:t> </a:t>
                      </a:r>
                      <a:r>
                        <a:rPr dirty="0" sz="2000">
                          <a:solidFill>
                            <a:srgbClr val="4E3629"/>
                          </a:solidFill>
                          <a:latin typeface="Calibri"/>
                          <a:cs typeface="Calibri"/>
                        </a:rPr>
                        <a:t>número</a:t>
                      </a:r>
                      <a:r>
                        <a:rPr dirty="0" sz="2000" spc="-35">
                          <a:solidFill>
                            <a:srgbClr val="4E3629"/>
                          </a:solidFill>
                          <a:latin typeface="Calibri"/>
                          <a:cs typeface="Calibri"/>
                        </a:rPr>
                        <a:t> </a:t>
                      </a:r>
                      <a:r>
                        <a:rPr dirty="0" sz="2000">
                          <a:solidFill>
                            <a:srgbClr val="4E3629"/>
                          </a:solidFill>
                          <a:latin typeface="Calibri"/>
                          <a:cs typeface="Calibri"/>
                        </a:rPr>
                        <a:t>de</a:t>
                      </a:r>
                      <a:r>
                        <a:rPr dirty="0" sz="2000" spc="-45">
                          <a:solidFill>
                            <a:srgbClr val="4E3629"/>
                          </a:solidFill>
                          <a:latin typeface="Calibri"/>
                          <a:cs typeface="Calibri"/>
                        </a:rPr>
                        <a:t> </a:t>
                      </a:r>
                      <a:r>
                        <a:rPr dirty="0" sz="2000" spc="-20">
                          <a:solidFill>
                            <a:srgbClr val="4E3629"/>
                          </a:solidFill>
                          <a:latin typeface="Calibri"/>
                          <a:cs typeface="Calibri"/>
                        </a:rPr>
                        <a:t>días </a:t>
                      </a:r>
                      <a:r>
                        <a:rPr dirty="0" sz="2000">
                          <a:solidFill>
                            <a:srgbClr val="4E3629"/>
                          </a:solidFill>
                          <a:latin typeface="Calibri"/>
                          <a:cs typeface="Calibri"/>
                        </a:rPr>
                        <a:t>que</a:t>
                      </a:r>
                      <a:r>
                        <a:rPr dirty="0" sz="2000" spc="-70">
                          <a:solidFill>
                            <a:srgbClr val="4E3629"/>
                          </a:solidFill>
                          <a:latin typeface="Calibri"/>
                          <a:cs typeface="Calibri"/>
                        </a:rPr>
                        <a:t> </a:t>
                      </a:r>
                      <a:r>
                        <a:rPr dirty="0" sz="2000">
                          <a:solidFill>
                            <a:srgbClr val="4E3629"/>
                          </a:solidFill>
                          <a:latin typeface="Calibri"/>
                          <a:cs typeface="Calibri"/>
                        </a:rPr>
                        <a:t>mantuvo</a:t>
                      </a:r>
                      <a:r>
                        <a:rPr dirty="0" sz="2000" spc="-55">
                          <a:solidFill>
                            <a:srgbClr val="4E3629"/>
                          </a:solidFill>
                          <a:latin typeface="Calibri"/>
                          <a:cs typeface="Calibri"/>
                        </a:rPr>
                        <a:t> </a:t>
                      </a:r>
                      <a:r>
                        <a:rPr dirty="0" sz="2000">
                          <a:solidFill>
                            <a:srgbClr val="4E3629"/>
                          </a:solidFill>
                          <a:latin typeface="Calibri"/>
                          <a:cs typeface="Calibri"/>
                        </a:rPr>
                        <a:t>trabajo</a:t>
                      </a:r>
                      <a:r>
                        <a:rPr dirty="0" sz="2000" spc="-75">
                          <a:solidFill>
                            <a:srgbClr val="4E3629"/>
                          </a:solidFill>
                          <a:latin typeface="Calibri"/>
                          <a:cs typeface="Calibri"/>
                        </a:rPr>
                        <a:t> </a:t>
                      </a:r>
                      <a:r>
                        <a:rPr dirty="0" sz="2000" spc="-25">
                          <a:solidFill>
                            <a:srgbClr val="4E3629"/>
                          </a:solidFill>
                          <a:latin typeface="Calibri"/>
                          <a:cs typeface="Calibri"/>
                        </a:rPr>
                        <a:t>un </a:t>
                      </a:r>
                      <a:r>
                        <a:rPr dirty="0" sz="2000">
                          <a:solidFill>
                            <a:srgbClr val="4E3629"/>
                          </a:solidFill>
                          <a:latin typeface="Calibri"/>
                          <a:cs typeface="Calibri"/>
                        </a:rPr>
                        <a:t>empleado</a:t>
                      </a:r>
                      <a:r>
                        <a:rPr dirty="0" sz="2000" spc="-50">
                          <a:solidFill>
                            <a:srgbClr val="4E3629"/>
                          </a:solidFill>
                          <a:latin typeface="Calibri"/>
                          <a:cs typeface="Calibri"/>
                        </a:rPr>
                        <a:t> y,</a:t>
                      </a:r>
                      <a:r>
                        <a:rPr dirty="0" sz="2000" spc="-60">
                          <a:solidFill>
                            <a:srgbClr val="4E3629"/>
                          </a:solidFill>
                          <a:latin typeface="Calibri"/>
                          <a:cs typeface="Calibri"/>
                        </a:rPr>
                        <a:t> </a:t>
                      </a:r>
                      <a:r>
                        <a:rPr dirty="0" sz="2000" spc="-50">
                          <a:solidFill>
                            <a:srgbClr val="4E3629"/>
                          </a:solidFill>
                          <a:latin typeface="Calibri"/>
                          <a:cs typeface="Calibri"/>
                        </a:rPr>
                        <a:t>a </a:t>
                      </a:r>
                      <a:r>
                        <a:rPr dirty="0" sz="2000" spc="-10">
                          <a:solidFill>
                            <a:srgbClr val="4E3629"/>
                          </a:solidFill>
                          <a:latin typeface="Calibri"/>
                          <a:cs typeface="Calibri"/>
                        </a:rPr>
                        <a:t>continuación,</a:t>
                      </a:r>
                      <a:r>
                        <a:rPr dirty="0" sz="2000" spc="-20">
                          <a:solidFill>
                            <a:srgbClr val="4E3629"/>
                          </a:solidFill>
                          <a:latin typeface="Calibri"/>
                          <a:cs typeface="Calibri"/>
                        </a:rPr>
                        <a:t> </a:t>
                      </a:r>
                      <a:r>
                        <a:rPr dirty="0" sz="2000">
                          <a:solidFill>
                            <a:srgbClr val="4E3629"/>
                          </a:solidFill>
                          <a:latin typeface="Calibri"/>
                          <a:cs typeface="Calibri"/>
                        </a:rPr>
                        <a:t>lo</a:t>
                      </a:r>
                      <a:r>
                        <a:rPr dirty="0" sz="2000" spc="10">
                          <a:solidFill>
                            <a:srgbClr val="4E3629"/>
                          </a:solidFill>
                          <a:latin typeface="Calibri"/>
                          <a:cs typeface="Calibri"/>
                        </a:rPr>
                        <a:t> </a:t>
                      </a:r>
                      <a:r>
                        <a:rPr dirty="0" sz="2000" spc="-10">
                          <a:solidFill>
                            <a:srgbClr val="4E3629"/>
                          </a:solidFill>
                          <a:latin typeface="Calibri"/>
                          <a:cs typeface="Calibri"/>
                        </a:rPr>
                        <a:t>divide </a:t>
                      </a:r>
                      <a:r>
                        <a:rPr dirty="0" sz="2000">
                          <a:solidFill>
                            <a:srgbClr val="4E3629"/>
                          </a:solidFill>
                          <a:latin typeface="Calibri"/>
                          <a:cs typeface="Calibri"/>
                        </a:rPr>
                        <a:t>entre</a:t>
                      </a:r>
                      <a:r>
                        <a:rPr dirty="0" sz="2000" spc="-55">
                          <a:solidFill>
                            <a:srgbClr val="4E3629"/>
                          </a:solidFill>
                          <a:latin typeface="Calibri"/>
                          <a:cs typeface="Calibri"/>
                        </a:rPr>
                        <a:t> </a:t>
                      </a:r>
                      <a:r>
                        <a:rPr dirty="0" sz="2000">
                          <a:solidFill>
                            <a:srgbClr val="4E3629"/>
                          </a:solidFill>
                          <a:latin typeface="Calibri"/>
                          <a:cs typeface="Calibri"/>
                        </a:rPr>
                        <a:t>365</a:t>
                      </a:r>
                      <a:r>
                        <a:rPr dirty="0" sz="2000" spc="-70">
                          <a:solidFill>
                            <a:srgbClr val="4E3629"/>
                          </a:solidFill>
                          <a:latin typeface="Calibri"/>
                          <a:cs typeface="Calibri"/>
                        </a:rPr>
                        <a:t> </a:t>
                      </a:r>
                      <a:r>
                        <a:rPr dirty="0" sz="2000">
                          <a:solidFill>
                            <a:srgbClr val="4E3629"/>
                          </a:solidFill>
                          <a:latin typeface="Calibri"/>
                          <a:cs typeface="Calibri"/>
                        </a:rPr>
                        <a:t>para</a:t>
                      </a:r>
                      <a:r>
                        <a:rPr dirty="0" sz="2000" spc="-60">
                          <a:solidFill>
                            <a:srgbClr val="4E3629"/>
                          </a:solidFill>
                          <a:latin typeface="Calibri"/>
                          <a:cs typeface="Calibri"/>
                        </a:rPr>
                        <a:t> </a:t>
                      </a:r>
                      <a:r>
                        <a:rPr dirty="0" sz="2000" spc="-10">
                          <a:solidFill>
                            <a:srgbClr val="4E3629"/>
                          </a:solidFill>
                          <a:latin typeface="Calibri"/>
                          <a:cs typeface="Calibri"/>
                        </a:rPr>
                        <a:t>mostrarlo </a:t>
                      </a:r>
                      <a:r>
                        <a:rPr dirty="0" sz="2000">
                          <a:solidFill>
                            <a:srgbClr val="4E3629"/>
                          </a:solidFill>
                          <a:latin typeface="Calibri"/>
                          <a:cs typeface="Calibri"/>
                        </a:rPr>
                        <a:t>en</a:t>
                      </a:r>
                      <a:r>
                        <a:rPr dirty="0" sz="2000" spc="-20">
                          <a:solidFill>
                            <a:srgbClr val="4E3629"/>
                          </a:solidFill>
                          <a:latin typeface="Calibri"/>
                          <a:cs typeface="Calibri"/>
                        </a:rPr>
                        <a:t> años</a:t>
                      </a:r>
                      <a:endParaRPr sz="2000">
                        <a:latin typeface="Calibri"/>
                        <a:cs typeface="Calibri"/>
                      </a:endParaRPr>
                    </a:p>
                  </a:txBody>
                  <a:tcPr marL="0" marR="0" marB="0" marT="2920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p:cNvSpPr/>
          <p:nvPr/>
        </p:nvSpPr>
        <p:spPr>
          <a:xfrm>
            <a:off x="2144961" y="4620113"/>
            <a:ext cx="1225550" cy="217170"/>
          </a:xfrm>
          <a:custGeom>
            <a:avLst/>
            <a:gdLst/>
            <a:ahLst/>
            <a:cxnLst/>
            <a:rect l="l" t="t" r="r" b="b"/>
            <a:pathLst>
              <a:path w="1225550" h="217170">
                <a:moveTo>
                  <a:pt x="1171093" y="0"/>
                </a:moveTo>
                <a:lnTo>
                  <a:pt x="54240" y="0"/>
                </a:lnTo>
                <a:lnTo>
                  <a:pt x="34323" y="9322"/>
                </a:lnTo>
                <a:lnTo>
                  <a:pt x="16950" y="33900"/>
                </a:lnTo>
                <a:lnTo>
                  <a:pt x="4661" y="68648"/>
                </a:lnTo>
                <a:lnTo>
                  <a:pt x="0" y="108480"/>
                </a:lnTo>
                <a:lnTo>
                  <a:pt x="4661" y="148313"/>
                </a:lnTo>
                <a:lnTo>
                  <a:pt x="16950" y="183061"/>
                </a:lnTo>
                <a:lnTo>
                  <a:pt x="34323" y="207639"/>
                </a:lnTo>
                <a:lnTo>
                  <a:pt x="54240" y="216961"/>
                </a:lnTo>
                <a:lnTo>
                  <a:pt x="1171093" y="216961"/>
                </a:lnTo>
                <a:lnTo>
                  <a:pt x="1191009" y="207639"/>
                </a:lnTo>
                <a:lnTo>
                  <a:pt x="1208383" y="183061"/>
                </a:lnTo>
                <a:lnTo>
                  <a:pt x="1220672" y="148313"/>
                </a:lnTo>
                <a:lnTo>
                  <a:pt x="1225333" y="108480"/>
                </a:lnTo>
                <a:lnTo>
                  <a:pt x="1220672" y="68648"/>
                </a:lnTo>
                <a:lnTo>
                  <a:pt x="1208383" y="33900"/>
                </a:lnTo>
                <a:lnTo>
                  <a:pt x="1191009" y="9322"/>
                </a:lnTo>
                <a:lnTo>
                  <a:pt x="1171093" y="0"/>
                </a:lnTo>
                <a:close/>
              </a:path>
            </a:pathLst>
          </a:custGeom>
          <a:solidFill>
            <a:srgbClr val="7CC868">
              <a:alpha val="75000"/>
            </a:srgbClr>
          </a:solidFill>
        </p:spPr>
        <p:txBody>
          <a:bodyPr wrap="square" lIns="0" tIns="0" rIns="0" bIns="0" rtlCol="0"/>
          <a:lstStyle/>
          <a:p/>
        </p:txBody>
      </p:sp>
      <p:pic>
        <p:nvPicPr>
          <p:cNvPr id="4" name="object 4"/>
          <p:cNvPicPr/>
          <p:nvPr/>
        </p:nvPicPr>
        <p:blipFill>
          <a:blip r:embed="rId2" cstate="print"/>
          <a:stretch>
            <a:fillRect/>
          </a:stretch>
        </p:blipFill>
        <p:spPr>
          <a:xfrm>
            <a:off x="0" y="0"/>
            <a:ext cx="9144000" cy="254507"/>
          </a:xfrm>
          <a:prstGeom prst="rect">
            <a:avLst/>
          </a:prstGeom>
        </p:spPr>
      </p:pic>
      <p:pic>
        <p:nvPicPr>
          <p:cNvPr id="5" name="object 5"/>
          <p:cNvPicPr/>
          <p:nvPr/>
        </p:nvPicPr>
        <p:blipFill>
          <a:blip r:embed="rId3" cstate="print"/>
          <a:stretch>
            <a:fillRect/>
          </a:stretch>
        </p:blipFill>
        <p:spPr>
          <a:xfrm>
            <a:off x="405384" y="6178295"/>
            <a:ext cx="1258824" cy="420624"/>
          </a:xfrm>
          <a:prstGeom prst="rect">
            <a:avLst/>
          </a:prstGeom>
        </p:spPr>
      </p:pic>
      <p:sp>
        <p:nvSpPr>
          <p:cNvPr id="6" name="object 6"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Funciones</a:t>
            </a:r>
            <a:r>
              <a:rPr dirty="0" spc="-40"/>
              <a:t> </a:t>
            </a:r>
            <a:r>
              <a:rPr dirty="0"/>
              <a:t>de</a:t>
            </a:r>
            <a:r>
              <a:rPr dirty="0" spc="-75"/>
              <a:t> </a:t>
            </a:r>
            <a:r>
              <a:rPr dirty="0" spc="-20"/>
              <a:t>Fecha</a:t>
            </a:r>
          </a:p>
        </p:txBody>
      </p:sp>
      <p:sp>
        <p:nvSpPr>
          <p:cNvPr id="9" name="object 9"/>
          <p:cNvSpPr txBox="1"/>
          <p:nvPr/>
        </p:nvSpPr>
        <p:spPr>
          <a:xfrm>
            <a:off x="2855904" y="6510552"/>
            <a:ext cx="888365"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20">
                <a:solidFill>
                  <a:srgbClr val="4E3629"/>
                </a:solidFill>
                <a:latin typeface="Calibri"/>
                <a:cs typeface="Calibri"/>
              </a:rPr>
              <a:t> </a:t>
            </a:r>
            <a:r>
              <a:rPr dirty="0" sz="850">
                <a:solidFill>
                  <a:srgbClr val="4E3629"/>
                </a:solidFill>
                <a:latin typeface="Calibri"/>
                <a:cs typeface="Calibri"/>
              </a:rPr>
              <a:t>de</a:t>
            </a:r>
            <a:r>
              <a:rPr dirty="0" sz="850" spc="-35">
                <a:solidFill>
                  <a:srgbClr val="4E3629"/>
                </a:solidFill>
                <a:latin typeface="Calibri"/>
                <a:cs typeface="Calibri"/>
              </a:rPr>
              <a:t> </a:t>
            </a:r>
            <a:r>
              <a:rPr dirty="0" sz="850" spc="-10">
                <a:solidFill>
                  <a:srgbClr val="4E3629"/>
                </a:solidFill>
                <a:latin typeface="Calibri"/>
                <a:cs typeface="Calibri"/>
              </a:rPr>
              <a:t>Fecha</a:t>
            </a:r>
            <a:endParaRPr sz="850">
              <a:latin typeface="Calibri"/>
              <a:cs typeface="Calibri"/>
            </a:endParaRPr>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1" name="object 11"/>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9</a:t>
            </a:r>
            <a:endParaRPr sz="850">
              <a:latin typeface="Calibri"/>
              <a:cs typeface="Calibri"/>
            </a:endParaRPr>
          </a:p>
        </p:txBody>
      </p:sp>
      <p:graphicFrame>
        <p:nvGraphicFramePr>
          <p:cNvPr id="7" name="object 7"/>
          <p:cNvGraphicFramePr>
            <a:graphicFrameLocks noGrp="1"/>
          </p:cNvGraphicFramePr>
          <p:nvPr/>
        </p:nvGraphicFramePr>
        <p:xfrm>
          <a:off x="2047171" y="4221608"/>
          <a:ext cx="6649084" cy="2254250"/>
        </p:xfrm>
        <a:graphic>
          <a:graphicData uri="http://schemas.openxmlformats.org/drawingml/2006/table">
            <a:tbl>
              <a:tblPr firstRow="1" bandRow="1">
                <a:tableStyleId>{2D5ABB26-0587-4C30-8999-92F81FD0307C}</a:tableStyleId>
              </a:tblPr>
              <a:tblGrid>
                <a:gridCol w="2140585"/>
                <a:gridCol w="4420235"/>
              </a:tblGrid>
              <a:tr h="335280">
                <a:tc>
                  <a:txBody>
                    <a:bodyPr/>
                    <a:lstStyle/>
                    <a:p>
                      <a:pPr marL="90805">
                        <a:lnSpc>
                          <a:spcPct val="100000"/>
                        </a:lnSpc>
                        <a:spcBef>
                          <a:spcPts val="270"/>
                        </a:spcBef>
                      </a:pPr>
                      <a:r>
                        <a:rPr dirty="0" sz="1600" spc="-10">
                          <a:solidFill>
                            <a:srgbClr val="4E3629"/>
                          </a:solidFill>
                          <a:latin typeface="Calibri"/>
                          <a:cs typeface="Calibri"/>
                        </a:rPr>
                        <a:t>MONTHS_BETWEEN</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a:solidFill>
                            <a:srgbClr val="4E3629"/>
                          </a:solidFill>
                          <a:latin typeface="Calibri"/>
                          <a:cs typeface="Calibri"/>
                        </a:rPr>
                        <a:t>Número</a:t>
                      </a:r>
                      <a:r>
                        <a:rPr dirty="0" sz="1600" spc="-20">
                          <a:solidFill>
                            <a:srgbClr val="4E3629"/>
                          </a:solidFill>
                          <a:latin typeface="Calibri"/>
                          <a:cs typeface="Calibri"/>
                        </a:rPr>
                        <a:t> </a:t>
                      </a:r>
                      <a:r>
                        <a:rPr dirty="0" sz="1600">
                          <a:solidFill>
                            <a:srgbClr val="4E3629"/>
                          </a:solidFill>
                          <a:latin typeface="Calibri"/>
                          <a:cs typeface="Calibri"/>
                        </a:rPr>
                        <a:t>de</a:t>
                      </a:r>
                      <a:r>
                        <a:rPr dirty="0" sz="1600" spc="-45">
                          <a:solidFill>
                            <a:srgbClr val="4E3629"/>
                          </a:solidFill>
                          <a:latin typeface="Calibri"/>
                          <a:cs typeface="Calibri"/>
                        </a:rPr>
                        <a:t> </a:t>
                      </a:r>
                      <a:r>
                        <a:rPr dirty="0" sz="1600">
                          <a:solidFill>
                            <a:srgbClr val="4E3629"/>
                          </a:solidFill>
                          <a:latin typeface="Calibri"/>
                          <a:cs typeface="Calibri"/>
                        </a:rPr>
                        <a:t>meses</a:t>
                      </a:r>
                      <a:r>
                        <a:rPr dirty="0" sz="1600" spc="-30">
                          <a:solidFill>
                            <a:srgbClr val="4E3629"/>
                          </a:solidFill>
                          <a:latin typeface="Calibri"/>
                          <a:cs typeface="Calibri"/>
                        </a:rPr>
                        <a:t> </a:t>
                      </a:r>
                      <a:r>
                        <a:rPr dirty="0" sz="1600">
                          <a:solidFill>
                            <a:srgbClr val="4E3629"/>
                          </a:solidFill>
                          <a:latin typeface="Calibri"/>
                          <a:cs typeface="Calibri"/>
                        </a:rPr>
                        <a:t>entre</a:t>
                      </a:r>
                      <a:r>
                        <a:rPr dirty="0" sz="1600" spc="-25">
                          <a:solidFill>
                            <a:srgbClr val="4E3629"/>
                          </a:solidFill>
                          <a:latin typeface="Calibri"/>
                          <a:cs typeface="Calibri"/>
                        </a:rPr>
                        <a:t> </a:t>
                      </a:r>
                      <a:r>
                        <a:rPr dirty="0" sz="1600">
                          <a:solidFill>
                            <a:srgbClr val="4E3629"/>
                          </a:solidFill>
                          <a:latin typeface="Calibri"/>
                          <a:cs typeface="Calibri"/>
                        </a:rPr>
                        <a:t>dos</a:t>
                      </a:r>
                      <a:r>
                        <a:rPr dirty="0" sz="1600" spc="-50">
                          <a:solidFill>
                            <a:srgbClr val="4E3629"/>
                          </a:solidFill>
                          <a:latin typeface="Calibri"/>
                          <a:cs typeface="Calibri"/>
                        </a:rPr>
                        <a:t> </a:t>
                      </a:r>
                      <a:r>
                        <a:rPr dirty="0" sz="1600" spc="-10">
                          <a:solidFill>
                            <a:srgbClr val="4E3629"/>
                          </a:solidFill>
                          <a:latin typeface="Calibri"/>
                          <a:cs typeface="Calibri"/>
                        </a:rPr>
                        <a:t>fechas</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5280">
                <a:tc>
                  <a:txBody>
                    <a:bodyPr/>
                    <a:lstStyle/>
                    <a:p>
                      <a:pPr marL="90805">
                        <a:lnSpc>
                          <a:spcPct val="100000"/>
                        </a:lnSpc>
                        <a:spcBef>
                          <a:spcPts val="270"/>
                        </a:spcBef>
                      </a:pPr>
                      <a:r>
                        <a:rPr dirty="0" sz="1600" spc="-10">
                          <a:solidFill>
                            <a:srgbClr val="4E3629"/>
                          </a:solidFill>
                          <a:latin typeface="Calibri"/>
                          <a:cs typeface="Calibri"/>
                        </a:rPr>
                        <a:t>ADD_MONTHS</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a:solidFill>
                            <a:srgbClr val="4E3629"/>
                          </a:solidFill>
                          <a:latin typeface="Calibri"/>
                          <a:cs typeface="Calibri"/>
                        </a:rPr>
                        <a:t>Agregar</a:t>
                      </a:r>
                      <a:r>
                        <a:rPr dirty="0" sz="1600" spc="-25">
                          <a:solidFill>
                            <a:srgbClr val="4E3629"/>
                          </a:solidFill>
                          <a:latin typeface="Calibri"/>
                          <a:cs typeface="Calibri"/>
                        </a:rPr>
                        <a:t> </a:t>
                      </a:r>
                      <a:r>
                        <a:rPr dirty="0" sz="1600">
                          <a:solidFill>
                            <a:srgbClr val="4E3629"/>
                          </a:solidFill>
                          <a:latin typeface="Calibri"/>
                          <a:cs typeface="Calibri"/>
                        </a:rPr>
                        <a:t>meses</a:t>
                      </a:r>
                      <a:r>
                        <a:rPr dirty="0" sz="1600" spc="-5">
                          <a:solidFill>
                            <a:srgbClr val="4E3629"/>
                          </a:solidFill>
                          <a:latin typeface="Calibri"/>
                          <a:cs typeface="Calibri"/>
                        </a:rPr>
                        <a:t> </a:t>
                      </a:r>
                      <a:r>
                        <a:rPr dirty="0" sz="1600">
                          <a:solidFill>
                            <a:srgbClr val="4E3629"/>
                          </a:solidFill>
                          <a:latin typeface="Calibri"/>
                          <a:cs typeface="Calibri"/>
                        </a:rPr>
                        <a:t>de</a:t>
                      </a:r>
                      <a:r>
                        <a:rPr dirty="0" sz="1600" spc="-20">
                          <a:solidFill>
                            <a:srgbClr val="4E3629"/>
                          </a:solidFill>
                          <a:latin typeface="Calibri"/>
                          <a:cs typeface="Calibri"/>
                        </a:rPr>
                        <a:t> </a:t>
                      </a:r>
                      <a:r>
                        <a:rPr dirty="0" sz="1600">
                          <a:solidFill>
                            <a:srgbClr val="4E3629"/>
                          </a:solidFill>
                          <a:latin typeface="Calibri"/>
                          <a:cs typeface="Calibri"/>
                        </a:rPr>
                        <a:t>calendario</a:t>
                      </a:r>
                      <a:r>
                        <a:rPr dirty="0" sz="1600" spc="-45">
                          <a:solidFill>
                            <a:srgbClr val="4E3629"/>
                          </a:solidFill>
                          <a:latin typeface="Calibri"/>
                          <a:cs typeface="Calibri"/>
                        </a:rPr>
                        <a:t> </a:t>
                      </a:r>
                      <a:r>
                        <a:rPr dirty="0" sz="1600">
                          <a:solidFill>
                            <a:srgbClr val="4E3629"/>
                          </a:solidFill>
                          <a:latin typeface="Calibri"/>
                          <a:cs typeface="Calibri"/>
                        </a:rPr>
                        <a:t>a</a:t>
                      </a:r>
                      <a:r>
                        <a:rPr dirty="0" sz="1600" spc="-25">
                          <a:solidFill>
                            <a:srgbClr val="4E3629"/>
                          </a:solidFill>
                          <a:latin typeface="Calibri"/>
                          <a:cs typeface="Calibri"/>
                        </a:rPr>
                        <a:t> </a:t>
                      </a:r>
                      <a:r>
                        <a:rPr dirty="0" sz="1600" spc="-20">
                          <a:solidFill>
                            <a:srgbClr val="4E3629"/>
                          </a:solidFill>
                          <a:latin typeface="Calibri"/>
                          <a:cs typeface="Calibri"/>
                        </a:rPr>
                        <a:t>fecha</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578485">
                <a:tc>
                  <a:txBody>
                    <a:bodyPr/>
                    <a:lstStyle/>
                    <a:p>
                      <a:pPr marL="90805">
                        <a:lnSpc>
                          <a:spcPct val="100000"/>
                        </a:lnSpc>
                        <a:spcBef>
                          <a:spcPts val="270"/>
                        </a:spcBef>
                      </a:pPr>
                      <a:r>
                        <a:rPr dirty="0" sz="1600" spc="-10">
                          <a:solidFill>
                            <a:srgbClr val="4E3629"/>
                          </a:solidFill>
                          <a:latin typeface="Calibri"/>
                          <a:cs typeface="Calibri"/>
                        </a:rPr>
                        <a:t>NEXT_DAY</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marR="691515">
                        <a:lnSpc>
                          <a:spcPct val="100699"/>
                        </a:lnSpc>
                        <a:spcBef>
                          <a:spcPts val="245"/>
                        </a:spcBef>
                      </a:pPr>
                      <a:r>
                        <a:rPr dirty="0" sz="1600">
                          <a:solidFill>
                            <a:srgbClr val="4E3629"/>
                          </a:solidFill>
                          <a:latin typeface="Calibri"/>
                          <a:cs typeface="Calibri"/>
                        </a:rPr>
                        <a:t>Fecha</a:t>
                      </a:r>
                      <a:r>
                        <a:rPr dirty="0" sz="1600" spc="-10">
                          <a:solidFill>
                            <a:srgbClr val="4E3629"/>
                          </a:solidFill>
                          <a:latin typeface="Calibri"/>
                          <a:cs typeface="Calibri"/>
                        </a:rPr>
                        <a:t> </a:t>
                      </a:r>
                      <a:r>
                        <a:rPr dirty="0" sz="1600">
                          <a:solidFill>
                            <a:srgbClr val="4E3629"/>
                          </a:solidFill>
                          <a:latin typeface="Calibri"/>
                          <a:cs typeface="Calibri"/>
                        </a:rPr>
                        <a:t>de</a:t>
                      </a:r>
                      <a:r>
                        <a:rPr dirty="0" sz="1600" spc="-10">
                          <a:solidFill>
                            <a:srgbClr val="4E3629"/>
                          </a:solidFill>
                          <a:latin typeface="Calibri"/>
                          <a:cs typeface="Calibri"/>
                        </a:rPr>
                        <a:t> </a:t>
                      </a:r>
                      <a:r>
                        <a:rPr dirty="0" sz="1600">
                          <a:solidFill>
                            <a:srgbClr val="4E3629"/>
                          </a:solidFill>
                          <a:latin typeface="Calibri"/>
                          <a:cs typeface="Calibri"/>
                        </a:rPr>
                        <a:t>la</a:t>
                      </a:r>
                      <a:r>
                        <a:rPr dirty="0" sz="1600" spc="-30">
                          <a:solidFill>
                            <a:srgbClr val="4E3629"/>
                          </a:solidFill>
                          <a:latin typeface="Calibri"/>
                          <a:cs typeface="Calibri"/>
                        </a:rPr>
                        <a:t> </a:t>
                      </a:r>
                      <a:r>
                        <a:rPr dirty="0" sz="1600">
                          <a:solidFill>
                            <a:srgbClr val="4E3629"/>
                          </a:solidFill>
                          <a:latin typeface="Calibri"/>
                          <a:cs typeface="Calibri"/>
                        </a:rPr>
                        <a:t>siguiente</a:t>
                      </a:r>
                      <a:r>
                        <a:rPr dirty="0" sz="1600" spc="-45">
                          <a:solidFill>
                            <a:srgbClr val="4E3629"/>
                          </a:solidFill>
                          <a:latin typeface="Calibri"/>
                          <a:cs typeface="Calibri"/>
                        </a:rPr>
                        <a:t> </a:t>
                      </a:r>
                      <a:r>
                        <a:rPr dirty="0" sz="1600">
                          <a:solidFill>
                            <a:srgbClr val="4E3629"/>
                          </a:solidFill>
                          <a:latin typeface="Calibri"/>
                          <a:cs typeface="Calibri"/>
                        </a:rPr>
                        <a:t>incidencia</a:t>
                      </a:r>
                      <a:r>
                        <a:rPr dirty="0" sz="1600" spc="-40">
                          <a:solidFill>
                            <a:srgbClr val="4E3629"/>
                          </a:solidFill>
                          <a:latin typeface="Calibri"/>
                          <a:cs typeface="Calibri"/>
                        </a:rPr>
                        <a:t> </a:t>
                      </a:r>
                      <a:r>
                        <a:rPr dirty="0" sz="1600">
                          <a:solidFill>
                            <a:srgbClr val="4E3629"/>
                          </a:solidFill>
                          <a:latin typeface="Calibri"/>
                          <a:cs typeface="Calibri"/>
                        </a:rPr>
                        <a:t>del</a:t>
                      </a:r>
                      <a:r>
                        <a:rPr dirty="0" sz="1600" spc="-15">
                          <a:solidFill>
                            <a:srgbClr val="4E3629"/>
                          </a:solidFill>
                          <a:latin typeface="Calibri"/>
                          <a:cs typeface="Calibri"/>
                        </a:rPr>
                        <a:t> </a:t>
                      </a:r>
                      <a:r>
                        <a:rPr dirty="0" sz="1600">
                          <a:solidFill>
                            <a:srgbClr val="4E3629"/>
                          </a:solidFill>
                          <a:latin typeface="Calibri"/>
                          <a:cs typeface="Calibri"/>
                        </a:rPr>
                        <a:t>día</a:t>
                      </a:r>
                      <a:r>
                        <a:rPr dirty="0" sz="1600" spc="-40">
                          <a:solidFill>
                            <a:srgbClr val="4E3629"/>
                          </a:solidFill>
                          <a:latin typeface="Calibri"/>
                          <a:cs typeface="Calibri"/>
                        </a:rPr>
                        <a:t> </a:t>
                      </a:r>
                      <a:r>
                        <a:rPr dirty="0" sz="1600">
                          <a:solidFill>
                            <a:srgbClr val="4E3629"/>
                          </a:solidFill>
                          <a:latin typeface="Calibri"/>
                          <a:cs typeface="Calibri"/>
                        </a:rPr>
                        <a:t>de</a:t>
                      </a:r>
                      <a:r>
                        <a:rPr dirty="0" sz="1600" spc="-10">
                          <a:solidFill>
                            <a:srgbClr val="4E3629"/>
                          </a:solidFill>
                          <a:latin typeface="Calibri"/>
                          <a:cs typeface="Calibri"/>
                        </a:rPr>
                        <a:t> </a:t>
                      </a:r>
                      <a:r>
                        <a:rPr dirty="0" sz="1600" spc="-25">
                          <a:solidFill>
                            <a:srgbClr val="4E3629"/>
                          </a:solidFill>
                          <a:latin typeface="Calibri"/>
                          <a:cs typeface="Calibri"/>
                        </a:rPr>
                        <a:t>la </a:t>
                      </a:r>
                      <a:r>
                        <a:rPr dirty="0" sz="1600">
                          <a:solidFill>
                            <a:srgbClr val="4E3629"/>
                          </a:solidFill>
                          <a:latin typeface="Calibri"/>
                          <a:cs typeface="Calibri"/>
                        </a:rPr>
                        <a:t>semana</a:t>
                      </a:r>
                      <a:r>
                        <a:rPr dirty="0" sz="1600" spc="-40">
                          <a:solidFill>
                            <a:srgbClr val="4E3629"/>
                          </a:solidFill>
                          <a:latin typeface="Calibri"/>
                          <a:cs typeface="Calibri"/>
                        </a:rPr>
                        <a:t> </a:t>
                      </a:r>
                      <a:r>
                        <a:rPr dirty="0" sz="1600" spc="-10">
                          <a:solidFill>
                            <a:srgbClr val="4E3629"/>
                          </a:solidFill>
                          <a:latin typeface="Calibri"/>
                          <a:cs typeface="Calibri"/>
                        </a:rPr>
                        <a:t>especificado</a:t>
                      </a:r>
                      <a:endParaRPr sz="1600">
                        <a:latin typeface="Calibri"/>
                        <a:cs typeface="Calibri"/>
                      </a:endParaRPr>
                    </a:p>
                  </a:txBody>
                  <a:tcPr marL="0" marR="0" marB="0" marT="3111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4645">
                <a:tc>
                  <a:txBody>
                    <a:bodyPr/>
                    <a:lstStyle/>
                    <a:p>
                      <a:pPr marL="90805">
                        <a:lnSpc>
                          <a:spcPct val="100000"/>
                        </a:lnSpc>
                        <a:spcBef>
                          <a:spcPts val="270"/>
                        </a:spcBef>
                      </a:pPr>
                      <a:r>
                        <a:rPr dirty="0" sz="1600" spc="-10">
                          <a:solidFill>
                            <a:srgbClr val="4E3629"/>
                          </a:solidFill>
                          <a:latin typeface="Calibri"/>
                          <a:cs typeface="Calibri"/>
                        </a:rPr>
                        <a:t>LAST_DAY</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a:solidFill>
                            <a:srgbClr val="4E3629"/>
                          </a:solidFill>
                          <a:latin typeface="Calibri"/>
                          <a:cs typeface="Calibri"/>
                        </a:rPr>
                        <a:t>Último</a:t>
                      </a:r>
                      <a:r>
                        <a:rPr dirty="0" sz="1600" spc="-15">
                          <a:solidFill>
                            <a:srgbClr val="4E3629"/>
                          </a:solidFill>
                          <a:latin typeface="Calibri"/>
                          <a:cs typeface="Calibri"/>
                        </a:rPr>
                        <a:t> </a:t>
                      </a:r>
                      <a:r>
                        <a:rPr dirty="0" sz="1600">
                          <a:solidFill>
                            <a:srgbClr val="4E3629"/>
                          </a:solidFill>
                          <a:latin typeface="Calibri"/>
                          <a:cs typeface="Calibri"/>
                        </a:rPr>
                        <a:t>día</a:t>
                      </a:r>
                      <a:r>
                        <a:rPr dirty="0" sz="1600" spc="-25">
                          <a:solidFill>
                            <a:srgbClr val="4E3629"/>
                          </a:solidFill>
                          <a:latin typeface="Calibri"/>
                          <a:cs typeface="Calibri"/>
                        </a:rPr>
                        <a:t> </a:t>
                      </a:r>
                      <a:r>
                        <a:rPr dirty="0" sz="1600">
                          <a:solidFill>
                            <a:srgbClr val="4E3629"/>
                          </a:solidFill>
                          <a:latin typeface="Calibri"/>
                          <a:cs typeface="Calibri"/>
                        </a:rPr>
                        <a:t>del</a:t>
                      </a:r>
                      <a:r>
                        <a:rPr dirty="0" sz="1600" spc="-10">
                          <a:solidFill>
                            <a:srgbClr val="4E3629"/>
                          </a:solidFill>
                          <a:latin typeface="Calibri"/>
                          <a:cs typeface="Calibri"/>
                        </a:rPr>
                        <a:t> </a:t>
                      </a:r>
                      <a:r>
                        <a:rPr dirty="0" sz="1600" spc="-25">
                          <a:solidFill>
                            <a:srgbClr val="4E3629"/>
                          </a:solidFill>
                          <a:latin typeface="Calibri"/>
                          <a:cs typeface="Calibri"/>
                        </a:rPr>
                        <a:t>mes</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5280">
                <a:tc>
                  <a:txBody>
                    <a:bodyPr/>
                    <a:lstStyle/>
                    <a:p>
                      <a:pPr marL="90805">
                        <a:lnSpc>
                          <a:spcPct val="100000"/>
                        </a:lnSpc>
                        <a:spcBef>
                          <a:spcPts val="270"/>
                        </a:spcBef>
                      </a:pPr>
                      <a:r>
                        <a:rPr dirty="0" sz="1600" spc="-10">
                          <a:solidFill>
                            <a:srgbClr val="4E3629"/>
                          </a:solidFill>
                          <a:latin typeface="Calibri"/>
                          <a:cs typeface="Calibri"/>
                        </a:rPr>
                        <a:t>ROUND</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a:solidFill>
                            <a:srgbClr val="4E3629"/>
                          </a:solidFill>
                          <a:latin typeface="Calibri"/>
                          <a:cs typeface="Calibri"/>
                        </a:rPr>
                        <a:t>Redondear</a:t>
                      </a:r>
                      <a:r>
                        <a:rPr dirty="0" sz="1600" spc="-60">
                          <a:solidFill>
                            <a:srgbClr val="4E3629"/>
                          </a:solidFill>
                          <a:latin typeface="Calibri"/>
                          <a:cs typeface="Calibri"/>
                        </a:rPr>
                        <a:t> </a:t>
                      </a:r>
                      <a:r>
                        <a:rPr dirty="0" sz="1600" spc="-20">
                          <a:solidFill>
                            <a:srgbClr val="4E3629"/>
                          </a:solidFill>
                          <a:latin typeface="Calibri"/>
                          <a:cs typeface="Calibri"/>
                        </a:rPr>
                        <a:t>fecha</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5280">
                <a:tc>
                  <a:txBody>
                    <a:bodyPr/>
                    <a:lstStyle/>
                    <a:p>
                      <a:pPr marL="90805">
                        <a:lnSpc>
                          <a:spcPct val="100000"/>
                        </a:lnSpc>
                        <a:spcBef>
                          <a:spcPts val="270"/>
                        </a:spcBef>
                      </a:pPr>
                      <a:r>
                        <a:rPr dirty="0" sz="1600" spc="-10">
                          <a:solidFill>
                            <a:srgbClr val="4E3629"/>
                          </a:solidFill>
                          <a:latin typeface="Calibri"/>
                          <a:cs typeface="Calibri"/>
                        </a:rPr>
                        <a:t>TRUNC</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a:solidFill>
                            <a:srgbClr val="4E3629"/>
                          </a:solidFill>
                          <a:latin typeface="Calibri"/>
                          <a:cs typeface="Calibri"/>
                        </a:rPr>
                        <a:t>Truncar</a:t>
                      </a:r>
                      <a:r>
                        <a:rPr dirty="0" sz="1600" spc="-80">
                          <a:solidFill>
                            <a:srgbClr val="4E3629"/>
                          </a:solidFill>
                          <a:latin typeface="Calibri"/>
                          <a:cs typeface="Calibri"/>
                        </a:rPr>
                        <a:t> </a:t>
                      </a:r>
                      <a:r>
                        <a:rPr dirty="0" sz="1600" spc="-20">
                          <a:solidFill>
                            <a:srgbClr val="4E3629"/>
                          </a:solidFill>
                          <a:latin typeface="Calibri"/>
                          <a:cs typeface="Calibri"/>
                        </a:rPr>
                        <a:t>fecha</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8" name="object 8"/>
          <p:cNvSpPr txBox="1"/>
          <p:nvPr/>
        </p:nvSpPr>
        <p:spPr>
          <a:xfrm>
            <a:off x="483552" y="1415417"/>
            <a:ext cx="8039734" cy="2760980"/>
          </a:xfrm>
          <a:prstGeom prst="rect">
            <a:avLst/>
          </a:prstGeom>
        </p:spPr>
        <p:txBody>
          <a:bodyPr wrap="square" lIns="0" tIns="59690" rIns="0" bIns="0" rtlCol="0" vert="horz">
            <a:spAutoFit/>
          </a:bodyPr>
          <a:lstStyle/>
          <a:p>
            <a:pPr marL="182880" marR="53213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55">
                <a:solidFill>
                  <a:srgbClr val="4E3629"/>
                </a:solidFill>
                <a:latin typeface="Calibri"/>
                <a:cs typeface="Calibri"/>
              </a:rPr>
              <a:t> </a:t>
            </a:r>
            <a:r>
              <a:rPr dirty="0" sz="2800">
                <a:solidFill>
                  <a:srgbClr val="4E3629"/>
                </a:solidFill>
                <a:latin typeface="Calibri"/>
                <a:cs typeface="Calibri"/>
              </a:rPr>
              <a:t>funciones</a:t>
            </a:r>
            <a:r>
              <a:rPr dirty="0" sz="2800" spc="-2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fecha</a:t>
            </a:r>
            <a:r>
              <a:rPr dirty="0" sz="2800" spc="-45">
                <a:solidFill>
                  <a:srgbClr val="4E3629"/>
                </a:solidFill>
                <a:latin typeface="Calibri"/>
                <a:cs typeface="Calibri"/>
              </a:rPr>
              <a:t> </a:t>
            </a:r>
            <a:r>
              <a:rPr dirty="0" sz="2800">
                <a:solidFill>
                  <a:srgbClr val="4E3629"/>
                </a:solidFill>
                <a:latin typeface="Calibri"/>
                <a:cs typeface="Calibri"/>
              </a:rPr>
              <a:t>que</a:t>
            </a:r>
            <a:r>
              <a:rPr dirty="0" sz="2800" spc="-2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spc="-10">
                <a:solidFill>
                  <a:srgbClr val="4E3629"/>
                </a:solidFill>
                <a:latin typeface="Calibri"/>
                <a:cs typeface="Calibri"/>
              </a:rPr>
              <a:t>muestran</a:t>
            </a:r>
            <a:r>
              <a:rPr dirty="0" sz="2800" spc="-2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funcionan</a:t>
            </a:r>
            <a:r>
              <a:rPr dirty="0" sz="2800" spc="-4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fechas</a:t>
            </a:r>
            <a:r>
              <a:rPr dirty="0" sz="2800" spc="-6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Oracle</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spc="-35">
                <a:solidFill>
                  <a:srgbClr val="4E3629"/>
                </a:solidFill>
                <a:latin typeface="Calibri"/>
                <a:cs typeface="Calibri"/>
              </a:rPr>
              <a:t>Todas</a:t>
            </a:r>
            <a:r>
              <a:rPr dirty="0" sz="2800" spc="-60">
                <a:solidFill>
                  <a:srgbClr val="4E3629"/>
                </a:solidFill>
                <a:latin typeface="Calibri"/>
                <a:cs typeface="Calibri"/>
              </a:rPr>
              <a:t> </a:t>
            </a:r>
            <a:r>
              <a:rPr dirty="0" sz="2800">
                <a:solidFill>
                  <a:srgbClr val="4E3629"/>
                </a:solidFill>
                <a:latin typeface="Calibri"/>
                <a:cs typeface="Calibri"/>
              </a:rPr>
              <a:t>las</a:t>
            </a:r>
            <a:r>
              <a:rPr dirty="0" sz="2800" spc="-75">
                <a:solidFill>
                  <a:srgbClr val="4E3629"/>
                </a:solidFill>
                <a:latin typeface="Calibri"/>
                <a:cs typeface="Calibri"/>
              </a:rPr>
              <a:t> </a:t>
            </a:r>
            <a:r>
              <a:rPr dirty="0" sz="2800">
                <a:solidFill>
                  <a:srgbClr val="4E3629"/>
                </a:solidFill>
                <a:latin typeface="Calibri"/>
                <a:cs typeface="Calibri"/>
              </a:rPr>
              <a:t>funciones</a:t>
            </a:r>
            <a:r>
              <a:rPr dirty="0" sz="2800" spc="-4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fecha</a:t>
            </a:r>
            <a:r>
              <a:rPr dirty="0" sz="2800" spc="-70">
                <a:solidFill>
                  <a:srgbClr val="4E3629"/>
                </a:solidFill>
                <a:latin typeface="Calibri"/>
                <a:cs typeface="Calibri"/>
              </a:rPr>
              <a:t> </a:t>
            </a:r>
            <a:r>
              <a:rPr dirty="0" sz="2800">
                <a:solidFill>
                  <a:srgbClr val="4E3629"/>
                </a:solidFill>
                <a:latin typeface="Calibri"/>
                <a:cs typeface="Calibri"/>
              </a:rPr>
              <a:t>devuelven</a:t>
            </a:r>
            <a:r>
              <a:rPr dirty="0" sz="2800" spc="-55">
                <a:solidFill>
                  <a:srgbClr val="4E3629"/>
                </a:solidFill>
                <a:latin typeface="Calibri"/>
                <a:cs typeface="Calibri"/>
              </a:rPr>
              <a:t> </a:t>
            </a:r>
            <a:r>
              <a:rPr dirty="0" sz="2800">
                <a:solidFill>
                  <a:srgbClr val="4E3629"/>
                </a:solidFill>
                <a:latin typeface="Calibri"/>
                <a:cs typeface="Calibri"/>
              </a:rPr>
              <a:t>un</a:t>
            </a:r>
            <a:r>
              <a:rPr dirty="0" sz="2800" spc="-50">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spc="-25">
                <a:solidFill>
                  <a:srgbClr val="4E3629"/>
                </a:solidFill>
                <a:latin typeface="Calibri"/>
                <a:cs typeface="Calibri"/>
              </a:rPr>
              <a:t>del </a:t>
            </a:r>
            <a:r>
              <a:rPr dirty="0" sz="2800" spc="-25">
                <a:solidFill>
                  <a:srgbClr val="4E3629"/>
                </a:solidFill>
                <a:latin typeface="Calibri"/>
                <a:cs typeface="Calibri"/>
              </a:rPr>
              <a:t>	</a:t>
            </a:r>
            <a:r>
              <a:rPr dirty="0" sz="2800">
                <a:solidFill>
                  <a:srgbClr val="4E3629"/>
                </a:solidFill>
                <a:latin typeface="Calibri"/>
                <a:cs typeface="Calibri"/>
              </a:rPr>
              <a:t>tipo</a:t>
            </a:r>
            <a:r>
              <a:rPr dirty="0" sz="2800" spc="-5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a:t>
            </a:r>
            <a:r>
              <a:rPr dirty="0" sz="2800" spc="-60">
                <a:solidFill>
                  <a:srgbClr val="4E3629"/>
                </a:solidFill>
                <a:latin typeface="Calibri"/>
                <a:cs typeface="Calibri"/>
              </a:rPr>
              <a:t> </a:t>
            </a:r>
            <a:r>
              <a:rPr dirty="0" sz="2800" spc="-50">
                <a:solidFill>
                  <a:srgbClr val="4E3629"/>
                </a:solidFill>
                <a:latin typeface="Calibri"/>
                <a:cs typeface="Calibri"/>
              </a:rPr>
              <a:t>DATE</a:t>
            </a:r>
            <a:r>
              <a:rPr dirty="0" sz="2800" spc="-55">
                <a:solidFill>
                  <a:srgbClr val="4E3629"/>
                </a:solidFill>
                <a:latin typeface="Calibri"/>
                <a:cs typeface="Calibri"/>
              </a:rPr>
              <a:t> </a:t>
            </a:r>
            <a:r>
              <a:rPr dirty="0" sz="2800" spc="-20">
                <a:solidFill>
                  <a:srgbClr val="4E3629"/>
                </a:solidFill>
                <a:latin typeface="Calibri"/>
                <a:cs typeface="Calibri"/>
              </a:rPr>
              <a:t>excepto</a:t>
            </a:r>
            <a:r>
              <a:rPr dirty="0" sz="2800" spc="-6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función </a:t>
            </a:r>
            <a:r>
              <a:rPr dirty="0" sz="2800" spc="-10">
                <a:solidFill>
                  <a:srgbClr val="4E3629"/>
                </a:solidFill>
                <a:latin typeface="Calibri"/>
                <a:cs typeface="Calibri"/>
              </a:rPr>
              <a:t>	</a:t>
            </a:r>
            <a:r>
              <a:rPr dirty="0" sz="2800">
                <a:solidFill>
                  <a:srgbClr val="4E3629"/>
                </a:solidFill>
                <a:latin typeface="Calibri"/>
                <a:cs typeface="Calibri"/>
              </a:rPr>
              <a:t>MONTHS_BETWEEN,</a:t>
            </a:r>
            <a:r>
              <a:rPr dirty="0" sz="2800" spc="-35">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a:solidFill>
                  <a:srgbClr val="4E3629"/>
                </a:solidFill>
                <a:latin typeface="Calibri"/>
                <a:cs typeface="Calibri"/>
              </a:rPr>
              <a:t>devuelve</a:t>
            </a:r>
            <a:r>
              <a:rPr dirty="0" sz="2800" spc="-65">
                <a:solidFill>
                  <a:srgbClr val="4E3629"/>
                </a:solidFill>
                <a:latin typeface="Calibri"/>
                <a:cs typeface="Calibri"/>
              </a:rPr>
              <a:t> </a:t>
            </a:r>
            <a:r>
              <a:rPr dirty="0" sz="2800">
                <a:solidFill>
                  <a:srgbClr val="4E3629"/>
                </a:solidFill>
                <a:latin typeface="Calibri"/>
                <a:cs typeface="Calibri"/>
              </a:rPr>
              <a:t>un</a:t>
            </a:r>
            <a:r>
              <a:rPr dirty="0" sz="2800" spc="-60">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tipo</a:t>
            </a:r>
            <a:r>
              <a:rPr dirty="0" sz="2800" spc="-6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dato</a:t>
            </a:r>
            <a:r>
              <a:rPr dirty="0" sz="2800" spc="-110">
                <a:solidFill>
                  <a:srgbClr val="4E3629"/>
                </a:solidFill>
                <a:latin typeface="Calibri"/>
                <a:cs typeface="Calibri"/>
              </a:rPr>
              <a:t> </a:t>
            </a:r>
            <a:r>
              <a:rPr dirty="0" sz="2800" spc="-10">
                <a:solidFill>
                  <a:srgbClr val="4E3629"/>
                </a:solidFill>
                <a:latin typeface="Calibri"/>
                <a:cs typeface="Calibri"/>
              </a:rPr>
              <a:t>numérico</a:t>
            </a:r>
            <a:endParaRPr sz="2800">
              <a:latin typeface="Calibri"/>
              <a:cs typeface="Calibri"/>
            </a:endParaRPr>
          </a:p>
          <a:p>
            <a:pPr marL="2312670">
              <a:lnSpc>
                <a:spcPct val="100000"/>
              </a:lnSpc>
              <a:spcBef>
                <a:spcPts val="30"/>
              </a:spcBef>
              <a:tabLst>
                <a:tab pos="5191760" algn="l"/>
              </a:tabLst>
            </a:pPr>
            <a:r>
              <a:rPr dirty="0" sz="1800" spc="-10" b="1">
                <a:solidFill>
                  <a:srgbClr val="4E3629"/>
                </a:solidFill>
                <a:latin typeface="Calibri"/>
                <a:cs typeface="Calibri"/>
              </a:rPr>
              <a:t>Función</a:t>
            </a:r>
            <a:r>
              <a:rPr dirty="0" sz="1800" b="1">
                <a:solidFill>
                  <a:srgbClr val="4E3629"/>
                </a:solidFill>
                <a:latin typeface="Calibri"/>
                <a:cs typeface="Calibri"/>
              </a:rPr>
              <a:t>	</a:t>
            </a:r>
            <a:r>
              <a:rPr dirty="0" sz="1800" spc="-10" b="1">
                <a:solidFill>
                  <a:srgbClr val="4E3629"/>
                </a:solidFill>
                <a:latin typeface="Calibri"/>
                <a:cs typeface="Calibri"/>
              </a:rPr>
              <a:t>Descripción</a:t>
            </a:r>
            <a:endParaRPr sz="18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Funciones</a:t>
            </a:r>
            <a:r>
              <a:rPr dirty="0" spc="-40"/>
              <a:t> </a:t>
            </a:r>
            <a:r>
              <a:rPr dirty="0"/>
              <a:t>de</a:t>
            </a:r>
            <a:r>
              <a:rPr dirty="0" spc="-75"/>
              <a:t> </a:t>
            </a:r>
            <a:r>
              <a:rPr dirty="0" spc="-20"/>
              <a:t>Fecha</a:t>
            </a:r>
          </a:p>
        </p:txBody>
      </p:sp>
      <p:sp>
        <p:nvSpPr>
          <p:cNvPr id="5" name="object 5"/>
          <p:cNvSpPr txBox="1"/>
          <p:nvPr/>
        </p:nvSpPr>
        <p:spPr>
          <a:xfrm>
            <a:off x="2855904" y="6510552"/>
            <a:ext cx="888365"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20">
                <a:solidFill>
                  <a:srgbClr val="4E3629"/>
                </a:solidFill>
                <a:latin typeface="Calibri"/>
                <a:cs typeface="Calibri"/>
              </a:rPr>
              <a:t> </a:t>
            </a:r>
            <a:r>
              <a:rPr dirty="0" sz="850">
                <a:solidFill>
                  <a:srgbClr val="4E3629"/>
                </a:solidFill>
                <a:latin typeface="Calibri"/>
                <a:cs typeface="Calibri"/>
              </a:rPr>
              <a:t>de</a:t>
            </a:r>
            <a:r>
              <a:rPr dirty="0" sz="850" spc="-35">
                <a:solidFill>
                  <a:srgbClr val="4E3629"/>
                </a:solidFill>
                <a:latin typeface="Calibri"/>
                <a:cs typeface="Calibri"/>
              </a:rPr>
              <a:t> </a:t>
            </a:r>
            <a:r>
              <a:rPr dirty="0" sz="850" spc="-10">
                <a:solidFill>
                  <a:srgbClr val="4E3629"/>
                </a:solidFill>
                <a:latin typeface="Calibri"/>
                <a:cs typeface="Calibri"/>
              </a:rPr>
              <a:t>Fecha</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10</a:t>
            </a:r>
            <a:endParaRPr sz="850">
              <a:latin typeface="Calibri"/>
              <a:cs typeface="Calibri"/>
            </a:endParaRPr>
          </a:p>
        </p:txBody>
      </p:sp>
      <p:sp>
        <p:nvSpPr>
          <p:cNvPr id="3" name="object 3"/>
          <p:cNvSpPr txBox="1"/>
          <p:nvPr/>
        </p:nvSpPr>
        <p:spPr>
          <a:xfrm>
            <a:off x="483552" y="1415417"/>
            <a:ext cx="8124190" cy="2474595"/>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MONTHS_BETWEEN:</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toma</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2</a:t>
            </a:r>
            <a:r>
              <a:rPr dirty="0" u="heavy" sz="2800" spc="-9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argumentos</a:t>
            </a:r>
            <a:r>
              <a:rPr dirty="0" u="heavy" sz="2800" spc="-65">
                <a:solidFill>
                  <a:srgbClr val="4E3629"/>
                </a:solidFill>
                <a:uFill>
                  <a:solidFill>
                    <a:srgbClr val="EC2814"/>
                  </a:solidFill>
                </a:uFill>
                <a:latin typeface="Calibri"/>
                <a:cs typeface="Calibri"/>
              </a:rPr>
              <a:t> </a:t>
            </a:r>
            <a:r>
              <a:rPr dirty="0" u="heavy" sz="2800" spc="-50">
                <a:solidFill>
                  <a:srgbClr val="4E3629"/>
                </a:solidFill>
                <a:uFill>
                  <a:solidFill>
                    <a:srgbClr val="EC2814"/>
                  </a:solidFill>
                </a:uFill>
                <a:latin typeface="Calibri"/>
                <a:cs typeface="Calibri"/>
              </a:rPr>
              <a:t>DATE</a:t>
            </a:r>
            <a:r>
              <a:rPr dirty="0" u="heavy" sz="2800" spc="-95">
                <a:solidFill>
                  <a:srgbClr val="4E3629"/>
                </a:solidFill>
                <a:uFill>
                  <a:solidFill>
                    <a:srgbClr val="EC2814"/>
                  </a:solidFill>
                </a:uFill>
                <a:latin typeface="Calibri"/>
                <a:cs typeface="Calibri"/>
              </a:rPr>
              <a:t> </a:t>
            </a:r>
            <a:r>
              <a:rPr dirty="0" u="heavy" sz="2800" spc="-50">
                <a:solidFill>
                  <a:srgbClr val="4E3629"/>
                </a:solidFill>
                <a:uFill>
                  <a:solidFill>
                    <a:srgbClr val="EC2814"/>
                  </a:solidFill>
                </a:uFill>
                <a:latin typeface="Calibri"/>
                <a:cs typeface="Calibri"/>
              </a:rPr>
              <a:t>y</a:t>
            </a:r>
            <a:r>
              <a:rPr dirty="0" sz="2800" spc="-50">
                <a:solidFill>
                  <a:srgbClr val="4E3629"/>
                </a:solidFill>
                <a:latin typeface="Calibri"/>
                <a:cs typeface="Calibri"/>
              </a:rPr>
              <a:t> </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devuelve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número</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meses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calendario</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entre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60">
                <a:solidFill>
                  <a:srgbClr val="4E3629"/>
                </a:solidFill>
                <a:uFill>
                  <a:solidFill>
                    <a:srgbClr val="EC2814"/>
                  </a:solidFill>
                </a:uFill>
                <a:latin typeface="Calibri"/>
                <a:cs typeface="Calibri"/>
              </a:rPr>
              <a:t> </a:t>
            </a:r>
            <a:r>
              <a:rPr dirty="0" u="heavy" sz="2800" spc="-50">
                <a:solidFill>
                  <a:srgbClr val="4E3629"/>
                </a:solidFill>
                <a:uFill>
                  <a:solidFill>
                    <a:srgbClr val="EC2814"/>
                  </a:solidFill>
                </a:uFill>
                <a:latin typeface="Calibri"/>
                <a:cs typeface="Calibri"/>
              </a:rPr>
              <a:t>2</a:t>
            </a:r>
            <a:r>
              <a:rPr dirty="0" sz="2800" spc="-50">
                <a:solidFill>
                  <a:srgbClr val="4E3629"/>
                </a:solidFill>
                <a:latin typeface="Calibri"/>
                <a:cs typeface="Calibri"/>
              </a:rPr>
              <a:t> </a:t>
            </a:r>
            <a:r>
              <a:rPr dirty="0" sz="2800" spc="-5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fechas</a:t>
            </a:r>
            <a:endParaRPr sz="2800">
              <a:latin typeface="Calibri"/>
              <a:cs typeface="Calibri"/>
            </a:endParaRPr>
          </a:p>
          <a:p>
            <a:pPr marL="182880" marR="909955"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primer</a:t>
            </a:r>
            <a:r>
              <a:rPr dirty="0" sz="2800" spc="-40">
                <a:solidFill>
                  <a:srgbClr val="4E3629"/>
                </a:solidFill>
                <a:latin typeface="Calibri"/>
                <a:cs typeface="Calibri"/>
              </a:rPr>
              <a:t> </a:t>
            </a:r>
            <a:r>
              <a:rPr dirty="0" sz="2800" spc="-10">
                <a:solidFill>
                  <a:srgbClr val="4E3629"/>
                </a:solidFill>
                <a:latin typeface="Calibri"/>
                <a:cs typeface="Calibri"/>
              </a:rPr>
              <a:t>argumento</a:t>
            </a:r>
            <a:r>
              <a:rPr dirty="0" sz="2800" spc="-45">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fecha</a:t>
            </a:r>
            <a:r>
              <a:rPr dirty="0" sz="2800" spc="-55">
                <a:solidFill>
                  <a:srgbClr val="4E3629"/>
                </a:solidFill>
                <a:latin typeface="Calibri"/>
                <a:cs typeface="Calibri"/>
              </a:rPr>
              <a:t> </a:t>
            </a:r>
            <a:r>
              <a:rPr dirty="0" sz="2800">
                <a:solidFill>
                  <a:srgbClr val="4E3629"/>
                </a:solidFill>
                <a:latin typeface="Calibri"/>
                <a:cs typeface="Calibri"/>
              </a:rPr>
              <a:t>anterior</a:t>
            </a:r>
            <a:r>
              <a:rPr dirty="0" sz="2800" spc="-60">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spc="-10">
                <a:solidFill>
                  <a:srgbClr val="4E3629"/>
                </a:solidFill>
                <a:latin typeface="Calibri"/>
                <a:cs typeface="Calibri"/>
              </a:rPr>
              <a:t>segunda,</a:t>
            </a:r>
            <a:endParaRPr sz="2800">
              <a:latin typeface="Calibri"/>
              <a:cs typeface="Calibri"/>
            </a:endParaRPr>
          </a:p>
          <a:p>
            <a:pPr marL="184785">
              <a:lnSpc>
                <a:spcPts val="2975"/>
              </a:lnSpc>
            </a:pP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número</a:t>
            </a:r>
            <a:r>
              <a:rPr dirty="0" sz="2800" spc="-50">
                <a:solidFill>
                  <a:srgbClr val="4E3629"/>
                </a:solidFill>
                <a:latin typeface="Calibri"/>
                <a:cs typeface="Calibri"/>
              </a:rPr>
              <a:t> </a:t>
            </a:r>
            <a:r>
              <a:rPr dirty="0" sz="2800">
                <a:solidFill>
                  <a:srgbClr val="4E3629"/>
                </a:solidFill>
                <a:latin typeface="Calibri"/>
                <a:cs typeface="Calibri"/>
              </a:rPr>
              <a:t>devuelto</a:t>
            </a:r>
            <a:r>
              <a:rPr dirty="0" sz="2800" spc="-50">
                <a:solidFill>
                  <a:srgbClr val="4E3629"/>
                </a:solidFill>
                <a:latin typeface="Calibri"/>
                <a:cs typeface="Calibri"/>
              </a:rPr>
              <a:t> </a:t>
            </a:r>
            <a:r>
              <a:rPr dirty="0" sz="2800">
                <a:solidFill>
                  <a:srgbClr val="4E3629"/>
                </a:solidFill>
                <a:latin typeface="Calibri"/>
                <a:cs typeface="Calibri"/>
              </a:rPr>
              <a:t>es</a:t>
            </a:r>
            <a:r>
              <a:rPr dirty="0" sz="2800" spc="-75">
                <a:solidFill>
                  <a:srgbClr val="4E3629"/>
                </a:solidFill>
                <a:latin typeface="Calibri"/>
                <a:cs typeface="Calibri"/>
              </a:rPr>
              <a:t> </a:t>
            </a:r>
            <a:r>
              <a:rPr dirty="0" sz="2800" spc="-10">
                <a:solidFill>
                  <a:srgbClr val="4E3629"/>
                </a:solidFill>
                <a:latin typeface="Calibri"/>
                <a:cs typeface="Calibri"/>
              </a:rPr>
              <a:t>negativo</a:t>
            </a:r>
            <a:endParaRPr sz="2800">
              <a:latin typeface="Calibri"/>
              <a:cs typeface="Calibri"/>
            </a:endParaRPr>
          </a:p>
        </p:txBody>
      </p:sp>
      <p:graphicFrame>
        <p:nvGraphicFramePr>
          <p:cNvPr id="4" name="object 4"/>
          <p:cNvGraphicFramePr>
            <a:graphicFrameLocks noGrp="1"/>
          </p:cNvGraphicFramePr>
          <p:nvPr/>
        </p:nvGraphicFramePr>
        <p:xfrm>
          <a:off x="998537" y="4013200"/>
          <a:ext cx="6707505" cy="1748789"/>
        </p:xfrm>
        <a:graphic>
          <a:graphicData uri="http://schemas.openxmlformats.org/drawingml/2006/table">
            <a:tbl>
              <a:tblPr firstRow="1" bandRow="1">
                <a:tableStyleId>{2D5ABB26-0587-4C30-8999-92F81FD0307C}</a:tableStyleId>
              </a:tblPr>
              <a:tblGrid>
                <a:gridCol w="3971290"/>
                <a:gridCol w="1143635"/>
                <a:gridCol w="1503045"/>
              </a:tblGrid>
              <a:tr h="395605">
                <a:tc>
                  <a:txBody>
                    <a:bodyPr/>
                    <a:lstStyle/>
                    <a:p>
                      <a:pPr marL="91440">
                        <a:lnSpc>
                          <a:spcPct val="100000"/>
                        </a:lnSpc>
                        <a:spcBef>
                          <a:spcPts val="240"/>
                        </a:spcBef>
                      </a:pPr>
                      <a:r>
                        <a:rPr dirty="0" sz="2000" b="1">
                          <a:solidFill>
                            <a:srgbClr val="4E3629"/>
                          </a:solidFill>
                          <a:latin typeface="Calibri"/>
                          <a:cs typeface="Calibri"/>
                        </a:rPr>
                        <a:t>Ejemplos</a:t>
                      </a:r>
                      <a:r>
                        <a:rPr dirty="0" sz="2000" spc="-35" b="1">
                          <a:solidFill>
                            <a:srgbClr val="4E3629"/>
                          </a:solidFill>
                          <a:latin typeface="Calibri"/>
                          <a:cs typeface="Calibri"/>
                        </a:rPr>
                        <a:t> </a:t>
                      </a:r>
                      <a:r>
                        <a:rPr dirty="0" sz="2000" b="1">
                          <a:solidFill>
                            <a:srgbClr val="4E3629"/>
                          </a:solidFill>
                          <a:latin typeface="Calibri"/>
                          <a:cs typeface="Calibri"/>
                        </a:rPr>
                        <a:t>de</a:t>
                      </a:r>
                      <a:r>
                        <a:rPr dirty="0" sz="2000" spc="-25" b="1">
                          <a:solidFill>
                            <a:srgbClr val="4E3629"/>
                          </a:solidFill>
                          <a:latin typeface="Calibri"/>
                          <a:cs typeface="Calibri"/>
                        </a:rPr>
                        <a:t> </a:t>
                      </a:r>
                      <a:r>
                        <a:rPr dirty="0" sz="2000" b="1">
                          <a:solidFill>
                            <a:srgbClr val="4E3629"/>
                          </a:solidFill>
                          <a:latin typeface="Calibri"/>
                          <a:cs typeface="Calibri"/>
                        </a:rPr>
                        <a:t>Función</a:t>
                      </a:r>
                      <a:r>
                        <a:rPr dirty="0" sz="2000" spc="-55" b="1">
                          <a:solidFill>
                            <a:srgbClr val="4E3629"/>
                          </a:solidFill>
                          <a:latin typeface="Calibri"/>
                          <a:cs typeface="Calibri"/>
                        </a:rPr>
                        <a:t> </a:t>
                      </a:r>
                      <a:r>
                        <a:rPr dirty="0" sz="2000" b="1">
                          <a:solidFill>
                            <a:srgbClr val="4E3629"/>
                          </a:solidFill>
                          <a:latin typeface="Calibri"/>
                          <a:cs typeface="Calibri"/>
                        </a:rPr>
                        <a:t>de</a:t>
                      </a:r>
                      <a:r>
                        <a:rPr dirty="0" sz="2000" spc="-15" b="1">
                          <a:solidFill>
                            <a:srgbClr val="4E3629"/>
                          </a:solidFill>
                          <a:latin typeface="Calibri"/>
                          <a:cs typeface="Calibri"/>
                        </a:rPr>
                        <a:t> </a:t>
                      </a:r>
                      <a:r>
                        <a:rPr dirty="0" sz="2000" spc="-10" b="1">
                          <a:solidFill>
                            <a:srgbClr val="4E3629"/>
                          </a:solidFill>
                          <a:latin typeface="Calibri"/>
                          <a:cs typeface="Calibri"/>
                        </a:rPr>
                        <a:t>Fecha:</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gridSpan="2">
                  <a:txBody>
                    <a:bodyPr/>
                    <a:lstStyle/>
                    <a:p>
                      <a:pPr marL="91440">
                        <a:lnSpc>
                          <a:spcPct val="100000"/>
                        </a:lnSpc>
                        <a:spcBef>
                          <a:spcPts val="240"/>
                        </a:spcBef>
                      </a:pPr>
                      <a:r>
                        <a:rPr dirty="0" sz="2000" spc="-10" b="1">
                          <a:solidFill>
                            <a:srgbClr val="4E3629"/>
                          </a:solidFill>
                          <a:latin typeface="Calibri"/>
                          <a:cs typeface="Calibri"/>
                        </a:rPr>
                        <a:t>Resultado</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hMerge="1">
                  <a:txBody>
                    <a:bodyPr/>
                    <a:lstStyle/>
                    <a:p>
                      <a:pPr/>
                    </a:p>
                  </a:txBody>
                  <a:tcPr marL="0" marR="0" marB="0" marT="0"/>
                </a:tc>
              </a:tr>
              <a:tr h="1353185">
                <a:tc>
                  <a:txBody>
                    <a:bodyPr/>
                    <a:lstStyle/>
                    <a:p>
                      <a:pPr marL="91440">
                        <a:lnSpc>
                          <a:spcPct val="100000"/>
                        </a:lnSpc>
                        <a:spcBef>
                          <a:spcPts val="240"/>
                        </a:spcBef>
                      </a:pPr>
                      <a:r>
                        <a:rPr dirty="0" sz="1800">
                          <a:solidFill>
                            <a:srgbClr val="4E3629"/>
                          </a:solidFill>
                          <a:latin typeface="Calibri"/>
                          <a:cs typeface="Calibri"/>
                        </a:rPr>
                        <a:t>SELECT</a:t>
                      </a:r>
                      <a:r>
                        <a:rPr dirty="0" sz="1800" spc="-65">
                          <a:solidFill>
                            <a:srgbClr val="4E3629"/>
                          </a:solidFill>
                          <a:latin typeface="Calibri"/>
                          <a:cs typeface="Calibri"/>
                        </a:rPr>
                        <a:t> </a:t>
                      </a:r>
                      <a:r>
                        <a:rPr dirty="0" sz="1800">
                          <a:solidFill>
                            <a:srgbClr val="4E3629"/>
                          </a:solidFill>
                          <a:latin typeface="Calibri"/>
                          <a:cs typeface="Calibri"/>
                        </a:rPr>
                        <a:t>last_name,</a:t>
                      </a:r>
                      <a:r>
                        <a:rPr dirty="0" sz="1800" spc="-75">
                          <a:solidFill>
                            <a:srgbClr val="4E3629"/>
                          </a:solidFill>
                          <a:latin typeface="Calibri"/>
                          <a:cs typeface="Calibri"/>
                        </a:rPr>
                        <a:t> </a:t>
                      </a:r>
                      <a:r>
                        <a:rPr dirty="0" sz="1800" spc="-10">
                          <a:solidFill>
                            <a:srgbClr val="4E3629"/>
                          </a:solidFill>
                          <a:latin typeface="Calibri"/>
                          <a:cs typeface="Calibri"/>
                        </a:rPr>
                        <a:t>hire_date</a:t>
                      </a:r>
                      <a:endParaRPr sz="1800">
                        <a:latin typeface="Calibri"/>
                        <a:cs typeface="Calibri"/>
                      </a:endParaRPr>
                    </a:p>
                    <a:p>
                      <a:pPr marL="91440">
                        <a:lnSpc>
                          <a:spcPct val="100000"/>
                        </a:lnSpc>
                        <a:spcBef>
                          <a:spcPts val="430"/>
                        </a:spcBef>
                      </a:pP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employees</a:t>
                      </a:r>
                      <a:endParaRPr sz="1800">
                        <a:latin typeface="Calibri"/>
                        <a:cs typeface="Calibri"/>
                      </a:endParaRPr>
                    </a:p>
                    <a:p>
                      <a:pPr marL="91440">
                        <a:lnSpc>
                          <a:spcPct val="100000"/>
                        </a:lnSpc>
                        <a:spcBef>
                          <a:spcPts val="430"/>
                        </a:spcBef>
                      </a:pPr>
                      <a:r>
                        <a:rPr dirty="0" sz="1800">
                          <a:solidFill>
                            <a:srgbClr val="4E3629"/>
                          </a:solidFill>
                          <a:latin typeface="Calibri"/>
                          <a:cs typeface="Calibri"/>
                        </a:rPr>
                        <a:t>WHERE</a:t>
                      </a:r>
                      <a:r>
                        <a:rPr dirty="0" sz="1800" spc="-15">
                          <a:solidFill>
                            <a:srgbClr val="4E3629"/>
                          </a:solidFill>
                          <a:latin typeface="Calibri"/>
                          <a:cs typeface="Calibri"/>
                        </a:rPr>
                        <a:t> </a:t>
                      </a:r>
                      <a:r>
                        <a:rPr dirty="0" sz="1800" spc="-10">
                          <a:solidFill>
                            <a:srgbClr val="4E3629"/>
                          </a:solidFill>
                          <a:latin typeface="Calibri"/>
                          <a:cs typeface="Calibri"/>
                        </a:rPr>
                        <a:t>MONTHS_BETWEEN</a:t>
                      </a:r>
                      <a:endParaRPr sz="1800">
                        <a:latin typeface="Calibri"/>
                        <a:cs typeface="Calibri"/>
                      </a:endParaRPr>
                    </a:p>
                    <a:p>
                      <a:pPr marL="142875">
                        <a:lnSpc>
                          <a:spcPct val="100000"/>
                        </a:lnSpc>
                        <a:spcBef>
                          <a:spcPts val="360"/>
                        </a:spcBef>
                      </a:pPr>
                      <a:r>
                        <a:rPr dirty="0" sz="1800" spc="-25">
                          <a:solidFill>
                            <a:srgbClr val="4E3629"/>
                          </a:solidFill>
                          <a:latin typeface="Calibri"/>
                          <a:cs typeface="Calibri"/>
                        </a:rPr>
                        <a:t>(SYSDATE, </a:t>
                      </a:r>
                      <a:r>
                        <a:rPr dirty="0" sz="1800" spc="-10">
                          <a:solidFill>
                            <a:srgbClr val="4E3629"/>
                          </a:solidFill>
                          <a:latin typeface="Calibri"/>
                          <a:cs typeface="Calibri"/>
                        </a:rPr>
                        <a:t>hire_date)&gt;240;</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1800" spc="-20">
                          <a:solidFill>
                            <a:srgbClr val="4E3629"/>
                          </a:solidFill>
                          <a:latin typeface="Calibri"/>
                          <a:cs typeface="Calibri"/>
                        </a:rPr>
                        <a:t>King</a:t>
                      </a:r>
                      <a:endParaRPr sz="1800">
                        <a:latin typeface="Calibri"/>
                        <a:cs typeface="Calibri"/>
                      </a:endParaRPr>
                    </a:p>
                    <a:p>
                      <a:pPr marL="91440" marR="254635">
                        <a:lnSpc>
                          <a:spcPct val="120000"/>
                        </a:lnSpc>
                      </a:pPr>
                      <a:r>
                        <a:rPr dirty="0" sz="1800" spc="-10">
                          <a:solidFill>
                            <a:srgbClr val="4E3629"/>
                          </a:solidFill>
                          <a:latin typeface="Calibri"/>
                          <a:cs typeface="Calibri"/>
                        </a:rPr>
                        <a:t>Kochhar </a:t>
                      </a:r>
                      <a:r>
                        <a:rPr dirty="0" sz="1800">
                          <a:solidFill>
                            <a:srgbClr val="4E3629"/>
                          </a:solidFill>
                          <a:latin typeface="Calibri"/>
                          <a:cs typeface="Calibri"/>
                        </a:rPr>
                        <a:t>De</a:t>
                      </a:r>
                      <a:r>
                        <a:rPr dirty="0" sz="1800" spc="-15">
                          <a:solidFill>
                            <a:srgbClr val="4E3629"/>
                          </a:solidFill>
                          <a:latin typeface="Calibri"/>
                          <a:cs typeface="Calibri"/>
                        </a:rPr>
                        <a:t> </a:t>
                      </a:r>
                      <a:r>
                        <a:rPr dirty="0" sz="1800" spc="-20">
                          <a:solidFill>
                            <a:srgbClr val="4E3629"/>
                          </a:solidFill>
                          <a:latin typeface="Calibri"/>
                          <a:cs typeface="Calibri"/>
                        </a:rPr>
                        <a:t>Haan</a:t>
                      </a:r>
                      <a:endParaRPr sz="1800">
                        <a:latin typeface="Calibri"/>
                        <a:cs typeface="Calibri"/>
                      </a:endParaRPr>
                    </a:p>
                    <a:p>
                      <a:pPr marL="91440">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1800" spc="-10">
                          <a:solidFill>
                            <a:srgbClr val="4E3629"/>
                          </a:solidFill>
                          <a:latin typeface="Calibri"/>
                          <a:cs typeface="Calibri"/>
                        </a:rPr>
                        <a:t>17-Jun-</a:t>
                      </a:r>
                      <a:r>
                        <a:rPr dirty="0" sz="1800" spc="-20">
                          <a:solidFill>
                            <a:srgbClr val="4E3629"/>
                          </a:solidFill>
                          <a:latin typeface="Calibri"/>
                          <a:cs typeface="Calibri"/>
                        </a:rPr>
                        <a:t>1987</a:t>
                      </a:r>
                      <a:endParaRPr sz="1800">
                        <a:latin typeface="Calibri"/>
                        <a:cs typeface="Calibri"/>
                      </a:endParaRPr>
                    </a:p>
                    <a:p>
                      <a:pPr marL="91440">
                        <a:lnSpc>
                          <a:spcPct val="100000"/>
                        </a:lnSpc>
                        <a:spcBef>
                          <a:spcPts val="430"/>
                        </a:spcBef>
                      </a:pPr>
                      <a:r>
                        <a:rPr dirty="0" sz="1800" spc="-10">
                          <a:solidFill>
                            <a:srgbClr val="4E3629"/>
                          </a:solidFill>
                          <a:latin typeface="Calibri"/>
                          <a:cs typeface="Calibri"/>
                        </a:rPr>
                        <a:t>21-Sep-</a:t>
                      </a:r>
                      <a:r>
                        <a:rPr dirty="0" sz="1800" spc="-20">
                          <a:solidFill>
                            <a:srgbClr val="4E3629"/>
                          </a:solidFill>
                          <a:latin typeface="Calibri"/>
                          <a:cs typeface="Calibri"/>
                        </a:rPr>
                        <a:t>1989</a:t>
                      </a:r>
                      <a:endParaRPr sz="1800">
                        <a:latin typeface="Calibri"/>
                        <a:cs typeface="Calibri"/>
                      </a:endParaRPr>
                    </a:p>
                    <a:p>
                      <a:pPr marL="91440">
                        <a:lnSpc>
                          <a:spcPct val="100000"/>
                        </a:lnSpc>
                        <a:spcBef>
                          <a:spcPts val="430"/>
                        </a:spcBef>
                      </a:pPr>
                      <a:r>
                        <a:rPr dirty="0" sz="1800" spc="-10">
                          <a:solidFill>
                            <a:srgbClr val="4E3629"/>
                          </a:solidFill>
                          <a:latin typeface="Calibri"/>
                          <a:cs typeface="Calibri"/>
                        </a:rPr>
                        <a:t>13-Jan-</a:t>
                      </a:r>
                      <a:r>
                        <a:rPr dirty="0" sz="1800" spc="-20">
                          <a:solidFill>
                            <a:srgbClr val="4E3629"/>
                          </a:solidFill>
                          <a:latin typeface="Calibri"/>
                          <a:cs typeface="Calibri"/>
                        </a:rPr>
                        <a:t>1993</a:t>
                      </a:r>
                      <a:endParaRPr sz="1800">
                        <a:latin typeface="Calibri"/>
                        <a:cs typeface="Calibri"/>
                      </a:endParaRPr>
                    </a:p>
                    <a:p>
                      <a:pPr marL="92075">
                        <a:lnSpc>
                          <a:spcPct val="100000"/>
                        </a:lnSpc>
                        <a:spcBef>
                          <a:spcPts val="459"/>
                        </a:spcBef>
                      </a:pPr>
                      <a:r>
                        <a:rPr dirty="0" sz="1800" spc="-50">
                          <a:solidFill>
                            <a:srgbClr val="4E3629"/>
                          </a:solidFill>
                          <a:latin typeface="Calibri"/>
                          <a:cs typeface="Calibri"/>
                        </a:rPr>
                        <a:t>…</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Funciones</a:t>
            </a:r>
            <a:r>
              <a:rPr dirty="0" spc="-40"/>
              <a:t> </a:t>
            </a:r>
            <a:r>
              <a:rPr dirty="0"/>
              <a:t>de</a:t>
            </a:r>
            <a:r>
              <a:rPr dirty="0" spc="-75"/>
              <a:t> </a:t>
            </a:r>
            <a:r>
              <a:rPr dirty="0" spc="-20"/>
              <a:t>Fecha</a:t>
            </a:r>
          </a:p>
        </p:txBody>
      </p:sp>
      <p:sp>
        <p:nvSpPr>
          <p:cNvPr id="5" name="object 5"/>
          <p:cNvSpPr txBox="1"/>
          <p:nvPr/>
        </p:nvSpPr>
        <p:spPr>
          <a:xfrm>
            <a:off x="2855904" y="6510552"/>
            <a:ext cx="888365"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20">
                <a:solidFill>
                  <a:srgbClr val="4E3629"/>
                </a:solidFill>
                <a:latin typeface="Calibri"/>
                <a:cs typeface="Calibri"/>
              </a:rPr>
              <a:t> </a:t>
            </a:r>
            <a:r>
              <a:rPr dirty="0" sz="850">
                <a:solidFill>
                  <a:srgbClr val="4E3629"/>
                </a:solidFill>
                <a:latin typeface="Calibri"/>
                <a:cs typeface="Calibri"/>
              </a:rPr>
              <a:t>de</a:t>
            </a:r>
            <a:r>
              <a:rPr dirty="0" sz="850" spc="-35">
                <a:solidFill>
                  <a:srgbClr val="4E3629"/>
                </a:solidFill>
                <a:latin typeface="Calibri"/>
                <a:cs typeface="Calibri"/>
              </a:rPr>
              <a:t> </a:t>
            </a:r>
            <a:r>
              <a:rPr dirty="0" sz="850" spc="-10">
                <a:solidFill>
                  <a:srgbClr val="4E3629"/>
                </a:solidFill>
                <a:latin typeface="Calibri"/>
                <a:cs typeface="Calibri"/>
              </a:rPr>
              <a:t>Fecha</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11</a:t>
            </a:r>
            <a:endParaRPr sz="850">
              <a:latin typeface="Calibri"/>
              <a:cs typeface="Calibri"/>
            </a:endParaRPr>
          </a:p>
        </p:txBody>
      </p:sp>
      <p:sp>
        <p:nvSpPr>
          <p:cNvPr id="3" name="object 3"/>
          <p:cNvSpPr txBox="1"/>
          <p:nvPr/>
        </p:nvSpPr>
        <p:spPr>
          <a:xfrm>
            <a:off x="483552" y="1415417"/>
            <a:ext cx="8180705" cy="209042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ADD_MONTHS:</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toma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2</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argumentos,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fecha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8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número.</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Devuelve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fecha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con</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argumento</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numérico</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agregado</a:t>
            </a:r>
            <a:r>
              <a:rPr dirty="0" u="heavy" sz="2800" spc="-9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al</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componente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mensual</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fecha</a:t>
            </a:r>
            <a:endParaRPr sz="2800">
              <a:latin typeface="Calibri"/>
              <a:cs typeface="Calibri"/>
            </a:endParaRPr>
          </a:p>
          <a:p>
            <a:pPr marL="182880" marR="245745"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Si</a:t>
            </a:r>
            <a:r>
              <a:rPr dirty="0" sz="2800" spc="-6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número</a:t>
            </a:r>
            <a:r>
              <a:rPr dirty="0" sz="2800" spc="-30">
                <a:solidFill>
                  <a:srgbClr val="4E3629"/>
                </a:solidFill>
                <a:latin typeface="Calibri"/>
                <a:cs typeface="Calibri"/>
              </a:rPr>
              <a:t> </a:t>
            </a:r>
            <a:r>
              <a:rPr dirty="0" sz="2800" spc="-10">
                <a:solidFill>
                  <a:srgbClr val="4E3629"/>
                </a:solidFill>
                <a:latin typeface="Calibri"/>
                <a:cs typeface="Calibri"/>
              </a:rPr>
              <a:t>proporcionado</a:t>
            </a:r>
            <a:r>
              <a:rPr dirty="0" sz="2800" spc="-30">
                <a:solidFill>
                  <a:srgbClr val="4E3629"/>
                </a:solidFill>
                <a:latin typeface="Calibri"/>
                <a:cs typeface="Calibri"/>
              </a:rPr>
              <a:t> </a:t>
            </a:r>
            <a:r>
              <a:rPr dirty="0" sz="2800">
                <a:solidFill>
                  <a:srgbClr val="4E3629"/>
                </a:solidFill>
                <a:latin typeface="Calibri"/>
                <a:cs typeface="Calibri"/>
              </a:rPr>
              <a:t>es</a:t>
            </a:r>
            <a:r>
              <a:rPr dirty="0" sz="2800" spc="-55">
                <a:solidFill>
                  <a:srgbClr val="4E3629"/>
                </a:solidFill>
                <a:latin typeface="Calibri"/>
                <a:cs typeface="Calibri"/>
              </a:rPr>
              <a:t> </a:t>
            </a:r>
            <a:r>
              <a:rPr dirty="0" sz="2800" spc="-10">
                <a:solidFill>
                  <a:srgbClr val="4E3629"/>
                </a:solidFill>
                <a:latin typeface="Calibri"/>
                <a:cs typeface="Calibri"/>
              </a:rPr>
              <a:t>negativo,</a:t>
            </a:r>
            <a:r>
              <a:rPr dirty="0" sz="2800" spc="-7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función </a:t>
            </a:r>
            <a:r>
              <a:rPr dirty="0" sz="2800" spc="-10">
                <a:solidFill>
                  <a:srgbClr val="4E3629"/>
                </a:solidFill>
                <a:latin typeface="Calibri"/>
                <a:cs typeface="Calibri"/>
              </a:rPr>
              <a:t>	</a:t>
            </a:r>
            <a:r>
              <a:rPr dirty="0" sz="2800" spc="-20">
                <a:solidFill>
                  <a:srgbClr val="4E3629"/>
                </a:solidFill>
                <a:latin typeface="Calibri"/>
                <a:cs typeface="Calibri"/>
              </a:rPr>
              <a:t>restará</a:t>
            </a:r>
            <a:r>
              <a:rPr dirty="0" sz="2800" spc="-50">
                <a:solidFill>
                  <a:srgbClr val="4E3629"/>
                </a:solidFill>
                <a:latin typeface="Calibri"/>
                <a:cs typeface="Calibri"/>
              </a:rPr>
              <a:t> </a:t>
            </a:r>
            <a:r>
              <a:rPr dirty="0" sz="2800">
                <a:solidFill>
                  <a:srgbClr val="4E3629"/>
                </a:solidFill>
                <a:latin typeface="Calibri"/>
                <a:cs typeface="Calibri"/>
              </a:rPr>
              <a:t>ese</a:t>
            </a:r>
            <a:r>
              <a:rPr dirty="0" sz="2800" spc="-70">
                <a:solidFill>
                  <a:srgbClr val="4E3629"/>
                </a:solidFill>
                <a:latin typeface="Calibri"/>
                <a:cs typeface="Calibri"/>
              </a:rPr>
              <a:t> </a:t>
            </a:r>
            <a:r>
              <a:rPr dirty="0" sz="2800">
                <a:solidFill>
                  <a:srgbClr val="4E3629"/>
                </a:solidFill>
                <a:latin typeface="Calibri"/>
                <a:cs typeface="Calibri"/>
              </a:rPr>
              <a:t>número</a:t>
            </a:r>
            <a:r>
              <a:rPr dirty="0" sz="2800" spc="-4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meses</a:t>
            </a:r>
            <a:r>
              <a:rPr dirty="0" sz="2800" spc="-60">
                <a:solidFill>
                  <a:srgbClr val="4E3629"/>
                </a:solidFill>
                <a:latin typeface="Calibri"/>
                <a:cs typeface="Calibri"/>
              </a:rPr>
              <a:t> </a:t>
            </a:r>
            <a:r>
              <a:rPr dirty="0" sz="2800">
                <a:solidFill>
                  <a:srgbClr val="4E3629"/>
                </a:solidFill>
                <a:latin typeface="Calibri"/>
                <a:cs typeface="Calibri"/>
              </a:rPr>
              <a:t>del</a:t>
            </a:r>
            <a:r>
              <a:rPr dirty="0" sz="2800" spc="-60">
                <a:solidFill>
                  <a:srgbClr val="4E3629"/>
                </a:solidFill>
                <a:latin typeface="Calibri"/>
                <a:cs typeface="Calibri"/>
              </a:rPr>
              <a:t> </a:t>
            </a:r>
            <a:r>
              <a:rPr dirty="0" sz="2800" spc="-10">
                <a:solidFill>
                  <a:srgbClr val="4E3629"/>
                </a:solidFill>
                <a:latin typeface="Calibri"/>
                <a:cs typeface="Calibri"/>
              </a:rPr>
              <a:t>argumento</a:t>
            </a:r>
            <a:r>
              <a:rPr dirty="0" sz="2800" spc="-7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fecha</a:t>
            </a:r>
            <a:endParaRPr sz="2800">
              <a:latin typeface="Calibri"/>
              <a:cs typeface="Calibri"/>
            </a:endParaRPr>
          </a:p>
        </p:txBody>
      </p:sp>
      <p:graphicFrame>
        <p:nvGraphicFramePr>
          <p:cNvPr id="4" name="object 4"/>
          <p:cNvGraphicFramePr>
            <a:graphicFrameLocks noGrp="1"/>
          </p:cNvGraphicFramePr>
          <p:nvPr/>
        </p:nvGraphicFramePr>
        <p:xfrm>
          <a:off x="1424781" y="3983445"/>
          <a:ext cx="6370955" cy="1419225"/>
        </p:xfrm>
        <a:graphic>
          <a:graphicData uri="http://schemas.openxmlformats.org/drawingml/2006/table">
            <a:tbl>
              <a:tblPr firstRow="1" bandRow="1">
                <a:tableStyleId>{2D5ABB26-0587-4C30-8999-92F81FD0307C}</a:tableStyleId>
              </a:tblPr>
              <a:tblGrid>
                <a:gridCol w="4692650"/>
                <a:gridCol w="1589404"/>
              </a:tblGrid>
              <a:tr h="395605">
                <a:tc>
                  <a:txBody>
                    <a:bodyPr/>
                    <a:lstStyle/>
                    <a:p>
                      <a:pPr marL="91440">
                        <a:lnSpc>
                          <a:spcPct val="100000"/>
                        </a:lnSpc>
                        <a:spcBef>
                          <a:spcPts val="240"/>
                        </a:spcBef>
                      </a:pPr>
                      <a:r>
                        <a:rPr dirty="0" sz="2000" b="1">
                          <a:solidFill>
                            <a:srgbClr val="4E3629"/>
                          </a:solidFill>
                          <a:latin typeface="Calibri"/>
                          <a:cs typeface="Calibri"/>
                        </a:rPr>
                        <a:t>Ejemplos</a:t>
                      </a:r>
                      <a:r>
                        <a:rPr dirty="0" sz="2000" spc="-35" b="1">
                          <a:solidFill>
                            <a:srgbClr val="4E3629"/>
                          </a:solidFill>
                          <a:latin typeface="Calibri"/>
                          <a:cs typeface="Calibri"/>
                        </a:rPr>
                        <a:t> </a:t>
                      </a:r>
                      <a:r>
                        <a:rPr dirty="0" sz="2000" b="1">
                          <a:solidFill>
                            <a:srgbClr val="4E3629"/>
                          </a:solidFill>
                          <a:latin typeface="Calibri"/>
                          <a:cs typeface="Calibri"/>
                        </a:rPr>
                        <a:t>de</a:t>
                      </a:r>
                      <a:r>
                        <a:rPr dirty="0" sz="2000" spc="-25" b="1">
                          <a:solidFill>
                            <a:srgbClr val="4E3629"/>
                          </a:solidFill>
                          <a:latin typeface="Calibri"/>
                          <a:cs typeface="Calibri"/>
                        </a:rPr>
                        <a:t> </a:t>
                      </a:r>
                      <a:r>
                        <a:rPr dirty="0" sz="2000" b="1">
                          <a:solidFill>
                            <a:srgbClr val="4E3629"/>
                          </a:solidFill>
                          <a:latin typeface="Calibri"/>
                          <a:cs typeface="Calibri"/>
                        </a:rPr>
                        <a:t>Función</a:t>
                      </a:r>
                      <a:r>
                        <a:rPr dirty="0" sz="2000" spc="-55" b="1">
                          <a:solidFill>
                            <a:srgbClr val="4E3629"/>
                          </a:solidFill>
                          <a:latin typeface="Calibri"/>
                          <a:cs typeface="Calibri"/>
                        </a:rPr>
                        <a:t> </a:t>
                      </a:r>
                      <a:r>
                        <a:rPr dirty="0" sz="2000" b="1">
                          <a:solidFill>
                            <a:srgbClr val="4E3629"/>
                          </a:solidFill>
                          <a:latin typeface="Calibri"/>
                          <a:cs typeface="Calibri"/>
                        </a:rPr>
                        <a:t>de</a:t>
                      </a:r>
                      <a:r>
                        <a:rPr dirty="0" sz="2000" spc="-15" b="1">
                          <a:solidFill>
                            <a:srgbClr val="4E3629"/>
                          </a:solidFill>
                          <a:latin typeface="Calibri"/>
                          <a:cs typeface="Calibri"/>
                        </a:rPr>
                        <a:t> </a:t>
                      </a:r>
                      <a:r>
                        <a:rPr dirty="0" sz="2000" spc="-10" b="1">
                          <a:solidFill>
                            <a:srgbClr val="4E3629"/>
                          </a:solidFill>
                          <a:latin typeface="Calibri"/>
                          <a:cs typeface="Calibri"/>
                        </a:rPr>
                        <a:t>Fecha:</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0805">
                        <a:lnSpc>
                          <a:spcPct val="100000"/>
                        </a:lnSpc>
                        <a:spcBef>
                          <a:spcPts val="240"/>
                        </a:spcBef>
                      </a:pPr>
                      <a:r>
                        <a:rPr dirty="0" sz="2000" spc="-10" b="1">
                          <a:solidFill>
                            <a:srgbClr val="4E3629"/>
                          </a:solidFill>
                          <a:latin typeface="Calibri"/>
                          <a:cs typeface="Calibri"/>
                        </a:rPr>
                        <a:t>Resultado</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23619">
                <a:tc>
                  <a:txBody>
                    <a:bodyPr/>
                    <a:lstStyle/>
                    <a:p>
                      <a:pPr marL="91440">
                        <a:lnSpc>
                          <a:spcPct val="100000"/>
                        </a:lnSpc>
                        <a:spcBef>
                          <a:spcPts val="240"/>
                        </a:spcBef>
                      </a:pPr>
                      <a:r>
                        <a:rPr dirty="0" sz="1800">
                          <a:solidFill>
                            <a:srgbClr val="4E3629"/>
                          </a:solidFill>
                          <a:latin typeface="Calibri"/>
                          <a:cs typeface="Calibri"/>
                        </a:rPr>
                        <a:t>SELECT</a:t>
                      </a:r>
                      <a:r>
                        <a:rPr dirty="0" sz="1800" spc="-50">
                          <a:solidFill>
                            <a:srgbClr val="4E3629"/>
                          </a:solidFill>
                          <a:latin typeface="Calibri"/>
                          <a:cs typeface="Calibri"/>
                        </a:rPr>
                        <a:t> </a:t>
                      </a:r>
                      <a:r>
                        <a:rPr dirty="0" sz="1800">
                          <a:solidFill>
                            <a:srgbClr val="4E3629"/>
                          </a:solidFill>
                          <a:latin typeface="Calibri"/>
                          <a:cs typeface="Calibri"/>
                        </a:rPr>
                        <a:t>ADD_MONTHS</a:t>
                      </a:r>
                      <a:r>
                        <a:rPr dirty="0" sz="1800" spc="-45">
                          <a:solidFill>
                            <a:srgbClr val="4E3629"/>
                          </a:solidFill>
                          <a:latin typeface="Calibri"/>
                          <a:cs typeface="Calibri"/>
                        </a:rPr>
                        <a:t> </a:t>
                      </a:r>
                      <a:r>
                        <a:rPr dirty="0" sz="1800" spc="-25">
                          <a:solidFill>
                            <a:srgbClr val="4E3629"/>
                          </a:solidFill>
                          <a:latin typeface="Calibri"/>
                          <a:cs typeface="Calibri"/>
                        </a:rPr>
                        <a:t>(SYSDATE,</a:t>
                      </a:r>
                      <a:r>
                        <a:rPr dirty="0" sz="1800" spc="-50">
                          <a:solidFill>
                            <a:srgbClr val="4E3629"/>
                          </a:solidFill>
                          <a:latin typeface="Calibri"/>
                          <a:cs typeface="Calibri"/>
                        </a:rPr>
                        <a:t> </a:t>
                      </a:r>
                      <a:r>
                        <a:rPr dirty="0" sz="1800" spc="-25">
                          <a:solidFill>
                            <a:srgbClr val="4E3629"/>
                          </a:solidFill>
                          <a:latin typeface="Calibri"/>
                          <a:cs typeface="Calibri"/>
                        </a:rPr>
                        <a:t>12)</a:t>
                      </a:r>
                      <a:endParaRPr sz="1800">
                        <a:latin typeface="Calibri"/>
                        <a:cs typeface="Calibri"/>
                      </a:endParaRPr>
                    </a:p>
                    <a:p>
                      <a:pPr marL="91440" marR="3131820" indent="104775">
                        <a:lnSpc>
                          <a:spcPct val="116700"/>
                        </a:lnSpc>
                        <a:spcBef>
                          <a:spcPts val="70"/>
                        </a:spcBef>
                      </a:pPr>
                      <a:r>
                        <a:rPr dirty="0" sz="1800">
                          <a:solidFill>
                            <a:srgbClr val="4E3629"/>
                          </a:solidFill>
                          <a:latin typeface="Calibri"/>
                          <a:cs typeface="Calibri"/>
                        </a:rPr>
                        <a:t>AS</a:t>
                      </a:r>
                      <a:r>
                        <a:rPr dirty="0" sz="1800" spc="-40">
                          <a:solidFill>
                            <a:srgbClr val="4E3629"/>
                          </a:solidFill>
                          <a:latin typeface="Calibri"/>
                          <a:cs typeface="Calibri"/>
                        </a:rPr>
                        <a:t> </a:t>
                      </a:r>
                      <a:r>
                        <a:rPr dirty="0" sz="1800">
                          <a:solidFill>
                            <a:srgbClr val="4E3629"/>
                          </a:solidFill>
                          <a:latin typeface="Calibri"/>
                          <a:cs typeface="Calibri"/>
                        </a:rPr>
                        <a:t>"Next</a:t>
                      </a:r>
                      <a:r>
                        <a:rPr dirty="0" sz="1800" spc="-25">
                          <a:solidFill>
                            <a:srgbClr val="4E3629"/>
                          </a:solidFill>
                          <a:latin typeface="Calibri"/>
                          <a:cs typeface="Calibri"/>
                        </a:rPr>
                        <a:t> </a:t>
                      </a:r>
                      <a:r>
                        <a:rPr dirty="0" sz="1800" spc="-35">
                          <a:solidFill>
                            <a:srgbClr val="4E3629"/>
                          </a:solidFill>
                          <a:latin typeface="Calibri"/>
                          <a:cs typeface="Calibri"/>
                        </a:rPr>
                        <a:t>Year"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dual;</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a:solidFill>
                            <a:srgbClr val="4E3629"/>
                          </a:solidFill>
                          <a:latin typeface="Calibri"/>
                          <a:cs typeface="Calibri"/>
                        </a:rPr>
                        <a:t>01-Jul-</a:t>
                      </a:r>
                      <a:r>
                        <a:rPr dirty="0" sz="1800" spc="-20">
                          <a:solidFill>
                            <a:srgbClr val="4E3629"/>
                          </a:solidFill>
                          <a:latin typeface="Calibri"/>
                          <a:cs typeface="Calibri"/>
                        </a:rPr>
                        <a:t>2016</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Funciones</a:t>
            </a:r>
            <a:r>
              <a:rPr dirty="0" spc="-40"/>
              <a:t> </a:t>
            </a:r>
            <a:r>
              <a:rPr dirty="0"/>
              <a:t>de</a:t>
            </a:r>
            <a:r>
              <a:rPr dirty="0" spc="-75"/>
              <a:t> </a:t>
            </a:r>
            <a:r>
              <a:rPr dirty="0" spc="-20"/>
              <a:t>Fecha</a:t>
            </a:r>
          </a:p>
        </p:txBody>
      </p:sp>
      <p:sp>
        <p:nvSpPr>
          <p:cNvPr id="5" name="object 5"/>
          <p:cNvSpPr txBox="1"/>
          <p:nvPr/>
        </p:nvSpPr>
        <p:spPr>
          <a:xfrm>
            <a:off x="2855904" y="6510552"/>
            <a:ext cx="888365"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20">
                <a:solidFill>
                  <a:srgbClr val="4E3629"/>
                </a:solidFill>
                <a:latin typeface="Calibri"/>
                <a:cs typeface="Calibri"/>
              </a:rPr>
              <a:t> </a:t>
            </a:r>
            <a:r>
              <a:rPr dirty="0" sz="850">
                <a:solidFill>
                  <a:srgbClr val="4E3629"/>
                </a:solidFill>
                <a:latin typeface="Calibri"/>
                <a:cs typeface="Calibri"/>
              </a:rPr>
              <a:t>de</a:t>
            </a:r>
            <a:r>
              <a:rPr dirty="0" sz="850" spc="-35">
                <a:solidFill>
                  <a:srgbClr val="4E3629"/>
                </a:solidFill>
                <a:latin typeface="Calibri"/>
                <a:cs typeface="Calibri"/>
              </a:rPr>
              <a:t> </a:t>
            </a:r>
            <a:r>
              <a:rPr dirty="0" sz="850" spc="-10">
                <a:solidFill>
                  <a:srgbClr val="4E3629"/>
                </a:solidFill>
                <a:latin typeface="Calibri"/>
                <a:cs typeface="Calibri"/>
              </a:rPr>
              <a:t>Fecha</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12</a:t>
            </a:r>
            <a:endParaRPr sz="850">
              <a:latin typeface="Calibri"/>
              <a:cs typeface="Calibri"/>
            </a:endParaRPr>
          </a:p>
        </p:txBody>
      </p:sp>
      <p:sp>
        <p:nvSpPr>
          <p:cNvPr id="3" name="object 3"/>
          <p:cNvSpPr txBox="1"/>
          <p:nvPr/>
        </p:nvSpPr>
        <p:spPr>
          <a:xfrm>
            <a:off x="483552" y="1415417"/>
            <a:ext cx="8171180" cy="1220470"/>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spc="-50">
                <a:solidFill>
                  <a:srgbClr val="4E3629"/>
                </a:solidFill>
                <a:uFill>
                  <a:solidFill>
                    <a:srgbClr val="EC2814"/>
                  </a:solidFill>
                </a:uFill>
                <a:latin typeface="Calibri"/>
                <a:cs typeface="Calibri"/>
              </a:rPr>
              <a:t>NEXT_DAY: </a:t>
            </a:r>
            <a:r>
              <a:rPr dirty="0" u="heavy" sz="2800">
                <a:solidFill>
                  <a:srgbClr val="4E3629"/>
                </a:solidFill>
                <a:uFill>
                  <a:solidFill>
                    <a:srgbClr val="EC2814"/>
                  </a:solidFill>
                </a:uFill>
                <a:latin typeface="Calibri"/>
                <a:cs typeface="Calibri"/>
              </a:rPr>
              <a:t>toma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2</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argumentos,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fecha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día</a:t>
            </a:r>
            <a:r>
              <a:rPr dirty="0" u="heavy" sz="2800" spc="-3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a:t>
            </a:r>
            <a:r>
              <a:rPr dirty="0" sz="2800" spc="700">
                <a:solidFill>
                  <a:srgbClr val="4E3629"/>
                </a:solidFill>
                <a:latin typeface="Calibri"/>
                <a:cs typeface="Calibri"/>
              </a:rPr>
              <a:t> </a:t>
            </a:r>
            <a:r>
              <a:rPr dirty="0" sz="2800" spc="700">
                <a:solidFill>
                  <a:srgbClr val="4E3629"/>
                </a:solidFill>
                <a:latin typeface="Calibri"/>
                <a:cs typeface="Calibri"/>
              </a:rPr>
              <a:t>	</a:t>
            </a:r>
            <a:r>
              <a:rPr dirty="0" u="heavy" sz="2800">
                <a:solidFill>
                  <a:srgbClr val="4E3629"/>
                </a:solidFill>
                <a:uFill>
                  <a:solidFill>
                    <a:srgbClr val="EC2814"/>
                  </a:solidFill>
                </a:uFill>
                <a:latin typeface="Calibri"/>
                <a:cs typeface="Calibri"/>
              </a:rPr>
              <a:t>la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semana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devuelve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fecha</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siguiente</a:t>
            </a:r>
            <a:r>
              <a:rPr dirty="0" u="heavy" sz="2800" spc="-3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incidencia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día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semana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después</a:t>
            </a:r>
            <a:r>
              <a:rPr dirty="0" u="heavy" sz="2800" spc="-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argumento</a:t>
            </a:r>
            <a:r>
              <a:rPr dirty="0" u="heavy" sz="2800" spc="-4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DATE</a:t>
            </a:r>
            <a:endParaRPr sz="2800">
              <a:latin typeface="Calibri"/>
              <a:cs typeface="Calibri"/>
            </a:endParaRPr>
          </a:p>
        </p:txBody>
      </p:sp>
      <p:graphicFrame>
        <p:nvGraphicFramePr>
          <p:cNvPr id="4" name="object 4"/>
          <p:cNvGraphicFramePr>
            <a:graphicFrameLocks noGrp="1"/>
          </p:cNvGraphicFramePr>
          <p:nvPr/>
        </p:nvGraphicFramePr>
        <p:xfrm>
          <a:off x="920080" y="3194050"/>
          <a:ext cx="7380605" cy="1419225"/>
        </p:xfrm>
        <a:graphic>
          <a:graphicData uri="http://schemas.openxmlformats.org/drawingml/2006/table">
            <a:tbl>
              <a:tblPr firstRow="1" bandRow="1">
                <a:tableStyleId>{2D5ABB26-0587-4C30-8999-92F81FD0307C}</a:tableStyleId>
              </a:tblPr>
              <a:tblGrid>
                <a:gridCol w="5269865"/>
                <a:gridCol w="2021205"/>
              </a:tblGrid>
              <a:tr h="395605">
                <a:tc>
                  <a:txBody>
                    <a:bodyPr/>
                    <a:lstStyle/>
                    <a:p>
                      <a:pPr marL="91440">
                        <a:lnSpc>
                          <a:spcPct val="100000"/>
                        </a:lnSpc>
                        <a:spcBef>
                          <a:spcPts val="240"/>
                        </a:spcBef>
                      </a:pPr>
                      <a:r>
                        <a:rPr dirty="0" sz="2000" b="1">
                          <a:solidFill>
                            <a:srgbClr val="4E3629"/>
                          </a:solidFill>
                          <a:latin typeface="Calibri"/>
                          <a:cs typeface="Calibri"/>
                        </a:rPr>
                        <a:t>Ejemplos</a:t>
                      </a:r>
                      <a:r>
                        <a:rPr dirty="0" sz="2000" spc="-35" b="1">
                          <a:solidFill>
                            <a:srgbClr val="4E3629"/>
                          </a:solidFill>
                          <a:latin typeface="Calibri"/>
                          <a:cs typeface="Calibri"/>
                        </a:rPr>
                        <a:t> </a:t>
                      </a:r>
                      <a:r>
                        <a:rPr dirty="0" sz="2000" b="1">
                          <a:solidFill>
                            <a:srgbClr val="4E3629"/>
                          </a:solidFill>
                          <a:latin typeface="Calibri"/>
                          <a:cs typeface="Calibri"/>
                        </a:rPr>
                        <a:t>de</a:t>
                      </a:r>
                      <a:r>
                        <a:rPr dirty="0" sz="2000" spc="-25" b="1">
                          <a:solidFill>
                            <a:srgbClr val="4E3629"/>
                          </a:solidFill>
                          <a:latin typeface="Calibri"/>
                          <a:cs typeface="Calibri"/>
                        </a:rPr>
                        <a:t> </a:t>
                      </a:r>
                      <a:r>
                        <a:rPr dirty="0" sz="2000" b="1">
                          <a:solidFill>
                            <a:srgbClr val="4E3629"/>
                          </a:solidFill>
                          <a:latin typeface="Calibri"/>
                          <a:cs typeface="Calibri"/>
                        </a:rPr>
                        <a:t>Función</a:t>
                      </a:r>
                      <a:r>
                        <a:rPr dirty="0" sz="2000" spc="-55" b="1">
                          <a:solidFill>
                            <a:srgbClr val="4E3629"/>
                          </a:solidFill>
                          <a:latin typeface="Calibri"/>
                          <a:cs typeface="Calibri"/>
                        </a:rPr>
                        <a:t> </a:t>
                      </a:r>
                      <a:r>
                        <a:rPr dirty="0" sz="2000" b="1">
                          <a:solidFill>
                            <a:srgbClr val="4E3629"/>
                          </a:solidFill>
                          <a:latin typeface="Calibri"/>
                          <a:cs typeface="Calibri"/>
                        </a:rPr>
                        <a:t>de</a:t>
                      </a:r>
                      <a:r>
                        <a:rPr dirty="0" sz="2000" spc="-15" b="1">
                          <a:solidFill>
                            <a:srgbClr val="4E3629"/>
                          </a:solidFill>
                          <a:latin typeface="Calibri"/>
                          <a:cs typeface="Calibri"/>
                        </a:rPr>
                        <a:t> </a:t>
                      </a:r>
                      <a:r>
                        <a:rPr dirty="0" sz="2000" spc="-10" b="1">
                          <a:solidFill>
                            <a:srgbClr val="4E3629"/>
                          </a:solidFill>
                          <a:latin typeface="Calibri"/>
                          <a:cs typeface="Calibri"/>
                        </a:rPr>
                        <a:t>Fecha:</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2000" spc="-10" b="1">
                          <a:solidFill>
                            <a:srgbClr val="4E3629"/>
                          </a:solidFill>
                          <a:latin typeface="Calibri"/>
                          <a:cs typeface="Calibri"/>
                        </a:rPr>
                        <a:t>Resultado</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23619">
                <a:tc>
                  <a:txBody>
                    <a:bodyPr/>
                    <a:lstStyle/>
                    <a:p>
                      <a:pPr marL="91440">
                        <a:lnSpc>
                          <a:spcPct val="100000"/>
                        </a:lnSpc>
                        <a:spcBef>
                          <a:spcPts val="240"/>
                        </a:spcBef>
                      </a:pPr>
                      <a:r>
                        <a:rPr dirty="0" sz="1800">
                          <a:solidFill>
                            <a:srgbClr val="4E3629"/>
                          </a:solidFill>
                          <a:latin typeface="Calibri"/>
                          <a:cs typeface="Calibri"/>
                        </a:rPr>
                        <a:t>SELECT</a:t>
                      </a:r>
                      <a:r>
                        <a:rPr dirty="0" sz="1800" spc="-35">
                          <a:solidFill>
                            <a:srgbClr val="4E3629"/>
                          </a:solidFill>
                          <a:latin typeface="Calibri"/>
                          <a:cs typeface="Calibri"/>
                        </a:rPr>
                        <a:t> </a:t>
                      </a:r>
                      <a:r>
                        <a:rPr dirty="0" sz="1800" spc="-20">
                          <a:solidFill>
                            <a:srgbClr val="4E3629"/>
                          </a:solidFill>
                          <a:latin typeface="Calibri"/>
                          <a:cs typeface="Calibri"/>
                        </a:rPr>
                        <a:t>NEXT_DAY</a:t>
                      </a:r>
                      <a:r>
                        <a:rPr dirty="0" sz="1800" spc="-45">
                          <a:solidFill>
                            <a:srgbClr val="4E3629"/>
                          </a:solidFill>
                          <a:latin typeface="Calibri"/>
                          <a:cs typeface="Calibri"/>
                        </a:rPr>
                        <a:t> </a:t>
                      </a:r>
                      <a:r>
                        <a:rPr dirty="0" sz="1800" spc="-25">
                          <a:solidFill>
                            <a:srgbClr val="4E3629"/>
                          </a:solidFill>
                          <a:latin typeface="Calibri"/>
                          <a:cs typeface="Calibri"/>
                        </a:rPr>
                        <a:t>(SYSDATE,</a:t>
                      </a:r>
                      <a:r>
                        <a:rPr dirty="0" sz="1800" spc="-45">
                          <a:solidFill>
                            <a:srgbClr val="4E3629"/>
                          </a:solidFill>
                          <a:latin typeface="Calibri"/>
                          <a:cs typeface="Calibri"/>
                        </a:rPr>
                        <a:t> </a:t>
                      </a:r>
                      <a:r>
                        <a:rPr dirty="0" sz="1800" spc="-10">
                          <a:solidFill>
                            <a:srgbClr val="4E3629"/>
                          </a:solidFill>
                          <a:latin typeface="Calibri"/>
                          <a:cs typeface="Calibri"/>
                        </a:rPr>
                        <a:t>'Saturday')</a:t>
                      </a:r>
                      <a:endParaRPr sz="1800">
                        <a:latin typeface="Calibri"/>
                        <a:cs typeface="Calibri"/>
                      </a:endParaRPr>
                    </a:p>
                    <a:p>
                      <a:pPr marL="91440" marR="3291204" indent="104775">
                        <a:lnSpc>
                          <a:spcPct val="116700"/>
                        </a:lnSpc>
                        <a:spcBef>
                          <a:spcPts val="70"/>
                        </a:spcBef>
                      </a:pPr>
                      <a:r>
                        <a:rPr dirty="0" sz="1800">
                          <a:solidFill>
                            <a:srgbClr val="4E3629"/>
                          </a:solidFill>
                          <a:latin typeface="Calibri"/>
                          <a:cs typeface="Calibri"/>
                        </a:rPr>
                        <a:t>AS</a:t>
                      </a:r>
                      <a:r>
                        <a:rPr dirty="0" sz="1800" spc="-40">
                          <a:solidFill>
                            <a:srgbClr val="4E3629"/>
                          </a:solidFill>
                          <a:latin typeface="Calibri"/>
                          <a:cs typeface="Calibri"/>
                        </a:rPr>
                        <a:t> </a:t>
                      </a:r>
                      <a:r>
                        <a:rPr dirty="0" sz="1800">
                          <a:solidFill>
                            <a:srgbClr val="4E3629"/>
                          </a:solidFill>
                          <a:latin typeface="Calibri"/>
                          <a:cs typeface="Calibri"/>
                        </a:rPr>
                        <a:t>"Next</a:t>
                      </a:r>
                      <a:r>
                        <a:rPr dirty="0" sz="1800" spc="-25">
                          <a:solidFill>
                            <a:srgbClr val="4E3629"/>
                          </a:solidFill>
                          <a:latin typeface="Calibri"/>
                          <a:cs typeface="Calibri"/>
                        </a:rPr>
                        <a:t> </a:t>
                      </a:r>
                      <a:r>
                        <a:rPr dirty="0" sz="1800" spc="-10">
                          <a:solidFill>
                            <a:srgbClr val="4E3629"/>
                          </a:solidFill>
                          <a:latin typeface="Calibri"/>
                          <a:cs typeface="Calibri"/>
                        </a:rPr>
                        <a:t>Saturday"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dual;</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a:solidFill>
                            <a:srgbClr val="4E3629"/>
                          </a:solidFill>
                          <a:latin typeface="Calibri"/>
                          <a:cs typeface="Calibri"/>
                        </a:rPr>
                        <a:t>08-Jul-</a:t>
                      </a:r>
                      <a:r>
                        <a:rPr dirty="0" sz="1800" spc="-20">
                          <a:solidFill>
                            <a:srgbClr val="4E3629"/>
                          </a:solidFill>
                          <a:latin typeface="Calibri"/>
                          <a:cs typeface="Calibri"/>
                        </a:rPr>
                        <a:t>2017</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Funciones</a:t>
            </a:r>
            <a:r>
              <a:rPr dirty="0" spc="-40"/>
              <a:t> </a:t>
            </a:r>
            <a:r>
              <a:rPr dirty="0"/>
              <a:t>de</a:t>
            </a:r>
            <a:r>
              <a:rPr dirty="0" spc="-75"/>
              <a:t> </a:t>
            </a:r>
            <a:r>
              <a:rPr dirty="0" spc="-20"/>
              <a:t>Fecha</a:t>
            </a:r>
          </a:p>
        </p:txBody>
      </p:sp>
      <p:sp>
        <p:nvSpPr>
          <p:cNvPr id="5" name="object 5"/>
          <p:cNvSpPr txBox="1"/>
          <p:nvPr/>
        </p:nvSpPr>
        <p:spPr>
          <a:xfrm>
            <a:off x="2855904" y="6510552"/>
            <a:ext cx="888365"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20">
                <a:solidFill>
                  <a:srgbClr val="4E3629"/>
                </a:solidFill>
                <a:latin typeface="Calibri"/>
                <a:cs typeface="Calibri"/>
              </a:rPr>
              <a:t> </a:t>
            </a:r>
            <a:r>
              <a:rPr dirty="0" sz="850">
                <a:solidFill>
                  <a:srgbClr val="4E3629"/>
                </a:solidFill>
                <a:latin typeface="Calibri"/>
                <a:cs typeface="Calibri"/>
              </a:rPr>
              <a:t>de</a:t>
            </a:r>
            <a:r>
              <a:rPr dirty="0" sz="850" spc="-35">
                <a:solidFill>
                  <a:srgbClr val="4E3629"/>
                </a:solidFill>
                <a:latin typeface="Calibri"/>
                <a:cs typeface="Calibri"/>
              </a:rPr>
              <a:t> </a:t>
            </a:r>
            <a:r>
              <a:rPr dirty="0" sz="850" spc="-10">
                <a:solidFill>
                  <a:srgbClr val="4E3629"/>
                </a:solidFill>
                <a:latin typeface="Calibri"/>
                <a:cs typeface="Calibri"/>
              </a:rPr>
              <a:t>Fecha</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13</a:t>
            </a:r>
            <a:endParaRPr sz="850">
              <a:latin typeface="Calibri"/>
              <a:cs typeface="Calibri"/>
            </a:endParaRPr>
          </a:p>
        </p:txBody>
      </p:sp>
      <p:sp>
        <p:nvSpPr>
          <p:cNvPr id="3" name="object 3"/>
          <p:cNvSpPr txBox="1"/>
          <p:nvPr/>
        </p:nvSpPr>
        <p:spPr>
          <a:xfrm>
            <a:off x="483552" y="1415417"/>
            <a:ext cx="7437120" cy="836294"/>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spc="-50">
                <a:solidFill>
                  <a:srgbClr val="4E3629"/>
                </a:solidFill>
                <a:uFill>
                  <a:solidFill>
                    <a:srgbClr val="EC2814"/>
                  </a:solidFill>
                </a:uFill>
                <a:latin typeface="Calibri"/>
                <a:cs typeface="Calibri"/>
              </a:rPr>
              <a:t>LAST_DAY:</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toma</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argumento</a:t>
            </a:r>
            <a:r>
              <a:rPr dirty="0" u="heavy" sz="2800" spc="-60">
                <a:solidFill>
                  <a:srgbClr val="4E3629"/>
                </a:solidFill>
                <a:uFill>
                  <a:solidFill>
                    <a:srgbClr val="EC2814"/>
                  </a:solidFill>
                </a:uFill>
                <a:latin typeface="Calibri"/>
                <a:cs typeface="Calibri"/>
              </a:rPr>
              <a:t> </a:t>
            </a:r>
            <a:r>
              <a:rPr dirty="0" u="heavy" sz="2800" spc="-50">
                <a:solidFill>
                  <a:srgbClr val="4E3629"/>
                </a:solidFill>
                <a:uFill>
                  <a:solidFill>
                    <a:srgbClr val="EC2814"/>
                  </a:solidFill>
                </a:uFill>
                <a:latin typeface="Calibri"/>
                <a:cs typeface="Calibri"/>
              </a:rPr>
              <a:t>DATE</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devuelve</a:t>
            </a:r>
            <a:r>
              <a:rPr dirty="0" u="heavy" sz="2800" spc="-6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fecha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último</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día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mes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a:t>
            </a:r>
            <a:r>
              <a:rPr dirty="0" u="heavy" sz="2800" spc="-4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argumento</a:t>
            </a:r>
            <a:r>
              <a:rPr dirty="0" u="heavy" sz="2800" spc="-5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DATE</a:t>
            </a:r>
            <a:endParaRPr sz="2800">
              <a:latin typeface="Calibri"/>
              <a:cs typeface="Calibri"/>
            </a:endParaRPr>
          </a:p>
        </p:txBody>
      </p:sp>
      <p:graphicFrame>
        <p:nvGraphicFramePr>
          <p:cNvPr id="4" name="object 4"/>
          <p:cNvGraphicFramePr>
            <a:graphicFrameLocks noGrp="1"/>
          </p:cNvGraphicFramePr>
          <p:nvPr/>
        </p:nvGraphicFramePr>
        <p:xfrm>
          <a:off x="920080" y="2712511"/>
          <a:ext cx="7380605" cy="1419225"/>
        </p:xfrm>
        <a:graphic>
          <a:graphicData uri="http://schemas.openxmlformats.org/drawingml/2006/table">
            <a:tbl>
              <a:tblPr firstRow="1" bandRow="1">
                <a:tableStyleId>{2D5ABB26-0587-4C30-8999-92F81FD0307C}</a:tableStyleId>
              </a:tblPr>
              <a:tblGrid>
                <a:gridCol w="5269865"/>
                <a:gridCol w="2021205"/>
              </a:tblGrid>
              <a:tr h="395605">
                <a:tc>
                  <a:txBody>
                    <a:bodyPr/>
                    <a:lstStyle/>
                    <a:p>
                      <a:pPr marL="91440">
                        <a:lnSpc>
                          <a:spcPct val="100000"/>
                        </a:lnSpc>
                        <a:spcBef>
                          <a:spcPts val="240"/>
                        </a:spcBef>
                      </a:pPr>
                      <a:r>
                        <a:rPr dirty="0" sz="2000" b="1">
                          <a:solidFill>
                            <a:srgbClr val="4E3629"/>
                          </a:solidFill>
                          <a:latin typeface="Calibri"/>
                          <a:cs typeface="Calibri"/>
                        </a:rPr>
                        <a:t>Ejemplos</a:t>
                      </a:r>
                      <a:r>
                        <a:rPr dirty="0" sz="2000" spc="-35" b="1">
                          <a:solidFill>
                            <a:srgbClr val="4E3629"/>
                          </a:solidFill>
                          <a:latin typeface="Calibri"/>
                          <a:cs typeface="Calibri"/>
                        </a:rPr>
                        <a:t> </a:t>
                      </a:r>
                      <a:r>
                        <a:rPr dirty="0" sz="2000" b="1">
                          <a:solidFill>
                            <a:srgbClr val="4E3629"/>
                          </a:solidFill>
                          <a:latin typeface="Calibri"/>
                          <a:cs typeface="Calibri"/>
                        </a:rPr>
                        <a:t>de</a:t>
                      </a:r>
                      <a:r>
                        <a:rPr dirty="0" sz="2000" spc="-25" b="1">
                          <a:solidFill>
                            <a:srgbClr val="4E3629"/>
                          </a:solidFill>
                          <a:latin typeface="Calibri"/>
                          <a:cs typeface="Calibri"/>
                        </a:rPr>
                        <a:t> </a:t>
                      </a:r>
                      <a:r>
                        <a:rPr dirty="0" sz="2000" b="1">
                          <a:solidFill>
                            <a:srgbClr val="4E3629"/>
                          </a:solidFill>
                          <a:latin typeface="Calibri"/>
                          <a:cs typeface="Calibri"/>
                        </a:rPr>
                        <a:t>Función</a:t>
                      </a:r>
                      <a:r>
                        <a:rPr dirty="0" sz="2000" spc="-55" b="1">
                          <a:solidFill>
                            <a:srgbClr val="4E3629"/>
                          </a:solidFill>
                          <a:latin typeface="Calibri"/>
                          <a:cs typeface="Calibri"/>
                        </a:rPr>
                        <a:t> </a:t>
                      </a:r>
                      <a:r>
                        <a:rPr dirty="0" sz="2000" b="1">
                          <a:solidFill>
                            <a:srgbClr val="4E3629"/>
                          </a:solidFill>
                          <a:latin typeface="Calibri"/>
                          <a:cs typeface="Calibri"/>
                        </a:rPr>
                        <a:t>de</a:t>
                      </a:r>
                      <a:r>
                        <a:rPr dirty="0" sz="2000" spc="-15" b="1">
                          <a:solidFill>
                            <a:srgbClr val="4E3629"/>
                          </a:solidFill>
                          <a:latin typeface="Calibri"/>
                          <a:cs typeface="Calibri"/>
                        </a:rPr>
                        <a:t> </a:t>
                      </a:r>
                      <a:r>
                        <a:rPr dirty="0" sz="2000" spc="-10" b="1">
                          <a:solidFill>
                            <a:srgbClr val="4E3629"/>
                          </a:solidFill>
                          <a:latin typeface="Calibri"/>
                          <a:cs typeface="Calibri"/>
                        </a:rPr>
                        <a:t>Fecha:</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40"/>
                        </a:spcBef>
                      </a:pPr>
                      <a:r>
                        <a:rPr dirty="0" sz="2000" spc="-10" b="1">
                          <a:solidFill>
                            <a:srgbClr val="4E3629"/>
                          </a:solidFill>
                          <a:latin typeface="Calibri"/>
                          <a:cs typeface="Calibri"/>
                        </a:rPr>
                        <a:t>Resultado</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023619">
                <a:tc>
                  <a:txBody>
                    <a:bodyPr/>
                    <a:lstStyle/>
                    <a:p>
                      <a:pPr marL="91440">
                        <a:lnSpc>
                          <a:spcPct val="100000"/>
                        </a:lnSpc>
                        <a:spcBef>
                          <a:spcPts val="240"/>
                        </a:spcBef>
                      </a:pPr>
                      <a:r>
                        <a:rPr dirty="0" sz="1800">
                          <a:solidFill>
                            <a:srgbClr val="4E3629"/>
                          </a:solidFill>
                          <a:latin typeface="Calibri"/>
                          <a:cs typeface="Calibri"/>
                        </a:rPr>
                        <a:t>SELECT</a:t>
                      </a:r>
                      <a:r>
                        <a:rPr dirty="0" sz="1800" spc="-50">
                          <a:solidFill>
                            <a:srgbClr val="4E3629"/>
                          </a:solidFill>
                          <a:latin typeface="Calibri"/>
                          <a:cs typeface="Calibri"/>
                        </a:rPr>
                        <a:t> </a:t>
                      </a:r>
                      <a:r>
                        <a:rPr dirty="0" sz="1800" spc="-20">
                          <a:solidFill>
                            <a:srgbClr val="4E3629"/>
                          </a:solidFill>
                          <a:latin typeface="Calibri"/>
                          <a:cs typeface="Calibri"/>
                        </a:rPr>
                        <a:t>LAST_DAY</a:t>
                      </a:r>
                      <a:r>
                        <a:rPr dirty="0" sz="1800" spc="-55">
                          <a:solidFill>
                            <a:srgbClr val="4E3629"/>
                          </a:solidFill>
                          <a:latin typeface="Calibri"/>
                          <a:cs typeface="Calibri"/>
                        </a:rPr>
                        <a:t> </a:t>
                      </a:r>
                      <a:r>
                        <a:rPr dirty="0" sz="1800" spc="-10">
                          <a:solidFill>
                            <a:srgbClr val="4E3629"/>
                          </a:solidFill>
                          <a:latin typeface="Calibri"/>
                          <a:cs typeface="Calibri"/>
                        </a:rPr>
                        <a:t>(SYSDATE)</a:t>
                      </a:r>
                      <a:endParaRPr sz="1800">
                        <a:latin typeface="Calibri"/>
                        <a:cs typeface="Calibri"/>
                      </a:endParaRPr>
                    </a:p>
                    <a:p>
                      <a:pPr marL="91440" marR="2951480" indent="104775">
                        <a:lnSpc>
                          <a:spcPct val="116700"/>
                        </a:lnSpc>
                        <a:spcBef>
                          <a:spcPts val="70"/>
                        </a:spcBef>
                      </a:pPr>
                      <a:r>
                        <a:rPr dirty="0" sz="1800">
                          <a:solidFill>
                            <a:srgbClr val="4E3629"/>
                          </a:solidFill>
                          <a:latin typeface="Calibri"/>
                          <a:cs typeface="Calibri"/>
                        </a:rPr>
                        <a:t>AS</a:t>
                      </a:r>
                      <a:r>
                        <a:rPr dirty="0" sz="1800" spc="-30">
                          <a:solidFill>
                            <a:srgbClr val="4E3629"/>
                          </a:solidFill>
                          <a:latin typeface="Calibri"/>
                          <a:cs typeface="Calibri"/>
                        </a:rPr>
                        <a:t> </a:t>
                      </a:r>
                      <a:r>
                        <a:rPr dirty="0" sz="1800">
                          <a:solidFill>
                            <a:srgbClr val="4E3629"/>
                          </a:solidFill>
                          <a:latin typeface="Calibri"/>
                          <a:cs typeface="Calibri"/>
                        </a:rPr>
                        <a:t>"End</a:t>
                      </a:r>
                      <a:r>
                        <a:rPr dirty="0" sz="1800" spc="-5">
                          <a:solidFill>
                            <a:srgbClr val="4E3629"/>
                          </a:solidFill>
                          <a:latin typeface="Calibri"/>
                          <a:cs typeface="Calibri"/>
                        </a:rPr>
                        <a:t> </a:t>
                      </a:r>
                      <a:r>
                        <a:rPr dirty="0" sz="1800">
                          <a:solidFill>
                            <a:srgbClr val="4E3629"/>
                          </a:solidFill>
                          <a:latin typeface="Calibri"/>
                          <a:cs typeface="Calibri"/>
                        </a:rPr>
                        <a:t>of</a:t>
                      </a:r>
                      <a:r>
                        <a:rPr dirty="0" sz="1800" spc="-5">
                          <a:solidFill>
                            <a:srgbClr val="4E3629"/>
                          </a:solidFill>
                          <a:latin typeface="Calibri"/>
                          <a:cs typeface="Calibri"/>
                        </a:rPr>
                        <a:t> </a:t>
                      </a:r>
                      <a:r>
                        <a:rPr dirty="0" sz="1800">
                          <a:solidFill>
                            <a:srgbClr val="4E3629"/>
                          </a:solidFill>
                          <a:latin typeface="Calibri"/>
                          <a:cs typeface="Calibri"/>
                        </a:rPr>
                        <a:t>the</a:t>
                      </a:r>
                      <a:r>
                        <a:rPr dirty="0" sz="1800" spc="-15">
                          <a:solidFill>
                            <a:srgbClr val="4E3629"/>
                          </a:solidFill>
                          <a:latin typeface="Calibri"/>
                          <a:cs typeface="Calibri"/>
                        </a:rPr>
                        <a:t> </a:t>
                      </a:r>
                      <a:r>
                        <a:rPr dirty="0" sz="1800" spc="-10">
                          <a:solidFill>
                            <a:srgbClr val="4E3629"/>
                          </a:solidFill>
                          <a:latin typeface="Calibri"/>
                          <a:cs typeface="Calibri"/>
                        </a:rPr>
                        <a:t>Month" </a:t>
                      </a: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dual;</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60"/>
                        </a:spcBef>
                      </a:pPr>
                      <a:r>
                        <a:rPr dirty="0" sz="1800" spc="-10">
                          <a:solidFill>
                            <a:srgbClr val="4E3629"/>
                          </a:solidFill>
                          <a:latin typeface="Calibri"/>
                          <a:cs typeface="Calibri"/>
                        </a:rPr>
                        <a:t>31-Jul-</a:t>
                      </a:r>
                      <a:r>
                        <a:rPr dirty="0" sz="1800" spc="-20">
                          <a:solidFill>
                            <a:srgbClr val="4E3629"/>
                          </a:solidFill>
                          <a:latin typeface="Calibri"/>
                          <a:cs typeface="Calibri"/>
                        </a:rPr>
                        <a:t>2015</a:t>
                      </a:r>
                      <a:endParaRPr sz="1800">
                        <a:latin typeface="Calibri"/>
                        <a:cs typeface="Calibri"/>
                      </a:endParaRPr>
                    </a:p>
                  </a:txBody>
                  <a:tcPr marL="0" marR="0" marB="0" marT="3302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Funciones</a:t>
            </a:r>
            <a:r>
              <a:rPr dirty="0" spc="-40"/>
              <a:t> </a:t>
            </a:r>
            <a:r>
              <a:rPr dirty="0"/>
              <a:t>de</a:t>
            </a:r>
            <a:r>
              <a:rPr dirty="0" spc="-75"/>
              <a:t> </a:t>
            </a:r>
            <a:r>
              <a:rPr dirty="0" spc="-20"/>
              <a:t>Fecha</a:t>
            </a:r>
          </a:p>
        </p:txBody>
      </p:sp>
      <p:sp>
        <p:nvSpPr>
          <p:cNvPr id="5" name="object 5"/>
          <p:cNvSpPr txBox="1"/>
          <p:nvPr/>
        </p:nvSpPr>
        <p:spPr>
          <a:xfrm>
            <a:off x="2855904" y="6510552"/>
            <a:ext cx="888365"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4-</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20">
                <a:solidFill>
                  <a:srgbClr val="4E3629"/>
                </a:solidFill>
                <a:latin typeface="Calibri"/>
                <a:cs typeface="Calibri"/>
              </a:rPr>
              <a:t> </a:t>
            </a:r>
            <a:r>
              <a:rPr dirty="0" sz="850">
                <a:solidFill>
                  <a:srgbClr val="4E3629"/>
                </a:solidFill>
                <a:latin typeface="Calibri"/>
                <a:cs typeface="Calibri"/>
              </a:rPr>
              <a:t>de</a:t>
            </a:r>
            <a:r>
              <a:rPr dirty="0" sz="850" spc="-35">
                <a:solidFill>
                  <a:srgbClr val="4E3629"/>
                </a:solidFill>
                <a:latin typeface="Calibri"/>
                <a:cs typeface="Calibri"/>
              </a:rPr>
              <a:t> </a:t>
            </a:r>
            <a:r>
              <a:rPr dirty="0" sz="850" spc="-10">
                <a:solidFill>
                  <a:srgbClr val="4E3629"/>
                </a:solidFill>
                <a:latin typeface="Calibri"/>
                <a:cs typeface="Calibri"/>
              </a:rPr>
              <a:t>Fecha</a:t>
            </a:r>
            <a:endParaRPr sz="850">
              <a:latin typeface="Calibri"/>
              <a:cs typeface="Calibri"/>
            </a:endParaRP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38100">
              <a:lnSpc>
                <a:spcPts val="910"/>
              </a:lnSpc>
            </a:pPr>
            <a:r>
              <a:rPr dirty="0" sz="850" spc="-25" b="0">
                <a:latin typeface="Calibri"/>
                <a:cs typeface="Calibri"/>
              </a:rPr>
              <a:t>14</a:t>
            </a:r>
            <a:endParaRPr sz="850">
              <a:latin typeface="Calibri"/>
              <a:cs typeface="Calibri"/>
            </a:endParaRPr>
          </a:p>
        </p:txBody>
      </p:sp>
      <p:sp>
        <p:nvSpPr>
          <p:cNvPr id="3" name="object 3"/>
          <p:cNvSpPr txBox="1"/>
          <p:nvPr/>
        </p:nvSpPr>
        <p:spPr>
          <a:xfrm>
            <a:off x="483552" y="1415417"/>
            <a:ext cx="7752715" cy="836294"/>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ROUND:</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devuelve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fecha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redondeada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8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unidad</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especificada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segundo</a:t>
            </a:r>
            <a:r>
              <a:rPr dirty="0" u="heavy" sz="2800" spc="-2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argumento</a:t>
            </a:r>
            <a:endParaRPr sz="2800">
              <a:latin typeface="Calibri"/>
              <a:cs typeface="Calibri"/>
            </a:endParaRPr>
          </a:p>
        </p:txBody>
      </p:sp>
      <p:graphicFrame>
        <p:nvGraphicFramePr>
          <p:cNvPr id="4" name="object 4"/>
          <p:cNvGraphicFramePr>
            <a:graphicFrameLocks noGrp="1"/>
          </p:cNvGraphicFramePr>
          <p:nvPr/>
        </p:nvGraphicFramePr>
        <p:xfrm>
          <a:off x="920080" y="2527300"/>
          <a:ext cx="7380605" cy="3100070"/>
        </p:xfrm>
        <a:graphic>
          <a:graphicData uri="http://schemas.openxmlformats.org/drawingml/2006/table">
            <a:tbl>
              <a:tblPr firstRow="1" bandRow="1">
                <a:tableStyleId>{2D5ABB26-0587-4C30-8999-92F81FD0307C}</a:tableStyleId>
              </a:tblPr>
              <a:tblGrid>
                <a:gridCol w="4102735"/>
                <a:gridCol w="1660525"/>
                <a:gridCol w="1528444"/>
              </a:tblGrid>
              <a:tr h="395605">
                <a:tc>
                  <a:txBody>
                    <a:bodyPr/>
                    <a:lstStyle/>
                    <a:p>
                      <a:pPr marL="91440">
                        <a:lnSpc>
                          <a:spcPct val="100000"/>
                        </a:lnSpc>
                        <a:spcBef>
                          <a:spcPts val="240"/>
                        </a:spcBef>
                      </a:pPr>
                      <a:r>
                        <a:rPr dirty="0" sz="2000" b="1">
                          <a:solidFill>
                            <a:srgbClr val="4E3629"/>
                          </a:solidFill>
                          <a:latin typeface="Calibri"/>
                          <a:cs typeface="Calibri"/>
                        </a:rPr>
                        <a:t>Ejemplos</a:t>
                      </a:r>
                      <a:r>
                        <a:rPr dirty="0" sz="2000" spc="-35" b="1">
                          <a:solidFill>
                            <a:srgbClr val="4E3629"/>
                          </a:solidFill>
                          <a:latin typeface="Calibri"/>
                          <a:cs typeface="Calibri"/>
                        </a:rPr>
                        <a:t> </a:t>
                      </a:r>
                      <a:r>
                        <a:rPr dirty="0" sz="2000" b="1">
                          <a:solidFill>
                            <a:srgbClr val="4E3629"/>
                          </a:solidFill>
                          <a:latin typeface="Calibri"/>
                          <a:cs typeface="Calibri"/>
                        </a:rPr>
                        <a:t>de</a:t>
                      </a:r>
                      <a:r>
                        <a:rPr dirty="0" sz="2000" spc="-25" b="1">
                          <a:solidFill>
                            <a:srgbClr val="4E3629"/>
                          </a:solidFill>
                          <a:latin typeface="Calibri"/>
                          <a:cs typeface="Calibri"/>
                        </a:rPr>
                        <a:t> </a:t>
                      </a:r>
                      <a:r>
                        <a:rPr dirty="0" sz="2000" b="1">
                          <a:solidFill>
                            <a:srgbClr val="4E3629"/>
                          </a:solidFill>
                          <a:latin typeface="Calibri"/>
                          <a:cs typeface="Calibri"/>
                        </a:rPr>
                        <a:t>Función</a:t>
                      </a:r>
                      <a:r>
                        <a:rPr dirty="0" sz="2000" spc="-55" b="1">
                          <a:solidFill>
                            <a:srgbClr val="4E3629"/>
                          </a:solidFill>
                          <a:latin typeface="Calibri"/>
                          <a:cs typeface="Calibri"/>
                        </a:rPr>
                        <a:t> </a:t>
                      </a:r>
                      <a:r>
                        <a:rPr dirty="0" sz="2000" b="1">
                          <a:solidFill>
                            <a:srgbClr val="4E3629"/>
                          </a:solidFill>
                          <a:latin typeface="Calibri"/>
                          <a:cs typeface="Calibri"/>
                        </a:rPr>
                        <a:t>de</a:t>
                      </a:r>
                      <a:r>
                        <a:rPr dirty="0" sz="2000" spc="-15" b="1">
                          <a:solidFill>
                            <a:srgbClr val="4E3629"/>
                          </a:solidFill>
                          <a:latin typeface="Calibri"/>
                          <a:cs typeface="Calibri"/>
                        </a:rPr>
                        <a:t> </a:t>
                      </a:r>
                      <a:r>
                        <a:rPr dirty="0" sz="2000" spc="-10" b="1">
                          <a:solidFill>
                            <a:srgbClr val="4E3629"/>
                          </a:solidFill>
                          <a:latin typeface="Calibri"/>
                          <a:cs typeface="Calibri"/>
                        </a:rPr>
                        <a:t>Fecha:</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gridSpan="2">
                  <a:txBody>
                    <a:bodyPr/>
                    <a:lstStyle/>
                    <a:p>
                      <a:pPr marL="90805">
                        <a:lnSpc>
                          <a:spcPct val="100000"/>
                        </a:lnSpc>
                        <a:spcBef>
                          <a:spcPts val="240"/>
                        </a:spcBef>
                      </a:pPr>
                      <a:r>
                        <a:rPr dirty="0" sz="2000" spc="-10" b="1">
                          <a:solidFill>
                            <a:srgbClr val="4E3629"/>
                          </a:solidFill>
                          <a:latin typeface="Calibri"/>
                          <a:cs typeface="Calibri"/>
                        </a:rPr>
                        <a:t>Resultado</a:t>
                      </a:r>
                      <a:endParaRPr sz="20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hMerge="1">
                  <a:txBody>
                    <a:bodyPr/>
                    <a:lstStyle/>
                    <a:p>
                      <a:pPr/>
                    </a:p>
                  </a:txBody>
                  <a:tcPr marL="0" marR="0" marB="0" marT="0"/>
                </a:tc>
              </a:tr>
              <a:tr h="366395">
                <a:tc>
                  <a:txBody>
                    <a:bodyPr/>
                    <a:lstStyle/>
                    <a:p>
                      <a:pPr marL="91440">
                        <a:lnSpc>
                          <a:spcPct val="100000"/>
                        </a:lnSpc>
                        <a:spcBef>
                          <a:spcPts val="240"/>
                        </a:spcBef>
                      </a:pPr>
                      <a:r>
                        <a:rPr dirty="0" sz="1800">
                          <a:solidFill>
                            <a:srgbClr val="4E3629"/>
                          </a:solidFill>
                          <a:latin typeface="Calibri"/>
                          <a:cs typeface="Calibri"/>
                        </a:rPr>
                        <a:t>SELECT</a:t>
                      </a:r>
                      <a:r>
                        <a:rPr dirty="0" sz="1800" spc="-50">
                          <a:solidFill>
                            <a:srgbClr val="4E3629"/>
                          </a:solidFill>
                          <a:latin typeface="Calibri"/>
                          <a:cs typeface="Calibri"/>
                        </a:rPr>
                        <a:t> </a:t>
                      </a:r>
                      <a:r>
                        <a:rPr dirty="0" sz="1800" spc="-10">
                          <a:solidFill>
                            <a:srgbClr val="4E3629"/>
                          </a:solidFill>
                          <a:latin typeface="Calibri"/>
                          <a:cs typeface="Calibri"/>
                        </a:rPr>
                        <a:t>hire_date,</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tcPr>
                </a:tc>
                <a:tc>
                  <a:txBody>
                    <a:bodyPr/>
                    <a:lstStyle/>
                    <a:p>
                      <a:pPr marL="90805">
                        <a:lnSpc>
                          <a:spcPct val="100000"/>
                        </a:lnSpc>
                        <a:spcBef>
                          <a:spcPts val="240"/>
                        </a:spcBef>
                      </a:pPr>
                      <a:r>
                        <a:rPr dirty="0" sz="1800" spc="-10">
                          <a:solidFill>
                            <a:srgbClr val="4E3629"/>
                          </a:solidFill>
                          <a:latin typeface="Calibri"/>
                          <a:cs typeface="Calibri"/>
                        </a:rPr>
                        <a:t>16-Nov-</a:t>
                      </a:r>
                      <a:r>
                        <a:rPr dirty="0" sz="1800" spc="-20">
                          <a:solidFill>
                            <a:srgbClr val="4E3629"/>
                          </a:solidFill>
                          <a:latin typeface="Calibri"/>
                          <a:cs typeface="Calibri"/>
                        </a:rPr>
                        <a:t>1999</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tcPr>
                </a:tc>
                <a:tc>
                  <a:txBody>
                    <a:bodyPr/>
                    <a:lstStyle/>
                    <a:p>
                      <a:pPr marL="91440">
                        <a:lnSpc>
                          <a:spcPct val="100000"/>
                        </a:lnSpc>
                        <a:spcBef>
                          <a:spcPts val="240"/>
                        </a:spcBef>
                      </a:pPr>
                      <a:r>
                        <a:rPr dirty="0" sz="1800" spc="-10">
                          <a:solidFill>
                            <a:srgbClr val="4E3629"/>
                          </a:solidFill>
                          <a:latin typeface="Calibri"/>
                          <a:cs typeface="Calibri"/>
                        </a:rPr>
                        <a:t>01-</a:t>
                      </a:r>
                      <a:r>
                        <a:rPr dirty="0" sz="1800" spc="-20">
                          <a:solidFill>
                            <a:srgbClr val="4E3629"/>
                          </a:solidFill>
                          <a:latin typeface="Calibri"/>
                          <a:cs typeface="Calibri"/>
                        </a:rPr>
                        <a:t>Dec-1999</a:t>
                      </a:r>
                      <a:endParaRPr sz="1800">
                        <a:latin typeface="Calibri"/>
                        <a:cs typeface="Calibri"/>
                      </a:endParaRPr>
                    </a:p>
                  </a:txBody>
                  <a:tcPr marL="0" marR="0" marB="0" marT="30480">
                    <a:lnL w="12700">
                      <a:solidFill>
                        <a:srgbClr val="D1350F"/>
                      </a:solidFill>
                      <a:prstDash val="solid"/>
                    </a:lnL>
                    <a:lnR w="12700">
                      <a:solidFill>
                        <a:srgbClr val="D1350F"/>
                      </a:solidFill>
                      <a:prstDash val="solid"/>
                    </a:lnR>
                    <a:lnT w="12700">
                      <a:solidFill>
                        <a:srgbClr val="D1350F"/>
                      </a:solidFill>
                      <a:prstDash val="solid"/>
                    </a:lnT>
                  </a:tcPr>
                </a:tc>
              </a:tr>
              <a:tr h="328930">
                <a:tc>
                  <a:txBody>
                    <a:bodyPr/>
                    <a:lstStyle/>
                    <a:p>
                      <a:pPr marL="196215">
                        <a:lnSpc>
                          <a:spcPts val="2105"/>
                        </a:lnSpc>
                      </a:pPr>
                      <a:r>
                        <a:rPr dirty="0" sz="1800">
                          <a:solidFill>
                            <a:srgbClr val="4E3629"/>
                          </a:solidFill>
                          <a:latin typeface="Calibri"/>
                          <a:cs typeface="Calibri"/>
                        </a:rPr>
                        <a:t>ROUND</a:t>
                      </a:r>
                      <a:r>
                        <a:rPr dirty="0" sz="1800" spc="-55">
                          <a:solidFill>
                            <a:srgbClr val="4E3629"/>
                          </a:solidFill>
                          <a:latin typeface="Calibri"/>
                          <a:cs typeface="Calibri"/>
                        </a:rPr>
                        <a:t> </a:t>
                      </a:r>
                      <a:r>
                        <a:rPr dirty="0" sz="1800" spc="-10">
                          <a:solidFill>
                            <a:srgbClr val="4E3629"/>
                          </a:solidFill>
                          <a:latin typeface="Calibri"/>
                          <a:cs typeface="Calibri"/>
                        </a:rPr>
                        <a:t>(hire_date,</a:t>
                      </a:r>
                      <a:r>
                        <a:rPr dirty="0" sz="1800" spc="-20">
                          <a:solidFill>
                            <a:srgbClr val="4E3629"/>
                          </a:solidFill>
                          <a:latin typeface="Calibri"/>
                          <a:cs typeface="Calibri"/>
                        </a:rPr>
                        <a:t> </a:t>
                      </a:r>
                      <a:r>
                        <a:rPr dirty="0" sz="1800" spc="-10">
                          <a:solidFill>
                            <a:srgbClr val="4E3629"/>
                          </a:solidFill>
                          <a:latin typeface="Calibri"/>
                          <a:cs typeface="Calibri"/>
                        </a:rPr>
                        <a:t>'Month')</a:t>
                      </a:r>
                      <a:endParaRPr sz="1800">
                        <a:latin typeface="Calibri"/>
                        <a:cs typeface="Calibri"/>
                      </a:endParaRPr>
                    </a:p>
                  </a:txBody>
                  <a:tcPr marL="0" marR="0" marB="0" marT="0">
                    <a:lnL w="12700">
                      <a:solidFill>
                        <a:srgbClr val="D1350F"/>
                      </a:solidFill>
                      <a:prstDash val="solid"/>
                    </a:lnL>
                    <a:lnR w="12700">
                      <a:solidFill>
                        <a:srgbClr val="D1350F"/>
                      </a:solidFill>
                      <a:prstDash val="solid"/>
                    </a:lnR>
                  </a:tcPr>
                </a:tc>
                <a:tc>
                  <a:txBody>
                    <a:bodyPr/>
                    <a:lstStyle/>
                    <a:p>
                      <a:pPr marL="90805">
                        <a:lnSpc>
                          <a:spcPts val="2105"/>
                        </a:lnSpc>
                      </a:pPr>
                      <a:r>
                        <a:rPr dirty="0" sz="1800" spc="-10">
                          <a:solidFill>
                            <a:srgbClr val="4E3629"/>
                          </a:solidFill>
                          <a:latin typeface="Calibri"/>
                          <a:cs typeface="Calibri"/>
                        </a:rPr>
                        <a:t>17-Oct-</a:t>
                      </a:r>
                      <a:r>
                        <a:rPr dirty="0" sz="1800" spc="-20">
                          <a:solidFill>
                            <a:srgbClr val="4E3629"/>
                          </a:solidFill>
                          <a:latin typeface="Calibri"/>
                          <a:cs typeface="Calibri"/>
                        </a:rPr>
                        <a:t>1995</a:t>
                      </a:r>
                      <a:endParaRPr sz="1800">
                        <a:latin typeface="Calibri"/>
                        <a:cs typeface="Calibri"/>
                      </a:endParaRPr>
                    </a:p>
                  </a:txBody>
                  <a:tcPr marL="0" marR="0" marB="0" marT="0">
                    <a:lnL w="12700">
                      <a:solidFill>
                        <a:srgbClr val="D1350F"/>
                      </a:solidFill>
                      <a:prstDash val="solid"/>
                    </a:lnL>
                    <a:lnR w="12700">
                      <a:solidFill>
                        <a:srgbClr val="D1350F"/>
                      </a:solidFill>
                      <a:prstDash val="solid"/>
                    </a:lnR>
                  </a:tcPr>
                </a:tc>
                <a:tc>
                  <a:txBody>
                    <a:bodyPr/>
                    <a:lstStyle/>
                    <a:p>
                      <a:pPr marL="91440">
                        <a:lnSpc>
                          <a:spcPts val="2105"/>
                        </a:lnSpc>
                      </a:pPr>
                      <a:r>
                        <a:rPr dirty="0" sz="1800" spc="-10">
                          <a:solidFill>
                            <a:srgbClr val="4E3629"/>
                          </a:solidFill>
                          <a:latin typeface="Calibri"/>
                          <a:cs typeface="Calibri"/>
                        </a:rPr>
                        <a:t>01-Nov-</a:t>
                      </a:r>
                      <a:r>
                        <a:rPr dirty="0" sz="1800" spc="-20">
                          <a:solidFill>
                            <a:srgbClr val="4E3629"/>
                          </a:solidFill>
                          <a:latin typeface="Calibri"/>
                          <a:cs typeface="Calibri"/>
                        </a:rPr>
                        <a:t>1995</a:t>
                      </a:r>
                      <a:endParaRPr sz="1800">
                        <a:latin typeface="Calibri"/>
                        <a:cs typeface="Calibri"/>
                      </a:endParaRPr>
                    </a:p>
                  </a:txBody>
                  <a:tcPr marL="0" marR="0" marB="0" marT="0">
                    <a:lnL w="12700">
                      <a:solidFill>
                        <a:srgbClr val="D1350F"/>
                      </a:solidFill>
                      <a:prstDash val="solid"/>
                    </a:lnL>
                    <a:lnR w="12700">
                      <a:solidFill>
                        <a:srgbClr val="D1350F"/>
                      </a:solidFill>
                      <a:prstDash val="solid"/>
                    </a:lnR>
                  </a:tcPr>
                </a:tc>
              </a:tr>
              <a:tr h="657225">
                <a:tc>
                  <a:txBody>
                    <a:bodyPr/>
                    <a:lstStyle/>
                    <a:p>
                      <a:pPr marL="91440">
                        <a:lnSpc>
                          <a:spcPts val="2105"/>
                        </a:lnSpc>
                      </a:pP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employees</a:t>
                      </a:r>
                      <a:endParaRPr sz="1800">
                        <a:latin typeface="Calibri"/>
                        <a:cs typeface="Calibri"/>
                      </a:endParaRPr>
                    </a:p>
                    <a:p>
                      <a:pPr marL="91440">
                        <a:lnSpc>
                          <a:spcPct val="100000"/>
                        </a:lnSpc>
                        <a:spcBef>
                          <a:spcPts val="359"/>
                        </a:spcBef>
                      </a:pPr>
                      <a:r>
                        <a:rPr dirty="0" sz="1800">
                          <a:solidFill>
                            <a:srgbClr val="4E3629"/>
                          </a:solidFill>
                          <a:latin typeface="Calibri"/>
                          <a:cs typeface="Calibri"/>
                        </a:rPr>
                        <a:t>WHERE</a:t>
                      </a:r>
                      <a:r>
                        <a:rPr dirty="0" sz="1800" spc="-15">
                          <a:solidFill>
                            <a:srgbClr val="4E3629"/>
                          </a:solidFill>
                          <a:latin typeface="Calibri"/>
                          <a:cs typeface="Calibri"/>
                        </a:rPr>
                        <a:t> </a:t>
                      </a:r>
                      <a:r>
                        <a:rPr dirty="0" sz="1800" spc="-10">
                          <a:solidFill>
                            <a:srgbClr val="4E3629"/>
                          </a:solidFill>
                          <a:latin typeface="Calibri"/>
                          <a:cs typeface="Calibri"/>
                        </a:rPr>
                        <a:t>department_id=50;</a:t>
                      </a:r>
                      <a:endParaRPr sz="1800">
                        <a:latin typeface="Calibri"/>
                        <a:cs typeface="Calibri"/>
                      </a:endParaRPr>
                    </a:p>
                  </a:txBody>
                  <a:tcPr marL="0" marR="0" marB="0" marT="0">
                    <a:lnL w="12700">
                      <a:solidFill>
                        <a:srgbClr val="D1350F"/>
                      </a:solidFill>
                      <a:prstDash val="solid"/>
                    </a:lnL>
                    <a:lnR w="12700">
                      <a:solidFill>
                        <a:srgbClr val="D1350F"/>
                      </a:solidFill>
                      <a:prstDash val="solid"/>
                    </a:lnR>
                    <a:lnB w="12700">
                      <a:solidFill>
                        <a:srgbClr val="D1350F"/>
                      </a:solidFill>
                      <a:prstDash val="solid"/>
                    </a:lnB>
                  </a:tcPr>
                </a:tc>
                <a:tc>
                  <a:txBody>
                    <a:bodyPr/>
                    <a:lstStyle/>
                    <a:p>
                      <a:pPr marL="90805">
                        <a:lnSpc>
                          <a:spcPts val="2105"/>
                        </a:lnSpc>
                      </a:pPr>
                      <a:r>
                        <a:rPr dirty="0" sz="1800" spc="-10">
                          <a:solidFill>
                            <a:srgbClr val="4E3629"/>
                          </a:solidFill>
                          <a:latin typeface="Calibri"/>
                          <a:cs typeface="Calibri"/>
                        </a:rPr>
                        <a:t>29-Jan-</a:t>
                      </a:r>
                      <a:r>
                        <a:rPr dirty="0" sz="1800" spc="-20">
                          <a:solidFill>
                            <a:srgbClr val="4E3629"/>
                          </a:solidFill>
                          <a:latin typeface="Calibri"/>
                          <a:cs typeface="Calibri"/>
                        </a:rPr>
                        <a:t>1997</a:t>
                      </a:r>
                      <a:endParaRPr sz="1800">
                        <a:latin typeface="Calibri"/>
                        <a:cs typeface="Calibri"/>
                      </a:endParaRPr>
                    </a:p>
                    <a:p>
                      <a:pPr marL="91440">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0">
                    <a:lnL w="12700">
                      <a:solidFill>
                        <a:srgbClr val="D1350F"/>
                      </a:solidFill>
                      <a:prstDash val="solid"/>
                    </a:lnL>
                    <a:lnR w="12700">
                      <a:solidFill>
                        <a:srgbClr val="D1350F"/>
                      </a:solidFill>
                      <a:prstDash val="solid"/>
                    </a:lnR>
                    <a:lnB w="12700">
                      <a:solidFill>
                        <a:srgbClr val="D1350F"/>
                      </a:solidFill>
                      <a:prstDash val="solid"/>
                    </a:lnB>
                  </a:tcPr>
                </a:tc>
                <a:tc>
                  <a:txBody>
                    <a:bodyPr/>
                    <a:lstStyle/>
                    <a:p>
                      <a:pPr marL="91440">
                        <a:lnSpc>
                          <a:spcPts val="2105"/>
                        </a:lnSpc>
                      </a:pPr>
                      <a:r>
                        <a:rPr dirty="0" sz="1800" spc="-10">
                          <a:solidFill>
                            <a:srgbClr val="4E3629"/>
                          </a:solidFill>
                          <a:latin typeface="Calibri"/>
                          <a:cs typeface="Calibri"/>
                        </a:rPr>
                        <a:t>01-</a:t>
                      </a:r>
                      <a:r>
                        <a:rPr dirty="0" sz="1800" spc="-20">
                          <a:solidFill>
                            <a:srgbClr val="4E3629"/>
                          </a:solidFill>
                          <a:latin typeface="Calibri"/>
                          <a:cs typeface="Calibri"/>
                        </a:rPr>
                        <a:t>Feb-1997</a:t>
                      </a:r>
                      <a:endParaRPr sz="1800">
                        <a:latin typeface="Calibri"/>
                        <a:cs typeface="Calibri"/>
                      </a:endParaRPr>
                    </a:p>
                    <a:p>
                      <a:pPr marL="91440">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0">
                    <a:lnL w="12700">
                      <a:solidFill>
                        <a:srgbClr val="D1350F"/>
                      </a:solidFill>
                      <a:prstDash val="solid"/>
                    </a:lnL>
                    <a:lnR w="12700">
                      <a:solidFill>
                        <a:srgbClr val="D1350F"/>
                      </a:solidFill>
                      <a:prstDash val="solid"/>
                    </a:lnR>
                    <a:lnB w="12700">
                      <a:solidFill>
                        <a:srgbClr val="D1350F"/>
                      </a:solidFill>
                      <a:prstDash val="solid"/>
                    </a:lnB>
                  </a:tcPr>
                </a:tc>
              </a:tr>
              <a:tr h="365760">
                <a:tc>
                  <a:txBody>
                    <a:bodyPr/>
                    <a:lstStyle/>
                    <a:p>
                      <a:pPr marL="91440">
                        <a:lnSpc>
                          <a:spcPct val="100000"/>
                        </a:lnSpc>
                        <a:spcBef>
                          <a:spcPts val="235"/>
                        </a:spcBef>
                      </a:pPr>
                      <a:r>
                        <a:rPr dirty="0" sz="1800">
                          <a:solidFill>
                            <a:srgbClr val="4E3629"/>
                          </a:solidFill>
                          <a:latin typeface="Calibri"/>
                          <a:cs typeface="Calibri"/>
                        </a:rPr>
                        <a:t>SELECT</a:t>
                      </a:r>
                      <a:r>
                        <a:rPr dirty="0" sz="1800" spc="-50">
                          <a:solidFill>
                            <a:srgbClr val="4E3629"/>
                          </a:solidFill>
                          <a:latin typeface="Calibri"/>
                          <a:cs typeface="Calibri"/>
                        </a:rPr>
                        <a:t> </a:t>
                      </a:r>
                      <a:r>
                        <a:rPr dirty="0" sz="1800" spc="-10">
                          <a:solidFill>
                            <a:srgbClr val="4E3629"/>
                          </a:solidFill>
                          <a:latin typeface="Calibri"/>
                          <a:cs typeface="Calibri"/>
                        </a:rPr>
                        <a:t>hire_date,</a:t>
                      </a:r>
                      <a:endParaRPr sz="1800">
                        <a:latin typeface="Calibri"/>
                        <a:cs typeface="Calibri"/>
                      </a:endParaRPr>
                    </a:p>
                  </a:txBody>
                  <a:tcPr marL="0" marR="0" marB="0" marT="29845">
                    <a:lnL w="12700">
                      <a:solidFill>
                        <a:srgbClr val="D1350F"/>
                      </a:solidFill>
                      <a:prstDash val="solid"/>
                    </a:lnL>
                    <a:lnR w="12700">
                      <a:solidFill>
                        <a:srgbClr val="D1350F"/>
                      </a:solidFill>
                      <a:prstDash val="solid"/>
                    </a:lnR>
                    <a:lnT w="12700">
                      <a:solidFill>
                        <a:srgbClr val="D1350F"/>
                      </a:solidFill>
                      <a:prstDash val="solid"/>
                    </a:lnT>
                  </a:tcPr>
                </a:tc>
                <a:tc>
                  <a:txBody>
                    <a:bodyPr/>
                    <a:lstStyle/>
                    <a:p>
                      <a:pPr marL="90805">
                        <a:lnSpc>
                          <a:spcPct val="100000"/>
                        </a:lnSpc>
                        <a:spcBef>
                          <a:spcPts val="235"/>
                        </a:spcBef>
                      </a:pPr>
                      <a:r>
                        <a:rPr dirty="0" sz="1800" spc="-10">
                          <a:solidFill>
                            <a:srgbClr val="4E3629"/>
                          </a:solidFill>
                          <a:latin typeface="Calibri"/>
                          <a:cs typeface="Calibri"/>
                        </a:rPr>
                        <a:t>16-Nov-</a:t>
                      </a:r>
                      <a:r>
                        <a:rPr dirty="0" sz="1800" spc="-20">
                          <a:solidFill>
                            <a:srgbClr val="4E3629"/>
                          </a:solidFill>
                          <a:latin typeface="Calibri"/>
                          <a:cs typeface="Calibri"/>
                        </a:rPr>
                        <a:t>1999</a:t>
                      </a:r>
                      <a:endParaRPr sz="1800">
                        <a:latin typeface="Calibri"/>
                        <a:cs typeface="Calibri"/>
                      </a:endParaRPr>
                    </a:p>
                  </a:txBody>
                  <a:tcPr marL="0" marR="0" marB="0" marT="29845">
                    <a:lnL w="12700">
                      <a:solidFill>
                        <a:srgbClr val="D1350F"/>
                      </a:solidFill>
                      <a:prstDash val="solid"/>
                    </a:lnL>
                    <a:lnR w="12700">
                      <a:solidFill>
                        <a:srgbClr val="D1350F"/>
                      </a:solidFill>
                      <a:prstDash val="solid"/>
                    </a:lnR>
                    <a:lnT w="12700">
                      <a:solidFill>
                        <a:srgbClr val="D1350F"/>
                      </a:solidFill>
                      <a:prstDash val="solid"/>
                    </a:lnT>
                  </a:tcPr>
                </a:tc>
                <a:tc>
                  <a:txBody>
                    <a:bodyPr/>
                    <a:lstStyle/>
                    <a:p>
                      <a:pPr marL="91440">
                        <a:lnSpc>
                          <a:spcPct val="100000"/>
                        </a:lnSpc>
                        <a:spcBef>
                          <a:spcPts val="235"/>
                        </a:spcBef>
                      </a:pPr>
                      <a:r>
                        <a:rPr dirty="0" sz="1800" spc="-10">
                          <a:solidFill>
                            <a:srgbClr val="4E3629"/>
                          </a:solidFill>
                          <a:latin typeface="Calibri"/>
                          <a:cs typeface="Calibri"/>
                        </a:rPr>
                        <a:t>01-Jan-</a:t>
                      </a:r>
                      <a:r>
                        <a:rPr dirty="0" sz="1800" spc="-20">
                          <a:solidFill>
                            <a:srgbClr val="4E3629"/>
                          </a:solidFill>
                          <a:latin typeface="Calibri"/>
                          <a:cs typeface="Calibri"/>
                        </a:rPr>
                        <a:t>2000</a:t>
                      </a:r>
                      <a:endParaRPr sz="1800">
                        <a:latin typeface="Calibri"/>
                        <a:cs typeface="Calibri"/>
                      </a:endParaRPr>
                    </a:p>
                  </a:txBody>
                  <a:tcPr marL="0" marR="0" marB="0" marT="29845">
                    <a:lnL w="12700">
                      <a:solidFill>
                        <a:srgbClr val="D1350F"/>
                      </a:solidFill>
                      <a:prstDash val="solid"/>
                    </a:lnL>
                    <a:lnR w="12700">
                      <a:solidFill>
                        <a:srgbClr val="D1350F"/>
                      </a:solidFill>
                      <a:prstDash val="solid"/>
                    </a:lnR>
                    <a:lnT w="12700">
                      <a:solidFill>
                        <a:srgbClr val="D1350F"/>
                      </a:solidFill>
                      <a:prstDash val="solid"/>
                    </a:lnT>
                  </a:tcPr>
                </a:tc>
              </a:tr>
              <a:tr h="328930">
                <a:tc>
                  <a:txBody>
                    <a:bodyPr/>
                    <a:lstStyle/>
                    <a:p>
                      <a:pPr marL="196215">
                        <a:lnSpc>
                          <a:spcPts val="2105"/>
                        </a:lnSpc>
                      </a:pPr>
                      <a:r>
                        <a:rPr dirty="0" sz="1800">
                          <a:solidFill>
                            <a:srgbClr val="4E3629"/>
                          </a:solidFill>
                          <a:latin typeface="Calibri"/>
                          <a:cs typeface="Calibri"/>
                        </a:rPr>
                        <a:t>ROUND</a:t>
                      </a:r>
                      <a:r>
                        <a:rPr dirty="0" sz="1800" spc="-55">
                          <a:solidFill>
                            <a:srgbClr val="4E3629"/>
                          </a:solidFill>
                          <a:latin typeface="Calibri"/>
                          <a:cs typeface="Calibri"/>
                        </a:rPr>
                        <a:t> </a:t>
                      </a:r>
                      <a:r>
                        <a:rPr dirty="0" sz="1800" spc="-10">
                          <a:solidFill>
                            <a:srgbClr val="4E3629"/>
                          </a:solidFill>
                          <a:latin typeface="Calibri"/>
                          <a:cs typeface="Calibri"/>
                        </a:rPr>
                        <a:t>(hire_date,</a:t>
                      </a:r>
                      <a:r>
                        <a:rPr dirty="0" sz="1800" spc="-20">
                          <a:solidFill>
                            <a:srgbClr val="4E3629"/>
                          </a:solidFill>
                          <a:latin typeface="Calibri"/>
                          <a:cs typeface="Calibri"/>
                        </a:rPr>
                        <a:t> </a:t>
                      </a:r>
                      <a:r>
                        <a:rPr dirty="0" sz="1800" spc="-10">
                          <a:solidFill>
                            <a:srgbClr val="4E3629"/>
                          </a:solidFill>
                          <a:latin typeface="Calibri"/>
                          <a:cs typeface="Calibri"/>
                        </a:rPr>
                        <a:t>'Year')</a:t>
                      </a:r>
                      <a:endParaRPr sz="1800">
                        <a:latin typeface="Calibri"/>
                        <a:cs typeface="Calibri"/>
                      </a:endParaRPr>
                    </a:p>
                  </a:txBody>
                  <a:tcPr marL="0" marR="0" marB="0" marT="0">
                    <a:lnL w="12700">
                      <a:solidFill>
                        <a:srgbClr val="D1350F"/>
                      </a:solidFill>
                      <a:prstDash val="solid"/>
                    </a:lnL>
                    <a:lnR w="12700">
                      <a:solidFill>
                        <a:srgbClr val="D1350F"/>
                      </a:solidFill>
                      <a:prstDash val="solid"/>
                    </a:lnR>
                  </a:tcPr>
                </a:tc>
                <a:tc>
                  <a:txBody>
                    <a:bodyPr/>
                    <a:lstStyle/>
                    <a:p>
                      <a:pPr marL="90805">
                        <a:lnSpc>
                          <a:spcPts val="2105"/>
                        </a:lnSpc>
                      </a:pPr>
                      <a:r>
                        <a:rPr dirty="0" sz="1800" spc="-10">
                          <a:solidFill>
                            <a:srgbClr val="4E3629"/>
                          </a:solidFill>
                          <a:latin typeface="Calibri"/>
                          <a:cs typeface="Calibri"/>
                        </a:rPr>
                        <a:t>17-Oct-</a:t>
                      </a:r>
                      <a:r>
                        <a:rPr dirty="0" sz="1800" spc="-20">
                          <a:solidFill>
                            <a:srgbClr val="4E3629"/>
                          </a:solidFill>
                          <a:latin typeface="Calibri"/>
                          <a:cs typeface="Calibri"/>
                        </a:rPr>
                        <a:t>1995</a:t>
                      </a:r>
                      <a:endParaRPr sz="1800">
                        <a:latin typeface="Calibri"/>
                        <a:cs typeface="Calibri"/>
                      </a:endParaRPr>
                    </a:p>
                  </a:txBody>
                  <a:tcPr marL="0" marR="0" marB="0" marT="0">
                    <a:lnL w="12700">
                      <a:solidFill>
                        <a:srgbClr val="D1350F"/>
                      </a:solidFill>
                      <a:prstDash val="solid"/>
                    </a:lnL>
                    <a:lnR w="12700">
                      <a:solidFill>
                        <a:srgbClr val="D1350F"/>
                      </a:solidFill>
                      <a:prstDash val="solid"/>
                    </a:lnR>
                  </a:tcPr>
                </a:tc>
                <a:tc>
                  <a:txBody>
                    <a:bodyPr/>
                    <a:lstStyle/>
                    <a:p>
                      <a:pPr marL="91440">
                        <a:lnSpc>
                          <a:spcPts val="2105"/>
                        </a:lnSpc>
                      </a:pPr>
                      <a:r>
                        <a:rPr dirty="0" sz="1800" spc="-10">
                          <a:solidFill>
                            <a:srgbClr val="4E3629"/>
                          </a:solidFill>
                          <a:latin typeface="Calibri"/>
                          <a:cs typeface="Calibri"/>
                        </a:rPr>
                        <a:t>01-Jan-</a:t>
                      </a:r>
                      <a:r>
                        <a:rPr dirty="0" sz="1800" spc="-20">
                          <a:solidFill>
                            <a:srgbClr val="4E3629"/>
                          </a:solidFill>
                          <a:latin typeface="Calibri"/>
                          <a:cs typeface="Calibri"/>
                        </a:rPr>
                        <a:t>1996</a:t>
                      </a:r>
                      <a:endParaRPr sz="1800">
                        <a:latin typeface="Calibri"/>
                        <a:cs typeface="Calibri"/>
                      </a:endParaRPr>
                    </a:p>
                  </a:txBody>
                  <a:tcPr marL="0" marR="0" marB="0" marT="0">
                    <a:lnL w="12700">
                      <a:solidFill>
                        <a:srgbClr val="D1350F"/>
                      </a:solidFill>
                      <a:prstDash val="solid"/>
                    </a:lnL>
                    <a:lnR w="12700">
                      <a:solidFill>
                        <a:srgbClr val="D1350F"/>
                      </a:solidFill>
                      <a:prstDash val="solid"/>
                    </a:lnR>
                  </a:tcPr>
                </a:tc>
              </a:tr>
              <a:tr h="657225">
                <a:tc>
                  <a:txBody>
                    <a:bodyPr/>
                    <a:lstStyle/>
                    <a:p>
                      <a:pPr marL="91440">
                        <a:lnSpc>
                          <a:spcPts val="2105"/>
                        </a:lnSpc>
                      </a:pPr>
                      <a:r>
                        <a:rPr dirty="0" sz="1800">
                          <a:solidFill>
                            <a:srgbClr val="4E3629"/>
                          </a:solidFill>
                          <a:latin typeface="Calibri"/>
                          <a:cs typeface="Calibri"/>
                        </a:rPr>
                        <a:t>FROM</a:t>
                      </a:r>
                      <a:r>
                        <a:rPr dirty="0" sz="1800" spc="-30">
                          <a:solidFill>
                            <a:srgbClr val="4E3629"/>
                          </a:solidFill>
                          <a:latin typeface="Calibri"/>
                          <a:cs typeface="Calibri"/>
                        </a:rPr>
                        <a:t> </a:t>
                      </a:r>
                      <a:r>
                        <a:rPr dirty="0" sz="1800" spc="-10">
                          <a:solidFill>
                            <a:srgbClr val="4E3629"/>
                          </a:solidFill>
                          <a:latin typeface="Calibri"/>
                          <a:cs typeface="Calibri"/>
                        </a:rPr>
                        <a:t>employees</a:t>
                      </a:r>
                      <a:endParaRPr sz="1800">
                        <a:latin typeface="Calibri"/>
                        <a:cs typeface="Calibri"/>
                      </a:endParaRPr>
                    </a:p>
                    <a:p>
                      <a:pPr marL="91440">
                        <a:lnSpc>
                          <a:spcPct val="100000"/>
                        </a:lnSpc>
                        <a:spcBef>
                          <a:spcPts val="360"/>
                        </a:spcBef>
                      </a:pPr>
                      <a:r>
                        <a:rPr dirty="0" sz="1800">
                          <a:solidFill>
                            <a:srgbClr val="4E3629"/>
                          </a:solidFill>
                          <a:latin typeface="Calibri"/>
                          <a:cs typeface="Calibri"/>
                        </a:rPr>
                        <a:t>WHERE</a:t>
                      </a:r>
                      <a:r>
                        <a:rPr dirty="0" sz="1800" spc="-15">
                          <a:solidFill>
                            <a:srgbClr val="4E3629"/>
                          </a:solidFill>
                          <a:latin typeface="Calibri"/>
                          <a:cs typeface="Calibri"/>
                        </a:rPr>
                        <a:t> </a:t>
                      </a:r>
                      <a:r>
                        <a:rPr dirty="0" sz="1800" spc="-10">
                          <a:solidFill>
                            <a:srgbClr val="4E3629"/>
                          </a:solidFill>
                          <a:latin typeface="Calibri"/>
                          <a:cs typeface="Calibri"/>
                        </a:rPr>
                        <a:t>department_id=50;</a:t>
                      </a:r>
                      <a:endParaRPr sz="1800">
                        <a:latin typeface="Calibri"/>
                        <a:cs typeface="Calibri"/>
                      </a:endParaRPr>
                    </a:p>
                  </a:txBody>
                  <a:tcPr marL="0" marR="0" marB="0" marT="0">
                    <a:lnL w="12700">
                      <a:solidFill>
                        <a:srgbClr val="D1350F"/>
                      </a:solidFill>
                      <a:prstDash val="solid"/>
                    </a:lnL>
                    <a:lnR w="12700">
                      <a:solidFill>
                        <a:srgbClr val="D1350F"/>
                      </a:solidFill>
                      <a:prstDash val="solid"/>
                    </a:lnR>
                    <a:lnB w="12700">
                      <a:solidFill>
                        <a:srgbClr val="D1350F"/>
                      </a:solidFill>
                      <a:prstDash val="solid"/>
                    </a:lnB>
                  </a:tcPr>
                </a:tc>
                <a:tc>
                  <a:txBody>
                    <a:bodyPr/>
                    <a:lstStyle/>
                    <a:p>
                      <a:pPr marL="90805">
                        <a:lnSpc>
                          <a:spcPts val="2105"/>
                        </a:lnSpc>
                      </a:pPr>
                      <a:r>
                        <a:rPr dirty="0" sz="1800" spc="-10">
                          <a:solidFill>
                            <a:srgbClr val="4E3629"/>
                          </a:solidFill>
                          <a:latin typeface="Calibri"/>
                          <a:cs typeface="Calibri"/>
                        </a:rPr>
                        <a:t>29-Jan-</a:t>
                      </a:r>
                      <a:r>
                        <a:rPr dirty="0" sz="1800" spc="-20">
                          <a:solidFill>
                            <a:srgbClr val="4E3629"/>
                          </a:solidFill>
                          <a:latin typeface="Calibri"/>
                          <a:cs typeface="Calibri"/>
                        </a:rPr>
                        <a:t>1997</a:t>
                      </a:r>
                      <a:endParaRPr sz="1800">
                        <a:latin typeface="Calibri"/>
                        <a:cs typeface="Calibri"/>
                      </a:endParaRPr>
                    </a:p>
                    <a:p>
                      <a:pPr marL="91440">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0">
                    <a:lnL w="12700">
                      <a:solidFill>
                        <a:srgbClr val="D1350F"/>
                      </a:solidFill>
                      <a:prstDash val="solid"/>
                    </a:lnL>
                    <a:lnR w="12700">
                      <a:solidFill>
                        <a:srgbClr val="D1350F"/>
                      </a:solidFill>
                      <a:prstDash val="solid"/>
                    </a:lnR>
                    <a:lnB w="12700">
                      <a:solidFill>
                        <a:srgbClr val="D1350F"/>
                      </a:solidFill>
                      <a:prstDash val="solid"/>
                    </a:lnB>
                  </a:tcPr>
                </a:tc>
                <a:tc>
                  <a:txBody>
                    <a:bodyPr/>
                    <a:lstStyle/>
                    <a:p>
                      <a:pPr marL="91440">
                        <a:lnSpc>
                          <a:spcPts val="2105"/>
                        </a:lnSpc>
                      </a:pPr>
                      <a:r>
                        <a:rPr dirty="0" sz="1800" spc="-10">
                          <a:solidFill>
                            <a:srgbClr val="4E3629"/>
                          </a:solidFill>
                          <a:latin typeface="Calibri"/>
                          <a:cs typeface="Calibri"/>
                        </a:rPr>
                        <a:t>01-Jan-</a:t>
                      </a:r>
                      <a:r>
                        <a:rPr dirty="0" sz="1800" spc="-20">
                          <a:solidFill>
                            <a:srgbClr val="4E3629"/>
                          </a:solidFill>
                          <a:latin typeface="Calibri"/>
                          <a:cs typeface="Calibri"/>
                        </a:rPr>
                        <a:t>1997</a:t>
                      </a:r>
                      <a:endParaRPr sz="1800">
                        <a:latin typeface="Calibri"/>
                        <a:cs typeface="Calibri"/>
                      </a:endParaRPr>
                    </a:p>
                    <a:p>
                      <a:pPr marL="92075">
                        <a:lnSpc>
                          <a:spcPct val="100000"/>
                        </a:lnSpc>
                        <a:spcBef>
                          <a:spcPts val="455"/>
                        </a:spcBef>
                      </a:pPr>
                      <a:r>
                        <a:rPr dirty="0" sz="1800" spc="-50">
                          <a:solidFill>
                            <a:srgbClr val="4E3629"/>
                          </a:solidFill>
                          <a:latin typeface="Calibri"/>
                          <a:cs typeface="Calibri"/>
                        </a:rPr>
                        <a:t>…</a:t>
                      </a:r>
                      <a:endParaRPr sz="1800">
                        <a:latin typeface="Calibri"/>
                        <a:cs typeface="Calibri"/>
                      </a:endParaRPr>
                    </a:p>
                  </a:txBody>
                  <a:tcPr marL="0" marR="0" marB="0" marT="0">
                    <a:lnL w="12700">
                      <a:solidFill>
                        <a:srgbClr val="D1350F"/>
                      </a:solidFill>
                      <a:prstDash val="solid"/>
                    </a:lnL>
                    <a:lnR w="12700">
                      <a:solidFill>
                        <a:srgbClr val="D1350F"/>
                      </a:solidFill>
                      <a:prstDash val="solid"/>
                    </a:lnR>
                    <a:lnB w="12700">
                      <a:solidFill>
                        <a:srgbClr val="D1350F"/>
                      </a:solidFill>
                      <a:prstDash val="solid"/>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p:cNvPicPr/>
            <p:nvPr/>
          </p:nvPicPr>
          <p:blipFill>
            <a:blip r:embed="rId3" cstate="print"/>
            <a:stretch>
              <a:fillRect/>
            </a:stretch>
          </p:blipFill>
          <p:spPr>
            <a:xfrm>
              <a:off x="970787" y="5570219"/>
              <a:ext cx="1258824" cy="420623"/>
            </a:xfrm>
            <a:prstGeom prst="rect">
              <a:avLst/>
            </a:prstGeom>
          </p:spPr>
        </p:pic>
      </p:grpSp>
      <p:sp>
        <p:nvSpPr>
          <p:cNvPr id="6" name="object 6"/>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descr="$PPTXTitle"/>
          <p:cNvSpPr txBox="1">
            <a:spLocks noGrp="1"/>
          </p:cNvSpPr>
          <p:nvPr>
            <p:ph type="body" idx="1"/>
          </p:nvPr>
        </p:nvSpPr>
        <p:spPr>
          <a:prstGeom prst="rect"/>
        </p:spPr>
        <p:txBody>
          <a:bodyPr wrap="square" lIns="0" tIns="153670" rIns="0" bIns="0" rtlCol="0" vert="horz">
            <a:spAutoFit/>
          </a:bodyPr>
          <a:lstStyle/>
          <a:p>
            <a:pPr marL="12700" marR="5080">
              <a:lnSpc>
                <a:spcPts val="4610"/>
              </a:lnSpc>
              <a:spcBef>
                <a:spcPts val="1210"/>
              </a:spcBef>
            </a:pPr>
            <a:r>
              <a:rPr dirty="0"/>
              <a:t>Database</a:t>
            </a:r>
            <a:r>
              <a:rPr dirty="0" spc="-190"/>
              <a:t> </a:t>
            </a:r>
            <a:r>
              <a:rPr dirty="0" spc="-20"/>
              <a:t>Programming</a:t>
            </a:r>
            <a:r>
              <a:rPr dirty="0" spc="-185"/>
              <a:t> </a:t>
            </a:r>
            <a:r>
              <a:rPr dirty="0" spc="-20"/>
              <a:t>with </a:t>
            </a:r>
            <a:r>
              <a:rPr dirty="0" spc="-25"/>
              <a:t>SQL</a:t>
            </a:r>
          </a:p>
        </p:txBody>
      </p:sp>
      <p:sp>
        <p:nvSpPr>
          <p:cNvPr id="8" name="object 8"/>
          <p:cNvSpPr txBox="1"/>
          <p:nvPr/>
        </p:nvSpPr>
        <p:spPr>
          <a:xfrm>
            <a:off x="962879" y="2400950"/>
            <a:ext cx="2024380"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5-</a:t>
            </a:r>
            <a:r>
              <a:rPr dirty="0" sz="2400" spc="-50" b="1">
                <a:solidFill>
                  <a:srgbClr val="4E3629"/>
                </a:solidFill>
                <a:latin typeface="Calibri"/>
                <a:cs typeface="Calibri"/>
              </a:rPr>
              <a:t>2</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Funciones</a:t>
            </a:r>
            <a:r>
              <a:rPr dirty="0" sz="2400" spc="-55" b="1">
                <a:solidFill>
                  <a:srgbClr val="4E3629"/>
                </a:solidFill>
                <a:latin typeface="Calibri"/>
                <a:cs typeface="Calibri"/>
              </a:rPr>
              <a:t> </a:t>
            </a:r>
            <a:r>
              <a:rPr dirty="0" sz="2400" spc="-20" b="1">
                <a:solidFill>
                  <a:srgbClr val="4E3629"/>
                </a:solidFill>
                <a:latin typeface="Calibri"/>
                <a:cs typeface="Calibri"/>
              </a:rPr>
              <a:t>NULL</a:t>
            </a:r>
            <a:endParaRPr sz="2400">
              <a:latin typeface="Calibri"/>
              <a:cs typeface="Calibri"/>
            </a:endParaRPr>
          </a:p>
        </p:txBody>
      </p:sp>
      <p:pic>
        <p:nvPicPr>
          <p:cNvPr id="9" name="object 9"/>
          <p:cNvPicPr/>
          <p:nvPr/>
        </p:nvPicPr>
        <p:blipFill>
          <a:blip r:embed="rId4" cstate="print"/>
          <a:stretch>
            <a:fillRect/>
          </a:stretch>
        </p:blipFill>
        <p:spPr>
          <a:xfrm>
            <a:off x="3697223" y="3485388"/>
            <a:ext cx="5059680" cy="297179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6708775" cy="528320"/>
          </a:xfrm>
          <a:prstGeom prst="rect"/>
        </p:spPr>
        <p:txBody>
          <a:bodyPr wrap="square" lIns="0" tIns="12700" rIns="0" bIns="0" rtlCol="0" vert="horz">
            <a:spAutoFit/>
          </a:bodyPr>
          <a:lstStyle/>
          <a:p>
            <a:pPr marL="12700">
              <a:lnSpc>
                <a:spcPct val="100000"/>
              </a:lnSpc>
              <a:spcBef>
                <a:spcPts val="100"/>
              </a:spcBef>
            </a:pPr>
            <a:r>
              <a:rPr dirty="0"/>
              <a:t>Método</a:t>
            </a:r>
            <a:r>
              <a:rPr dirty="0" spc="-70"/>
              <a:t> </a:t>
            </a:r>
            <a:r>
              <a:rPr dirty="0"/>
              <a:t>de</a:t>
            </a:r>
            <a:r>
              <a:rPr dirty="0" spc="-55"/>
              <a:t> </a:t>
            </a:r>
            <a:r>
              <a:rPr dirty="0" spc="-10"/>
              <a:t>Evaluación</a:t>
            </a:r>
            <a:r>
              <a:rPr dirty="0" spc="-50"/>
              <a:t> </a:t>
            </a:r>
            <a:r>
              <a:rPr dirty="0"/>
              <a:t>de</a:t>
            </a:r>
            <a:r>
              <a:rPr dirty="0" spc="-55"/>
              <a:t> </a:t>
            </a:r>
            <a:r>
              <a:rPr dirty="0"/>
              <a:t>las</a:t>
            </a:r>
            <a:r>
              <a:rPr dirty="0" spc="-75"/>
              <a:t> </a:t>
            </a:r>
            <a:r>
              <a:rPr dirty="0" spc="-10"/>
              <a:t>Funciones</a:t>
            </a:r>
          </a:p>
        </p:txBody>
      </p:sp>
      <p:sp>
        <p:nvSpPr>
          <p:cNvPr id="4" name="object 4"/>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5</a:t>
            </a: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9989"/>
            <a:ext cx="8163559" cy="4495800"/>
          </a:xfrm>
          <a:prstGeom prst="rect">
            <a:avLst/>
          </a:prstGeom>
        </p:spPr>
        <p:txBody>
          <a:bodyPr wrap="square" lIns="0" tIns="57785" rIns="0" bIns="0" rtlCol="0" vert="horz">
            <a:spAutoFit/>
          </a:bodyPr>
          <a:lstStyle/>
          <a:p>
            <a:pPr marL="184785" marR="796290" indent="-172720">
              <a:lnSpc>
                <a:spcPts val="2810"/>
              </a:lnSpc>
              <a:spcBef>
                <a:spcPts val="455"/>
              </a:spcBef>
              <a:buClr>
                <a:srgbClr val="D1350F"/>
              </a:buClr>
              <a:buFont typeface="Arial MT"/>
              <a:buChar char="•"/>
              <a:tabLst>
                <a:tab pos="184785" algn="l"/>
              </a:tabLst>
            </a:pPr>
            <a:r>
              <a:rPr dirty="0" sz="2600">
                <a:solidFill>
                  <a:srgbClr val="4E3629"/>
                </a:solidFill>
                <a:latin typeface="Calibri"/>
                <a:cs typeface="Calibri"/>
              </a:rPr>
              <a:t>Hasta</a:t>
            </a:r>
            <a:r>
              <a:rPr dirty="0" sz="2600" spc="-45">
                <a:solidFill>
                  <a:srgbClr val="4E3629"/>
                </a:solidFill>
                <a:latin typeface="Calibri"/>
                <a:cs typeface="Calibri"/>
              </a:rPr>
              <a:t> </a:t>
            </a:r>
            <a:r>
              <a:rPr dirty="0" sz="2600">
                <a:solidFill>
                  <a:srgbClr val="4E3629"/>
                </a:solidFill>
                <a:latin typeface="Calibri"/>
                <a:cs typeface="Calibri"/>
              </a:rPr>
              <a:t>ahora,</a:t>
            </a:r>
            <a:r>
              <a:rPr dirty="0" sz="2600" spc="-45">
                <a:solidFill>
                  <a:srgbClr val="4E3629"/>
                </a:solidFill>
                <a:latin typeface="Calibri"/>
                <a:cs typeface="Calibri"/>
              </a:rPr>
              <a:t> </a:t>
            </a:r>
            <a:r>
              <a:rPr dirty="0" sz="2600">
                <a:solidFill>
                  <a:srgbClr val="4E3629"/>
                </a:solidFill>
                <a:latin typeface="Calibri"/>
                <a:cs typeface="Calibri"/>
              </a:rPr>
              <a:t>ha</a:t>
            </a:r>
            <a:r>
              <a:rPr dirty="0" sz="2600" spc="-40">
                <a:solidFill>
                  <a:srgbClr val="4E3629"/>
                </a:solidFill>
                <a:latin typeface="Calibri"/>
                <a:cs typeface="Calibri"/>
              </a:rPr>
              <a:t> </a:t>
            </a:r>
            <a:r>
              <a:rPr dirty="0" sz="2600">
                <a:solidFill>
                  <a:srgbClr val="4E3629"/>
                </a:solidFill>
                <a:latin typeface="Calibri"/>
                <a:cs typeface="Calibri"/>
              </a:rPr>
              <a:t>aplicado</a:t>
            </a:r>
            <a:r>
              <a:rPr dirty="0" sz="2600" spc="-50">
                <a:solidFill>
                  <a:srgbClr val="4E3629"/>
                </a:solidFill>
                <a:latin typeface="Calibri"/>
                <a:cs typeface="Calibri"/>
              </a:rPr>
              <a:t> </a:t>
            </a:r>
            <a:r>
              <a:rPr dirty="0" sz="2600">
                <a:solidFill>
                  <a:srgbClr val="4E3629"/>
                </a:solidFill>
                <a:latin typeface="Calibri"/>
                <a:cs typeface="Calibri"/>
              </a:rPr>
              <a:t>funciones</a:t>
            </a:r>
            <a:r>
              <a:rPr dirty="0" sz="2600" spc="-7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a:solidFill>
                  <a:srgbClr val="4E3629"/>
                </a:solidFill>
                <a:latin typeface="Calibri"/>
                <a:cs typeface="Calibri"/>
              </a:rPr>
              <a:t>una</a:t>
            </a:r>
            <a:r>
              <a:rPr dirty="0" sz="2600" spc="-60">
                <a:solidFill>
                  <a:srgbClr val="4E3629"/>
                </a:solidFill>
                <a:latin typeface="Calibri"/>
                <a:cs typeface="Calibri"/>
              </a:rPr>
              <a:t> </a:t>
            </a:r>
            <a:r>
              <a:rPr dirty="0" sz="2600">
                <a:solidFill>
                  <a:srgbClr val="4E3629"/>
                </a:solidFill>
                <a:latin typeface="Calibri"/>
                <a:cs typeface="Calibri"/>
              </a:rPr>
              <a:t>sola</a:t>
            </a:r>
            <a:r>
              <a:rPr dirty="0" sz="2600" spc="-40">
                <a:solidFill>
                  <a:srgbClr val="4E3629"/>
                </a:solidFill>
                <a:latin typeface="Calibri"/>
                <a:cs typeface="Calibri"/>
              </a:rPr>
              <a:t> </a:t>
            </a:r>
            <a:r>
              <a:rPr dirty="0" sz="2600">
                <a:solidFill>
                  <a:srgbClr val="4E3629"/>
                </a:solidFill>
                <a:latin typeface="Calibri"/>
                <a:cs typeface="Calibri"/>
              </a:rPr>
              <a:t>fila</a:t>
            </a:r>
            <a:r>
              <a:rPr dirty="0" sz="2600" spc="-40">
                <a:solidFill>
                  <a:srgbClr val="4E3629"/>
                </a:solidFill>
                <a:latin typeface="Calibri"/>
                <a:cs typeface="Calibri"/>
              </a:rPr>
              <a:t> </a:t>
            </a:r>
            <a:r>
              <a:rPr dirty="0" sz="2600" spc="-25">
                <a:solidFill>
                  <a:srgbClr val="4E3629"/>
                </a:solidFill>
                <a:latin typeface="Calibri"/>
                <a:cs typeface="Calibri"/>
              </a:rPr>
              <a:t>en </a:t>
            </a:r>
            <a:r>
              <a:rPr dirty="0" sz="2600">
                <a:solidFill>
                  <a:srgbClr val="4E3629"/>
                </a:solidFill>
                <a:latin typeface="Calibri"/>
                <a:cs typeface="Calibri"/>
              </a:rPr>
              <a:t>sentencias</a:t>
            </a:r>
            <a:r>
              <a:rPr dirty="0" sz="2600" spc="-120">
                <a:solidFill>
                  <a:srgbClr val="4E3629"/>
                </a:solidFill>
                <a:latin typeface="Calibri"/>
                <a:cs typeface="Calibri"/>
              </a:rPr>
              <a:t> </a:t>
            </a:r>
            <a:r>
              <a:rPr dirty="0" sz="2600" spc="-10">
                <a:solidFill>
                  <a:srgbClr val="4E3629"/>
                </a:solidFill>
                <a:latin typeface="Calibri"/>
                <a:cs typeface="Calibri"/>
              </a:rPr>
              <a:t>simples</a:t>
            </a:r>
            <a:endParaRPr sz="2600">
              <a:latin typeface="Calibri"/>
              <a:cs typeface="Calibri"/>
            </a:endParaRPr>
          </a:p>
          <a:p>
            <a:pPr marL="184785" marR="2274570" indent="-172720">
              <a:lnSpc>
                <a:spcPts val="2810"/>
              </a:lnSpc>
              <a:spcBef>
                <a:spcPts val="800"/>
              </a:spcBef>
              <a:buClr>
                <a:srgbClr val="D1350F"/>
              </a:buClr>
              <a:buFont typeface="Arial MT"/>
              <a:buChar char="•"/>
              <a:tabLst>
                <a:tab pos="184785" algn="l"/>
              </a:tabLst>
            </a:pPr>
            <a:r>
              <a:rPr dirty="0" sz="2600">
                <a:solidFill>
                  <a:srgbClr val="4E3629"/>
                </a:solidFill>
                <a:latin typeface="Calibri"/>
                <a:cs typeface="Calibri"/>
              </a:rPr>
              <a:t>Sin</a:t>
            </a:r>
            <a:r>
              <a:rPr dirty="0" sz="2600" spc="-55">
                <a:solidFill>
                  <a:srgbClr val="4E3629"/>
                </a:solidFill>
                <a:latin typeface="Calibri"/>
                <a:cs typeface="Calibri"/>
              </a:rPr>
              <a:t> </a:t>
            </a:r>
            <a:r>
              <a:rPr dirty="0" sz="2600" spc="-10">
                <a:solidFill>
                  <a:srgbClr val="4E3629"/>
                </a:solidFill>
                <a:latin typeface="Calibri"/>
                <a:cs typeface="Calibri"/>
              </a:rPr>
              <a:t>embargo,</a:t>
            </a:r>
            <a:r>
              <a:rPr dirty="0" sz="2600" spc="-45">
                <a:solidFill>
                  <a:srgbClr val="4E3629"/>
                </a:solidFill>
                <a:latin typeface="Calibri"/>
                <a:cs typeface="Calibri"/>
              </a:rPr>
              <a:t> </a:t>
            </a:r>
            <a:r>
              <a:rPr dirty="0" sz="2600">
                <a:solidFill>
                  <a:srgbClr val="4E3629"/>
                </a:solidFill>
                <a:latin typeface="Calibri"/>
                <a:cs typeface="Calibri"/>
              </a:rPr>
              <a:t>es</a:t>
            </a:r>
            <a:r>
              <a:rPr dirty="0" sz="2600" spc="-50">
                <a:solidFill>
                  <a:srgbClr val="4E3629"/>
                </a:solidFill>
                <a:latin typeface="Calibri"/>
                <a:cs typeface="Calibri"/>
              </a:rPr>
              <a:t> </a:t>
            </a:r>
            <a:r>
              <a:rPr dirty="0" sz="2600">
                <a:solidFill>
                  <a:srgbClr val="4E3629"/>
                </a:solidFill>
                <a:latin typeface="Calibri"/>
                <a:cs typeface="Calibri"/>
              </a:rPr>
              <a:t>posible</a:t>
            </a:r>
            <a:r>
              <a:rPr dirty="0" sz="2600" spc="-65">
                <a:solidFill>
                  <a:srgbClr val="4E3629"/>
                </a:solidFill>
                <a:latin typeface="Calibri"/>
                <a:cs typeface="Calibri"/>
              </a:rPr>
              <a:t> </a:t>
            </a:r>
            <a:r>
              <a:rPr dirty="0" sz="2600">
                <a:solidFill>
                  <a:srgbClr val="4E3629"/>
                </a:solidFill>
                <a:latin typeface="Calibri"/>
                <a:cs typeface="Calibri"/>
              </a:rPr>
              <a:t>anidar</a:t>
            </a:r>
            <a:r>
              <a:rPr dirty="0" sz="2600" spc="-45">
                <a:solidFill>
                  <a:srgbClr val="4E3629"/>
                </a:solidFill>
                <a:latin typeface="Calibri"/>
                <a:cs typeface="Calibri"/>
              </a:rPr>
              <a:t> </a:t>
            </a:r>
            <a:r>
              <a:rPr dirty="0" sz="2600">
                <a:solidFill>
                  <a:srgbClr val="4E3629"/>
                </a:solidFill>
                <a:latin typeface="Calibri"/>
                <a:cs typeface="Calibri"/>
              </a:rPr>
              <a:t>funciones</a:t>
            </a:r>
            <a:r>
              <a:rPr dirty="0" sz="2600" spc="-70">
                <a:solidFill>
                  <a:srgbClr val="4E3629"/>
                </a:solidFill>
                <a:latin typeface="Calibri"/>
                <a:cs typeface="Calibri"/>
              </a:rPr>
              <a:t> </a:t>
            </a:r>
            <a:r>
              <a:rPr dirty="0" sz="2600" spc="-50">
                <a:solidFill>
                  <a:srgbClr val="4E3629"/>
                </a:solidFill>
                <a:latin typeface="Calibri"/>
                <a:cs typeface="Calibri"/>
              </a:rPr>
              <a:t>a </a:t>
            </a:r>
            <a:r>
              <a:rPr dirty="0" sz="2600">
                <a:solidFill>
                  <a:srgbClr val="4E3629"/>
                </a:solidFill>
                <a:latin typeface="Calibri"/>
                <a:cs typeface="Calibri"/>
              </a:rPr>
              <a:t>cualquier</a:t>
            </a:r>
            <a:r>
              <a:rPr dirty="0" sz="2600" spc="-45">
                <a:solidFill>
                  <a:srgbClr val="4E3629"/>
                </a:solidFill>
                <a:latin typeface="Calibri"/>
                <a:cs typeface="Calibri"/>
              </a:rPr>
              <a:t> </a:t>
            </a:r>
            <a:r>
              <a:rPr dirty="0" sz="2600" spc="-10">
                <a:solidFill>
                  <a:srgbClr val="4E3629"/>
                </a:solidFill>
                <a:latin typeface="Calibri"/>
                <a:cs typeface="Calibri"/>
              </a:rPr>
              <a:t>profundidad</a:t>
            </a:r>
            <a:endParaRPr sz="2600">
              <a:latin typeface="Calibri"/>
              <a:cs typeface="Calibri"/>
            </a:endParaRPr>
          </a:p>
          <a:p>
            <a:pPr marL="184785" marR="1151890" indent="-172720">
              <a:lnSpc>
                <a:spcPts val="2810"/>
              </a:lnSpc>
              <a:spcBef>
                <a:spcPts val="785"/>
              </a:spcBef>
              <a:buClr>
                <a:srgbClr val="D1350F"/>
              </a:buClr>
              <a:buFont typeface="Arial MT"/>
              <a:buChar char="•"/>
              <a:tabLst>
                <a:tab pos="184785" algn="l"/>
              </a:tabLst>
            </a:pPr>
            <a:r>
              <a:rPr dirty="0" sz="2600">
                <a:solidFill>
                  <a:srgbClr val="4E3629"/>
                </a:solidFill>
                <a:latin typeface="Calibri"/>
                <a:cs typeface="Calibri"/>
              </a:rPr>
              <a:t>Es</a:t>
            </a:r>
            <a:r>
              <a:rPr dirty="0" sz="2600" spc="-35">
                <a:solidFill>
                  <a:srgbClr val="4E3629"/>
                </a:solidFill>
                <a:latin typeface="Calibri"/>
                <a:cs typeface="Calibri"/>
              </a:rPr>
              <a:t> </a:t>
            </a:r>
            <a:r>
              <a:rPr dirty="0" sz="2600" spc="-10">
                <a:solidFill>
                  <a:srgbClr val="4E3629"/>
                </a:solidFill>
                <a:latin typeface="Calibri"/>
                <a:cs typeface="Calibri"/>
              </a:rPr>
              <a:t>importante</a:t>
            </a:r>
            <a:r>
              <a:rPr dirty="0" sz="2600" spc="-45">
                <a:solidFill>
                  <a:srgbClr val="4E3629"/>
                </a:solidFill>
                <a:latin typeface="Calibri"/>
                <a:cs typeface="Calibri"/>
              </a:rPr>
              <a:t> </a:t>
            </a:r>
            <a:r>
              <a:rPr dirty="0" sz="2600">
                <a:solidFill>
                  <a:srgbClr val="4E3629"/>
                </a:solidFill>
                <a:latin typeface="Calibri"/>
                <a:cs typeface="Calibri"/>
              </a:rPr>
              <a:t>saber</a:t>
            </a:r>
            <a:r>
              <a:rPr dirty="0" sz="2600" spc="-50">
                <a:solidFill>
                  <a:srgbClr val="4E3629"/>
                </a:solidFill>
                <a:latin typeface="Calibri"/>
                <a:cs typeface="Calibri"/>
              </a:rPr>
              <a:t> </a:t>
            </a:r>
            <a:r>
              <a:rPr dirty="0" sz="2600">
                <a:solidFill>
                  <a:srgbClr val="4E3629"/>
                </a:solidFill>
                <a:latin typeface="Calibri"/>
                <a:cs typeface="Calibri"/>
              </a:rPr>
              <a:t>cómo</a:t>
            </a:r>
            <a:r>
              <a:rPr dirty="0" sz="2600" spc="-25">
                <a:solidFill>
                  <a:srgbClr val="4E3629"/>
                </a:solidFill>
                <a:latin typeface="Calibri"/>
                <a:cs typeface="Calibri"/>
              </a:rPr>
              <a:t> </a:t>
            </a:r>
            <a:r>
              <a:rPr dirty="0" sz="2600">
                <a:solidFill>
                  <a:srgbClr val="4E3629"/>
                </a:solidFill>
                <a:latin typeface="Calibri"/>
                <a:cs typeface="Calibri"/>
              </a:rPr>
              <a:t>se</a:t>
            </a:r>
            <a:r>
              <a:rPr dirty="0" sz="2600" spc="-55">
                <a:solidFill>
                  <a:srgbClr val="4E3629"/>
                </a:solidFill>
                <a:latin typeface="Calibri"/>
                <a:cs typeface="Calibri"/>
              </a:rPr>
              <a:t> </a:t>
            </a:r>
            <a:r>
              <a:rPr dirty="0" sz="2600">
                <a:solidFill>
                  <a:srgbClr val="4E3629"/>
                </a:solidFill>
                <a:latin typeface="Calibri"/>
                <a:cs typeface="Calibri"/>
              </a:rPr>
              <a:t>evalúan</a:t>
            </a:r>
            <a:r>
              <a:rPr dirty="0" sz="2600" spc="-45">
                <a:solidFill>
                  <a:srgbClr val="4E3629"/>
                </a:solidFill>
                <a:latin typeface="Calibri"/>
                <a:cs typeface="Calibri"/>
              </a:rPr>
              <a:t> </a:t>
            </a:r>
            <a:r>
              <a:rPr dirty="0" sz="2600">
                <a:solidFill>
                  <a:srgbClr val="4E3629"/>
                </a:solidFill>
                <a:latin typeface="Calibri"/>
                <a:cs typeface="Calibri"/>
              </a:rPr>
              <a:t>las</a:t>
            </a:r>
            <a:r>
              <a:rPr dirty="0" sz="2600" spc="-45">
                <a:solidFill>
                  <a:srgbClr val="4E3629"/>
                </a:solidFill>
                <a:latin typeface="Calibri"/>
                <a:cs typeface="Calibri"/>
              </a:rPr>
              <a:t> </a:t>
            </a:r>
            <a:r>
              <a:rPr dirty="0" sz="2600" spc="-10">
                <a:solidFill>
                  <a:srgbClr val="4E3629"/>
                </a:solidFill>
                <a:latin typeface="Calibri"/>
                <a:cs typeface="Calibri"/>
              </a:rPr>
              <a:t>funciones anidadas</a:t>
            </a:r>
            <a:endParaRPr sz="2600">
              <a:latin typeface="Calibri"/>
              <a:cs typeface="Calibri"/>
            </a:endParaRPr>
          </a:p>
          <a:p>
            <a:pPr marL="184785" marR="5080" indent="-172720">
              <a:lnSpc>
                <a:spcPts val="2810"/>
              </a:lnSpc>
              <a:spcBef>
                <a:spcPts val="805"/>
              </a:spcBef>
              <a:buClr>
                <a:srgbClr val="D1350F"/>
              </a:buClr>
              <a:buFont typeface="Arial MT"/>
              <a:buChar char="•"/>
              <a:tabLst>
                <a:tab pos="184785" algn="l"/>
              </a:tabLst>
            </a:pPr>
            <a:r>
              <a:rPr dirty="0" u="heavy" sz="2600">
                <a:solidFill>
                  <a:srgbClr val="4E3629"/>
                </a:solidFill>
                <a:uFill>
                  <a:solidFill>
                    <a:srgbClr val="EC2814"/>
                  </a:solidFill>
                </a:uFill>
                <a:latin typeface="Calibri"/>
                <a:cs typeface="Calibri"/>
              </a:rPr>
              <a:t>"Anidación"</a:t>
            </a:r>
            <a:r>
              <a:rPr dirty="0" u="heavy" sz="2600" spc="-6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hace</a:t>
            </a:r>
            <a:r>
              <a:rPr dirty="0" u="heavy" sz="2600" spc="-45">
                <a:solidFill>
                  <a:srgbClr val="4E3629"/>
                </a:solidFill>
                <a:uFill>
                  <a:solidFill>
                    <a:srgbClr val="EC2814"/>
                  </a:solidFill>
                </a:uFill>
                <a:latin typeface="Calibri"/>
                <a:cs typeface="Calibri"/>
              </a:rPr>
              <a:t> </a:t>
            </a:r>
            <a:r>
              <a:rPr dirty="0" u="heavy" sz="2600" spc="-20">
                <a:solidFill>
                  <a:srgbClr val="4E3629"/>
                </a:solidFill>
                <a:uFill>
                  <a:solidFill>
                    <a:srgbClr val="EC2814"/>
                  </a:solidFill>
                </a:uFill>
                <a:latin typeface="Calibri"/>
                <a:cs typeface="Calibri"/>
              </a:rPr>
              <a:t>referencia</a:t>
            </a:r>
            <a:r>
              <a:rPr dirty="0" u="heavy" sz="2600" spc="-6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a</a:t>
            </a:r>
            <a:r>
              <a:rPr dirty="0" u="heavy" sz="2600" spc="-2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una</a:t>
            </a:r>
            <a:r>
              <a:rPr dirty="0" u="heavy" sz="2600" spc="-4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cosa</a:t>
            </a:r>
            <a:r>
              <a:rPr dirty="0" u="heavy" sz="2600" spc="-2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que</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está</a:t>
            </a:r>
            <a:r>
              <a:rPr dirty="0" u="heavy" sz="2600" spc="-4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incluida</a:t>
            </a:r>
            <a:r>
              <a:rPr dirty="0" u="heavy" sz="2600" spc="-50">
                <a:solidFill>
                  <a:srgbClr val="4E3629"/>
                </a:solidFill>
                <a:uFill>
                  <a:solidFill>
                    <a:srgbClr val="EC2814"/>
                  </a:solidFill>
                </a:uFill>
                <a:latin typeface="Calibri"/>
                <a:cs typeface="Calibri"/>
              </a:rPr>
              <a:t> </a:t>
            </a:r>
            <a:r>
              <a:rPr dirty="0" u="heavy" sz="2600" spc="-25">
                <a:solidFill>
                  <a:srgbClr val="4E3629"/>
                </a:solidFill>
                <a:uFill>
                  <a:solidFill>
                    <a:srgbClr val="EC2814"/>
                  </a:solidFill>
                </a:uFill>
                <a:latin typeface="Calibri"/>
                <a:cs typeface="Calibri"/>
              </a:rPr>
              <a:t>en</a:t>
            </a:r>
            <a:r>
              <a:rPr dirty="0" sz="2600" spc="-25">
                <a:solidFill>
                  <a:srgbClr val="4E3629"/>
                </a:solidFill>
                <a:latin typeface="Calibri"/>
                <a:cs typeface="Calibri"/>
              </a:rPr>
              <a:t> </a:t>
            </a:r>
            <a:r>
              <a:rPr dirty="0" u="heavy" sz="2600">
                <a:solidFill>
                  <a:srgbClr val="4E3629"/>
                </a:solidFill>
                <a:uFill>
                  <a:solidFill>
                    <a:srgbClr val="EC2814"/>
                  </a:solidFill>
                </a:uFill>
                <a:latin typeface="Calibri"/>
                <a:cs typeface="Calibri"/>
              </a:rPr>
              <a:t>otra</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cosa</a:t>
            </a:r>
            <a:r>
              <a:rPr dirty="0" sz="2600" spc="-50">
                <a:solidFill>
                  <a:srgbClr val="4E3629"/>
                </a:solidFill>
                <a:latin typeface="Calibri"/>
                <a:cs typeface="Calibri"/>
              </a:rPr>
              <a:t> </a:t>
            </a:r>
            <a:r>
              <a:rPr dirty="0" sz="2600">
                <a:solidFill>
                  <a:srgbClr val="4E3629"/>
                </a:solidFill>
                <a:latin typeface="Calibri"/>
                <a:cs typeface="Calibri"/>
              </a:rPr>
              <a:t>(como</a:t>
            </a:r>
            <a:r>
              <a:rPr dirty="0" sz="2600" spc="-45">
                <a:solidFill>
                  <a:srgbClr val="4E3629"/>
                </a:solidFill>
                <a:latin typeface="Calibri"/>
                <a:cs typeface="Calibri"/>
              </a:rPr>
              <a:t> </a:t>
            </a:r>
            <a:r>
              <a:rPr dirty="0" sz="2600">
                <a:solidFill>
                  <a:srgbClr val="4E3629"/>
                </a:solidFill>
                <a:latin typeface="Calibri"/>
                <a:cs typeface="Calibri"/>
              </a:rPr>
              <a:t>un</a:t>
            </a:r>
            <a:r>
              <a:rPr dirty="0" sz="2600" spc="-60">
                <a:solidFill>
                  <a:srgbClr val="4E3629"/>
                </a:solidFill>
                <a:latin typeface="Calibri"/>
                <a:cs typeface="Calibri"/>
              </a:rPr>
              <a:t> </a:t>
            </a:r>
            <a:r>
              <a:rPr dirty="0" sz="2600">
                <a:solidFill>
                  <a:srgbClr val="4E3629"/>
                </a:solidFill>
                <a:latin typeface="Calibri"/>
                <a:cs typeface="Calibri"/>
              </a:rPr>
              <a:t>huevo</a:t>
            </a:r>
            <a:r>
              <a:rPr dirty="0" sz="2600" spc="-70">
                <a:solidFill>
                  <a:srgbClr val="4E3629"/>
                </a:solidFill>
                <a:latin typeface="Calibri"/>
                <a:cs typeface="Calibri"/>
              </a:rPr>
              <a:t> </a:t>
            </a:r>
            <a:r>
              <a:rPr dirty="0" sz="2600">
                <a:solidFill>
                  <a:srgbClr val="4E3629"/>
                </a:solidFill>
                <a:latin typeface="Calibri"/>
                <a:cs typeface="Calibri"/>
              </a:rPr>
              <a:t>dentro</a:t>
            </a:r>
            <a:r>
              <a:rPr dirty="0" sz="2600" spc="-80">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un</a:t>
            </a:r>
            <a:r>
              <a:rPr dirty="0" sz="2600" spc="-65">
                <a:solidFill>
                  <a:srgbClr val="4E3629"/>
                </a:solidFill>
                <a:latin typeface="Calibri"/>
                <a:cs typeface="Calibri"/>
              </a:rPr>
              <a:t> </a:t>
            </a:r>
            <a:r>
              <a:rPr dirty="0" sz="2600" spc="-10">
                <a:solidFill>
                  <a:srgbClr val="4E3629"/>
                </a:solidFill>
                <a:latin typeface="Calibri"/>
                <a:cs typeface="Calibri"/>
              </a:rPr>
              <a:t>nido)</a:t>
            </a:r>
            <a:endParaRPr sz="2600">
              <a:latin typeface="Calibri"/>
              <a:cs typeface="Calibri"/>
            </a:endParaRPr>
          </a:p>
          <a:p>
            <a:pPr marL="184785" indent="-172085">
              <a:lnSpc>
                <a:spcPct val="100000"/>
              </a:lnSpc>
              <a:spcBef>
                <a:spcPts val="445"/>
              </a:spcBef>
              <a:buClr>
                <a:srgbClr val="D1350F"/>
              </a:buClr>
              <a:buFont typeface="Arial MT"/>
              <a:buChar char="•"/>
              <a:tabLst>
                <a:tab pos="184785" algn="l"/>
              </a:tabLst>
            </a:pP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siguiente</a:t>
            </a:r>
            <a:r>
              <a:rPr dirty="0" sz="2600" spc="-70">
                <a:solidFill>
                  <a:srgbClr val="4E3629"/>
                </a:solidFill>
                <a:latin typeface="Calibri"/>
                <a:cs typeface="Calibri"/>
              </a:rPr>
              <a:t> </a:t>
            </a:r>
            <a:r>
              <a:rPr dirty="0" sz="2600">
                <a:solidFill>
                  <a:srgbClr val="4E3629"/>
                </a:solidFill>
                <a:latin typeface="Calibri"/>
                <a:cs typeface="Calibri"/>
              </a:rPr>
              <a:t>ejemplo</a:t>
            </a:r>
            <a:r>
              <a:rPr dirty="0" sz="2600" spc="-55">
                <a:solidFill>
                  <a:srgbClr val="4E3629"/>
                </a:solidFill>
                <a:latin typeface="Calibri"/>
                <a:cs typeface="Calibri"/>
              </a:rPr>
              <a:t> </a:t>
            </a:r>
            <a:r>
              <a:rPr dirty="0" sz="2600" spc="-10">
                <a:solidFill>
                  <a:srgbClr val="4E3629"/>
                </a:solidFill>
                <a:latin typeface="Calibri"/>
                <a:cs typeface="Calibri"/>
              </a:rPr>
              <a:t>muestra</a:t>
            </a:r>
            <a:r>
              <a:rPr dirty="0" sz="2600" spc="-75">
                <a:solidFill>
                  <a:srgbClr val="4E3629"/>
                </a:solidFill>
                <a:latin typeface="Calibri"/>
                <a:cs typeface="Calibri"/>
              </a:rPr>
              <a:t> </a:t>
            </a:r>
            <a:r>
              <a:rPr dirty="0" sz="2600">
                <a:solidFill>
                  <a:srgbClr val="4E3629"/>
                </a:solidFill>
                <a:latin typeface="Calibri"/>
                <a:cs typeface="Calibri"/>
              </a:rPr>
              <a:t>una</a:t>
            </a:r>
            <a:r>
              <a:rPr dirty="0" sz="2600" spc="-50">
                <a:solidFill>
                  <a:srgbClr val="4E3629"/>
                </a:solidFill>
                <a:latin typeface="Calibri"/>
                <a:cs typeface="Calibri"/>
              </a:rPr>
              <a:t> </a:t>
            </a:r>
            <a:r>
              <a:rPr dirty="0" sz="2600">
                <a:solidFill>
                  <a:srgbClr val="4E3629"/>
                </a:solidFill>
                <a:latin typeface="Calibri"/>
                <a:cs typeface="Calibri"/>
              </a:rPr>
              <a:t>función</a:t>
            </a:r>
            <a:r>
              <a:rPr dirty="0" sz="2600" spc="-50">
                <a:solidFill>
                  <a:srgbClr val="4E3629"/>
                </a:solidFill>
                <a:latin typeface="Calibri"/>
                <a:cs typeface="Calibri"/>
              </a:rPr>
              <a:t> </a:t>
            </a:r>
            <a:r>
              <a:rPr dirty="0" sz="2600" spc="-10">
                <a:solidFill>
                  <a:srgbClr val="4E3629"/>
                </a:solidFill>
                <a:latin typeface="Calibri"/>
                <a:cs typeface="Calibri"/>
              </a:rPr>
              <a:t>anidada</a:t>
            </a:r>
            <a:endParaRPr sz="2600">
              <a:latin typeface="Calibri"/>
              <a:cs typeface="Calibri"/>
            </a:endParaRPr>
          </a:p>
          <a:p>
            <a:pPr marL="184785" marR="951230" indent="-172720">
              <a:lnSpc>
                <a:spcPts val="2810"/>
              </a:lnSpc>
              <a:spcBef>
                <a:spcPts val="835"/>
              </a:spcBef>
              <a:buClr>
                <a:srgbClr val="D1350F"/>
              </a:buClr>
              <a:buFont typeface="Arial MT"/>
              <a:buChar char="•"/>
              <a:tabLst>
                <a:tab pos="184785" algn="l"/>
              </a:tabLst>
            </a:pPr>
            <a:r>
              <a:rPr dirty="0" sz="2600">
                <a:solidFill>
                  <a:srgbClr val="4E3629"/>
                </a:solidFill>
                <a:latin typeface="Calibri"/>
                <a:cs typeface="Calibri"/>
              </a:rPr>
              <a:t>El</a:t>
            </a:r>
            <a:r>
              <a:rPr dirty="0" sz="2600" spc="-50">
                <a:solidFill>
                  <a:srgbClr val="4E3629"/>
                </a:solidFill>
                <a:latin typeface="Calibri"/>
                <a:cs typeface="Calibri"/>
              </a:rPr>
              <a:t> </a:t>
            </a:r>
            <a:r>
              <a:rPr dirty="0" sz="2600">
                <a:solidFill>
                  <a:srgbClr val="4E3629"/>
                </a:solidFill>
                <a:latin typeface="Calibri"/>
                <a:cs typeface="Calibri"/>
              </a:rPr>
              <a:t>proceso</a:t>
            </a:r>
            <a:r>
              <a:rPr dirty="0" sz="2600" spc="-60">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evaluación</a:t>
            </a:r>
            <a:r>
              <a:rPr dirty="0" sz="2600" spc="-70">
                <a:solidFill>
                  <a:srgbClr val="4E3629"/>
                </a:solidFill>
                <a:latin typeface="Calibri"/>
                <a:cs typeface="Calibri"/>
              </a:rPr>
              <a:t> </a:t>
            </a:r>
            <a:r>
              <a:rPr dirty="0" sz="2600">
                <a:solidFill>
                  <a:srgbClr val="4E3629"/>
                </a:solidFill>
                <a:latin typeface="Calibri"/>
                <a:cs typeface="Calibri"/>
              </a:rPr>
              <a:t>empieza</a:t>
            </a:r>
            <a:r>
              <a:rPr dirty="0" sz="2600" spc="-70">
                <a:solidFill>
                  <a:srgbClr val="4E3629"/>
                </a:solidFill>
                <a:latin typeface="Calibri"/>
                <a:cs typeface="Calibri"/>
              </a:rPr>
              <a:t> </a:t>
            </a:r>
            <a:r>
              <a:rPr dirty="0" sz="2600">
                <a:solidFill>
                  <a:srgbClr val="4E3629"/>
                </a:solidFill>
                <a:latin typeface="Calibri"/>
                <a:cs typeface="Calibri"/>
              </a:rPr>
              <a:t>desde</a:t>
            </a:r>
            <a:r>
              <a:rPr dirty="0" sz="2600" spc="-75">
                <a:solidFill>
                  <a:srgbClr val="4E3629"/>
                </a:solidFill>
                <a:latin typeface="Calibri"/>
                <a:cs typeface="Calibri"/>
              </a:rPr>
              <a:t> </a:t>
            </a:r>
            <a:r>
              <a:rPr dirty="0" sz="2600">
                <a:solidFill>
                  <a:srgbClr val="4E3629"/>
                </a:solidFill>
                <a:latin typeface="Calibri"/>
                <a:cs typeface="Calibri"/>
              </a:rPr>
              <a:t>el</a:t>
            </a:r>
            <a:r>
              <a:rPr dirty="0" sz="2600" spc="-55">
                <a:solidFill>
                  <a:srgbClr val="4E3629"/>
                </a:solidFill>
                <a:latin typeface="Calibri"/>
                <a:cs typeface="Calibri"/>
              </a:rPr>
              <a:t> </a:t>
            </a:r>
            <a:r>
              <a:rPr dirty="0" sz="2600">
                <a:solidFill>
                  <a:srgbClr val="4E3629"/>
                </a:solidFill>
                <a:latin typeface="Calibri"/>
                <a:cs typeface="Calibri"/>
              </a:rPr>
              <a:t>nivel</a:t>
            </a:r>
            <a:r>
              <a:rPr dirty="0" sz="2600" spc="-55">
                <a:solidFill>
                  <a:srgbClr val="4E3629"/>
                </a:solidFill>
                <a:latin typeface="Calibri"/>
                <a:cs typeface="Calibri"/>
              </a:rPr>
              <a:t> </a:t>
            </a:r>
            <a:r>
              <a:rPr dirty="0" sz="2600" spc="-25">
                <a:solidFill>
                  <a:srgbClr val="4E3629"/>
                </a:solidFill>
                <a:latin typeface="Calibri"/>
                <a:cs typeface="Calibri"/>
              </a:rPr>
              <a:t>más </a:t>
            </a:r>
            <a:r>
              <a:rPr dirty="0" sz="2600">
                <a:solidFill>
                  <a:srgbClr val="4E3629"/>
                </a:solidFill>
                <a:latin typeface="Calibri"/>
                <a:cs typeface="Calibri"/>
              </a:rPr>
              <a:t>profundo</a:t>
            </a:r>
            <a:r>
              <a:rPr dirty="0" sz="2600" spc="-90">
                <a:solidFill>
                  <a:srgbClr val="4E3629"/>
                </a:solidFill>
                <a:latin typeface="Calibri"/>
                <a:cs typeface="Calibri"/>
              </a:rPr>
              <a:t> </a:t>
            </a:r>
            <a:r>
              <a:rPr dirty="0" sz="2600">
                <a:solidFill>
                  <a:srgbClr val="4E3629"/>
                </a:solidFill>
                <a:latin typeface="Calibri"/>
                <a:cs typeface="Calibri"/>
              </a:rPr>
              <a:t>hasta</a:t>
            </a:r>
            <a:r>
              <a:rPr dirty="0" sz="2600" spc="-45">
                <a:solidFill>
                  <a:srgbClr val="4E3629"/>
                </a:solidFill>
                <a:latin typeface="Calibri"/>
                <a:cs typeface="Calibri"/>
              </a:rPr>
              <a:t> </a:t>
            </a:r>
            <a:r>
              <a:rPr dirty="0" sz="2600">
                <a:solidFill>
                  <a:srgbClr val="4E3629"/>
                </a:solidFill>
                <a:latin typeface="Calibri"/>
                <a:cs typeface="Calibri"/>
              </a:rPr>
              <a:t>el</a:t>
            </a:r>
            <a:r>
              <a:rPr dirty="0" sz="2600" spc="-60">
                <a:solidFill>
                  <a:srgbClr val="4E3629"/>
                </a:solidFill>
                <a:latin typeface="Calibri"/>
                <a:cs typeface="Calibri"/>
              </a:rPr>
              <a:t> </a:t>
            </a:r>
            <a:r>
              <a:rPr dirty="0" sz="2600">
                <a:solidFill>
                  <a:srgbClr val="4E3629"/>
                </a:solidFill>
                <a:latin typeface="Calibri"/>
                <a:cs typeface="Calibri"/>
              </a:rPr>
              <a:t>nivel</a:t>
            </a:r>
            <a:r>
              <a:rPr dirty="0" sz="2600" spc="-70">
                <a:solidFill>
                  <a:srgbClr val="4E3629"/>
                </a:solidFill>
                <a:latin typeface="Calibri"/>
                <a:cs typeface="Calibri"/>
              </a:rPr>
              <a:t> </a:t>
            </a:r>
            <a:r>
              <a:rPr dirty="0" sz="2600">
                <a:solidFill>
                  <a:srgbClr val="4E3629"/>
                </a:solidFill>
                <a:latin typeface="Calibri"/>
                <a:cs typeface="Calibri"/>
              </a:rPr>
              <a:t>menos</a:t>
            </a:r>
            <a:r>
              <a:rPr dirty="0" sz="2600" spc="-60">
                <a:solidFill>
                  <a:srgbClr val="4E3629"/>
                </a:solidFill>
                <a:latin typeface="Calibri"/>
                <a:cs typeface="Calibri"/>
              </a:rPr>
              <a:t> </a:t>
            </a:r>
            <a:r>
              <a:rPr dirty="0" sz="2600" spc="-10">
                <a:solidFill>
                  <a:srgbClr val="4E3629"/>
                </a:solidFill>
                <a:latin typeface="Calibri"/>
                <a:cs typeface="Calibri"/>
              </a:rPr>
              <a:t>profundo</a:t>
            </a:r>
            <a:endParaRPr sz="26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6708775" cy="528320"/>
          </a:xfrm>
          <a:prstGeom prst="rect"/>
        </p:spPr>
        <p:txBody>
          <a:bodyPr wrap="square" lIns="0" tIns="12700" rIns="0" bIns="0" rtlCol="0" vert="horz">
            <a:spAutoFit/>
          </a:bodyPr>
          <a:lstStyle/>
          <a:p>
            <a:pPr marL="12700">
              <a:lnSpc>
                <a:spcPct val="100000"/>
              </a:lnSpc>
              <a:spcBef>
                <a:spcPts val="100"/>
              </a:spcBef>
            </a:pPr>
            <a:r>
              <a:rPr dirty="0"/>
              <a:t>Método</a:t>
            </a:r>
            <a:r>
              <a:rPr dirty="0" spc="-70"/>
              <a:t> </a:t>
            </a:r>
            <a:r>
              <a:rPr dirty="0"/>
              <a:t>de</a:t>
            </a:r>
            <a:r>
              <a:rPr dirty="0" spc="-55"/>
              <a:t> </a:t>
            </a:r>
            <a:r>
              <a:rPr dirty="0" spc="-10"/>
              <a:t>Evaluación</a:t>
            </a:r>
            <a:r>
              <a:rPr dirty="0" spc="-50"/>
              <a:t> </a:t>
            </a:r>
            <a:r>
              <a:rPr dirty="0"/>
              <a:t>de</a:t>
            </a:r>
            <a:r>
              <a:rPr dirty="0" spc="-55"/>
              <a:t> </a:t>
            </a:r>
            <a:r>
              <a:rPr dirty="0"/>
              <a:t>las</a:t>
            </a:r>
            <a:r>
              <a:rPr dirty="0" spc="-75"/>
              <a:t> </a:t>
            </a:r>
            <a:r>
              <a:rPr dirty="0" spc="-10"/>
              <a:t>Funciones</a:t>
            </a:r>
          </a:p>
        </p:txBody>
      </p:sp>
      <p:sp>
        <p:nvSpPr>
          <p:cNvPr id="3" name="object 3"/>
          <p:cNvSpPr txBox="1"/>
          <p:nvPr/>
        </p:nvSpPr>
        <p:spPr>
          <a:xfrm>
            <a:off x="483552" y="2850345"/>
            <a:ext cx="4104004" cy="858519"/>
          </a:xfrm>
          <a:prstGeom prst="rect">
            <a:avLst/>
          </a:prstGeom>
        </p:spPr>
        <p:txBody>
          <a:bodyPr wrap="square" lIns="0" tIns="34290" rIns="0" bIns="0" rtlCol="0" vert="horz">
            <a:spAutoFit/>
          </a:bodyPr>
          <a:lstStyle/>
          <a:p>
            <a:pPr marL="183515" indent="-170815">
              <a:lnSpc>
                <a:spcPct val="100000"/>
              </a:lnSpc>
              <a:spcBef>
                <a:spcPts val="270"/>
              </a:spcBef>
              <a:buClr>
                <a:srgbClr val="D1350F"/>
              </a:buClr>
              <a:buFont typeface="Arial MT"/>
              <a:buChar char="•"/>
              <a:tabLst>
                <a:tab pos="183515" algn="l"/>
              </a:tabLst>
            </a:pPr>
            <a:r>
              <a:rPr dirty="0" sz="2800">
                <a:solidFill>
                  <a:srgbClr val="4E3629"/>
                </a:solidFill>
                <a:latin typeface="Calibri"/>
                <a:cs typeface="Calibri"/>
              </a:rPr>
              <a:t>Los</a:t>
            </a:r>
            <a:r>
              <a:rPr dirty="0" sz="2800" spc="-105">
                <a:solidFill>
                  <a:srgbClr val="4E3629"/>
                </a:solidFill>
                <a:latin typeface="Calibri"/>
                <a:cs typeface="Calibri"/>
              </a:rPr>
              <a:t> </a:t>
            </a:r>
            <a:r>
              <a:rPr dirty="0" sz="2800">
                <a:solidFill>
                  <a:srgbClr val="4E3629"/>
                </a:solidFill>
                <a:latin typeface="Calibri"/>
                <a:cs typeface="Calibri"/>
              </a:rPr>
              <a:t>resultados</a:t>
            </a:r>
            <a:r>
              <a:rPr dirty="0" sz="2800" spc="-80">
                <a:solidFill>
                  <a:srgbClr val="4E3629"/>
                </a:solidFill>
                <a:latin typeface="Calibri"/>
                <a:cs typeface="Calibri"/>
              </a:rPr>
              <a:t> </a:t>
            </a:r>
            <a:r>
              <a:rPr dirty="0" sz="2800" spc="-20">
                <a:solidFill>
                  <a:srgbClr val="4E3629"/>
                </a:solidFill>
                <a:latin typeface="Calibri"/>
                <a:cs typeface="Calibri"/>
              </a:rPr>
              <a:t>son:</a:t>
            </a:r>
            <a:endParaRPr sz="2800">
              <a:latin typeface="Calibri"/>
              <a:cs typeface="Calibri"/>
            </a:endParaRPr>
          </a:p>
          <a:p>
            <a:pPr marL="355600">
              <a:lnSpc>
                <a:spcPct val="100000"/>
              </a:lnSpc>
              <a:spcBef>
                <a:spcPts val="145"/>
              </a:spcBef>
            </a:pPr>
            <a:r>
              <a:rPr dirty="0" sz="2400">
                <a:solidFill>
                  <a:srgbClr val="D1350F"/>
                </a:solidFill>
                <a:latin typeface="Calibri"/>
                <a:cs typeface="Calibri"/>
              </a:rPr>
              <a:t>−</a:t>
            </a:r>
            <a:r>
              <a:rPr dirty="0" sz="2400">
                <a:solidFill>
                  <a:srgbClr val="4E3629"/>
                </a:solidFill>
                <a:latin typeface="Calibri"/>
                <a:cs typeface="Calibri"/>
              </a:rPr>
              <a:t>Friday,</a:t>
            </a:r>
            <a:r>
              <a:rPr dirty="0" sz="2400" spc="-80">
                <a:solidFill>
                  <a:srgbClr val="4E3629"/>
                </a:solidFill>
                <a:latin typeface="Calibri"/>
                <a:cs typeface="Calibri"/>
              </a:rPr>
              <a:t> </a:t>
            </a:r>
            <a:r>
              <a:rPr dirty="0" sz="2400">
                <a:solidFill>
                  <a:srgbClr val="4E3629"/>
                </a:solidFill>
                <a:latin typeface="Calibri"/>
                <a:cs typeface="Calibri"/>
              </a:rPr>
              <a:t>December</a:t>
            </a:r>
            <a:r>
              <a:rPr dirty="0" sz="2400" spc="-80">
                <a:solidFill>
                  <a:srgbClr val="4E3629"/>
                </a:solidFill>
                <a:latin typeface="Calibri"/>
                <a:cs typeface="Calibri"/>
              </a:rPr>
              <a:t> </a:t>
            </a:r>
            <a:r>
              <a:rPr dirty="0" sz="2400">
                <a:solidFill>
                  <a:srgbClr val="4E3629"/>
                </a:solidFill>
                <a:latin typeface="Calibri"/>
                <a:cs typeface="Calibri"/>
              </a:rPr>
              <a:t>18th,</a:t>
            </a:r>
            <a:r>
              <a:rPr dirty="0" sz="2400" spc="-70">
                <a:solidFill>
                  <a:srgbClr val="4E3629"/>
                </a:solidFill>
                <a:latin typeface="Calibri"/>
                <a:cs typeface="Calibri"/>
              </a:rPr>
              <a:t> </a:t>
            </a:r>
            <a:r>
              <a:rPr dirty="0" sz="2400" spc="-20">
                <a:solidFill>
                  <a:srgbClr val="4E3629"/>
                </a:solidFill>
                <a:latin typeface="Calibri"/>
                <a:cs typeface="Calibri"/>
              </a:rPr>
              <a:t>1987</a:t>
            </a:r>
            <a:endParaRPr sz="2400">
              <a:latin typeface="Calibri"/>
              <a:cs typeface="Calibri"/>
            </a:endParaRPr>
          </a:p>
        </p:txBody>
      </p:sp>
      <p:sp>
        <p:nvSpPr>
          <p:cNvPr id="4" name="object 4"/>
          <p:cNvSpPr txBox="1"/>
          <p:nvPr/>
        </p:nvSpPr>
        <p:spPr>
          <a:xfrm>
            <a:off x="405384" y="1336547"/>
            <a:ext cx="8345805" cy="1341120"/>
          </a:xfrm>
          <a:prstGeom prst="rect">
            <a:avLst/>
          </a:prstGeom>
          <a:solidFill>
            <a:srgbClr val="9DBEC4">
              <a:alpha val="50199"/>
            </a:srgbClr>
          </a:solidFill>
        </p:spPr>
        <p:txBody>
          <a:bodyPr wrap="square" lIns="0" tIns="94615" rIns="0" bIns="0" rtlCol="0" vert="horz">
            <a:spAutoFit/>
          </a:bodyPr>
          <a:lstStyle/>
          <a:p>
            <a:pPr>
              <a:lnSpc>
                <a:spcPct val="100000"/>
              </a:lnSpc>
              <a:spcBef>
                <a:spcPts val="745"/>
              </a:spcBef>
            </a:pPr>
            <a:r>
              <a:rPr dirty="0" sz="1800" b="1">
                <a:solidFill>
                  <a:srgbClr val="4E3629"/>
                </a:solidFill>
                <a:latin typeface="Courier New"/>
                <a:cs typeface="Courier New"/>
              </a:rPr>
              <a:t>SELECT</a:t>
            </a:r>
            <a:r>
              <a:rPr dirty="0" sz="1800" spc="-35" b="1">
                <a:solidFill>
                  <a:srgbClr val="4E3629"/>
                </a:solidFill>
                <a:latin typeface="Courier New"/>
                <a:cs typeface="Courier New"/>
              </a:rPr>
              <a:t> </a:t>
            </a:r>
            <a:r>
              <a:rPr dirty="0" sz="1800" spc="-10" b="1">
                <a:solidFill>
                  <a:srgbClr val="4E3629"/>
                </a:solidFill>
                <a:latin typeface="Courier New"/>
                <a:cs typeface="Courier New"/>
              </a:rPr>
              <a:t>TO_CHAR(NEXT_DAY(ADD_MONTHS(hire_date,</a:t>
            </a:r>
            <a:r>
              <a:rPr dirty="0" sz="1800" spc="-20" b="1">
                <a:solidFill>
                  <a:srgbClr val="4E3629"/>
                </a:solidFill>
                <a:latin typeface="Courier New"/>
                <a:cs typeface="Courier New"/>
              </a:rPr>
              <a:t> </a:t>
            </a:r>
            <a:r>
              <a:rPr dirty="0" sz="1800" b="1">
                <a:solidFill>
                  <a:srgbClr val="4E3629"/>
                </a:solidFill>
                <a:latin typeface="Courier New"/>
                <a:cs typeface="Courier New"/>
              </a:rPr>
              <a:t>6),</a:t>
            </a:r>
            <a:r>
              <a:rPr dirty="0" sz="1800" spc="-30" b="1">
                <a:solidFill>
                  <a:srgbClr val="4E3629"/>
                </a:solidFill>
                <a:latin typeface="Courier New"/>
                <a:cs typeface="Courier New"/>
              </a:rPr>
              <a:t> </a:t>
            </a:r>
            <a:r>
              <a:rPr dirty="0" sz="1800" spc="-10" b="1">
                <a:solidFill>
                  <a:srgbClr val="4E3629"/>
                </a:solidFill>
                <a:latin typeface="Courier New"/>
                <a:cs typeface="Courier New"/>
              </a:rPr>
              <a:t>'FRIDAY'),</a:t>
            </a:r>
            <a:endParaRPr sz="1800">
              <a:latin typeface="Courier New"/>
              <a:cs typeface="Courier New"/>
            </a:endParaRPr>
          </a:p>
          <a:p>
            <a:pPr marR="1922145">
              <a:lnSpc>
                <a:spcPct val="100000"/>
              </a:lnSpc>
            </a:pPr>
            <a:r>
              <a:rPr dirty="0" sz="1800" b="1">
                <a:solidFill>
                  <a:srgbClr val="4E3629"/>
                </a:solidFill>
                <a:latin typeface="Courier New"/>
                <a:cs typeface="Courier New"/>
              </a:rPr>
              <a:t>'fmDay,</a:t>
            </a:r>
            <a:r>
              <a:rPr dirty="0" sz="1800" spc="-65" b="1">
                <a:solidFill>
                  <a:srgbClr val="4E3629"/>
                </a:solidFill>
                <a:latin typeface="Courier New"/>
                <a:cs typeface="Courier New"/>
              </a:rPr>
              <a:t> </a:t>
            </a:r>
            <a:r>
              <a:rPr dirty="0" sz="1800" b="1">
                <a:solidFill>
                  <a:srgbClr val="4E3629"/>
                </a:solidFill>
                <a:latin typeface="Courier New"/>
                <a:cs typeface="Courier New"/>
              </a:rPr>
              <a:t>Month</a:t>
            </a:r>
            <a:r>
              <a:rPr dirty="0" sz="1800" spc="-50" b="1">
                <a:solidFill>
                  <a:srgbClr val="4E3629"/>
                </a:solidFill>
                <a:latin typeface="Courier New"/>
                <a:cs typeface="Courier New"/>
              </a:rPr>
              <a:t> </a:t>
            </a:r>
            <a:r>
              <a:rPr dirty="0" sz="1800" b="1">
                <a:solidFill>
                  <a:srgbClr val="4E3629"/>
                </a:solidFill>
                <a:latin typeface="Courier New"/>
                <a:cs typeface="Courier New"/>
              </a:rPr>
              <a:t>ddth,</a:t>
            </a:r>
            <a:r>
              <a:rPr dirty="0" sz="1800" spc="-50" b="1">
                <a:solidFill>
                  <a:srgbClr val="4E3629"/>
                </a:solidFill>
                <a:latin typeface="Courier New"/>
                <a:cs typeface="Courier New"/>
              </a:rPr>
              <a:t> </a:t>
            </a:r>
            <a:r>
              <a:rPr dirty="0" sz="1800" b="1">
                <a:solidFill>
                  <a:srgbClr val="4E3629"/>
                </a:solidFill>
                <a:latin typeface="Courier New"/>
                <a:cs typeface="Courier New"/>
              </a:rPr>
              <a:t>YYYY')</a:t>
            </a:r>
            <a:r>
              <a:rPr dirty="0" sz="1800" spc="-50" b="1">
                <a:solidFill>
                  <a:srgbClr val="4E3629"/>
                </a:solidFill>
                <a:latin typeface="Courier New"/>
                <a:cs typeface="Courier New"/>
              </a:rPr>
              <a:t> </a:t>
            </a:r>
            <a:r>
              <a:rPr dirty="0" sz="1800" b="1">
                <a:solidFill>
                  <a:srgbClr val="4E3629"/>
                </a:solidFill>
                <a:latin typeface="Courier New"/>
                <a:cs typeface="Courier New"/>
              </a:rPr>
              <a:t>AS</a:t>
            </a:r>
            <a:r>
              <a:rPr dirty="0" sz="1800" spc="-50" b="1">
                <a:solidFill>
                  <a:srgbClr val="4E3629"/>
                </a:solidFill>
                <a:latin typeface="Courier New"/>
                <a:cs typeface="Courier New"/>
              </a:rPr>
              <a:t> </a:t>
            </a:r>
            <a:r>
              <a:rPr dirty="0" sz="1800" b="1">
                <a:solidFill>
                  <a:srgbClr val="4E3629"/>
                </a:solidFill>
                <a:latin typeface="Courier New"/>
                <a:cs typeface="Courier New"/>
              </a:rPr>
              <a:t>"Next</a:t>
            </a:r>
            <a:r>
              <a:rPr dirty="0" sz="1800" spc="-50" b="1">
                <a:solidFill>
                  <a:srgbClr val="4E3629"/>
                </a:solidFill>
                <a:latin typeface="Courier New"/>
                <a:cs typeface="Courier New"/>
              </a:rPr>
              <a:t> </a:t>
            </a:r>
            <a:r>
              <a:rPr dirty="0" sz="1800" spc="-10" b="1">
                <a:solidFill>
                  <a:srgbClr val="4E3629"/>
                </a:solidFill>
                <a:latin typeface="Courier New"/>
                <a:cs typeface="Courier New"/>
              </a:rPr>
              <a:t>Evaluation"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70" b="1">
                <a:solidFill>
                  <a:srgbClr val="4E3629"/>
                </a:solidFill>
                <a:latin typeface="Courier New"/>
                <a:cs typeface="Courier New"/>
              </a:rPr>
              <a:t> </a:t>
            </a:r>
            <a:r>
              <a:rPr dirty="0" sz="1800" b="1">
                <a:solidFill>
                  <a:srgbClr val="4E3629"/>
                </a:solidFill>
                <a:latin typeface="Courier New"/>
                <a:cs typeface="Courier New"/>
              </a:rPr>
              <a:t>employee_id</a:t>
            </a:r>
            <a:r>
              <a:rPr dirty="0" sz="1800" spc="-45" b="1">
                <a:solidFill>
                  <a:srgbClr val="4E3629"/>
                </a:solidFill>
                <a:latin typeface="Courier New"/>
                <a:cs typeface="Courier New"/>
              </a:rPr>
              <a:t> </a:t>
            </a:r>
            <a:r>
              <a:rPr dirty="0" sz="1800" b="1">
                <a:solidFill>
                  <a:srgbClr val="4E3629"/>
                </a:solidFill>
                <a:latin typeface="Courier New"/>
                <a:cs typeface="Courier New"/>
              </a:rPr>
              <a:t>=</a:t>
            </a:r>
            <a:r>
              <a:rPr dirty="0" sz="1800" spc="-55" b="1">
                <a:solidFill>
                  <a:srgbClr val="4E3629"/>
                </a:solidFill>
                <a:latin typeface="Courier New"/>
                <a:cs typeface="Courier New"/>
              </a:rPr>
              <a:t> </a:t>
            </a:r>
            <a:r>
              <a:rPr dirty="0" sz="1800" spc="-20" b="1">
                <a:solidFill>
                  <a:srgbClr val="4E3629"/>
                </a:solidFill>
                <a:latin typeface="Courier New"/>
                <a:cs typeface="Courier New"/>
              </a:rPr>
              <a:t>100;</a:t>
            </a:r>
            <a:endParaRPr sz="1800">
              <a:latin typeface="Courier New"/>
              <a:cs typeface="Courier New"/>
            </a:endParaRPr>
          </a:p>
        </p:txBody>
      </p:sp>
      <p:grpSp>
        <p:nvGrpSpPr>
          <p:cNvPr id="5" name="object 5"/>
          <p:cNvGrpSpPr/>
          <p:nvPr/>
        </p:nvGrpSpPr>
        <p:grpSpPr>
          <a:xfrm>
            <a:off x="5387340" y="3561588"/>
            <a:ext cx="3185160" cy="2428240"/>
            <a:chOff x="5387340" y="3561588"/>
            <a:chExt cx="3185160" cy="2428240"/>
          </a:xfrm>
        </p:grpSpPr>
        <p:pic>
          <p:nvPicPr>
            <p:cNvPr id="6" name="object 6"/>
            <p:cNvPicPr/>
            <p:nvPr/>
          </p:nvPicPr>
          <p:blipFill>
            <a:blip r:embed="rId2" cstate="print"/>
            <a:stretch>
              <a:fillRect/>
            </a:stretch>
          </p:blipFill>
          <p:spPr>
            <a:xfrm>
              <a:off x="5387340" y="3561588"/>
              <a:ext cx="3185160" cy="2427731"/>
            </a:xfrm>
            <a:prstGeom prst="rect">
              <a:avLst/>
            </a:prstGeom>
          </p:spPr>
        </p:pic>
        <p:pic>
          <p:nvPicPr>
            <p:cNvPr id="7" name="object 7"/>
            <p:cNvPicPr/>
            <p:nvPr/>
          </p:nvPicPr>
          <p:blipFill>
            <a:blip r:embed="rId3" cstate="print"/>
            <a:stretch>
              <a:fillRect/>
            </a:stretch>
          </p:blipFill>
          <p:spPr>
            <a:xfrm>
              <a:off x="5483352" y="3649980"/>
              <a:ext cx="2993134" cy="2250947"/>
            </a:xfrm>
            <a:prstGeom prst="rect">
              <a:avLst/>
            </a:prstGeom>
          </p:spPr>
        </p:pic>
      </p:grpSp>
      <p:sp>
        <p:nvSpPr>
          <p:cNvPr id="8" name="object 8"/>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6</a:t>
            </a:r>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6708775" cy="528320"/>
          </a:xfrm>
          <a:prstGeom prst="rect"/>
        </p:spPr>
        <p:txBody>
          <a:bodyPr wrap="square" lIns="0" tIns="12700" rIns="0" bIns="0" rtlCol="0" vert="horz">
            <a:spAutoFit/>
          </a:bodyPr>
          <a:lstStyle/>
          <a:p>
            <a:pPr marL="12700">
              <a:lnSpc>
                <a:spcPct val="100000"/>
              </a:lnSpc>
              <a:spcBef>
                <a:spcPts val="100"/>
              </a:spcBef>
            </a:pPr>
            <a:r>
              <a:rPr dirty="0"/>
              <a:t>Método</a:t>
            </a:r>
            <a:r>
              <a:rPr dirty="0" spc="-70"/>
              <a:t> </a:t>
            </a:r>
            <a:r>
              <a:rPr dirty="0"/>
              <a:t>de</a:t>
            </a:r>
            <a:r>
              <a:rPr dirty="0" spc="-55"/>
              <a:t> </a:t>
            </a:r>
            <a:r>
              <a:rPr dirty="0" spc="-10"/>
              <a:t>Evaluación</a:t>
            </a:r>
            <a:r>
              <a:rPr dirty="0" spc="-50"/>
              <a:t> </a:t>
            </a:r>
            <a:r>
              <a:rPr dirty="0"/>
              <a:t>de</a:t>
            </a:r>
            <a:r>
              <a:rPr dirty="0" spc="-55"/>
              <a:t> </a:t>
            </a:r>
            <a:r>
              <a:rPr dirty="0"/>
              <a:t>las</a:t>
            </a:r>
            <a:r>
              <a:rPr dirty="0" spc="-75"/>
              <a:t> </a:t>
            </a:r>
            <a:r>
              <a:rPr dirty="0" spc="-10"/>
              <a:t>Funciones</a:t>
            </a:r>
          </a:p>
        </p:txBody>
      </p:sp>
      <p:sp>
        <p:nvSpPr>
          <p:cNvPr id="5" name="object 5"/>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6" name="object 6"/>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7</a:t>
            </a: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2643761"/>
            <a:ext cx="8046084" cy="3161665"/>
          </a:xfrm>
          <a:prstGeom prst="rect">
            <a:avLst/>
          </a:prstGeom>
        </p:spPr>
        <p:txBody>
          <a:bodyPr wrap="square" lIns="0" tIns="89535" rIns="0" bIns="0" rtlCol="0" vert="horz">
            <a:spAutoFit/>
          </a:bodyPr>
          <a:lstStyle/>
          <a:p>
            <a:pPr marL="184785" marR="220979" indent="-172720">
              <a:lnSpc>
                <a:spcPts val="2500"/>
              </a:lnSpc>
              <a:spcBef>
                <a:spcPts val="705"/>
              </a:spcBef>
              <a:buClr>
                <a:srgbClr val="D1350F"/>
              </a:buClr>
              <a:buFont typeface="Arial MT"/>
              <a:buChar char="•"/>
              <a:tabLst>
                <a:tab pos="184785" algn="l"/>
              </a:tabLst>
            </a:pPr>
            <a:r>
              <a:rPr dirty="0" sz="2600">
                <a:solidFill>
                  <a:srgbClr val="4E3629"/>
                </a:solidFill>
                <a:latin typeface="Calibri"/>
                <a:cs typeface="Calibri"/>
              </a:rPr>
              <a:t>Paso</a:t>
            </a:r>
            <a:r>
              <a:rPr dirty="0" sz="2600" spc="-40">
                <a:solidFill>
                  <a:srgbClr val="4E3629"/>
                </a:solidFill>
                <a:latin typeface="Calibri"/>
                <a:cs typeface="Calibri"/>
              </a:rPr>
              <a:t> </a:t>
            </a:r>
            <a:r>
              <a:rPr dirty="0" sz="2600">
                <a:solidFill>
                  <a:srgbClr val="4E3629"/>
                </a:solidFill>
                <a:latin typeface="Calibri"/>
                <a:cs typeface="Calibri"/>
              </a:rPr>
              <a:t>1:</a:t>
            </a:r>
            <a:r>
              <a:rPr dirty="0" sz="2600" spc="-35">
                <a:solidFill>
                  <a:srgbClr val="4E3629"/>
                </a:solidFill>
                <a:latin typeface="Calibri"/>
                <a:cs typeface="Calibri"/>
              </a:rPr>
              <a:t> </a:t>
            </a:r>
            <a:r>
              <a:rPr dirty="0" sz="2600">
                <a:solidFill>
                  <a:srgbClr val="4E3629"/>
                </a:solidFill>
                <a:latin typeface="Calibri"/>
                <a:cs typeface="Calibri"/>
              </a:rPr>
              <a:t>A</a:t>
            </a:r>
            <a:r>
              <a:rPr dirty="0" sz="2600" spc="-55">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a:solidFill>
                  <a:srgbClr val="4E3629"/>
                </a:solidFill>
                <a:latin typeface="Calibri"/>
                <a:cs typeface="Calibri"/>
              </a:rPr>
              <a:t>fecha</a:t>
            </a:r>
            <a:r>
              <a:rPr dirty="0" sz="2600" spc="-55">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spc="-20">
                <a:solidFill>
                  <a:srgbClr val="4E3629"/>
                </a:solidFill>
                <a:latin typeface="Calibri"/>
                <a:cs typeface="Calibri"/>
              </a:rPr>
              <a:t>contratación</a:t>
            </a:r>
            <a:r>
              <a:rPr dirty="0" sz="2600" spc="-40">
                <a:solidFill>
                  <a:srgbClr val="4E3629"/>
                </a:solidFill>
                <a:latin typeface="Calibri"/>
                <a:cs typeface="Calibri"/>
              </a:rPr>
              <a:t> </a:t>
            </a:r>
            <a:r>
              <a:rPr dirty="0" sz="2600">
                <a:solidFill>
                  <a:srgbClr val="4E3629"/>
                </a:solidFill>
                <a:latin typeface="Calibri"/>
                <a:cs typeface="Calibri"/>
              </a:rPr>
              <a:t>se</a:t>
            </a:r>
            <a:r>
              <a:rPr dirty="0" sz="2600" spc="-50">
                <a:solidFill>
                  <a:srgbClr val="4E3629"/>
                </a:solidFill>
                <a:latin typeface="Calibri"/>
                <a:cs typeface="Calibri"/>
              </a:rPr>
              <a:t> </a:t>
            </a:r>
            <a:r>
              <a:rPr dirty="0" sz="2600">
                <a:solidFill>
                  <a:srgbClr val="4E3629"/>
                </a:solidFill>
                <a:latin typeface="Calibri"/>
                <a:cs typeface="Calibri"/>
              </a:rPr>
              <a:t>le</a:t>
            </a:r>
            <a:r>
              <a:rPr dirty="0" sz="2600" spc="-45">
                <a:solidFill>
                  <a:srgbClr val="4E3629"/>
                </a:solidFill>
                <a:latin typeface="Calibri"/>
                <a:cs typeface="Calibri"/>
              </a:rPr>
              <a:t> </a:t>
            </a:r>
            <a:r>
              <a:rPr dirty="0" sz="2600">
                <a:solidFill>
                  <a:srgbClr val="4E3629"/>
                </a:solidFill>
                <a:latin typeface="Calibri"/>
                <a:cs typeface="Calibri"/>
              </a:rPr>
              <a:t>van</a:t>
            </a:r>
            <a:r>
              <a:rPr dirty="0" sz="2600" spc="-50">
                <a:solidFill>
                  <a:srgbClr val="4E3629"/>
                </a:solidFill>
                <a:latin typeface="Calibri"/>
                <a:cs typeface="Calibri"/>
              </a:rPr>
              <a:t> </a:t>
            </a:r>
            <a:r>
              <a:rPr dirty="0" sz="2600">
                <a:solidFill>
                  <a:srgbClr val="4E3629"/>
                </a:solidFill>
                <a:latin typeface="Calibri"/>
                <a:cs typeface="Calibri"/>
              </a:rPr>
              <a:t>a</a:t>
            </a:r>
            <a:r>
              <a:rPr dirty="0" sz="2600" spc="-25">
                <a:solidFill>
                  <a:srgbClr val="4E3629"/>
                </a:solidFill>
                <a:latin typeface="Calibri"/>
                <a:cs typeface="Calibri"/>
              </a:rPr>
              <a:t> </a:t>
            </a:r>
            <a:r>
              <a:rPr dirty="0" sz="2600">
                <a:solidFill>
                  <a:srgbClr val="4E3629"/>
                </a:solidFill>
                <a:latin typeface="Calibri"/>
                <a:cs typeface="Calibri"/>
              </a:rPr>
              <a:t>agregar</a:t>
            </a:r>
            <a:r>
              <a:rPr dirty="0" sz="2600" spc="-35">
                <a:solidFill>
                  <a:srgbClr val="4E3629"/>
                </a:solidFill>
                <a:latin typeface="Calibri"/>
                <a:cs typeface="Calibri"/>
              </a:rPr>
              <a:t> </a:t>
            </a:r>
            <a:r>
              <a:rPr dirty="0" sz="2600" spc="-20">
                <a:solidFill>
                  <a:srgbClr val="4E3629"/>
                </a:solidFill>
                <a:latin typeface="Calibri"/>
                <a:cs typeface="Calibri"/>
              </a:rPr>
              <a:t>seis </a:t>
            </a:r>
            <a:r>
              <a:rPr dirty="0" sz="2600" spc="-10">
                <a:solidFill>
                  <a:srgbClr val="4E3629"/>
                </a:solidFill>
                <a:latin typeface="Calibri"/>
                <a:cs typeface="Calibri"/>
              </a:rPr>
              <a:t>meses</a:t>
            </a:r>
            <a:endParaRPr sz="2600">
              <a:latin typeface="Calibri"/>
              <a:cs typeface="Calibri"/>
            </a:endParaRPr>
          </a:p>
          <a:p>
            <a:pPr marL="184785" marR="500380" indent="-172720">
              <a:lnSpc>
                <a:spcPts val="2500"/>
              </a:lnSpc>
              <a:spcBef>
                <a:spcPts val="795"/>
              </a:spcBef>
              <a:buClr>
                <a:srgbClr val="D1350F"/>
              </a:buClr>
              <a:buFont typeface="Arial MT"/>
              <a:buChar char="•"/>
              <a:tabLst>
                <a:tab pos="184785" algn="l"/>
              </a:tabLst>
            </a:pPr>
            <a:r>
              <a:rPr dirty="0" sz="2600">
                <a:solidFill>
                  <a:srgbClr val="4E3629"/>
                </a:solidFill>
                <a:latin typeface="Calibri"/>
                <a:cs typeface="Calibri"/>
              </a:rPr>
              <a:t>Paso</a:t>
            </a:r>
            <a:r>
              <a:rPr dirty="0" sz="2600" spc="-40">
                <a:solidFill>
                  <a:srgbClr val="4E3629"/>
                </a:solidFill>
                <a:latin typeface="Calibri"/>
                <a:cs typeface="Calibri"/>
              </a:rPr>
              <a:t> </a:t>
            </a:r>
            <a:r>
              <a:rPr dirty="0" sz="2600">
                <a:solidFill>
                  <a:srgbClr val="4E3629"/>
                </a:solidFill>
                <a:latin typeface="Calibri"/>
                <a:cs typeface="Calibri"/>
              </a:rPr>
              <a:t>2:</a:t>
            </a:r>
            <a:r>
              <a:rPr dirty="0" sz="2600" spc="-35">
                <a:solidFill>
                  <a:srgbClr val="4E3629"/>
                </a:solidFill>
                <a:latin typeface="Calibri"/>
                <a:cs typeface="Calibri"/>
              </a:rPr>
              <a:t> </a:t>
            </a:r>
            <a:r>
              <a:rPr dirty="0" sz="2600">
                <a:solidFill>
                  <a:srgbClr val="4E3629"/>
                </a:solidFill>
                <a:latin typeface="Calibri"/>
                <a:cs typeface="Calibri"/>
              </a:rPr>
              <a:t>Se</a:t>
            </a:r>
            <a:r>
              <a:rPr dirty="0" sz="2600" spc="-50">
                <a:solidFill>
                  <a:srgbClr val="4E3629"/>
                </a:solidFill>
                <a:latin typeface="Calibri"/>
                <a:cs typeface="Calibri"/>
              </a:rPr>
              <a:t> </a:t>
            </a:r>
            <a:r>
              <a:rPr dirty="0" sz="2600" spc="-10">
                <a:solidFill>
                  <a:srgbClr val="4E3629"/>
                </a:solidFill>
                <a:latin typeface="Calibri"/>
                <a:cs typeface="Calibri"/>
              </a:rPr>
              <a:t>identificará</a:t>
            </a:r>
            <a:r>
              <a:rPr dirty="0" sz="2600" spc="-70">
                <a:solidFill>
                  <a:srgbClr val="4E3629"/>
                </a:solidFill>
                <a:latin typeface="Calibri"/>
                <a:cs typeface="Calibri"/>
              </a:rPr>
              <a:t> </a:t>
            </a:r>
            <a:r>
              <a:rPr dirty="0" sz="2600">
                <a:solidFill>
                  <a:srgbClr val="4E3629"/>
                </a:solidFill>
                <a:latin typeface="Calibri"/>
                <a:cs typeface="Calibri"/>
              </a:rPr>
              <a:t>el</a:t>
            </a:r>
            <a:r>
              <a:rPr dirty="0" sz="2600" spc="-35">
                <a:solidFill>
                  <a:srgbClr val="4E3629"/>
                </a:solidFill>
                <a:latin typeface="Calibri"/>
                <a:cs typeface="Calibri"/>
              </a:rPr>
              <a:t> </a:t>
            </a:r>
            <a:r>
              <a:rPr dirty="0" sz="2600">
                <a:solidFill>
                  <a:srgbClr val="4E3629"/>
                </a:solidFill>
                <a:latin typeface="Calibri"/>
                <a:cs typeface="Calibri"/>
              </a:rPr>
              <a:t>primer</a:t>
            </a:r>
            <a:r>
              <a:rPr dirty="0" sz="2600" spc="-45">
                <a:solidFill>
                  <a:srgbClr val="4E3629"/>
                </a:solidFill>
                <a:latin typeface="Calibri"/>
                <a:cs typeface="Calibri"/>
              </a:rPr>
              <a:t> </a:t>
            </a:r>
            <a:r>
              <a:rPr dirty="0" sz="2600">
                <a:solidFill>
                  <a:srgbClr val="4E3629"/>
                </a:solidFill>
                <a:latin typeface="Calibri"/>
                <a:cs typeface="Calibri"/>
              </a:rPr>
              <a:t>viernes</a:t>
            </a:r>
            <a:r>
              <a:rPr dirty="0" sz="2600" spc="-65">
                <a:solidFill>
                  <a:srgbClr val="4E3629"/>
                </a:solidFill>
                <a:latin typeface="Calibri"/>
                <a:cs typeface="Calibri"/>
              </a:rPr>
              <a:t> </a:t>
            </a:r>
            <a:r>
              <a:rPr dirty="0" sz="2600">
                <a:solidFill>
                  <a:srgbClr val="4E3629"/>
                </a:solidFill>
                <a:latin typeface="Calibri"/>
                <a:cs typeface="Calibri"/>
              </a:rPr>
              <a:t>siguiente</a:t>
            </a:r>
            <a:r>
              <a:rPr dirty="0" sz="2600" spc="-65">
                <a:solidFill>
                  <a:srgbClr val="4E3629"/>
                </a:solidFill>
                <a:latin typeface="Calibri"/>
                <a:cs typeface="Calibri"/>
              </a:rPr>
              <a:t> </a:t>
            </a:r>
            <a:r>
              <a:rPr dirty="0" sz="2600">
                <a:solidFill>
                  <a:srgbClr val="4E3629"/>
                </a:solidFill>
                <a:latin typeface="Calibri"/>
                <a:cs typeface="Calibri"/>
              </a:rPr>
              <a:t>al</a:t>
            </a:r>
            <a:r>
              <a:rPr dirty="0" sz="2600" spc="-35">
                <a:solidFill>
                  <a:srgbClr val="4E3629"/>
                </a:solidFill>
                <a:latin typeface="Calibri"/>
                <a:cs typeface="Calibri"/>
              </a:rPr>
              <a:t> </a:t>
            </a:r>
            <a:r>
              <a:rPr dirty="0" sz="2600" spc="-25">
                <a:solidFill>
                  <a:srgbClr val="4E3629"/>
                </a:solidFill>
                <a:latin typeface="Calibri"/>
                <a:cs typeface="Calibri"/>
              </a:rPr>
              <a:t>día </a:t>
            </a:r>
            <a:r>
              <a:rPr dirty="0" sz="2600">
                <a:solidFill>
                  <a:srgbClr val="4E3629"/>
                </a:solidFill>
                <a:latin typeface="Calibri"/>
                <a:cs typeface="Calibri"/>
              </a:rPr>
              <a:t>devuelto</a:t>
            </a:r>
            <a:r>
              <a:rPr dirty="0" sz="2600" spc="-60">
                <a:solidFill>
                  <a:srgbClr val="4E3629"/>
                </a:solidFill>
                <a:latin typeface="Calibri"/>
                <a:cs typeface="Calibri"/>
              </a:rPr>
              <a:t> </a:t>
            </a:r>
            <a:r>
              <a:rPr dirty="0" sz="2600">
                <a:solidFill>
                  <a:srgbClr val="4E3629"/>
                </a:solidFill>
                <a:latin typeface="Calibri"/>
                <a:cs typeface="Calibri"/>
              </a:rPr>
              <a:t>en</a:t>
            </a:r>
            <a:r>
              <a:rPr dirty="0" sz="2600" spc="-40">
                <a:solidFill>
                  <a:srgbClr val="4E3629"/>
                </a:solidFill>
                <a:latin typeface="Calibri"/>
                <a:cs typeface="Calibri"/>
              </a:rPr>
              <a:t> </a:t>
            </a: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paso</a:t>
            </a:r>
            <a:r>
              <a:rPr dirty="0" sz="2600" spc="-35">
                <a:solidFill>
                  <a:srgbClr val="4E3629"/>
                </a:solidFill>
                <a:latin typeface="Calibri"/>
                <a:cs typeface="Calibri"/>
              </a:rPr>
              <a:t> </a:t>
            </a:r>
            <a:r>
              <a:rPr dirty="0" sz="2600" spc="-50">
                <a:solidFill>
                  <a:srgbClr val="4E3629"/>
                </a:solidFill>
                <a:latin typeface="Calibri"/>
                <a:cs typeface="Calibri"/>
              </a:rPr>
              <a:t>1</a:t>
            </a:r>
            <a:endParaRPr sz="2600">
              <a:latin typeface="Calibri"/>
              <a:cs typeface="Calibri"/>
            </a:endParaRPr>
          </a:p>
          <a:p>
            <a:pPr marL="184785" marR="5080"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Paso</a:t>
            </a:r>
            <a:r>
              <a:rPr dirty="0" sz="2600" spc="-50">
                <a:solidFill>
                  <a:srgbClr val="4E3629"/>
                </a:solidFill>
                <a:latin typeface="Calibri"/>
                <a:cs typeface="Calibri"/>
              </a:rPr>
              <a:t> </a:t>
            </a:r>
            <a:r>
              <a:rPr dirty="0" sz="2600">
                <a:solidFill>
                  <a:srgbClr val="4E3629"/>
                </a:solidFill>
                <a:latin typeface="Calibri"/>
                <a:cs typeface="Calibri"/>
              </a:rPr>
              <a:t>3:</a:t>
            </a:r>
            <a:r>
              <a:rPr dirty="0" sz="2600" spc="-40">
                <a:solidFill>
                  <a:srgbClr val="4E3629"/>
                </a:solidFill>
                <a:latin typeface="Calibri"/>
                <a:cs typeface="Calibri"/>
              </a:rPr>
              <a:t> </a:t>
            </a:r>
            <a:r>
              <a:rPr dirty="0" sz="2600">
                <a:solidFill>
                  <a:srgbClr val="4E3629"/>
                </a:solidFill>
                <a:latin typeface="Calibri"/>
                <a:cs typeface="Calibri"/>
              </a:rPr>
              <a:t>Al</a:t>
            </a:r>
            <a:r>
              <a:rPr dirty="0" sz="2600" spc="-60">
                <a:solidFill>
                  <a:srgbClr val="4E3629"/>
                </a:solidFill>
                <a:latin typeface="Calibri"/>
                <a:cs typeface="Calibri"/>
              </a:rPr>
              <a:t> </a:t>
            </a:r>
            <a:r>
              <a:rPr dirty="0" sz="2600" spc="-10">
                <a:solidFill>
                  <a:srgbClr val="4E3629"/>
                </a:solidFill>
                <a:latin typeface="Calibri"/>
                <a:cs typeface="Calibri"/>
              </a:rPr>
              <a:t>formato</a:t>
            </a:r>
            <a:r>
              <a:rPr dirty="0" sz="2600" spc="-25">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fecha</a:t>
            </a:r>
            <a:r>
              <a:rPr dirty="0" sz="2600" spc="-60">
                <a:solidFill>
                  <a:srgbClr val="4E3629"/>
                </a:solidFill>
                <a:latin typeface="Calibri"/>
                <a:cs typeface="Calibri"/>
              </a:rPr>
              <a:t> </a:t>
            </a:r>
            <a:r>
              <a:rPr dirty="0" sz="2600">
                <a:solidFill>
                  <a:srgbClr val="4E3629"/>
                </a:solidFill>
                <a:latin typeface="Calibri"/>
                <a:cs typeface="Calibri"/>
              </a:rPr>
              <a:t>por</a:t>
            </a:r>
            <a:r>
              <a:rPr dirty="0" sz="2600" spc="-40">
                <a:solidFill>
                  <a:srgbClr val="4E3629"/>
                </a:solidFill>
                <a:latin typeface="Calibri"/>
                <a:cs typeface="Calibri"/>
              </a:rPr>
              <a:t> </a:t>
            </a:r>
            <a:r>
              <a:rPr dirty="0" sz="2600" spc="-10">
                <a:solidFill>
                  <a:srgbClr val="4E3629"/>
                </a:solidFill>
                <a:latin typeface="Calibri"/>
                <a:cs typeface="Calibri"/>
              </a:rPr>
              <a:t>defecto</a:t>
            </a:r>
            <a:r>
              <a:rPr dirty="0" sz="2600" spc="-65">
                <a:solidFill>
                  <a:srgbClr val="4E3629"/>
                </a:solidFill>
                <a:latin typeface="Calibri"/>
                <a:cs typeface="Calibri"/>
              </a:rPr>
              <a:t> </a:t>
            </a:r>
            <a:r>
              <a:rPr dirty="0" sz="2600">
                <a:solidFill>
                  <a:srgbClr val="4E3629"/>
                </a:solidFill>
                <a:latin typeface="Calibri"/>
                <a:cs typeface="Calibri"/>
              </a:rPr>
              <a:t>se</a:t>
            </a:r>
            <a:r>
              <a:rPr dirty="0" sz="2600" spc="-50">
                <a:solidFill>
                  <a:srgbClr val="4E3629"/>
                </a:solidFill>
                <a:latin typeface="Calibri"/>
                <a:cs typeface="Calibri"/>
              </a:rPr>
              <a:t> </a:t>
            </a:r>
            <a:r>
              <a:rPr dirty="0" sz="2600">
                <a:solidFill>
                  <a:srgbClr val="4E3629"/>
                </a:solidFill>
                <a:latin typeface="Calibri"/>
                <a:cs typeface="Calibri"/>
              </a:rPr>
              <a:t>le</a:t>
            </a:r>
            <a:r>
              <a:rPr dirty="0" sz="2600" spc="-55">
                <a:solidFill>
                  <a:srgbClr val="4E3629"/>
                </a:solidFill>
                <a:latin typeface="Calibri"/>
                <a:cs typeface="Calibri"/>
              </a:rPr>
              <a:t> </a:t>
            </a:r>
            <a:r>
              <a:rPr dirty="0" sz="2600" spc="-10">
                <a:solidFill>
                  <a:srgbClr val="4E3629"/>
                </a:solidFill>
                <a:latin typeface="Calibri"/>
                <a:cs typeface="Calibri"/>
              </a:rPr>
              <a:t>aplicará formato</a:t>
            </a:r>
            <a:r>
              <a:rPr dirty="0" sz="2600" spc="-50">
                <a:solidFill>
                  <a:srgbClr val="4E3629"/>
                </a:solidFill>
                <a:latin typeface="Calibri"/>
                <a:cs typeface="Calibri"/>
              </a:rPr>
              <a:t> </a:t>
            </a:r>
            <a:r>
              <a:rPr dirty="0" sz="2600">
                <a:solidFill>
                  <a:srgbClr val="4E3629"/>
                </a:solidFill>
                <a:latin typeface="Calibri"/>
                <a:cs typeface="Calibri"/>
              </a:rPr>
              <a:t>para</a:t>
            </a:r>
            <a:r>
              <a:rPr dirty="0" sz="2600" spc="-55">
                <a:solidFill>
                  <a:srgbClr val="4E3629"/>
                </a:solidFill>
                <a:latin typeface="Calibri"/>
                <a:cs typeface="Calibri"/>
              </a:rPr>
              <a:t> </a:t>
            </a:r>
            <a:r>
              <a:rPr dirty="0" sz="2600">
                <a:solidFill>
                  <a:srgbClr val="4E3629"/>
                </a:solidFill>
                <a:latin typeface="Calibri"/>
                <a:cs typeface="Calibri"/>
              </a:rPr>
              <a:t>que</a:t>
            </a:r>
            <a:r>
              <a:rPr dirty="0" sz="2600" spc="-75">
                <a:solidFill>
                  <a:srgbClr val="4E3629"/>
                </a:solidFill>
                <a:latin typeface="Calibri"/>
                <a:cs typeface="Calibri"/>
              </a:rPr>
              <a:t> </a:t>
            </a:r>
            <a:r>
              <a:rPr dirty="0" sz="2600">
                <a:solidFill>
                  <a:srgbClr val="4E3629"/>
                </a:solidFill>
                <a:latin typeface="Calibri"/>
                <a:cs typeface="Calibri"/>
              </a:rPr>
              <a:t>muestre</a:t>
            </a:r>
            <a:r>
              <a:rPr dirty="0" sz="2600" spc="-85">
                <a:solidFill>
                  <a:srgbClr val="4E3629"/>
                </a:solidFill>
                <a:latin typeface="Calibri"/>
                <a:cs typeface="Calibri"/>
              </a:rPr>
              <a:t> </a:t>
            </a:r>
            <a:r>
              <a:rPr dirty="0" sz="2600">
                <a:solidFill>
                  <a:srgbClr val="4E3629"/>
                </a:solidFill>
                <a:latin typeface="Calibri"/>
                <a:cs typeface="Calibri"/>
              </a:rPr>
              <a:t>la</a:t>
            </a:r>
            <a:r>
              <a:rPr dirty="0" sz="2600" spc="-55">
                <a:solidFill>
                  <a:srgbClr val="4E3629"/>
                </a:solidFill>
                <a:latin typeface="Calibri"/>
                <a:cs typeface="Calibri"/>
              </a:rPr>
              <a:t> </a:t>
            </a:r>
            <a:r>
              <a:rPr dirty="0" sz="2600">
                <a:solidFill>
                  <a:srgbClr val="4E3629"/>
                </a:solidFill>
                <a:latin typeface="Calibri"/>
                <a:cs typeface="Calibri"/>
              </a:rPr>
              <a:t>fecha</a:t>
            </a:r>
            <a:r>
              <a:rPr dirty="0" sz="2600" spc="-75">
                <a:solidFill>
                  <a:srgbClr val="4E3629"/>
                </a:solidFill>
                <a:latin typeface="Calibri"/>
                <a:cs typeface="Calibri"/>
              </a:rPr>
              <a:t> </a:t>
            </a:r>
            <a:r>
              <a:rPr dirty="0" sz="2600">
                <a:solidFill>
                  <a:srgbClr val="4E3629"/>
                </a:solidFill>
                <a:latin typeface="Calibri"/>
                <a:cs typeface="Calibri"/>
              </a:rPr>
              <a:t>devuelta</a:t>
            </a:r>
            <a:r>
              <a:rPr dirty="0" sz="2600" spc="-80">
                <a:solidFill>
                  <a:srgbClr val="4E3629"/>
                </a:solidFill>
                <a:latin typeface="Calibri"/>
                <a:cs typeface="Calibri"/>
              </a:rPr>
              <a:t> </a:t>
            </a:r>
            <a:r>
              <a:rPr dirty="0" sz="2600">
                <a:solidFill>
                  <a:srgbClr val="4E3629"/>
                </a:solidFill>
                <a:latin typeface="Calibri"/>
                <a:cs typeface="Calibri"/>
              </a:rPr>
              <a:t>por</a:t>
            </a:r>
            <a:r>
              <a:rPr dirty="0" sz="2600" spc="-55">
                <a:solidFill>
                  <a:srgbClr val="4E3629"/>
                </a:solidFill>
                <a:latin typeface="Calibri"/>
                <a:cs typeface="Calibri"/>
              </a:rPr>
              <a:t> </a:t>
            </a:r>
            <a:r>
              <a:rPr dirty="0" sz="2600">
                <a:solidFill>
                  <a:srgbClr val="4E3629"/>
                </a:solidFill>
                <a:latin typeface="Calibri"/>
                <a:cs typeface="Calibri"/>
              </a:rPr>
              <a:t>el</a:t>
            </a:r>
            <a:r>
              <a:rPr dirty="0" sz="2600" spc="-60">
                <a:solidFill>
                  <a:srgbClr val="4E3629"/>
                </a:solidFill>
                <a:latin typeface="Calibri"/>
                <a:cs typeface="Calibri"/>
              </a:rPr>
              <a:t> </a:t>
            </a:r>
            <a:r>
              <a:rPr dirty="0" sz="2600">
                <a:solidFill>
                  <a:srgbClr val="4E3629"/>
                </a:solidFill>
                <a:latin typeface="Calibri"/>
                <a:cs typeface="Calibri"/>
              </a:rPr>
              <a:t>paso</a:t>
            </a:r>
            <a:r>
              <a:rPr dirty="0" sz="2600" spc="-60">
                <a:solidFill>
                  <a:srgbClr val="4E3629"/>
                </a:solidFill>
                <a:latin typeface="Calibri"/>
                <a:cs typeface="Calibri"/>
              </a:rPr>
              <a:t> </a:t>
            </a:r>
            <a:r>
              <a:rPr dirty="0" sz="2600" spc="-50">
                <a:solidFill>
                  <a:srgbClr val="4E3629"/>
                </a:solidFill>
                <a:latin typeface="Calibri"/>
                <a:cs typeface="Calibri"/>
              </a:rPr>
              <a:t>2 </a:t>
            </a:r>
            <a:r>
              <a:rPr dirty="0" sz="2600">
                <a:solidFill>
                  <a:srgbClr val="4E3629"/>
                </a:solidFill>
                <a:latin typeface="Calibri"/>
                <a:cs typeface="Calibri"/>
              </a:rPr>
              <a:t>en</a:t>
            </a:r>
            <a:r>
              <a:rPr dirty="0" sz="2600" spc="-45">
                <a:solidFill>
                  <a:srgbClr val="4E3629"/>
                </a:solidFill>
                <a:latin typeface="Calibri"/>
                <a:cs typeface="Calibri"/>
              </a:rPr>
              <a:t> </a:t>
            </a:r>
            <a:r>
              <a:rPr dirty="0" sz="2600">
                <a:solidFill>
                  <a:srgbClr val="4E3629"/>
                </a:solidFill>
                <a:latin typeface="Calibri"/>
                <a:cs typeface="Calibri"/>
              </a:rPr>
              <a:t>un</a:t>
            </a:r>
            <a:r>
              <a:rPr dirty="0" sz="2600" spc="-40">
                <a:solidFill>
                  <a:srgbClr val="4E3629"/>
                </a:solidFill>
                <a:latin typeface="Calibri"/>
                <a:cs typeface="Calibri"/>
              </a:rPr>
              <a:t> </a:t>
            </a:r>
            <a:r>
              <a:rPr dirty="0" sz="2600" spc="-10">
                <a:solidFill>
                  <a:srgbClr val="4E3629"/>
                </a:solidFill>
                <a:latin typeface="Calibri"/>
                <a:cs typeface="Calibri"/>
              </a:rPr>
              <a:t>formato</a:t>
            </a:r>
            <a:r>
              <a:rPr dirty="0" sz="2600" spc="-25">
                <a:solidFill>
                  <a:srgbClr val="4E3629"/>
                </a:solidFill>
                <a:latin typeface="Calibri"/>
                <a:cs typeface="Calibri"/>
              </a:rPr>
              <a:t> </a:t>
            </a:r>
            <a:r>
              <a:rPr dirty="0" sz="2600">
                <a:solidFill>
                  <a:srgbClr val="4E3629"/>
                </a:solidFill>
                <a:latin typeface="Calibri"/>
                <a:cs typeface="Calibri"/>
              </a:rPr>
              <a:t>similar</a:t>
            </a:r>
            <a:r>
              <a:rPr dirty="0" sz="2600" spc="-35">
                <a:solidFill>
                  <a:srgbClr val="4E3629"/>
                </a:solidFill>
                <a:latin typeface="Calibri"/>
                <a:cs typeface="Calibri"/>
              </a:rPr>
              <a:t> </a:t>
            </a:r>
            <a:r>
              <a:rPr dirty="0" sz="2600">
                <a:solidFill>
                  <a:srgbClr val="4E3629"/>
                </a:solidFill>
                <a:latin typeface="Calibri"/>
                <a:cs typeface="Calibri"/>
              </a:rPr>
              <a:t>a:</a:t>
            </a:r>
            <a:r>
              <a:rPr dirty="0" sz="2600" spc="-15">
                <a:solidFill>
                  <a:srgbClr val="4E3629"/>
                </a:solidFill>
                <a:latin typeface="Calibri"/>
                <a:cs typeface="Calibri"/>
              </a:rPr>
              <a:t> </a:t>
            </a:r>
            <a:r>
              <a:rPr dirty="0" sz="2600">
                <a:solidFill>
                  <a:srgbClr val="4E3629"/>
                </a:solidFill>
                <a:latin typeface="Calibri"/>
                <a:cs typeface="Calibri"/>
              </a:rPr>
              <a:t>Viernes,</a:t>
            </a:r>
            <a:r>
              <a:rPr dirty="0" sz="2600" spc="-65">
                <a:solidFill>
                  <a:srgbClr val="4E3629"/>
                </a:solidFill>
                <a:latin typeface="Calibri"/>
                <a:cs typeface="Calibri"/>
              </a:rPr>
              <a:t> </a:t>
            </a:r>
            <a:r>
              <a:rPr dirty="0" sz="2600">
                <a:solidFill>
                  <a:srgbClr val="4E3629"/>
                </a:solidFill>
                <a:latin typeface="Calibri"/>
                <a:cs typeface="Calibri"/>
              </a:rPr>
              <a:t>18</a:t>
            </a:r>
            <a:r>
              <a:rPr dirty="0" sz="2600" spc="-45">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a:solidFill>
                  <a:srgbClr val="4E3629"/>
                </a:solidFill>
                <a:latin typeface="Calibri"/>
                <a:cs typeface="Calibri"/>
              </a:rPr>
              <a:t>diciembre</a:t>
            </a:r>
            <a:r>
              <a:rPr dirty="0" sz="2600" spc="-60">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spc="-10">
                <a:solidFill>
                  <a:srgbClr val="4E3629"/>
                </a:solidFill>
                <a:latin typeface="Calibri"/>
                <a:cs typeface="Calibri"/>
              </a:rPr>
              <a:t>1987, </a:t>
            </a:r>
            <a:r>
              <a:rPr dirty="0" sz="2600">
                <a:solidFill>
                  <a:srgbClr val="4E3629"/>
                </a:solidFill>
                <a:latin typeface="Calibri"/>
                <a:cs typeface="Calibri"/>
              </a:rPr>
              <a:t>y</a:t>
            </a:r>
            <a:r>
              <a:rPr dirty="0" sz="2600" spc="-30">
                <a:solidFill>
                  <a:srgbClr val="4E3629"/>
                </a:solidFill>
                <a:latin typeface="Calibri"/>
                <a:cs typeface="Calibri"/>
              </a:rPr>
              <a:t> </a:t>
            </a:r>
            <a:r>
              <a:rPr dirty="0" sz="2600" spc="-10">
                <a:solidFill>
                  <a:srgbClr val="4E3629"/>
                </a:solidFill>
                <a:latin typeface="Calibri"/>
                <a:cs typeface="Calibri"/>
              </a:rPr>
              <a:t>aparecerá</a:t>
            </a:r>
            <a:r>
              <a:rPr dirty="0" sz="2600" spc="-45">
                <a:solidFill>
                  <a:srgbClr val="4E3629"/>
                </a:solidFill>
                <a:latin typeface="Calibri"/>
                <a:cs typeface="Calibri"/>
              </a:rPr>
              <a:t> </a:t>
            </a:r>
            <a:r>
              <a:rPr dirty="0" sz="2600">
                <a:solidFill>
                  <a:srgbClr val="4E3629"/>
                </a:solidFill>
                <a:latin typeface="Calibri"/>
                <a:cs typeface="Calibri"/>
              </a:rPr>
              <a:t>en</a:t>
            </a:r>
            <a:r>
              <a:rPr dirty="0" sz="2600" spc="-35">
                <a:solidFill>
                  <a:srgbClr val="4E3629"/>
                </a:solidFill>
                <a:latin typeface="Calibri"/>
                <a:cs typeface="Calibri"/>
              </a:rPr>
              <a:t> </a:t>
            </a:r>
            <a:r>
              <a:rPr dirty="0" sz="2600">
                <a:solidFill>
                  <a:srgbClr val="4E3629"/>
                </a:solidFill>
                <a:latin typeface="Calibri"/>
                <a:cs typeface="Calibri"/>
              </a:rPr>
              <a:t>la</a:t>
            </a:r>
            <a:r>
              <a:rPr dirty="0" sz="2600" spc="-20">
                <a:solidFill>
                  <a:srgbClr val="4E3629"/>
                </a:solidFill>
                <a:latin typeface="Calibri"/>
                <a:cs typeface="Calibri"/>
              </a:rPr>
              <a:t> </a:t>
            </a:r>
            <a:r>
              <a:rPr dirty="0" sz="2600">
                <a:solidFill>
                  <a:srgbClr val="4E3629"/>
                </a:solidFill>
                <a:latin typeface="Calibri"/>
                <a:cs typeface="Calibri"/>
              </a:rPr>
              <a:t>salida</a:t>
            </a:r>
            <a:r>
              <a:rPr dirty="0" sz="2600" spc="-35">
                <a:solidFill>
                  <a:srgbClr val="4E3629"/>
                </a:solidFill>
                <a:latin typeface="Calibri"/>
                <a:cs typeface="Calibri"/>
              </a:rPr>
              <a:t> </a:t>
            </a:r>
            <a:r>
              <a:rPr dirty="0" sz="2600">
                <a:solidFill>
                  <a:srgbClr val="4E3629"/>
                </a:solidFill>
                <a:latin typeface="Calibri"/>
                <a:cs typeface="Calibri"/>
              </a:rPr>
              <a:t>bajo</a:t>
            </a:r>
            <a:r>
              <a:rPr dirty="0" sz="2600" spc="-25">
                <a:solidFill>
                  <a:srgbClr val="4E3629"/>
                </a:solidFill>
                <a:latin typeface="Calibri"/>
                <a:cs typeface="Calibri"/>
              </a:rPr>
              <a:t> </a:t>
            </a:r>
            <a:r>
              <a:rPr dirty="0" sz="2600">
                <a:solidFill>
                  <a:srgbClr val="4E3629"/>
                </a:solidFill>
                <a:latin typeface="Calibri"/>
                <a:cs typeface="Calibri"/>
              </a:rPr>
              <a:t>el</a:t>
            </a:r>
            <a:r>
              <a:rPr dirty="0" sz="2600" spc="-20">
                <a:solidFill>
                  <a:srgbClr val="4E3629"/>
                </a:solidFill>
                <a:latin typeface="Calibri"/>
                <a:cs typeface="Calibri"/>
              </a:rPr>
              <a:t> </a:t>
            </a:r>
            <a:r>
              <a:rPr dirty="0" sz="2600">
                <a:solidFill>
                  <a:srgbClr val="4E3629"/>
                </a:solidFill>
                <a:latin typeface="Calibri"/>
                <a:cs typeface="Calibri"/>
              </a:rPr>
              <a:t>nombre</a:t>
            </a:r>
            <a:r>
              <a:rPr dirty="0" sz="2600" spc="-35">
                <a:solidFill>
                  <a:srgbClr val="4E3629"/>
                </a:solidFill>
                <a:latin typeface="Calibri"/>
                <a:cs typeface="Calibri"/>
              </a:rPr>
              <a:t> </a:t>
            </a:r>
            <a:r>
              <a:rPr dirty="0" sz="2600">
                <a:solidFill>
                  <a:srgbClr val="4E3629"/>
                </a:solidFill>
                <a:latin typeface="Calibri"/>
                <a:cs typeface="Calibri"/>
              </a:rPr>
              <a:t>de</a:t>
            </a:r>
            <a:r>
              <a:rPr dirty="0" sz="2600" spc="-45">
                <a:solidFill>
                  <a:srgbClr val="4E3629"/>
                </a:solidFill>
                <a:latin typeface="Calibri"/>
                <a:cs typeface="Calibri"/>
              </a:rPr>
              <a:t> </a:t>
            </a:r>
            <a:r>
              <a:rPr dirty="0" sz="2600">
                <a:solidFill>
                  <a:srgbClr val="4E3629"/>
                </a:solidFill>
                <a:latin typeface="Calibri"/>
                <a:cs typeface="Calibri"/>
              </a:rPr>
              <a:t>la</a:t>
            </a:r>
            <a:r>
              <a:rPr dirty="0" sz="2600" spc="-15">
                <a:solidFill>
                  <a:srgbClr val="4E3629"/>
                </a:solidFill>
                <a:latin typeface="Calibri"/>
                <a:cs typeface="Calibri"/>
              </a:rPr>
              <a:t> </a:t>
            </a:r>
            <a:r>
              <a:rPr dirty="0" sz="2600" spc="-10">
                <a:solidFill>
                  <a:srgbClr val="4E3629"/>
                </a:solidFill>
                <a:latin typeface="Calibri"/>
                <a:cs typeface="Calibri"/>
              </a:rPr>
              <a:t>columna </a:t>
            </a:r>
            <a:r>
              <a:rPr dirty="0" sz="2600">
                <a:solidFill>
                  <a:srgbClr val="4E3629"/>
                </a:solidFill>
                <a:latin typeface="Calibri"/>
                <a:cs typeface="Calibri"/>
              </a:rPr>
              <a:t>"Next</a:t>
            </a:r>
            <a:r>
              <a:rPr dirty="0" sz="2600" spc="-80">
                <a:solidFill>
                  <a:srgbClr val="4E3629"/>
                </a:solidFill>
                <a:latin typeface="Calibri"/>
                <a:cs typeface="Calibri"/>
              </a:rPr>
              <a:t> </a:t>
            </a:r>
            <a:r>
              <a:rPr dirty="0" sz="2600" spc="-10">
                <a:solidFill>
                  <a:srgbClr val="4E3629"/>
                </a:solidFill>
                <a:latin typeface="Calibri"/>
                <a:cs typeface="Calibri"/>
              </a:rPr>
              <a:t>Evaluation"</a:t>
            </a:r>
            <a:endParaRPr sz="2600">
              <a:latin typeface="Calibri"/>
              <a:cs typeface="Calibri"/>
            </a:endParaRPr>
          </a:p>
        </p:txBody>
      </p:sp>
      <p:sp>
        <p:nvSpPr>
          <p:cNvPr id="4" name="object 4"/>
          <p:cNvSpPr txBox="1"/>
          <p:nvPr/>
        </p:nvSpPr>
        <p:spPr>
          <a:xfrm>
            <a:off x="405384" y="1336547"/>
            <a:ext cx="8345805" cy="1196340"/>
          </a:xfrm>
          <a:prstGeom prst="rect">
            <a:avLst/>
          </a:prstGeom>
          <a:solidFill>
            <a:srgbClr val="9DBEC4">
              <a:alpha val="50199"/>
            </a:srgbClr>
          </a:solidFill>
        </p:spPr>
        <p:txBody>
          <a:bodyPr wrap="square" lIns="0" tIns="21590" rIns="0" bIns="0" rtlCol="0" vert="horz">
            <a:spAutoFit/>
          </a:bodyPr>
          <a:lstStyle/>
          <a:p>
            <a:pPr marL="102870">
              <a:lnSpc>
                <a:spcPct val="100000"/>
              </a:lnSpc>
              <a:spcBef>
                <a:spcPts val="170"/>
              </a:spcBef>
            </a:pPr>
            <a:r>
              <a:rPr dirty="0" sz="1800" b="1">
                <a:solidFill>
                  <a:srgbClr val="4E3629"/>
                </a:solidFill>
                <a:latin typeface="Courier New"/>
                <a:cs typeface="Courier New"/>
              </a:rPr>
              <a:t>SELECT</a:t>
            </a:r>
            <a:r>
              <a:rPr dirty="0" sz="1800" spc="-20" b="1">
                <a:solidFill>
                  <a:srgbClr val="4E3629"/>
                </a:solidFill>
                <a:latin typeface="Courier New"/>
                <a:cs typeface="Courier New"/>
              </a:rPr>
              <a:t> </a:t>
            </a:r>
            <a:r>
              <a:rPr dirty="0" sz="1800" spc="-10" b="1">
                <a:solidFill>
                  <a:srgbClr val="00B050"/>
                </a:solidFill>
                <a:latin typeface="Courier New"/>
                <a:cs typeface="Courier New"/>
              </a:rPr>
              <a:t>TO_CHAR(</a:t>
            </a:r>
            <a:r>
              <a:rPr dirty="0" sz="1800" spc="-10" b="1">
                <a:solidFill>
                  <a:srgbClr val="00B0F0"/>
                </a:solidFill>
                <a:latin typeface="Courier New"/>
                <a:cs typeface="Courier New"/>
              </a:rPr>
              <a:t>NEXT_DAY(</a:t>
            </a:r>
            <a:r>
              <a:rPr dirty="0" sz="1800" spc="-10" b="1">
                <a:solidFill>
                  <a:srgbClr val="D1350F"/>
                </a:solidFill>
                <a:latin typeface="Courier New"/>
                <a:cs typeface="Courier New"/>
              </a:rPr>
              <a:t>ADD_MONTHS(</a:t>
            </a:r>
            <a:r>
              <a:rPr dirty="0" sz="1800" spc="-10" b="1">
                <a:solidFill>
                  <a:srgbClr val="4E3629"/>
                </a:solidFill>
                <a:latin typeface="Courier New"/>
                <a:cs typeface="Courier New"/>
              </a:rPr>
              <a:t>hire_date,</a:t>
            </a:r>
            <a:r>
              <a:rPr dirty="0" sz="1800" spc="-15" b="1">
                <a:solidFill>
                  <a:srgbClr val="4E3629"/>
                </a:solidFill>
                <a:latin typeface="Courier New"/>
                <a:cs typeface="Courier New"/>
              </a:rPr>
              <a:t> </a:t>
            </a:r>
            <a:r>
              <a:rPr dirty="0" sz="1800" b="1">
                <a:solidFill>
                  <a:srgbClr val="4E3629"/>
                </a:solidFill>
                <a:latin typeface="Courier New"/>
                <a:cs typeface="Courier New"/>
              </a:rPr>
              <a:t>6</a:t>
            </a:r>
            <a:r>
              <a:rPr dirty="0" sz="1800" b="1">
                <a:solidFill>
                  <a:srgbClr val="D1350F"/>
                </a:solidFill>
                <a:latin typeface="Courier New"/>
                <a:cs typeface="Courier New"/>
              </a:rPr>
              <a:t>)</a:t>
            </a:r>
            <a:r>
              <a:rPr dirty="0" sz="1800" b="1">
                <a:solidFill>
                  <a:srgbClr val="4E3629"/>
                </a:solidFill>
                <a:latin typeface="Courier New"/>
                <a:cs typeface="Courier New"/>
              </a:rPr>
              <a:t>,</a:t>
            </a:r>
            <a:r>
              <a:rPr dirty="0" sz="1800" spc="-20" b="1">
                <a:solidFill>
                  <a:srgbClr val="4E3629"/>
                </a:solidFill>
                <a:latin typeface="Courier New"/>
                <a:cs typeface="Courier New"/>
              </a:rPr>
              <a:t> </a:t>
            </a:r>
            <a:r>
              <a:rPr dirty="0" sz="1800" spc="-10" b="1">
                <a:solidFill>
                  <a:srgbClr val="4E3629"/>
                </a:solidFill>
                <a:latin typeface="Courier New"/>
                <a:cs typeface="Courier New"/>
              </a:rPr>
              <a:t>'FRIDAY’</a:t>
            </a:r>
            <a:r>
              <a:rPr dirty="0" sz="1800" spc="-10" b="1">
                <a:solidFill>
                  <a:srgbClr val="00B0F0"/>
                </a:solidFill>
                <a:latin typeface="Courier New"/>
                <a:cs typeface="Courier New"/>
              </a:rPr>
              <a:t>)</a:t>
            </a:r>
            <a:r>
              <a:rPr dirty="0" sz="1800" spc="-10" b="1">
                <a:solidFill>
                  <a:srgbClr val="4E3629"/>
                </a:solidFill>
                <a:latin typeface="Courier New"/>
                <a:cs typeface="Courier New"/>
              </a:rPr>
              <a:t>,</a:t>
            </a:r>
            <a:endParaRPr sz="1800">
              <a:latin typeface="Courier New"/>
              <a:cs typeface="Courier New"/>
            </a:endParaRPr>
          </a:p>
          <a:p>
            <a:pPr marL="102870" marR="1582420" indent="235585">
              <a:lnSpc>
                <a:spcPct val="100000"/>
              </a:lnSpc>
            </a:pPr>
            <a:r>
              <a:rPr dirty="0" sz="1800" b="1">
                <a:solidFill>
                  <a:srgbClr val="4E3629"/>
                </a:solidFill>
                <a:latin typeface="Courier New"/>
                <a:cs typeface="Courier New"/>
              </a:rPr>
              <a:t>'fmDay,</a:t>
            </a:r>
            <a:r>
              <a:rPr dirty="0" sz="1800" spc="-65" b="1">
                <a:solidFill>
                  <a:srgbClr val="4E3629"/>
                </a:solidFill>
                <a:latin typeface="Courier New"/>
                <a:cs typeface="Courier New"/>
              </a:rPr>
              <a:t> </a:t>
            </a:r>
            <a:r>
              <a:rPr dirty="0" sz="1800" b="1">
                <a:solidFill>
                  <a:srgbClr val="4E3629"/>
                </a:solidFill>
                <a:latin typeface="Courier New"/>
                <a:cs typeface="Courier New"/>
              </a:rPr>
              <a:t>Month</a:t>
            </a:r>
            <a:r>
              <a:rPr dirty="0" sz="1800" spc="-50" b="1">
                <a:solidFill>
                  <a:srgbClr val="4E3629"/>
                </a:solidFill>
                <a:latin typeface="Courier New"/>
                <a:cs typeface="Courier New"/>
              </a:rPr>
              <a:t> </a:t>
            </a:r>
            <a:r>
              <a:rPr dirty="0" sz="1800" b="1">
                <a:solidFill>
                  <a:srgbClr val="4E3629"/>
                </a:solidFill>
                <a:latin typeface="Courier New"/>
                <a:cs typeface="Courier New"/>
              </a:rPr>
              <a:t>ddth,</a:t>
            </a:r>
            <a:r>
              <a:rPr dirty="0" sz="1800" spc="-50" b="1">
                <a:solidFill>
                  <a:srgbClr val="4E3629"/>
                </a:solidFill>
                <a:latin typeface="Courier New"/>
                <a:cs typeface="Courier New"/>
              </a:rPr>
              <a:t> </a:t>
            </a:r>
            <a:r>
              <a:rPr dirty="0" sz="1800" b="1">
                <a:solidFill>
                  <a:srgbClr val="4E3629"/>
                </a:solidFill>
                <a:latin typeface="Courier New"/>
                <a:cs typeface="Courier New"/>
              </a:rPr>
              <a:t>YYYY')</a:t>
            </a:r>
            <a:r>
              <a:rPr dirty="0" sz="1800" spc="-55" b="1">
                <a:solidFill>
                  <a:srgbClr val="4E3629"/>
                </a:solidFill>
                <a:latin typeface="Courier New"/>
                <a:cs typeface="Courier New"/>
              </a:rPr>
              <a:t> </a:t>
            </a:r>
            <a:r>
              <a:rPr dirty="0" sz="1800" b="1">
                <a:solidFill>
                  <a:srgbClr val="4E3629"/>
                </a:solidFill>
                <a:latin typeface="Courier New"/>
                <a:cs typeface="Courier New"/>
              </a:rPr>
              <a:t>AS</a:t>
            </a:r>
            <a:r>
              <a:rPr dirty="0" sz="1800" spc="-50" b="1">
                <a:solidFill>
                  <a:srgbClr val="4E3629"/>
                </a:solidFill>
                <a:latin typeface="Courier New"/>
                <a:cs typeface="Courier New"/>
              </a:rPr>
              <a:t> </a:t>
            </a:r>
            <a:r>
              <a:rPr dirty="0" sz="1800" b="1">
                <a:solidFill>
                  <a:srgbClr val="4E3629"/>
                </a:solidFill>
                <a:latin typeface="Courier New"/>
                <a:cs typeface="Courier New"/>
              </a:rPr>
              <a:t>"Next</a:t>
            </a:r>
            <a:r>
              <a:rPr dirty="0" sz="1800" spc="-50" b="1">
                <a:solidFill>
                  <a:srgbClr val="4E3629"/>
                </a:solidFill>
                <a:latin typeface="Courier New"/>
                <a:cs typeface="Courier New"/>
              </a:rPr>
              <a:t> </a:t>
            </a:r>
            <a:r>
              <a:rPr dirty="0" sz="1800" spc="-10" b="1">
                <a:solidFill>
                  <a:srgbClr val="4E3629"/>
                </a:solidFill>
                <a:latin typeface="Courier New"/>
                <a:cs typeface="Courier New"/>
              </a:rPr>
              <a:t>Evaluation"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102870">
              <a:lnSpc>
                <a:spcPct val="100000"/>
              </a:lnSpc>
            </a:pPr>
            <a:r>
              <a:rPr dirty="0" sz="1800" b="1">
                <a:solidFill>
                  <a:srgbClr val="4E3629"/>
                </a:solidFill>
                <a:latin typeface="Courier New"/>
                <a:cs typeface="Courier New"/>
              </a:rPr>
              <a:t>WHERE</a:t>
            </a:r>
            <a:r>
              <a:rPr dirty="0" sz="1800" spc="-65" b="1">
                <a:solidFill>
                  <a:srgbClr val="4E3629"/>
                </a:solidFill>
                <a:latin typeface="Courier New"/>
                <a:cs typeface="Courier New"/>
              </a:rPr>
              <a:t> </a:t>
            </a:r>
            <a:r>
              <a:rPr dirty="0" sz="1800" b="1">
                <a:solidFill>
                  <a:srgbClr val="4E3629"/>
                </a:solidFill>
                <a:latin typeface="Courier New"/>
                <a:cs typeface="Courier New"/>
              </a:rPr>
              <a:t>employee_id</a:t>
            </a:r>
            <a:r>
              <a:rPr dirty="0" sz="1800" spc="-50" b="1">
                <a:solidFill>
                  <a:srgbClr val="4E3629"/>
                </a:solidFill>
                <a:latin typeface="Courier New"/>
                <a:cs typeface="Courier New"/>
              </a:rPr>
              <a:t> </a:t>
            </a:r>
            <a:r>
              <a:rPr dirty="0" sz="1800" b="1">
                <a:solidFill>
                  <a:srgbClr val="4E3629"/>
                </a:solidFill>
                <a:latin typeface="Courier New"/>
                <a:cs typeface="Courier New"/>
              </a:rPr>
              <a:t>=</a:t>
            </a:r>
            <a:r>
              <a:rPr dirty="0" sz="1800" spc="-50" b="1">
                <a:solidFill>
                  <a:srgbClr val="4E3629"/>
                </a:solidFill>
                <a:latin typeface="Courier New"/>
                <a:cs typeface="Courier New"/>
              </a:rPr>
              <a:t> </a:t>
            </a:r>
            <a:r>
              <a:rPr dirty="0" sz="1800" spc="-20" b="1">
                <a:solidFill>
                  <a:srgbClr val="4E3629"/>
                </a:solidFill>
                <a:latin typeface="Courier New"/>
                <a:cs typeface="Courier New"/>
              </a:rPr>
              <a:t>100;</a:t>
            </a:r>
            <a:endParaRPr sz="1800">
              <a:latin typeface="Courier New"/>
              <a:cs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7760334" cy="528320"/>
          </a:xfrm>
          <a:prstGeom prst="rect"/>
        </p:spPr>
        <p:txBody>
          <a:bodyPr wrap="square" lIns="0" tIns="12700" rIns="0" bIns="0" rtlCol="0" vert="horz">
            <a:spAutoFit/>
          </a:bodyPr>
          <a:lstStyle/>
          <a:p>
            <a:pPr marL="12700">
              <a:lnSpc>
                <a:spcPct val="100000"/>
              </a:lnSpc>
              <a:spcBef>
                <a:spcPts val="100"/>
              </a:spcBef>
            </a:pPr>
            <a:r>
              <a:rPr dirty="0"/>
              <a:t>Funciones</a:t>
            </a:r>
            <a:r>
              <a:rPr dirty="0" spc="-80"/>
              <a:t> </a:t>
            </a:r>
            <a:r>
              <a:rPr dirty="0"/>
              <a:t>Relacionadas</a:t>
            </a:r>
            <a:r>
              <a:rPr dirty="0" spc="-105"/>
              <a:t> </a:t>
            </a:r>
            <a:r>
              <a:rPr dirty="0"/>
              <a:t>con</a:t>
            </a:r>
            <a:r>
              <a:rPr dirty="0" spc="-105"/>
              <a:t> </a:t>
            </a:r>
            <a:r>
              <a:rPr dirty="0"/>
              <a:t>los</a:t>
            </a:r>
            <a:r>
              <a:rPr dirty="0" spc="-95"/>
              <a:t> </a:t>
            </a:r>
            <a:r>
              <a:rPr dirty="0" spc="-25"/>
              <a:t>Valores</a:t>
            </a:r>
            <a:r>
              <a:rPr dirty="0" spc="-114"/>
              <a:t> </a:t>
            </a:r>
            <a:r>
              <a:rPr dirty="0" spc="-10"/>
              <a:t>Nulos</a:t>
            </a:r>
          </a:p>
        </p:txBody>
      </p:sp>
      <p:sp>
        <p:nvSpPr>
          <p:cNvPr id="4" name="object 4"/>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8</a:t>
            </a: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355371"/>
            <a:ext cx="7731125" cy="3991610"/>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Al</a:t>
            </a:r>
            <a:r>
              <a:rPr dirty="0" sz="2800" spc="-65">
                <a:solidFill>
                  <a:srgbClr val="4E3629"/>
                </a:solidFill>
                <a:latin typeface="Calibri"/>
                <a:cs typeface="Calibri"/>
              </a:rPr>
              <a:t> </a:t>
            </a:r>
            <a:r>
              <a:rPr dirty="0" sz="2800">
                <a:solidFill>
                  <a:srgbClr val="4E3629"/>
                </a:solidFill>
                <a:latin typeface="Calibri"/>
                <a:cs typeface="Calibri"/>
              </a:rPr>
              <a:t>principio</a:t>
            </a:r>
            <a:r>
              <a:rPr dirty="0" sz="2800" spc="-35">
                <a:solidFill>
                  <a:srgbClr val="4E3629"/>
                </a:solidFill>
                <a:latin typeface="Calibri"/>
                <a:cs typeface="Calibri"/>
              </a:rPr>
              <a:t> </a:t>
            </a:r>
            <a:r>
              <a:rPr dirty="0" sz="2800">
                <a:solidFill>
                  <a:srgbClr val="4E3629"/>
                </a:solidFill>
                <a:latin typeface="Calibri"/>
                <a:cs typeface="Calibri"/>
              </a:rPr>
              <a:t>del</a:t>
            </a:r>
            <a:r>
              <a:rPr dirty="0" sz="2800" spc="-65">
                <a:solidFill>
                  <a:srgbClr val="4E3629"/>
                </a:solidFill>
                <a:latin typeface="Calibri"/>
                <a:cs typeface="Calibri"/>
              </a:rPr>
              <a:t> </a:t>
            </a:r>
            <a:r>
              <a:rPr dirty="0" sz="2800" spc="-10">
                <a:solidFill>
                  <a:srgbClr val="4E3629"/>
                </a:solidFill>
                <a:latin typeface="Calibri"/>
                <a:cs typeface="Calibri"/>
              </a:rPr>
              <a:t>curso,</a:t>
            </a:r>
            <a:r>
              <a:rPr dirty="0" sz="2800" spc="-55">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spc="-10">
                <a:solidFill>
                  <a:srgbClr val="4E3629"/>
                </a:solidFill>
                <a:latin typeface="Calibri"/>
                <a:cs typeface="Calibri"/>
              </a:rPr>
              <a:t>presentó</a:t>
            </a:r>
            <a:r>
              <a:rPr dirty="0" sz="2800" spc="-4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término</a:t>
            </a:r>
            <a:r>
              <a:rPr dirty="0" sz="2800" spc="-60">
                <a:solidFill>
                  <a:srgbClr val="4E3629"/>
                </a:solidFill>
                <a:latin typeface="Calibri"/>
                <a:cs typeface="Calibri"/>
              </a:rPr>
              <a:t> </a:t>
            </a:r>
            <a:r>
              <a:rPr dirty="0" sz="2800" spc="-10">
                <a:solidFill>
                  <a:srgbClr val="4E3629"/>
                </a:solidFill>
                <a:latin typeface="Calibri"/>
                <a:cs typeface="Calibri"/>
              </a:rPr>
              <a:t>"nulo"</a:t>
            </a:r>
            <a:endParaRPr sz="2800">
              <a:latin typeface="Calibri"/>
              <a:cs typeface="Calibri"/>
            </a:endParaRPr>
          </a:p>
          <a:p>
            <a:pPr marL="159385" marR="90805" indent="-147320">
              <a:lnSpc>
                <a:spcPts val="3030"/>
              </a:lnSpc>
              <a:spcBef>
                <a:spcPts val="844"/>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a:t>
            </a:r>
            <a:r>
              <a:rPr dirty="0" sz="2800" spc="-5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está</a:t>
            </a:r>
            <a:r>
              <a:rPr dirty="0" sz="2800" spc="-55">
                <a:solidFill>
                  <a:srgbClr val="4E3629"/>
                </a:solidFill>
                <a:latin typeface="Calibri"/>
                <a:cs typeface="Calibri"/>
              </a:rPr>
              <a:t> </a:t>
            </a:r>
            <a:r>
              <a:rPr dirty="0" sz="2800">
                <a:solidFill>
                  <a:srgbClr val="4E3629"/>
                </a:solidFill>
                <a:latin typeface="Calibri"/>
                <a:cs typeface="Calibri"/>
              </a:rPr>
              <a:t>disponible, que</a:t>
            </a:r>
            <a:r>
              <a:rPr dirty="0" sz="2800" spc="-45">
                <a:solidFill>
                  <a:srgbClr val="4E3629"/>
                </a:solidFill>
                <a:latin typeface="Calibri"/>
                <a:cs typeface="Calibri"/>
              </a:rPr>
              <a:t> </a:t>
            </a:r>
            <a:r>
              <a:rPr dirty="0" sz="2800">
                <a:solidFill>
                  <a:srgbClr val="4E3629"/>
                </a:solidFill>
                <a:latin typeface="Calibri"/>
                <a:cs typeface="Calibri"/>
              </a:rPr>
              <a:t>está</a:t>
            </a:r>
            <a:r>
              <a:rPr dirty="0" sz="2800" spc="-40">
                <a:solidFill>
                  <a:srgbClr val="4E3629"/>
                </a:solidFill>
                <a:latin typeface="Calibri"/>
                <a:cs typeface="Calibri"/>
              </a:rPr>
              <a:t> </a:t>
            </a:r>
            <a:r>
              <a:rPr dirty="0" sz="2800" spc="-25">
                <a:solidFill>
                  <a:srgbClr val="4E3629"/>
                </a:solidFill>
                <a:latin typeface="Calibri"/>
                <a:cs typeface="Calibri"/>
              </a:rPr>
              <a:t>sin 	asignar,</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es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desconocido</a:t>
            </a:r>
            <a:r>
              <a:rPr dirty="0" sz="2800" spc="-25">
                <a:solidFill>
                  <a:srgbClr val="4E3629"/>
                </a:solidFill>
                <a:latin typeface="Calibri"/>
                <a:cs typeface="Calibri"/>
              </a:rPr>
              <a:t> </a:t>
            </a:r>
            <a:r>
              <a:rPr dirty="0" sz="2800">
                <a:solidFill>
                  <a:srgbClr val="4E3629"/>
                </a:solidFill>
                <a:latin typeface="Calibri"/>
                <a:cs typeface="Calibri"/>
              </a:rPr>
              <a:t>o</a:t>
            </a:r>
            <a:r>
              <a:rPr dirty="0" sz="2800" spc="-5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no</a:t>
            </a:r>
            <a:r>
              <a:rPr dirty="0" sz="2800" spc="-4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10">
                <a:solidFill>
                  <a:srgbClr val="4E3629"/>
                </a:solidFill>
                <a:latin typeface="Calibri"/>
                <a:cs typeface="Calibri"/>
              </a:rPr>
              <a:t>aplicable</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Como</a:t>
            </a:r>
            <a:r>
              <a:rPr dirty="0" sz="2800" spc="-70">
                <a:solidFill>
                  <a:srgbClr val="4E3629"/>
                </a:solidFill>
                <a:latin typeface="Calibri"/>
                <a:cs typeface="Calibri"/>
              </a:rPr>
              <a:t> </a:t>
            </a:r>
            <a:r>
              <a:rPr dirty="0" sz="2800" spc="-10">
                <a:solidFill>
                  <a:srgbClr val="4E3629"/>
                </a:solidFill>
                <a:latin typeface="Calibri"/>
                <a:cs typeface="Calibri"/>
              </a:rPr>
              <a:t>resultado,</a:t>
            </a:r>
            <a:r>
              <a:rPr dirty="0" sz="2800" spc="-40">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podemos</a:t>
            </a:r>
            <a:r>
              <a:rPr dirty="0" sz="2800" spc="-55">
                <a:solidFill>
                  <a:srgbClr val="4E3629"/>
                </a:solidFill>
                <a:latin typeface="Calibri"/>
                <a:cs typeface="Calibri"/>
              </a:rPr>
              <a:t> </a:t>
            </a:r>
            <a:r>
              <a:rPr dirty="0" sz="2800" spc="-10">
                <a:solidFill>
                  <a:srgbClr val="4E3629"/>
                </a:solidFill>
                <a:latin typeface="Calibri"/>
                <a:cs typeface="Calibri"/>
              </a:rPr>
              <a:t>comprobar</a:t>
            </a:r>
            <a:r>
              <a:rPr dirty="0" sz="2800" spc="-40">
                <a:solidFill>
                  <a:srgbClr val="4E3629"/>
                </a:solidFill>
                <a:latin typeface="Calibri"/>
                <a:cs typeface="Calibri"/>
              </a:rPr>
              <a:t> </a:t>
            </a:r>
            <a:r>
              <a:rPr dirty="0" sz="2800">
                <a:solidFill>
                  <a:srgbClr val="4E3629"/>
                </a:solidFill>
                <a:latin typeface="Calibri"/>
                <a:cs typeface="Calibri"/>
              </a:rPr>
              <a:t>si</a:t>
            </a:r>
            <a:r>
              <a:rPr dirty="0" sz="2800" spc="-65">
                <a:solidFill>
                  <a:srgbClr val="4E3629"/>
                </a:solidFill>
                <a:latin typeface="Calibri"/>
                <a:cs typeface="Calibri"/>
              </a:rPr>
              <a:t> </a:t>
            </a:r>
            <a:r>
              <a:rPr dirty="0" sz="2800">
                <a:solidFill>
                  <a:srgbClr val="4E3629"/>
                </a:solidFill>
                <a:latin typeface="Calibri"/>
                <a:cs typeface="Calibri"/>
              </a:rPr>
              <a:t>es</a:t>
            </a:r>
            <a:r>
              <a:rPr dirty="0" sz="2800" spc="-7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mismo</a:t>
            </a:r>
            <a:r>
              <a:rPr dirty="0" sz="2800" spc="-65">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a:solidFill>
                  <a:srgbClr val="4E3629"/>
                </a:solidFill>
                <a:latin typeface="Calibri"/>
                <a:cs typeface="Calibri"/>
              </a:rPr>
              <a:t>otro</a:t>
            </a:r>
            <a:r>
              <a:rPr dirty="0" sz="2800" spc="-75">
                <a:solidFill>
                  <a:srgbClr val="4E3629"/>
                </a:solidFill>
                <a:latin typeface="Calibri"/>
                <a:cs typeface="Calibri"/>
              </a:rPr>
              <a:t> </a:t>
            </a:r>
            <a:r>
              <a:rPr dirty="0" sz="2800" spc="-35">
                <a:solidFill>
                  <a:srgbClr val="4E3629"/>
                </a:solidFill>
                <a:latin typeface="Calibri"/>
                <a:cs typeface="Calibri"/>
              </a:rPr>
              <a:t>valor,</a:t>
            </a:r>
            <a:r>
              <a:rPr dirty="0" sz="2800" spc="-85">
                <a:solidFill>
                  <a:srgbClr val="4E3629"/>
                </a:solidFill>
                <a:latin typeface="Calibri"/>
                <a:cs typeface="Calibri"/>
              </a:rPr>
              <a:t> </a:t>
            </a:r>
            <a:r>
              <a:rPr dirty="0" sz="2800">
                <a:solidFill>
                  <a:srgbClr val="4E3629"/>
                </a:solidFill>
                <a:latin typeface="Calibri"/>
                <a:cs typeface="Calibri"/>
              </a:rPr>
              <a:t>porque</a:t>
            </a:r>
            <a:r>
              <a:rPr dirty="0" sz="2800" spc="-65">
                <a:solidFill>
                  <a:srgbClr val="4E3629"/>
                </a:solidFill>
                <a:latin typeface="Calibri"/>
                <a:cs typeface="Calibri"/>
              </a:rPr>
              <a:t> </a:t>
            </a:r>
            <a:r>
              <a:rPr dirty="0" sz="2800">
                <a:solidFill>
                  <a:srgbClr val="4E3629"/>
                </a:solidFill>
                <a:latin typeface="Calibri"/>
                <a:cs typeface="Calibri"/>
              </a:rPr>
              <a:t>no</a:t>
            </a:r>
            <a:r>
              <a:rPr dirty="0" sz="2800" spc="-75">
                <a:solidFill>
                  <a:srgbClr val="4E3629"/>
                </a:solidFill>
                <a:latin typeface="Calibri"/>
                <a:cs typeface="Calibri"/>
              </a:rPr>
              <a:t> </a:t>
            </a:r>
            <a:r>
              <a:rPr dirty="0" sz="2800">
                <a:solidFill>
                  <a:srgbClr val="4E3629"/>
                </a:solidFill>
                <a:latin typeface="Calibri"/>
                <a:cs typeface="Calibri"/>
              </a:rPr>
              <a:t>sabemos</a:t>
            </a:r>
            <a:r>
              <a:rPr dirty="0" sz="2800" spc="-65">
                <a:solidFill>
                  <a:srgbClr val="4E3629"/>
                </a:solidFill>
                <a:latin typeface="Calibri"/>
                <a:cs typeface="Calibri"/>
              </a:rPr>
              <a:t> </a:t>
            </a:r>
            <a:r>
              <a:rPr dirty="0" sz="2800">
                <a:solidFill>
                  <a:srgbClr val="4E3629"/>
                </a:solidFill>
                <a:latin typeface="Calibri"/>
                <a:cs typeface="Calibri"/>
              </a:rPr>
              <a:t>qué</a:t>
            </a:r>
            <a:r>
              <a:rPr dirty="0" sz="2800" spc="-65">
                <a:solidFill>
                  <a:srgbClr val="4E3629"/>
                </a:solidFill>
                <a:latin typeface="Calibri"/>
                <a:cs typeface="Calibri"/>
              </a:rPr>
              <a:t> </a:t>
            </a:r>
            <a:r>
              <a:rPr dirty="0" sz="2800" spc="-10">
                <a:solidFill>
                  <a:srgbClr val="4E3629"/>
                </a:solidFill>
                <a:latin typeface="Calibri"/>
                <a:cs typeface="Calibri"/>
              </a:rPr>
              <a:t>valor 	tiene</a:t>
            </a:r>
            <a:endParaRPr sz="2800">
              <a:latin typeface="Calibri"/>
              <a:cs typeface="Calibri"/>
            </a:endParaRPr>
          </a:p>
          <a:p>
            <a:pPr marL="183515" indent="-170815">
              <a:lnSpc>
                <a:spcPct val="100000"/>
              </a:lnSpc>
              <a:spcBef>
                <a:spcPts val="395"/>
              </a:spcBef>
              <a:buClr>
                <a:srgbClr val="D1350F"/>
              </a:buClr>
              <a:buFont typeface="Arial MT"/>
              <a:buChar char="•"/>
              <a:tabLst>
                <a:tab pos="183515" algn="l"/>
              </a:tabLst>
            </a:pPr>
            <a:r>
              <a:rPr dirty="0" sz="2800">
                <a:solidFill>
                  <a:srgbClr val="4E3629"/>
                </a:solidFill>
                <a:latin typeface="Calibri"/>
                <a:cs typeface="Calibri"/>
              </a:rPr>
              <a:t>No</a:t>
            </a:r>
            <a:r>
              <a:rPr dirty="0" sz="2800" spc="-25">
                <a:solidFill>
                  <a:srgbClr val="4E3629"/>
                </a:solidFill>
                <a:latin typeface="Calibri"/>
                <a:cs typeface="Calibri"/>
              </a:rPr>
              <a:t> </a:t>
            </a:r>
            <a:r>
              <a:rPr dirty="0" sz="2800">
                <a:solidFill>
                  <a:srgbClr val="4E3629"/>
                </a:solidFill>
                <a:latin typeface="Calibri"/>
                <a:cs typeface="Calibri"/>
              </a:rPr>
              <a:t>es</a:t>
            </a:r>
            <a:r>
              <a:rPr dirty="0" sz="2800" spc="-35">
                <a:solidFill>
                  <a:srgbClr val="4E3629"/>
                </a:solidFill>
                <a:latin typeface="Calibri"/>
                <a:cs typeface="Calibri"/>
              </a:rPr>
              <a:t> </a:t>
            </a:r>
            <a:r>
              <a:rPr dirty="0" sz="2800">
                <a:solidFill>
                  <a:srgbClr val="4E3629"/>
                </a:solidFill>
                <a:latin typeface="Calibri"/>
                <a:cs typeface="Calibri"/>
              </a:rPr>
              <a:t>igual</a:t>
            </a:r>
            <a:r>
              <a:rPr dirty="0" sz="2800" spc="-25">
                <a:solidFill>
                  <a:srgbClr val="4E3629"/>
                </a:solidFill>
                <a:latin typeface="Calibri"/>
                <a:cs typeface="Calibri"/>
              </a:rPr>
              <a:t> </a:t>
            </a:r>
            <a:r>
              <a:rPr dirty="0" sz="2800">
                <a:solidFill>
                  <a:srgbClr val="4E3629"/>
                </a:solidFill>
                <a:latin typeface="Calibri"/>
                <a:cs typeface="Calibri"/>
              </a:rPr>
              <a:t>a</a:t>
            </a:r>
            <a:r>
              <a:rPr dirty="0" sz="2800" spc="-40">
                <a:solidFill>
                  <a:srgbClr val="4E3629"/>
                </a:solidFill>
                <a:latin typeface="Calibri"/>
                <a:cs typeface="Calibri"/>
              </a:rPr>
              <a:t> </a:t>
            </a:r>
            <a:r>
              <a:rPr dirty="0" sz="2800">
                <a:solidFill>
                  <a:srgbClr val="4E3629"/>
                </a:solidFill>
                <a:latin typeface="Calibri"/>
                <a:cs typeface="Calibri"/>
              </a:rPr>
              <a:t>nada,</a:t>
            </a:r>
            <a:r>
              <a:rPr dirty="0" sz="2800" spc="-25">
                <a:solidFill>
                  <a:srgbClr val="4E3629"/>
                </a:solidFill>
                <a:latin typeface="Calibri"/>
                <a:cs typeface="Calibri"/>
              </a:rPr>
              <a:t> </a:t>
            </a:r>
            <a:r>
              <a:rPr dirty="0" sz="2800">
                <a:solidFill>
                  <a:srgbClr val="4E3629"/>
                </a:solidFill>
                <a:latin typeface="Calibri"/>
                <a:cs typeface="Calibri"/>
              </a:rPr>
              <a:t>ni</a:t>
            </a:r>
            <a:r>
              <a:rPr dirty="0" sz="2800" spc="-20">
                <a:solidFill>
                  <a:srgbClr val="4E3629"/>
                </a:solidFill>
                <a:latin typeface="Calibri"/>
                <a:cs typeface="Calibri"/>
              </a:rPr>
              <a:t> </a:t>
            </a:r>
            <a:r>
              <a:rPr dirty="0" sz="2800">
                <a:solidFill>
                  <a:srgbClr val="4E3629"/>
                </a:solidFill>
                <a:latin typeface="Calibri"/>
                <a:cs typeface="Calibri"/>
              </a:rPr>
              <a:t>siquiera</a:t>
            </a:r>
            <a:r>
              <a:rPr dirty="0" sz="2800" spc="-10">
                <a:solidFill>
                  <a:srgbClr val="4E3629"/>
                </a:solidFill>
                <a:latin typeface="Calibri"/>
                <a:cs typeface="Calibri"/>
              </a:rPr>
              <a:t> </a:t>
            </a:r>
            <a:r>
              <a:rPr dirty="0" sz="2800">
                <a:solidFill>
                  <a:srgbClr val="4E3629"/>
                </a:solidFill>
                <a:latin typeface="Calibri"/>
                <a:cs typeface="Calibri"/>
              </a:rPr>
              <a:t>a</a:t>
            </a:r>
            <a:r>
              <a:rPr dirty="0" sz="2800" spc="-25">
                <a:solidFill>
                  <a:srgbClr val="4E3629"/>
                </a:solidFill>
                <a:latin typeface="Calibri"/>
                <a:cs typeface="Calibri"/>
              </a:rPr>
              <a:t> </a:t>
            </a:r>
            <a:r>
              <a:rPr dirty="0" sz="2800" spc="-20">
                <a:solidFill>
                  <a:srgbClr val="4E3629"/>
                </a:solidFill>
                <a:latin typeface="Calibri"/>
                <a:cs typeface="Calibri"/>
              </a:rPr>
              <a:t>cero</a:t>
            </a:r>
            <a:endParaRPr sz="2800">
              <a:latin typeface="Calibri"/>
              <a:cs typeface="Calibri"/>
            </a:endParaRPr>
          </a:p>
          <a:p>
            <a:pPr marL="182880" marR="83185"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Pero</a:t>
            </a:r>
            <a:r>
              <a:rPr dirty="0" sz="2800" spc="-5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sea</a:t>
            </a:r>
            <a:r>
              <a:rPr dirty="0" sz="2800" spc="-55">
                <a:solidFill>
                  <a:srgbClr val="4E3629"/>
                </a:solidFill>
                <a:latin typeface="Calibri"/>
                <a:cs typeface="Calibri"/>
              </a:rPr>
              <a:t> </a:t>
            </a:r>
            <a:r>
              <a:rPr dirty="0" sz="2800" spc="-10">
                <a:solidFill>
                  <a:srgbClr val="4E3629"/>
                </a:solidFill>
                <a:latin typeface="Calibri"/>
                <a:cs typeface="Calibri"/>
              </a:rPr>
              <a:t>realmente</a:t>
            </a:r>
            <a:r>
              <a:rPr dirty="0" sz="2800" spc="-70">
                <a:solidFill>
                  <a:srgbClr val="4E3629"/>
                </a:solidFill>
                <a:latin typeface="Calibri"/>
                <a:cs typeface="Calibri"/>
              </a:rPr>
              <a:t> </a:t>
            </a:r>
            <a:r>
              <a:rPr dirty="0" sz="2800">
                <a:solidFill>
                  <a:srgbClr val="4E3629"/>
                </a:solidFill>
                <a:latin typeface="Calibri"/>
                <a:cs typeface="Calibri"/>
              </a:rPr>
              <a:t>nada</a:t>
            </a:r>
            <a:r>
              <a:rPr dirty="0" sz="2800" spc="-5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significa</a:t>
            </a:r>
            <a:r>
              <a:rPr dirty="0" sz="2800" spc="-5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sea</a:t>
            </a:r>
            <a:r>
              <a:rPr dirty="0" sz="2800" spc="-45">
                <a:solidFill>
                  <a:srgbClr val="4E3629"/>
                </a:solidFill>
                <a:latin typeface="Calibri"/>
                <a:cs typeface="Calibri"/>
              </a:rPr>
              <a:t> </a:t>
            </a:r>
            <a:r>
              <a:rPr dirty="0" sz="2800" spc="-10">
                <a:solidFill>
                  <a:srgbClr val="4E3629"/>
                </a:solidFill>
                <a:latin typeface="Calibri"/>
                <a:cs typeface="Calibri"/>
              </a:rPr>
              <a:t>importante</a:t>
            </a:r>
            <a:endParaRPr sz="280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2112" y="748031"/>
            <a:ext cx="7760334" cy="528320"/>
          </a:xfrm>
          <a:prstGeom prst="rect"/>
        </p:spPr>
        <p:txBody>
          <a:bodyPr wrap="square" lIns="0" tIns="12700" rIns="0" bIns="0" rtlCol="0" vert="horz">
            <a:spAutoFit/>
          </a:bodyPr>
          <a:lstStyle/>
          <a:p>
            <a:pPr marL="12700">
              <a:lnSpc>
                <a:spcPct val="100000"/>
              </a:lnSpc>
              <a:spcBef>
                <a:spcPts val="100"/>
              </a:spcBef>
            </a:pPr>
            <a:r>
              <a:rPr dirty="0"/>
              <a:t>Funciones</a:t>
            </a:r>
            <a:r>
              <a:rPr dirty="0" spc="-80"/>
              <a:t> </a:t>
            </a:r>
            <a:r>
              <a:rPr dirty="0"/>
              <a:t>Relacionadas</a:t>
            </a:r>
            <a:r>
              <a:rPr dirty="0" spc="-105"/>
              <a:t> </a:t>
            </a:r>
            <a:r>
              <a:rPr dirty="0"/>
              <a:t>con</a:t>
            </a:r>
            <a:r>
              <a:rPr dirty="0" spc="-105"/>
              <a:t> </a:t>
            </a:r>
            <a:r>
              <a:rPr dirty="0"/>
              <a:t>los</a:t>
            </a:r>
            <a:r>
              <a:rPr dirty="0" spc="-95"/>
              <a:t> </a:t>
            </a:r>
            <a:r>
              <a:rPr dirty="0" spc="-25"/>
              <a:t>Valores</a:t>
            </a:r>
            <a:r>
              <a:rPr dirty="0" spc="-114"/>
              <a:t> </a:t>
            </a:r>
            <a:r>
              <a:rPr dirty="0" spc="-10"/>
              <a:t>Nulos</a:t>
            </a:r>
          </a:p>
        </p:txBody>
      </p:sp>
      <p:sp>
        <p:nvSpPr>
          <p:cNvPr id="4" name="object 4"/>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9</a:t>
            </a: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355371"/>
            <a:ext cx="8155305" cy="3877310"/>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Imagine</a:t>
            </a:r>
            <a:r>
              <a:rPr dirty="0" sz="2800" spc="-65">
                <a:solidFill>
                  <a:srgbClr val="4E3629"/>
                </a:solidFill>
                <a:latin typeface="Calibri"/>
                <a:cs typeface="Calibri"/>
              </a:rPr>
              <a:t> </a:t>
            </a:r>
            <a:r>
              <a:rPr dirty="0" sz="2800">
                <a:solidFill>
                  <a:srgbClr val="4E3629"/>
                </a:solidFill>
                <a:latin typeface="Calibri"/>
                <a:cs typeface="Calibri"/>
              </a:rPr>
              <a:t>esta</a:t>
            </a:r>
            <a:r>
              <a:rPr dirty="0" sz="2800" spc="-35">
                <a:solidFill>
                  <a:srgbClr val="4E3629"/>
                </a:solidFill>
                <a:latin typeface="Calibri"/>
                <a:cs typeface="Calibri"/>
              </a:rPr>
              <a:t> </a:t>
            </a:r>
            <a:r>
              <a:rPr dirty="0" sz="2800" spc="-10">
                <a:solidFill>
                  <a:srgbClr val="4E3629"/>
                </a:solidFill>
                <a:latin typeface="Calibri"/>
                <a:cs typeface="Calibri"/>
              </a:rPr>
              <a:t>pregunta:</a:t>
            </a:r>
            <a:r>
              <a:rPr dirty="0" sz="2800" spc="-30">
                <a:solidFill>
                  <a:srgbClr val="4E3629"/>
                </a:solidFill>
                <a:latin typeface="Calibri"/>
                <a:cs typeface="Calibri"/>
              </a:rPr>
              <a:t> </a:t>
            </a:r>
            <a:r>
              <a:rPr dirty="0" sz="2800">
                <a:solidFill>
                  <a:srgbClr val="4E3629"/>
                </a:solidFill>
                <a:latin typeface="Calibri"/>
                <a:cs typeface="Calibri"/>
              </a:rPr>
              <a:t>¿Es</a:t>
            </a:r>
            <a:r>
              <a:rPr dirty="0" sz="2800" spc="-40">
                <a:solidFill>
                  <a:srgbClr val="4E3629"/>
                </a:solidFill>
                <a:latin typeface="Calibri"/>
                <a:cs typeface="Calibri"/>
              </a:rPr>
              <a:t> </a:t>
            </a:r>
            <a:r>
              <a:rPr dirty="0" sz="2800">
                <a:solidFill>
                  <a:srgbClr val="4E3629"/>
                </a:solidFill>
                <a:latin typeface="Calibri"/>
                <a:cs typeface="Calibri"/>
              </a:rPr>
              <a:t>cierto</a:t>
            </a:r>
            <a:r>
              <a:rPr dirty="0" sz="2800" spc="-5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X</a:t>
            </a:r>
            <a:r>
              <a:rPr dirty="0" sz="2800" spc="-55">
                <a:solidFill>
                  <a:srgbClr val="4E3629"/>
                </a:solidFill>
                <a:latin typeface="Calibri"/>
                <a:cs typeface="Calibri"/>
              </a:rPr>
              <a:t> </a:t>
            </a:r>
            <a:r>
              <a:rPr dirty="0" sz="2800">
                <a:solidFill>
                  <a:srgbClr val="4E3629"/>
                </a:solidFill>
                <a:latin typeface="Calibri"/>
                <a:cs typeface="Calibri"/>
              </a:rPr>
              <a:t>=</a:t>
            </a:r>
            <a:r>
              <a:rPr dirty="0" sz="2800" spc="-40">
                <a:solidFill>
                  <a:srgbClr val="4E3629"/>
                </a:solidFill>
                <a:latin typeface="Calibri"/>
                <a:cs typeface="Calibri"/>
              </a:rPr>
              <a:t> </a:t>
            </a:r>
            <a:r>
              <a:rPr dirty="0" sz="2800" spc="-25">
                <a:solidFill>
                  <a:srgbClr val="4E3629"/>
                </a:solidFill>
                <a:latin typeface="Calibri"/>
                <a:cs typeface="Calibri"/>
              </a:rPr>
              <a:t>Y?</a:t>
            </a:r>
            <a:endParaRPr sz="2800">
              <a:latin typeface="Calibri"/>
              <a:cs typeface="Calibri"/>
            </a:endParaRPr>
          </a:p>
          <a:p>
            <a:pPr marL="183515" indent="-170815">
              <a:lnSpc>
                <a:spcPct val="100000"/>
              </a:lnSpc>
              <a:spcBef>
                <a:spcPts val="470"/>
              </a:spcBef>
              <a:buClr>
                <a:srgbClr val="D1350F"/>
              </a:buClr>
              <a:buFont typeface="Arial MT"/>
              <a:buChar char="•"/>
              <a:tabLst>
                <a:tab pos="183515" algn="l"/>
              </a:tabLst>
            </a:pPr>
            <a:r>
              <a:rPr dirty="0" sz="2800" spc="-1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responderla</a:t>
            </a:r>
            <a:r>
              <a:rPr dirty="0" sz="2800" spc="-30">
                <a:solidFill>
                  <a:srgbClr val="4E3629"/>
                </a:solidFill>
                <a:latin typeface="Calibri"/>
                <a:cs typeface="Calibri"/>
              </a:rPr>
              <a:t> </a:t>
            </a:r>
            <a:r>
              <a:rPr dirty="0" sz="2800">
                <a:solidFill>
                  <a:srgbClr val="4E3629"/>
                </a:solidFill>
                <a:latin typeface="Calibri"/>
                <a:cs typeface="Calibri"/>
              </a:rPr>
              <a:t>tiene</a:t>
            </a:r>
            <a:r>
              <a:rPr dirty="0" sz="2800" spc="-55">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conocer</a:t>
            </a:r>
            <a:r>
              <a:rPr dirty="0" sz="2800" spc="-55">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valores</a:t>
            </a:r>
            <a:r>
              <a:rPr dirty="0" sz="2800" spc="-7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X</a:t>
            </a:r>
            <a:r>
              <a:rPr dirty="0" sz="2800" spc="-65">
                <a:solidFill>
                  <a:srgbClr val="4E3629"/>
                </a:solidFill>
                <a:latin typeface="Calibri"/>
                <a:cs typeface="Calibri"/>
              </a:rPr>
              <a:t> </a:t>
            </a:r>
            <a:r>
              <a:rPr dirty="0" sz="2800">
                <a:solidFill>
                  <a:srgbClr val="4E3629"/>
                </a:solidFill>
                <a:latin typeface="Calibri"/>
                <a:cs typeface="Calibri"/>
              </a:rPr>
              <a:t>e</a:t>
            </a:r>
            <a:r>
              <a:rPr dirty="0" sz="2800" spc="-65">
                <a:solidFill>
                  <a:srgbClr val="4E3629"/>
                </a:solidFill>
                <a:latin typeface="Calibri"/>
                <a:cs typeface="Calibri"/>
              </a:rPr>
              <a:t> </a:t>
            </a:r>
            <a:r>
              <a:rPr dirty="0" sz="2800" spc="-50">
                <a:solidFill>
                  <a:srgbClr val="4E3629"/>
                </a:solidFill>
                <a:latin typeface="Calibri"/>
                <a:cs typeface="Calibri"/>
              </a:rPr>
              <a:t>Y</a:t>
            </a:r>
            <a:endParaRPr sz="2800">
              <a:latin typeface="Calibri"/>
              <a:cs typeface="Calibri"/>
            </a:endParaRPr>
          </a:p>
          <a:p>
            <a:pPr marL="182880" marR="34798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Oracle</a:t>
            </a:r>
            <a:r>
              <a:rPr dirty="0" sz="2800" spc="-110">
                <a:solidFill>
                  <a:srgbClr val="4E3629"/>
                </a:solidFill>
                <a:latin typeface="Calibri"/>
                <a:cs typeface="Calibri"/>
              </a:rPr>
              <a:t> </a:t>
            </a:r>
            <a:r>
              <a:rPr dirty="0" sz="2800">
                <a:solidFill>
                  <a:srgbClr val="4E3629"/>
                </a:solidFill>
                <a:latin typeface="Calibri"/>
                <a:cs typeface="Calibri"/>
              </a:rPr>
              <a:t>tiene</a:t>
            </a:r>
            <a:r>
              <a:rPr dirty="0" sz="2800" spc="-110">
                <a:solidFill>
                  <a:srgbClr val="4E3629"/>
                </a:solidFill>
                <a:latin typeface="Calibri"/>
                <a:cs typeface="Calibri"/>
              </a:rPr>
              <a:t> </a:t>
            </a:r>
            <a:r>
              <a:rPr dirty="0" sz="2800">
                <a:solidFill>
                  <a:srgbClr val="4E3629"/>
                </a:solidFill>
                <a:latin typeface="Calibri"/>
                <a:cs typeface="Calibri"/>
              </a:rPr>
              <a:t>cuatro</a:t>
            </a:r>
            <a:r>
              <a:rPr dirty="0" sz="2800" spc="-95">
                <a:solidFill>
                  <a:srgbClr val="4E3629"/>
                </a:solidFill>
                <a:latin typeface="Calibri"/>
                <a:cs typeface="Calibri"/>
              </a:rPr>
              <a:t> </a:t>
            </a:r>
            <a:r>
              <a:rPr dirty="0" sz="2800">
                <a:solidFill>
                  <a:srgbClr val="4E3629"/>
                </a:solidFill>
                <a:latin typeface="Calibri"/>
                <a:cs typeface="Calibri"/>
              </a:rPr>
              <a:t>funciones</a:t>
            </a:r>
            <a:r>
              <a:rPr dirty="0" sz="2800" spc="-80">
                <a:solidFill>
                  <a:srgbClr val="4E3629"/>
                </a:solidFill>
                <a:latin typeface="Calibri"/>
                <a:cs typeface="Calibri"/>
              </a:rPr>
              <a:t> </a:t>
            </a:r>
            <a:r>
              <a:rPr dirty="0" sz="2800">
                <a:solidFill>
                  <a:srgbClr val="4E3629"/>
                </a:solidFill>
                <a:latin typeface="Calibri"/>
                <a:cs typeface="Calibri"/>
              </a:rPr>
              <a:t>generales</a:t>
            </a:r>
            <a:r>
              <a:rPr dirty="0" sz="2800" spc="-110">
                <a:solidFill>
                  <a:srgbClr val="4E3629"/>
                </a:solidFill>
                <a:latin typeface="Calibri"/>
                <a:cs typeface="Calibri"/>
              </a:rPr>
              <a:t> </a:t>
            </a:r>
            <a:r>
              <a:rPr dirty="0" sz="2800" spc="-10">
                <a:solidFill>
                  <a:srgbClr val="4E3629"/>
                </a:solidFill>
                <a:latin typeface="Calibri"/>
                <a:cs typeface="Calibri"/>
              </a:rPr>
              <a:t>relacionadas </a:t>
            </a:r>
            <a:r>
              <a:rPr dirty="0" sz="2800" spc="-10">
                <a:solidFill>
                  <a:srgbClr val="4E3629"/>
                </a:solidFill>
                <a:latin typeface="Calibri"/>
                <a:cs typeface="Calibri"/>
              </a:rPr>
              <a:t>	</a:t>
            </a:r>
            <a:r>
              <a:rPr dirty="0" sz="2800">
                <a:solidFill>
                  <a:srgbClr val="4E3629"/>
                </a:solidFill>
                <a:latin typeface="Calibri"/>
                <a:cs typeface="Calibri"/>
              </a:rPr>
              <a:t>con</a:t>
            </a:r>
            <a:r>
              <a:rPr dirty="0" sz="2800" spc="-45">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uso</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valores</a:t>
            </a:r>
            <a:r>
              <a:rPr dirty="0" sz="2800" spc="-55">
                <a:solidFill>
                  <a:srgbClr val="4E3629"/>
                </a:solidFill>
                <a:latin typeface="Calibri"/>
                <a:cs typeface="Calibri"/>
              </a:rPr>
              <a:t> </a:t>
            </a:r>
            <a:r>
              <a:rPr dirty="0" sz="2800" spc="-10">
                <a:solidFill>
                  <a:srgbClr val="4E3629"/>
                </a:solidFill>
                <a:latin typeface="Calibri"/>
                <a:cs typeface="Calibri"/>
              </a:rPr>
              <a:t>nulos</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Lst>
            </a:pPr>
            <a:r>
              <a:rPr dirty="0" sz="2800">
                <a:solidFill>
                  <a:srgbClr val="4E3629"/>
                </a:solidFill>
                <a:latin typeface="Calibri"/>
                <a:cs typeface="Calibri"/>
              </a:rPr>
              <a:t>Las</a:t>
            </a:r>
            <a:r>
              <a:rPr dirty="0" sz="2800" spc="-95">
                <a:solidFill>
                  <a:srgbClr val="4E3629"/>
                </a:solidFill>
                <a:latin typeface="Calibri"/>
                <a:cs typeface="Calibri"/>
              </a:rPr>
              <a:t> </a:t>
            </a:r>
            <a:r>
              <a:rPr dirty="0" sz="2800">
                <a:solidFill>
                  <a:srgbClr val="4E3629"/>
                </a:solidFill>
                <a:latin typeface="Calibri"/>
                <a:cs typeface="Calibri"/>
              </a:rPr>
              <a:t>cuatro</a:t>
            </a:r>
            <a:r>
              <a:rPr dirty="0" sz="2800" spc="-75">
                <a:solidFill>
                  <a:srgbClr val="4E3629"/>
                </a:solidFill>
                <a:latin typeface="Calibri"/>
                <a:cs typeface="Calibri"/>
              </a:rPr>
              <a:t> </a:t>
            </a:r>
            <a:r>
              <a:rPr dirty="0" sz="2800">
                <a:solidFill>
                  <a:srgbClr val="4E3629"/>
                </a:solidFill>
                <a:latin typeface="Calibri"/>
                <a:cs typeface="Calibri"/>
              </a:rPr>
              <a:t>funciones</a:t>
            </a:r>
            <a:r>
              <a:rPr dirty="0" sz="2800" spc="-60">
                <a:solidFill>
                  <a:srgbClr val="4E3629"/>
                </a:solidFill>
                <a:latin typeface="Calibri"/>
                <a:cs typeface="Calibri"/>
              </a:rPr>
              <a:t> </a:t>
            </a:r>
            <a:r>
              <a:rPr dirty="0" sz="2800" spc="-20">
                <a:solidFill>
                  <a:srgbClr val="4E3629"/>
                </a:solidFill>
                <a:latin typeface="Calibri"/>
                <a:cs typeface="Calibri"/>
              </a:rPr>
              <a:t>son:</a:t>
            </a:r>
            <a:endParaRPr sz="2800">
              <a:latin typeface="Calibri"/>
              <a:cs typeface="Calibri"/>
            </a:endParaRPr>
          </a:p>
          <a:p>
            <a:pPr marL="355600">
              <a:lnSpc>
                <a:spcPct val="100000"/>
              </a:lnSpc>
              <a:spcBef>
                <a:spcPts val="145"/>
              </a:spcBef>
            </a:pPr>
            <a:r>
              <a:rPr dirty="0" sz="2400" spc="-20">
                <a:solidFill>
                  <a:srgbClr val="D1350F"/>
                </a:solidFill>
                <a:latin typeface="Calibri"/>
                <a:cs typeface="Calibri"/>
              </a:rPr>
              <a:t>−</a:t>
            </a:r>
            <a:r>
              <a:rPr dirty="0" sz="2400" spc="-20">
                <a:solidFill>
                  <a:srgbClr val="4E3629"/>
                </a:solidFill>
                <a:latin typeface="Calibri"/>
                <a:cs typeface="Calibri"/>
              </a:rPr>
              <a:t>NVL</a:t>
            </a:r>
            <a:endParaRPr sz="2400">
              <a:latin typeface="Calibri"/>
              <a:cs typeface="Calibri"/>
            </a:endParaRPr>
          </a:p>
          <a:p>
            <a:pPr marL="355600">
              <a:lnSpc>
                <a:spcPct val="100000"/>
              </a:lnSpc>
              <a:spcBef>
                <a:spcPts val="110"/>
              </a:spcBef>
            </a:pPr>
            <a:r>
              <a:rPr dirty="0" sz="2400" spc="-10">
                <a:solidFill>
                  <a:srgbClr val="D1350F"/>
                </a:solidFill>
                <a:latin typeface="Calibri"/>
                <a:cs typeface="Calibri"/>
              </a:rPr>
              <a:t>−</a:t>
            </a:r>
            <a:r>
              <a:rPr dirty="0" sz="2400" spc="-10">
                <a:solidFill>
                  <a:srgbClr val="4E3629"/>
                </a:solidFill>
                <a:latin typeface="Calibri"/>
                <a:cs typeface="Calibri"/>
              </a:rPr>
              <a:t>NVL2</a:t>
            </a:r>
            <a:endParaRPr sz="2400">
              <a:latin typeface="Calibri"/>
              <a:cs typeface="Calibri"/>
            </a:endParaRPr>
          </a:p>
          <a:p>
            <a:pPr marL="355600">
              <a:lnSpc>
                <a:spcPct val="100000"/>
              </a:lnSpc>
              <a:spcBef>
                <a:spcPts val="105"/>
              </a:spcBef>
            </a:pPr>
            <a:r>
              <a:rPr dirty="0" sz="2400" spc="-10">
                <a:solidFill>
                  <a:srgbClr val="D1350F"/>
                </a:solidFill>
                <a:latin typeface="Calibri"/>
                <a:cs typeface="Calibri"/>
              </a:rPr>
              <a:t>−</a:t>
            </a:r>
            <a:r>
              <a:rPr dirty="0" sz="2400" spc="-10">
                <a:solidFill>
                  <a:srgbClr val="4E3629"/>
                </a:solidFill>
                <a:latin typeface="Calibri"/>
                <a:cs typeface="Calibri"/>
              </a:rPr>
              <a:t>NULLIF</a:t>
            </a:r>
            <a:endParaRPr sz="2400">
              <a:latin typeface="Calibri"/>
              <a:cs typeface="Calibri"/>
            </a:endParaRPr>
          </a:p>
          <a:p>
            <a:pPr marL="355600">
              <a:lnSpc>
                <a:spcPct val="100000"/>
              </a:lnSpc>
              <a:spcBef>
                <a:spcPts val="120"/>
              </a:spcBef>
            </a:pPr>
            <a:r>
              <a:rPr dirty="0" sz="2400" spc="-10">
                <a:solidFill>
                  <a:srgbClr val="D1350F"/>
                </a:solidFill>
                <a:latin typeface="Calibri"/>
                <a:cs typeface="Calibri"/>
              </a:rPr>
              <a:t>−</a:t>
            </a:r>
            <a:r>
              <a:rPr dirty="0" sz="2400" spc="-10">
                <a:solidFill>
                  <a:srgbClr val="4E3629"/>
                </a:solidFill>
                <a:latin typeface="Calibri"/>
                <a:cs typeface="Calibri"/>
              </a:rPr>
              <a:t>COALESCE</a:t>
            </a:r>
            <a:endParaRPr sz="2400">
              <a:latin typeface="Calibri"/>
              <a:cs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Función</a:t>
            </a:r>
            <a:r>
              <a:rPr dirty="0" spc="-95"/>
              <a:t> </a:t>
            </a:r>
            <a:r>
              <a:rPr dirty="0" spc="-25"/>
              <a:t>NVL</a:t>
            </a:r>
          </a:p>
        </p:txBody>
      </p:sp>
      <p:sp>
        <p:nvSpPr>
          <p:cNvPr id="6" name="object 6"/>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10</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7453630" cy="2576195"/>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función</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NVL</a:t>
            </a:r>
            <a:r>
              <a:rPr dirty="0" u="heavy" sz="2800" spc="-2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convierte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3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valor</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conocido</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tipo</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fijo,</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fecha,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carácter</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numérico</a:t>
            </a:r>
            <a:endParaRPr sz="2800">
              <a:latin typeface="Calibri"/>
              <a:cs typeface="Calibri"/>
            </a:endParaRPr>
          </a:p>
          <a:p>
            <a:pPr marL="182880" marR="163195"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Los</a:t>
            </a:r>
            <a:r>
              <a:rPr dirty="0" sz="2800" spc="-40">
                <a:solidFill>
                  <a:srgbClr val="4E3629"/>
                </a:solidFill>
                <a:latin typeface="Calibri"/>
                <a:cs typeface="Calibri"/>
              </a:rPr>
              <a:t> </a:t>
            </a:r>
            <a:r>
              <a:rPr dirty="0" sz="2800">
                <a:solidFill>
                  <a:srgbClr val="4E3629"/>
                </a:solidFill>
                <a:latin typeface="Calibri"/>
                <a:cs typeface="Calibri"/>
              </a:rPr>
              <a:t>tipos</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columna</a:t>
            </a:r>
            <a:r>
              <a:rPr dirty="0" sz="2800" spc="-2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valor</a:t>
            </a:r>
            <a:r>
              <a:rPr dirty="0" sz="2800" spc="-55">
                <a:solidFill>
                  <a:srgbClr val="4E3629"/>
                </a:solidFill>
                <a:latin typeface="Calibri"/>
                <a:cs typeface="Calibri"/>
              </a:rPr>
              <a:t> </a:t>
            </a:r>
            <a:r>
              <a:rPr dirty="0" sz="2800">
                <a:solidFill>
                  <a:srgbClr val="4E3629"/>
                </a:solidFill>
                <a:latin typeface="Calibri"/>
                <a:cs typeface="Calibri"/>
              </a:rPr>
              <a:t>nulo</a:t>
            </a:r>
            <a:r>
              <a:rPr dirty="0" sz="2800" spc="-25">
                <a:solidFill>
                  <a:srgbClr val="4E3629"/>
                </a:solidFill>
                <a:latin typeface="Calibri"/>
                <a:cs typeface="Calibri"/>
              </a:rPr>
              <a:t> </a:t>
            </a:r>
            <a:r>
              <a:rPr dirty="0" sz="2800">
                <a:solidFill>
                  <a:srgbClr val="4E3629"/>
                </a:solidFill>
                <a:latin typeface="Calibri"/>
                <a:cs typeface="Calibri"/>
              </a:rPr>
              <a:t>y</a:t>
            </a:r>
            <a:r>
              <a:rPr dirty="0" sz="2800" spc="-5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nuevo</a:t>
            </a:r>
            <a:r>
              <a:rPr dirty="0" sz="2800" spc="-55">
                <a:solidFill>
                  <a:srgbClr val="4E3629"/>
                </a:solidFill>
                <a:latin typeface="Calibri"/>
                <a:cs typeface="Calibri"/>
              </a:rPr>
              <a:t> </a:t>
            </a:r>
            <a:r>
              <a:rPr dirty="0" sz="2800">
                <a:solidFill>
                  <a:srgbClr val="4E3629"/>
                </a:solidFill>
                <a:latin typeface="Calibri"/>
                <a:cs typeface="Calibri"/>
              </a:rPr>
              <a:t>valor</a:t>
            </a:r>
            <a:r>
              <a:rPr dirty="0" sz="2800" spc="-65">
                <a:solidFill>
                  <a:srgbClr val="4E3629"/>
                </a:solidFill>
                <a:latin typeface="Calibri"/>
                <a:cs typeface="Calibri"/>
              </a:rPr>
              <a:t> </a:t>
            </a:r>
            <a:r>
              <a:rPr dirty="0" sz="2800">
                <a:solidFill>
                  <a:srgbClr val="4E3629"/>
                </a:solidFill>
                <a:latin typeface="Calibri"/>
                <a:cs typeface="Calibri"/>
              </a:rPr>
              <a:t>deben</a:t>
            </a:r>
            <a:r>
              <a:rPr dirty="0" sz="2800" spc="-45">
                <a:solidFill>
                  <a:srgbClr val="4E3629"/>
                </a:solidFill>
                <a:latin typeface="Calibri"/>
                <a:cs typeface="Calibri"/>
              </a:rPr>
              <a:t> </a:t>
            </a:r>
            <a:r>
              <a:rPr dirty="0" sz="2800">
                <a:solidFill>
                  <a:srgbClr val="4E3629"/>
                </a:solidFill>
                <a:latin typeface="Calibri"/>
                <a:cs typeface="Calibri"/>
              </a:rPr>
              <a:t>ser</a:t>
            </a:r>
            <a:r>
              <a:rPr dirty="0" sz="2800" spc="-55">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spc="-10">
                <a:solidFill>
                  <a:srgbClr val="4E3629"/>
                </a:solidFill>
                <a:latin typeface="Calibri"/>
                <a:cs typeface="Calibri"/>
              </a:rPr>
              <a:t>mismos</a:t>
            </a:r>
            <a:endParaRPr sz="2800">
              <a:latin typeface="Calibri"/>
              <a:cs typeface="Calibri"/>
            </a:endParaRPr>
          </a:p>
          <a:p>
            <a:pPr marL="183515" indent="-170815">
              <a:lnSpc>
                <a:spcPct val="100000"/>
              </a:lnSpc>
              <a:spcBef>
                <a:spcPts val="420"/>
              </a:spcBef>
              <a:buClr>
                <a:srgbClr val="D1350F"/>
              </a:buClr>
              <a:buFont typeface="Arial MT"/>
              <a:buChar char="•"/>
              <a:tabLst>
                <a:tab pos="18351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función</a:t>
            </a:r>
            <a:r>
              <a:rPr dirty="0" sz="2800" spc="-20">
                <a:solidFill>
                  <a:srgbClr val="4E3629"/>
                </a:solidFill>
                <a:latin typeface="Calibri"/>
                <a:cs typeface="Calibri"/>
              </a:rPr>
              <a:t> </a:t>
            </a:r>
            <a:r>
              <a:rPr dirty="0" sz="2800">
                <a:solidFill>
                  <a:srgbClr val="4E3629"/>
                </a:solidFill>
                <a:latin typeface="Calibri"/>
                <a:cs typeface="Calibri"/>
              </a:rPr>
              <a:t>NVL</a:t>
            </a:r>
            <a:r>
              <a:rPr dirty="0" sz="2800" spc="-20">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p:cNvSpPr txBox="1"/>
          <p:nvPr/>
        </p:nvSpPr>
        <p:spPr>
          <a:xfrm>
            <a:off x="483552" y="4510661"/>
            <a:ext cx="7728584"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NVL</a:t>
            </a:r>
            <a:r>
              <a:rPr dirty="0" sz="2800" spc="-5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o</a:t>
            </a:r>
            <a:r>
              <a:rPr dirty="0" sz="2800" spc="-60">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pueden</a:t>
            </a:r>
            <a:r>
              <a:rPr dirty="0" sz="2800" spc="-20">
                <a:solidFill>
                  <a:srgbClr val="4E3629"/>
                </a:solidFill>
                <a:latin typeface="Calibri"/>
                <a:cs typeface="Calibri"/>
              </a:rPr>
              <a:t> </a:t>
            </a:r>
            <a:r>
              <a:rPr dirty="0" sz="2800" spc="-10">
                <a:solidFill>
                  <a:srgbClr val="4E3629"/>
                </a:solidFill>
                <a:latin typeface="Calibri"/>
                <a:cs typeface="Calibri"/>
              </a:rPr>
              <a:t>contener</a:t>
            </a:r>
            <a:r>
              <a:rPr dirty="0" sz="2800" spc="-60">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spc="-10">
                <a:solidFill>
                  <a:srgbClr val="4E3629"/>
                </a:solidFill>
                <a:latin typeface="Calibri"/>
                <a:cs typeface="Calibri"/>
              </a:rPr>
              <a:t>valor </a:t>
            </a:r>
            <a:r>
              <a:rPr dirty="0" sz="2800" spc="-10">
                <a:solidFill>
                  <a:srgbClr val="4E3629"/>
                </a:solidFill>
                <a:latin typeface="Calibri"/>
                <a:cs typeface="Calibri"/>
              </a:rPr>
              <a:t>	</a:t>
            </a:r>
            <a:r>
              <a:rPr dirty="0" sz="2800">
                <a:solidFill>
                  <a:srgbClr val="4E3629"/>
                </a:solidFill>
                <a:latin typeface="Calibri"/>
                <a:cs typeface="Calibri"/>
              </a:rPr>
              <a:t>nulo,</a:t>
            </a:r>
            <a:r>
              <a:rPr dirty="0" sz="2800" spc="-6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valor</a:t>
            </a:r>
            <a:r>
              <a:rPr dirty="0" sz="2800" spc="-80">
                <a:solidFill>
                  <a:srgbClr val="4E3629"/>
                </a:solidFill>
                <a:latin typeface="Calibri"/>
                <a:cs typeface="Calibri"/>
              </a:rPr>
              <a:t> </a:t>
            </a:r>
            <a:r>
              <a:rPr dirty="0" sz="280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sustituir</a:t>
            </a:r>
            <a:r>
              <a:rPr dirty="0" sz="2800" spc="-30">
                <a:solidFill>
                  <a:srgbClr val="4E3629"/>
                </a:solidFill>
                <a:latin typeface="Calibri"/>
                <a:cs typeface="Calibri"/>
              </a:rPr>
              <a:t> </a:t>
            </a:r>
            <a:r>
              <a:rPr dirty="0" sz="2800">
                <a:solidFill>
                  <a:srgbClr val="4E3629"/>
                </a:solidFill>
                <a:latin typeface="Calibri"/>
                <a:cs typeface="Calibri"/>
              </a:rPr>
              <a:t>un</a:t>
            </a:r>
            <a:r>
              <a:rPr dirty="0" sz="2800" spc="-70">
                <a:solidFill>
                  <a:srgbClr val="4E3629"/>
                </a:solidFill>
                <a:latin typeface="Calibri"/>
                <a:cs typeface="Calibri"/>
              </a:rPr>
              <a:t> </a:t>
            </a:r>
            <a:r>
              <a:rPr dirty="0" sz="2800">
                <a:solidFill>
                  <a:srgbClr val="4E3629"/>
                </a:solidFill>
                <a:latin typeface="Calibri"/>
                <a:cs typeface="Calibri"/>
              </a:rPr>
              <a:t>valor</a:t>
            </a:r>
            <a:r>
              <a:rPr dirty="0" sz="2800" spc="-85">
                <a:solidFill>
                  <a:srgbClr val="4E3629"/>
                </a:solidFill>
                <a:latin typeface="Calibri"/>
                <a:cs typeface="Calibri"/>
              </a:rPr>
              <a:t> </a:t>
            </a:r>
            <a:r>
              <a:rPr dirty="0" sz="2800" spc="-10">
                <a:solidFill>
                  <a:srgbClr val="4E3629"/>
                </a:solidFill>
                <a:latin typeface="Calibri"/>
                <a:cs typeface="Calibri"/>
              </a:rPr>
              <a:t>nulo)</a:t>
            </a:r>
            <a:endParaRPr sz="2800">
              <a:latin typeface="Calibri"/>
              <a:cs typeface="Calibri"/>
            </a:endParaRPr>
          </a:p>
        </p:txBody>
      </p:sp>
      <p:sp>
        <p:nvSpPr>
          <p:cNvPr id="5" name="object 5"/>
          <p:cNvSpPr txBox="1"/>
          <p:nvPr/>
        </p:nvSpPr>
        <p:spPr>
          <a:xfrm>
            <a:off x="405384" y="3982211"/>
            <a:ext cx="8345805" cy="563880"/>
          </a:xfrm>
          <a:prstGeom prst="rect">
            <a:avLst/>
          </a:prstGeom>
          <a:solidFill>
            <a:srgbClr val="9DBEC4">
              <a:alpha val="50199"/>
            </a:srgbClr>
          </a:solidFill>
        </p:spPr>
        <p:txBody>
          <a:bodyPr wrap="square" lIns="0" tIns="0" rIns="0" bIns="0" rtlCol="0" vert="horz">
            <a:spAutoFit/>
          </a:bodyPr>
          <a:lstStyle/>
          <a:p>
            <a:pPr>
              <a:lnSpc>
                <a:spcPts val="2010"/>
              </a:lnSpc>
            </a:pPr>
            <a:r>
              <a:rPr dirty="0" sz="1800" b="1">
                <a:solidFill>
                  <a:srgbClr val="4E3629"/>
                </a:solidFill>
                <a:latin typeface="Courier New"/>
                <a:cs typeface="Courier New"/>
              </a:rPr>
              <a:t>NVL</a:t>
            </a:r>
            <a:r>
              <a:rPr dirty="0" sz="1800" spc="-55" b="1">
                <a:solidFill>
                  <a:srgbClr val="4E3629"/>
                </a:solidFill>
                <a:latin typeface="Courier New"/>
                <a:cs typeface="Courier New"/>
              </a:rPr>
              <a:t> </a:t>
            </a:r>
            <a:r>
              <a:rPr dirty="0" sz="1800" b="1">
                <a:solidFill>
                  <a:srgbClr val="4E3629"/>
                </a:solidFill>
                <a:latin typeface="Courier New"/>
                <a:cs typeface="Courier New"/>
              </a:rPr>
              <a:t>(expression</a:t>
            </a:r>
            <a:r>
              <a:rPr dirty="0" sz="1800" spc="-55" b="1">
                <a:solidFill>
                  <a:srgbClr val="4E3629"/>
                </a:solidFill>
                <a:latin typeface="Courier New"/>
                <a:cs typeface="Courier New"/>
              </a:rPr>
              <a:t> </a:t>
            </a:r>
            <a:r>
              <a:rPr dirty="0" sz="1800" b="1">
                <a:solidFill>
                  <a:srgbClr val="4E3629"/>
                </a:solidFill>
                <a:latin typeface="Courier New"/>
                <a:cs typeface="Courier New"/>
              </a:rPr>
              <a:t>1</a:t>
            </a:r>
            <a:r>
              <a:rPr dirty="0" sz="1800" spc="-45" b="1">
                <a:solidFill>
                  <a:srgbClr val="4E3629"/>
                </a:solidFill>
                <a:latin typeface="Courier New"/>
                <a:cs typeface="Courier New"/>
              </a:rPr>
              <a:t> </a:t>
            </a:r>
            <a:r>
              <a:rPr dirty="0" sz="1800" b="1">
                <a:solidFill>
                  <a:srgbClr val="4E3629"/>
                </a:solidFill>
                <a:latin typeface="Courier New"/>
                <a:cs typeface="Courier New"/>
              </a:rPr>
              <a:t>value</a:t>
            </a:r>
            <a:r>
              <a:rPr dirty="0" sz="1800" spc="-45" b="1">
                <a:solidFill>
                  <a:srgbClr val="4E3629"/>
                </a:solidFill>
                <a:latin typeface="Courier New"/>
                <a:cs typeface="Courier New"/>
              </a:rPr>
              <a:t> </a:t>
            </a:r>
            <a:r>
              <a:rPr dirty="0" sz="1800" b="1">
                <a:solidFill>
                  <a:srgbClr val="4E3629"/>
                </a:solidFill>
                <a:latin typeface="Courier New"/>
                <a:cs typeface="Courier New"/>
              </a:rPr>
              <a:t>that</a:t>
            </a:r>
            <a:r>
              <a:rPr dirty="0" sz="1800" spc="-45" b="1">
                <a:solidFill>
                  <a:srgbClr val="4E3629"/>
                </a:solidFill>
                <a:latin typeface="Courier New"/>
                <a:cs typeface="Courier New"/>
              </a:rPr>
              <a:t> </a:t>
            </a:r>
            <a:r>
              <a:rPr dirty="0" sz="1800" b="1">
                <a:solidFill>
                  <a:srgbClr val="4E3629"/>
                </a:solidFill>
                <a:latin typeface="Courier New"/>
                <a:cs typeface="Courier New"/>
              </a:rPr>
              <a:t>may</a:t>
            </a:r>
            <a:r>
              <a:rPr dirty="0" sz="1800" spc="-60" b="1">
                <a:solidFill>
                  <a:srgbClr val="4E3629"/>
                </a:solidFill>
                <a:latin typeface="Courier New"/>
                <a:cs typeface="Courier New"/>
              </a:rPr>
              <a:t> </a:t>
            </a:r>
            <a:r>
              <a:rPr dirty="0" sz="1800" b="1">
                <a:solidFill>
                  <a:srgbClr val="4E3629"/>
                </a:solidFill>
                <a:latin typeface="Courier New"/>
                <a:cs typeface="Courier New"/>
              </a:rPr>
              <a:t>contain</a:t>
            </a:r>
            <a:r>
              <a:rPr dirty="0" sz="1800" spc="-55" b="1">
                <a:solidFill>
                  <a:srgbClr val="4E3629"/>
                </a:solidFill>
                <a:latin typeface="Courier New"/>
                <a:cs typeface="Courier New"/>
              </a:rPr>
              <a:t> </a:t>
            </a:r>
            <a:r>
              <a:rPr dirty="0" sz="1800" b="1">
                <a:solidFill>
                  <a:srgbClr val="4E3629"/>
                </a:solidFill>
                <a:latin typeface="Courier New"/>
                <a:cs typeface="Courier New"/>
              </a:rPr>
              <a:t>a</a:t>
            </a:r>
            <a:r>
              <a:rPr dirty="0" sz="1800" spc="-55" b="1">
                <a:solidFill>
                  <a:srgbClr val="4E3629"/>
                </a:solidFill>
                <a:latin typeface="Courier New"/>
                <a:cs typeface="Courier New"/>
              </a:rPr>
              <a:t> </a:t>
            </a:r>
            <a:r>
              <a:rPr dirty="0" sz="1800" b="1">
                <a:solidFill>
                  <a:srgbClr val="4E3629"/>
                </a:solidFill>
                <a:latin typeface="Courier New"/>
                <a:cs typeface="Courier New"/>
              </a:rPr>
              <a:t>null,</a:t>
            </a:r>
            <a:r>
              <a:rPr dirty="0" sz="1800" spc="-55" b="1">
                <a:solidFill>
                  <a:srgbClr val="4E3629"/>
                </a:solidFill>
                <a:latin typeface="Courier New"/>
                <a:cs typeface="Courier New"/>
              </a:rPr>
              <a:t> </a:t>
            </a:r>
            <a:r>
              <a:rPr dirty="0" sz="1800" b="1">
                <a:solidFill>
                  <a:srgbClr val="4E3629"/>
                </a:solidFill>
                <a:latin typeface="Courier New"/>
                <a:cs typeface="Courier New"/>
              </a:rPr>
              <a:t>expression</a:t>
            </a:r>
            <a:r>
              <a:rPr dirty="0" sz="1800" spc="-50" b="1">
                <a:solidFill>
                  <a:srgbClr val="4E3629"/>
                </a:solidFill>
                <a:latin typeface="Courier New"/>
                <a:cs typeface="Courier New"/>
              </a:rPr>
              <a:t> 2</a:t>
            </a:r>
            <a:endParaRPr sz="1800">
              <a:latin typeface="Courier New"/>
              <a:cs typeface="Courier New"/>
            </a:endParaRPr>
          </a:p>
          <a:p>
            <a:pPr>
              <a:lnSpc>
                <a:spcPct val="100000"/>
              </a:lnSpc>
            </a:pPr>
            <a:r>
              <a:rPr dirty="0" sz="1800" b="1">
                <a:solidFill>
                  <a:srgbClr val="4E3629"/>
                </a:solidFill>
                <a:latin typeface="Courier New"/>
                <a:cs typeface="Courier New"/>
              </a:rPr>
              <a:t>value</a:t>
            </a:r>
            <a:r>
              <a:rPr dirty="0" sz="1800" spc="-60" b="1">
                <a:solidFill>
                  <a:srgbClr val="4E3629"/>
                </a:solidFill>
                <a:latin typeface="Courier New"/>
                <a:cs typeface="Courier New"/>
              </a:rPr>
              <a:t> </a:t>
            </a:r>
            <a:r>
              <a:rPr dirty="0" sz="1800" b="1">
                <a:solidFill>
                  <a:srgbClr val="4E3629"/>
                </a:solidFill>
                <a:latin typeface="Courier New"/>
                <a:cs typeface="Courier New"/>
              </a:rPr>
              <a:t>to</a:t>
            </a:r>
            <a:r>
              <a:rPr dirty="0" sz="1800" spc="-50" b="1">
                <a:solidFill>
                  <a:srgbClr val="4E3629"/>
                </a:solidFill>
                <a:latin typeface="Courier New"/>
                <a:cs typeface="Courier New"/>
              </a:rPr>
              <a:t> </a:t>
            </a:r>
            <a:r>
              <a:rPr dirty="0" sz="1800" b="1">
                <a:solidFill>
                  <a:srgbClr val="4E3629"/>
                </a:solidFill>
                <a:latin typeface="Courier New"/>
                <a:cs typeface="Courier New"/>
              </a:rPr>
              <a:t>substitute</a:t>
            </a:r>
            <a:r>
              <a:rPr dirty="0" sz="1800" spc="-50" b="1">
                <a:solidFill>
                  <a:srgbClr val="4E3629"/>
                </a:solidFill>
                <a:latin typeface="Courier New"/>
                <a:cs typeface="Courier New"/>
              </a:rPr>
              <a:t> </a:t>
            </a:r>
            <a:r>
              <a:rPr dirty="0" sz="1800" b="1">
                <a:solidFill>
                  <a:srgbClr val="4E3629"/>
                </a:solidFill>
                <a:latin typeface="Courier New"/>
                <a:cs typeface="Courier New"/>
              </a:rPr>
              <a:t>for</a:t>
            </a:r>
            <a:r>
              <a:rPr dirty="0" sz="1800" spc="-40" b="1">
                <a:solidFill>
                  <a:srgbClr val="4E3629"/>
                </a:solidFill>
                <a:latin typeface="Courier New"/>
                <a:cs typeface="Courier New"/>
              </a:rPr>
              <a:t> </a:t>
            </a:r>
            <a:r>
              <a:rPr dirty="0" sz="1800" spc="-10" b="1">
                <a:solidFill>
                  <a:srgbClr val="4E3629"/>
                </a:solidFill>
                <a:latin typeface="Courier New"/>
                <a:cs typeface="Courier New"/>
              </a:rPr>
              <a:t>null)</a:t>
            </a:r>
            <a:endParaRPr sz="1800">
              <a:latin typeface="Courier New"/>
              <a:cs typeface="Courier New"/>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Función</a:t>
            </a:r>
            <a:r>
              <a:rPr dirty="0" spc="-95"/>
              <a:t> </a:t>
            </a:r>
            <a:r>
              <a:rPr dirty="0" spc="-25"/>
              <a:t>NVL</a:t>
            </a:r>
          </a:p>
        </p:txBody>
      </p:sp>
      <p:sp>
        <p:nvSpPr>
          <p:cNvPr id="7" name="object 7"/>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11</a:t>
            </a: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7671434"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siguiente</a:t>
            </a:r>
            <a:r>
              <a:rPr dirty="0" sz="2800" spc="-60">
                <a:solidFill>
                  <a:srgbClr val="4E3629"/>
                </a:solidFill>
                <a:latin typeface="Calibri"/>
                <a:cs typeface="Calibri"/>
              </a:rPr>
              <a:t> </a:t>
            </a:r>
            <a:r>
              <a:rPr dirty="0" sz="2800">
                <a:solidFill>
                  <a:srgbClr val="4E3629"/>
                </a:solidFill>
                <a:latin typeface="Calibri"/>
                <a:cs typeface="Calibri"/>
              </a:rPr>
              <a:t>consulta</a:t>
            </a:r>
            <a:r>
              <a:rPr dirty="0" sz="2800" spc="-35">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utiliza</a:t>
            </a:r>
            <a:r>
              <a:rPr dirty="0" sz="2800" spc="-5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función</a:t>
            </a:r>
            <a:r>
              <a:rPr dirty="0" sz="2800" spc="-55">
                <a:solidFill>
                  <a:srgbClr val="4E3629"/>
                </a:solidFill>
                <a:latin typeface="Calibri"/>
                <a:cs typeface="Calibri"/>
              </a:rPr>
              <a:t> </a:t>
            </a:r>
            <a:r>
              <a:rPr dirty="0" sz="2800">
                <a:solidFill>
                  <a:srgbClr val="4E3629"/>
                </a:solidFill>
                <a:latin typeface="Calibri"/>
                <a:cs typeface="Calibri"/>
              </a:rPr>
              <a:t>NVL</a:t>
            </a:r>
            <a:r>
              <a:rPr dirty="0" sz="2800" spc="-50">
                <a:solidFill>
                  <a:srgbClr val="4E3629"/>
                </a:solidFill>
                <a:latin typeface="Calibri"/>
                <a:cs typeface="Calibri"/>
              </a:rPr>
              <a:t> </a:t>
            </a:r>
            <a:r>
              <a:rPr dirty="0" sz="2800" spc="-25">
                <a:solidFill>
                  <a:srgbClr val="4E3629"/>
                </a:solidFill>
                <a:latin typeface="Calibri"/>
                <a:cs typeface="Calibri"/>
              </a:rPr>
              <a:t>con </a:t>
            </a:r>
            <a:r>
              <a:rPr dirty="0" sz="2800" spc="-25">
                <a:solidFill>
                  <a:srgbClr val="4E3629"/>
                </a:solidFill>
                <a:latin typeface="Calibri"/>
                <a:cs typeface="Calibri"/>
              </a:rPr>
              <a:t>	</a:t>
            </a:r>
            <a:r>
              <a:rPr dirty="0" sz="2800">
                <a:solidFill>
                  <a:srgbClr val="4E3629"/>
                </a:solidFill>
                <a:latin typeface="Calibri"/>
                <a:cs typeface="Calibri"/>
              </a:rPr>
              <a:t>tipos</a:t>
            </a:r>
            <a:r>
              <a:rPr dirty="0" sz="2800" spc="-3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dato</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carácter:</a:t>
            </a:r>
            <a:endParaRPr sz="2800">
              <a:latin typeface="Calibri"/>
              <a:cs typeface="Calibri"/>
            </a:endParaRPr>
          </a:p>
        </p:txBody>
      </p:sp>
      <p:sp>
        <p:nvSpPr>
          <p:cNvPr id="4" name="object 4"/>
          <p:cNvSpPr txBox="1"/>
          <p:nvPr/>
        </p:nvSpPr>
        <p:spPr>
          <a:xfrm>
            <a:off x="483552" y="3742565"/>
            <a:ext cx="4606290" cy="836294"/>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nulos</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sustituyen</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por</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texto</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'None'</a:t>
            </a:r>
            <a:endParaRPr sz="2800">
              <a:latin typeface="Calibri"/>
              <a:cs typeface="Calibri"/>
            </a:endParaRPr>
          </a:p>
        </p:txBody>
      </p:sp>
      <p:graphicFrame>
        <p:nvGraphicFramePr>
          <p:cNvPr id="5" name="object 5"/>
          <p:cNvGraphicFramePr>
            <a:graphicFrameLocks noGrp="1"/>
          </p:cNvGraphicFramePr>
          <p:nvPr/>
        </p:nvGraphicFramePr>
        <p:xfrm>
          <a:off x="5254949" y="3868157"/>
          <a:ext cx="3566795" cy="2413000"/>
        </p:xfrm>
        <a:graphic>
          <a:graphicData uri="http://schemas.openxmlformats.org/drawingml/2006/table">
            <a:tbl>
              <a:tblPr firstRow="1" bandRow="1">
                <a:tableStyleId>{2D5ABB26-0587-4C30-8999-92F81FD0307C}</a:tableStyleId>
              </a:tblPr>
              <a:tblGrid>
                <a:gridCol w="2167255"/>
                <a:gridCol w="1310640"/>
              </a:tblGrid>
              <a:tr h="464184">
                <a:tc>
                  <a:txBody>
                    <a:bodyPr/>
                    <a:lstStyle/>
                    <a:p>
                      <a:pPr marL="71755">
                        <a:lnSpc>
                          <a:spcPct val="100000"/>
                        </a:lnSpc>
                        <a:spcBef>
                          <a:spcPts val="765"/>
                        </a:spcBef>
                      </a:pPr>
                      <a:r>
                        <a:rPr dirty="0" sz="1600" spc="-10" b="1">
                          <a:solidFill>
                            <a:srgbClr val="4E3629"/>
                          </a:solidFill>
                          <a:latin typeface="Calibri"/>
                          <a:cs typeface="Calibri"/>
                        </a:rPr>
                        <a:t>COUNTRY_NAME</a:t>
                      </a:r>
                      <a:endParaRPr sz="1600">
                        <a:latin typeface="Calibri"/>
                        <a:cs typeface="Calibri"/>
                      </a:endParaRPr>
                    </a:p>
                  </a:txBody>
                  <a:tcPr marL="0" marR="0" marB="0" marT="9715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765"/>
                        </a:spcBef>
                      </a:pPr>
                      <a:r>
                        <a:rPr dirty="0" sz="1600" spc="-10" b="1">
                          <a:solidFill>
                            <a:srgbClr val="4E3629"/>
                          </a:solidFill>
                          <a:latin typeface="Calibri"/>
                          <a:cs typeface="Calibri"/>
                        </a:rPr>
                        <a:t>Internet</a:t>
                      </a:r>
                      <a:r>
                        <a:rPr dirty="0" sz="1600" spc="-20" b="1">
                          <a:solidFill>
                            <a:srgbClr val="4E3629"/>
                          </a:solidFill>
                          <a:latin typeface="Calibri"/>
                          <a:cs typeface="Calibri"/>
                        </a:rPr>
                        <a:t> extn</a:t>
                      </a:r>
                      <a:endParaRPr sz="1600">
                        <a:latin typeface="Calibri"/>
                        <a:cs typeface="Calibri"/>
                      </a:endParaRPr>
                    </a:p>
                  </a:txBody>
                  <a:tcPr marL="0" marR="0" marB="0" marT="9715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70840">
                <a:tc>
                  <a:txBody>
                    <a:bodyPr/>
                    <a:lstStyle/>
                    <a:p>
                      <a:pPr marL="71755">
                        <a:lnSpc>
                          <a:spcPct val="100000"/>
                        </a:lnSpc>
                        <a:spcBef>
                          <a:spcPts val="400"/>
                        </a:spcBef>
                      </a:pPr>
                      <a:r>
                        <a:rPr dirty="0" sz="1600">
                          <a:solidFill>
                            <a:srgbClr val="4E3629"/>
                          </a:solidFill>
                          <a:latin typeface="Calibri"/>
                          <a:cs typeface="Calibri"/>
                        </a:rPr>
                        <a:t>Juan</a:t>
                      </a:r>
                      <a:r>
                        <a:rPr dirty="0" sz="1600" spc="-35">
                          <a:solidFill>
                            <a:srgbClr val="4E3629"/>
                          </a:solidFill>
                          <a:latin typeface="Calibri"/>
                          <a:cs typeface="Calibri"/>
                        </a:rPr>
                        <a:t> </a:t>
                      </a:r>
                      <a:r>
                        <a:rPr dirty="0" sz="1600">
                          <a:solidFill>
                            <a:srgbClr val="4E3629"/>
                          </a:solidFill>
                          <a:latin typeface="Calibri"/>
                          <a:cs typeface="Calibri"/>
                        </a:rPr>
                        <a:t>de</a:t>
                      </a:r>
                      <a:r>
                        <a:rPr dirty="0" sz="1600" spc="-20">
                          <a:solidFill>
                            <a:srgbClr val="4E3629"/>
                          </a:solidFill>
                          <a:latin typeface="Calibri"/>
                          <a:cs typeface="Calibri"/>
                        </a:rPr>
                        <a:t> </a:t>
                      </a:r>
                      <a:r>
                        <a:rPr dirty="0" sz="1600">
                          <a:solidFill>
                            <a:srgbClr val="4E3629"/>
                          </a:solidFill>
                          <a:latin typeface="Calibri"/>
                          <a:cs typeface="Calibri"/>
                        </a:rPr>
                        <a:t>Nova</a:t>
                      </a:r>
                      <a:r>
                        <a:rPr dirty="0" sz="1600" spc="-5">
                          <a:solidFill>
                            <a:srgbClr val="4E3629"/>
                          </a:solidFill>
                          <a:latin typeface="Calibri"/>
                          <a:cs typeface="Calibri"/>
                        </a:rPr>
                        <a:t> </a:t>
                      </a:r>
                      <a:r>
                        <a:rPr dirty="0" sz="1600" spc="-10">
                          <a:solidFill>
                            <a:srgbClr val="4E3629"/>
                          </a:solidFill>
                          <a:latin typeface="Calibri"/>
                          <a:cs typeface="Calibri"/>
                        </a:rPr>
                        <a:t>Island</a:t>
                      </a:r>
                      <a:endParaRPr sz="1600">
                        <a:latin typeface="Calibri"/>
                        <a:cs typeface="Calibri"/>
                      </a:endParaRPr>
                    </a:p>
                  </a:txBody>
                  <a:tcPr marL="0" marR="0" marB="0" marT="508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400"/>
                        </a:spcBef>
                      </a:pPr>
                      <a:r>
                        <a:rPr dirty="0" sz="1600" spc="-20">
                          <a:solidFill>
                            <a:srgbClr val="4E3629"/>
                          </a:solidFill>
                          <a:latin typeface="Calibri"/>
                          <a:cs typeface="Calibri"/>
                        </a:rPr>
                        <a:t>None</a:t>
                      </a:r>
                      <a:endParaRPr sz="1600">
                        <a:latin typeface="Calibri"/>
                        <a:cs typeface="Calibri"/>
                      </a:endParaRPr>
                    </a:p>
                  </a:txBody>
                  <a:tcPr marL="0" marR="0" marB="0" marT="508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81000">
                <a:tc>
                  <a:txBody>
                    <a:bodyPr/>
                    <a:lstStyle/>
                    <a:p>
                      <a:pPr marL="71755">
                        <a:lnSpc>
                          <a:spcPct val="100000"/>
                        </a:lnSpc>
                        <a:spcBef>
                          <a:spcPts val="440"/>
                        </a:spcBef>
                      </a:pPr>
                      <a:r>
                        <a:rPr dirty="0" sz="1600">
                          <a:solidFill>
                            <a:srgbClr val="4E3629"/>
                          </a:solidFill>
                          <a:latin typeface="Calibri"/>
                          <a:cs typeface="Calibri"/>
                        </a:rPr>
                        <a:t>Europa</a:t>
                      </a:r>
                      <a:r>
                        <a:rPr dirty="0" sz="1600" spc="-60">
                          <a:solidFill>
                            <a:srgbClr val="4E3629"/>
                          </a:solidFill>
                          <a:latin typeface="Calibri"/>
                          <a:cs typeface="Calibri"/>
                        </a:rPr>
                        <a:t> </a:t>
                      </a:r>
                      <a:r>
                        <a:rPr dirty="0" sz="1600" spc="-10">
                          <a:solidFill>
                            <a:srgbClr val="4E3629"/>
                          </a:solidFill>
                          <a:latin typeface="Calibri"/>
                          <a:cs typeface="Calibri"/>
                        </a:rPr>
                        <a:t>Island</a:t>
                      </a:r>
                      <a:endParaRPr sz="1600">
                        <a:latin typeface="Calibri"/>
                        <a:cs typeface="Calibri"/>
                      </a:endParaRPr>
                    </a:p>
                  </a:txBody>
                  <a:tcPr marL="0" marR="0" marB="0" marT="558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440"/>
                        </a:spcBef>
                      </a:pPr>
                      <a:r>
                        <a:rPr dirty="0" sz="1600" spc="-20">
                          <a:solidFill>
                            <a:srgbClr val="4E3629"/>
                          </a:solidFill>
                          <a:latin typeface="Calibri"/>
                          <a:cs typeface="Calibri"/>
                        </a:rPr>
                        <a:t>None</a:t>
                      </a:r>
                      <a:endParaRPr sz="1600">
                        <a:latin typeface="Calibri"/>
                        <a:cs typeface="Calibri"/>
                      </a:endParaRPr>
                    </a:p>
                  </a:txBody>
                  <a:tcPr marL="0" marR="0" marB="0" marT="558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402590">
                <a:tc>
                  <a:txBody>
                    <a:bodyPr/>
                    <a:lstStyle/>
                    <a:p>
                      <a:pPr marL="71755">
                        <a:lnSpc>
                          <a:spcPct val="100000"/>
                        </a:lnSpc>
                        <a:spcBef>
                          <a:spcPts val="525"/>
                        </a:spcBef>
                      </a:pPr>
                      <a:r>
                        <a:rPr dirty="0" sz="1600">
                          <a:solidFill>
                            <a:srgbClr val="4E3629"/>
                          </a:solidFill>
                          <a:latin typeface="Calibri"/>
                          <a:cs typeface="Calibri"/>
                        </a:rPr>
                        <a:t>Republic</a:t>
                      </a:r>
                      <a:r>
                        <a:rPr dirty="0" sz="1600" spc="-50">
                          <a:solidFill>
                            <a:srgbClr val="4E3629"/>
                          </a:solidFill>
                          <a:latin typeface="Calibri"/>
                          <a:cs typeface="Calibri"/>
                        </a:rPr>
                        <a:t> </a:t>
                      </a:r>
                      <a:r>
                        <a:rPr dirty="0" sz="1600">
                          <a:solidFill>
                            <a:srgbClr val="4E3629"/>
                          </a:solidFill>
                          <a:latin typeface="Calibri"/>
                          <a:cs typeface="Calibri"/>
                        </a:rPr>
                        <a:t>of</a:t>
                      </a:r>
                      <a:r>
                        <a:rPr dirty="0" sz="1600" spc="-15">
                          <a:solidFill>
                            <a:srgbClr val="4E3629"/>
                          </a:solidFill>
                          <a:latin typeface="Calibri"/>
                          <a:cs typeface="Calibri"/>
                        </a:rPr>
                        <a:t> </a:t>
                      </a:r>
                      <a:r>
                        <a:rPr dirty="0" sz="1600" spc="-10">
                          <a:solidFill>
                            <a:srgbClr val="4E3629"/>
                          </a:solidFill>
                          <a:latin typeface="Calibri"/>
                          <a:cs typeface="Calibri"/>
                        </a:rPr>
                        <a:t>Zimbabwe</a:t>
                      </a:r>
                      <a:endParaRPr sz="1600">
                        <a:latin typeface="Calibri"/>
                        <a:cs typeface="Calibri"/>
                      </a:endParaRPr>
                    </a:p>
                  </a:txBody>
                  <a:tcPr marL="0" marR="0" marB="0" marT="666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25"/>
                        </a:spcBef>
                      </a:pPr>
                      <a:r>
                        <a:rPr dirty="0" sz="1600" spc="-25">
                          <a:solidFill>
                            <a:srgbClr val="4E3629"/>
                          </a:solidFill>
                          <a:latin typeface="Calibri"/>
                          <a:cs typeface="Calibri"/>
                        </a:rPr>
                        <a:t>.zw</a:t>
                      </a:r>
                      <a:endParaRPr sz="1600">
                        <a:latin typeface="Calibri"/>
                        <a:cs typeface="Calibri"/>
                      </a:endParaRPr>
                    </a:p>
                  </a:txBody>
                  <a:tcPr marL="0" marR="0" marB="0" marT="666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413384">
                <a:tc>
                  <a:txBody>
                    <a:bodyPr/>
                    <a:lstStyle/>
                    <a:p>
                      <a:pPr marL="71755">
                        <a:lnSpc>
                          <a:spcPct val="100000"/>
                        </a:lnSpc>
                        <a:spcBef>
                          <a:spcPts val="565"/>
                        </a:spcBef>
                      </a:pPr>
                      <a:r>
                        <a:rPr dirty="0" sz="1600">
                          <a:solidFill>
                            <a:srgbClr val="4E3629"/>
                          </a:solidFill>
                          <a:latin typeface="Calibri"/>
                          <a:cs typeface="Calibri"/>
                        </a:rPr>
                        <a:t>Republic</a:t>
                      </a:r>
                      <a:r>
                        <a:rPr dirty="0" sz="1600" spc="-50">
                          <a:solidFill>
                            <a:srgbClr val="4E3629"/>
                          </a:solidFill>
                          <a:latin typeface="Calibri"/>
                          <a:cs typeface="Calibri"/>
                        </a:rPr>
                        <a:t> </a:t>
                      </a:r>
                      <a:r>
                        <a:rPr dirty="0" sz="1600">
                          <a:solidFill>
                            <a:srgbClr val="4E3629"/>
                          </a:solidFill>
                          <a:latin typeface="Calibri"/>
                          <a:cs typeface="Calibri"/>
                        </a:rPr>
                        <a:t>of</a:t>
                      </a:r>
                      <a:r>
                        <a:rPr dirty="0" sz="1600" spc="-15">
                          <a:solidFill>
                            <a:srgbClr val="4E3629"/>
                          </a:solidFill>
                          <a:latin typeface="Calibri"/>
                          <a:cs typeface="Calibri"/>
                        </a:rPr>
                        <a:t> </a:t>
                      </a:r>
                      <a:r>
                        <a:rPr dirty="0" sz="1600" spc="-10">
                          <a:solidFill>
                            <a:srgbClr val="4E3629"/>
                          </a:solidFill>
                          <a:latin typeface="Calibri"/>
                          <a:cs typeface="Calibri"/>
                        </a:rPr>
                        <a:t>Zambia</a:t>
                      </a:r>
                      <a:endParaRPr sz="1600">
                        <a:latin typeface="Calibri"/>
                        <a:cs typeface="Calibri"/>
                      </a:endParaRPr>
                    </a:p>
                  </a:txBody>
                  <a:tcPr marL="0" marR="0" marB="0" marT="717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65"/>
                        </a:spcBef>
                      </a:pPr>
                      <a:r>
                        <a:rPr dirty="0" sz="1600" spc="-25">
                          <a:solidFill>
                            <a:srgbClr val="4E3629"/>
                          </a:solidFill>
                          <a:latin typeface="Calibri"/>
                          <a:cs typeface="Calibri"/>
                        </a:rPr>
                        <a:t>.zm</a:t>
                      </a:r>
                      <a:endParaRPr sz="1600">
                        <a:latin typeface="Calibri"/>
                        <a:cs typeface="Calibri"/>
                      </a:endParaRPr>
                    </a:p>
                  </a:txBody>
                  <a:tcPr marL="0" marR="0" marB="0" marT="717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81000">
                <a:tc>
                  <a:txBody>
                    <a:bodyPr/>
                    <a:lstStyle/>
                    <a:p>
                      <a:pPr marL="71755">
                        <a:lnSpc>
                          <a:spcPct val="100000"/>
                        </a:lnSpc>
                        <a:spcBef>
                          <a:spcPts val="439"/>
                        </a:spcBef>
                      </a:pPr>
                      <a:r>
                        <a:rPr dirty="0" sz="1600">
                          <a:solidFill>
                            <a:srgbClr val="4E3629"/>
                          </a:solidFill>
                          <a:latin typeface="Calibri"/>
                          <a:cs typeface="Calibri"/>
                        </a:rPr>
                        <a:t>Republic</a:t>
                      </a:r>
                      <a:r>
                        <a:rPr dirty="0" sz="1600" spc="-50">
                          <a:solidFill>
                            <a:srgbClr val="4E3629"/>
                          </a:solidFill>
                          <a:latin typeface="Calibri"/>
                          <a:cs typeface="Calibri"/>
                        </a:rPr>
                        <a:t> </a:t>
                      </a:r>
                      <a:r>
                        <a:rPr dirty="0" sz="1600">
                          <a:solidFill>
                            <a:srgbClr val="4E3629"/>
                          </a:solidFill>
                          <a:latin typeface="Calibri"/>
                          <a:cs typeface="Calibri"/>
                        </a:rPr>
                        <a:t>of</a:t>
                      </a:r>
                      <a:r>
                        <a:rPr dirty="0" sz="1600" spc="-15">
                          <a:solidFill>
                            <a:srgbClr val="4E3629"/>
                          </a:solidFill>
                          <a:latin typeface="Calibri"/>
                          <a:cs typeface="Calibri"/>
                        </a:rPr>
                        <a:t> </a:t>
                      </a:r>
                      <a:r>
                        <a:rPr dirty="0" sz="1600">
                          <a:solidFill>
                            <a:srgbClr val="4E3629"/>
                          </a:solidFill>
                          <a:latin typeface="Calibri"/>
                          <a:cs typeface="Calibri"/>
                        </a:rPr>
                        <a:t>South</a:t>
                      </a:r>
                      <a:r>
                        <a:rPr dirty="0" sz="1600" spc="-20">
                          <a:solidFill>
                            <a:srgbClr val="4E3629"/>
                          </a:solidFill>
                          <a:latin typeface="Calibri"/>
                          <a:cs typeface="Calibri"/>
                        </a:rPr>
                        <a:t> </a:t>
                      </a:r>
                      <a:r>
                        <a:rPr dirty="0" sz="1600" spc="-10">
                          <a:solidFill>
                            <a:srgbClr val="4E3629"/>
                          </a:solidFill>
                          <a:latin typeface="Calibri"/>
                          <a:cs typeface="Calibri"/>
                        </a:rPr>
                        <a:t>Africa</a:t>
                      </a:r>
                      <a:endParaRPr sz="1600">
                        <a:latin typeface="Calibri"/>
                        <a:cs typeface="Calibri"/>
                      </a:endParaRPr>
                    </a:p>
                  </a:txBody>
                  <a:tcPr marL="0" marR="0" marB="0" marT="5587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439"/>
                        </a:spcBef>
                      </a:pPr>
                      <a:r>
                        <a:rPr dirty="0" sz="1600" spc="-25">
                          <a:solidFill>
                            <a:srgbClr val="4E3629"/>
                          </a:solidFill>
                          <a:latin typeface="Calibri"/>
                          <a:cs typeface="Calibri"/>
                        </a:rPr>
                        <a:t>.za</a:t>
                      </a:r>
                      <a:endParaRPr sz="1600">
                        <a:latin typeface="Calibri"/>
                        <a:cs typeface="Calibri"/>
                      </a:endParaRPr>
                    </a:p>
                  </a:txBody>
                  <a:tcPr marL="0" marR="0" marB="0" marT="5587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6" name="object 6"/>
          <p:cNvSpPr txBox="1"/>
          <p:nvPr/>
        </p:nvSpPr>
        <p:spPr>
          <a:xfrm>
            <a:off x="405384" y="2253995"/>
            <a:ext cx="8345805" cy="1442085"/>
          </a:xfrm>
          <a:prstGeom prst="rect">
            <a:avLst/>
          </a:prstGeom>
          <a:solidFill>
            <a:srgbClr val="9DBEC4">
              <a:alpha val="50199"/>
            </a:srgbClr>
          </a:solidFill>
        </p:spPr>
        <p:txBody>
          <a:bodyPr wrap="square" lIns="0" tIns="7620" rIns="0" bIns="0" rtlCol="0" vert="horz">
            <a:spAutoFit/>
          </a:bodyPr>
          <a:lstStyle/>
          <a:p>
            <a:pPr marL="273685" marR="1239520" indent="-274955">
              <a:lnSpc>
                <a:spcPct val="100000"/>
              </a:lnSpc>
              <a:spcBef>
                <a:spcPts val="60"/>
              </a:spcBef>
            </a:pPr>
            <a:r>
              <a:rPr dirty="0" sz="1800" b="1">
                <a:solidFill>
                  <a:srgbClr val="4E3629"/>
                </a:solidFill>
                <a:latin typeface="Courier New"/>
                <a:cs typeface="Courier New"/>
              </a:rPr>
              <a:t>SELECT</a:t>
            </a:r>
            <a:r>
              <a:rPr dirty="0" sz="1800" spc="-135" b="1">
                <a:solidFill>
                  <a:srgbClr val="4E3629"/>
                </a:solidFill>
                <a:latin typeface="Courier New"/>
                <a:cs typeface="Courier New"/>
              </a:rPr>
              <a:t> </a:t>
            </a:r>
            <a:r>
              <a:rPr dirty="0" sz="1800" b="1">
                <a:solidFill>
                  <a:srgbClr val="4E3629"/>
                </a:solidFill>
                <a:latin typeface="Courier New"/>
                <a:cs typeface="Courier New"/>
              </a:rPr>
              <a:t>country_name,</a:t>
            </a:r>
            <a:r>
              <a:rPr dirty="0" sz="1800" spc="-140" b="1">
                <a:solidFill>
                  <a:srgbClr val="4E3629"/>
                </a:solidFill>
                <a:latin typeface="Courier New"/>
                <a:cs typeface="Courier New"/>
              </a:rPr>
              <a:t> </a:t>
            </a:r>
            <a:r>
              <a:rPr dirty="0" sz="1800" b="1">
                <a:solidFill>
                  <a:srgbClr val="4E3629"/>
                </a:solidFill>
                <a:latin typeface="Courier New"/>
                <a:cs typeface="Courier New"/>
              </a:rPr>
              <a:t>NVL(internet_extension,</a:t>
            </a:r>
            <a:r>
              <a:rPr dirty="0" sz="1800" spc="-135" b="1">
                <a:solidFill>
                  <a:srgbClr val="4E3629"/>
                </a:solidFill>
                <a:latin typeface="Courier New"/>
                <a:cs typeface="Courier New"/>
              </a:rPr>
              <a:t> </a:t>
            </a:r>
            <a:r>
              <a:rPr dirty="0" sz="1800" spc="-10" b="1">
                <a:solidFill>
                  <a:srgbClr val="4E3629"/>
                </a:solidFill>
                <a:latin typeface="Courier New"/>
                <a:cs typeface="Courier New"/>
              </a:rPr>
              <a:t>'None') </a:t>
            </a:r>
            <a:r>
              <a:rPr dirty="0" sz="1800" b="1">
                <a:solidFill>
                  <a:srgbClr val="4E3629"/>
                </a:solidFill>
                <a:latin typeface="Courier New"/>
                <a:cs typeface="Courier New"/>
              </a:rPr>
              <a:t>AS</a:t>
            </a:r>
            <a:r>
              <a:rPr dirty="0" sz="1800" spc="-60" b="1">
                <a:solidFill>
                  <a:srgbClr val="4E3629"/>
                </a:solidFill>
                <a:latin typeface="Courier New"/>
                <a:cs typeface="Courier New"/>
              </a:rPr>
              <a:t> </a:t>
            </a:r>
            <a:r>
              <a:rPr dirty="0" sz="1800" b="1">
                <a:solidFill>
                  <a:srgbClr val="4E3629"/>
                </a:solidFill>
                <a:latin typeface="Courier New"/>
                <a:cs typeface="Courier New"/>
              </a:rPr>
              <a:t>"Internet</a:t>
            </a:r>
            <a:r>
              <a:rPr dirty="0" sz="1800" spc="-55" b="1">
                <a:solidFill>
                  <a:srgbClr val="4E3629"/>
                </a:solidFill>
                <a:latin typeface="Courier New"/>
                <a:cs typeface="Courier New"/>
              </a:rPr>
              <a:t> </a:t>
            </a:r>
            <a:r>
              <a:rPr dirty="0" sz="1800" spc="-20" b="1">
                <a:solidFill>
                  <a:srgbClr val="4E3629"/>
                </a:solidFill>
                <a:latin typeface="Courier New"/>
                <a:cs typeface="Courier New"/>
              </a:rPr>
              <a:t>extn"</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wf_countries</a:t>
            </a:r>
            <a:endParaRPr sz="1800">
              <a:latin typeface="Courier New"/>
              <a:cs typeface="Courier New"/>
            </a:endParaRPr>
          </a:p>
          <a:p>
            <a:pPr marR="3696970">
              <a:lnSpc>
                <a:spcPct val="100000"/>
              </a:lnSpc>
            </a:pPr>
            <a:r>
              <a:rPr dirty="0" sz="1800" b="1">
                <a:solidFill>
                  <a:srgbClr val="4E3629"/>
                </a:solidFill>
                <a:latin typeface="Courier New"/>
                <a:cs typeface="Courier New"/>
              </a:rPr>
              <a:t>WHERE</a:t>
            </a:r>
            <a:r>
              <a:rPr dirty="0" sz="1800" spc="-70" b="1">
                <a:solidFill>
                  <a:srgbClr val="4E3629"/>
                </a:solidFill>
                <a:latin typeface="Courier New"/>
                <a:cs typeface="Courier New"/>
              </a:rPr>
              <a:t> </a:t>
            </a:r>
            <a:r>
              <a:rPr dirty="0" sz="1800" b="1">
                <a:solidFill>
                  <a:srgbClr val="4E3629"/>
                </a:solidFill>
                <a:latin typeface="Courier New"/>
                <a:cs typeface="Courier New"/>
              </a:rPr>
              <a:t>location</a:t>
            </a:r>
            <a:r>
              <a:rPr dirty="0" sz="1800" spc="-60" b="1">
                <a:solidFill>
                  <a:srgbClr val="4E3629"/>
                </a:solidFill>
                <a:latin typeface="Courier New"/>
                <a:cs typeface="Courier New"/>
              </a:rPr>
              <a:t> </a:t>
            </a:r>
            <a:r>
              <a:rPr dirty="0" sz="1800" b="1">
                <a:solidFill>
                  <a:srgbClr val="4E3629"/>
                </a:solidFill>
                <a:latin typeface="Courier New"/>
                <a:cs typeface="Courier New"/>
              </a:rPr>
              <a:t>=</a:t>
            </a:r>
            <a:r>
              <a:rPr dirty="0" sz="1800" spc="-60" b="1">
                <a:solidFill>
                  <a:srgbClr val="4E3629"/>
                </a:solidFill>
                <a:latin typeface="Courier New"/>
                <a:cs typeface="Courier New"/>
              </a:rPr>
              <a:t> </a:t>
            </a:r>
            <a:r>
              <a:rPr dirty="0" sz="1800" b="1">
                <a:solidFill>
                  <a:srgbClr val="4E3629"/>
                </a:solidFill>
                <a:latin typeface="Courier New"/>
                <a:cs typeface="Courier New"/>
              </a:rPr>
              <a:t>'Southern</a:t>
            </a:r>
            <a:r>
              <a:rPr dirty="0" sz="1800" spc="-55" b="1">
                <a:solidFill>
                  <a:srgbClr val="4E3629"/>
                </a:solidFill>
                <a:latin typeface="Courier New"/>
                <a:cs typeface="Courier New"/>
              </a:rPr>
              <a:t> </a:t>
            </a:r>
            <a:r>
              <a:rPr dirty="0" sz="1800" spc="-10" b="1">
                <a:solidFill>
                  <a:srgbClr val="4E3629"/>
                </a:solidFill>
                <a:latin typeface="Courier New"/>
                <a:cs typeface="Courier New"/>
              </a:rPr>
              <a:t>Africa' </a:t>
            </a:r>
            <a:r>
              <a:rPr dirty="0" sz="1800" b="1">
                <a:solidFill>
                  <a:srgbClr val="4E3629"/>
                </a:solidFill>
                <a:latin typeface="Courier New"/>
                <a:cs typeface="Courier New"/>
              </a:rPr>
              <a:t>ORDER</a:t>
            </a:r>
            <a:r>
              <a:rPr dirty="0" sz="1800" spc="-95" b="1">
                <a:solidFill>
                  <a:srgbClr val="4E3629"/>
                </a:solidFill>
                <a:latin typeface="Courier New"/>
                <a:cs typeface="Courier New"/>
              </a:rPr>
              <a:t> </a:t>
            </a:r>
            <a:r>
              <a:rPr dirty="0" sz="1800" b="1">
                <a:solidFill>
                  <a:srgbClr val="4E3629"/>
                </a:solidFill>
                <a:latin typeface="Courier New"/>
                <a:cs typeface="Courier New"/>
              </a:rPr>
              <a:t>BY</a:t>
            </a:r>
            <a:r>
              <a:rPr dirty="0" sz="1800" spc="-80" b="1">
                <a:solidFill>
                  <a:srgbClr val="4E3629"/>
                </a:solidFill>
                <a:latin typeface="Courier New"/>
                <a:cs typeface="Courier New"/>
              </a:rPr>
              <a:t> </a:t>
            </a:r>
            <a:r>
              <a:rPr dirty="0" sz="1800" b="1">
                <a:solidFill>
                  <a:srgbClr val="4E3629"/>
                </a:solidFill>
                <a:latin typeface="Courier New"/>
                <a:cs typeface="Courier New"/>
              </a:rPr>
              <a:t>internet_extension</a:t>
            </a:r>
            <a:r>
              <a:rPr dirty="0" sz="1800" spc="-80" b="1">
                <a:solidFill>
                  <a:srgbClr val="4E3629"/>
                </a:solidFill>
                <a:latin typeface="Courier New"/>
                <a:cs typeface="Courier New"/>
              </a:rPr>
              <a:t> </a:t>
            </a:r>
            <a:r>
              <a:rPr dirty="0" sz="1800" spc="-10" b="1">
                <a:solidFill>
                  <a:srgbClr val="4E3629"/>
                </a:solidFill>
                <a:latin typeface="Courier New"/>
                <a:cs typeface="Courier New"/>
              </a:rPr>
              <a:t>DESC;</a:t>
            </a:r>
            <a:endParaRPr sz="1800">
              <a:latin typeface="Courier New"/>
              <a:cs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Función</a:t>
            </a:r>
            <a:r>
              <a:rPr dirty="0" spc="-95"/>
              <a:t> </a:t>
            </a:r>
            <a:r>
              <a:rPr dirty="0" spc="-25"/>
              <a:t>NVL</a:t>
            </a:r>
          </a:p>
        </p:txBody>
      </p:sp>
      <p:sp>
        <p:nvSpPr>
          <p:cNvPr id="4" name="object 4"/>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13</a:t>
            </a: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8035290" cy="3344545"/>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utilizar</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función</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NVL</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convertir</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valores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de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contengan</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7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número</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antes</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realizar</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cálculos</a:t>
            </a:r>
            <a:endParaRPr sz="2800">
              <a:latin typeface="Calibri"/>
              <a:cs typeface="Calibri"/>
            </a:endParaRPr>
          </a:p>
          <a:p>
            <a:pPr marL="182880" marR="35687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Cuando</a:t>
            </a:r>
            <a:r>
              <a:rPr dirty="0" sz="2800" spc="-6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realiza</a:t>
            </a:r>
            <a:r>
              <a:rPr dirty="0" sz="2800" spc="-80">
                <a:solidFill>
                  <a:srgbClr val="4E3629"/>
                </a:solidFill>
                <a:latin typeface="Calibri"/>
                <a:cs typeface="Calibri"/>
              </a:rPr>
              <a:t> </a:t>
            </a:r>
            <a:r>
              <a:rPr dirty="0" sz="2800">
                <a:solidFill>
                  <a:srgbClr val="4E3629"/>
                </a:solidFill>
                <a:latin typeface="Calibri"/>
                <a:cs typeface="Calibri"/>
              </a:rPr>
              <a:t>un</a:t>
            </a:r>
            <a:r>
              <a:rPr dirty="0" sz="2800" spc="-70">
                <a:solidFill>
                  <a:srgbClr val="4E3629"/>
                </a:solidFill>
                <a:latin typeface="Calibri"/>
                <a:cs typeface="Calibri"/>
              </a:rPr>
              <a:t> </a:t>
            </a:r>
            <a:r>
              <a:rPr dirty="0" sz="2800">
                <a:solidFill>
                  <a:srgbClr val="4E3629"/>
                </a:solidFill>
                <a:latin typeface="Calibri"/>
                <a:cs typeface="Calibri"/>
              </a:rPr>
              <a:t>cálculo</a:t>
            </a:r>
            <a:r>
              <a:rPr dirty="0" sz="2800" spc="-65">
                <a:solidFill>
                  <a:srgbClr val="4E3629"/>
                </a:solidFill>
                <a:latin typeface="Calibri"/>
                <a:cs typeface="Calibri"/>
              </a:rPr>
              <a:t> </a:t>
            </a:r>
            <a:r>
              <a:rPr dirty="0" sz="2800">
                <a:solidFill>
                  <a:srgbClr val="4E3629"/>
                </a:solidFill>
                <a:latin typeface="Calibri"/>
                <a:cs typeface="Calibri"/>
              </a:rPr>
              <a:t>aritmético</a:t>
            </a:r>
            <a:r>
              <a:rPr dirty="0" sz="2800" spc="-75">
                <a:solidFill>
                  <a:srgbClr val="4E3629"/>
                </a:solidFill>
                <a:latin typeface="Calibri"/>
                <a:cs typeface="Calibri"/>
              </a:rPr>
              <a:t> </a:t>
            </a:r>
            <a:r>
              <a:rPr dirty="0" sz="2800">
                <a:solidFill>
                  <a:srgbClr val="4E3629"/>
                </a:solidFill>
                <a:latin typeface="Calibri"/>
                <a:cs typeface="Calibri"/>
              </a:rPr>
              <a:t>con</a:t>
            </a:r>
            <a:r>
              <a:rPr dirty="0" sz="2800" spc="-70">
                <a:solidFill>
                  <a:srgbClr val="4E3629"/>
                </a:solidFill>
                <a:latin typeface="Calibri"/>
                <a:cs typeface="Calibri"/>
              </a:rPr>
              <a:t> </a:t>
            </a:r>
            <a:r>
              <a:rPr dirty="0" sz="2800">
                <a:solidFill>
                  <a:srgbClr val="4E3629"/>
                </a:solidFill>
                <a:latin typeface="Calibri"/>
                <a:cs typeface="Calibri"/>
              </a:rPr>
              <a:t>un</a:t>
            </a:r>
            <a:r>
              <a:rPr dirty="0" sz="2800" spc="-60">
                <a:solidFill>
                  <a:srgbClr val="4E3629"/>
                </a:solidFill>
                <a:latin typeface="Calibri"/>
                <a:cs typeface="Calibri"/>
              </a:rPr>
              <a:t> </a:t>
            </a:r>
            <a:r>
              <a:rPr dirty="0" sz="2800" spc="-10">
                <a:solidFill>
                  <a:srgbClr val="4E3629"/>
                </a:solidFill>
                <a:latin typeface="Calibri"/>
                <a:cs typeface="Calibri"/>
              </a:rPr>
              <a:t>valor </a:t>
            </a:r>
            <a:r>
              <a:rPr dirty="0" sz="2800" spc="-10">
                <a:solidFill>
                  <a:srgbClr val="4E3629"/>
                </a:solidFill>
                <a:latin typeface="Calibri"/>
                <a:cs typeface="Calibri"/>
              </a:rPr>
              <a:t>	</a:t>
            </a:r>
            <a:r>
              <a:rPr dirty="0" sz="2800">
                <a:solidFill>
                  <a:srgbClr val="4E3629"/>
                </a:solidFill>
                <a:latin typeface="Calibri"/>
                <a:cs typeface="Calibri"/>
              </a:rPr>
              <a:t>nulo,</a:t>
            </a:r>
            <a:r>
              <a:rPr dirty="0" sz="2800" spc="-60">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resultado</a:t>
            </a:r>
            <a:r>
              <a:rPr dirty="0" sz="2800" spc="-55">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20">
                <a:solidFill>
                  <a:srgbClr val="4E3629"/>
                </a:solidFill>
                <a:latin typeface="Calibri"/>
                <a:cs typeface="Calibri"/>
              </a:rPr>
              <a:t>nulo</a:t>
            </a:r>
            <a:endParaRPr sz="2800">
              <a:latin typeface="Calibri"/>
              <a:cs typeface="Calibri"/>
            </a:endParaRPr>
          </a:p>
          <a:p>
            <a:pPr marL="182880" marR="66484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función</a:t>
            </a:r>
            <a:r>
              <a:rPr dirty="0" sz="2800" spc="-25">
                <a:solidFill>
                  <a:srgbClr val="4E3629"/>
                </a:solidFill>
                <a:latin typeface="Calibri"/>
                <a:cs typeface="Calibri"/>
              </a:rPr>
              <a:t> </a:t>
            </a:r>
            <a:r>
              <a:rPr dirty="0" sz="2800">
                <a:solidFill>
                  <a:srgbClr val="4E3629"/>
                </a:solidFill>
                <a:latin typeface="Calibri"/>
                <a:cs typeface="Calibri"/>
              </a:rPr>
              <a:t>NVL</a:t>
            </a:r>
            <a:r>
              <a:rPr dirty="0" sz="2800" spc="-30">
                <a:solidFill>
                  <a:srgbClr val="4E3629"/>
                </a:solidFill>
                <a:latin typeface="Calibri"/>
                <a:cs typeface="Calibri"/>
              </a:rPr>
              <a:t> </a:t>
            </a:r>
            <a:r>
              <a:rPr dirty="0" sz="2800">
                <a:solidFill>
                  <a:srgbClr val="4E3629"/>
                </a:solidFill>
                <a:latin typeface="Calibri"/>
                <a:cs typeface="Calibri"/>
              </a:rPr>
              <a:t>puede</a:t>
            </a:r>
            <a:r>
              <a:rPr dirty="0" sz="2800" spc="-30">
                <a:solidFill>
                  <a:srgbClr val="4E3629"/>
                </a:solidFill>
                <a:latin typeface="Calibri"/>
                <a:cs typeface="Calibri"/>
              </a:rPr>
              <a:t> </a:t>
            </a:r>
            <a:r>
              <a:rPr dirty="0" sz="2800" spc="-10">
                <a:solidFill>
                  <a:srgbClr val="4E3629"/>
                </a:solidFill>
                <a:latin typeface="Calibri"/>
                <a:cs typeface="Calibri"/>
              </a:rPr>
              <a:t>convertir</a:t>
            </a:r>
            <a:r>
              <a:rPr dirty="0" sz="2800" spc="-4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valor</a:t>
            </a:r>
            <a:r>
              <a:rPr dirty="0" sz="2800" spc="-40">
                <a:solidFill>
                  <a:srgbClr val="4E3629"/>
                </a:solidFill>
                <a:latin typeface="Calibri"/>
                <a:cs typeface="Calibri"/>
              </a:rPr>
              <a:t> </a:t>
            </a:r>
            <a:r>
              <a:rPr dirty="0" sz="2800">
                <a:solidFill>
                  <a:srgbClr val="4E3629"/>
                </a:solidFill>
                <a:latin typeface="Calibri"/>
                <a:cs typeface="Calibri"/>
              </a:rPr>
              <a:t>null</a:t>
            </a:r>
            <a:r>
              <a:rPr dirty="0" sz="2800" spc="-3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spc="-25">
                <a:solidFill>
                  <a:srgbClr val="4E3629"/>
                </a:solidFill>
                <a:latin typeface="Calibri"/>
                <a:cs typeface="Calibri"/>
              </a:rPr>
              <a:t>un </a:t>
            </a:r>
            <a:r>
              <a:rPr dirty="0" sz="2800" spc="-25">
                <a:solidFill>
                  <a:srgbClr val="4E3629"/>
                </a:solidFill>
                <a:latin typeface="Calibri"/>
                <a:cs typeface="Calibri"/>
              </a:rPr>
              <a:t>	</a:t>
            </a:r>
            <a:r>
              <a:rPr dirty="0" sz="2800">
                <a:solidFill>
                  <a:srgbClr val="4E3629"/>
                </a:solidFill>
                <a:latin typeface="Calibri"/>
                <a:cs typeface="Calibri"/>
              </a:rPr>
              <a:t>número</a:t>
            </a:r>
            <a:r>
              <a:rPr dirty="0" sz="2800" spc="-50">
                <a:solidFill>
                  <a:srgbClr val="4E3629"/>
                </a:solidFill>
                <a:latin typeface="Calibri"/>
                <a:cs typeface="Calibri"/>
              </a:rPr>
              <a:t> </a:t>
            </a:r>
            <a:r>
              <a:rPr dirty="0" sz="2800">
                <a:solidFill>
                  <a:srgbClr val="4E3629"/>
                </a:solidFill>
                <a:latin typeface="Calibri"/>
                <a:cs typeface="Calibri"/>
              </a:rPr>
              <a:t>antes</a:t>
            </a:r>
            <a:r>
              <a:rPr dirty="0" sz="2800" spc="-5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realicen</a:t>
            </a:r>
            <a:r>
              <a:rPr dirty="0" sz="2800" spc="-60">
                <a:solidFill>
                  <a:srgbClr val="4E3629"/>
                </a:solidFill>
                <a:latin typeface="Calibri"/>
                <a:cs typeface="Calibri"/>
              </a:rPr>
              <a:t> </a:t>
            </a:r>
            <a:r>
              <a:rPr dirty="0" sz="2800">
                <a:solidFill>
                  <a:srgbClr val="4E3629"/>
                </a:solidFill>
                <a:latin typeface="Calibri"/>
                <a:cs typeface="Calibri"/>
              </a:rPr>
              <a:t>los</a:t>
            </a:r>
            <a:r>
              <a:rPr dirty="0" sz="2800" spc="-75">
                <a:solidFill>
                  <a:srgbClr val="4E3629"/>
                </a:solidFill>
                <a:latin typeface="Calibri"/>
                <a:cs typeface="Calibri"/>
              </a:rPr>
              <a:t> </a:t>
            </a:r>
            <a:r>
              <a:rPr dirty="0" sz="2800" spc="-10">
                <a:solidFill>
                  <a:srgbClr val="4E3629"/>
                </a:solidFill>
                <a:latin typeface="Calibri"/>
                <a:cs typeface="Calibri"/>
              </a:rPr>
              <a:t>cálculos </a:t>
            </a:r>
            <a:r>
              <a:rPr dirty="0" sz="2800" spc="-10">
                <a:solidFill>
                  <a:srgbClr val="4E3629"/>
                </a:solidFill>
                <a:latin typeface="Calibri"/>
                <a:cs typeface="Calibri"/>
              </a:rPr>
              <a:t>	</a:t>
            </a:r>
            <a:r>
              <a:rPr dirty="0" sz="2800">
                <a:solidFill>
                  <a:srgbClr val="4E3629"/>
                </a:solidFill>
                <a:latin typeface="Calibri"/>
                <a:cs typeface="Calibri"/>
              </a:rPr>
              <a:t>aritméticos</a:t>
            </a:r>
            <a:r>
              <a:rPr dirty="0" sz="2800" spc="-80">
                <a:solidFill>
                  <a:srgbClr val="4E3629"/>
                </a:solidFill>
                <a:latin typeface="Calibri"/>
                <a:cs typeface="Calibri"/>
              </a:rPr>
              <a:t> </a:t>
            </a: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evitar</a:t>
            </a:r>
            <a:r>
              <a:rPr dirty="0" sz="2800" spc="-90">
                <a:solidFill>
                  <a:srgbClr val="4E3629"/>
                </a:solidFill>
                <a:latin typeface="Calibri"/>
                <a:cs typeface="Calibri"/>
              </a:rPr>
              <a:t> </a:t>
            </a:r>
            <a:r>
              <a:rPr dirty="0" sz="2800">
                <a:solidFill>
                  <a:srgbClr val="4E3629"/>
                </a:solidFill>
                <a:latin typeface="Calibri"/>
                <a:cs typeface="Calibri"/>
              </a:rPr>
              <a:t>un</a:t>
            </a:r>
            <a:r>
              <a:rPr dirty="0" sz="2800" spc="-70">
                <a:solidFill>
                  <a:srgbClr val="4E3629"/>
                </a:solidFill>
                <a:latin typeface="Calibri"/>
                <a:cs typeface="Calibri"/>
              </a:rPr>
              <a:t> </a:t>
            </a:r>
            <a:r>
              <a:rPr dirty="0" sz="2800" spc="-10">
                <a:solidFill>
                  <a:srgbClr val="4E3629"/>
                </a:solidFill>
                <a:latin typeface="Calibri"/>
                <a:cs typeface="Calibri"/>
              </a:rPr>
              <a:t>resultado</a:t>
            </a:r>
            <a:r>
              <a:rPr dirty="0" sz="2800" spc="-65">
                <a:solidFill>
                  <a:srgbClr val="4E3629"/>
                </a:solidFill>
                <a:latin typeface="Calibri"/>
                <a:cs typeface="Calibri"/>
              </a:rPr>
              <a:t> </a:t>
            </a:r>
            <a:r>
              <a:rPr dirty="0" sz="2800" spc="-20">
                <a:solidFill>
                  <a:srgbClr val="4E3629"/>
                </a:solidFill>
                <a:latin typeface="Calibri"/>
                <a:cs typeface="Calibri"/>
              </a:rPr>
              <a:t>nulo</a:t>
            </a:r>
            <a:endParaRPr sz="2800">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Función</a:t>
            </a:r>
            <a:r>
              <a:rPr dirty="0" spc="-95"/>
              <a:t> </a:t>
            </a:r>
            <a:r>
              <a:rPr dirty="0" spc="-25"/>
              <a:t>NVL</a:t>
            </a:r>
          </a:p>
        </p:txBody>
      </p:sp>
      <p:sp>
        <p:nvSpPr>
          <p:cNvPr id="6" name="object 6"/>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14</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7908925" cy="170624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150" algn="l"/>
              </a:tabLst>
            </a:pP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ejemplo,</a:t>
            </a:r>
            <a:r>
              <a:rPr dirty="0" sz="2800" spc="-3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spc="-10">
                <a:solidFill>
                  <a:srgbClr val="4E3629"/>
                </a:solidFill>
                <a:latin typeface="Calibri"/>
                <a:cs typeface="Calibri"/>
              </a:rPr>
              <a:t>commission_pct</a:t>
            </a:r>
            <a:r>
              <a:rPr dirty="0" sz="2800">
                <a:solidFill>
                  <a:srgbClr val="4E3629"/>
                </a:solidFill>
                <a:latin typeface="Calibri"/>
                <a:cs typeface="Calibri"/>
              </a:rPr>
              <a:t> 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employees</a:t>
            </a:r>
            <a:r>
              <a:rPr dirty="0" sz="2800" spc="-125">
                <a:solidFill>
                  <a:srgbClr val="4E3629"/>
                </a:solidFill>
                <a:latin typeface="Calibri"/>
                <a:cs typeface="Calibri"/>
              </a:rPr>
              <a:t> </a:t>
            </a:r>
            <a:r>
              <a:rPr dirty="0" sz="2800">
                <a:solidFill>
                  <a:srgbClr val="4E3629"/>
                </a:solidFill>
                <a:latin typeface="Calibri"/>
                <a:cs typeface="Calibri"/>
              </a:rPr>
              <a:t>contiene</a:t>
            </a:r>
            <a:r>
              <a:rPr dirty="0" sz="2800" spc="-125">
                <a:solidFill>
                  <a:srgbClr val="4E3629"/>
                </a:solidFill>
                <a:latin typeface="Calibri"/>
                <a:cs typeface="Calibri"/>
              </a:rPr>
              <a:t> </a:t>
            </a:r>
            <a:r>
              <a:rPr dirty="0" sz="2800">
                <a:solidFill>
                  <a:srgbClr val="4E3629"/>
                </a:solidFill>
                <a:latin typeface="Calibri"/>
                <a:cs typeface="Calibri"/>
              </a:rPr>
              <a:t>valores</a:t>
            </a:r>
            <a:r>
              <a:rPr dirty="0" sz="2800" spc="-140">
                <a:solidFill>
                  <a:srgbClr val="4E3629"/>
                </a:solidFill>
                <a:latin typeface="Calibri"/>
                <a:cs typeface="Calibri"/>
              </a:rPr>
              <a:t> </a:t>
            </a:r>
            <a:r>
              <a:rPr dirty="0" sz="2800" spc="-10">
                <a:solidFill>
                  <a:srgbClr val="4E3629"/>
                </a:solidFill>
                <a:latin typeface="Calibri"/>
                <a:cs typeface="Calibri"/>
              </a:rPr>
              <a:t>nulos</a:t>
            </a:r>
            <a:endParaRPr sz="2800">
              <a:latin typeface="Calibri"/>
              <a:cs typeface="Calibri"/>
            </a:endParaRPr>
          </a:p>
          <a:p>
            <a:pPr marL="182880" marR="15684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función</a:t>
            </a:r>
            <a:r>
              <a:rPr dirty="0" sz="2800" spc="-35">
                <a:solidFill>
                  <a:srgbClr val="4E3629"/>
                </a:solidFill>
                <a:latin typeface="Calibri"/>
                <a:cs typeface="Calibri"/>
              </a:rPr>
              <a:t> </a:t>
            </a:r>
            <a:r>
              <a:rPr dirty="0" sz="2800">
                <a:solidFill>
                  <a:srgbClr val="4E3629"/>
                </a:solidFill>
                <a:latin typeface="Calibri"/>
                <a:cs typeface="Calibri"/>
              </a:rPr>
              <a:t>NVL</a:t>
            </a:r>
            <a:r>
              <a:rPr dirty="0" sz="2800" spc="-3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utiliza</a:t>
            </a:r>
            <a:r>
              <a:rPr dirty="0" sz="2800" spc="-50">
                <a:solidFill>
                  <a:srgbClr val="4E3629"/>
                </a:solidFill>
                <a:latin typeface="Calibri"/>
                <a:cs typeface="Calibri"/>
              </a:rPr>
              <a:t> </a:t>
            </a:r>
            <a:r>
              <a:rPr dirty="0" sz="2800">
                <a:solidFill>
                  <a:srgbClr val="4E3629"/>
                </a:solidFill>
                <a:latin typeface="Calibri"/>
                <a:cs typeface="Calibri"/>
              </a:rPr>
              <a:t>para</a:t>
            </a:r>
            <a:r>
              <a:rPr dirty="0" sz="2800" spc="-55">
                <a:solidFill>
                  <a:srgbClr val="4E3629"/>
                </a:solidFill>
                <a:latin typeface="Calibri"/>
                <a:cs typeface="Calibri"/>
              </a:rPr>
              <a:t> </a:t>
            </a:r>
            <a:r>
              <a:rPr dirty="0" sz="2800">
                <a:solidFill>
                  <a:srgbClr val="4E3629"/>
                </a:solidFill>
                <a:latin typeface="Calibri"/>
                <a:cs typeface="Calibri"/>
              </a:rPr>
              <a:t>cambiar</a:t>
            </a:r>
            <a:r>
              <a:rPr dirty="0" sz="2800" spc="-5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nulo</a:t>
            </a:r>
            <a:r>
              <a:rPr dirty="0" sz="2800" spc="-40">
                <a:solidFill>
                  <a:srgbClr val="4E3629"/>
                </a:solidFill>
                <a:latin typeface="Calibri"/>
                <a:cs typeface="Calibri"/>
              </a:rPr>
              <a:t> </a:t>
            </a:r>
            <a:r>
              <a:rPr dirty="0" sz="2800" spc="-50">
                <a:solidFill>
                  <a:srgbClr val="4E3629"/>
                </a:solidFill>
                <a:latin typeface="Calibri"/>
                <a:cs typeface="Calibri"/>
              </a:rPr>
              <a:t>a </a:t>
            </a:r>
            <a:r>
              <a:rPr dirty="0" sz="2800" spc="-50">
                <a:solidFill>
                  <a:srgbClr val="4E3629"/>
                </a:solidFill>
                <a:latin typeface="Calibri"/>
                <a:cs typeface="Calibri"/>
              </a:rPr>
              <a:t>	</a:t>
            </a:r>
            <a:r>
              <a:rPr dirty="0" sz="2800">
                <a:solidFill>
                  <a:srgbClr val="4E3629"/>
                </a:solidFill>
                <a:latin typeface="Calibri"/>
                <a:cs typeface="Calibri"/>
              </a:rPr>
              <a:t>cero</a:t>
            </a:r>
            <a:r>
              <a:rPr dirty="0" sz="2800" spc="-70">
                <a:solidFill>
                  <a:srgbClr val="4E3629"/>
                </a:solidFill>
                <a:latin typeface="Calibri"/>
                <a:cs typeface="Calibri"/>
              </a:rPr>
              <a:t> </a:t>
            </a:r>
            <a:r>
              <a:rPr dirty="0" sz="2800">
                <a:solidFill>
                  <a:srgbClr val="4E3629"/>
                </a:solidFill>
                <a:latin typeface="Calibri"/>
                <a:cs typeface="Calibri"/>
              </a:rPr>
              <a:t>antes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cálculos</a:t>
            </a:r>
            <a:r>
              <a:rPr dirty="0" sz="2800" spc="-65">
                <a:solidFill>
                  <a:srgbClr val="4E3629"/>
                </a:solidFill>
                <a:latin typeface="Calibri"/>
                <a:cs typeface="Calibri"/>
              </a:rPr>
              <a:t> </a:t>
            </a:r>
            <a:r>
              <a:rPr dirty="0" sz="2800" spc="-10">
                <a:solidFill>
                  <a:srgbClr val="4E3629"/>
                </a:solidFill>
                <a:latin typeface="Calibri"/>
                <a:cs typeface="Calibri"/>
              </a:rPr>
              <a:t>aritméticos</a:t>
            </a:r>
            <a:endParaRPr sz="2800">
              <a:latin typeface="Calibri"/>
              <a:cs typeface="Calibri"/>
            </a:endParaRPr>
          </a:p>
        </p:txBody>
      </p:sp>
      <p:graphicFrame>
        <p:nvGraphicFramePr>
          <p:cNvPr id="4" name="object 4"/>
          <p:cNvGraphicFramePr>
            <a:graphicFrameLocks noGrp="1"/>
          </p:cNvGraphicFramePr>
          <p:nvPr/>
        </p:nvGraphicFramePr>
        <p:xfrm>
          <a:off x="5791908" y="3751324"/>
          <a:ext cx="2904490" cy="2174240"/>
        </p:xfrm>
        <a:graphic>
          <a:graphicData uri="http://schemas.openxmlformats.org/drawingml/2006/table">
            <a:tbl>
              <a:tblPr firstRow="1" bandRow="1">
                <a:tableStyleId>{2D5ABB26-0587-4C30-8999-92F81FD0307C}</a:tableStyleId>
              </a:tblPr>
              <a:tblGrid>
                <a:gridCol w="1407795"/>
                <a:gridCol w="1407795"/>
              </a:tblGrid>
              <a:tr h="343535">
                <a:tc>
                  <a:txBody>
                    <a:bodyPr/>
                    <a:lstStyle/>
                    <a:p>
                      <a:pPr marL="71755">
                        <a:lnSpc>
                          <a:spcPct val="100000"/>
                        </a:lnSpc>
                        <a:spcBef>
                          <a:spcPts val="290"/>
                        </a:spcBef>
                      </a:pPr>
                      <a:r>
                        <a:rPr dirty="0" sz="1600" spc="-10" b="1">
                          <a:solidFill>
                            <a:srgbClr val="4E3629"/>
                          </a:solidFill>
                          <a:latin typeface="Calibri"/>
                          <a:cs typeface="Calibri"/>
                        </a:rPr>
                        <a:t>LAST_NAME</a:t>
                      </a:r>
                      <a:endParaRPr sz="1600">
                        <a:latin typeface="Calibri"/>
                        <a:cs typeface="Calibri"/>
                      </a:endParaRPr>
                    </a:p>
                  </a:txBody>
                  <a:tcPr marL="0" marR="0" marB="0" marT="3683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90"/>
                        </a:spcBef>
                      </a:pPr>
                      <a:r>
                        <a:rPr dirty="0" sz="1600" spc="-10" b="1">
                          <a:solidFill>
                            <a:srgbClr val="4E3629"/>
                          </a:solidFill>
                          <a:latin typeface="Calibri"/>
                          <a:cs typeface="Calibri"/>
                        </a:rPr>
                        <a:t>Commission</a:t>
                      </a:r>
                      <a:endParaRPr sz="1600">
                        <a:latin typeface="Calibri"/>
                        <a:cs typeface="Calibri"/>
                      </a:endParaRPr>
                    </a:p>
                  </a:txBody>
                  <a:tcPr marL="0" marR="0" marB="0" marT="3683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07975">
                <a:tc>
                  <a:txBody>
                    <a:bodyPr/>
                    <a:lstStyle/>
                    <a:p>
                      <a:pPr marL="71755">
                        <a:lnSpc>
                          <a:spcPct val="100000"/>
                        </a:lnSpc>
                        <a:spcBef>
                          <a:spcPts val="150"/>
                        </a:spcBef>
                      </a:pPr>
                      <a:r>
                        <a:rPr dirty="0" sz="1600" spc="-10">
                          <a:solidFill>
                            <a:srgbClr val="4E3629"/>
                          </a:solidFill>
                          <a:latin typeface="Calibri"/>
                          <a:cs typeface="Calibri"/>
                        </a:rPr>
                        <a:t>Zlotkey</a:t>
                      </a:r>
                      <a:endParaRPr sz="1600">
                        <a:latin typeface="Calibri"/>
                        <a:cs typeface="Calibri"/>
                      </a:endParaRPr>
                    </a:p>
                  </a:txBody>
                  <a:tcPr marL="0" marR="0" marB="0" marT="1905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150"/>
                        </a:spcBef>
                      </a:pPr>
                      <a:r>
                        <a:rPr dirty="0" sz="1600" spc="-25">
                          <a:solidFill>
                            <a:srgbClr val="4E3629"/>
                          </a:solidFill>
                          <a:latin typeface="Calibri"/>
                          <a:cs typeface="Calibri"/>
                        </a:rPr>
                        <a:t>50</a:t>
                      </a:r>
                      <a:endParaRPr sz="1600">
                        <a:latin typeface="Calibri"/>
                        <a:cs typeface="Calibri"/>
                      </a:endParaRPr>
                    </a:p>
                  </a:txBody>
                  <a:tcPr marL="0" marR="0" marB="0" marT="1905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15595">
                <a:tc>
                  <a:txBody>
                    <a:bodyPr/>
                    <a:lstStyle/>
                    <a:p>
                      <a:pPr marL="71755">
                        <a:lnSpc>
                          <a:spcPct val="100000"/>
                        </a:lnSpc>
                        <a:spcBef>
                          <a:spcPts val="180"/>
                        </a:spcBef>
                      </a:pPr>
                      <a:r>
                        <a:rPr dirty="0" sz="1600" spc="-20">
                          <a:solidFill>
                            <a:srgbClr val="4E3629"/>
                          </a:solidFill>
                          <a:latin typeface="Calibri"/>
                          <a:cs typeface="Calibri"/>
                        </a:rPr>
                        <a:t>Abel</a:t>
                      </a:r>
                      <a:endParaRPr sz="1600">
                        <a:latin typeface="Calibri"/>
                        <a:cs typeface="Calibri"/>
                      </a:endParaRPr>
                    </a:p>
                  </a:txBody>
                  <a:tcPr marL="0" marR="0" marB="0" marT="228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80"/>
                        </a:spcBef>
                      </a:pPr>
                      <a:r>
                        <a:rPr dirty="0" sz="1600" spc="-25">
                          <a:solidFill>
                            <a:srgbClr val="4E3629"/>
                          </a:solidFill>
                          <a:latin typeface="Calibri"/>
                          <a:cs typeface="Calibri"/>
                        </a:rPr>
                        <a:t>75</a:t>
                      </a:r>
                      <a:endParaRPr sz="1600">
                        <a:latin typeface="Calibri"/>
                        <a:cs typeface="Calibri"/>
                      </a:endParaRPr>
                    </a:p>
                  </a:txBody>
                  <a:tcPr marL="0" marR="0" marB="0" marT="228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04165">
                <a:tc>
                  <a:txBody>
                    <a:bodyPr/>
                    <a:lstStyle/>
                    <a:p>
                      <a:pPr marL="71755">
                        <a:lnSpc>
                          <a:spcPct val="100000"/>
                        </a:lnSpc>
                        <a:spcBef>
                          <a:spcPts val="140"/>
                        </a:spcBef>
                      </a:pPr>
                      <a:r>
                        <a:rPr dirty="0" sz="1600" spc="-10">
                          <a:solidFill>
                            <a:srgbClr val="4E3629"/>
                          </a:solidFill>
                          <a:latin typeface="Calibri"/>
                          <a:cs typeface="Calibri"/>
                        </a:rPr>
                        <a:t>Taylor</a:t>
                      </a:r>
                      <a:endParaRPr sz="1600">
                        <a:latin typeface="Calibri"/>
                        <a:cs typeface="Calibri"/>
                      </a:endParaRPr>
                    </a:p>
                  </a:txBody>
                  <a:tcPr marL="0" marR="0" marB="0" marT="177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40"/>
                        </a:spcBef>
                      </a:pPr>
                      <a:r>
                        <a:rPr dirty="0" sz="1600" spc="-25">
                          <a:solidFill>
                            <a:srgbClr val="4E3629"/>
                          </a:solidFill>
                          <a:latin typeface="Calibri"/>
                          <a:cs typeface="Calibri"/>
                        </a:rPr>
                        <a:t>50</a:t>
                      </a:r>
                      <a:endParaRPr sz="1600">
                        <a:latin typeface="Calibri"/>
                        <a:cs typeface="Calibri"/>
                      </a:endParaRPr>
                    </a:p>
                  </a:txBody>
                  <a:tcPr marL="0" marR="0" marB="0" marT="177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04800">
                <a:tc>
                  <a:txBody>
                    <a:bodyPr/>
                    <a:lstStyle/>
                    <a:p>
                      <a:pPr marL="71755">
                        <a:lnSpc>
                          <a:spcPct val="100000"/>
                        </a:lnSpc>
                        <a:spcBef>
                          <a:spcPts val="140"/>
                        </a:spcBef>
                      </a:pPr>
                      <a:r>
                        <a:rPr dirty="0" sz="1600" spc="-20">
                          <a:solidFill>
                            <a:srgbClr val="4E3629"/>
                          </a:solidFill>
                          <a:latin typeface="Calibri"/>
                          <a:cs typeface="Calibri"/>
                        </a:rPr>
                        <a:t>King</a:t>
                      </a:r>
                      <a:endParaRPr sz="1600">
                        <a:latin typeface="Calibri"/>
                        <a:cs typeface="Calibri"/>
                      </a:endParaRPr>
                    </a:p>
                  </a:txBody>
                  <a:tcPr marL="0" marR="0" marB="0" marT="177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40"/>
                        </a:spcBef>
                      </a:pPr>
                      <a:r>
                        <a:rPr dirty="0" sz="1600" spc="-50">
                          <a:solidFill>
                            <a:srgbClr val="4E3629"/>
                          </a:solidFill>
                          <a:latin typeface="Calibri"/>
                          <a:cs typeface="Calibri"/>
                        </a:rPr>
                        <a:t>0</a:t>
                      </a:r>
                      <a:endParaRPr sz="1600">
                        <a:latin typeface="Calibri"/>
                        <a:cs typeface="Calibri"/>
                      </a:endParaRPr>
                    </a:p>
                  </a:txBody>
                  <a:tcPr marL="0" marR="0" marB="0" marT="177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15595">
                <a:tc>
                  <a:txBody>
                    <a:bodyPr/>
                    <a:lstStyle/>
                    <a:p>
                      <a:pPr marL="71755">
                        <a:lnSpc>
                          <a:spcPct val="100000"/>
                        </a:lnSpc>
                        <a:spcBef>
                          <a:spcPts val="180"/>
                        </a:spcBef>
                      </a:pPr>
                      <a:r>
                        <a:rPr dirty="0" sz="1600" spc="-10">
                          <a:solidFill>
                            <a:srgbClr val="4E3629"/>
                          </a:solidFill>
                          <a:latin typeface="Calibri"/>
                          <a:cs typeface="Calibri"/>
                        </a:rPr>
                        <a:t>Kochhar</a:t>
                      </a:r>
                      <a:endParaRPr sz="1600">
                        <a:latin typeface="Calibri"/>
                        <a:cs typeface="Calibri"/>
                      </a:endParaRPr>
                    </a:p>
                  </a:txBody>
                  <a:tcPr marL="0" marR="0" marB="0" marT="228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80"/>
                        </a:spcBef>
                      </a:pPr>
                      <a:r>
                        <a:rPr dirty="0" sz="1600" spc="-50">
                          <a:solidFill>
                            <a:srgbClr val="4E3629"/>
                          </a:solidFill>
                          <a:latin typeface="Calibri"/>
                          <a:cs typeface="Calibri"/>
                        </a:rPr>
                        <a:t>0</a:t>
                      </a:r>
                      <a:endParaRPr sz="1600">
                        <a:latin typeface="Calibri"/>
                        <a:cs typeface="Calibri"/>
                      </a:endParaRPr>
                    </a:p>
                  </a:txBody>
                  <a:tcPr marL="0" marR="0" marB="0" marT="228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2575">
                <a:tc>
                  <a:txBody>
                    <a:bodyPr/>
                    <a:lstStyle/>
                    <a:p>
                      <a:pPr marL="71755">
                        <a:lnSpc>
                          <a:spcPct val="100000"/>
                        </a:lnSpc>
                        <a:spcBef>
                          <a:spcPts val="55"/>
                        </a:spcBef>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5"/>
                        </a:spcBef>
                      </a:pPr>
                      <a:r>
                        <a:rPr dirty="0" sz="1600" spc="-50">
                          <a:solidFill>
                            <a:srgbClr val="4E3629"/>
                          </a:solidFill>
                          <a:latin typeface="Calibri"/>
                          <a:cs typeface="Calibri"/>
                        </a:rPr>
                        <a:t>0</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p:cNvSpPr txBox="1"/>
          <p:nvPr/>
        </p:nvSpPr>
        <p:spPr>
          <a:xfrm>
            <a:off x="405384" y="3758184"/>
            <a:ext cx="4707890" cy="1442085"/>
          </a:xfrm>
          <a:prstGeom prst="rect">
            <a:avLst/>
          </a:prstGeom>
          <a:solidFill>
            <a:srgbClr val="9DBEC4">
              <a:alpha val="50199"/>
            </a:srgbClr>
          </a:solidFill>
        </p:spPr>
        <p:txBody>
          <a:bodyPr wrap="square" lIns="0" tIns="6985" rIns="0" bIns="0" rtlCol="0" vert="horz">
            <a:spAutoFit/>
          </a:bodyPr>
          <a:lstStyle/>
          <a:p>
            <a:pPr marR="1151255">
              <a:lnSpc>
                <a:spcPct val="100000"/>
              </a:lnSpc>
              <a:spcBef>
                <a:spcPts val="55"/>
              </a:spcBef>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 </a:t>
            </a:r>
            <a:r>
              <a:rPr dirty="0" sz="1800" b="1">
                <a:solidFill>
                  <a:srgbClr val="4E3629"/>
                </a:solidFill>
                <a:latin typeface="Courier New"/>
                <a:cs typeface="Courier New"/>
              </a:rPr>
              <a:t>NVL(commission_pct,</a:t>
            </a:r>
            <a:r>
              <a:rPr dirty="0" sz="1800" spc="-175" b="1">
                <a:solidFill>
                  <a:srgbClr val="4E3629"/>
                </a:solidFill>
                <a:latin typeface="Courier New"/>
                <a:cs typeface="Courier New"/>
              </a:rPr>
              <a:t> </a:t>
            </a:r>
            <a:r>
              <a:rPr dirty="0" sz="1800" spc="-10" b="1">
                <a:solidFill>
                  <a:srgbClr val="4E3629"/>
                </a:solidFill>
                <a:latin typeface="Courier New"/>
                <a:cs typeface="Courier New"/>
              </a:rPr>
              <a:t>0)*250</a:t>
            </a:r>
            <a:endParaRPr sz="1800">
              <a:latin typeface="Courier New"/>
              <a:cs typeface="Courier New"/>
            </a:endParaRPr>
          </a:p>
          <a:p>
            <a:pPr marR="2379345" indent="274320">
              <a:lnSpc>
                <a:spcPct val="100000"/>
              </a:lnSpc>
            </a:pPr>
            <a:r>
              <a:rPr dirty="0" sz="1800" b="1">
                <a:solidFill>
                  <a:srgbClr val="4E3629"/>
                </a:solidFill>
                <a:latin typeface="Courier New"/>
                <a:cs typeface="Courier New"/>
              </a:rPr>
              <a:t>AS</a:t>
            </a:r>
            <a:r>
              <a:rPr dirty="0" sz="1800" spc="-30" b="1">
                <a:solidFill>
                  <a:srgbClr val="4E3629"/>
                </a:solidFill>
                <a:latin typeface="Courier New"/>
                <a:cs typeface="Courier New"/>
              </a:rPr>
              <a:t> </a:t>
            </a:r>
            <a:r>
              <a:rPr dirty="0" sz="1800" spc="-10" b="1">
                <a:solidFill>
                  <a:srgbClr val="4E3629"/>
                </a:solidFill>
                <a:latin typeface="Courier New"/>
                <a:cs typeface="Courier New"/>
              </a:rPr>
              <a:t>"Commission"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95" b="1">
                <a:solidFill>
                  <a:srgbClr val="4E3629"/>
                </a:solidFill>
                <a:latin typeface="Courier New"/>
                <a:cs typeface="Courier New"/>
              </a:rPr>
              <a:t> </a:t>
            </a:r>
            <a:r>
              <a:rPr dirty="0" sz="1800" b="1">
                <a:solidFill>
                  <a:srgbClr val="4E3629"/>
                </a:solidFill>
                <a:latin typeface="Courier New"/>
                <a:cs typeface="Courier New"/>
              </a:rPr>
              <a:t>department_id</a:t>
            </a:r>
            <a:r>
              <a:rPr dirty="0" sz="1800" spc="-85" b="1">
                <a:solidFill>
                  <a:srgbClr val="4E3629"/>
                </a:solidFill>
                <a:latin typeface="Courier New"/>
                <a:cs typeface="Courier New"/>
              </a:rPr>
              <a:t> </a:t>
            </a:r>
            <a:r>
              <a:rPr dirty="0" sz="1800" spc="-10" b="1">
                <a:solidFill>
                  <a:srgbClr val="4E3629"/>
                </a:solidFill>
                <a:latin typeface="Courier New"/>
                <a:cs typeface="Courier New"/>
              </a:rPr>
              <a:t>IN(80,90);</a:t>
            </a:r>
            <a:endParaRPr sz="1800">
              <a:latin typeface="Courier New"/>
              <a:cs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Función</a:t>
            </a:r>
            <a:r>
              <a:rPr dirty="0" spc="-95"/>
              <a:t> </a:t>
            </a:r>
            <a:r>
              <a:rPr dirty="0" spc="-20"/>
              <a:t>NVL2</a:t>
            </a:r>
          </a:p>
        </p:txBody>
      </p:sp>
      <p:sp>
        <p:nvSpPr>
          <p:cNvPr id="4" name="object 4"/>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5" name="object 5"/>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15</a:t>
            </a:r>
          </a:p>
        </p:txBody>
      </p:sp>
      <p:sp>
        <p:nvSpPr>
          <p:cNvPr id="6" name="object 6"/>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365735"/>
            <a:ext cx="8088630" cy="4439920"/>
          </a:xfrm>
          <a:prstGeom prst="rect">
            <a:avLst/>
          </a:prstGeom>
        </p:spPr>
        <p:txBody>
          <a:bodyPr wrap="square" lIns="0" tIns="35560" rIns="0" bIns="0" rtlCol="0" vert="horz">
            <a:spAutoFit/>
          </a:bodyPr>
          <a:lstStyle/>
          <a:p>
            <a:pPr marL="184785" indent="-172085">
              <a:lnSpc>
                <a:spcPct val="100000"/>
              </a:lnSpc>
              <a:spcBef>
                <a:spcPts val="280"/>
              </a:spcBef>
              <a:buClr>
                <a:srgbClr val="D1350F"/>
              </a:buClr>
              <a:buFont typeface="Arial MT"/>
              <a:buChar char="•"/>
              <a:tabLst>
                <a:tab pos="184785" algn="l"/>
              </a:tabLst>
            </a:pPr>
            <a:r>
              <a:rPr dirty="0" sz="2600">
                <a:solidFill>
                  <a:srgbClr val="4E3629"/>
                </a:solidFill>
                <a:latin typeface="Calibri"/>
                <a:cs typeface="Calibri"/>
              </a:rPr>
              <a:t>La</a:t>
            </a:r>
            <a:r>
              <a:rPr dirty="0" sz="2600" spc="-35">
                <a:solidFill>
                  <a:srgbClr val="4E3629"/>
                </a:solidFill>
                <a:latin typeface="Calibri"/>
                <a:cs typeface="Calibri"/>
              </a:rPr>
              <a:t> </a:t>
            </a:r>
            <a:r>
              <a:rPr dirty="0" sz="2600">
                <a:solidFill>
                  <a:srgbClr val="4E3629"/>
                </a:solidFill>
                <a:latin typeface="Calibri"/>
                <a:cs typeface="Calibri"/>
              </a:rPr>
              <a:t>función</a:t>
            </a:r>
            <a:r>
              <a:rPr dirty="0" sz="2600" spc="-60">
                <a:solidFill>
                  <a:srgbClr val="4E3629"/>
                </a:solidFill>
                <a:latin typeface="Calibri"/>
                <a:cs typeface="Calibri"/>
              </a:rPr>
              <a:t> </a:t>
            </a:r>
            <a:r>
              <a:rPr dirty="0" sz="2600">
                <a:solidFill>
                  <a:srgbClr val="4E3629"/>
                </a:solidFill>
                <a:latin typeface="Calibri"/>
                <a:cs typeface="Calibri"/>
              </a:rPr>
              <a:t>NVL2</a:t>
            </a:r>
            <a:r>
              <a:rPr dirty="0" sz="2600" spc="-50">
                <a:solidFill>
                  <a:srgbClr val="4E3629"/>
                </a:solidFill>
                <a:latin typeface="Calibri"/>
                <a:cs typeface="Calibri"/>
              </a:rPr>
              <a:t> </a:t>
            </a:r>
            <a:r>
              <a:rPr dirty="0" sz="2600">
                <a:solidFill>
                  <a:srgbClr val="4E3629"/>
                </a:solidFill>
                <a:latin typeface="Calibri"/>
                <a:cs typeface="Calibri"/>
              </a:rPr>
              <a:t>evalúa</a:t>
            </a:r>
            <a:r>
              <a:rPr dirty="0" sz="2600" spc="-50">
                <a:solidFill>
                  <a:srgbClr val="4E3629"/>
                </a:solidFill>
                <a:latin typeface="Calibri"/>
                <a:cs typeface="Calibri"/>
              </a:rPr>
              <a:t> </a:t>
            </a:r>
            <a:r>
              <a:rPr dirty="0" sz="2600">
                <a:solidFill>
                  <a:srgbClr val="4E3629"/>
                </a:solidFill>
                <a:latin typeface="Calibri"/>
                <a:cs typeface="Calibri"/>
              </a:rPr>
              <a:t>una</a:t>
            </a:r>
            <a:r>
              <a:rPr dirty="0" sz="2600" spc="-50">
                <a:solidFill>
                  <a:srgbClr val="4E3629"/>
                </a:solidFill>
                <a:latin typeface="Calibri"/>
                <a:cs typeface="Calibri"/>
              </a:rPr>
              <a:t> </a:t>
            </a:r>
            <a:r>
              <a:rPr dirty="0" sz="2600" spc="-10">
                <a:solidFill>
                  <a:srgbClr val="4E3629"/>
                </a:solidFill>
                <a:latin typeface="Calibri"/>
                <a:cs typeface="Calibri"/>
              </a:rPr>
              <a:t>expresión</a:t>
            </a:r>
            <a:r>
              <a:rPr dirty="0" sz="2600" spc="-70">
                <a:solidFill>
                  <a:srgbClr val="4E3629"/>
                </a:solidFill>
                <a:latin typeface="Calibri"/>
                <a:cs typeface="Calibri"/>
              </a:rPr>
              <a:t> </a:t>
            </a:r>
            <a:r>
              <a:rPr dirty="0" sz="2600">
                <a:solidFill>
                  <a:srgbClr val="4E3629"/>
                </a:solidFill>
                <a:latin typeface="Calibri"/>
                <a:cs typeface="Calibri"/>
              </a:rPr>
              <a:t>con</a:t>
            </a:r>
            <a:r>
              <a:rPr dirty="0" sz="2600" spc="-40">
                <a:solidFill>
                  <a:srgbClr val="4E3629"/>
                </a:solidFill>
                <a:latin typeface="Calibri"/>
                <a:cs typeface="Calibri"/>
              </a:rPr>
              <a:t> </a:t>
            </a:r>
            <a:r>
              <a:rPr dirty="0" sz="2600">
                <a:solidFill>
                  <a:srgbClr val="4E3629"/>
                </a:solidFill>
                <a:latin typeface="Calibri"/>
                <a:cs typeface="Calibri"/>
              </a:rPr>
              <a:t>tres</a:t>
            </a:r>
            <a:r>
              <a:rPr dirty="0" sz="2600" spc="-50">
                <a:solidFill>
                  <a:srgbClr val="4E3629"/>
                </a:solidFill>
                <a:latin typeface="Calibri"/>
                <a:cs typeface="Calibri"/>
              </a:rPr>
              <a:t> </a:t>
            </a:r>
            <a:r>
              <a:rPr dirty="0" sz="2600" spc="-10">
                <a:solidFill>
                  <a:srgbClr val="4E3629"/>
                </a:solidFill>
                <a:latin typeface="Calibri"/>
                <a:cs typeface="Calibri"/>
              </a:rPr>
              <a:t>valores</a:t>
            </a:r>
            <a:endParaRPr sz="2600">
              <a:latin typeface="Calibri"/>
              <a:cs typeface="Calibri"/>
            </a:endParaRPr>
          </a:p>
          <a:p>
            <a:pPr marL="184785" marR="324485"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Si</a:t>
            </a:r>
            <a:r>
              <a:rPr dirty="0" sz="2600" spc="-35">
                <a:solidFill>
                  <a:srgbClr val="4E3629"/>
                </a:solidFill>
                <a:latin typeface="Calibri"/>
                <a:cs typeface="Calibri"/>
              </a:rPr>
              <a:t> </a:t>
            </a: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primer</a:t>
            </a:r>
            <a:r>
              <a:rPr dirty="0" sz="2600" spc="-45">
                <a:solidFill>
                  <a:srgbClr val="4E3629"/>
                </a:solidFill>
                <a:latin typeface="Calibri"/>
                <a:cs typeface="Calibri"/>
              </a:rPr>
              <a:t> </a:t>
            </a:r>
            <a:r>
              <a:rPr dirty="0" sz="2600">
                <a:solidFill>
                  <a:srgbClr val="4E3629"/>
                </a:solidFill>
                <a:latin typeface="Calibri"/>
                <a:cs typeface="Calibri"/>
              </a:rPr>
              <a:t>valor</a:t>
            </a:r>
            <a:r>
              <a:rPr dirty="0" sz="2600" spc="-15">
                <a:solidFill>
                  <a:srgbClr val="4E3629"/>
                </a:solidFill>
                <a:latin typeface="Calibri"/>
                <a:cs typeface="Calibri"/>
              </a:rPr>
              <a:t> </a:t>
            </a:r>
            <a:r>
              <a:rPr dirty="0" sz="2600">
                <a:solidFill>
                  <a:srgbClr val="4E3629"/>
                </a:solidFill>
                <a:latin typeface="Calibri"/>
                <a:cs typeface="Calibri"/>
              </a:rPr>
              <a:t>no</a:t>
            </a:r>
            <a:r>
              <a:rPr dirty="0" sz="2600" spc="-40">
                <a:solidFill>
                  <a:srgbClr val="4E3629"/>
                </a:solidFill>
                <a:latin typeface="Calibri"/>
                <a:cs typeface="Calibri"/>
              </a:rPr>
              <a:t> </a:t>
            </a:r>
            <a:r>
              <a:rPr dirty="0" sz="2600">
                <a:solidFill>
                  <a:srgbClr val="4E3629"/>
                </a:solidFill>
                <a:latin typeface="Calibri"/>
                <a:cs typeface="Calibri"/>
              </a:rPr>
              <a:t>es</a:t>
            </a:r>
            <a:r>
              <a:rPr dirty="0" sz="2600" spc="-55">
                <a:solidFill>
                  <a:srgbClr val="4E3629"/>
                </a:solidFill>
                <a:latin typeface="Calibri"/>
                <a:cs typeface="Calibri"/>
              </a:rPr>
              <a:t> </a:t>
            </a:r>
            <a:r>
              <a:rPr dirty="0" sz="2600">
                <a:solidFill>
                  <a:srgbClr val="4E3629"/>
                </a:solidFill>
                <a:latin typeface="Calibri"/>
                <a:cs typeface="Calibri"/>
              </a:rPr>
              <a:t>nulo,</a:t>
            </a:r>
            <a:r>
              <a:rPr dirty="0" sz="2600" spc="-35">
                <a:solidFill>
                  <a:srgbClr val="4E3629"/>
                </a:solidFill>
                <a:latin typeface="Calibri"/>
                <a:cs typeface="Calibri"/>
              </a:rPr>
              <a:t> </a:t>
            </a:r>
            <a:r>
              <a:rPr dirty="0" sz="2600">
                <a:solidFill>
                  <a:srgbClr val="4E3629"/>
                </a:solidFill>
                <a:latin typeface="Calibri"/>
                <a:cs typeface="Calibri"/>
              </a:rPr>
              <a:t>la</a:t>
            </a:r>
            <a:r>
              <a:rPr dirty="0" sz="2600" spc="-35">
                <a:solidFill>
                  <a:srgbClr val="4E3629"/>
                </a:solidFill>
                <a:latin typeface="Calibri"/>
                <a:cs typeface="Calibri"/>
              </a:rPr>
              <a:t> </a:t>
            </a:r>
            <a:r>
              <a:rPr dirty="0" sz="2600">
                <a:solidFill>
                  <a:srgbClr val="4E3629"/>
                </a:solidFill>
                <a:latin typeface="Calibri"/>
                <a:cs typeface="Calibri"/>
              </a:rPr>
              <a:t>función</a:t>
            </a:r>
            <a:r>
              <a:rPr dirty="0" sz="2600" spc="-45">
                <a:solidFill>
                  <a:srgbClr val="4E3629"/>
                </a:solidFill>
                <a:latin typeface="Calibri"/>
                <a:cs typeface="Calibri"/>
              </a:rPr>
              <a:t> </a:t>
            </a:r>
            <a:r>
              <a:rPr dirty="0" sz="2600">
                <a:solidFill>
                  <a:srgbClr val="4E3629"/>
                </a:solidFill>
                <a:latin typeface="Calibri"/>
                <a:cs typeface="Calibri"/>
              </a:rPr>
              <a:t>NVL2</a:t>
            </a:r>
            <a:r>
              <a:rPr dirty="0" sz="2600" spc="-55">
                <a:solidFill>
                  <a:srgbClr val="4E3629"/>
                </a:solidFill>
                <a:latin typeface="Calibri"/>
                <a:cs typeface="Calibri"/>
              </a:rPr>
              <a:t> </a:t>
            </a:r>
            <a:r>
              <a:rPr dirty="0" sz="2600">
                <a:solidFill>
                  <a:srgbClr val="4E3629"/>
                </a:solidFill>
                <a:latin typeface="Calibri"/>
                <a:cs typeface="Calibri"/>
              </a:rPr>
              <a:t>devuelve</a:t>
            </a:r>
            <a:r>
              <a:rPr dirty="0" sz="2600" spc="-65">
                <a:solidFill>
                  <a:srgbClr val="4E3629"/>
                </a:solidFill>
                <a:latin typeface="Calibri"/>
                <a:cs typeface="Calibri"/>
              </a:rPr>
              <a:t> </a:t>
            </a:r>
            <a:r>
              <a:rPr dirty="0" sz="2600" spc="-25">
                <a:solidFill>
                  <a:srgbClr val="4E3629"/>
                </a:solidFill>
                <a:latin typeface="Calibri"/>
                <a:cs typeface="Calibri"/>
              </a:rPr>
              <a:t>la </a:t>
            </a:r>
            <a:r>
              <a:rPr dirty="0" sz="2600">
                <a:solidFill>
                  <a:srgbClr val="4E3629"/>
                </a:solidFill>
                <a:latin typeface="Calibri"/>
                <a:cs typeface="Calibri"/>
              </a:rPr>
              <a:t>segunda</a:t>
            </a:r>
            <a:r>
              <a:rPr dirty="0" sz="2600" spc="-45">
                <a:solidFill>
                  <a:srgbClr val="4E3629"/>
                </a:solidFill>
                <a:latin typeface="Calibri"/>
                <a:cs typeface="Calibri"/>
              </a:rPr>
              <a:t> </a:t>
            </a:r>
            <a:r>
              <a:rPr dirty="0" sz="2600" spc="-10">
                <a:solidFill>
                  <a:srgbClr val="4E3629"/>
                </a:solidFill>
                <a:latin typeface="Calibri"/>
                <a:cs typeface="Calibri"/>
              </a:rPr>
              <a:t>expresión</a:t>
            </a:r>
            <a:endParaRPr sz="2600">
              <a:latin typeface="Calibri"/>
              <a:cs typeface="Calibri"/>
            </a:endParaRPr>
          </a:p>
          <a:p>
            <a:pPr marL="184785" indent="-172085">
              <a:lnSpc>
                <a:spcPct val="100000"/>
              </a:lnSpc>
              <a:spcBef>
                <a:spcPts val="180"/>
              </a:spcBef>
              <a:buClr>
                <a:srgbClr val="D1350F"/>
              </a:buClr>
              <a:buFont typeface="Arial MT"/>
              <a:buChar char="•"/>
              <a:tabLst>
                <a:tab pos="184785" algn="l"/>
              </a:tabLst>
            </a:pPr>
            <a:r>
              <a:rPr dirty="0" sz="2600">
                <a:solidFill>
                  <a:srgbClr val="4E3629"/>
                </a:solidFill>
                <a:latin typeface="Calibri"/>
                <a:cs typeface="Calibri"/>
              </a:rPr>
              <a:t>Si</a:t>
            </a:r>
            <a:r>
              <a:rPr dirty="0" sz="2600" spc="-40">
                <a:solidFill>
                  <a:srgbClr val="4E3629"/>
                </a:solidFill>
                <a:latin typeface="Calibri"/>
                <a:cs typeface="Calibri"/>
              </a:rPr>
              <a:t> </a:t>
            </a:r>
            <a:r>
              <a:rPr dirty="0" sz="2600">
                <a:solidFill>
                  <a:srgbClr val="4E3629"/>
                </a:solidFill>
                <a:latin typeface="Calibri"/>
                <a:cs typeface="Calibri"/>
              </a:rPr>
              <a:t>el</a:t>
            </a:r>
            <a:r>
              <a:rPr dirty="0" sz="2600" spc="-45">
                <a:solidFill>
                  <a:srgbClr val="4E3629"/>
                </a:solidFill>
                <a:latin typeface="Calibri"/>
                <a:cs typeface="Calibri"/>
              </a:rPr>
              <a:t> </a:t>
            </a:r>
            <a:r>
              <a:rPr dirty="0" sz="2600">
                <a:solidFill>
                  <a:srgbClr val="4E3629"/>
                </a:solidFill>
                <a:latin typeface="Calibri"/>
                <a:cs typeface="Calibri"/>
              </a:rPr>
              <a:t>primer</a:t>
            </a:r>
            <a:r>
              <a:rPr dirty="0" sz="2600" spc="-45">
                <a:solidFill>
                  <a:srgbClr val="4E3629"/>
                </a:solidFill>
                <a:latin typeface="Calibri"/>
                <a:cs typeface="Calibri"/>
              </a:rPr>
              <a:t> </a:t>
            </a:r>
            <a:r>
              <a:rPr dirty="0" sz="2600">
                <a:solidFill>
                  <a:srgbClr val="4E3629"/>
                </a:solidFill>
                <a:latin typeface="Calibri"/>
                <a:cs typeface="Calibri"/>
              </a:rPr>
              <a:t>valor</a:t>
            </a:r>
            <a:r>
              <a:rPr dirty="0" sz="2600" spc="-25">
                <a:solidFill>
                  <a:srgbClr val="4E3629"/>
                </a:solidFill>
                <a:latin typeface="Calibri"/>
                <a:cs typeface="Calibri"/>
              </a:rPr>
              <a:t> </a:t>
            </a:r>
            <a:r>
              <a:rPr dirty="0" sz="2600">
                <a:solidFill>
                  <a:srgbClr val="4E3629"/>
                </a:solidFill>
                <a:latin typeface="Calibri"/>
                <a:cs typeface="Calibri"/>
              </a:rPr>
              <a:t>es</a:t>
            </a:r>
            <a:r>
              <a:rPr dirty="0" sz="2600" spc="-60">
                <a:solidFill>
                  <a:srgbClr val="4E3629"/>
                </a:solidFill>
                <a:latin typeface="Calibri"/>
                <a:cs typeface="Calibri"/>
              </a:rPr>
              <a:t> </a:t>
            </a:r>
            <a:r>
              <a:rPr dirty="0" sz="2600">
                <a:solidFill>
                  <a:srgbClr val="4E3629"/>
                </a:solidFill>
                <a:latin typeface="Calibri"/>
                <a:cs typeface="Calibri"/>
              </a:rPr>
              <a:t>nulo,</a:t>
            </a:r>
            <a:r>
              <a:rPr dirty="0" sz="2600" spc="-40">
                <a:solidFill>
                  <a:srgbClr val="4E3629"/>
                </a:solidFill>
                <a:latin typeface="Calibri"/>
                <a:cs typeface="Calibri"/>
              </a:rPr>
              <a:t> </a:t>
            </a:r>
            <a:r>
              <a:rPr dirty="0" sz="2600">
                <a:solidFill>
                  <a:srgbClr val="4E3629"/>
                </a:solidFill>
                <a:latin typeface="Calibri"/>
                <a:cs typeface="Calibri"/>
              </a:rPr>
              <a:t>se</a:t>
            </a:r>
            <a:r>
              <a:rPr dirty="0" sz="2600" spc="-50">
                <a:solidFill>
                  <a:srgbClr val="4E3629"/>
                </a:solidFill>
                <a:latin typeface="Calibri"/>
                <a:cs typeface="Calibri"/>
              </a:rPr>
              <a:t> </a:t>
            </a:r>
            <a:r>
              <a:rPr dirty="0" sz="2600" spc="-10">
                <a:solidFill>
                  <a:srgbClr val="4E3629"/>
                </a:solidFill>
                <a:latin typeface="Calibri"/>
                <a:cs typeface="Calibri"/>
              </a:rPr>
              <a:t>devolverá</a:t>
            </a:r>
            <a:r>
              <a:rPr dirty="0" sz="2600" spc="-60">
                <a:solidFill>
                  <a:srgbClr val="4E3629"/>
                </a:solidFill>
                <a:latin typeface="Calibri"/>
                <a:cs typeface="Calibri"/>
              </a:rPr>
              <a:t> </a:t>
            </a:r>
            <a:r>
              <a:rPr dirty="0" sz="2600">
                <a:solidFill>
                  <a:srgbClr val="4E3629"/>
                </a:solidFill>
                <a:latin typeface="Calibri"/>
                <a:cs typeface="Calibri"/>
              </a:rPr>
              <a:t>la</a:t>
            </a:r>
            <a:r>
              <a:rPr dirty="0" sz="2600" spc="-35">
                <a:solidFill>
                  <a:srgbClr val="4E3629"/>
                </a:solidFill>
                <a:latin typeface="Calibri"/>
                <a:cs typeface="Calibri"/>
              </a:rPr>
              <a:t> </a:t>
            </a:r>
            <a:r>
              <a:rPr dirty="0" sz="2600" spc="-10">
                <a:solidFill>
                  <a:srgbClr val="4E3629"/>
                </a:solidFill>
                <a:latin typeface="Calibri"/>
                <a:cs typeface="Calibri"/>
              </a:rPr>
              <a:t>tercera</a:t>
            </a:r>
            <a:r>
              <a:rPr dirty="0" sz="2600" spc="-75">
                <a:solidFill>
                  <a:srgbClr val="4E3629"/>
                </a:solidFill>
                <a:latin typeface="Calibri"/>
                <a:cs typeface="Calibri"/>
              </a:rPr>
              <a:t> </a:t>
            </a:r>
            <a:r>
              <a:rPr dirty="0" sz="2600" spc="-10">
                <a:solidFill>
                  <a:srgbClr val="4E3629"/>
                </a:solidFill>
                <a:latin typeface="Calibri"/>
                <a:cs typeface="Calibri"/>
              </a:rPr>
              <a:t>expresión</a:t>
            </a:r>
            <a:endParaRPr sz="2600">
              <a:latin typeface="Calibri"/>
              <a:cs typeface="Calibri"/>
            </a:endParaRPr>
          </a:p>
          <a:p>
            <a:pPr marL="184785" marR="259079"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Los</a:t>
            </a:r>
            <a:r>
              <a:rPr dirty="0" sz="2600" spc="-25">
                <a:solidFill>
                  <a:srgbClr val="4E3629"/>
                </a:solidFill>
                <a:latin typeface="Calibri"/>
                <a:cs typeface="Calibri"/>
              </a:rPr>
              <a:t> </a:t>
            </a:r>
            <a:r>
              <a:rPr dirty="0" sz="2600" spc="-10">
                <a:solidFill>
                  <a:srgbClr val="4E3629"/>
                </a:solidFill>
                <a:latin typeface="Calibri"/>
                <a:cs typeface="Calibri"/>
              </a:rPr>
              <a:t>valores</a:t>
            </a:r>
            <a:r>
              <a:rPr dirty="0" sz="2600" spc="-40">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spc="-10">
                <a:solidFill>
                  <a:srgbClr val="4E3629"/>
                </a:solidFill>
                <a:latin typeface="Calibri"/>
                <a:cs typeface="Calibri"/>
              </a:rPr>
              <a:t>expresión</a:t>
            </a:r>
            <a:r>
              <a:rPr dirty="0" sz="2600" spc="-60">
                <a:solidFill>
                  <a:srgbClr val="4E3629"/>
                </a:solidFill>
                <a:latin typeface="Calibri"/>
                <a:cs typeface="Calibri"/>
              </a:rPr>
              <a:t> </a:t>
            </a:r>
            <a:r>
              <a:rPr dirty="0" sz="2600">
                <a:solidFill>
                  <a:srgbClr val="4E3629"/>
                </a:solidFill>
                <a:latin typeface="Calibri"/>
                <a:cs typeface="Calibri"/>
              </a:rPr>
              <a:t>1</a:t>
            </a:r>
            <a:r>
              <a:rPr dirty="0" sz="2600" spc="-40">
                <a:solidFill>
                  <a:srgbClr val="4E3629"/>
                </a:solidFill>
                <a:latin typeface="Calibri"/>
                <a:cs typeface="Calibri"/>
              </a:rPr>
              <a:t> </a:t>
            </a:r>
            <a:r>
              <a:rPr dirty="0" sz="2600">
                <a:solidFill>
                  <a:srgbClr val="4E3629"/>
                </a:solidFill>
                <a:latin typeface="Calibri"/>
                <a:cs typeface="Calibri"/>
              </a:rPr>
              <a:t>pueden</a:t>
            </a:r>
            <a:r>
              <a:rPr dirty="0" sz="2600" spc="-65">
                <a:solidFill>
                  <a:srgbClr val="4E3629"/>
                </a:solidFill>
                <a:latin typeface="Calibri"/>
                <a:cs typeface="Calibri"/>
              </a:rPr>
              <a:t> </a:t>
            </a:r>
            <a:r>
              <a:rPr dirty="0" sz="2600">
                <a:solidFill>
                  <a:srgbClr val="4E3629"/>
                </a:solidFill>
                <a:latin typeface="Calibri"/>
                <a:cs typeface="Calibri"/>
              </a:rPr>
              <a:t>tener</a:t>
            </a:r>
            <a:r>
              <a:rPr dirty="0" sz="2600" spc="-40">
                <a:solidFill>
                  <a:srgbClr val="4E3629"/>
                </a:solidFill>
                <a:latin typeface="Calibri"/>
                <a:cs typeface="Calibri"/>
              </a:rPr>
              <a:t> </a:t>
            </a:r>
            <a:r>
              <a:rPr dirty="0" sz="2600">
                <a:solidFill>
                  <a:srgbClr val="4E3629"/>
                </a:solidFill>
                <a:latin typeface="Calibri"/>
                <a:cs typeface="Calibri"/>
              </a:rPr>
              <a:t>cualquier</a:t>
            </a:r>
            <a:r>
              <a:rPr dirty="0" sz="2600" spc="-60">
                <a:solidFill>
                  <a:srgbClr val="4E3629"/>
                </a:solidFill>
                <a:latin typeface="Calibri"/>
                <a:cs typeface="Calibri"/>
              </a:rPr>
              <a:t> </a:t>
            </a:r>
            <a:r>
              <a:rPr dirty="0" sz="2600" spc="-20">
                <a:solidFill>
                  <a:srgbClr val="4E3629"/>
                </a:solidFill>
                <a:latin typeface="Calibri"/>
                <a:cs typeface="Calibri"/>
              </a:rPr>
              <a:t>tipo </a:t>
            </a:r>
            <a:r>
              <a:rPr dirty="0" sz="2600">
                <a:solidFill>
                  <a:srgbClr val="4E3629"/>
                </a:solidFill>
                <a:latin typeface="Calibri"/>
                <a:cs typeface="Calibri"/>
              </a:rPr>
              <a:t>de</a:t>
            </a:r>
            <a:r>
              <a:rPr dirty="0" sz="2600" spc="-25">
                <a:solidFill>
                  <a:srgbClr val="4E3629"/>
                </a:solidFill>
                <a:latin typeface="Calibri"/>
                <a:cs typeface="Calibri"/>
              </a:rPr>
              <a:t> </a:t>
            </a:r>
            <a:r>
              <a:rPr dirty="0" sz="2600" spc="-20">
                <a:solidFill>
                  <a:srgbClr val="4E3629"/>
                </a:solidFill>
                <a:latin typeface="Calibri"/>
                <a:cs typeface="Calibri"/>
              </a:rPr>
              <a:t>dato</a:t>
            </a:r>
            <a:endParaRPr sz="2600">
              <a:latin typeface="Calibri"/>
              <a:cs typeface="Calibri"/>
            </a:endParaRPr>
          </a:p>
          <a:p>
            <a:pPr marL="184785" marR="5080" indent="-172720">
              <a:lnSpc>
                <a:spcPts val="2500"/>
              </a:lnSpc>
              <a:spcBef>
                <a:spcPts val="800"/>
              </a:spcBef>
              <a:buClr>
                <a:srgbClr val="D1350F"/>
              </a:buClr>
              <a:buFont typeface="Arial MT"/>
              <a:buChar char="•"/>
              <a:tabLst>
                <a:tab pos="184785" algn="l"/>
              </a:tabLst>
            </a:pPr>
            <a:r>
              <a:rPr dirty="0" sz="2600">
                <a:solidFill>
                  <a:srgbClr val="4E3629"/>
                </a:solidFill>
                <a:latin typeface="Calibri"/>
                <a:cs typeface="Calibri"/>
              </a:rPr>
              <a:t>La</a:t>
            </a:r>
            <a:r>
              <a:rPr dirty="0" sz="2600" spc="-30">
                <a:solidFill>
                  <a:srgbClr val="4E3629"/>
                </a:solidFill>
                <a:latin typeface="Calibri"/>
                <a:cs typeface="Calibri"/>
              </a:rPr>
              <a:t> </a:t>
            </a:r>
            <a:r>
              <a:rPr dirty="0" sz="2600" spc="-10">
                <a:solidFill>
                  <a:srgbClr val="4E3629"/>
                </a:solidFill>
                <a:latin typeface="Calibri"/>
                <a:cs typeface="Calibri"/>
              </a:rPr>
              <a:t>expresión</a:t>
            </a:r>
            <a:r>
              <a:rPr dirty="0" sz="2600" spc="-60">
                <a:solidFill>
                  <a:srgbClr val="4E3629"/>
                </a:solidFill>
                <a:latin typeface="Calibri"/>
                <a:cs typeface="Calibri"/>
              </a:rPr>
              <a:t> </a:t>
            </a:r>
            <a:r>
              <a:rPr dirty="0" sz="2600">
                <a:solidFill>
                  <a:srgbClr val="4E3629"/>
                </a:solidFill>
                <a:latin typeface="Calibri"/>
                <a:cs typeface="Calibri"/>
              </a:rPr>
              <a:t>2</a:t>
            </a:r>
            <a:r>
              <a:rPr dirty="0" sz="2600" spc="-40">
                <a:solidFill>
                  <a:srgbClr val="4E3629"/>
                </a:solidFill>
                <a:latin typeface="Calibri"/>
                <a:cs typeface="Calibri"/>
              </a:rPr>
              <a:t> </a:t>
            </a:r>
            <a:r>
              <a:rPr dirty="0" sz="2600">
                <a:solidFill>
                  <a:srgbClr val="4E3629"/>
                </a:solidFill>
                <a:latin typeface="Calibri"/>
                <a:cs typeface="Calibri"/>
              </a:rPr>
              <a:t>y</a:t>
            </a:r>
            <a:r>
              <a:rPr dirty="0" sz="2600" spc="-30">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a:solidFill>
                  <a:srgbClr val="4E3629"/>
                </a:solidFill>
                <a:latin typeface="Calibri"/>
                <a:cs typeface="Calibri"/>
              </a:rPr>
              <a:t>expresión</a:t>
            </a:r>
            <a:r>
              <a:rPr dirty="0" sz="2600" spc="-50">
                <a:solidFill>
                  <a:srgbClr val="4E3629"/>
                </a:solidFill>
                <a:latin typeface="Calibri"/>
                <a:cs typeface="Calibri"/>
              </a:rPr>
              <a:t> </a:t>
            </a:r>
            <a:r>
              <a:rPr dirty="0" sz="2600">
                <a:solidFill>
                  <a:srgbClr val="4E3629"/>
                </a:solidFill>
                <a:latin typeface="Calibri"/>
                <a:cs typeface="Calibri"/>
              </a:rPr>
              <a:t>3</a:t>
            </a:r>
            <a:r>
              <a:rPr dirty="0" sz="2600" spc="-40">
                <a:solidFill>
                  <a:srgbClr val="4E3629"/>
                </a:solidFill>
                <a:latin typeface="Calibri"/>
                <a:cs typeface="Calibri"/>
              </a:rPr>
              <a:t> </a:t>
            </a:r>
            <a:r>
              <a:rPr dirty="0" sz="2600">
                <a:solidFill>
                  <a:srgbClr val="4E3629"/>
                </a:solidFill>
                <a:latin typeface="Calibri"/>
                <a:cs typeface="Calibri"/>
              </a:rPr>
              <a:t>pueden</a:t>
            </a:r>
            <a:r>
              <a:rPr dirty="0" sz="2600" spc="-65">
                <a:solidFill>
                  <a:srgbClr val="4E3629"/>
                </a:solidFill>
                <a:latin typeface="Calibri"/>
                <a:cs typeface="Calibri"/>
              </a:rPr>
              <a:t> </a:t>
            </a:r>
            <a:r>
              <a:rPr dirty="0" sz="2600">
                <a:solidFill>
                  <a:srgbClr val="4E3629"/>
                </a:solidFill>
                <a:latin typeface="Calibri"/>
                <a:cs typeface="Calibri"/>
              </a:rPr>
              <a:t>tener</a:t>
            </a:r>
            <a:r>
              <a:rPr dirty="0" sz="2600" spc="-55">
                <a:solidFill>
                  <a:srgbClr val="4E3629"/>
                </a:solidFill>
                <a:latin typeface="Calibri"/>
                <a:cs typeface="Calibri"/>
              </a:rPr>
              <a:t> </a:t>
            </a:r>
            <a:r>
              <a:rPr dirty="0" sz="2600">
                <a:solidFill>
                  <a:srgbClr val="4E3629"/>
                </a:solidFill>
                <a:latin typeface="Calibri"/>
                <a:cs typeface="Calibri"/>
              </a:rPr>
              <a:t>cualquier</a:t>
            </a:r>
            <a:r>
              <a:rPr dirty="0" sz="2600" spc="-45">
                <a:solidFill>
                  <a:srgbClr val="4E3629"/>
                </a:solidFill>
                <a:latin typeface="Calibri"/>
                <a:cs typeface="Calibri"/>
              </a:rPr>
              <a:t> </a:t>
            </a:r>
            <a:r>
              <a:rPr dirty="0" sz="2600" spc="-20">
                <a:solidFill>
                  <a:srgbClr val="4E3629"/>
                </a:solidFill>
                <a:latin typeface="Calibri"/>
                <a:cs typeface="Calibri"/>
              </a:rPr>
              <a:t>tipo </a:t>
            </a:r>
            <a:r>
              <a:rPr dirty="0" sz="2600">
                <a:solidFill>
                  <a:srgbClr val="4E3629"/>
                </a:solidFill>
                <a:latin typeface="Calibri"/>
                <a:cs typeface="Calibri"/>
              </a:rPr>
              <a:t>de</a:t>
            </a:r>
            <a:r>
              <a:rPr dirty="0" sz="2600" spc="-95">
                <a:solidFill>
                  <a:srgbClr val="4E3629"/>
                </a:solidFill>
                <a:latin typeface="Calibri"/>
                <a:cs typeface="Calibri"/>
              </a:rPr>
              <a:t> </a:t>
            </a:r>
            <a:r>
              <a:rPr dirty="0" sz="2600">
                <a:solidFill>
                  <a:srgbClr val="4E3629"/>
                </a:solidFill>
                <a:latin typeface="Calibri"/>
                <a:cs typeface="Calibri"/>
              </a:rPr>
              <a:t>dato,</a:t>
            </a:r>
            <a:r>
              <a:rPr dirty="0" sz="2600" spc="-85">
                <a:solidFill>
                  <a:srgbClr val="4E3629"/>
                </a:solidFill>
                <a:latin typeface="Calibri"/>
                <a:cs typeface="Calibri"/>
              </a:rPr>
              <a:t> </a:t>
            </a:r>
            <a:r>
              <a:rPr dirty="0" sz="2600" spc="-10">
                <a:solidFill>
                  <a:srgbClr val="4E3629"/>
                </a:solidFill>
                <a:latin typeface="Calibri"/>
                <a:cs typeface="Calibri"/>
              </a:rPr>
              <a:t>excepto</a:t>
            </a:r>
            <a:r>
              <a:rPr dirty="0" sz="2600" spc="-105">
                <a:solidFill>
                  <a:srgbClr val="4E3629"/>
                </a:solidFill>
                <a:latin typeface="Calibri"/>
                <a:cs typeface="Calibri"/>
              </a:rPr>
              <a:t> </a:t>
            </a:r>
            <a:r>
              <a:rPr dirty="0" sz="2600" spc="-20">
                <a:solidFill>
                  <a:srgbClr val="4E3629"/>
                </a:solidFill>
                <a:latin typeface="Calibri"/>
                <a:cs typeface="Calibri"/>
              </a:rPr>
              <a:t>LONG</a:t>
            </a:r>
            <a:endParaRPr sz="2600">
              <a:latin typeface="Calibri"/>
              <a:cs typeface="Calibri"/>
            </a:endParaRPr>
          </a:p>
          <a:p>
            <a:pPr marL="184785" marR="41275"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tipo</a:t>
            </a:r>
            <a:r>
              <a:rPr dirty="0" sz="2600" spc="-40">
                <a:solidFill>
                  <a:srgbClr val="4E3629"/>
                </a:solidFill>
                <a:latin typeface="Calibri"/>
                <a:cs typeface="Calibri"/>
              </a:rPr>
              <a:t> </a:t>
            </a:r>
            <a:r>
              <a:rPr dirty="0" sz="2600">
                <a:solidFill>
                  <a:srgbClr val="4E3629"/>
                </a:solidFill>
                <a:latin typeface="Calibri"/>
                <a:cs typeface="Calibri"/>
              </a:rPr>
              <a:t>de</a:t>
            </a:r>
            <a:r>
              <a:rPr dirty="0" sz="2600" spc="-50">
                <a:solidFill>
                  <a:srgbClr val="4E3629"/>
                </a:solidFill>
                <a:latin typeface="Calibri"/>
                <a:cs typeface="Calibri"/>
              </a:rPr>
              <a:t> </a:t>
            </a:r>
            <a:r>
              <a:rPr dirty="0" sz="2600">
                <a:solidFill>
                  <a:srgbClr val="4E3629"/>
                </a:solidFill>
                <a:latin typeface="Calibri"/>
                <a:cs typeface="Calibri"/>
              </a:rPr>
              <a:t>dato</a:t>
            </a:r>
            <a:r>
              <a:rPr dirty="0" sz="2600" spc="-40">
                <a:solidFill>
                  <a:srgbClr val="4E3629"/>
                </a:solidFill>
                <a:latin typeface="Calibri"/>
                <a:cs typeface="Calibri"/>
              </a:rPr>
              <a:t> </a:t>
            </a:r>
            <a:r>
              <a:rPr dirty="0" sz="2600">
                <a:solidFill>
                  <a:srgbClr val="4E3629"/>
                </a:solidFill>
                <a:latin typeface="Calibri"/>
                <a:cs typeface="Calibri"/>
              </a:rPr>
              <a:t>del</a:t>
            </a:r>
            <a:r>
              <a:rPr dirty="0" sz="2600" spc="-45">
                <a:solidFill>
                  <a:srgbClr val="4E3629"/>
                </a:solidFill>
                <a:latin typeface="Calibri"/>
                <a:cs typeface="Calibri"/>
              </a:rPr>
              <a:t> </a:t>
            </a:r>
            <a:r>
              <a:rPr dirty="0" sz="2600">
                <a:solidFill>
                  <a:srgbClr val="4E3629"/>
                </a:solidFill>
                <a:latin typeface="Calibri"/>
                <a:cs typeface="Calibri"/>
              </a:rPr>
              <a:t>valor</a:t>
            </a:r>
            <a:r>
              <a:rPr dirty="0" sz="2600" spc="-35">
                <a:solidFill>
                  <a:srgbClr val="4E3629"/>
                </a:solidFill>
                <a:latin typeface="Calibri"/>
                <a:cs typeface="Calibri"/>
              </a:rPr>
              <a:t> </a:t>
            </a:r>
            <a:r>
              <a:rPr dirty="0" sz="2600">
                <a:solidFill>
                  <a:srgbClr val="4E3629"/>
                </a:solidFill>
                <a:latin typeface="Calibri"/>
                <a:cs typeface="Calibri"/>
              </a:rPr>
              <a:t>devuelto</a:t>
            </a:r>
            <a:r>
              <a:rPr dirty="0" sz="2600" spc="-65">
                <a:solidFill>
                  <a:srgbClr val="4E3629"/>
                </a:solidFill>
                <a:latin typeface="Calibri"/>
                <a:cs typeface="Calibri"/>
              </a:rPr>
              <a:t> </a:t>
            </a:r>
            <a:r>
              <a:rPr dirty="0" sz="2600">
                <a:solidFill>
                  <a:srgbClr val="4E3629"/>
                </a:solidFill>
                <a:latin typeface="Calibri"/>
                <a:cs typeface="Calibri"/>
              </a:rPr>
              <a:t>siempre</a:t>
            </a:r>
            <a:r>
              <a:rPr dirty="0" sz="2600" spc="-60">
                <a:solidFill>
                  <a:srgbClr val="4E3629"/>
                </a:solidFill>
                <a:latin typeface="Calibri"/>
                <a:cs typeface="Calibri"/>
              </a:rPr>
              <a:t> </a:t>
            </a:r>
            <a:r>
              <a:rPr dirty="0" sz="2600">
                <a:solidFill>
                  <a:srgbClr val="4E3629"/>
                </a:solidFill>
                <a:latin typeface="Calibri"/>
                <a:cs typeface="Calibri"/>
              </a:rPr>
              <a:t>es</a:t>
            </a:r>
            <a:r>
              <a:rPr dirty="0" sz="2600" spc="-60">
                <a:solidFill>
                  <a:srgbClr val="4E3629"/>
                </a:solidFill>
                <a:latin typeface="Calibri"/>
                <a:cs typeface="Calibri"/>
              </a:rPr>
              <a:t> </a:t>
            </a:r>
            <a:r>
              <a:rPr dirty="0" sz="2600">
                <a:solidFill>
                  <a:srgbClr val="4E3629"/>
                </a:solidFill>
                <a:latin typeface="Calibri"/>
                <a:cs typeface="Calibri"/>
              </a:rPr>
              <a:t>el</a:t>
            </a:r>
            <a:r>
              <a:rPr dirty="0" sz="2600" spc="-35">
                <a:solidFill>
                  <a:srgbClr val="4E3629"/>
                </a:solidFill>
                <a:latin typeface="Calibri"/>
                <a:cs typeface="Calibri"/>
              </a:rPr>
              <a:t> </a:t>
            </a:r>
            <a:r>
              <a:rPr dirty="0" sz="2600">
                <a:solidFill>
                  <a:srgbClr val="4E3629"/>
                </a:solidFill>
                <a:latin typeface="Calibri"/>
                <a:cs typeface="Calibri"/>
              </a:rPr>
              <a:t>mismo</a:t>
            </a:r>
            <a:r>
              <a:rPr dirty="0" sz="2600" spc="-55">
                <a:solidFill>
                  <a:srgbClr val="4E3629"/>
                </a:solidFill>
                <a:latin typeface="Calibri"/>
                <a:cs typeface="Calibri"/>
              </a:rPr>
              <a:t> </a:t>
            </a:r>
            <a:r>
              <a:rPr dirty="0" sz="2600" spc="-25">
                <a:solidFill>
                  <a:srgbClr val="4E3629"/>
                </a:solidFill>
                <a:latin typeface="Calibri"/>
                <a:cs typeface="Calibri"/>
              </a:rPr>
              <a:t>que </a:t>
            </a:r>
            <a:r>
              <a:rPr dirty="0" sz="2600">
                <a:solidFill>
                  <a:srgbClr val="4E3629"/>
                </a:solidFill>
                <a:latin typeface="Calibri"/>
                <a:cs typeface="Calibri"/>
              </a:rPr>
              <a:t>el</a:t>
            </a:r>
            <a:r>
              <a:rPr dirty="0" sz="2600" spc="-30">
                <a:solidFill>
                  <a:srgbClr val="4E3629"/>
                </a:solidFill>
                <a:latin typeface="Calibri"/>
                <a:cs typeface="Calibri"/>
              </a:rPr>
              <a:t> </a:t>
            </a:r>
            <a:r>
              <a:rPr dirty="0" sz="2600">
                <a:solidFill>
                  <a:srgbClr val="4E3629"/>
                </a:solidFill>
                <a:latin typeface="Calibri"/>
                <a:cs typeface="Calibri"/>
              </a:rPr>
              <a:t>tipo</a:t>
            </a:r>
            <a:r>
              <a:rPr dirty="0" sz="2600" spc="-20">
                <a:solidFill>
                  <a:srgbClr val="4E3629"/>
                </a:solidFill>
                <a:latin typeface="Calibri"/>
                <a:cs typeface="Calibri"/>
              </a:rPr>
              <a:t> </a:t>
            </a:r>
            <a:r>
              <a:rPr dirty="0" sz="2600">
                <a:solidFill>
                  <a:srgbClr val="4E3629"/>
                </a:solidFill>
                <a:latin typeface="Calibri"/>
                <a:cs typeface="Calibri"/>
              </a:rPr>
              <a:t>de</a:t>
            </a:r>
            <a:r>
              <a:rPr dirty="0" sz="2600" spc="-30">
                <a:solidFill>
                  <a:srgbClr val="4E3629"/>
                </a:solidFill>
                <a:latin typeface="Calibri"/>
                <a:cs typeface="Calibri"/>
              </a:rPr>
              <a:t> </a:t>
            </a:r>
            <a:r>
              <a:rPr dirty="0" sz="2600">
                <a:solidFill>
                  <a:srgbClr val="4E3629"/>
                </a:solidFill>
                <a:latin typeface="Calibri"/>
                <a:cs typeface="Calibri"/>
              </a:rPr>
              <a:t>dato</a:t>
            </a:r>
            <a:r>
              <a:rPr dirty="0" sz="2600" spc="-20">
                <a:solidFill>
                  <a:srgbClr val="4E3629"/>
                </a:solidFill>
                <a:latin typeface="Calibri"/>
                <a:cs typeface="Calibri"/>
              </a:rPr>
              <a:t> </a:t>
            </a:r>
            <a:r>
              <a:rPr dirty="0" sz="2600">
                <a:solidFill>
                  <a:srgbClr val="4E3629"/>
                </a:solidFill>
                <a:latin typeface="Calibri"/>
                <a:cs typeface="Calibri"/>
              </a:rPr>
              <a:t>de</a:t>
            </a:r>
            <a:r>
              <a:rPr dirty="0" sz="2600" spc="-30">
                <a:solidFill>
                  <a:srgbClr val="4E3629"/>
                </a:solidFill>
                <a:latin typeface="Calibri"/>
                <a:cs typeface="Calibri"/>
              </a:rPr>
              <a:t> </a:t>
            </a:r>
            <a:r>
              <a:rPr dirty="0" sz="2600">
                <a:solidFill>
                  <a:srgbClr val="4E3629"/>
                </a:solidFill>
                <a:latin typeface="Calibri"/>
                <a:cs typeface="Calibri"/>
              </a:rPr>
              <a:t>la</a:t>
            </a:r>
            <a:r>
              <a:rPr dirty="0" sz="2600" spc="-20">
                <a:solidFill>
                  <a:srgbClr val="4E3629"/>
                </a:solidFill>
                <a:latin typeface="Calibri"/>
                <a:cs typeface="Calibri"/>
              </a:rPr>
              <a:t> </a:t>
            </a:r>
            <a:r>
              <a:rPr dirty="0" sz="2600" spc="-10">
                <a:solidFill>
                  <a:srgbClr val="4E3629"/>
                </a:solidFill>
                <a:latin typeface="Calibri"/>
                <a:cs typeface="Calibri"/>
              </a:rPr>
              <a:t>expresión</a:t>
            </a:r>
            <a:r>
              <a:rPr dirty="0" sz="2600" spc="-55">
                <a:solidFill>
                  <a:srgbClr val="4E3629"/>
                </a:solidFill>
                <a:latin typeface="Calibri"/>
                <a:cs typeface="Calibri"/>
              </a:rPr>
              <a:t> </a:t>
            </a:r>
            <a:r>
              <a:rPr dirty="0" sz="2600">
                <a:solidFill>
                  <a:srgbClr val="4E3629"/>
                </a:solidFill>
                <a:latin typeface="Calibri"/>
                <a:cs typeface="Calibri"/>
              </a:rPr>
              <a:t>2,</a:t>
            </a:r>
            <a:r>
              <a:rPr dirty="0" sz="2600" spc="-20">
                <a:solidFill>
                  <a:srgbClr val="4E3629"/>
                </a:solidFill>
                <a:latin typeface="Calibri"/>
                <a:cs typeface="Calibri"/>
              </a:rPr>
              <a:t> </a:t>
            </a:r>
            <a:r>
              <a:rPr dirty="0" sz="2600">
                <a:solidFill>
                  <a:srgbClr val="4E3629"/>
                </a:solidFill>
                <a:latin typeface="Calibri"/>
                <a:cs typeface="Calibri"/>
              </a:rPr>
              <a:t>a</a:t>
            </a:r>
            <a:r>
              <a:rPr dirty="0" sz="2600" spc="-15">
                <a:solidFill>
                  <a:srgbClr val="4E3629"/>
                </a:solidFill>
                <a:latin typeface="Calibri"/>
                <a:cs typeface="Calibri"/>
              </a:rPr>
              <a:t> </a:t>
            </a:r>
            <a:r>
              <a:rPr dirty="0" sz="2600">
                <a:solidFill>
                  <a:srgbClr val="4E3629"/>
                </a:solidFill>
                <a:latin typeface="Calibri"/>
                <a:cs typeface="Calibri"/>
              </a:rPr>
              <a:t>menos</a:t>
            </a:r>
            <a:r>
              <a:rPr dirty="0" sz="2600" spc="-30">
                <a:solidFill>
                  <a:srgbClr val="4E3629"/>
                </a:solidFill>
                <a:latin typeface="Calibri"/>
                <a:cs typeface="Calibri"/>
              </a:rPr>
              <a:t> </a:t>
            </a:r>
            <a:r>
              <a:rPr dirty="0" sz="2600">
                <a:solidFill>
                  <a:srgbClr val="4E3629"/>
                </a:solidFill>
                <a:latin typeface="Calibri"/>
                <a:cs typeface="Calibri"/>
              </a:rPr>
              <a:t>que</a:t>
            </a:r>
            <a:r>
              <a:rPr dirty="0" sz="2600" spc="-45">
                <a:solidFill>
                  <a:srgbClr val="4E3629"/>
                </a:solidFill>
                <a:latin typeface="Calibri"/>
                <a:cs typeface="Calibri"/>
              </a:rPr>
              <a:t> </a:t>
            </a:r>
            <a:r>
              <a:rPr dirty="0" sz="2600">
                <a:solidFill>
                  <a:srgbClr val="4E3629"/>
                </a:solidFill>
                <a:latin typeface="Calibri"/>
                <a:cs typeface="Calibri"/>
              </a:rPr>
              <a:t>la</a:t>
            </a:r>
            <a:r>
              <a:rPr dirty="0" sz="2600" spc="-15">
                <a:solidFill>
                  <a:srgbClr val="4E3629"/>
                </a:solidFill>
                <a:latin typeface="Calibri"/>
                <a:cs typeface="Calibri"/>
              </a:rPr>
              <a:t> </a:t>
            </a:r>
            <a:r>
              <a:rPr dirty="0" sz="2600" spc="-10">
                <a:solidFill>
                  <a:srgbClr val="4E3629"/>
                </a:solidFill>
                <a:latin typeface="Calibri"/>
                <a:cs typeface="Calibri"/>
              </a:rPr>
              <a:t>expresión </a:t>
            </a:r>
            <a:r>
              <a:rPr dirty="0" sz="2600">
                <a:solidFill>
                  <a:srgbClr val="4E3629"/>
                </a:solidFill>
                <a:latin typeface="Calibri"/>
                <a:cs typeface="Calibri"/>
              </a:rPr>
              <a:t>2</a:t>
            </a:r>
            <a:r>
              <a:rPr dirty="0" sz="2600" spc="-55">
                <a:solidFill>
                  <a:srgbClr val="4E3629"/>
                </a:solidFill>
                <a:latin typeface="Calibri"/>
                <a:cs typeface="Calibri"/>
              </a:rPr>
              <a:t> </a:t>
            </a:r>
            <a:r>
              <a:rPr dirty="0" sz="2600">
                <a:solidFill>
                  <a:srgbClr val="4E3629"/>
                </a:solidFill>
                <a:latin typeface="Calibri"/>
                <a:cs typeface="Calibri"/>
              </a:rPr>
              <a:t>sean</a:t>
            </a:r>
            <a:r>
              <a:rPr dirty="0" sz="2600" spc="-50">
                <a:solidFill>
                  <a:srgbClr val="4E3629"/>
                </a:solidFill>
                <a:latin typeface="Calibri"/>
                <a:cs typeface="Calibri"/>
              </a:rPr>
              <a:t> </a:t>
            </a:r>
            <a:r>
              <a:rPr dirty="0" sz="2600">
                <a:solidFill>
                  <a:srgbClr val="4E3629"/>
                </a:solidFill>
                <a:latin typeface="Calibri"/>
                <a:cs typeface="Calibri"/>
              </a:rPr>
              <a:t>datos</a:t>
            </a:r>
            <a:r>
              <a:rPr dirty="0" sz="2600" spc="-5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spc="-10">
                <a:solidFill>
                  <a:srgbClr val="4E3629"/>
                </a:solidFill>
                <a:latin typeface="Calibri"/>
                <a:cs typeface="Calibri"/>
              </a:rPr>
              <a:t>caracteres,</a:t>
            </a:r>
            <a:r>
              <a:rPr dirty="0" sz="2600" spc="-75">
                <a:solidFill>
                  <a:srgbClr val="4E3629"/>
                </a:solidFill>
                <a:latin typeface="Calibri"/>
                <a:cs typeface="Calibri"/>
              </a:rPr>
              <a:t> </a:t>
            </a:r>
            <a:r>
              <a:rPr dirty="0" sz="2600">
                <a:solidFill>
                  <a:srgbClr val="4E3629"/>
                </a:solidFill>
                <a:latin typeface="Calibri"/>
                <a:cs typeface="Calibri"/>
              </a:rPr>
              <a:t>en</a:t>
            </a:r>
            <a:r>
              <a:rPr dirty="0" sz="2600" spc="-50">
                <a:solidFill>
                  <a:srgbClr val="4E3629"/>
                </a:solidFill>
                <a:latin typeface="Calibri"/>
                <a:cs typeface="Calibri"/>
              </a:rPr>
              <a:t> </a:t>
            </a:r>
            <a:r>
              <a:rPr dirty="0" sz="2600">
                <a:solidFill>
                  <a:srgbClr val="4E3629"/>
                </a:solidFill>
                <a:latin typeface="Calibri"/>
                <a:cs typeface="Calibri"/>
              </a:rPr>
              <a:t>cuyo</a:t>
            </a:r>
            <a:r>
              <a:rPr dirty="0" sz="2600" spc="-40">
                <a:solidFill>
                  <a:srgbClr val="4E3629"/>
                </a:solidFill>
                <a:latin typeface="Calibri"/>
                <a:cs typeface="Calibri"/>
              </a:rPr>
              <a:t> </a:t>
            </a:r>
            <a:r>
              <a:rPr dirty="0" sz="2600">
                <a:solidFill>
                  <a:srgbClr val="4E3629"/>
                </a:solidFill>
                <a:latin typeface="Calibri"/>
                <a:cs typeface="Calibri"/>
              </a:rPr>
              <a:t>caso,</a:t>
            </a:r>
            <a:r>
              <a:rPr dirty="0" sz="2600" spc="-45">
                <a:solidFill>
                  <a:srgbClr val="4E3629"/>
                </a:solidFill>
                <a:latin typeface="Calibri"/>
                <a:cs typeface="Calibri"/>
              </a:rPr>
              <a:t> </a:t>
            </a:r>
            <a:r>
              <a:rPr dirty="0" sz="2600">
                <a:solidFill>
                  <a:srgbClr val="4E3629"/>
                </a:solidFill>
                <a:latin typeface="Calibri"/>
                <a:cs typeface="Calibri"/>
              </a:rPr>
              <a:t>el</a:t>
            </a:r>
            <a:r>
              <a:rPr dirty="0" sz="2600" spc="-35">
                <a:solidFill>
                  <a:srgbClr val="4E3629"/>
                </a:solidFill>
                <a:latin typeface="Calibri"/>
                <a:cs typeface="Calibri"/>
              </a:rPr>
              <a:t> </a:t>
            </a:r>
            <a:r>
              <a:rPr dirty="0" sz="2600">
                <a:solidFill>
                  <a:srgbClr val="4E3629"/>
                </a:solidFill>
                <a:latin typeface="Calibri"/>
                <a:cs typeface="Calibri"/>
              </a:rPr>
              <a:t>tipo</a:t>
            </a:r>
            <a:r>
              <a:rPr dirty="0" sz="2600" spc="-45">
                <a:solidFill>
                  <a:srgbClr val="4E3629"/>
                </a:solidFill>
                <a:latin typeface="Calibri"/>
                <a:cs typeface="Calibri"/>
              </a:rPr>
              <a:t> </a:t>
            </a:r>
            <a:r>
              <a:rPr dirty="0" sz="2600" spc="-10">
                <a:solidFill>
                  <a:srgbClr val="4E3629"/>
                </a:solidFill>
                <a:latin typeface="Calibri"/>
                <a:cs typeface="Calibri"/>
              </a:rPr>
              <a:t>devuelto </a:t>
            </a:r>
            <a:r>
              <a:rPr dirty="0" sz="2600">
                <a:solidFill>
                  <a:srgbClr val="4E3629"/>
                </a:solidFill>
                <a:latin typeface="Calibri"/>
                <a:cs typeface="Calibri"/>
              </a:rPr>
              <a:t>es</a:t>
            </a:r>
            <a:r>
              <a:rPr dirty="0" sz="2600" spc="-30">
                <a:solidFill>
                  <a:srgbClr val="4E3629"/>
                </a:solidFill>
                <a:latin typeface="Calibri"/>
                <a:cs typeface="Calibri"/>
              </a:rPr>
              <a:t> </a:t>
            </a:r>
            <a:r>
              <a:rPr dirty="0" sz="2600" spc="-10">
                <a:solidFill>
                  <a:srgbClr val="4E3629"/>
                </a:solidFill>
                <a:latin typeface="Calibri"/>
                <a:cs typeface="Calibri"/>
              </a:rPr>
              <a:t>VARCHAR2</a:t>
            </a:r>
            <a:endParaRPr sz="2600">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Función</a:t>
            </a:r>
            <a:r>
              <a:rPr dirty="0" spc="-95"/>
              <a:t> </a:t>
            </a:r>
            <a:r>
              <a:rPr dirty="0" spc="-20"/>
              <a:t>NVL2</a:t>
            </a:r>
          </a:p>
        </p:txBody>
      </p:sp>
      <p:sp>
        <p:nvSpPr>
          <p:cNvPr id="6" name="object 6"/>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16</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3020695"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función</a:t>
            </a:r>
            <a:r>
              <a:rPr dirty="0" sz="2800" spc="-30">
                <a:solidFill>
                  <a:srgbClr val="4E3629"/>
                </a:solidFill>
                <a:latin typeface="Calibri"/>
                <a:cs typeface="Calibri"/>
              </a:rPr>
              <a:t> </a:t>
            </a:r>
            <a:r>
              <a:rPr dirty="0" sz="2800">
                <a:solidFill>
                  <a:srgbClr val="4E3629"/>
                </a:solidFill>
                <a:latin typeface="Calibri"/>
                <a:cs typeface="Calibri"/>
              </a:rPr>
              <a:t>NVL2</a:t>
            </a:r>
            <a:r>
              <a:rPr dirty="0" sz="2800" spc="-35">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p:cNvSpPr txBox="1"/>
          <p:nvPr/>
        </p:nvSpPr>
        <p:spPr>
          <a:xfrm>
            <a:off x="483552" y="2872361"/>
            <a:ext cx="7722234"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Una</a:t>
            </a:r>
            <a:r>
              <a:rPr dirty="0" sz="2800" spc="-55">
                <a:solidFill>
                  <a:srgbClr val="4E3629"/>
                </a:solidFill>
                <a:latin typeface="Calibri"/>
                <a:cs typeface="Calibri"/>
              </a:rPr>
              <a:t> </a:t>
            </a:r>
            <a:r>
              <a:rPr dirty="0" sz="2800">
                <a:solidFill>
                  <a:srgbClr val="4E3629"/>
                </a:solidFill>
                <a:latin typeface="Calibri"/>
                <a:cs typeface="Calibri"/>
              </a:rPr>
              <a:t>manera</a:t>
            </a:r>
            <a:r>
              <a:rPr dirty="0" sz="2800" spc="-40">
                <a:solidFill>
                  <a:srgbClr val="4E3629"/>
                </a:solidFill>
                <a:latin typeface="Calibri"/>
                <a:cs typeface="Calibri"/>
              </a:rPr>
              <a:t> </a:t>
            </a:r>
            <a:r>
              <a:rPr dirty="0" sz="2800">
                <a:solidFill>
                  <a:srgbClr val="4E3629"/>
                </a:solidFill>
                <a:latin typeface="Calibri"/>
                <a:cs typeface="Calibri"/>
              </a:rPr>
              <a:t>fácil</a:t>
            </a:r>
            <a:r>
              <a:rPr dirty="0" sz="2800" spc="-6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recordar</a:t>
            </a:r>
            <a:r>
              <a:rPr dirty="0" sz="2800" spc="-65">
                <a:solidFill>
                  <a:srgbClr val="4E3629"/>
                </a:solidFill>
                <a:latin typeface="Calibri"/>
                <a:cs typeface="Calibri"/>
              </a:rPr>
              <a:t> </a:t>
            </a:r>
            <a:r>
              <a:rPr dirty="0" sz="2800">
                <a:solidFill>
                  <a:srgbClr val="4E3629"/>
                </a:solidFill>
                <a:latin typeface="Calibri"/>
                <a:cs typeface="Calibri"/>
              </a:rPr>
              <a:t>NVL2</a:t>
            </a:r>
            <a:r>
              <a:rPr dirty="0" sz="2800" spc="-30">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a:solidFill>
                  <a:srgbClr val="4E3629"/>
                </a:solidFill>
                <a:latin typeface="Calibri"/>
                <a:cs typeface="Calibri"/>
              </a:rPr>
              <a:t>pensar:</a:t>
            </a:r>
            <a:r>
              <a:rPr dirty="0" sz="2800" spc="-40">
                <a:solidFill>
                  <a:srgbClr val="4E3629"/>
                </a:solidFill>
                <a:latin typeface="Calibri"/>
                <a:cs typeface="Calibri"/>
              </a:rPr>
              <a:t> </a:t>
            </a:r>
            <a:r>
              <a:rPr dirty="0" sz="2800">
                <a:solidFill>
                  <a:srgbClr val="4E3629"/>
                </a:solidFill>
                <a:latin typeface="Calibri"/>
                <a:cs typeface="Calibri"/>
              </a:rPr>
              <a:t>"si</a:t>
            </a:r>
            <a:r>
              <a:rPr dirty="0" sz="2800" spc="-4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expresión</a:t>
            </a:r>
            <a:r>
              <a:rPr dirty="0" sz="2800" spc="-55">
                <a:solidFill>
                  <a:srgbClr val="4E3629"/>
                </a:solidFill>
                <a:latin typeface="Calibri"/>
                <a:cs typeface="Calibri"/>
              </a:rPr>
              <a:t> </a:t>
            </a:r>
            <a:r>
              <a:rPr dirty="0" sz="2800">
                <a:solidFill>
                  <a:srgbClr val="4E3629"/>
                </a:solidFill>
                <a:latin typeface="Calibri"/>
                <a:cs typeface="Calibri"/>
              </a:rPr>
              <a:t>1</a:t>
            </a:r>
            <a:r>
              <a:rPr dirty="0" sz="2800" spc="-85">
                <a:solidFill>
                  <a:srgbClr val="4E3629"/>
                </a:solidFill>
                <a:latin typeface="Calibri"/>
                <a:cs typeface="Calibri"/>
              </a:rPr>
              <a:t> </a:t>
            </a:r>
            <a:r>
              <a:rPr dirty="0" sz="2800">
                <a:solidFill>
                  <a:srgbClr val="4E3629"/>
                </a:solidFill>
                <a:latin typeface="Calibri"/>
                <a:cs typeface="Calibri"/>
              </a:rPr>
              <a:t>tiene</a:t>
            </a:r>
            <a:r>
              <a:rPr dirty="0" sz="2800" spc="-70">
                <a:solidFill>
                  <a:srgbClr val="4E3629"/>
                </a:solidFill>
                <a:latin typeface="Calibri"/>
                <a:cs typeface="Calibri"/>
              </a:rPr>
              <a:t> </a:t>
            </a:r>
            <a:r>
              <a:rPr dirty="0" sz="2800">
                <a:solidFill>
                  <a:srgbClr val="4E3629"/>
                </a:solidFill>
                <a:latin typeface="Calibri"/>
                <a:cs typeface="Calibri"/>
              </a:rPr>
              <a:t>un</a:t>
            </a:r>
            <a:r>
              <a:rPr dirty="0" sz="2800" spc="-65">
                <a:solidFill>
                  <a:srgbClr val="4E3629"/>
                </a:solidFill>
                <a:latin typeface="Calibri"/>
                <a:cs typeface="Calibri"/>
              </a:rPr>
              <a:t> </a:t>
            </a:r>
            <a:r>
              <a:rPr dirty="0" sz="2800" spc="-35">
                <a:solidFill>
                  <a:srgbClr val="4E3629"/>
                </a:solidFill>
                <a:latin typeface="Calibri"/>
                <a:cs typeface="Calibri"/>
              </a:rPr>
              <a:t>valor,</a:t>
            </a:r>
            <a:r>
              <a:rPr dirty="0" sz="2800" spc="-80">
                <a:solidFill>
                  <a:srgbClr val="4E3629"/>
                </a:solidFill>
                <a:latin typeface="Calibri"/>
                <a:cs typeface="Calibri"/>
              </a:rPr>
              <a:t> </a:t>
            </a:r>
            <a:r>
              <a:rPr dirty="0" sz="2800">
                <a:solidFill>
                  <a:srgbClr val="4E3629"/>
                </a:solidFill>
                <a:latin typeface="Calibri"/>
                <a:cs typeface="Calibri"/>
              </a:rPr>
              <a:t>sustituir</a:t>
            </a:r>
            <a:r>
              <a:rPr dirty="0" sz="2800" spc="-45">
                <a:solidFill>
                  <a:srgbClr val="4E3629"/>
                </a:solidFill>
                <a:latin typeface="Calibri"/>
                <a:cs typeface="Calibri"/>
              </a:rPr>
              <a:t> </a:t>
            </a:r>
            <a:r>
              <a:rPr dirty="0" sz="2800">
                <a:solidFill>
                  <a:srgbClr val="4E3629"/>
                </a:solidFill>
                <a:latin typeface="Calibri"/>
                <a:cs typeface="Calibri"/>
              </a:rPr>
              <a:t>expresión</a:t>
            </a:r>
            <a:r>
              <a:rPr dirty="0" sz="2800" spc="-50">
                <a:solidFill>
                  <a:srgbClr val="4E3629"/>
                </a:solidFill>
                <a:latin typeface="Calibri"/>
                <a:cs typeface="Calibri"/>
              </a:rPr>
              <a:t> </a:t>
            </a:r>
            <a:r>
              <a:rPr dirty="0" sz="2800">
                <a:solidFill>
                  <a:srgbClr val="4E3629"/>
                </a:solidFill>
                <a:latin typeface="Calibri"/>
                <a:cs typeface="Calibri"/>
              </a:rPr>
              <a:t>2;</a:t>
            </a:r>
            <a:r>
              <a:rPr dirty="0" sz="2800" spc="-80">
                <a:solidFill>
                  <a:srgbClr val="4E3629"/>
                </a:solidFill>
                <a:latin typeface="Calibri"/>
                <a:cs typeface="Calibri"/>
              </a:rPr>
              <a:t> </a:t>
            </a:r>
            <a:r>
              <a:rPr dirty="0" sz="2800">
                <a:solidFill>
                  <a:srgbClr val="4E3629"/>
                </a:solidFill>
                <a:latin typeface="Calibri"/>
                <a:cs typeface="Calibri"/>
              </a:rPr>
              <a:t>si</a:t>
            </a:r>
            <a:r>
              <a:rPr dirty="0" sz="2800" spc="-8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expresión</a:t>
            </a:r>
            <a:r>
              <a:rPr dirty="0" sz="2800" spc="-75">
                <a:solidFill>
                  <a:srgbClr val="4E3629"/>
                </a:solidFill>
                <a:latin typeface="Calibri"/>
                <a:cs typeface="Calibri"/>
              </a:rPr>
              <a:t> </a:t>
            </a:r>
            <a:r>
              <a:rPr dirty="0" sz="2800">
                <a:solidFill>
                  <a:srgbClr val="4E3629"/>
                </a:solidFill>
                <a:latin typeface="Calibri"/>
                <a:cs typeface="Calibri"/>
              </a:rPr>
              <a:t>1</a:t>
            </a:r>
            <a:r>
              <a:rPr dirty="0" sz="2800" spc="-95">
                <a:solidFill>
                  <a:srgbClr val="4E3629"/>
                </a:solidFill>
                <a:latin typeface="Calibri"/>
                <a:cs typeface="Calibri"/>
              </a:rPr>
              <a:t> </a:t>
            </a:r>
            <a:r>
              <a:rPr dirty="0" sz="2800">
                <a:solidFill>
                  <a:srgbClr val="4E3629"/>
                </a:solidFill>
                <a:latin typeface="Calibri"/>
                <a:cs typeface="Calibri"/>
              </a:rPr>
              <a:t>es</a:t>
            </a:r>
            <a:r>
              <a:rPr dirty="0" sz="2800" spc="-85">
                <a:solidFill>
                  <a:srgbClr val="4E3629"/>
                </a:solidFill>
                <a:latin typeface="Calibri"/>
                <a:cs typeface="Calibri"/>
              </a:rPr>
              <a:t> </a:t>
            </a:r>
            <a:r>
              <a:rPr dirty="0" sz="2800">
                <a:solidFill>
                  <a:srgbClr val="4E3629"/>
                </a:solidFill>
                <a:latin typeface="Calibri"/>
                <a:cs typeface="Calibri"/>
              </a:rPr>
              <a:t>nula,</a:t>
            </a:r>
            <a:r>
              <a:rPr dirty="0" sz="2800" spc="-80">
                <a:solidFill>
                  <a:srgbClr val="4E3629"/>
                </a:solidFill>
                <a:latin typeface="Calibri"/>
                <a:cs typeface="Calibri"/>
              </a:rPr>
              <a:t> </a:t>
            </a:r>
            <a:r>
              <a:rPr dirty="0" sz="2800">
                <a:solidFill>
                  <a:srgbClr val="4E3629"/>
                </a:solidFill>
                <a:latin typeface="Calibri"/>
                <a:cs typeface="Calibri"/>
              </a:rPr>
              <a:t>sustituir</a:t>
            </a:r>
            <a:r>
              <a:rPr dirty="0" sz="2800" spc="-60">
                <a:solidFill>
                  <a:srgbClr val="4E3629"/>
                </a:solidFill>
                <a:latin typeface="Calibri"/>
                <a:cs typeface="Calibri"/>
              </a:rPr>
              <a:t> </a:t>
            </a:r>
            <a:r>
              <a:rPr dirty="0" sz="2800">
                <a:solidFill>
                  <a:srgbClr val="4E3629"/>
                </a:solidFill>
                <a:latin typeface="Calibri"/>
                <a:cs typeface="Calibri"/>
              </a:rPr>
              <a:t>expresión</a:t>
            </a:r>
            <a:r>
              <a:rPr dirty="0" sz="2800" spc="-70">
                <a:solidFill>
                  <a:srgbClr val="4E3629"/>
                </a:solidFill>
                <a:latin typeface="Calibri"/>
                <a:cs typeface="Calibri"/>
              </a:rPr>
              <a:t> </a:t>
            </a:r>
            <a:r>
              <a:rPr dirty="0" sz="2800" spc="-25">
                <a:solidFill>
                  <a:srgbClr val="4E3629"/>
                </a:solidFill>
                <a:latin typeface="Calibri"/>
                <a:cs typeface="Calibri"/>
              </a:rPr>
              <a:t>3"</a:t>
            </a:r>
            <a:endParaRPr sz="2800">
              <a:latin typeface="Calibri"/>
              <a:cs typeface="Calibri"/>
            </a:endParaRPr>
          </a:p>
        </p:txBody>
      </p:sp>
      <p:sp>
        <p:nvSpPr>
          <p:cNvPr id="5" name="object 5"/>
          <p:cNvSpPr txBox="1"/>
          <p:nvPr/>
        </p:nvSpPr>
        <p:spPr>
          <a:xfrm>
            <a:off x="405384" y="1865376"/>
            <a:ext cx="8345805" cy="970915"/>
          </a:xfrm>
          <a:prstGeom prst="rect">
            <a:avLst/>
          </a:prstGeom>
          <a:solidFill>
            <a:srgbClr val="9DBEC4">
              <a:alpha val="50199"/>
            </a:srgbClr>
          </a:solidFill>
        </p:spPr>
        <p:txBody>
          <a:bodyPr wrap="square" lIns="0" tIns="45720" rIns="0" bIns="0" rtlCol="0" vert="horz">
            <a:spAutoFit/>
          </a:bodyPr>
          <a:lstStyle/>
          <a:p>
            <a:pPr>
              <a:lnSpc>
                <a:spcPct val="100000"/>
              </a:lnSpc>
              <a:spcBef>
                <a:spcPts val="360"/>
              </a:spcBef>
            </a:pPr>
            <a:r>
              <a:rPr dirty="0" sz="1800" b="1">
                <a:solidFill>
                  <a:srgbClr val="4E3629"/>
                </a:solidFill>
                <a:latin typeface="Courier New"/>
                <a:cs typeface="Courier New"/>
              </a:rPr>
              <a:t>NVL2</a:t>
            </a:r>
            <a:r>
              <a:rPr dirty="0" sz="1800" spc="-60" b="1">
                <a:solidFill>
                  <a:srgbClr val="4E3629"/>
                </a:solidFill>
                <a:latin typeface="Courier New"/>
                <a:cs typeface="Courier New"/>
              </a:rPr>
              <a:t> </a:t>
            </a:r>
            <a:r>
              <a:rPr dirty="0" sz="1800" b="1">
                <a:solidFill>
                  <a:srgbClr val="4E3629"/>
                </a:solidFill>
                <a:latin typeface="Courier New"/>
                <a:cs typeface="Courier New"/>
              </a:rPr>
              <a:t>(expression</a:t>
            </a:r>
            <a:r>
              <a:rPr dirty="0" sz="1800" spc="-45" b="1">
                <a:solidFill>
                  <a:srgbClr val="4E3629"/>
                </a:solidFill>
                <a:latin typeface="Courier New"/>
                <a:cs typeface="Courier New"/>
              </a:rPr>
              <a:t> </a:t>
            </a:r>
            <a:r>
              <a:rPr dirty="0" sz="1800" b="1">
                <a:solidFill>
                  <a:srgbClr val="4E3629"/>
                </a:solidFill>
                <a:latin typeface="Courier New"/>
                <a:cs typeface="Courier New"/>
              </a:rPr>
              <a:t>1</a:t>
            </a:r>
            <a:r>
              <a:rPr dirty="0" sz="1800" spc="-45" b="1">
                <a:solidFill>
                  <a:srgbClr val="4E3629"/>
                </a:solidFill>
                <a:latin typeface="Courier New"/>
                <a:cs typeface="Courier New"/>
              </a:rPr>
              <a:t> </a:t>
            </a:r>
            <a:r>
              <a:rPr dirty="0" sz="1800" b="1">
                <a:solidFill>
                  <a:srgbClr val="4E3629"/>
                </a:solidFill>
                <a:latin typeface="Courier New"/>
                <a:cs typeface="Courier New"/>
              </a:rPr>
              <a:t>value</a:t>
            </a:r>
            <a:r>
              <a:rPr dirty="0" sz="1800" spc="-45" b="1">
                <a:solidFill>
                  <a:srgbClr val="4E3629"/>
                </a:solidFill>
                <a:latin typeface="Courier New"/>
                <a:cs typeface="Courier New"/>
              </a:rPr>
              <a:t> </a:t>
            </a:r>
            <a:r>
              <a:rPr dirty="0" sz="1800" b="1">
                <a:solidFill>
                  <a:srgbClr val="4E3629"/>
                </a:solidFill>
                <a:latin typeface="Courier New"/>
                <a:cs typeface="Courier New"/>
              </a:rPr>
              <a:t>that</a:t>
            </a:r>
            <a:r>
              <a:rPr dirty="0" sz="1800" spc="-50" b="1">
                <a:solidFill>
                  <a:srgbClr val="4E3629"/>
                </a:solidFill>
                <a:latin typeface="Courier New"/>
                <a:cs typeface="Courier New"/>
              </a:rPr>
              <a:t> </a:t>
            </a:r>
            <a:r>
              <a:rPr dirty="0" sz="1800" b="1">
                <a:solidFill>
                  <a:srgbClr val="4E3629"/>
                </a:solidFill>
                <a:latin typeface="Courier New"/>
                <a:cs typeface="Courier New"/>
              </a:rPr>
              <a:t>may</a:t>
            </a:r>
            <a:r>
              <a:rPr dirty="0" sz="1800" spc="-45" b="1">
                <a:solidFill>
                  <a:srgbClr val="4E3629"/>
                </a:solidFill>
                <a:latin typeface="Courier New"/>
                <a:cs typeface="Courier New"/>
              </a:rPr>
              <a:t> </a:t>
            </a:r>
            <a:r>
              <a:rPr dirty="0" sz="1800" b="1">
                <a:solidFill>
                  <a:srgbClr val="4E3629"/>
                </a:solidFill>
                <a:latin typeface="Courier New"/>
                <a:cs typeface="Courier New"/>
              </a:rPr>
              <a:t>contain</a:t>
            </a:r>
            <a:r>
              <a:rPr dirty="0" sz="1800" spc="-45" b="1">
                <a:solidFill>
                  <a:srgbClr val="4E3629"/>
                </a:solidFill>
                <a:latin typeface="Courier New"/>
                <a:cs typeface="Courier New"/>
              </a:rPr>
              <a:t> </a:t>
            </a:r>
            <a:r>
              <a:rPr dirty="0" sz="1800" b="1">
                <a:solidFill>
                  <a:srgbClr val="4E3629"/>
                </a:solidFill>
                <a:latin typeface="Courier New"/>
                <a:cs typeface="Courier New"/>
              </a:rPr>
              <a:t>a</a:t>
            </a:r>
            <a:r>
              <a:rPr dirty="0" sz="1800" spc="-55" b="1">
                <a:solidFill>
                  <a:srgbClr val="4E3629"/>
                </a:solidFill>
                <a:latin typeface="Courier New"/>
                <a:cs typeface="Courier New"/>
              </a:rPr>
              <a:t> </a:t>
            </a:r>
            <a:r>
              <a:rPr dirty="0" sz="1800" b="1">
                <a:solidFill>
                  <a:srgbClr val="4E3629"/>
                </a:solidFill>
                <a:latin typeface="Courier New"/>
                <a:cs typeface="Courier New"/>
              </a:rPr>
              <a:t>null,</a:t>
            </a:r>
            <a:r>
              <a:rPr dirty="0" sz="1800" spc="-45" b="1">
                <a:solidFill>
                  <a:srgbClr val="4E3629"/>
                </a:solidFill>
                <a:latin typeface="Courier New"/>
                <a:cs typeface="Courier New"/>
              </a:rPr>
              <a:t> </a:t>
            </a:r>
            <a:r>
              <a:rPr dirty="0" sz="1800" spc="-10" b="1">
                <a:solidFill>
                  <a:srgbClr val="4E3629"/>
                </a:solidFill>
                <a:latin typeface="Courier New"/>
                <a:cs typeface="Courier New"/>
              </a:rPr>
              <a:t>expression</a:t>
            </a:r>
            <a:endParaRPr sz="1800">
              <a:latin typeface="Courier New"/>
              <a:cs typeface="Courier New"/>
            </a:endParaRPr>
          </a:p>
          <a:p>
            <a:pPr marR="285750">
              <a:lnSpc>
                <a:spcPct val="100000"/>
              </a:lnSpc>
            </a:pPr>
            <a:r>
              <a:rPr dirty="0" sz="1800" b="1">
                <a:solidFill>
                  <a:srgbClr val="4E3629"/>
                </a:solidFill>
                <a:latin typeface="Courier New"/>
                <a:cs typeface="Courier New"/>
              </a:rPr>
              <a:t>2</a:t>
            </a:r>
            <a:r>
              <a:rPr dirty="0" sz="1800" spc="-40" b="1">
                <a:solidFill>
                  <a:srgbClr val="4E3629"/>
                </a:solidFill>
                <a:latin typeface="Courier New"/>
                <a:cs typeface="Courier New"/>
              </a:rPr>
              <a:t> </a:t>
            </a:r>
            <a:r>
              <a:rPr dirty="0" sz="1800" b="1">
                <a:solidFill>
                  <a:srgbClr val="4E3629"/>
                </a:solidFill>
                <a:latin typeface="Courier New"/>
                <a:cs typeface="Courier New"/>
              </a:rPr>
              <a:t>value</a:t>
            </a:r>
            <a:r>
              <a:rPr dirty="0" sz="1800" spc="-45" b="1">
                <a:solidFill>
                  <a:srgbClr val="4E3629"/>
                </a:solidFill>
                <a:latin typeface="Courier New"/>
                <a:cs typeface="Courier New"/>
              </a:rPr>
              <a:t> </a:t>
            </a:r>
            <a:r>
              <a:rPr dirty="0" sz="1800" b="1">
                <a:solidFill>
                  <a:srgbClr val="4E3629"/>
                </a:solidFill>
                <a:latin typeface="Courier New"/>
                <a:cs typeface="Courier New"/>
              </a:rPr>
              <a:t>to</a:t>
            </a:r>
            <a:r>
              <a:rPr dirty="0" sz="1800" spc="-55" b="1">
                <a:solidFill>
                  <a:srgbClr val="4E3629"/>
                </a:solidFill>
                <a:latin typeface="Courier New"/>
                <a:cs typeface="Courier New"/>
              </a:rPr>
              <a:t> </a:t>
            </a:r>
            <a:r>
              <a:rPr dirty="0" sz="1800" b="1">
                <a:solidFill>
                  <a:srgbClr val="4E3629"/>
                </a:solidFill>
                <a:latin typeface="Courier New"/>
                <a:cs typeface="Courier New"/>
              </a:rPr>
              <a:t>return</a:t>
            </a:r>
            <a:r>
              <a:rPr dirty="0" sz="1800" spc="-35" b="1">
                <a:solidFill>
                  <a:srgbClr val="4E3629"/>
                </a:solidFill>
                <a:latin typeface="Courier New"/>
                <a:cs typeface="Courier New"/>
              </a:rPr>
              <a:t> </a:t>
            </a:r>
            <a:r>
              <a:rPr dirty="0" sz="1800" b="1">
                <a:solidFill>
                  <a:srgbClr val="4E3629"/>
                </a:solidFill>
                <a:latin typeface="Courier New"/>
                <a:cs typeface="Courier New"/>
              </a:rPr>
              <a:t>if</a:t>
            </a:r>
            <a:r>
              <a:rPr dirty="0" sz="1800" spc="-45" b="1">
                <a:solidFill>
                  <a:srgbClr val="4E3629"/>
                </a:solidFill>
                <a:latin typeface="Courier New"/>
                <a:cs typeface="Courier New"/>
              </a:rPr>
              <a:t> </a:t>
            </a:r>
            <a:r>
              <a:rPr dirty="0" sz="1800" b="1">
                <a:solidFill>
                  <a:srgbClr val="4E3629"/>
                </a:solidFill>
                <a:latin typeface="Courier New"/>
                <a:cs typeface="Courier New"/>
              </a:rPr>
              <a:t>expression</a:t>
            </a:r>
            <a:r>
              <a:rPr dirty="0" sz="1800" spc="-50" b="1">
                <a:solidFill>
                  <a:srgbClr val="4E3629"/>
                </a:solidFill>
                <a:latin typeface="Courier New"/>
                <a:cs typeface="Courier New"/>
              </a:rPr>
              <a:t> </a:t>
            </a:r>
            <a:r>
              <a:rPr dirty="0" sz="1800" b="1">
                <a:solidFill>
                  <a:srgbClr val="4E3629"/>
                </a:solidFill>
                <a:latin typeface="Courier New"/>
                <a:cs typeface="Courier New"/>
              </a:rPr>
              <a:t>1</a:t>
            </a:r>
            <a:r>
              <a:rPr dirty="0" sz="1800" spc="-45" b="1">
                <a:solidFill>
                  <a:srgbClr val="4E3629"/>
                </a:solidFill>
                <a:latin typeface="Courier New"/>
                <a:cs typeface="Courier New"/>
              </a:rPr>
              <a:t> </a:t>
            </a:r>
            <a:r>
              <a:rPr dirty="0" sz="1800" b="1">
                <a:solidFill>
                  <a:srgbClr val="4E3629"/>
                </a:solidFill>
                <a:latin typeface="Courier New"/>
                <a:cs typeface="Courier New"/>
              </a:rPr>
              <a:t>is</a:t>
            </a:r>
            <a:r>
              <a:rPr dirty="0" sz="1800" spc="-45" b="1">
                <a:solidFill>
                  <a:srgbClr val="4E3629"/>
                </a:solidFill>
                <a:latin typeface="Courier New"/>
                <a:cs typeface="Courier New"/>
              </a:rPr>
              <a:t> </a:t>
            </a:r>
            <a:r>
              <a:rPr dirty="0" sz="1800" b="1">
                <a:solidFill>
                  <a:srgbClr val="4E3629"/>
                </a:solidFill>
                <a:latin typeface="Courier New"/>
                <a:cs typeface="Courier New"/>
              </a:rPr>
              <a:t>not</a:t>
            </a:r>
            <a:r>
              <a:rPr dirty="0" sz="1800" spc="-45" b="1">
                <a:solidFill>
                  <a:srgbClr val="4E3629"/>
                </a:solidFill>
                <a:latin typeface="Courier New"/>
                <a:cs typeface="Courier New"/>
              </a:rPr>
              <a:t> </a:t>
            </a:r>
            <a:r>
              <a:rPr dirty="0" sz="1800" b="1">
                <a:solidFill>
                  <a:srgbClr val="4E3629"/>
                </a:solidFill>
                <a:latin typeface="Courier New"/>
                <a:cs typeface="Courier New"/>
              </a:rPr>
              <a:t>null,</a:t>
            </a:r>
            <a:r>
              <a:rPr dirty="0" sz="1800" spc="-45" b="1">
                <a:solidFill>
                  <a:srgbClr val="4E3629"/>
                </a:solidFill>
                <a:latin typeface="Courier New"/>
                <a:cs typeface="Courier New"/>
              </a:rPr>
              <a:t> </a:t>
            </a:r>
            <a:r>
              <a:rPr dirty="0" sz="1800" b="1">
                <a:solidFill>
                  <a:srgbClr val="4E3629"/>
                </a:solidFill>
                <a:latin typeface="Courier New"/>
                <a:cs typeface="Courier New"/>
              </a:rPr>
              <a:t>expression</a:t>
            </a:r>
            <a:r>
              <a:rPr dirty="0" sz="1800" spc="-45" b="1">
                <a:solidFill>
                  <a:srgbClr val="4E3629"/>
                </a:solidFill>
                <a:latin typeface="Courier New"/>
                <a:cs typeface="Courier New"/>
              </a:rPr>
              <a:t> </a:t>
            </a:r>
            <a:r>
              <a:rPr dirty="0" sz="1800" spc="-50" b="1">
                <a:solidFill>
                  <a:srgbClr val="4E3629"/>
                </a:solidFill>
                <a:latin typeface="Courier New"/>
                <a:cs typeface="Courier New"/>
              </a:rPr>
              <a:t>3 </a:t>
            </a:r>
            <a:r>
              <a:rPr dirty="0" sz="1800" b="1">
                <a:solidFill>
                  <a:srgbClr val="4E3629"/>
                </a:solidFill>
                <a:latin typeface="Courier New"/>
                <a:cs typeface="Courier New"/>
              </a:rPr>
              <a:t>value</a:t>
            </a:r>
            <a:r>
              <a:rPr dirty="0" sz="1800" spc="-55" b="1">
                <a:solidFill>
                  <a:srgbClr val="4E3629"/>
                </a:solidFill>
                <a:latin typeface="Courier New"/>
                <a:cs typeface="Courier New"/>
              </a:rPr>
              <a:t> </a:t>
            </a:r>
            <a:r>
              <a:rPr dirty="0" sz="1800" b="1">
                <a:solidFill>
                  <a:srgbClr val="4E3629"/>
                </a:solidFill>
                <a:latin typeface="Courier New"/>
                <a:cs typeface="Courier New"/>
              </a:rPr>
              <a:t>to</a:t>
            </a:r>
            <a:r>
              <a:rPr dirty="0" sz="1800" spc="-40" b="1">
                <a:solidFill>
                  <a:srgbClr val="4E3629"/>
                </a:solidFill>
                <a:latin typeface="Courier New"/>
                <a:cs typeface="Courier New"/>
              </a:rPr>
              <a:t> </a:t>
            </a:r>
            <a:r>
              <a:rPr dirty="0" sz="1800" b="1">
                <a:solidFill>
                  <a:srgbClr val="4E3629"/>
                </a:solidFill>
                <a:latin typeface="Courier New"/>
                <a:cs typeface="Courier New"/>
              </a:rPr>
              <a:t>replace</a:t>
            </a:r>
            <a:r>
              <a:rPr dirty="0" sz="1800" spc="-45" b="1">
                <a:solidFill>
                  <a:srgbClr val="4E3629"/>
                </a:solidFill>
                <a:latin typeface="Courier New"/>
                <a:cs typeface="Courier New"/>
              </a:rPr>
              <a:t> </a:t>
            </a:r>
            <a:r>
              <a:rPr dirty="0" sz="1800" b="1">
                <a:solidFill>
                  <a:srgbClr val="4E3629"/>
                </a:solidFill>
                <a:latin typeface="Courier New"/>
                <a:cs typeface="Courier New"/>
              </a:rPr>
              <a:t>if</a:t>
            </a:r>
            <a:r>
              <a:rPr dirty="0" sz="1800" spc="-40" b="1">
                <a:solidFill>
                  <a:srgbClr val="4E3629"/>
                </a:solidFill>
                <a:latin typeface="Courier New"/>
                <a:cs typeface="Courier New"/>
              </a:rPr>
              <a:t> </a:t>
            </a:r>
            <a:r>
              <a:rPr dirty="0" sz="1800" b="1">
                <a:solidFill>
                  <a:srgbClr val="4E3629"/>
                </a:solidFill>
                <a:latin typeface="Courier New"/>
                <a:cs typeface="Courier New"/>
              </a:rPr>
              <a:t>expression</a:t>
            </a:r>
            <a:r>
              <a:rPr dirty="0" sz="1800" spc="-45" b="1">
                <a:solidFill>
                  <a:srgbClr val="4E3629"/>
                </a:solidFill>
                <a:latin typeface="Courier New"/>
                <a:cs typeface="Courier New"/>
              </a:rPr>
              <a:t> </a:t>
            </a:r>
            <a:r>
              <a:rPr dirty="0" sz="1800" b="1">
                <a:solidFill>
                  <a:srgbClr val="4E3629"/>
                </a:solidFill>
                <a:latin typeface="Courier New"/>
                <a:cs typeface="Courier New"/>
              </a:rPr>
              <a:t>1</a:t>
            </a:r>
            <a:r>
              <a:rPr dirty="0" sz="1800" spc="-50" b="1">
                <a:solidFill>
                  <a:srgbClr val="4E3629"/>
                </a:solidFill>
                <a:latin typeface="Courier New"/>
                <a:cs typeface="Courier New"/>
              </a:rPr>
              <a:t> </a:t>
            </a:r>
            <a:r>
              <a:rPr dirty="0" sz="1800" b="1">
                <a:solidFill>
                  <a:srgbClr val="4E3629"/>
                </a:solidFill>
                <a:latin typeface="Courier New"/>
                <a:cs typeface="Courier New"/>
              </a:rPr>
              <a:t>is</a:t>
            </a:r>
            <a:r>
              <a:rPr dirty="0" sz="1800" spc="-40" b="1">
                <a:solidFill>
                  <a:srgbClr val="4E3629"/>
                </a:solidFill>
                <a:latin typeface="Courier New"/>
                <a:cs typeface="Courier New"/>
              </a:rPr>
              <a:t> </a:t>
            </a:r>
            <a:r>
              <a:rPr dirty="0" sz="1800" spc="-10" b="1">
                <a:solidFill>
                  <a:srgbClr val="4E3629"/>
                </a:solidFill>
                <a:latin typeface="Courier New"/>
                <a:cs typeface="Courier New"/>
              </a:rPr>
              <a:t>null)</a:t>
            </a:r>
            <a:endParaRPr sz="1800">
              <a:latin typeface="Courier New"/>
              <a:cs typeface="Courier New"/>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Función</a:t>
            </a:r>
            <a:r>
              <a:rPr dirty="0" spc="-95"/>
              <a:t> </a:t>
            </a:r>
            <a:r>
              <a:rPr dirty="0" spc="-20"/>
              <a:t>NVL2</a:t>
            </a:r>
          </a:p>
        </p:txBody>
      </p:sp>
      <p:sp>
        <p:nvSpPr>
          <p:cNvPr id="6" name="object 6"/>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17</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6890384"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función</a:t>
            </a:r>
            <a:r>
              <a:rPr dirty="0" sz="2800" spc="-45">
                <a:solidFill>
                  <a:srgbClr val="4E3629"/>
                </a:solidFill>
                <a:latin typeface="Calibri"/>
                <a:cs typeface="Calibri"/>
              </a:rPr>
              <a:t> </a:t>
            </a:r>
            <a:r>
              <a:rPr dirty="0" sz="2800">
                <a:solidFill>
                  <a:srgbClr val="4E3629"/>
                </a:solidFill>
                <a:latin typeface="Calibri"/>
                <a:cs typeface="Calibri"/>
              </a:rPr>
              <a:t>NVL2</a:t>
            </a:r>
            <a:r>
              <a:rPr dirty="0" sz="2800" spc="-45">
                <a:solidFill>
                  <a:srgbClr val="4E3629"/>
                </a:solidFill>
                <a:latin typeface="Calibri"/>
                <a:cs typeface="Calibri"/>
              </a:rPr>
              <a:t> </a:t>
            </a:r>
            <a:r>
              <a:rPr dirty="0" sz="2800" spc="-10">
                <a:solidFill>
                  <a:srgbClr val="4E3629"/>
                </a:solidFill>
                <a:latin typeface="Calibri"/>
                <a:cs typeface="Calibri"/>
              </a:rPr>
              <a:t>mostrada</a:t>
            </a:r>
            <a:r>
              <a:rPr dirty="0" sz="2800" spc="-40">
                <a:solidFill>
                  <a:srgbClr val="4E3629"/>
                </a:solidFill>
                <a:latin typeface="Calibri"/>
                <a:cs typeface="Calibri"/>
              </a:rPr>
              <a:t> </a:t>
            </a:r>
            <a:r>
              <a:rPr dirty="0" sz="2800">
                <a:solidFill>
                  <a:srgbClr val="4E3629"/>
                </a:solidFill>
                <a:latin typeface="Calibri"/>
                <a:cs typeface="Calibri"/>
              </a:rPr>
              <a:t>utiliza</a:t>
            </a:r>
            <a:r>
              <a:rPr dirty="0" sz="2800" spc="-60">
                <a:solidFill>
                  <a:srgbClr val="4E3629"/>
                </a:solidFill>
                <a:latin typeface="Calibri"/>
                <a:cs typeface="Calibri"/>
              </a:rPr>
              <a:t> </a:t>
            </a:r>
            <a:r>
              <a:rPr dirty="0" sz="2800">
                <a:solidFill>
                  <a:srgbClr val="4E3629"/>
                </a:solidFill>
                <a:latin typeface="Calibri"/>
                <a:cs typeface="Calibri"/>
              </a:rPr>
              <a:t>tipos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0">
                <a:solidFill>
                  <a:srgbClr val="4E3629"/>
                </a:solidFill>
                <a:latin typeface="Calibri"/>
                <a:cs typeface="Calibri"/>
              </a:rPr>
              <a:t>dato </a:t>
            </a:r>
            <a:r>
              <a:rPr dirty="0" sz="2800" spc="-20">
                <a:solidFill>
                  <a:srgbClr val="4E3629"/>
                </a:solidFill>
                <a:latin typeface="Calibri"/>
                <a:cs typeface="Calibri"/>
              </a:rPr>
              <a:t>	</a:t>
            </a:r>
            <a:r>
              <a:rPr dirty="0" sz="2800">
                <a:solidFill>
                  <a:srgbClr val="4E3629"/>
                </a:solidFill>
                <a:latin typeface="Calibri"/>
                <a:cs typeface="Calibri"/>
              </a:rPr>
              <a:t>numéricos</a:t>
            </a:r>
            <a:r>
              <a:rPr dirty="0" sz="2800" spc="-30">
                <a:solidFill>
                  <a:srgbClr val="4E3629"/>
                </a:solidFill>
                <a:latin typeface="Calibri"/>
                <a:cs typeface="Calibri"/>
              </a:rPr>
              <a:t> </a:t>
            </a:r>
            <a:r>
              <a:rPr dirty="0" sz="2800">
                <a:solidFill>
                  <a:srgbClr val="4E3629"/>
                </a:solidFill>
                <a:latin typeface="Calibri"/>
                <a:cs typeface="Calibri"/>
              </a:rPr>
              <a:t>para</a:t>
            </a:r>
            <a:r>
              <a:rPr dirty="0" sz="2800" spc="-55">
                <a:solidFill>
                  <a:srgbClr val="4E3629"/>
                </a:solidFill>
                <a:latin typeface="Calibri"/>
                <a:cs typeface="Calibri"/>
              </a:rPr>
              <a:t> </a:t>
            </a:r>
            <a:r>
              <a:rPr dirty="0" sz="2800">
                <a:solidFill>
                  <a:srgbClr val="4E3629"/>
                </a:solidFill>
                <a:latin typeface="Calibri"/>
                <a:cs typeface="Calibri"/>
              </a:rPr>
              <a:t>las</a:t>
            </a:r>
            <a:r>
              <a:rPr dirty="0" sz="2800" spc="-50">
                <a:solidFill>
                  <a:srgbClr val="4E3629"/>
                </a:solidFill>
                <a:latin typeface="Calibri"/>
                <a:cs typeface="Calibri"/>
              </a:rPr>
              <a:t> </a:t>
            </a:r>
            <a:r>
              <a:rPr dirty="0" sz="2800" spc="-10">
                <a:solidFill>
                  <a:srgbClr val="4E3629"/>
                </a:solidFill>
                <a:latin typeface="Calibri"/>
                <a:cs typeface="Calibri"/>
              </a:rPr>
              <a:t>expresiones</a:t>
            </a:r>
            <a:r>
              <a:rPr dirty="0" sz="2800" spc="-25">
                <a:solidFill>
                  <a:srgbClr val="4E3629"/>
                </a:solidFill>
                <a:latin typeface="Calibri"/>
                <a:cs typeface="Calibri"/>
              </a:rPr>
              <a:t> </a:t>
            </a:r>
            <a:r>
              <a:rPr dirty="0" sz="2800">
                <a:solidFill>
                  <a:srgbClr val="4E3629"/>
                </a:solidFill>
                <a:latin typeface="Calibri"/>
                <a:cs typeface="Calibri"/>
              </a:rPr>
              <a:t>1,</a:t>
            </a:r>
            <a:r>
              <a:rPr dirty="0" sz="2800" spc="-50">
                <a:solidFill>
                  <a:srgbClr val="4E3629"/>
                </a:solidFill>
                <a:latin typeface="Calibri"/>
                <a:cs typeface="Calibri"/>
              </a:rPr>
              <a:t> </a:t>
            </a:r>
            <a:r>
              <a:rPr dirty="0" sz="2800">
                <a:solidFill>
                  <a:srgbClr val="4E3629"/>
                </a:solidFill>
                <a:latin typeface="Calibri"/>
                <a:cs typeface="Calibri"/>
              </a:rPr>
              <a:t>2</a:t>
            </a:r>
            <a:r>
              <a:rPr dirty="0" sz="2800" spc="-50">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spc="-50">
                <a:solidFill>
                  <a:srgbClr val="4E3629"/>
                </a:solidFill>
                <a:latin typeface="Calibri"/>
                <a:cs typeface="Calibri"/>
              </a:rPr>
              <a:t>3</a:t>
            </a:r>
            <a:endParaRPr sz="2800">
              <a:latin typeface="Calibri"/>
              <a:cs typeface="Calibri"/>
            </a:endParaRPr>
          </a:p>
        </p:txBody>
      </p:sp>
      <p:sp>
        <p:nvSpPr>
          <p:cNvPr id="4" name="object 4"/>
          <p:cNvSpPr txBox="1"/>
          <p:nvPr/>
        </p:nvSpPr>
        <p:spPr>
          <a:xfrm>
            <a:off x="405384" y="2266188"/>
            <a:ext cx="8345805" cy="1666239"/>
          </a:xfrm>
          <a:prstGeom prst="rect">
            <a:avLst/>
          </a:prstGeom>
          <a:solidFill>
            <a:srgbClr val="9DBEC4">
              <a:alpha val="50199"/>
            </a:srgbClr>
          </a:solidFill>
        </p:spPr>
        <p:txBody>
          <a:bodyPr wrap="square" lIns="0" tIns="0" rIns="0" bIns="0" rtlCol="0" vert="horz">
            <a:spAutoFit/>
          </a:bodyPr>
          <a:lstStyle/>
          <a:p>
            <a:pPr>
              <a:lnSpc>
                <a:spcPts val="2025"/>
              </a:lnSpc>
            </a:pPr>
            <a:r>
              <a:rPr dirty="0" sz="1800" b="1">
                <a:solidFill>
                  <a:srgbClr val="4E3629"/>
                </a:solidFill>
                <a:latin typeface="Courier New"/>
                <a:cs typeface="Courier New"/>
              </a:rPr>
              <a:t>SELECT</a:t>
            </a:r>
            <a:r>
              <a:rPr dirty="0" sz="1800" spc="-85" b="1">
                <a:solidFill>
                  <a:srgbClr val="4E3629"/>
                </a:solidFill>
                <a:latin typeface="Courier New"/>
                <a:cs typeface="Courier New"/>
              </a:rPr>
              <a:t> </a:t>
            </a:r>
            <a:r>
              <a:rPr dirty="0" sz="1800" b="1">
                <a:solidFill>
                  <a:srgbClr val="4E3629"/>
                </a:solidFill>
                <a:latin typeface="Courier New"/>
                <a:cs typeface="Courier New"/>
              </a:rPr>
              <a:t>last_name,</a:t>
            </a:r>
            <a:r>
              <a:rPr dirty="0" sz="1800" spc="-75" b="1">
                <a:solidFill>
                  <a:srgbClr val="4E3629"/>
                </a:solidFill>
                <a:latin typeface="Courier New"/>
                <a:cs typeface="Courier New"/>
              </a:rPr>
              <a:t> </a:t>
            </a:r>
            <a:r>
              <a:rPr dirty="0" sz="1800" spc="-10" b="1">
                <a:solidFill>
                  <a:srgbClr val="4E3629"/>
                </a:solidFill>
                <a:latin typeface="Courier New"/>
                <a:cs typeface="Courier New"/>
              </a:rPr>
              <a:t>salary,</a:t>
            </a:r>
            <a:endParaRPr sz="1800">
              <a:latin typeface="Courier New"/>
              <a:cs typeface="Courier New"/>
            </a:endParaRPr>
          </a:p>
          <a:p>
            <a:pPr marR="421005" indent="274320">
              <a:lnSpc>
                <a:spcPct val="100000"/>
              </a:lnSpc>
            </a:pPr>
            <a:r>
              <a:rPr dirty="0" sz="1800" b="1">
                <a:solidFill>
                  <a:srgbClr val="4E3629"/>
                </a:solidFill>
                <a:latin typeface="Courier New"/>
                <a:cs typeface="Courier New"/>
              </a:rPr>
              <a:t>NVL2(commission_pct,</a:t>
            </a:r>
            <a:r>
              <a:rPr dirty="0" sz="1800" spc="-85" b="1">
                <a:solidFill>
                  <a:srgbClr val="4E3629"/>
                </a:solidFill>
                <a:latin typeface="Courier New"/>
                <a:cs typeface="Courier New"/>
              </a:rPr>
              <a:t> </a:t>
            </a:r>
            <a:r>
              <a:rPr dirty="0" sz="1800" b="1">
                <a:solidFill>
                  <a:srgbClr val="4E3629"/>
                </a:solidFill>
                <a:latin typeface="Courier New"/>
                <a:cs typeface="Courier New"/>
              </a:rPr>
              <a:t>salary</a:t>
            </a:r>
            <a:r>
              <a:rPr dirty="0" sz="1800" spc="-70" b="1">
                <a:solidFill>
                  <a:srgbClr val="4E3629"/>
                </a:solidFill>
                <a:latin typeface="Courier New"/>
                <a:cs typeface="Courier New"/>
              </a:rPr>
              <a:t> </a:t>
            </a:r>
            <a:r>
              <a:rPr dirty="0" sz="1800" b="1">
                <a:solidFill>
                  <a:srgbClr val="4E3629"/>
                </a:solidFill>
                <a:latin typeface="Courier New"/>
                <a:cs typeface="Courier New"/>
              </a:rPr>
              <a:t>+</a:t>
            </a:r>
            <a:r>
              <a:rPr dirty="0" sz="1800" spc="-75" b="1">
                <a:solidFill>
                  <a:srgbClr val="4E3629"/>
                </a:solidFill>
                <a:latin typeface="Courier New"/>
                <a:cs typeface="Courier New"/>
              </a:rPr>
              <a:t> </a:t>
            </a:r>
            <a:r>
              <a:rPr dirty="0" sz="1800" b="1">
                <a:solidFill>
                  <a:srgbClr val="4E3629"/>
                </a:solidFill>
                <a:latin typeface="Courier New"/>
                <a:cs typeface="Courier New"/>
              </a:rPr>
              <a:t>(salary</a:t>
            </a:r>
            <a:r>
              <a:rPr dirty="0" sz="1800" spc="-60" b="1">
                <a:solidFill>
                  <a:srgbClr val="4E3629"/>
                </a:solidFill>
                <a:latin typeface="Courier New"/>
                <a:cs typeface="Courier New"/>
              </a:rPr>
              <a:t> </a:t>
            </a:r>
            <a:r>
              <a:rPr dirty="0" sz="1800" b="1">
                <a:solidFill>
                  <a:srgbClr val="4E3629"/>
                </a:solidFill>
                <a:latin typeface="Courier New"/>
                <a:cs typeface="Courier New"/>
              </a:rPr>
              <a:t>*</a:t>
            </a:r>
            <a:r>
              <a:rPr dirty="0" sz="1800" spc="-70" b="1">
                <a:solidFill>
                  <a:srgbClr val="4E3629"/>
                </a:solidFill>
                <a:latin typeface="Courier New"/>
                <a:cs typeface="Courier New"/>
              </a:rPr>
              <a:t> </a:t>
            </a:r>
            <a:r>
              <a:rPr dirty="0" sz="1800" spc="-10" b="1">
                <a:solidFill>
                  <a:srgbClr val="4E3629"/>
                </a:solidFill>
                <a:latin typeface="Courier New"/>
                <a:cs typeface="Courier New"/>
              </a:rPr>
              <a:t>commission_pct), salary)</a:t>
            </a:r>
            <a:endParaRPr sz="1800">
              <a:latin typeface="Courier New"/>
              <a:cs typeface="Courier New"/>
            </a:endParaRPr>
          </a:p>
          <a:p>
            <a:pPr marR="6425565" indent="274320">
              <a:lnSpc>
                <a:spcPct val="100000"/>
              </a:lnSpc>
            </a:pPr>
            <a:r>
              <a:rPr dirty="0" sz="1800" b="1">
                <a:solidFill>
                  <a:srgbClr val="4E3629"/>
                </a:solidFill>
                <a:latin typeface="Courier New"/>
                <a:cs typeface="Courier New"/>
              </a:rPr>
              <a:t>AS</a:t>
            </a:r>
            <a:r>
              <a:rPr dirty="0" sz="1800" spc="-30" b="1">
                <a:solidFill>
                  <a:srgbClr val="4E3629"/>
                </a:solidFill>
                <a:latin typeface="Courier New"/>
                <a:cs typeface="Courier New"/>
              </a:rPr>
              <a:t> </a:t>
            </a:r>
            <a:r>
              <a:rPr dirty="0" sz="1800" spc="-10" b="1">
                <a:solidFill>
                  <a:srgbClr val="4E3629"/>
                </a:solidFill>
                <a:latin typeface="Courier New"/>
                <a:cs typeface="Courier New"/>
              </a:rPr>
              <a:t>income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95" b="1">
                <a:solidFill>
                  <a:srgbClr val="4E3629"/>
                </a:solidFill>
                <a:latin typeface="Courier New"/>
                <a:cs typeface="Courier New"/>
              </a:rPr>
              <a:t> </a:t>
            </a:r>
            <a:r>
              <a:rPr dirty="0" sz="1800" b="1">
                <a:solidFill>
                  <a:srgbClr val="4E3629"/>
                </a:solidFill>
                <a:latin typeface="Courier New"/>
                <a:cs typeface="Courier New"/>
              </a:rPr>
              <a:t>department_id</a:t>
            </a:r>
            <a:r>
              <a:rPr dirty="0" sz="1800" spc="-85" b="1">
                <a:solidFill>
                  <a:srgbClr val="4E3629"/>
                </a:solidFill>
                <a:latin typeface="Courier New"/>
                <a:cs typeface="Courier New"/>
              </a:rPr>
              <a:t> </a:t>
            </a:r>
            <a:r>
              <a:rPr dirty="0" sz="1800" spc="-10" b="1">
                <a:solidFill>
                  <a:srgbClr val="4E3629"/>
                </a:solidFill>
                <a:latin typeface="Courier New"/>
                <a:cs typeface="Courier New"/>
              </a:rPr>
              <a:t>IN(80,90);</a:t>
            </a:r>
            <a:endParaRPr sz="1800">
              <a:latin typeface="Courier New"/>
              <a:cs typeface="Courier New"/>
            </a:endParaRPr>
          </a:p>
        </p:txBody>
      </p:sp>
      <p:graphicFrame>
        <p:nvGraphicFramePr>
          <p:cNvPr id="5" name="object 5"/>
          <p:cNvGraphicFramePr>
            <a:graphicFrameLocks noGrp="1"/>
          </p:cNvGraphicFramePr>
          <p:nvPr/>
        </p:nvGraphicFramePr>
        <p:xfrm>
          <a:off x="4893047" y="4106771"/>
          <a:ext cx="3928745" cy="2378074"/>
        </p:xfrm>
        <a:graphic>
          <a:graphicData uri="http://schemas.openxmlformats.org/drawingml/2006/table">
            <a:tbl>
              <a:tblPr firstRow="1" bandRow="1">
                <a:tableStyleId>{2D5ABB26-0587-4C30-8999-92F81FD0307C}</a:tableStyleId>
              </a:tblPr>
              <a:tblGrid>
                <a:gridCol w="1280160"/>
                <a:gridCol w="1280160"/>
                <a:gridCol w="1280159"/>
              </a:tblGrid>
              <a:tr h="399415">
                <a:tc>
                  <a:txBody>
                    <a:bodyPr/>
                    <a:lstStyle/>
                    <a:p>
                      <a:pPr marL="71755">
                        <a:lnSpc>
                          <a:spcPct val="100000"/>
                        </a:lnSpc>
                        <a:spcBef>
                          <a:spcPts val="509"/>
                        </a:spcBef>
                      </a:pPr>
                      <a:r>
                        <a:rPr dirty="0" sz="1600" spc="-10" b="1">
                          <a:solidFill>
                            <a:srgbClr val="4E3629"/>
                          </a:solidFill>
                          <a:latin typeface="Calibri"/>
                          <a:cs typeface="Calibri"/>
                        </a:rPr>
                        <a:t>LAST_NAME</a:t>
                      </a:r>
                      <a:endParaRPr sz="1600">
                        <a:latin typeface="Calibri"/>
                        <a:cs typeface="Calibri"/>
                      </a:endParaRPr>
                    </a:p>
                  </a:txBody>
                  <a:tcPr marL="0" marR="0" marB="0" marT="647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509"/>
                        </a:spcBef>
                      </a:pPr>
                      <a:r>
                        <a:rPr dirty="0" sz="1600" spc="-10" b="1">
                          <a:solidFill>
                            <a:srgbClr val="4E3629"/>
                          </a:solidFill>
                          <a:latin typeface="Calibri"/>
                          <a:cs typeface="Calibri"/>
                        </a:rPr>
                        <a:t>SALARY</a:t>
                      </a:r>
                      <a:endParaRPr sz="1600">
                        <a:latin typeface="Calibri"/>
                        <a:cs typeface="Calibri"/>
                      </a:endParaRPr>
                    </a:p>
                  </a:txBody>
                  <a:tcPr marL="0" marR="0" marB="0" marT="647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509"/>
                        </a:spcBef>
                      </a:pPr>
                      <a:r>
                        <a:rPr dirty="0" sz="1600" spc="-10" b="1">
                          <a:solidFill>
                            <a:srgbClr val="4E3629"/>
                          </a:solidFill>
                          <a:latin typeface="Calibri"/>
                          <a:cs typeface="Calibri"/>
                        </a:rPr>
                        <a:t>INCOME</a:t>
                      </a:r>
                      <a:endParaRPr sz="1600">
                        <a:latin typeface="Calibri"/>
                        <a:cs typeface="Calibri"/>
                      </a:endParaRPr>
                    </a:p>
                  </a:txBody>
                  <a:tcPr marL="0" marR="0" marB="0" marT="647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46710">
                <a:tc>
                  <a:txBody>
                    <a:bodyPr/>
                    <a:lstStyle/>
                    <a:p>
                      <a:pPr marL="71755">
                        <a:lnSpc>
                          <a:spcPct val="100000"/>
                        </a:lnSpc>
                        <a:spcBef>
                          <a:spcPts val="305"/>
                        </a:spcBef>
                      </a:pPr>
                      <a:r>
                        <a:rPr dirty="0" sz="1600" spc="-10">
                          <a:solidFill>
                            <a:srgbClr val="4E3629"/>
                          </a:solidFill>
                          <a:latin typeface="Calibri"/>
                          <a:cs typeface="Calibri"/>
                        </a:rPr>
                        <a:t>Zlotkey</a:t>
                      </a:r>
                      <a:endParaRPr sz="1600">
                        <a:latin typeface="Calibri"/>
                        <a:cs typeface="Calibri"/>
                      </a:endParaRPr>
                    </a:p>
                  </a:txBody>
                  <a:tcPr marL="0" marR="0" marB="0" marT="3873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5"/>
                        </a:spcBef>
                      </a:pPr>
                      <a:r>
                        <a:rPr dirty="0" sz="1600" spc="-10">
                          <a:solidFill>
                            <a:srgbClr val="4E3629"/>
                          </a:solidFill>
                          <a:latin typeface="Calibri"/>
                          <a:cs typeface="Calibri"/>
                        </a:rPr>
                        <a:t>10500</a:t>
                      </a:r>
                      <a:endParaRPr sz="1600">
                        <a:latin typeface="Calibri"/>
                        <a:cs typeface="Calibri"/>
                      </a:endParaRPr>
                    </a:p>
                  </a:txBody>
                  <a:tcPr marL="0" marR="0" marB="0" marT="3873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5"/>
                        </a:spcBef>
                      </a:pPr>
                      <a:r>
                        <a:rPr dirty="0" sz="1600" spc="-10">
                          <a:solidFill>
                            <a:srgbClr val="4E3629"/>
                          </a:solidFill>
                          <a:latin typeface="Calibri"/>
                          <a:cs typeface="Calibri"/>
                        </a:rPr>
                        <a:t>12600</a:t>
                      </a:r>
                      <a:endParaRPr sz="1600">
                        <a:latin typeface="Calibri"/>
                        <a:cs typeface="Calibri"/>
                      </a:endParaRPr>
                    </a:p>
                  </a:txBody>
                  <a:tcPr marL="0" marR="0" marB="0" marT="3873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37185">
                <a:tc>
                  <a:txBody>
                    <a:bodyPr/>
                    <a:lstStyle/>
                    <a:p>
                      <a:pPr marL="72390">
                        <a:lnSpc>
                          <a:spcPct val="100000"/>
                        </a:lnSpc>
                        <a:spcBef>
                          <a:spcPts val="265"/>
                        </a:spcBef>
                      </a:pPr>
                      <a:r>
                        <a:rPr dirty="0" sz="1600" spc="-20">
                          <a:solidFill>
                            <a:srgbClr val="4E3629"/>
                          </a:solidFill>
                          <a:latin typeface="Calibri"/>
                          <a:cs typeface="Calibri"/>
                        </a:rPr>
                        <a:t>Abel</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65"/>
                        </a:spcBef>
                      </a:pPr>
                      <a:r>
                        <a:rPr dirty="0" sz="1600" spc="-10">
                          <a:solidFill>
                            <a:srgbClr val="4E3629"/>
                          </a:solidFill>
                          <a:latin typeface="Calibri"/>
                          <a:cs typeface="Calibri"/>
                        </a:rPr>
                        <a:t>11000</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65"/>
                        </a:spcBef>
                      </a:pPr>
                      <a:r>
                        <a:rPr dirty="0" sz="1600" spc="-10">
                          <a:solidFill>
                            <a:srgbClr val="4E3629"/>
                          </a:solidFill>
                          <a:latin typeface="Calibri"/>
                          <a:cs typeface="Calibri"/>
                        </a:rPr>
                        <a:t>14300</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7185">
                <a:tc>
                  <a:txBody>
                    <a:bodyPr/>
                    <a:lstStyle/>
                    <a:p>
                      <a:pPr marL="72390">
                        <a:lnSpc>
                          <a:spcPct val="100000"/>
                        </a:lnSpc>
                        <a:spcBef>
                          <a:spcPts val="265"/>
                        </a:spcBef>
                      </a:pPr>
                      <a:r>
                        <a:rPr dirty="0" sz="1600" spc="-10">
                          <a:solidFill>
                            <a:srgbClr val="4E3629"/>
                          </a:solidFill>
                          <a:latin typeface="Calibri"/>
                          <a:cs typeface="Calibri"/>
                        </a:rPr>
                        <a:t>Taylor</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65"/>
                        </a:spcBef>
                      </a:pPr>
                      <a:r>
                        <a:rPr dirty="0" sz="1600" spc="-20">
                          <a:solidFill>
                            <a:srgbClr val="4E3629"/>
                          </a:solidFill>
                          <a:latin typeface="Calibri"/>
                          <a:cs typeface="Calibri"/>
                        </a:rPr>
                        <a:t>8600</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65"/>
                        </a:spcBef>
                      </a:pPr>
                      <a:r>
                        <a:rPr dirty="0" sz="1600" spc="-10">
                          <a:solidFill>
                            <a:srgbClr val="4E3629"/>
                          </a:solidFill>
                          <a:latin typeface="Calibri"/>
                          <a:cs typeface="Calibri"/>
                        </a:rPr>
                        <a:t>10320</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26390">
                <a:tc>
                  <a:txBody>
                    <a:bodyPr/>
                    <a:lstStyle/>
                    <a:p>
                      <a:pPr marL="72390">
                        <a:lnSpc>
                          <a:spcPct val="100000"/>
                        </a:lnSpc>
                        <a:spcBef>
                          <a:spcPts val="225"/>
                        </a:spcBef>
                      </a:pPr>
                      <a:r>
                        <a:rPr dirty="0" sz="1600" spc="-20">
                          <a:solidFill>
                            <a:srgbClr val="4E3629"/>
                          </a:solidFill>
                          <a:latin typeface="Calibri"/>
                          <a:cs typeface="Calibri"/>
                        </a:rPr>
                        <a:t>King</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25"/>
                        </a:spcBef>
                      </a:pPr>
                      <a:r>
                        <a:rPr dirty="0" sz="1600" spc="-10">
                          <a:solidFill>
                            <a:srgbClr val="4E3629"/>
                          </a:solidFill>
                          <a:latin typeface="Calibri"/>
                          <a:cs typeface="Calibri"/>
                        </a:rPr>
                        <a:t>24000</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25"/>
                        </a:spcBef>
                      </a:pPr>
                      <a:r>
                        <a:rPr dirty="0" sz="1600" spc="-10">
                          <a:solidFill>
                            <a:srgbClr val="4E3629"/>
                          </a:solidFill>
                          <a:latin typeface="Calibri"/>
                          <a:cs typeface="Calibri"/>
                        </a:rPr>
                        <a:t>24000</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26390">
                <a:tc>
                  <a:txBody>
                    <a:bodyPr/>
                    <a:lstStyle/>
                    <a:p>
                      <a:pPr marL="72390">
                        <a:lnSpc>
                          <a:spcPct val="100000"/>
                        </a:lnSpc>
                        <a:spcBef>
                          <a:spcPts val="225"/>
                        </a:spcBef>
                      </a:pPr>
                      <a:r>
                        <a:rPr dirty="0" sz="1600" spc="-10">
                          <a:solidFill>
                            <a:srgbClr val="4E3629"/>
                          </a:solidFill>
                          <a:latin typeface="Calibri"/>
                          <a:cs typeface="Calibri"/>
                        </a:rPr>
                        <a:t>Kochhar</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ct val="100000"/>
                        </a:lnSpc>
                        <a:spcBef>
                          <a:spcPts val="225"/>
                        </a:spcBef>
                      </a:pPr>
                      <a:r>
                        <a:rPr dirty="0" sz="1600" spc="-10">
                          <a:solidFill>
                            <a:srgbClr val="4E3629"/>
                          </a:solidFill>
                          <a:latin typeface="Calibri"/>
                          <a:cs typeface="Calibri"/>
                        </a:rPr>
                        <a:t>17000</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ct val="100000"/>
                        </a:lnSpc>
                        <a:spcBef>
                          <a:spcPts val="225"/>
                        </a:spcBef>
                      </a:pPr>
                      <a:r>
                        <a:rPr dirty="0" sz="1600" spc="-10">
                          <a:solidFill>
                            <a:srgbClr val="4E3629"/>
                          </a:solidFill>
                          <a:latin typeface="Calibri"/>
                          <a:cs typeface="Calibri"/>
                        </a:rPr>
                        <a:t>17000</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04800">
                <a:tc>
                  <a:txBody>
                    <a:bodyPr/>
                    <a:lstStyle/>
                    <a:p>
                      <a:pPr marL="73025">
                        <a:lnSpc>
                          <a:spcPct val="100000"/>
                        </a:lnSpc>
                        <a:spcBef>
                          <a:spcPts val="135"/>
                        </a:spcBef>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171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ct val="100000"/>
                        </a:lnSpc>
                        <a:spcBef>
                          <a:spcPts val="135"/>
                        </a:spcBef>
                      </a:pPr>
                      <a:r>
                        <a:rPr dirty="0" sz="1600" spc="-10">
                          <a:solidFill>
                            <a:srgbClr val="4E3629"/>
                          </a:solidFill>
                          <a:latin typeface="Calibri"/>
                          <a:cs typeface="Calibri"/>
                        </a:rPr>
                        <a:t>17000</a:t>
                      </a:r>
                      <a:endParaRPr sz="1600">
                        <a:latin typeface="Calibri"/>
                        <a:cs typeface="Calibri"/>
                      </a:endParaRPr>
                    </a:p>
                  </a:txBody>
                  <a:tcPr marL="0" marR="0" marB="0" marT="171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ct val="100000"/>
                        </a:lnSpc>
                        <a:spcBef>
                          <a:spcPts val="135"/>
                        </a:spcBef>
                      </a:pPr>
                      <a:r>
                        <a:rPr dirty="0" sz="1600" spc="-10">
                          <a:solidFill>
                            <a:srgbClr val="4E3629"/>
                          </a:solidFill>
                          <a:latin typeface="Calibri"/>
                          <a:cs typeface="Calibri"/>
                        </a:rPr>
                        <a:t>17000</a:t>
                      </a:r>
                      <a:endParaRPr sz="1600">
                        <a:latin typeface="Calibri"/>
                        <a:cs typeface="Calibri"/>
                      </a:endParaRPr>
                    </a:p>
                  </a:txBody>
                  <a:tcPr marL="0" marR="0" marB="0" marT="171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Función</a:t>
            </a:r>
            <a:r>
              <a:rPr dirty="0" spc="-95"/>
              <a:t> </a:t>
            </a:r>
            <a:r>
              <a:rPr dirty="0" spc="-10"/>
              <a:t>NULLIF</a:t>
            </a:r>
          </a:p>
        </p:txBody>
      </p:sp>
      <p:sp>
        <p:nvSpPr>
          <p:cNvPr id="5" name="object 5"/>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6" name="object 6"/>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18</a:t>
            </a: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355371"/>
            <a:ext cx="7094855" cy="2352675"/>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función</a:t>
            </a:r>
            <a:r>
              <a:rPr dirty="0" sz="2800" spc="-45">
                <a:solidFill>
                  <a:srgbClr val="4E3629"/>
                </a:solidFill>
                <a:latin typeface="Calibri"/>
                <a:cs typeface="Calibri"/>
              </a:rPr>
              <a:t> </a:t>
            </a:r>
            <a:r>
              <a:rPr dirty="0" sz="2800">
                <a:solidFill>
                  <a:srgbClr val="4E3629"/>
                </a:solidFill>
                <a:latin typeface="Calibri"/>
                <a:cs typeface="Calibri"/>
              </a:rPr>
              <a:t>NULLIF</a:t>
            </a:r>
            <a:r>
              <a:rPr dirty="0" sz="2800" spc="-60">
                <a:solidFill>
                  <a:srgbClr val="4E3629"/>
                </a:solidFill>
                <a:latin typeface="Calibri"/>
                <a:cs typeface="Calibri"/>
              </a:rPr>
              <a:t> </a:t>
            </a:r>
            <a:r>
              <a:rPr dirty="0" sz="2800">
                <a:solidFill>
                  <a:srgbClr val="4E3629"/>
                </a:solidFill>
                <a:latin typeface="Calibri"/>
                <a:cs typeface="Calibri"/>
              </a:rPr>
              <a:t>compara</a:t>
            </a:r>
            <a:r>
              <a:rPr dirty="0" sz="2800" spc="-60">
                <a:solidFill>
                  <a:srgbClr val="4E3629"/>
                </a:solidFill>
                <a:latin typeface="Calibri"/>
                <a:cs typeface="Calibri"/>
              </a:rPr>
              <a:t> </a:t>
            </a:r>
            <a:r>
              <a:rPr dirty="0" sz="2800">
                <a:solidFill>
                  <a:srgbClr val="4E3629"/>
                </a:solidFill>
                <a:latin typeface="Calibri"/>
                <a:cs typeface="Calibri"/>
              </a:rPr>
              <a:t>dos</a:t>
            </a:r>
            <a:r>
              <a:rPr dirty="0" sz="2800" spc="-60">
                <a:solidFill>
                  <a:srgbClr val="4E3629"/>
                </a:solidFill>
                <a:latin typeface="Calibri"/>
                <a:cs typeface="Calibri"/>
              </a:rPr>
              <a:t> </a:t>
            </a:r>
            <a:r>
              <a:rPr dirty="0" sz="2800" spc="-10">
                <a:solidFill>
                  <a:srgbClr val="4E3629"/>
                </a:solidFill>
                <a:latin typeface="Calibri"/>
                <a:cs typeface="Calibri"/>
              </a:rPr>
              <a:t>expresiones</a:t>
            </a:r>
            <a:endParaRPr sz="2800">
              <a:latin typeface="Calibri"/>
              <a:cs typeface="Calibri"/>
            </a:endParaRPr>
          </a:p>
          <a:p>
            <a:pPr marL="183515" indent="-170815">
              <a:lnSpc>
                <a:spcPct val="100000"/>
              </a:lnSpc>
              <a:spcBef>
                <a:spcPts val="470"/>
              </a:spcBef>
              <a:buClr>
                <a:srgbClr val="D1350F"/>
              </a:buClr>
              <a:buFont typeface="Arial MT"/>
              <a:buChar char="•"/>
              <a:tabLst>
                <a:tab pos="18351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son</a:t>
            </a:r>
            <a:r>
              <a:rPr dirty="0" sz="2800" spc="-45">
                <a:solidFill>
                  <a:srgbClr val="4E3629"/>
                </a:solidFill>
                <a:latin typeface="Calibri"/>
                <a:cs typeface="Calibri"/>
              </a:rPr>
              <a:t> </a:t>
            </a:r>
            <a:r>
              <a:rPr dirty="0" sz="2800">
                <a:solidFill>
                  <a:srgbClr val="4E3629"/>
                </a:solidFill>
                <a:latin typeface="Calibri"/>
                <a:cs typeface="Calibri"/>
              </a:rPr>
              <a:t>iguales,</a:t>
            </a:r>
            <a:r>
              <a:rPr dirty="0" sz="2800" spc="-4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función</a:t>
            </a:r>
            <a:r>
              <a:rPr dirty="0" sz="2800" spc="-35">
                <a:solidFill>
                  <a:srgbClr val="4E3629"/>
                </a:solidFill>
                <a:latin typeface="Calibri"/>
                <a:cs typeface="Calibri"/>
              </a:rPr>
              <a:t> </a:t>
            </a:r>
            <a:r>
              <a:rPr dirty="0" sz="2800">
                <a:solidFill>
                  <a:srgbClr val="4E3629"/>
                </a:solidFill>
                <a:latin typeface="Calibri"/>
                <a:cs typeface="Calibri"/>
              </a:rPr>
              <a:t>devuelve</a:t>
            </a:r>
            <a:r>
              <a:rPr dirty="0" sz="2800" spc="-45">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spc="-20">
                <a:solidFill>
                  <a:srgbClr val="4E3629"/>
                </a:solidFill>
                <a:latin typeface="Calibri"/>
                <a:cs typeface="Calibri"/>
              </a:rPr>
              <a:t>nulo</a:t>
            </a:r>
            <a:endParaRPr sz="2800">
              <a:latin typeface="Calibri"/>
              <a:cs typeface="Calibri"/>
            </a:endParaRPr>
          </a:p>
          <a:p>
            <a:pPr marL="182880" marR="508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Si</a:t>
            </a:r>
            <a:r>
              <a:rPr dirty="0" sz="2800" spc="-45">
                <a:solidFill>
                  <a:srgbClr val="4E3629"/>
                </a:solidFill>
                <a:latin typeface="Calibri"/>
                <a:cs typeface="Calibri"/>
              </a:rPr>
              <a:t> </a:t>
            </a:r>
            <a:r>
              <a:rPr dirty="0" sz="2800">
                <a:solidFill>
                  <a:srgbClr val="4E3629"/>
                </a:solidFill>
                <a:latin typeface="Calibri"/>
                <a:cs typeface="Calibri"/>
              </a:rPr>
              <a:t>no</a:t>
            </a:r>
            <a:r>
              <a:rPr dirty="0" sz="2800" spc="-50">
                <a:solidFill>
                  <a:srgbClr val="4E3629"/>
                </a:solidFill>
                <a:latin typeface="Calibri"/>
                <a:cs typeface="Calibri"/>
              </a:rPr>
              <a:t> </a:t>
            </a:r>
            <a:r>
              <a:rPr dirty="0" sz="2800">
                <a:solidFill>
                  <a:srgbClr val="4E3629"/>
                </a:solidFill>
                <a:latin typeface="Calibri"/>
                <a:cs typeface="Calibri"/>
              </a:rPr>
              <a:t>son</a:t>
            </a:r>
            <a:r>
              <a:rPr dirty="0" sz="2800" spc="-35">
                <a:solidFill>
                  <a:srgbClr val="4E3629"/>
                </a:solidFill>
                <a:latin typeface="Calibri"/>
                <a:cs typeface="Calibri"/>
              </a:rPr>
              <a:t> </a:t>
            </a:r>
            <a:r>
              <a:rPr dirty="0" sz="2800">
                <a:solidFill>
                  <a:srgbClr val="4E3629"/>
                </a:solidFill>
                <a:latin typeface="Calibri"/>
                <a:cs typeface="Calibri"/>
              </a:rPr>
              <a:t>iguales,</a:t>
            </a:r>
            <a:r>
              <a:rPr dirty="0" sz="2800" spc="-3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función</a:t>
            </a:r>
            <a:r>
              <a:rPr dirty="0" sz="2800" spc="-30">
                <a:solidFill>
                  <a:srgbClr val="4E3629"/>
                </a:solidFill>
                <a:latin typeface="Calibri"/>
                <a:cs typeface="Calibri"/>
              </a:rPr>
              <a:t> </a:t>
            </a:r>
            <a:r>
              <a:rPr dirty="0" sz="2800">
                <a:solidFill>
                  <a:srgbClr val="4E3629"/>
                </a:solidFill>
                <a:latin typeface="Calibri"/>
                <a:cs typeface="Calibri"/>
              </a:rPr>
              <a:t>devuelve</a:t>
            </a:r>
            <a:r>
              <a:rPr dirty="0" sz="2800" spc="-3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spc="-10">
                <a:solidFill>
                  <a:srgbClr val="4E3629"/>
                </a:solidFill>
                <a:latin typeface="Calibri"/>
                <a:cs typeface="Calibri"/>
              </a:rPr>
              <a:t>primera 	expresión</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Lst>
            </a:pP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función</a:t>
            </a:r>
            <a:r>
              <a:rPr dirty="0" sz="2800" spc="-20">
                <a:solidFill>
                  <a:srgbClr val="4E3629"/>
                </a:solidFill>
                <a:latin typeface="Calibri"/>
                <a:cs typeface="Calibri"/>
              </a:rPr>
              <a:t> </a:t>
            </a:r>
            <a:r>
              <a:rPr dirty="0" sz="2800">
                <a:solidFill>
                  <a:srgbClr val="4E3629"/>
                </a:solidFill>
                <a:latin typeface="Calibri"/>
                <a:cs typeface="Calibri"/>
              </a:rPr>
              <a:t>NULLIF</a:t>
            </a:r>
            <a:r>
              <a:rPr dirty="0" sz="2800" spc="-40">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p:cNvSpPr txBox="1"/>
          <p:nvPr/>
        </p:nvSpPr>
        <p:spPr>
          <a:xfrm>
            <a:off x="405384" y="3913632"/>
            <a:ext cx="8345805" cy="367665"/>
          </a:xfrm>
          <a:prstGeom prst="rect">
            <a:avLst/>
          </a:prstGeom>
          <a:solidFill>
            <a:srgbClr val="9DBEC4">
              <a:alpha val="50199"/>
            </a:srgbClr>
          </a:solidFill>
        </p:spPr>
        <p:txBody>
          <a:bodyPr wrap="square" lIns="0" tIns="18415" rIns="0" bIns="0" rtlCol="0" vert="horz">
            <a:spAutoFit/>
          </a:bodyPr>
          <a:lstStyle/>
          <a:p>
            <a:pPr>
              <a:lnSpc>
                <a:spcPct val="100000"/>
              </a:lnSpc>
              <a:spcBef>
                <a:spcPts val="145"/>
              </a:spcBef>
            </a:pPr>
            <a:r>
              <a:rPr dirty="0" sz="1800" b="1">
                <a:solidFill>
                  <a:srgbClr val="4E3629"/>
                </a:solidFill>
                <a:latin typeface="Courier New"/>
                <a:cs typeface="Courier New"/>
              </a:rPr>
              <a:t>NULLIF(expression</a:t>
            </a:r>
            <a:r>
              <a:rPr dirty="0" sz="1800" spc="-100" b="1">
                <a:solidFill>
                  <a:srgbClr val="4E3629"/>
                </a:solidFill>
                <a:latin typeface="Courier New"/>
                <a:cs typeface="Courier New"/>
              </a:rPr>
              <a:t> </a:t>
            </a:r>
            <a:r>
              <a:rPr dirty="0" sz="1800" b="1">
                <a:solidFill>
                  <a:srgbClr val="4E3629"/>
                </a:solidFill>
                <a:latin typeface="Courier New"/>
                <a:cs typeface="Courier New"/>
              </a:rPr>
              <a:t>1,</a:t>
            </a:r>
            <a:r>
              <a:rPr dirty="0" sz="1800" spc="-100" b="1">
                <a:solidFill>
                  <a:srgbClr val="4E3629"/>
                </a:solidFill>
                <a:latin typeface="Courier New"/>
                <a:cs typeface="Courier New"/>
              </a:rPr>
              <a:t> </a:t>
            </a:r>
            <a:r>
              <a:rPr dirty="0" sz="1800" b="1">
                <a:solidFill>
                  <a:srgbClr val="4E3629"/>
                </a:solidFill>
                <a:latin typeface="Courier New"/>
                <a:cs typeface="Courier New"/>
              </a:rPr>
              <a:t>expression</a:t>
            </a:r>
            <a:r>
              <a:rPr dirty="0" sz="1800" spc="-95" b="1">
                <a:solidFill>
                  <a:srgbClr val="4E3629"/>
                </a:solidFill>
                <a:latin typeface="Courier New"/>
                <a:cs typeface="Courier New"/>
              </a:rPr>
              <a:t> </a:t>
            </a:r>
            <a:r>
              <a:rPr dirty="0" sz="1800" spc="-25" b="1">
                <a:solidFill>
                  <a:srgbClr val="4E3629"/>
                </a:solidFill>
                <a:latin typeface="Courier New"/>
                <a:cs typeface="Courier New"/>
              </a:rPr>
              <a:t>2)</a:t>
            </a:r>
            <a:endParaRPr sz="1800">
              <a:latin typeface="Courier New"/>
              <a:cs typeface="Courier New"/>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Función</a:t>
            </a:r>
            <a:r>
              <a:rPr dirty="0" spc="-95"/>
              <a:t> </a:t>
            </a:r>
            <a:r>
              <a:rPr dirty="0" spc="-10"/>
              <a:t>NULLIF</a:t>
            </a:r>
          </a:p>
        </p:txBody>
      </p:sp>
      <p:sp>
        <p:nvSpPr>
          <p:cNvPr id="6" name="object 6"/>
          <p:cNvSpPr txBox="1"/>
          <p:nvPr/>
        </p:nvSpPr>
        <p:spPr>
          <a:xfrm>
            <a:off x="2874191" y="6516395"/>
            <a:ext cx="7264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Funciones</a:t>
            </a:r>
            <a:r>
              <a:rPr dirty="0" sz="850" spc="-45">
                <a:solidFill>
                  <a:srgbClr val="4E3629"/>
                </a:solidFill>
                <a:latin typeface="Calibri"/>
                <a:cs typeface="Calibri"/>
              </a:rPr>
              <a:t> </a:t>
            </a:r>
            <a:r>
              <a:rPr dirty="0" sz="850" spc="-20">
                <a:solidFill>
                  <a:srgbClr val="4E3629"/>
                </a:solidFill>
                <a:latin typeface="Calibri"/>
                <a:cs typeface="Calibri"/>
              </a:rPr>
              <a:t>NULL</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19</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8094345" cy="2474595"/>
          </a:xfrm>
          <a:prstGeom prst="rect">
            <a:avLst/>
          </a:prstGeom>
        </p:spPr>
        <p:txBody>
          <a:bodyPr wrap="square" lIns="0" tIns="59690" rIns="0" bIns="0" rtlCol="0" vert="horz">
            <a:spAutoFit/>
          </a:bodyPr>
          <a:lstStyle/>
          <a:p>
            <a:pPr marL="182880" marR="53975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este</a:t>
            </a:r>
            <a:r>
              <a:rPr dirty="0" sz="2800" spc="-80">
                <a:solidFill>
                  <a:srgbClr val="4E3629"/>
                </a:solidFill>
                <a:latin typeface="Calibri"/>
                <a:cs typeface="Calibri"/>
              </a:rPr>
              <a:t> </a:t>
            </a:r>
            <a:r>
              <a:rPr dirty="0" sz="2800">
                <a:solidFill>
                  <a:srgbClr val="4E3629"/>
                </a:solidFill>
                <a:latin typeface="Calibri"/>
                <a:cs typeface="Calibri"/>
              </a:rPr>
              <a:t>ejemplo,</a:t>
            </a:r>
            <a:r>
              <a:rPr dirty="0" sz="2800" spc="-65">
                <a:solidFill>
                  <a:srgbClr val="4E3629"/>
                </a:solidFill>
                <a:latin typeface="Calibri"/>
                <a:cs typeface="Calibri"/>
              </a:rPr>
              <a:t> </a:t>
            </a:r>
            <a:r>
              <a:rPr dirty="0" sz="2800">
                <a:solidFill>
                  <a:srgbClr val="4E3629"/>
                </a:solidFill>
                <a:latin typeface="Calibri"/>
                <a:cs typeface="Calibri"/>
              </a:rPr>
              <a:t>NULLIF</a:t>
            </a:r>
            <a:r>
              <a:rPr dirty="0" sz="2800" spc="-80">
                <a:solidFill>
                  <a:srgbClr val="4E3629"/>
                </a:solidFill>
                <a:latin typeface="Calibri"/>
                <a:cs typeface="Calibri"/>
              </a:rPr>
              <a:t> </a:t>
            </a:r>
            <a:r>
              <a:rPr dirty="0" sz="2800">
                <a:solidFill>
                  <a:srgbClr val="4E3629"/>
                </a:solidFill>
                <a:latin typeface="Calibri"/>
                <a:cs typeface="Calibri"/>
              </a:rPr>
              <a:t>compara</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longitud</a:t>
            </a:r>
            <a:r>
              <a:rPr dirty="0" sz="2800" spc="-50">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nombres</a:t>
            </a:r>
            <a:r>
              <a:rPr dirty="0" sz="2800" spc="-35">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apellidos</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spc="-10">
                <a:solidFill>
                  <a:srgbClr val="4E3629"/>
                </a:solidFill>
                <a:latin typeface="Calibri"/>
                <a:cs typeface="Calibri"/>
              </a:rPr>
              <a:t>empleados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Si</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longitud</a:t>
            </a:r>
            <a:r>
              <a:rPr dirty="0" sz="2800" spc="-2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ambos</a:t>
            </a:r>
            <a:r>
              <a:rPr dirty="0" sz="2800" spc="-25">
                <a:solidFill>
                  <a:srgbClr val="4E3629"/>
                </a:solidFill>
                <a:latin typeface="Calibri"/>
                <a:cs typeface="Calibri"/>
              </a:rPr>
              <a:t> </a:t>
            </a:r>
            <a:r>
              <a:rPr dirty="0" sz="2800" spc="-10">
                <a:solidFill>
                  <a:srgbClr val="4E3629"/>
                </a:solidFill>
                <a:latin typeface="Calibri"/>
                <a:cs typeface="Calibri"/>
              </a:rPr>
              <a:t>elementos</a:t>
            </a:r>
            <a:r>
              <a:rPr dirty="0" sz="2800" spc="-40">
                <a:solidFill>
                  <a:srgbClr val="4E3629"/>
                </a:solidFill>
                <a:latin typeface="Calibri"/>
                <a:cs typeface="Calibri"/>
              </a:rPr>
              <a:t> </a:t>
            </a:r>
            <a:r>
              <a:rPr dirty="0" sz="2800">
                <a:solidFill>
                  <a:srgbClr val="4E3629"/>
                </a:solidFill>
                <a:latin typeface="Calibri"/>
                <a:cs typeface="Calibri"/>
              </a:rPr>
              <a:t>es</a:t>
            </a:r>
            <a:r>
              <a:rPr dirty="0" sz="2800" spc="-45">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misma,</a:t>
            </a:r>
            <a:r>
              <a:rPr dirty="0" sz="2800" spc="-25">
                <a:solidFill>
                  <a:srgbClr val="4E3629"/>
                </a:solidFill>
                <a:latin typeface="Calibri"/>
                <a:cs typeface="Calibri"/>
              </a:rPr>
              <a:t> </a:t>
            </a:r>
            <a:r>
              <a:rPr dirty="0" sz="2800" spc="-10">
                <a:solidFill>
                  <a:srgbClr val="4E3629"/>
                </a:solidFill>
                <a:latin typeface="Calibri"/>
                <a:cs typeface="Calibri"/>
              </a:rPr>
              <a:t>NULLIF </a:t>
            </a:r>
            <a:r>
              <a:rPr dirty="0" sz="2800" spc="-10">
                <a:solidFill>
                  <a:srgbClr val="4E3629"/>
                </a:solidFill>
                <a:latin typeface="Calibri"/>
                <a:cs typeface="Calibri"/>
              </a:rPr>
              <a:t>	</a:t>
            </a:r>
            <a:r>
              <a:rPr dirty="0" sz="2800">
                <a:solidFill>
                  <a:srgbClr val="4E3629"/>
                </a:solidFill>
                <a:latin typeface="Calibri"/>
                <a:cs typeface="Calibri"/>
              </a:rPr>
              <a:t>devuelve</a:t>
            </a:r>
            <a:r>
              <a:rPr dirty="0" sz="2800" spc="-50">
                <a:solidFill>
                  <a:srgbClr val="4E3629"/>
                </a:solidFill>
                <a:latin typeface="Calibri"/>
                <a:cs typeface="Calibri"/>
              </a:rPr>
              <a:t> </a:t>
            </a:r>
            <a:r>
              <a:rPr dirty="0" sz="2800">
                <a:solidFill>
                  <a:srgbClr val="4E3629"/>
                </a:solidFill>
                <a:latin typeface="Calibri"/>
                <a:cs typeface="Calibri"/>
              </a:rPr>
              <a:t>NULL</a:t>
            </a:r>
            <a:r>
              <a:rPr dirty="0" sz="2800" spc="-45">
                <a:solidFill>
                  <a:srgbClr val="4E3629"/>
                </a:solidFill>
                <a:latin typeface="Calibri"/>
                <a:cs typeface="Calibri"/>
              </a:rPr>
              <a:t> </a:t>
            </a:r>
            <a:r>
              <a:rPr dirty="0" sz="2800">
                <a:solidFill>
                  <a:srgbClr val="4E3629"/>
                </a:solidFill>
                <a:latin typeface="Calibri"/>
                <a:cs typeface="Calibri"/>
              </a:rPr>
              <a:t>(como</a:t>
            </a:r>
            <a:r>
              <a:rPr dirty="0" sz="2800" spc="-6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fila</a:t>
            </a:r>
            <a:r>
              <a:rPr dirty="0" sz="2800" spc="-60">
                <a:solidFill>
                  <a:srgbClr val="4E3629"/>
                </a:solidFill>
                <a:latin typeface="Calibri"/>
                <a:cs typeface="Calibri"/>
              </a:rPr>
              <a:t> </a:t>
            </a:r>
            <a:r>
              <a:rPr dirty="0" sz="2800">
                <a:solidFill>
                  <a:srgbClr val="4E3629"/>
                </a:solidFill>
                <a:latin typeface="Calibri"/>
                <a:cs typeface="Calibri"/>
              </a:rPr>
              <a:t>2</a:t>
            </a:r>
            <a:r>
              <a:rPr dirty="0" sz="2800" spc="-50">
                <a:solidFill>
                  <a:srgbClr val="4E3629"/>
                </a:solidFill>
                <a:latin typeface="Calibri"/>
                <a:cs typeface="Calibri"/>
              </a:rPr>
              <a:t> </a:t>
            </a:r>
            <a:r>
              <a:rPr dirty="0" sz="2800">
                <a:solidFill>
                  <a:srgbClr val="4E3629"/>
                </a:solidFill>
                <a:latin typeface="Calibri"/>
                <a:cs typeface="Calibri"/>
              </a:rPr>
              <a:t>Curtis</a:t>
            </a:r>
            <a:r>
              <a:rPr dirty="0" sz="2800" spc="-40">
                <a:solidFill>
                  <a:srgbClr val="4E3629"/>
                </a:solidFill>
                <a:latin typeface="Calibri"/>
                <a:cs typeface="Calibri"/>
              </a:rPr>
              <a:t> </a:t>
            </a:r>
            <a:r>
              <a:rPr dirty="0" sz="2800">
                <a:solidFill>
                  <a:srgbClr val="4E3629"/>
                </a:solidFill>
                <a:latin typeface="Calibri"/>
                <a:cs typeface="Calibri"/>
              </a:rPr>
              <a:t>Davies);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25">
                <a:solidFill>
                  <a:srgbClr val="4E3629"/>
                </a:solidFill>
                <a:latin typeface="Calibri"/>
                <a:cs typeface="Calibri"/>
              </a:rPr>
              <a:t>lo </a:t>
            </a:r>
            <a:r>
              <a:rPr dirty="0" sz="2800" spc="-25">
                <a:solidFill>
                  <a:srgbClr val="4E3629"/>
                </a:solidFill>
                <a:latin typeface="Calibri"/>
                <a:cs typeface="Calibri"/>
              </a:rPr>
              <a:t>	</a:t>
            </a:r>
            <a:r>
              <a:rPr dirty="0" sz="2800" spc="-20">
                <a:solidFill>
                  <a:srgbClr val="4E3629"/>
                </a:solidFill>
                <a:latin typeface="Calibri"/>
                <a:cs typeface="Calibri"/>
              </a:rPr>
              <a:t>contrario,</a:t>
            </a:r>
            <a:r>
              <a:rPr dirty="0" sz="2800" spc="-35">
                <a:solidFill>
                  <a:srgbClr val="4E3629"/>
                </a:solidFill>
                <a:latin typeface="Calibri"/>
                <a:cs typeface="Calibri"/>
              </a:rPr>
              <a:t> </a:t>
            </a:r>
            <a:r>
              <a:rPr dirty="0" sz="2800">
                <a:solidFill>
                  <a:srgbClr val="4E3629"/>
                </a:solidFill>
                <a:latin typeface="Calibri"/>
                <a:cs typeface="Calibri"/>
              </a:rPr>
              <a:t>se</a:t>
            </a:r>
            <a:r>
              <a:rPr dirty="0" sz="2800" spc="-30">
                <a:solidFill>
                  <a:srgbClr val="4E3629"/>
                </a:solidFill>
                <a:latin typeface="Calibri"/>
                <a:cs typeface="Calibri"/>
              </a:rPr>
              <a:t> </a:t>
            </a:r>
            <a:r>
              <a:rPr dirty="0" sz="2800">
                <a:solidFill>
                  <a:srgbClr val="4E3629"/>
                </a:solidFill>
                <a:latin typeface="Calibri"/>
                <a:cs typeface="Calibri"/>
              </a:rPr>
              <a:t>devuelve</a:t>
            </a:r>
            <a:r>
              <a:rPr dirty="0" sz="2800" spc="-30">
                <a:solidFill>
                  <a:srgbClr val="4E3629"/>
                </a:solidFill>
                <a:latin typeface="Calibri"/>
                <a:cs typeface="Calibri"/>
              </a:rPr>
              <a:t> </a:t>
            </a:r>
            <a:r>
              <a:rPr dirty="0" sz="2800">
                <a:solidFill>
                  <a:srgbClr val="4E3629"/>
                </a:solidFill>
                <a:latin typeface="Calibri"/>
                <a:cs typeface="Calibri"/>
              </a:rPr>
              <a:t>el</a:t>
            </a:r>
            <a:r>
              <a:rPr dirty="0" sz="2800" spc="-5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LENGTH</a:t>
            </a:r>
            <a:r>
              <a:rPr dirty="0" sz="2800" spc="-3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expresión </a:t>
            </a:r>
            <a:r>
              <a:rPr dirty="0" sz="2800" spc="-10">
                <a:solidFill>
                  <a:srgbClr val="4E3629"/>
                </a:solidFill>
                <a:latin typeface="Calibri"/>
                <a:cs typeface="Calibri"/>
              </a:rPr>
              <a:t>	</a:t>
            </a:r>
            <a:r>
              <a:rPr dirty="0" sz="2800">
                <a:solidFill>
                  <a:srgbClr val="4E3629"/>
                </a:solidFill>
                <a:latin typeface="Calibri"/>
                <a:cs typeface="Calibri"/>
              </a:rPr>
              <a:t>1</a:t>
            </a:r>
            <a:r>
              <a:rPr dirty="0" sz="2800" spc="-10">
                <a:solidFill>
                  <a:srgbClr val="4E3629"/>
                </a:solidFill>
                <a:latin typeface="Calibri"/>
                <a:cs typeface="Calibri"/>
              </a:rPr>
              <a:t> </a:t>
            </a:r>
            <a:r>
              <a:rPr dirty="0" sz="2800">
                <a:solidFill>
                  <a:srgbClr val="4E3629"/>
                </a:solidFill>
                <a:latin typeface="Calibri"/>
                <a:cs typeface="Calibri"/>
              </a:rPr>
              <a:t>de </a:t>
            </a:r>
            <a:r>
              <a:rPr dirty="0" sz="2800" spc="-10">
                <a:solidFill>
                  <a:srgbClr val="4E3629"/>
                </a:solidFill>
                <a:latin typeface="Calibri"/>
                <a:cs typeface="Calibri"/>
              </a:rPr>
              <a:t>first_name</a:t>
            </a:r>
            <a:endParaRPr sz="2800">
              <a:latin typeface="Calibri"/>
              <a:cs typeface="Calibri"/>
            </a:endParaRPr>
          </a:p>
        </p:txBody>
      </p:sp>
      <p:graphicFrame>
        <p:nvGraphicFramePr>
          <p:cNvPr id="4" name="object 4"/>
          <p:cNvGraphicFramePr>
            <a:graphicFrameLocks noGrp="1"/>
          </p:cNvGraphicFramePr>
          <p:nvPr/>
        </p:nvGraphicFramePr>
        <p:xfrm>
          <a:off x="782637" y="4917904"/>
          <a:ext cx="7654925" cy="1143000"/>
        </p:xfrm>
        <a:graphic>
          <a:graphicData uri="http://schemas.openxmlformats.org/drawingml/2006/table">
            <a:tbl>
              <a:tblPr firstRow="1" bandRow="1">
                <a:tableStyleId>{2D5ABB26-0587-4C30-8999-92F81FD0307C}</a:tableStyleId>
              </a:tblPr>
              <a:tblGrid>
                <a:gridCol w="1414780"/>
                <a:gridCol w="1330959"/>
                <a:gridCol w="1402714"/>
                <a:gridCol w="1176020"/>
                <a:gridCol w="2245995"/>
              </a:tblGrid>
              <a:tr h="335280">
                <a:tc>
                  <a:txBody>
                    <a:bodyPr/>
                    <a:lstStyle/>
                    <a:p>
                      <a:pPr marL="71755">
                        <a:lnSpc>
                          <a:spcPct val="100000"/>
                        </a:lnSpc>
                        <a:spcBef>
                          <a:spcPts val="270"/>
                        </a:spcBef>
                      </a:pPr>
                      <a:r>
                        <a:rPr dirty="0" sz="1600" spc="-10" b="1">
                          <a:solidFill>
                            <a:srgbClr val="4E3629"/>
                          </a:solidFill>
                          <a:latin typeface="Calibri"/>
                          <a:cs typeface="Calibri"/>
                        </a:rPr>
                        <a:t>FIRST_NAME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70"/>
                        </a:spcBef>
                      </a:pPr>
                      <a:r>
                        <a:rPr dirty="0" sz="1600" b="1">
                          <a:solidFill>
                            <a:srgbClr val="4E3629"/>
                          </a:solidFill>
                          <a:latin typeface="Calibri"/>
                          <a:cs typeface="Calibri"/>
                        </a:rPr>
                        <a:t>Length</a:t>
                      </a:r>
                      <a:r>
                        <a:rPr dirty="0" sz="1600" spc="-40" b="1">
                          <a:solidFill>
                            <a:srgbClr val="4E3629"/>
                          </a:solidFill>
                          <a:latin typeface="Calibri"/>
                          <a:cs typeface="Calibri"/>
                        </a:rPr>
                        <a:t> </a:t>
                      </a:r>
                      <a:r>
                        <a:rPr dirty="0" sz="1600" spc="-25" b="1">
                          <a:solidFill>
                            <a:srgbClr val="4E3629"/>
                          </a:solidFill>
                          <a:latin typeface="Calibri"/>
                          <a:cs typeface="Calibri"/>
                        </a:rPr>
                        <a:t>FN</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70"/>
                        </a:spcBef>
                      </a:pPr>
                      <a:r>
                        <a:rPr dirty="0" sz="1600" spc="-10" b="1">
                          <a:solidFill>
                            <a:srgbClr val="4E3629"/>
                          </a:solidFill>
                          <a:latin typeface="Calibri"/>
                          <a:cs typeface="Calibri"/>
                        </a:rPr>
                        <a:t>LAST_NAME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70"/>
                        </a:spcBef>
                      </a:pPr>
                      <a:r>
                        <a:rPr dirty="0" sz="1600" b="1">
                          <a:solidFill>
                            <a:srgbClr val="4E3629"/>
                          </a:solidFill>
                          <a:latin typeface="Calibri"/>
                          <a:cs typeface="Calibri"/>
                        </a:rPr>
                        <a:t>Length</a:t>
                      </a:r>
                      <a:r>
                        <a:rPr dirty="0" sz="1600" spc="-40" b="1">
                          <a:solidFill>
                            <a:srgbClr val="4E3629"/>
                          </a:solidFill>
                          <a:latin typeface="Calibri"/>
                          <a:cs typeface="Calibri"/>
                        </a:rPr>
                        <a:t> </a:t>
                      </a:r>
                      <a:r>
                        <a:rPr dirty="0" sz="1600" spc="-25" b="1">
                          <a:solidFill>
                            <a:srgbClr val="4E3629"/>
                          </a:solidFill>
                          <a:latin typeface="Calibri"/>
                          <a:cs typeface="Calibri"/>
                        </a:rPr>
                        <a:t>LN</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70"/>
                        </a:spcBef>
                      </a:pPr>
                      <a:r>
                        <a:rPr dirty="0" sz="1600" b="1">
                          <a:solidFill>
                            <a:srgbClr val="4E3629"/>
                          </a:solidFill>
                          <a:latin typeface="Calibri"/>
                          <a:cs typeface="Calibri"/>
                        </a:rPr>
                        <a:t>Compare</a:t>
                      </a:r>
                      <a:r>
                        <a:rPr dirty="0" sz="1600" spc="-70" b="1">
                          <a:solidFill>
                            <a:srgbClr val="4E3629"/>
                          </a:solidFill>
                          <a:latin typeface="Calibri"/>
                          <a:cs typeface="Calibri"/>
                        </a:rPr>
                        <a:t> </a:t>
                      </a:r>
                      <a:r>
                        <a:rPr dirty="0" sz="1600" spc="-20" b="1">
                          <a:solidFill>
                            <a:srgbClr val="4E3629"/>
                          </a:solidFill>
                          <a:latin typeface="Calibri"/>
                          <a:cs typeface="Calibri"/>
                        </a:rPr>
                        <a:t>Them</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69240">
                <a:tc>
                  <a:txBody>
                    <a:bodyPr/>
                    <a:lstStyle/>
                    <a:p>
                      <a:pPr marL="71755">
                        <a:lnSpc>
                          <a:spcPct val="100000"/>
                        </a:lnSpc>
                      </a:pPr>
                      <a:r>
                        <a:rPr dirty="0" sz="1600" spc="-10">
                          <a:solidFill>
                            <a:srgbClr val="4E3629"/>
                          </a:solidFill>
                          <a:latin typeface="Calibri"/>
                          <a:cs typeface="Calibri"/>
                        </a:rPr>
                        <a:t>Ellen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pPr>
                      <a:r>
                        <a:rPr dirty="0" sz="1600" spc="-20">
                          <a:solidFill>
                            <a:srgbClr val="4E3629"/>
                          </a:solidFill>
                          <a:latin typeface="Calibri"/>
                          <a:cs typeface="Calibri"/>
                        </a:rPr>
                        <a:t>Abel</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4</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69240">
                <a:tc>
                  <a:txBody>
                    <a:bodyPr/>
                    <a:lstStyle/>
                    <a:p>
                      <a:pPr marL="71755">
                        <a:lnSpc>
                          <a:spcPct val="100000"/>
                        </a:lnSpc>
                      </a:pPr>
                      <a:r>
                        <a:rPr dirty="0" sz="1600" spc="-10">
                          <a:solidFill>
                            <a:srgbClr val="4E3629"/>
                          </a:solidFill>
                          <a:latin typeface="Calibri"/>
                          <a:cs typeface="Calibri"/>
                        </a:rPr>
                        <a:t>Curtis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pPr>
                      <a:r>
                        <a:rPr dirty="0" sz="1600" spc="-10">
                          <a:solidFill>
                            <a:srgbClr val="4E3629"/>
                          </a:solidFill>
                          <a:latin typeface="Calibri"/>
                          <a:cs typeface="Calibri"/>
                        </a:rPr>
                        <a:t>Davies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pPr>
                      <a:r>
                        <a:rPr dirty="0" sz="1600">
                          <a:solidFill>
                            <a:srgbClr val="4E3629"/>
                          </a:solidFill>
                          <a:latin typeface="Calibri"/>
                          <a:cs typeface="Calibri"/>
                        </a:rPr>
                        <a: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9240">
                <a:tc>
                  <a:txBody>
                    <a:bodyPr/>
                    <a:lstStyle/>
                    <a:p>
                      <a:pPr marL="71755">
                        <a:lnSpc>
                          <a:spcPts val="1920"/>
                        </a:lnSpc>
                      </a:pPr>
                      <a:r>
                        <a:rPr dirty="0" sz="1600" spc="-25">
                          <a:solidFill>
                            <a:srgbClr val="4E3629"/>
                          </a:solidFill>
                          <a:latin typeface="Calibri"/>
                          <a:cs typeface="Calibri"/>
                        </a:rPr>
                        <a:t>Lex</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20"/>
                        </a:lnSpc>
                      </a:pPr>
                      <a:r>
                        <a:rPr dirty="0" sz="1600" spc="-50">
                          <a:solidFill>
                            <a:srgbClr val="4E3629"/>
                          </a:solidFill>
                          <a:latin typeface="Calibri"/>
                          <a:cs typeface="Calibri"/>
                        </a:rPr>
                        <a:t>3</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20"/>
                        </a:lnSpc>
                      </a:pPr>
                      <a:r>
                        <a:rPr dirty="0" sz="1600" spc="-50">
                          <a:solidFill>
                            <a:srgbClr val="4E3629"/>
                          </a:solidFill>
                          <a:latin typeface="Calibri"/>
                          <a:cs typeface="Calibri"/>
                        </a:rPr>
                        <a:t>7</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20"/>
                        </a:lnSpc>
                      </a:pPr>
                      <a:r>
                        <a:rPr dirty="0" sz="1600" spc="-50">
                          <a:solidFill>
                            <a:srgbClr val="4E3629"/>
                          </a:solidFill>
                          <a:latin typeface="Calibri"/>
                          <a:cs typeface="Calibri"/>
                        </a:rPr>
                        <a:t>3</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p:cNvSpPr txBox="1"/>
          <p:nvPr/>
        </p:nvSpPr>
        <p:spPr>
          <a:xfrm>
            <a:off x="405384" y="3918203"/>
            <a:ext cx="8345805" cy="1005840"/>
          </a:xfrm>
          <a:prstGeom prst="rect">
            <a:avLst/>
          </a:prstGeom>
          <a:solidFill>
            <a:srgbClr val="9DBEC4">
              <a:alpha val="50199"/>
            </a:srgbClr>
          </a:solidFill>
        </p:spPr>
        <p:txBody>
          <a:bodyPr wrap="square" lIns="0" tIns="0" rIns="0" bIns="0" rtlCol="0" vert="horz">
            <a:spAutoFit/>
          </a:bodyPr>
          <a:lstStyle/>
          <a:p>
            <a:pPr>
              <a:lnSpc>
                <a:spcPts val="1720"/>
              </a:lnSpc>
            </a:pPr>
            <a:r>
              <a:rPr dirty="0" sz="1700" b="1">
                <a:solidFill>
                  <a:srgbClr val="4E3629"/>
                </a:solidFill>
                <a:latin typeface="Courier New"/>
                <a:cs typeface="Courier New"/>
              </a:rPr>
              <a:t>SELECT</a:t>
            </a:r>
            <a:r>
              <a:rPr dirty="0" sz="1700" spc="-70" b="1">
                <a:solidFill>
                  <a:srgbClr val="4E3629"/>
                </a:solidFill>
                <a:latin typeface="Courier New"/>
                <a:cs typeface="Courier New"/>
              </a:rPr>
              <a:t> </a:t>
            </a:r>
            <a:r>
              <a:rPr dirty="0" sz="1700" b="1">
                <a:solidFill>
                  <a:srgbClr val="4E3629"/>
                </a:solidFill>
                <a:latin typeface="Courier New"/>
                <a:cs typeface="Courier New"/>
              </a:rPr>
              <a:t>first_name,</a:t>
            </a:r>
            <a:r>
              <a:rPr dirty="0" sz="1700" spc="-65" b="1">
                <a:solidFill>
                  <a:srgbClr val="4E3629"/>
                </a:solidFill>
                <a:latin typeface="Courier New"/>
                <a:cs typeface="Courier New"/>
              </a:rPr>
              <a:t> </a:t>
            </a:r>
            <a:r>
              <a:rPr dirty="0" sz="1700" b="1">
                <a:solidFill>
                  <a:srgbClr val="4E3629"/>
                </a:solidFill>
                <a:latin typeface="Courier New"/>
                <a:cs typeface="Courier New"/>
              </a:rPr>
              <a:t>LENGTH(first_name)</a:t>
            </a:r>
            <a:r>
              <a:rPr dirty="0" sz="1700" spc="-80" b="1">
                <a:solidFill>
                  <a:srgbClr val="4E3629"/>
                </a:solidFill>
                <a:latin typeface="Courier New"/>
                <a:cs typeface="Courier New"/>
              </a:rPr>
              <a:t> </a:t>
            </a:r>
            <a:r>
              <a:rPr dirty="0" sz="1700" b="1">
                <a:solidFill>
                  <a:srgbClr val="4E3629"/>
                </a:solidFill>
                <a:latin typeface="Courier New"/>
                <a:cs typeface="Courier New"/>
              </a:rPr>
              <a:t>AS</a:t>
            </a:r>
            <a:r>
              <a:rPr dirty="0" sz="1700" spc="-65" b="1">
                <a:solidFill>
                  <a:srgbClr val="4E3629"/>
                </a:solidFill>
                <a:latin typeface="Courier New"/>
                <a:cs typeface="Courier New"/>
              </a:rPr>
              <a:t> </a:t>
            </a:r>
            <a:r>
              <a:rPr dirty="0" sz="1700" b="1">
                <a:solidFill>
                  <a:srgbClr val="4E3629"/>
                </a:solidFill>
                <a:latin typeface="Courier New"/>
                <a:cs typeface="Courier New"/>
              </a:rPr>
              <a:t>"Length</a:t>
            </a:r>
            <a:r>
              <a:rPr dirty="0" sz="1700" spc="-75" b="1">
                <a:solidFill>
                  <a:srgbClr val="4E3629"/>
                </a:solidFill>
                <a:latin typeface="Courier New"/>
                <a:cs typeface="Courier New"/>
              </a:rPr>
              <a:t> </a:t>
            </a:r>
            <a:r>
              <a:rPr dirty="0" sz="1700" b="1">
                <a:solidFill>
                  <a:srgbClr val="4E3629"/>
                </a:solidFill>
                <a:latin typeface="Courier New"/>
                <a:cs typeface="Courier New"/>
              </a:rPr>
              <a:t>FN",</a:t>
            </a:r>
            <a:r>
              <a:rPr dirty="0" sz="1700" spc="-80" b="1">
                <a:solidFill>
                  <a:srgbClr val="4E3629"/>
                </a:solidFill>
                <a:latin typeface="Courier New"/>
                <a:cs typeface="Courier New"/>
              </a:rPr>
              <a:t> </a:t>
            </a:r>
            <a:r>
              <a:rPr dirty="0" sz="1700" spc="-10" b="1">
                <a:solidFill>
                  <a:srgbClr val="4E3629"/>
                </a:solidFill>
                <a:latin typeface="Courier New"/>
                <a:cs typeface="Courier New"/>
              </a:rPr>
              <a:t>last_name,</a:t>
            </a:r>
            <a:endParaRPr sz="1700">
              <a:latin typeface="Courier New"/>
              <a:cs typeface="Courier New"/>
            </a:endParaRPr>
          </a:p>
          <a:p>
            <a:pPr marL="258445" marR="263525">
              <a:lnSpc>
                <a:spcPct val="100000"/>
              </a:lnSpc>
            </a:pPr>
            <a:r>
              <a:rPr dirty="0" sz="1700" b="1">
                <a:solidFill>
                  <a:srgbClr val="4E3629"/>
                </a:solidFill>
                <a:latin typeface="Courier New"/>
                <a:cs typeface="Courier New"/>
              </a:rPr>
              <a:t>LENGTH(last_name)</a:t>
            </a:r>
            <a:r>
              <a:rPr dirty="0" sz="1700" spc="-75" b="1">
                <a:solidFill>
                  <a:srgbClr val="4E3629"/>
                </a:solidFill>
                <a:latin typeface="Courier New"/>
                <a:cs typeface="Courier New"/>
              </a:rPr>
              <a:t> </a:t>
            </a:r>
            <a:r>
              <a:rPr dirty="0" sz="1700" b="1">
                <a:solidFill>
                  <a:srgbClr val="4E3629"/>
                </a:solidFill>
                <a:latin typeface="Courier New"/>
                <a:cs typeface="Courier New"/>
              </a:rPr>
              <a:t>AS</a:t>
            </a:r>
            <a:r>
              <a:rPr dirty="0" sz="1700" spc="-75" b="1">
                <a:solidFill>
                  <a:srgbClr val="4E3629"/>
                </a:solidFill>
                <a:latin typeface="Courier New"/>
                <a:cs typeface="Courier New"/>
              </a:rPr>
              <a:t> </a:t>
            </a:r>
            <a:r>
              <a:rPr dirty="0" sz="1700" b="1">
                <a:solidFill>
                  <a:srgbClr val="4E3629"/>
                </a:solidFill>
                <a:latin typeface="Courier New"/>
                <a:cs typeface="Courier New"/>
              </a:rPr>
              <a:t>"Length</a:t>
            </a:r>
            <a:r>
              <a:rPr dirty="0" sz="1700" spc="-70" b="1">
                <a:solidFill>
                  <a:srgbClr val="4E3629"/>
                </a:solidFill>
                <a:latin typeface="Courier New"/>
                <a:cs typeface="Courier New"/>
              </a:rPr>
              <a:t> </a:t>
            </a:r>
            <a:r>
              <a:rPr dirty="0" sz="1700" b="1">
                <a:solidFill>
                  <a:srgbClr val="4E3629"/>
                </a:solidFill>
                <a:latin typeface="Courier New"/>
                <a:cs typeface="Courier New"/>
              </a:rPr>
              <a:t>LN",</a:t>
            </a:r>
            <a:r>
              <a:rPr dirty="0" sz="1700" spc="-75" b="1">
                <a:solidFill>
                  <a:srgbClr val="4E3629"/>
                </a:solidFill>
                <a:latin typeface="Courier New"/>
                <a:cs typeface="Courier New"/>
              </a:rPr>
              <a:t> </a:t>
            </a:r>
            <a:r>
              <a:rPr dirty="0" sz="1700" spc="-10" b="1">
                <a:solidFill>
                  <a:srgbClr val="4E3629"/>
                </a:solidFill>
                <a:latin typeface="Courier New"/>
                <a:cs typeface="Courier New"/>
              </a:rPr>
              <a:t>NULLIF(LENGTH(first_name), </a:t>
            </a:r>
            <a:r>
              <a:rPr dirty="0" sz="1700" b="1">
                <a:solidFill>
                  <a:srgbClr val="4E3629"/>
                </a:solidFill>
                <a:latin typeface="Courier New"/>
                <a:cs typeface="Courier New"/>
              </a:rPr>
              <a:t>LENGTH(last_name))</a:t>
            </a:r>
            <a:r>
              <a:rPr dirty="0" sz="1700" spc="-95" b="1">
                <a:solidFill>
                  <a:srgbClr val="4E3629"/>
                </a:solidFill>
                <a:latin typeface="Courier New"/>
                <a:cs typeface="Courier New"/>
              </a:rPr>
              <a:t> </a:t>
            </a:r>
            <a:r>
              <a:rPr dirty="0" sz="1700" b="1">
                <a:solidFill>
                  <a:srgbClr val="4E3629"/>
                </a:solidFill>
                <a:latin typeface="Courier New"/>
                <a:cs typeface="Courier New"/>
              </a:rPr>
              <a:t>AS</a:t>
            </a:r>
            <a:r>
              <a:rPr dirty="0" sz="1700" spc="-100" b="1">
                <a:solidFill>
                  <a:srgbClr val="4E3629"/>
                </a:solidFill>
                <a:latin typeface="Courier New"/>
                <a:cs typeface="Courier New"/>
              </a:rPr>
              <a:t> </a:t>
            </a:r>
            <a:r>
              <a:rPr dirty="0" sz="1700" b="1">
                <a:solidFill>
                  <a:srgbClr val="4E3629"/>
                </a:solidFill>
                <a:latin typeface="Courier New"/>
                <a:cs typeface="Courier New"/>
              </a:rPr>
              <a:t>"Compare</a:t>
            </a:r>
            <a:r>
              <a:rPr dirty="0" sz="1700" spc="-75" b="1">
                <a:solidFill>
                  <a:srgbClr val="4E3629"/>
                </a:solidFill>
                <a:latin typeface="Courier New"/>
                <a:cs typeface="Courier New"/>
              </a:rPr>
              <a:t> </a:t>
            </a:r>
            <a:r>
              <a:rPr dirty="0" sz="1700" spc="-10" b="1">
                <a:solidFill>
                  <a:srgbClr val="4E3629"/>
                </a:solidFill>
                <a:latin typeface="Courier New"/>
                <a:cs typeface="Courier New"/>
              </a:rPr>
              <a:t>Them"</a:t>
            </a:r>
            <a:endParaRPr sz="1700">
              <a:latin typeface="Courier New"/>
              <a:cs typeface="Courier New"/>
            </a:endParaRPr>
          </a:p>
          <a:p>
            <a:pPr>
              <a:lnSpc>
                <a:spcPct val="100000"/>
              </a:lnSpc>
            </a:pPr>
            <a:r>
              <a:rPr dirty="0" sz="1700" b="1">
                <a:solidFill>
                  <a:srgbClr val="4E3629"/>
                </a:solidFill>
                <a:latin typeface="Courier New"/>
                <a:cs typeface="Courier New"/>
              </a:rPr>
              <a:t>FROM</a:t>
            </a:r>
            <a:r>
              <a:rPr dirty="0" sz="1700" spc="-50" b="1">
                <a:solidFill>
                  <a:srgbClr val="4E3629"/>
                </a:solidFill>
                <a:latin typeface="Courier New"/>
                <a:cs typeface="Courier New"/>
              </a:rPr>
              <a:t> </a:t>
            </a:r>
            <a:r>
              <a:rPr dirty="0" sz="1700" spc="-10" b="1">
                <a:solidFill>
                  <a:srgbClr val="4E3629"/>
                </a:solidFill>
                <a:latin typeface="Courier New"/>
                <a:cs typeface="Courier New"/>
              </a:rPr>
              <a:t>employees;</a:t>
            </a:r>
            <a:endParaRPr sz="1700">
              <a:latin typeface="Courier New"/>
              <a:cs typeface="Courier New"/>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p:cNvPicPr/>
            <p:nvPr/>
          </p:nvPicPr>
          <p:blipFill>
            <a:blip r:embed="rId3" cstate="print"/>
            <a:stretch>
              <a:fillRect/>
            </a:stretch>
          </p:blipFill>
          <p:spPr>
            <a:xfrm>
              <a:off x="970787" y="5570219"/>
              <a:ext cx="1258824" cy="420623"/>
            </a:xfrm>
            <a:prstGeom prst="rect">
              <a:avLst/>
            </a:prstGeom>
          </p:spPr>
        </p:pic>
      </p:grpSp>
      <p:sp>
        <p:nvSpPr>
          <p:cNvPr id="6" name="object 6"/>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descr="$PPTXTitle"/>
          <p:cNvSpPr txBox="1">
            <a:spLocks noGrp="1"/>
          </p:cNvSpPr>
          <p:nvPr>
            <p:ph type="body" idx="1"/>
          </p:nvPr>
        </p:nvSpPr>
        <p:spPr>
          <a:prstGeom prst="rect"/>
        </p:spPr>
        <p:txBody>
          <a:bodyPr wrap="square" lIns="0" tIns="153670" rIns="0" bIns="0" rtlCol="0" vert="horz">
            <a:spAutoFit/>
          </a:bodyPr>
          <a:lstStyle/>
          <a:p>
            <a:pPr marL="12700" marR="5080">
              <a:lnSpc>
                <a:spcPts val="4610"/>
              </a:lnSpc>
              <a:spcBef>
                <a:spcPts val="1210"/>
              </a:spcBef>
            </a:pPr>
            <a:r>
              <a:rPr dirty="0"/>
              <a:t>Database</a:t>
            </a:r>
            <a:r>
              <a:rPr dirty="0" spc="-190"/>
              <a:t> </a:t>
            </a:r>
            <a:r>
              <a:rPr dirty="0" spc="-20"/>
              <a:t>Programming</a:t>
            </a:r>
            <a:r>
              <a:rPr dirty="0" spc="-185"/>
              <a:t> </a:t>
            </a:r>
            <a:r>
              <a:rPr dirty="0" spc="-20"/>
              <a:t>with </a:t>
            </a:r>
            <a:r>
              <a:rPr dirty="0" spc="-25"/>
              <a:t>SQL</a:t>
            </a:r>
          </a:p>
        </p:txBody>
      </p:sp>
      <p:sp>
        <p:nvSpPr>
          <p:cNvPr id="8" name="object 8"/>
          <p:cNvSpPr txBox="1"/>
          <p:nvPr/>
        </p:nvSpPr>
        <p:spPr>
          <a:xfrm>
            <a:off x="962879" y="2400950"/>
            <a:ext cx="3364229"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5-</a:t>
            </a:r>
            <a:r>
              <a:rPr dirty="0" sz="2400" spc="-50" b="1">
                <a:solidFill>
                  <a:srgbClr val="4E3629"/>
                </a:solidFill>
                <a:latin typeface="Calibri"/>
                <a:cs typeface="Calibri"/>
              </a:rPr>
              <a:t>3</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Expresiones</a:t>
            </a:r>
            <a:r>
              <a:rPr dirty="0" sz="2400" spc="-114" b="1">
                <a:solidFill>
                  <a:srgbClr val="4E3629"/>
                </a:solidFill>
                <a:latin typeface="Calibri"/>
                <a:cs typeface="Calibri"/>
              </a:rPr>
              <a:t> </a:t>
            </a:r>
            <a:r>
              <a:rPr dirty="0" sz="2400" spc="-10" b="1">
                <a:solidFill>
                  <a:srgbClr val="4E3629"/>
                </a:solidFill>
                <a:latin typeface="Calibri"/>
                <a:cs typeface="Calibri"/>
              </a:rPr>
              <a:t>Condicionales</a:t>
            </a:r>
            <a:endParaRPr sz="2400">
              <a:latin typeface="Calibri"/>
              <a:cs typeface="Calibri"/>
            </a:endParaRPr>
          </a:p>
        </p:txBody>
      </p:sp>
      <p:pic>
        <p:nvPicPr>
          <p:cNvPr id="9" name="object 9"/>
          <p:cNvPicPr/>
          <p:nvPr/>
        </p:nvPicPr>
        <p:blipFill>
          <a:blip r:embed="rId4" cstate="print"/>
          <a:stretch>
            <a:fillRect/>
          </a:stretch>
        </p:blipFill>
        <p:spPr>
          <a:xfrm>
            <a:off x="5030723" y="2599944"/>
            <a:ext cx="3745991" cy="389686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Expresiones</a:t>
            </a:r>
            <a:r>
              <a:rPr dirty="0" spc="-155"/>
              <a:t> </a:t>
            </a:r>
            <a:r>
              <a:rPr dirty="0" spc="-10"/>
              <a:t>Condicionales</a:t>
            </a:r>
          </a:p>
        </p:txBody>
      </p:sp>
      <p:sp>
        <p:nvSpPr>
          <p:cNvPr id="3" name="object 3"/>
          <p:cNvSpPr txBox="1"/>
          <p:nvPr/>
        </p:nvSpPr>
        <p:spPr>
          <a:xfrm>
            <a:off x="483552" y="1355371"/>
            <a:ext cx="8023859" cy="3020695"/>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dos</a:t>
            </a:r>
            <a:r>
              <a:rPr dirty="0" sz="2800" spc="-35">
                <a:solidFill>
                  <a:srgbClr val="4E3629"/>
                </a:solidFill>
                <a:latin typeface="Calibri"/>
                <a:cs typeface="Calibri"/>
              </a:rPr>
              <a:t> </a:t>
            </a:r>
            <a:r>
              <a:rPr dirty="0" sz="2800" spc="-10">
                <a:solidFill>
                  <a:srgbClr val="4E3629"/>
                </a:solidFill>
                <a:latin typeface="Calibri"/>
                <a:cs typeface="Calibri"/>
              </a:rPr>
              <a:t>expresiones</a:t>
            </a:r>
            <a:r>
              <a:rPr dirty="0" sz="2800" spc="-25">
                <a:solidFill>
                  <a:srgbClr val="4E3629"/>
                </a:solidFill>
                <a:latin typeface="Calibri"/>
                <a:cs typeface="Calibri"/>
              </a:rPr>
              <a:t> </a:t>
            </a:r>
            <a:r>
              <a:rPr dirty="0" sz="2800">
                <a:solidFill>
                  <a:srgbClr val="4E3629"/>
                </a:solidFill>
                <a:latin typeface="Calibri"/>
                <a:cs typeface="Calibri"/>
              </a:rPr>
              <a:t>condicionales</a:t>
            </a:r>
            <a:r>
              <a:rPr dirty="0" sz="2800" spc="-25">
                <a:solidFill>
                  <a:srgbClr val="4E3629"/>
                </a:solidFill>
                <a:latin typeface="Calibri"/>
                <a:cs typeface="Calibri"/>
              </a:rPr>
              <a:t> </a:t>
            </a:r>
            <a:r>
              <a:rPr dirty="0" sz="2800">
                <a:solidFill>
                  <a:srgbClr val="4E3629"/>
                </a:solidFill>
                <a:latin typeface="Calibri"/>
                <a:cs typeface="Calibri"/>
              </a:rPr>
              <a:t>son</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CASE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DECODE</a:t>
            </a:r>
            <a:endParaRPr sz="2800">
              <a:latin typeface="Calibri"/>
              <a:cs typeface="Calibri"/>
            </a:endParaRPr>
          </a:p>
          <a:p>
            <a:pPr marL="182880" marR="97155" indent="-170815">
              <a:lnSpc>
                <a:spcPts val="3030"/>
              </a:lnSpc>
              <a:spcBef>
                <a:spcPts val="844"/>
              </a:spcBef>
              <a:buClr>
                <a:srgbClr val="D1350F"/>
              </a:buClr>
              <a:buFont typeface="Arial MT"/>
              <a:buChar char="•"/>
              <a:tabLst>
                <a:tab pos="184785" algn="l"/>
              </a:tabLst>
            </a:pPr>
            <a:r>
              <a:rPr dirty="0" sz="2800" spc="-30">
                <a:solidFill>
                  <a:srgbClr val="4E3629"/>
                </a:solidFill>
                <a:latin typeface="Calibri"/>
                <a:cs typeface="Calibri"/>
              </a:rPr>
              <a:t>Ya</a:t>
            </a:r>
            <a:r>
              <a:rPr dirty="0" sz="2800" spc="-70">
                <a:solidFill>
                  <a:srgbClr val="4E3629"/>
                </a:solidFill>
                <a:latin typeface="Calibri"/>
                <a:cs typeface="Calibri"/>
              </a:rPr>
              <a:t> </a:t>
            </a:r>
            <a:r>
              <a:rPr dirty="0" sz="2800">
                <a:solidFill>
                  <a:srgbClr val="4E3629"/>
                </a:solidFill>
                <a:latin typeface="Calibri"/>
                <a:cs typeface="Calibri"/>
              </a:rPr>
              <a:t>ha</a:t>
            </a:r>
            <a:r>
              <a:rPr dirty="0" sz="2800" spc="-60">
                <a:solidFill>
                  <a:srgbClr val="4E3629"/>
                </a:solidFill>
                <a:latin typeface="Calibri"/>
                <a:cs typeface="Calibri"/>
              </a:rPr>
              <a:t> </a:t>
            </a:r>
            <a:r>
              <a:rPr dirty="0" sz="2800">
                <a:solidFill>
                  <a:srgbClr val="4E3629"/>
                </a:solidFill>
                <a:latin typeface="Calibri"/>
                <a:cs typeface="Calibri"/>
              </a:rPr>
              <a:t>estudiado</a:t>
            </a:r>
            <a:r>
              <a:rPr dirty="0" sz="2800" spc="-15">
                <a:solidFill>
                  <a:srgbClr val="4E3629"/>
                </a:solidFill>
                <a:latin typeface="Calibri"/>
                <a:cs typeface="Calibri"/>
              </a:rPr>
              <a:t> </a:t>
            </a:r>
            <a:r>
              <a:rPr dirty="0" sz="2800" spc="-35">
                <a:solidFill>
                  <a:srgbClr val="4E3629"/>
                </a:solidFill>
                <a:latin typeface="Calibri"/>
                <a:cs typeface="Calibri"/>
              </a:rPr>
              <a:t>NULLIF,</a:t>
            </a:r>
            <a:r>
              <a:rPr dirty="0" sz="2800" spc="-7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spc="-10">
                <a:solidFill>
                  <a:srgbClr val="4E3629"/>
                </a:solidFill>
                <a:latin typeface="Calibri"/>
                <a:cs typeface="Calibri"/>
              </a:rPr>
              <a:t>equivalente</a:t>
            </a:r>
            <a:r>
              <a:rPr dirty="0" sz="2800" spc="-50">
                <a:solidFill>
                  <a:srgbClr val="4E3629"/>
                </a:solidFill>
                <a:latin typeface="Calibri"/>
                <a:cs typeface="Calibri"/>
              </a:rPr>
              <a:t> </a:t>
            </a:r>
            <a:r>
              <a:rPr dirty="0" sz="2800">
                <a:solidFill>
                  <a:srgbClr val="4E3629"/>
                </a:solidFill>
                <a:latin typeface="Calibri"/>
                <a:cs typeface="Calibri"/>
              </a:rPr>
              <a:t>lógico</a:t>
            </a:r>
            <a:r>
              <a:rPr dirty="0" sz="2800" spc="-75">
                <a:solidFill>
                  <a:srgbClr val="4E3629"/>
                </a:solidFill>
                <a:latin typeface="Calibri"/>
                <a:cs typeface="Calibri"/>
              </a:rPr>
              <a:t> </a:t>
            </a:r>
            <a:r>
              <a:rPr dirty="0" sz="2800" spc="-50">
                <a:solidFill>
                  <a:srgbClr val="4E3629"/>
                </a:solidFill>
                <a:latin typeface="Calibri"/>
                <a:cs typeface="Calibri"/>
              </a:rPr>
              <a:t>a </a:t>
            </a:r>
            <a:r>
              <a:rPr dirty="0" sz="2800" spc="-50">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expresión</a:t>
            </a:r>
            <a:r>
              <a:rPr dirty="0" sz="2800" spc="-60">
                <a:solidFill>
                  <a:srgbClr val="4E3629"/>
                </a:solidFill>
                <a:latin typeface="Calibri"/>
                <a:cs typeface="Calibri"/>
              </a:rPr>
              <a:t> </a:t>
            </a:r>
            <a:r>
              <a:rPr dirty="0" sz="2800">
                <a:solidFill>
                  <a:srgbClr val="4E3629"/>
                </a:solidFill>
                <a:latin typeface="Calibri"/>
                <a:cs typeface="Calibri"/>
              </a:rPr>
              <a:t>CASE,</a:t>
            </a:r>
            <a:r>
              <a:rPr dirty="0" sz="2800" spc="-65">
                <a:solidFill>
                  <a:srgbClr val="4E3629"/>
                </a:solidFill>
                <a:latin typeface="Calibri"/>
                <a:cs typeface="Calibri"/>
              </a:rPr>
              <a:t> </a:t>
            </a:r>
            <a:r>
              <a:rPr dirty="0" sz="2800">
                <a:solidFill>
                  <a:srgbClr val="4E3629"/>
                </a:solidFill>
                <a:latin typeface="Calibri"/>
                <a:cs typeface="Calibri"/>
              </a:rPr>
              <a:t>ya</a:t>
            </a:r>
            <a:r>
              <a:rPr dirty="0" sz="2800" spc="-65">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CASE</a:t>
            </a:r>
            <a:r>
              <a:rPr dirty="0" sz="2800" spc="-70">
                <a:solidFill>
                  <a:srgbClr val="4E3629"/>
                </a:solidFill>
                <a:latin typeface="Calibri"/>
                <a:cs typeface="Calibri"/>
              </a:rPr>
              <a:t> </a:t>
            </a:r>
            <a:r>
              <a:rPr dirty="0" sz="2800">
                <a:solidFill>
                  <a:srgbClr val="4E3629"/>
                </a:solidFill>
                <a:latin typeface="Calibri"/>
                <a:cs typeface="Calibri"/>
              </a:rPr>
              <a:t>compara</a:t>
            </a:r>
            <a:r>
              <a:rPr dirty="0" sz="2800" spc="-60">
                <a:solidFill>
                  <a:srgbClr val="4E3629"/>
                </a:solidFill>
                <a:latin typeface="Calibri"/>
                <a:cs typeface="Calibri"/>
              </a:rPr>
              <a:t> </a:t>
            </a:r>
            <a:r>
              <a:rPr dirty="0" sz="2800" spc="-25">
                <a:solidFill>
                  <a:srgbClr val="4E3629"/>
                </a:solidFill>
                <a:latin typeface="Calibri"/>
                <a:cs typeface="Calibri"/>
              </a:rPr>
              <a:t>dos </a:t>
            </a:r>
            <a:r>
              <a:rPr dirty="0" sz="2800" spc="-25">
                <a:solidFill>
                  <a:srgbClr val="4E3629"/>
                </a:solidFill>
                <a:latin typeface="Calibri"/>
                <a:cs typeface="Calibri"/>
              </a:rPr>
              <a:t>	</a:t>
            </a:r>
            <a:r>
              <a:rPr dirty="0" sz="2800" spc="-10">
                <a:solidFill>
                  <a:srgbClr val="4E3629"/>
                </a:solidFill>
                <a:latin typeface="Calibri"/>
                <a:cs typeface="Calibri"/>
              </a:rPr>
              <a:t>expresiones</a:t>
            </a:r>
            <a:endParaRPr sz="2800">
              <a:latin typeface="Calibri"/>
              <a:cs typeface="Calibri"/>
            </a:endParaRPr>
          </a:p>
          <a:p>
            <a:pPr marL="182880" marR="899794"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NULIF</a:t>
            </a:r>
            <a:r>
              <a:rPr dirty="0" sz="2800" spc="-80">
                <a:solidFill>
                  <a:srgbClr val="4E3629"/>
                </a:solidFill>
                <a:latin typeface="Calibri"/>
                <a:cs typeface="Calibri"/>
              </a:rPr>
              <a:t> </a:t>
            </a:r>
            <a:r>
              <a:rPr dirty="0" sz="2800">
                <a:solidFill>
                  <a:srgbClr val="4E3629"/>
                </a:solidFill>
                <a:latin typeface="Calibri"/>
                <a:cs typeface="Calibri"/>
              </a:rPr>
              <a:t>compara</a:t>
            </a:r>
            <a:r>
              <a:rPr dirty="0" sz="2800" spc="-65">
                <a:solidFill>
                  <a:srgbClr val="4E3629"/>
                </a:solidFill>
                <a:latin typeface="Calibri"/>
                <a:cs typeface="Calibri"/>
              </a:rPr>
              <a:t> </a:t>
            </a:r>
            <a:r>
              <a:rPr dirty="0" sz="2800">
                <a:solidFill>
                  <a:srgbClr val="4E3629"/>
                </a:solidFill>
                <a:latin typeface="Calibri"/>
                <a:cs typeface="Calibri"/>
              </a:rPr>
              <a:t>dos</a:t>
            </a:r>
            <a:r>
              <a:rPr dirty="0" sz="2800" spc="-70">
                <a:solidFill>
                  <a:srgbClr val="4E3629"/>
                </a:solidFill>
                <a:latin typeface="Calibri"/>
                <a:cs typeface="Calibri"/>
              </a:rPr>
              <a:t> </a:t>
            </a:r>
            <a:r>
              <a:rPr dirty="0" sz="2800">
                <a:solidFill>
                  <a:srgbClr val="4E3629"/>
                </a:solidFill>
                <a:latin typeface="Calibri"/>
                <a:cs typeface="Calibri"/>
              </a:rPr>
              <a:t>expresiones</a:t>
            </a:r>
            <a:r>
              <a:rPr dirty="0" sz="2800" spc="-55">
                <a:solidFill>
                  <a:srgbClr val="4E3629"/>
                </a:solidFill>
                <a:latin typeface="Calibri"/>
                <a:cs typeface="Calibri"/>
              </a:rPr>
              <a:t> </a:t>
            </a:r>
            <a:r>
              <a:rPr dirty="0" sz="2800" spc="-50">
                <a:solidFill>
                  <a:srgbClr val="4E3629"/>
                </a:solidFill>
                <a:latin typeface="Calibri"/>
                <a:cs typeface="Calibri"/>
              </a:rPr>
              <a:t>y,</a:t>
            </a:r>
            <a:r>
              <a:rPr dirty="0" sz="2800" spc="-75">
                <a:solidFill>
                  <a:srgbClr val="4E3629"/>
                </a:solidFill>
                <a:latin typeface="Calibri"/>
                <a:cs typeface="Calibri"/>
              </a:rPr>
              <a:t> </a:t>
            </a:r>
            <a:r>
              <a:rPr dirty="0" sz="2800">
                <a:solidFill>
                  <a:srgbClr val="4E3629"/>
                </a:solidFill>
                <a:latin typeface="Calibri"/>
                <a:cs typeface="Calibri"/>
              </a:rPr>
              <a:t>si</a:t>
            </a:r>
            <a:r>
              <a:rPr dirty="0" sz="2800" spc="-80">
                <a:solidFill>
                  <a:srgbClr val="4E3629"/>
                </a:solidFill>
                <a:latin typeface="Calibri"/>
                <a:cs typeface="Calibri"/>
              </a:rPr>
              <a:t> </a:t>
            </a:r>
            <a:r>
              <a:rPr dirty="0" sz="2800">
                <a:solidFill>
                  <a:srgbClr val="4E3629"/>
                </a:solidFill>
                <a:latin typeface="Calibri"/>
                <a:cs typeface="Calibri"/>
              </a:rPr>
              <a:t>las</a:t>
            </a:r>
            <a:r>
              <a:rPr dirty="0" sz="2800" spc="-85">
                <a:solidFill>
                  <a:srgbClr val="4E3629"/>
                </a:solidFill>
                <a:latin typeface="Calibri"/>
                <a:cs typeface="Calibri"/>
              </a:rPr>
              <a:t> </a:t>
            </a:r>
            <a:r>
              <a:rPr dirty="0" sz="2800" spc="-25">
                <a:solidFill>
                  <a:srgbClr val="4E3629"/>
                </a:solidFill>
                <a:latin typeface="Calibri"/>
                <a:cs typeface="Calibri"/>
              </a:rPr>
              <a:t>dos </a:t>
            </a:r>
            <a:r>
              <a:rPr dirty="0" sz="2800" spc="-25">
                <a:solidFill>
                  <a:srgbClr val="4E3629"/>
                </a:solidFill>
                <a:latin typeface="Calibri"/>
                <a:cs typeface="Calibri"/>
              </a:rPr>
              <a:t>	</a:t>
            </a:r>
            <a:r>
              <a:rPr dirty="0" sz="2800">
                <a:solidFill>
                  <a:srgbClr val="4E3629"/>
                </a:solidFill>
                <a:latin typeface="Calibri"/>
                <a:cs typeface="Calibri"/>
              </a:rPr>
              <a:t>expresiones</a:t>
            </a:r>
            <a:r>
              <a:rPr dirty="0" sz="2800" spc="-40">
                <a:solidFill>
                  <a:srgbClr val="4E3629"/>
                </a:solidFill>
                <a:latin typeface="Calibri"/>
                <a:cs typeface="Calibri"/>
              </a:rPr>
              <a:t> </a:t>
            </a:r>
            <a:r>
              <a:rPr dirty="0" sz="2800">
                <a:solidFill>
                  <a:srgbClr val="4E3629"/>
                </a:solidFill>
                <a:latin typeface="Calibri"/>
                <a:cs typeface="Calibri"/>
              </a:rPr>
              <a:t>son</a:t>
            </a:r>
            <a:r>
              <a:rPr dirty="0" sz="2800" spc="-50">
                <a:solidFill>
                  <a:srgbClr val="4E3629"/>
                </a:solidFill>
                <a:latin typeface="Calibri"/>
                <a:cs typeface="Calibri"/>
              </a:rPr>
              <a:t> </a:t>
            </a:r>
            <a:r>
              <a:rPr dirty="0" sz="2800">
                <a:solidFill>
                  <a:srgbClr val="4E3629"/>
                </a:solidFill>
                <a:latin typeface="Calibri"/>
                <a:cs typeface="Calibri"/>
              </a:rPr>
              <a:t>iguales,</a:t>
            </a:r>
            <a:r>
              <a:rPr dirty="0" sz="2800" spc="-70">
                <a:solidFill>
                  <a:srgbClr val="4E3629"/>
                </a:solidFill>
                <a:latin typeface="Calibri"/>
                <a:cs typeface="Calibri"/>
              </a:rPr>
              <a:t> </a:t>
            </a:r>
            <a:r>
              <a:rPr dirty="0" sz="2800">
                <a:solidFill>
                  <a:srgbClr val="4E3629"/>
                </a:solidFill>
                <a:latin typeface="Calibri"/>
                <a:cs typeface="Calibri"/>
              </a:rPr>
              <a:t>devuelve</a:t>
            </a:r>
            <a:r>
              <a:rPr dirty="0" sz="2800" spc="-65">
                <a:solidFill>
                  <a:srgbClr val="4E3629"/>
                </a:solidFill>
                <a:latin typeface="Calibri"/>
                <a:cs typeface="Calibri"/>
              </a:rPr>
              <a:t> </a:t>
            </a:r>
            <a:r>
              <a:rPr dirty="0" sz="2800">
                <a:solidFill>
                  <a:srgbClr val="4E3629"/>
                </a:solidFill>
                <a:latin typeface="Calibri"/>
                <a:cs typeface="Calibri"/>
              </a:rPr>
              <a:t>null;</a:t>
            </a:r>
            <a:r>
              <a:rPr dirty="0" sz="2800" spc="-45">
                <a:solidFill>
                  <a:srgbClr val="4E3629"/>
                </a:solidFill>
                <a:latin typeface="Calibri"/>
                <a:cs typeface="Calibri"/>
              </a:rPr>
              <a:t> </a:t>
            </a:r>
            <a:r>
              <a:rPr dirty="0" sz="2800">
                <a:solidFill>
                  <a:srgbClr val="4E3629"/>
                </a:solidFill>
                <a:latin typeface="Calibri"/>
                <a:cs typeface="Calibri"/>
              </a:rPr>
              <a:t>si</a:t>
            </a:r>
            <a:r>
              <a:rPr dirty="0" sz="2800" spc="-70">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spc="-25">
                <a:solidFill>
                  <a:srgbClr val="4E3629"/>
                </a:solidFill>
                <a:latin typeface="Calibri"/>
                <a:cs typeface="Calibri"/>
              </a:rPr>
              <a:t>son </a:t>
            </a:r>
            <a:r>
              <a:rPr dirty="0" sz="2800" spc="-25">
                <a:solidFill>
                  <a:srgbClr val="4E3629"/>
                </a:solidFill>
                <a:latin typeface="Calibri"/>
                <a:cs typeface="Calibri"/>
              </a:rPr>
              <a:t>	</a:t>
            </a:r>
            <a:r>
              <a:rPr dirty="0" sz="2800">
                <a:solidFill>
                  <a:srgbClr val="4E3629"/>
                </a:solidFill>
                <a:latin typeface="Calibri"/>
                <a:cs typeface="Calibri"/>
              </a:rPr>
              <a:t>iguales,</a:t>
            </a:r>
            <a:r>
              <a:rPr dirty="0" sz="2800" spc="-60">
                <a:solidFill>
                  <a:srgbClr val="4E3629"/>
                </a:solidFill>
                <a:latin typeface="Calibri"/>
                <a:cs typeface="Calibri"/>
              </a:rPr>
              <a:t> </a:t>
            </a:r>
            <a:r>
              <a:rPr dirty="0" sz="2800">
                <a:solidFill>
                  <a:srgbClr val="4E3629"/>
                </a:solidFill>
                <a:latin typeface="Calibri"/>
                <a:cs typeface="Calibri"/>
              </a:rPr>
              <a:t>devuelve</a:t>
            </a:r>
            <a:r>
              <a:rPr dirty="0" sz="2800" spc="-5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primera</a:t>
            </a:r>
            <a:r>
              <a:rPr dirty="0" sz="2800" spc="-40">
                <a:solidFill>
                  <a:srgbClr val="4E3629"/>
                </a:solidFill>
                <a:latin typeface="Calibri"/>
                <a:cs typeface="Calibri"/>
              </a:rPr>
              <a:t> </a:t>
            </a:r>
            <a:r>
              <a:rPr dirty="0" sz="2800" spc="-10">
                <a:solidFill>
                  <a:srgbClr val="4E3629"/>
                </a:solidFill>
                <a:latin typeface="Calibri"/>
                <a:cs typeface="Calibri"/>
              </a:rPr>
              <a:t>expresión</a:t>
            </a:r>
            <a:endParaRPr sz="2800">
              <a:latin typeface="Calibri"/>
              <a:cs typeface="Calibri"/>
            </a:endParaRPr>
          </a:p>
        </p:txBody>
      </p:sp>
      <p:grpSp>
        <p:nvGrpSpPr>
          <p:cNvPr id="4" name="object 4"/>
          <p:cNvGrpSpPr/>
          <p:nvPr/>
        </p:nvGrpSpPr>
        <p:grpSpPr>
          <a:xfrm>
            <a:off x="5548884" y="4447032"/>
            <a:ext cx="3005455" cy="1697989"/>
            <a:chOff x="5548884" y="4447032"/>
            <a:chExt cx="3005455" cy="1697989"/>
          </a:xfrm>
        </p:grpSpPr>
        <p:pic>
          <p:nvPicPr>
            <p:cNvPr id="5" name="object 5"/>
            <p:cNvPicPr/>
            <p:nvPr/>
          </p:nvPicPr>
          <p:blipFill>
            <a:blip r:embed="rId2" cstate="print"/>
            <a:stretch>
              <a:fillRect/>
            </a:stretch>
          </p:blipFill>
          <p:spPr>
            <a:xfrm>
              <a:off x="5548884" y="5617464"/>
              <a:ext cx="3005327" cy="527303"/>
            </a:xfrm>
            <a:prstGeom prst="rect">
              <a:avLst/>
            </a:prstGeom>
          </p:spPr>
        </p:pic>
        <p:pic>
          <p:nvPicPr>
            <p:cNvPr id="6" name="object 6"/>
            <p:cNvPicPr/>
            <p:nvPr/>
          </p:nvPicPr>
          <p:blipFill>
            <a:blip r:embed="rId3" cstate="print"/>
            <a:stretch>
              <a:fillRect/>
            </a:stretch>
          </p:blipFill>
          <p:spPr>
            <a:xfrm>
              <a:off x="6216396" y="4447032"/>
              <a:ext cx="2260092" cy="1620012"/>
            </a:xfrm>
            <a:prstGeom prst="rect">
              <a:avLst/>
            </a:prstGeom>
          </p:spPr>
        </p:pic>
      </p:grpSp>
      <p:sp>
        <p:nvSpPr>
          <p:cNvPr id="7" name="object 7"/>
          <p:cNvSpPr txBox="1"/>
          <p:nvPr/>
        </p:nvSpPr>
        <p:spPr>
          <a:xfrm>
            <a:off x="2874191" y="6516395"/>
            <a:ext cx="11836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Expresiones</a:t>
            </a:r>
            <a:r>
              <a:rPr dirty="0" sz="850" spc="50">
                <a:solidFill>
                  <a:srgbClr val="4E3629"/>
                </a:solidFill>
                <a:latin typeface="Calibri"/>
                <a:cs typeface="Calibri"/>
              </a:rPr>
              <a:t> </a:t>
            </a:r>
            <a:r>
              <a:rPr dirty="0" sz="850" spc="-10">
                <a:solidFill>
                  <a:srgbClr val="4E3629"/>
                </a:solidFill>
                <a:latin typeface="Calibri"/>
                <a:cs typeface="Calibri"/>
              </a:rPr>
              <a:t>Condicionales</a:t>
            </a:r>
            <a:endParaRPr sz="850">
              <a:latin typeface="Calibri"/>
              <a:cs typeface="Calibri"/>
            </a:endParaRPr>
          </a:p>
        </p:txBody>
      </p:sp>
      <p:sp>
        <p:nvSpPr>
          <p:cNvPr id="8" name="object 8"/>
          <p:cNvSpPr txBox="1"/>
          <p:nvPr/>
        </p:nvSpPr>
        <p:spPr>
          <a:xfrm>
            <a:off x="8750490" y="6567768"/>
            <a:ext cx="89535" cy="152400"/>
          </a:xfrm>
          <a:prstGeom prst="rect">
            <a:avLst/>
          </a:prstGeom>
        </p:spPr>
        <p:txBody>
          <a:bodyPr wrap="square" lIns="0" tIns="0" rIns="0" bIns="0" rtlCol="0" vert="horz">
            <a:spAutoFit/>
          </a:bodyPr>
          <a:lstStyle/>
          <a:p>
            <a:pPr marL="12700">
              <a:lnSpc>
                <a:spcPts val="1045"/>
              </a:lnSpc>
            </a:pPr>
            <a:r>
              <a:rPr dirty="0" sz="1000" spc="-50" b="1">
                <a:solidFill>
                  <a:srgbClr val="4E3629"/>
                </a:solidFill>
                <a:latin typeface="Calibri"/>
                <a:cs typeface="Calibri"/>
              </a:rPr>
              <a:t>6</a:t>
            </a:r>
            <a:endParaRPr sz="1000">
              <a:latin typeface="Calibri"/>
              <a:cs typeface="Calibri"/>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Expresiones</a:t>
            </a:r>
            <a:r>
              <a:rPr dirty="0" spc="-155"/>
              <a:t> </a:t>
            </a:r>
            <a:r>
              <a:rPr dirty="0" spc="-10"/>
              <a:t>Condicionales</a:t>
            </a:r>
          </a:p>
        </p:txBody>
      </p:sp>
      <p:sp>
        <p:nvSpPr>
          <p:cNvPr id="3" name="object 3"/>
          <p:cNvSpPr txBox="1"/>
          <p:nvPr/>
        </p:nvSpPr>
        <p:spPr>
          <a:xfrm>
            <a:off x="483552" y="1415417"/>
            <a:ext cx="8186420" cy="3061335"/>
          </a:xfrm>
          <a:prstGeom prst="rect">
            <a:avLst/>
          </a:prstGeom>
        </p:spPr>
        <p:txBody>
          <a:bodyPr wrap="square" lIns="0" tIns="59690" rIns="0" bIns="0" rtlCol="0" vert="horz">
            <a:spAutoFit/>
          </a:bodyPr>
          <a:lstStyle/>
          <a:p>
            <a:pPr marL="182880" marR="141351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CASE</a:t>
            </a:r>
            <a:r>
              <a:rPr dirty="0" sz="2800" spc="-55">
                <a:solidFill>
                  <a:srgbClr val="4E3629"/>
                </a:solidFill>
                <a:latin typeface="Calibri"/>
                <a:cs typeface="Calibri"/>
              </a:rPr>
              <a:t> </a:t>
            </a:r>
            <a:r>
              <a:rPr dirty="0" sz="2800">
                <a:solidFill>
                  <a:srgbClr val="4E3629"/>
                </a:solidFill>
                <a:latin typeface="Calibri"/>
                <a:cs typeface="Calibri"/>
              </a:rPr>
              <a:t>y</a:t>
            </a:r>
            <a:r>
              <a:rPr dirty="0" sz="2800" spc="-45">
                <a:solidFill>
                  <a:srgbClr val="4E3629"/>
                </a:solidFill>
                <a:latin typeface="Calibri"/>
                <a:cs typeface="Calibri"/>
              </a:rPr>
              <a:t> </a:t>
            </a:r>
            <a:r>
              <a:rPr dirty="0" sz="2800">
                <a:solidFill>
                  <a:srgbClr val="4E3629"/>
                </a:solidFill>
                <a:latin typeface="Calibri"/>
                <a:cs typeface="Calibri"/>
              </a:rPr>
              <a:t>DECODE</a:t>
            </a:r>
            <a:r>
              <a:rPr dirty="0" sz="2800" spc="-45">
                <a:solidFill>
                  <a:srgbClr val="4E3629"/>
                </a:solidFill>
                <a:latin typeface="Calibri"/>
                <a:cs typeface="Calibri"/>
              </a:rPr>
              <a:t> </a:t>
            </a:r>
            <a:r>
              <a:rPr dirty="0" sz="2800">
                <a:solidFill>
                  <a:srgbClr val="4E3629"/>
                </a:solidFill>
                <a:latin typeface="Calibri"/>
                <a:cs typeface="Calibri"/>
              </a:rPr>
              <a:t>son</a:t>
            </a:r>
            <a:r>
              <a:rPr dirty="0" sz="2800" spc="-45">
                <a:solidFill>
                  <a:srgbClr val="4E3629"/>
                </a:solidFill>
                <a:latin typeface="Calibri"/>
                <a:cs typeface="Calibri"/>
              </a:rPr>
              <a:t> </a:t>
            </a:r>
            <a:r>
              <a:rPr dirty="0" sz="2800">
                <a:solidFill>
                  <a:srgbClr val="4E3629"/>
                </a:solidFill>
                <a:latin typeface="Calibri"/>
                <a:cs typeface="Calibri"/>
              </a:rPr>
              <a:t>ejemplos</a:t>
            </a:r>
            <a:r>
              <a:rPr dirty="0" sz="2800" spc="-3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estas 	diferencias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CASE</a:t>
            </a:r>
            <a:r>
              <a:rPr dirty="0" sz="2800" spc="-75">
                <a:solidFill>
                  <a:srgbClr val="4E3629"/>
                </a:solidFill>
                <a:latin typeface="Calibri"/>
                <a:cs typeface="Calibri"/>
              </a:rPr>
              <a:t> </a:t>
            </a:r>
            <a:r>
              <a:rPr dirty="0" sz="2800">
                <a:solidFill>
                  <a:srgbClr val="4E3629"/>
                </a:solidFill>
                <a:latin typeface="Calibri"/>
                <a:cs typeface="Calibri"/>
              </a:rPr>
              <a:t>es</a:t>
            </a:r>
            <a:r>
              <a:rPr dirty="0" sz="2800" spc="-7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sentencia</a:t>
            </a:r>
            <a:r>
              <a:rPr dirty="0" sz="2800" spc="-60">
                <a:solidFill>
                  <a:srgbClr val="4E3629"/>
                </a:solidFill>
                <a:latin typeface="Calibri"/>
                <a:cs typeface="Calibri"/>
              </a:rPr>
              <a:t> </a:t>
            </a:r>
            <a:r>
              <a:rPr dirty="0" sz="2800">
                <a:solidFill>
                  <a:srgbClr val="4E3629"/>
                </a:solidFill>
                <a:latin typeface="Calibri"/>
                <a:cs typeface="Calibri"/>
              </a:rPr>
              <a:t>compatible</a:t>
            </a:r>
            <a:r>
              <a:rPr dirty="0" sz="2800" spc="-60">
                <a:solidFill>
                  <a:srgbClr val="4E3629"/>
                </a:solidFill>
                <a:latin typeface="Calibri"/>
                <a:cs typeface="Calibri"/>
              </a:rPr>
              <a:t> </a:t>
            </a:r>
            <a:r>
              <a:rPr dirty="0" sz="2800">
                <a:solidFill>
                  <a:srgbClr val="4E3629"/>
                </a:solidFill>
                <a:latin typeface="Calibri"/>
                <a:cs typeface="Calibri"/>
              </a:rPr>
              <a:t>con</a:t>
            </a:r>
            <a:r>
              <a:rPr dirty="0" sz="2800" spc="-70">
                <a:solidFill>
                  <a:srgbClr val="4E3629"/>
                </a:solidFill>
                <a:latin typeface="Calibri"/>
                <a:cs typeface="Calibri"/>
              </a:rPr>
              <a:t> </a:t>
            </a:r>
            <a:r>
              <a:rPr dirty="0" sz="2800">
                <a:solidFill>
                  <a:srgbClr val="4E3629"/>
                </a:solidFill>
                <a:latin typeface="Calibri"/>
                <a:cs typeface="Calibri"/>
              </a:rPr>
              <a:t>ANSI/ISO</a:t>
            </a:r>
            <a:r>
              <a:rPr dirty="0" sz="2800" spc="-70">
                <a:solidFill>
                  <a:srgbClr val="4E3629"/>
                </a:solidFill>
                <a:latin typeface="Calibri"/>
                <a:cs typeface="Calibri"/>
              </a:rPr>
              <a:t> </a:t>
            </a:r>
            <a:r>
              <a:rPr dirty="0" sz="2800">
                <a:solidFill>
                  <a:srgbClr val="4E3629"/>
                </a:solidFill>
                <a:latin typeface="Calibri"/>
                <a:cs typeface="Calibri"/>
              </a:rPr>
              <a:t>99</a:t>
            </a:r>
            <a:r>
              <a:rPr dirty="0" sz="2800" spc="-55">
                <a:solidFill>
                  <a:srgbClr val="4E3629"/>
                </a:solidFill>
                <a:latin typeface="Calibri"/>
                <a:cs typeface="Calibri"/>
              </a:rPr>
              <a:t> </a:t>
            </a:r>
            <a:r>
              <a:rPr dirty="0" sz="2800" spc="-25">
                <a:solidFill>
                  <a:srgbClr val="4E3629"/>
                </a:solidFill>
                <a:latin typeface="Calibri"/>
                <a:cs typeface="Calibri"/>
              </a:rPr>
              <a:t>SQL 	99</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DECODE</a:t>
            </a:r>
            <a:r>
              <a:rPr dirty="0" sz="2800" spc="-85">
                <a:solidFill>
                  <a:srgbClr val="4E3629"/>
                </a:solidFill>
                <a:latin typeface="Calibri"/>
                <a:cs typeface="Calibri"/>
              </a:rPr>
              <a:t> </a:t>
            </a:r>
            <a:r>
              <a:rPr dirty="0" sz="2800">
                <a:solidFill>
                  <a:srgbClr val="4E3629"/>
                </a:solidFill>
                <a:latin typeface="Calibri"/>
                <a:cs typeface="Calibri"/>
              </a:rPr>
              <a:t>es</a:t>
            </a:r>
            <a:r>
              <a:rPr dirty="0" sz="2800" spc="-90">
                <a:solidFill>
                  <a:srgbClr val="4E3629"/>
                </a:solidFill>
                <a:latin typeface="Calibri"/>
                <a:cs typeface="Calibri"/>
              </a:rPr>
              <a:t> </a:t>
            </a:r>
            <a:r>
              <a:rPr dirty="0" sz="2800">
                <a:solidFill>
                  <a:srgbClr val="4E3629"/>
                </a:solidFill>
                <a:latin typeface="Calibri"/>
                <a:cs typeface="Calibri"/>
              </a:rPr>
              <a:t>una</a:t>
            </a:r>
            <a:r>
              <a:rPr dirty="0" sz="2800" spc="-70">
                <a:solidFill>
                  <a:srgbClr val="4E3629"/>
                </a:solidFill>
                <a:latin typeface="Calibri"/>
                <a:cs typeface="Calibri"/>
              </a:rPr>
              <a:t> </a:t>
            </a:r>
            <a:r>
              <a:rPr dirty="0" sz="2800">
                <a:solidFill>
                  <a:srgbClr val="4E3629"/>
                </a:solidFill>
                <a:latin typeface="Calibri"/>
                <a:cs typeface="Calibri"/>
              </a:rPr>
              <a:t>sentencia</a:t>
            </a:r>
            <a:r>
              <a:rPr dirty="0" sz="2800" spc="-80">
                <a:solidFill>
                  <a:srgbClr val="4E3629"/>
                </a:solidFill>
                <a:latin typeface="Calibri"/>
                <a:cs typeface="Calibri"/>
              </a:rPr>
              <a:t> </a:t>
            </a:r>
            <a:r>
              <a:rPr dirty="0" sz="2800">
                <a:solidFill>
                  <a:srgbClr val="4E3629"/>
                </a:solidFill>
                <a:latin typeface="Calibri"/>
                <a:cs typeface="Calibri"/>
              </a:rPr>
              <a:t>propiedad</a:t>
            </a:r>
            <a:r>
              <a:rPr dirty="0" sz="2800" spc="-65">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spc="-10">
                <a:solidFill>
                  <a:srgbClr val="4E3629"/>
                </a:solidFill>
                <a:latin typeface="Calibri"/>
                <a:cs typeface="Calibri"/>
              </a:rPr>
              <a:t>Oracle</a:t>
            </a:r>
            <a:endParaRPr sz="2800">
              <a:latin typeface="Calibri"/>
              <a:cs typeface="Calibri"/>
            </a:endParaRPr>
          </a:p>
          <a:p>
            <a:pPr marL="182880" marR="648970" indent="-170815">
              <a:lnSpc>
                <a:spcPts val="3030"/>
              </a:lnSpc>
              <a:spcBef>
                <a:spcPts val="830"/>
              </a:spcBef>
              <a:buClr>
                <a:srgbClr val="D1350F"/>
              </a:buClr>
              <a:buFont typeface="Arial MT"/>
              <a:buChar char="•"/>
              <a:tabLst>
                <a:tab pos="184785" algn="l"/>
              </a:tabLst>
            </a:pPr>
            <a:r>
              <a:rPr dirty="0" sz="2800">
                <a:solidFill>
                  <a:srgbClr val="4E3629"/>
                </a:solidFill>
                <a:latin typeface="Calibri"/>
                <a:cs typeface="Calibri"/>
              </a:rPr>
              <a:t>Ambas</a:t>
            </a:r>
            <a:r>
              <a:rPr dirty="0" sz="2800" spc="-70">
                <a:solidFill>
                  <a:srgbClr val="4E3629"/>
                </a:solidFill>
                <a:latin typeface="Calibri"/>
                <a:cs typeface="Calibri"/>
              </a:rPr>
              <a:t> </a:t>
            </a:r>
            <a:r>
              <a:rPr dirty="0" sz="2800">
                <a:solidFill>
                  <a:srgbClr val="4E3629"/>
                </a:solidFill>
                <a:latin typeface="Calibri"/>
                <a:cs typeface="Calibri"/>
              </a:rPr>
              <a:t>sentencias</a:t>
            </a:r>
            <a:r>
              <a:rPr dirty="0" sz="2800" spc="-70">
                <a:solidFill>
                  <a:srgbClr val="4E3629"/>
                </a:solidFill>
                <a:latin typeface="Calibri"/>
                <a:cs typeface="Calibri"/>
              </a:rPr>
              <a:t> </a:t>
            </a:r>
            <a:r>
              <a:rPr dirty="0" sz="2800">
                <a:solidFill>
                  <a:srgbClr val="4E3629"/>
                </a:solidFill>
                <a:latin typeface="Calibri"/>
                <a:cs typeface="Calibri"/>
              </a:rPr>
              <a:t>devuelven</a:t>
            </a:r>
            <a:r>
              <a:rPr dirty="0" sz="2800" spc="-85">
                <a:solidFill>
                  <a:srgbClr val="4E3629"/>
                </a:solidFill>
                <a:latin typeface="Calibri"/>
                <a:cs typeface="Calibri"/>
              </a:rPr>
              <a:t> </a:t>
            </a: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misma</a:t>
            </a:r>
            <a:r>
              <a:rPr dirty="0" sz="2800" spc="-75">
                <a:solidFill>
                  <a:srgbClr val="4E3629"/>
                </a:solidFill>
                <a:latin typeface="Calibri"/>
                <a:cs typeface="Calibri"/>
              </a:rPr>
              <a:t> </a:t>
            </a:r>
            <a:r>
              <a:rPr dirty="0" sz="2800" spc="-10">
                <a:solidFill>
                  <a:srgbClr val="4E3629"/>
                </a:solidFill>
                <a:latin typeface="Calibri"/>
                <a:cs typeface="Calibri"/>
              </a:rPr>
              <a:t>información </a:t>
            </a:r>
            <a:r>
              <a:rPr dirty="0" sz="2800" spc="-10">
                <a:solidFill>
                  <a:srgbClr val="4E3629"/>
                </a:solidFill>
                <a:latin typeface="Calibri"/>
                <a:cs typeface="Calibri"/>
              </a:rPr>
              <a:t>	</a:t>
            </a:r>
            <a:r>
              <a:rPr dirty="0" sz="2800">
                <a:solidFill>
                  <a:srgbClr val="4E3629"/>
                </a:solidFill>
                <a:latin typeface="Calibri"/>
                <a:cs typeface="Calibri"/>
              </a:rPr>
              <a:t>utilizando</a:t>
            </a:r>
            <a:r>
              <a:rPr dirty="0" sz="2800" spc="-100">
                <a:solidFill>
                  <a:srgbClr val="4E3629"/>
                </a:solidFill>
                <a:latin typeface="Calibri"/>
                <a:cs typeface="Calibri"/>
              </a:rPr>
              <a:t> </a:t>
            </a:r>
            <a:r>
              <a:rPr dirty="0" sz="2800" spc="-10">
                <a:solidFill>
                  <a:srgbClr val="4E3629"/>
                </a:solidFill>
                <a:latin typeface="Calibri"/>
                <a:cs typeface="Calibri"/>
              </a:rPr>
              <a:t>sintaxis</a:t>
            </a:r>
            <a:r>
              <a:rPr dirty="0" sz="2800" spc="-114">
                <a:solidFill>
                  <a:srgbClr val="4E3629"/>
                </a:solidFill>
                <a:latin typeface="Calibri"/>
                <a:cs typeface="Calibri"/>
              </a:rPr>
              <a:t> </a:t>
            </a:r>
            <a:r>
              <a:rPr dirty="0" sz="2800" spc="-10">
                <a:solidFill>
                  <a:srgbClr val="4E3629"/>
                </a:solidFill>
                <a:latin typeface="Calibri"/>
                <a:cs typeface="Calibri"/>
              </a:rPr>
              <a:t>diferente</a:t>
            </a:r>
            <a:endParaRPr sz="2800">
              <a:latin typeface="Calibri"/>
              <a:cs typeface="Calibri"/>
            </a:endParaRPr>
          </a:p>
        </p:txBody>
      </p:sp>
      <p:grpSp>
        <p:nvGrpSpPr>
          <p:cNvPr id="4" name="object 4"/>
          <p:cNvGrpSpPr/>
          <p:nvPr/>
        </p:nvGrpSpPr>
        <p:grpSpPr>
          <a:xfrm>
            <a:off x="5548884" y="4447032"/>
            <a:ext cx="3005455" cy="1697989"/>
            <a:chOff x="5548884" y="4447032"/>
            <a:chExt cx="3005455" cy="1697989"/>
          </a:xfrm>
        </p:grpSpPr>
        <p:pic>
          <p:nvPicPr>
            <p:cNvPr id="5" name="object 5"/>
            <p:cNvPicPr/>
            <p:nvPr/>
          </p:nvPicPr>
          <p:blipFill>
            <a:blip r:embed="rId2" cstate="print"/>
            <a:stretch>
              <a:fillRect/>
            </a:stretch>
          </p:blipFill>
          <p:spPr>
            <a:xfrm>
              <a:off x="5548884" y="5617464"/>
              <a:ext cx="3005327" cy="527303"/>
            </a:xfrm>
            <a:prstGeom prst="rect">
              <a:avLst/>
            </a:prstGeom>
          </p:spPr>
        </p:pic>
        <p:pic>
          <p:nvPicPr>
            <p:cNvPr id="6" name="object 6"/>
            <p:cNvPicPr/>
            <p:nvPr/>
          </p:nvPicPr>
          <p:blipFill>
            <a:blip r:embed="rId3" cstate="print"/>
            <a:stretch>
              <a:fillRect/>
            </a:stretch>
          </p:blipFill>
          <p:spPr>
            <a:xfrm>
              <a:off x="6216396" y="4447032"/>
              <a:ext cx="2260092" cy="1620012"/>
            </a:xfrm>
            <a:prstGeom prst="rect">
              <a:avLst/>
            </a:prstGeom>
          </p:spPr>
        </p:pic>
      </p:grpSp>
      <p:sp>
        <p:nvSpPr>
          <p:cNvPr id="7" name="object 7"/>
          <p:cNvSpPr txBox="1"/>
          <p:nvPr/>
        </p:nvSpPr>
        <p:spPr>
          <a:xfrm>
            <a:off x="2874191" y="6516395"/>
            <a:ext cx="11836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Expresiones</a:t>
            </a:r>
            <a:r>
              <a:rPr dirty="0" sz="850" spc="50">
                <a:solidFill>
                  <a:srgbClr val="4E3629"/>
                </a:solidFill>
                <a:latin typeface="Calibri"/>
                <a:cs typeface="Calibri"/>
              </a:rPr>
              <a:t> </a:t>
            </a:r>
            <a:r>
              <a:rPr dirty="0" sz="850" spc="-10">
                <a:solidFill>
                  <a:srgbClr val="4E3629"/>
                </a:solidFill>
                <a:latin typeface="Calibri"/>
                <a:cs typeface="Calibri"/>
              </a:rPr>
              <a:t>Condicionales</a:t>
            </a:r>
            <a:endParaRPr sz="850">
              <a:latin typeface="Calibri"/>
              <a:cs typeface="Calibri"/>
            </a:endParaRP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8</a:t>
            </a: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Expresión</a:t>
            </a:r>
            <a:r>
              <a:rPr dirty="0" spc="-125"/>
              <a:t> </a:t>
            </a:r>
            <a:r>
              <a:rPr dirty="0" spc="-20"/>
              <a:t>CASE</a:t>
            </a:r>
          </a:p>
        </p:txBody>
      </p:sp>
      <p:sp>
        <p:nvSpPr>
          <p:cNvPr id="3" name="object 3"/>
          <p:cNvSpPr txBox="1"/>
          <p:nvPr/>
        </p:nvSpPr>
        <p:spPr>
          <a:xfrm>
            <a:off x="483552" y="1415417"/>
            <a:ext cx="7680959" cy="219202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expresión</a:t>
            </a:r>
            <a:r>
              <a:rPr dirty="0" sz="2800" spc="-50">
                <a:solidFill>
                  <a:srgbClr val="4E3629"/>
                </a:solidFill>
                <a:latin typeface="Calibri"/>
                <a:cs typeface="Calibri"/>
              </a:rPr>
              <a:t> </a:t>
            </a:r>
            <a:r>
              <a:rPr dirty="0" sz="2800">
                <a:solidFill>
                  <a:srgbClr val="4E3629"/>
                </a:solidFill>
                <a:latin typeface="Calibri"/>
                <a:cs typeface="Calibri"/>
              </a:rPr>
              <a:t>CASE</a:t>
            </a:r>
            <a:r>
              <a:rPr dirty="0" sz="2800" spc="-75">
                <a:solidFill>
                  <a:srgbClr val="4E3629"/>
                </a:solidFill>
                <a:latin typeface="Calibri"/>
                <a:cs typeface="Calibri"/>
              </a:rPr>
              <a:t> </a:t>
            </a:r>
            <a:r>
              <a:rPr dirty="0" sz="2800" spc="-10">
                <a:solidFill>
                  <a:srgbClr val="4E3629"/>
                </a:solidFill>
                <a:latin typeface="Calibri"/>
                <a:cs typeface="Calibri"/>
              </a:rPr>
              <a:t>básicamente</a:t>
            </a:r>
            <a:r>
              <a:rPr dirty="0" sz="2800" spc="-65">
                <a:solidFill>
                  <a:srgbClr val="4E3629"/>
                </a:solidFill>
                <a:latin typeface="Calibri"/>
                <a:cs typeface="Calibri"/>
              </a:rPr>
              <a:t> </a:t>
            </a:r>
            <a:r>
              <a:rPr dirty="0" sz="2800">
                <a:solidFill>
                  <a:srgbClr val="4E3629"/>
                </a:solidFill>
                <a:latin typeface="Calibri"/>
                <a:cs typeface="Calibri"/>
              </a:rPr>
              <a:t>realiza</a:t>
            </a:r>
            <a:r>
              <a:rPr dirty="0" sz="2800" spc="-8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función</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sentencia</a:t>
            </a:r>
            <a:r>
              <a:rPr dirty="0" sz="2800" spc="-65">
                <a:solidFill>
                  <a:srgbClr val="4E3629"/>
                </a:solidFill>
                <a:latin typeface="Calibri"/>
                <a:cs typeface="Calibri"/>
              </a:rPr>
              <a:t> </a:t>
            </a:r>
            <a:r>
              <a:rPr dirty="0" sz="2800" spc="-10">
                <a:solidFill>
                  <a:srgbClr val="4E3629"/>
                </a:solidFill>
                <a:latin typeface="Calibri"/>
                <a:cs typeface="Calibri"/>
              </a:rPr>
              <a:t>IF-</a:t>
            </a:r>
            <a:r>
              <a:rPr dirty="0" sz="2800" spc="-20">
                <a:solidFill>
                  <a:srgbClr val="4E3629"/>
                </a:solidFill>
                <a:latin typeface="Calibri"/>
                <a:cs typeface="Calibri"/>
              </a:rPr>
              <a:t>THEN-ELSE</a:t>
            </a:r>
            <a:endParaRPr sz="2800">
              <a:latin typeface="Calibri"/>
              <a:cs typeface="Calibri"/>
            </a:endParaRPr>
          </a:p>
          <a:p>
            <a:pPr marL="182880" marR="15367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Los</a:t>
            </a:r>
            <a:r>
              <a:rPr dirty="0" sz="2800" spc="-45">
                <a:solidFill>
                  <a:srgbClr val="4E3629"/>
                </a:solidFill>
                <a:latin typeface="Calibri"/>
                <a:cs typeface="Calibri"/>
              </a:rPr>
              <a:t> </a:t>
            </a:r>
            <a:r>
              <a:rPr dirty="0" sz="2800">
                <a:solidFill>
                  <a:srgbClr val="4E3629"/>
                </a:solidFill>
                <a:latin typeface="Calibri"/>
                <a:cs typeface="Calibri"/>
              </a:rPr>
              <a:t>tipos</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a:t>
            </a:r>
            <a:r>
              <a:rPr dirty="0" sz="2800" spc="-5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las</a:t>
            </a:r>
            <a:r>
              <a:rPr dirty="0" sz="2800" spc="-50">
                <a:solidFill>
                  <a:srgbClr val="4E3629"/>
                </a:solidFill>
                <a:latin typeface="Calibri"/>
                <a:cs typeface="Calibri"/>
              </a:rPr>
              <a:t> </a:t>
            </a:r>
            <a:r>
              <a:rPr dirty="0" sz="2800" spc="-10">
                <a:solidFill>
                  <a:srgbClr val="4E3629"/>
                </a:solidFill>
                <a:latin typeface="Calibri"/>
                <a:cs typeface="Calibri"/>
              </a:rPr>
              <a:t>expresiones</a:t>
            </a:r>
            <a:r>
              <a:rPr dirty="0" sz="2800" spc="-20">
                <a:solidFill>
                  <a:srgbClr val="4E3629"/>
                </a:solidFill>
                <a:latin typeface="Calibri"/>
                <a:cs typeface="Calibri"/>
              </a:rPr>
              <a:t> </a:t>
            </a:r>
            <a:r>
              <a:rPr dirty="0" sz="2800">
                <a:solidFill>
                  <a:srgbClr val="4E3629"/>
                </a:solidFill>
                <a:latin typeface="Calibri"/>
                <a:cs typeface="Calibri"/>
              </a:rPr>
              <a:t>CASE,</a:t>
            </a:r>
            <a:r>
              <a:rPr dirty="0" sz="2800" spc="-40">
                <a:solidFill>
                  <a:srgbClr val="4E3629"/>
                </a:solidFill>
                <a:latin typeface="Calibri"/>
                <a:cs typeface="Calibri"/>
              </a:rPr>
              <a:t> </a:t>
            </a:r>
            <a:r>
              <a:rPr dirty="0" sz="2800">
                <a:solidFill>
                  <a:srgbClr val="4E3629"/>
                </a:solidFill>
                <a:latin typeface="Calibri"/>
                <a:cs typeface="Calibri"/>
              </a:rPr>
              <a:t>WHEN</a:t>
            </a:r>
            <a:r>
              <a:rPr dirty="0" sz="2800" spc="-35">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a:solidFill>
                  <a:srgbClr val="4E3629"/>
                </a:solidFill>
                <a:latin typeface="Calibri"/>
                <a:cs typeface="Calibri"/>
              </a:rPr>
              <a:t>ELSE</a:t>
            </a:r>
            <a:r>
              <a:rPr dirty="0" sz="2800" spc="-50">
                <a:solidFill>
                  <a:srgbClr val="4E3629"/>
                </a:solidFill>
                <a:latin typeface="Calibri"/>
                <a:cs typeface="Calibri"/>
              </a:rPr>
              <a:t> </a:t>
            </a:r>
            <a:r>
              <a:rPr dirty="0" sz="2800">
                <a:solidFill>
                  <a:srgbClr val="4E3629"/>
                </a:solidFill>
                <a:latin typeface="Calibri"/>
                <a:cs typeface="Calibri"/>
              </a:rPr>
              <a:t>deben</a:t>
            </a:r>
            <a:r>
              <a:rPr dirty="0" sz="2800" spc="-15">
                <a:solidFill>
                  <a:srgbClr val="4E3629"/>
                </a:solidFill>
                <a:latin typeface="Calibri"/>
                <a:cs typeface="Calibri"/>
              </a:rPr>
              <a:t> </a:t>
            </a:r>
            <a:r>
              <a:rPr dirty="0" sz="2800">
                <a:solidFill>
                  <a:srgbClr val="4E3629"/>
                </a:solidFill>
                <a:latin typeface="Calibri"/>
                <a:cs typeface="Calibri"/>
              </a:rPr>
              <a:t>ser</a:t>
            </a:r>
            <a:r>
              <a:rPr dirty="0" sz="2800" spc="-45">
                <a:solidFill>
                  <a:srgbClr val="4E3629"/>
                </a:solidFill>
                <a:latin typeface="Calibri"/>
                <a:cs typeface="Calibri"/>
              </a:rPr>
              <a:t> </a:t>
            </a:r>
            <a:r>
              <a:rPr dirty="0" sz="2800" spc="-10">
                <a:solidFill>
                  <a:srgbClr val="4E3629"/>
                </a:solidFill>
                <a:latin typeface="Calibri"/>
                <a:cs typeface="Calibri"/>
              </a:rPr>
              <a:t>iguales</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sintaxis</a:t>
            </a:r>
            <a:r>
              <a:rPr dirty="0" sz="2800" spc="-2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spc="-10">
                <a:solidFill>
                  <a:srgbClr val="4E3629"/>
                </a:solidFill>
                <a:latin typeface="Calibri"/>
                <a:cs typeface="Calibri"/>
              </a:rPr>
              <a:t>expresión</a:t>
            </a:r>
            <a:r>
              <a:rPr dirty="0" sz="2800" spc="-45">
                <a:solidFill>
                  <a:srgbClr val="4E3629"/>
                </a:solidFill>
                <a:latin typeface="Calibri"/>
                <a:cs typeface="Calibri"/>
              </a:rPr>
              <a:t> </a:t>
            </a:r>
            <a:r>
              <a:rPr dirty="0" sz="2800">
                <a:solidFill>
                  <a:srgbClr val="4E3629"/>
                </a:solidFill>
                <a:latin typeface="Calibri"/>
                <a:cs typeface="Calibri"/>
              </a:rPr>
              <a:t>CASE</a:t>
            </a:r>
            <a:r>
              <a:rPr dirty="0" sz="2800" spc="-50">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p:cNvSpPr/>
          <p:nvPr/>
        </p:nvSpPr>
        <p:spPr>
          <a:xfrm>
            <a:off x="405384" y="3758184"/>
            <a:ext cx="8345805" cy="1445260"/>
          </a:xfrm>
          <a:custGeom>
            <a:avLst/>
            <a:gdLst/>
            <a:ahLst/>
            <a:cxnLst/>
            <a:rect l="l" t="t" r="r" b="b"/>
            <a:pathLst>
              <a:path w="8345805" h="1445260">
                <a:moveTo>
                  <a:pt x="8345424" y="0"/>
                </a:moveTo>
                <a:lnTo>
                  <a:pt x="0" y="0"/>
                </a:lnTo>
                <a:lnTo>
                  <a:pt x="0" y="1444752"/>
                </a:lnTo>
                <a:lnTo>
                  <a:pt x="8345424" y="1444752"/>
                </a:lnTo>
                <a:lnTo>
                  <a:pt x="8345424" y="0"/>
                </a:lnTo>
                <a:close/>
              </a:path>
            </a:pathLst>
          </a:custGeom>
          <a:solidFill>
            <a:srgbClr val="9DBEC4">
              <a:alpha val="50199"/>
            </a:srgbClr>
          </a:solidFill>
        </p:spPr>
        <p:txBody>
          <a:bodyPr wrap="square" lIns="0" tIns="0" rIns="0" bIns="0" rtlCol="0"/>
          <a:lstStyle/>
          <a:p/>
        </p:txBody>
      </p:sp>
      <p:graphicFrame>
        <p:nvGraphicFramePr>
          <p:cNvPr id="5" name="object 5"/>
          <p:cNvGraphicFramePr>
            <a:graphicFrameLocks noGrp="1"/>
          </p:cNvGraphicFramePr>
          <p:nvPr/>
        </p:nvGraphicFramePr>
        <p:xfrm>
          <a:off x="405384" y="3758184"/>
          <a:ext cx="6796405" cy="1443355"/>
        </p:xfrm>
        <a:graphic>
          <a:graphicData uri="http://schemas.openxmlformats.org/drawingml/2006/table">
            <a:tbl>
              <a:tblPr firstRow="1" bandRow="1">
                <a:tableStyleId>{2D5ABB26-0587-4C30-8999-92F81FD0307C}</a:tableStyleId>
              </a:tblPr>
              <a:tblGrid>
                <a:gridCol w="1979930"/>
                <a:gridCol w="2319655"/>
                <a:gridCol w="682625"/>
                <a:gridCol w="1737994"/>
              </a:tblGrid>
              <a:tr h="313690">
                <a:tc>
                  <a:txBody>
                    <a:bodyPr/>
                    <a:lstStyle/>
                    <a:p>
                      <a:pPr algn="r" marR="59690">
                        <a:lnSpc>
                          <a:spcPct val="100000"/>
                        </a:lnSpc>
                        <a:spcBef>
                          <a:spcPts val="70"/>
                        </a:spcBef>
                      </a:pPr>
                      <a:r>
                        <a:rPr dirty="0" sz="1800" b="1">
                          <a:solidFill>
                            <a:srgbClr val="4E3629"/>
                          </a:solidFill>
                          <a:latin typeface="Courier New"/>
                          <a:cs typeface="Courier New"/>
                        </a:rPr>
                        <a:t>CASE</a:t>
                      </a:r>
                      <a:r>
                        <a:rPr dirty="0" sz="1800" spc="-40" b="1">
                          <a:solidFill>
                            <a:srgbClr val="4E3629"/>
                          </a:solidFill>
                          <a:latin typeface="Courier New"/>
                          <a:cs typeface="Courier New"/>
                        </a:rPr>
                        <a:t> </a:t>
                      </a:r>
                      <a:r>
                        <a:rPr dirty="0" sz="1800" b="1">
                          <a:solidFill>
                            <a:srgbClr val="4E3629"/>
                          </a:solidFill>
                          <a:latin typeface="Courier New"/>
                          <a:cs typeface="Courier New"/>
                        </a:rPr>
                        <a:t>expr</a:t>
                      </a:r>
                      <a:r>
                        <a:rPr dirty="0" sz="1800" spc="-40" b="1">
                          <a:solidFill>
                            <a:srgbClr val="4E3629"/>
                          </a:solidFill>
                          <a:latin typeface="Courier New"/>
                          <a:cs typeface="Courier New"/>
                        </a:rPr>
                        <a:t> </a:t>
                      </a:r>
                      <a:r>
                        <a:rPr dirty="0" sz="1800" spc="-20" b="1">
                          <a:solidFill>
                            <a:srgbClr val="4E3629"/>
                          </a:solidFill>
                          <a:latin typeface="Courier New"/>
                          <a:cs typeface="Courier New"/>
                        </a:rPr>
                        <a:t>WHEN</a:t>
                      </a:r>
                      <a:endParaRPr sz="1800">
                        <a:latin typeface="Courier New"/>
                        <a:cs typeface="Courier New"/>
                      </a:endParaRPr>
                    </a:p>
                  </a:txBody>
                  <a:tcPr marL="0" marR="0" marB="0" marT="8890">
                    <a:solidFill>
                      <a:srgbClr val="9DBEC4">
                        <a:alpha val="50199"/>
                      </a:srgbClr>
                    </a:solidFill>
                  </a:tcPr>
                </a:tc>
                <a:tc>
                  <a:txBody>
                    <a:bodyPr/>
                    <a:lstStyle/>
                    <a:p>
                      <a:pPr marL="67310">
                        <a:lnSpc>
                          <a:spcPct val="100000"/>
                        </a:lnSpc>
                        <a:spcBef>
                          <a:spcPts val="70"/>
                        </a:spcBef>
                      </a:pPr>
                      <a:r>
                        <a:rPr dirty="0" sz="1800" spc="-10" b="1">
                          <a:solidFill>
                            <a:srgbClr val="4E3629"/>
                          </a:solidFill>
                          <a:latin typeface="Courier New"/>
                          <a:cs typeface="Courier New"/>
                        </a:rPr>
                        <a:t>comparison_expr1</a:t>
                      </a:r>
                      <a:endParaRPr sz="1800">
                        <a:latin typeface="Courier New"/>
                        <a:cs typeface="Courier New"/>
                      </a:endParaRPr>
                    </a:p>
                  </a:txBody>
                  <a:tcPr marL="0" marR="0" marB="0" marT="8890">
                    <a:solidFill>
                      <a:srgbClr val="9DBEC4">
                        <a:alpha val="50199"/>
                      </a:srgbClr>
                    </a:solidFill>
                  </a:tcPr>
                </a:tc>
                <a:tc>
                  <a:txBody>
                    <a:bodyPr/>
                    <a:lstStyle/>
                    <a:p>
                      <a:pPr algn="ctr">
                        <a:lnSpc>
                          <a:spcPct val="100000"/>
                        </a:lnSpc>
                        <a:spcBef>
                          <a:spcPts val="70"/>
                        </a:spcBef>
                      </a:pPr>
                      <a:r>
                        <a:rPr dirty="0" sz="1800" spc="-20" b="1">
                          <a:solidFill>
                            <a:srgbClr val="4E3629"/>
                          </a:solidFill>
                          <a:latin typeface="Courier New"/>
                          <a:cs typeface="Courier New"/>
                        </a:rPr>
                        <a:t>THEN</a:t>
                      </a:r>
                      <a:endParaRPr sz="1800">
                        <a:latin typeface="Courier New"/>
                        <a:cs typeface="Courier New"/>
                      </a:endParaRPr>
                    </a:p>
                  </a:txBody>
                  <a:tcPr marL="0" marR="0" marB="0" marT="8890">
                    <a:solidFill>
                      <a:srgbClr val="9DBEC4">
                        <a:alpha val="50199"/>
                      </a:srgbClr>
                    </a:solidFill>
                  </a:tcPr>
                </a:tc>
                <a:tc>
                  <a:txBody>
                    <a:bodyPr/>
                    <a:lstStyle/>
                    <a:p>
                      <a:pPr algn="ctr" marL="35560">
                        <a:lnSpc>
                          <a:spcPct val="100000"/>
                        </a:lnSpc>
                        <a:spcBef>
                          <a:spcPts val="70"/>
                        </a:spcBef>
                      </a:pPr>
                      <a:r>
                        <a:rPr dirty="0" sz="1800" spc="-10" b="1">
                          <a:solidFill>
                            <a:srgbClr val="4E3629"/>
                          </a:solidFill>
                          <a:latin typeface="Courier New"/>
                          <a:cs typeface="Courier New"/>
                        </a:rPr>
                        <a:t>return_expr1</a:t>
                      </a:r>
                      <a:endParaRPr sz="1800">
                        <a:latin typeface="Courier New"/>
                        <a:cs typeface="Courier New"/>
                      </a:endParaRPr>
                    </a:p>
                  </a:txBody>
                  <a:tcPr marL="0" marR="0" marB="0" marT="8890">
                    <a:solidFill>
                      <a:srgbClr val="9DBEC4">
                        <a:alpha val="50199"/>
                      </a:srgbClr>
                    </a:solidFill>
                  </a:tcPr>
                </a:tc>
              </a:tr>
              <a:tr h="274320">
                <a:tc>
                  <a:txBody>
                    <a:bodyPr/>
                    <a:lstStyle/>
                    <a:p>
                      <a:pPr algn="r" marR="59690">
                        <a:lnSpc>
                          <a:spcPts val="1920"/>
                        </a:lnSpc>
                      </a:pPr>
                      <a:r>
                        <a:rPr dirty="0" sz="1800" spc="-10" b="1">
                          <a:solidFill>
                            <a:srgbClr val="4E3629"/>
                          </a:solidFill>
                          <a:latin typeface="Courier New"/>
                          <a:cs typeface="Courier New"/>
                        </a:rPr>
                        <a:t>[WHEN</a:t>
                      </a:r>
                      <a:endParaRPr sz="1800">
                        <a:latin typeface="Courier New"/>
                        <a:cs typeface="Courier New"/>
                      </a:endParaRPr>
                    </a:p>
                  </a:txBody>
                  <a:tcPr marL="0" marR="0" marB="0" marT="0">
                    <a:solidFill>
                      <a:srgbClr val="9DBEC4">
                        <a:alpha val="50199"/>
                      </a:srgbClr>
                    </a:solidFill>
                  </a:tcPr>
                </a:tc>
                <a:tc>
                  <a:txBody>
                    <a:bodyPr/>
                    <a:lstStyle/>
                    <a:p>
                      <a:pPr marL="67310">
                        <a:lnSpc>
                          <a:spcPts val="1920"/>
                        </a:lnSpc>
                      </a:pPr>
                      <a:r>
                        <a:rPr dirty="0" sz="1800" spc="-10" b="1">
                          <a:solidFill>
                            <a:srgbClr val="4E3629"/>
                          </a:solidFill>
                          <a:latin typeface="Courier New"/>
                          <a:cs typeface="Courier New"/>
                        </a:rPr>
                        <a:t>comparison_expr2</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20" b="1">
                          <a:solidFill>
                            <a:srgbClr val="4E3629"/>
                          </a:solidFill>
                          <a:latin typeface="Courier New"/>
                          <a:cs typeface="Courier New"/>
                        </a:rPr>
                        <a:t>THEN</a:t>
                      </a:r>
                      <a:endParaRPr sz="1800">
                        <a:latin typeface="Courier New"/>
                        <a:cs typeface="Courier New"/>
                      </a:endParaRPr>
                    </a:p>
                  </a:txBody>
                  <a:tcPr marL="0" marR="0" marB="0" marT="0">
                    <a:solidFill>
                      <a:srgbClr val="9DBEC4">
                        <a:alpha val="50199"/>
                      </a:srgbClr>
                    </a:solidFill>
                  </a:tcPr>
                </a:tc>
                <a:tc>
                  <a:txBody>
                    <a:bodyPr/>
                    <a:lstStyle/>
                    <a:p>
                      <a:pPr algn="ctr" marL="36195">
                        <a:lnSpc>
                          <a:spcPts val="1920"/>
                        </a:lnSpc>
                      </a:pPr>
                      <a:r>
                        <a:rPr dirty="0" sz="1800" spc="-10" b="1">
                          <a:solidFill>
                            <a:srgbClr val="4E3629"/>
                          </a:solidFill>
                          <a:latin typeface="Courier New"/>
                          <a:cs typeface="Courier New"/>
                        </a:rPr>
                        <a:t>return_expr2</a:t>
                      </a:r>
                      <a:endParaRPr sz="1800">
                        <a:latin typeface="Courier New"/>
                        <a:cs typeface="Courier New"/>
                      </a:endParaRPr>
                    </a:p>
                  </a:txBody>
                  <a:tcPr marL="0" marR="0" marB="0" marT="0">
                    <a:solidFill>
                      <a:srgbClr val="9DBEC4">
                        <a:alpha val="50199"/>
                      </a:srgbClr>
                    </a:solidFill>
                  </a:tcPr>
                </a:tc>
              </a:tr>
              <a:tr h="273685">
                <a:tc>
                  <a:txBody>
                    <a:bodyPr/>
                    <a:lstStyle/>
                    <a:p>
                      <a:pPr algn="r" marR="59690">
                        <a:lnSpc>
                          <a:spcPts val="1920"/>
                        </a:lnSpc>
                      </a:pPr>
                      <a:r>
                        <a:rPr dirty="0" sz="1800" spc="-20" b="1">
                          <a:solidFill>
                            <a:srgbClr val="4E3629"/>
                          </a:solidFill>
                          <a:latin typeface="Courier New"/>
                          <a:cs typeface="Courier New"/>
                        </a:rPr>
                        <a:t>WHEN</a:t>
                      </a:r>
                      <a:endParaRPr sz="1800">
                        <a:latin typeface="Courier New"/>
                        <a:cs typeface="Courier New"/>
                      </a:endParaRPr>
                    </a:p>
                  </a:txBody>
                  <a:tcPr marL="0" marR="0" marB="0" marT="0">
                    <a:solidFill>
                      <a:srgbClr val="9DBEC4">
                        <a:alpha val="50199"/>
                      </a:srgbClr>
                    </a:solidFill>
                  </a:tcPr>
                </a:tc>
                <a:tc>
                  <a:txBody>
                    <a:bodyPr/>
                    <a:lstStyle/>
                    <a:p>
                      <a:pPr marL="67310">
                        <a:lnSpc>
                          <a:spcPts val="1920"/>
                        </a:lnSpc>
                      </a:pPr>
                      <a:r>
                        <a:rPr dirty="0" sz="1800" spc="-10" b="1">
                          <a:solidFill>
                            <a:srgbClr val="4E3629"/>
                          </a:solidFill>
                          <a:latin typeface="Courier New"/>
                          <a:cs typeface="Courier New"/>
                        </a:rPr>
                        <a:t>comparison_exprn</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20" b="1">
                          <a:solidFill>
                            <a:srgbClr val="4E3629"/>
                          </a:solidFill>
                          <a:latin typeface="Courier New"/>
                          <a:cs typeface="Courier New"/>
                        </a:rPr>
                        <a:t>THEN</a:t>
                      </a:r>
                      <a:endParaRPr sz="1800">
                        <a:latin typeface="Courier New"/>
                        <a:cs typeface="Courier New"/>
                      </a:endParaRPr>
                    </a:p>
                  </a:txBody>
                  <a:tcPr marL="0" marR="0" marB="0" marT="0">
                    <a:solidFill>
                      <a:srgbClr val="9DBEC4">
                        <a:alpha val="50199"/>
                      </a:srgbClr>
                    </a:solidFill>
                  </a:tcPr>
                </a:tc>
                <a:tc>
                  <a:txBody>
                    <a:bodyPr/>
                    <a:lstStyle/>
                    <a:p>
                      <a:pPr algn="ctr" marL="35560">
                        <a:lnSpc>
                          <a:spcPts val="1920"/>
                        </a:lnSpc>
                      </a:pPr>
                      <a:r>
                        <a:rPr dirty="0" sz="1800" spc="-10" b="1">
                          <a:solidFill>
                            <a:srgbClr val="4E3629"/>
                          </a:solidFill>
                          <a:latin typeface="Courier New"/>
                          <a:cs typeface="Courier New"/>
                        </a:rPr>
                        <a:t>return_exprn</a:t>
                      </a:r>
                      <a:endParaRPr sz="1800">
                        <a:latin typeface="Courier New"/>
                        <a:cs typeface="Courier New"/>
                      </a:endParaRPr>
                    </a:p>
                  </a:txBody>
                  <a:tcPr marL="0" marR="0" marB="0" marT="0">
                    <a:solidFill>
                      <a:srgbClr val="9DBEC4">
                        <a:alpha val="50199"/>
                      </a:srgbClr>
                    </a:solidFill>
                  </a:tcPr>
                </a:tc>
              </a:tr>
              <a:tr h="581660">
                <a:tc>
                  <a:txBody>
                    <a:bodyPr/>
                    <a:lstStyle/>
                    <a:p>
                      <a:pPr marL="1364615">
                        <a:lnSpc>
                          <a:spcPts val="1920"/>
                        </a:lnSpc>
                      </a:pPr>
                      <a:r>
                        <a:rPr dirty="0" sz="1800" spc="-20" b="1">
                          <a:solidFill>
                            <a:srgbClr val="4E3629"/>
                          </a:solidFill>
                          <a:latin typeface="Courier New"/>
                          <a:cs typeface="Courier New"/>
                        </a:rPr>
                        <a:t>ELSE</a:t>
                      </a:r>
                      <a:endParaRPr sz="1800">
                        <a:latin typeface="Courier New"/>
                        <a:cs typeface="Courier New"/>
                      </a:endParaRPr>
                    </a:p>
                    <a:p>
                      <a:pPr>
                        <a:lnSpc>
                          <a:spcPct val="100000"/>
                        </a:lnSpc>
                      </a:pPr>
                      <a:r>
                        <a:rPr dirty="0" sz="1800" spc="-25" b="1">
                          <a:solidFill>
                            <a:srgbClr val="4E3629"/>
                          </a:solidFill>
                          <a:latin typeface="Courier New"/>
                          <a:cs typeface="Courier New"/>
                        </a:rPr>
                        <a:t>END</a:t>
                      </a:r>
                      <a:endParaRPr sz="1800">
                        <a:latin typeface="Courier New"/>
                        <a:cs typeface="Courier New"/>
                      </a:endParaRPr>
                    </a:p>
                  </a:txBody>
                  <a:tcPr marL="0" marR="0" marB="0" marT="0">
                    <a:solidFill>
                      <a:srgbClr val="9DBEC4">
                        <a:alpha val="50199"/>
                      </a:srgbClr>
                    </a:solidFill>
                  </a:tcPr>
                </a:tc>
                <a:tc>
                  <a:txBody>
                    <a:bodyPr/>
                    <a:lstStyle/>
                    <a:p>
                      <a:pPr marL="67310">
                        <a:lnSpc>
                          <a:spcPts val="1920"/>
                        </a:lnSpc>
                      </a:pPr>
                      <a:r>
                        <a:rPr dirty="0" sz="1800" spc="-10" b="1">
                          <a:solidFill>
                            <a:srgbClr val="4E3629"/>
                          </a:solidFill>
                          <a:latin typeface="Courier New"/>
                          <a:cs typeface="Courier New"/>
                        </a:rPr>
                        <a:t>else_expr]</a:t>
                      </a:r>
                      <a:endParaRPr sz="1800">
                        <a:latin typeface="Courier New"/>
                        <a:cs typeface="Courier New"/>
                      </a:endParaRPr>
                    </a:p>
                  </a:txBody>
                  <a:tcPr marL="0" marR="0" marB="0" marT="0">
                    <a:solidFill>
                      <a:srgbClr val="9DBEC4">
                        <a:alpha val="50199"/>
                      </a:srgbClr>
                    </a:solidFill>
                  </a:tcPr>
                </a:tc>
                <a:tc>
                  <a:txBody>
                    <a:bodyPr/>
                    <a:lstStyle/>
                    <a:p>
                      <a:pPr>
                        <a:lnSpc>
                          <a:spcPct val="100000"/>
                        </a:lnSpc>
                      </a:pPr>
                      <a:endParaRPr sz="2000">
                        <a:latin typeface="Times New Roman"/>
                        <a:cs typeface="Times New Roman"/>
                      </a:endParaRPr>
                    </a:p>
                  </a:txBody>
                  <a:tcPr marL="0" marR="0" marB="0" marT="0">
                    <a:solidFill>
                      <a:srgbClr val="9DBEC4">
                        <a:alpha val="50199"/>
                      </a:srgbClr>
                    </a:solidFill>
                  </a:tcPr>
                </a:tc>
                <a:tc>
                  <a:txBody>
                    <a:bodyPr/>
                    <a:lstStyle/>
                    <a:p>
                      <a:pPr>
                        <a:lnSpc>
                          <a:spcPct val="100000"/>
                        </a:lnSpc>
                      </a:pPr>
                      <a:endParaRPr sz="2000">
                        <a:latin typeface="Times New Roman"/>
                        <a:cs typeface="Times New Roman"/>
                      </a:endParaRPr>
                    </a:p>
                  </a:txBody>
                  <a:tcPr marL="0" marR="0" marB="0" marT="0">
                    <a:solidFill>
                      <a:srgbClr val="9DBEC4">
                        <a:alpha val="50199"/>
                      </a:srgbClr>
                    </a:solidFill>
                  </a:tcPr>
                </a:tc>
              </a:tr>
            </a:tbl>
          </a:graphicData>
        </a:graphic>
      </p:graphicFrame>
      <p:sp>
        <p:nvSpPr>
          <p:cNvPr id="6" name="object 6"/>
          <p:cNvSpPr txBox="1"/>
          <p:nvPr/>
        </p:nvSpPr>
        <p:spPr>
          <a:xfrm>
            <a:off x="2874191" y="6516395"/>
            <a:ext cx="11836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Expresiones</a:t>
            </a:r>
            <a:r>
              <a:rPr dirty="0" sz="850" spc="50">
                <a:solidFill>
                  <a:srgbClr val="4E3629"/>
                </a:solidFill>
                <a:latin typeface="Calibri"/>
                <a:cs typeface="Calibri"/>
              </a:rPr>
              <a:t> </a:t>
            </a:r>
            <a:r>
              <a:rPr dirty="0" sz="850" spc="-10">
                <a:solidFill>
                  <a:srgbClr val="4E3629"/>
                </a:solidFill>
                <a:latin typeface="Calibri"/>
                <a:cs typeface="Calibri"/>
              </a:rPr>
              <a:t>Condicionales</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9</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Sintaxis</a:t>
            </a:r>
            <a:r>
              <a:rPr dirty="0" spc="-85"/>
              <a:t> </a:t>
            </a:r>
            <a:r>
              <a:rPr dirty="0"/>
              <a:t>de</a:t>
            </a:r>
            <a:r>
              <a:rPr dirty="0" spc="-85"/>
              <a:t> </a:t>
            </a:r>
            <a:r>
              <a:rPr dirty="0" spc="-20"/>
              <a:t>CASE</a:t>
            </a:r>
          </a:p>
        </p:txBody>
      </p:sp>
      <p:sp>
        <p:nvSpPr>
          <p:cNvPr id="6" name="object 6"/>
          <p:cNvSpPr txBox="1"/>
          <p:nvPr/>
        </p:nvSpPr>
        <p:spPr>
          <a:xfrm>
            <a:off x="2874191" y="6516395"/>
            <a:ext cx="11836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Expresiones</a:t>
            </a:r>
            <a:r>
              <a:rPr dirty="0" sz="850" spc="50">
                <a:solidFill>
                  <a:srgbClr val="4E3629"/>
                </a:solidFill>
                <a:latin typeface="Calibri"/>
                <a:cs typeface="Calibri"/>
              </a:rPr>
              <a:t> </a:t>
            </a:r>
            <a:r>
              <a:rPr dirty="0" sz="850" spc="-10">
                <a:solidFill>
                  <a:srgbClr val="4E3629"/>
                </a:solidFill>
                <a:latin typeface="Calibri"/>
                <a:cs typeface="Calibri"/>
              </a:rPr>
              <a:t>Condicionales</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10</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4858385" cy="3018790"/>
          </a:xfrm>
          <a:prstGeom prst="rect">
            <a:avLst/>
          </a:prstGeom>
        </p:spPr>
        <p:txBody>
          <a:bodyPr wrap="square" lIns="0" tIns="59690" rIns="0" bIns="0" rtlCol="0" vert="horz">
            <a:spAutoFit/>
          </a:bodyPr>
          <a:lstStyle/>
          <a:p>
            <a:pPr marL="182880" marR="18161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90">
                <a:solidFill>
                  <a:srgbClr val="4E3629"/>
                </a:solidFill>
                <a:latin typeface="Calibri"/>
                <a:cs typeface="Calibri"/>
              </a:rPr>
              <a:t> </a:t>
            </a:r>
            <a:r>
              <a:rPr dirty="0" sz="2800">
                <a:solidFill>
                  <a:srgbClr val="4E3629"/>
                </a:solidFill>
                <a:latin typeface="Calibri"/>
                <a:cs typeface="Calibri"/>
              </a:rPr>
              <a:t>consulta</a:t>
            </a:r>
            <a:r>
              <a:rPr dirty="0" sz="2800" spc="-45">
                <a:solidFill>
                  <a:srgbClr val="4E3629"/>
                </a:solidFill>
                <a:latin typeface="Calibri"/>
                <a:cs typeface="Calibri"/>
              </a:rPr>
              <a:t> </a:t>
            </a:r>
            <a:r>
              <a:rPr dirty="0" sz="2800">
                <a:solidFill>
                  <a:srgbClr val="4E3629"/>
                </a:solidFill>
                <a:latin typeface="Calibri"/>
                <a:cs typeface="Calibri"/>
              </a:rPr>
              <a:t>comprueba</a:t>
            </a:r>
            <a:r>
              <a:rPr dirty="0" sz="2800" spc="-40">
                <a:solidFill>
                  <a:srgbClr val="4E3629"/>
                </a:solidFill>
                <a:latin typeface="Calibri"/>
                <a:cs typeface="Calibri"/>
              </a:rPr>
              <a:t> </a:t>
            </a:r>
            <a:r>
              <a:rPr dirty="0" sz="2800">
                <a:solidFill>
                  <a:srgbClr val="4E3629"/>
                </a:solidFill>
                <a:latin typeface="Calibri"/>
                <a:cs typeface="Calibri"/>
              </a:rPr>
              <a:t>el</a:t>
            </a:r>
            <a:r>
              <a:rPr dirty="0" sz="2800" spc="-95">
                <a:solidFill>
                  <a:srgbClr val="4E3629"/>
                </a:solidFill>
                <a:latin typeface="Calibri"/>
                <a:cs typeface="Calibri"/>
              </a:rPr>
              <a:t> </a:t>
            </a:r>
            <a:r>
              <a:rPr dirty="0" sz="2800" spc="-10">
                <a:solidFill>
                  <a:srgbClr val="4E3629"/>
                </a:solidFill>
                <a:latin typeface="Calibri"/>
                <a:cs typeface="Calibri"/>
              </a:rPr>
              <a:t>valor 	department_id</a:t>
            </a:r>
            <a:endParaRPr sz="2800">
              <a:latin typeface="Calibri"/>
              <a:cs typeface="Calibri"/>
            </a:endParaRPr>
          </a:p>
          <a:p>
            <a:pPr marL="355600">
              <a:lnSpc>
                <a:spcPts val="2735"/>
              </a:lnSpc>
              <a:spcBef>
                <a:spcPts val="95"/>
              </a:spcBef>
            </a:pPr>
            <a:r>
              <a:rPr dirty="0" sz="2400" spc="55">
                <a:solidFill>
                  <a:srgbClr val="D1350F"/>
                </a:solidFill>
                <a:latin typeface="Calibri"/>
                <a:cs typeface="Calibri"/>
              </a:rPr>
              <a:t>−</a:t>
            </a:r>
            <a:r>
              <a:rPr dirty="0" sz="2400" spc="55">
                <a:solidFill>
                  <a:srgbClr val="4E3629"/>
                </a:solidFill>
                <a:latin typeface="Calibri"/>
                <a:cs typeface="Calibri"/>
              </a:rPr>
              <a:t>Si</a:t>
            </a:r>
            <a:r>
              <a:rPr dirty="0" sz="2400" spc="-25">
                <a:solidFill>
                  <a:srgbClr val="4E3629"/>
                </a:solidFill>
                <a:latin typeface="Calibri"/>
                <a:cs typeface="Calibri"/>
              </a:rPr>
              <a:t> </a:t>
            </a:r>
            <a:r>
              <a:rPr dirty="0" sz="2400">
                <a:solidFill>
                  <a:srgbClr val="4E3629"/>
                </a:solidFill>
                <a:latin typeface="Calibri"/>
                <a:cs typeface="Calibri"/>
              </a:rPr>
              <a:t>(IF)</a:t>
            </a:r>
            <a:r>
              <a:rPr dirty="0" sz="2400" spc="-20">
                <a:solidFill>
                  <a:srgbClr val="4E3629"/>
                </a:solidFill>
                <a:latin typeface="Calibri"/>
                <a:cs typeface="Calibri"/>
              </a:rPr>
              <a:t> </a:t>
            </a:r>
            <a:r>
              <a:rPr dirty="0" sz="2400">
                <a:solidFill>
                  <a:srgbClr val="4E3629"/>
                </a:solidFill>
                <a:latin typeface="Calibri"/>
                <a:cs typeface="Calibri"/>
              </a:rPr>
              <a:t>es</a:t>
            </a:r>
            <a:r>
              <a:rPr dirty="0" sz="2400" spc="-25">
                <a:solidFill>
                  <a:srgbClr val="4E3629"/>
                </a:solidFill>
                <a:latin typeface="Calibri"/>
                <a:cs typeface="Calibri"/>
              </a:rPr>
              <a:t> </a:t>
            </a:r>
            <a:r>
              <a:rPr dirty="0" sz="2400">
                <a:solidFill>
                  <a:srgbClr val="4E3629"/>
                </a:solidFill>
                <a:latin typeface="Calibri"/>
                <a:cs typeface="Calibri"/>
              </a:rPr>
              <a:t>90,</a:t>
            </a:r>
            <a:r>
              <a:rPr dirty="0" sz="2400" spc="-10">
                <a:solidFill>
                  <a:srgbClr val="4E3629"/>
                </a:solidFill>
                <a:latin typeface="Calibri"/>
                <a:cs typeface="Calibri"/>
              </a:rPr>
              <a:t> (then)</a:t>
            </a:r>
            <a:endParaRPr sz="2400">
              <a:latin typeface="Calibri"/>
              <a:cs typeface="Calibri"/>
            </a:endParaRPr>
          </a:p>
          <a:p>
            <a:pPr marL="1282065">
              <a:lnSpc>
                <a:spcPts val="2735"/>
              </a:lnSpc>
            </a:pPr>
            <a:r>
              <a:rPr dirty="0" sz="2400">
                <a:solidFill>
                  <a:srgbClr val="4E3629"/>
                </a:solidFill>
                <a:latin typeface="Calibri"/>
                <a:cs typeface="Calibri"/>
              </a:rPr>
              <a:t>devuelve</a:t>
            </a:r>
            <a:r>
              <a:rPr dirty="0" sz="2400" spc="-114">
                <a:solidFill>
                  <a:srgbClr val="4E3629"/>
                </a:solidFill>
                <a:latin typeface="Calibri"/>
                <a:cs typeface="Calibri"/>
              </a:rPr>
              <a:t> </a:t>
            </a:r>
            <a:r>
              <a:rPr dirty="0" sz="2400" spc="-10">
                <a:solidFill>
                  <a:srgbClr val="4E3629"/>
                </a:solidFill>
                <a:latin typeface="Calibri"/>
                <a:cs typeface="Calibri"/>
              </a:rPr>
              <a:t>'Management'</a:t>
            </a:r>
            <a:endParaRPr sz="2400">
              <a:latin typeface="Calibri"/>
              <a:cs typeface="Calibri"/>
            </a:endParaRPr>
          </a:p>
          <a:p>
            <a:pPr marL="355600">
              <a:lnSpc>
                <a:spcPct val="100000"/>
              </a:lnSpc>
              <a:spcBef>
                <a:spcPts val="110"/>
              </a:spcBef>
            </a:pPr>
            <a:r>
              <a:rPr dirty="0" sz="2400" spc="55">
                <a:solidFill>
                  <a:srgbClr val="D1350F"/>
                </a:solidFill>
                <a:latin typeface="Calibri"/>
                <a:cs typeface="Calibri"/>
              </a:rPr>
              <a:t>−</a:t>
            </a:r>
            <a:r>
              <a:rPr dirty="0" sz="2400" spc="55">
                <a:solidFill>
                  <a:srgbClr val="4E3629"/>
                </a:solidFill>
                <a:latin typeface="Calibri"/>
                <a:cs typeface="Calibri"/>
              </a:rPr>
              <a:t>Si</a:t>
            </a:r>
            <a:r>
              <a:rPr dirty="0" sz="2400" spc="-45">
                <a:solidFill>
                  <a:srgbClr val="4E3629"/>
                </a:solidFill>
                <a:latin typeface="Calibri"/>
                <a:cs typeface="Calibri"/>
              </a:rPr>
              <a:t> </a:t>
            </a:r>
            <a:r>
              <a:rPr dirty="0" sz="2400">
                <a:solidFill>
                  <a:srgbClr val="4E3629"/>
                </a:solidFill>
                <a:latin typeface="Calibri"/>
                <a:cs typeface="Calibri"/>
              </a:rPr>
              <a:t>(IF)</a:t>
            </a:r>
            <a:r>
              <a:rPr dirty="0" sz="2400" spc="-45">
                <a:solidFill>
                  <a:srgbClr val="4E3629"/>
                </a:solidFill>
                <a:latin typeface="Calibri"/>
                <a:cs typeface="Calibri"/>
              </a:rPr>
              <a:t> </a:t>
            </a:r>
            <a:r>
              <a:rPr dirty="0" sz="2400">
                <a:solidFill>
                  <a:srgbClr val="4E3629"/>
                </a:solidFill>
                <a:latin typeface="Calibri"/>
                <a:cs typeface="Calibri"/>
              </a:rPr>
              <a:t>es</a:t>
            </a:r>
            <a:r>
              <a:rPr dirty="0" sz="2400" spc="-50">
                <a:solidFill>
                  <a:srgbClr val="4E3629"/>
                </a:solidFill>
                <a:latin typeface="Calibri"/>
                <a:cs typeface="Calibri"/>
              </a:rPr>
              <a:t> </a:t>
            </a:r>
            <a:r>
              <a:rPr dirty="0" sz="2400">
                <a:solidFill>
                  <a:srgbClr val="4E3629"/>
                </a:solidFill>
                <a:latin typeface="Calibri"/>
                <a:cs typeface="Calibri"/>
              </a:rPr>
              <a:t>80,</a:t>
            </a:r>
            <a:r>
              <a:rPr dirty="0" sz="2400" spc="-35">
                <a:solidFill>
                  <a:srgbClr val="4E3629"/>
                </a:solidFill>
                <a:latin typeface="Calibri"/>
                <a:cs typeface="Calibri"/>
              </a:rPr>
              <a:t> </a:t>
            </a:r>
            <a:r>
              <a:rPr dirty="0" sz="2400">
                <a:solidFill>
                  <a:srgbClr val="4E3629"/>
                </a:solidFill>
                <a:latin typeface="Calibri"/>
                <a:cs typeface="Calibri"/>
              </a:rPr>
              <a:t>(then)</a:t>
            </a:r>
            <a:r>
              <a:rPr dirty="0" sz="2400" spc="-45">
                <a:solidFill>
                  <a:srgbClr val="4E3629"/>
                </a:solidFill>
                <a:latin typeface="Calibri"/>
                <a:cs typeface="Calibri"/>
              </a:rPr>
              <a:t> </a:t>
            </a:r>
            <a:r>
              <a:rPr dirty="0" sz="2400">
                <a:solidFill>
                  <a:srgbClr val="4E3629"/>
                </a:solidFill>
                <a:latin typeface="Calibri"/>
                <a:cs typeface="Calibri"/>
              </a:rPr>
              <a:t>devuelve</a:t>
            </a:r>
            <a:r>
              <a:rPr dirty="0" sz="2400" spc="-25">
                <a:solidFill>
                  <a:srgbClr val="4E3629"/>
                </a:solidFill>
                <a:latin typeface="Calibri"/>
                <a:cs typeface="Calibri"/>
              </a:rPr>
              <a:t> </a:t>
            </a:r>
            <a:r>
              <a:rPr dirty="0" sz="2400" spc="-10">
                <a:solidFill>
                  <a:srgbClr val="4E3629"/>
                </a:solidFill>
                <a:latin typeface="Calibri"/>
                <a:cs typeface="Calibri"/>
              </a:rPr>
              <a:t>'Sales'</a:t>
            </a:r>
            <a:endParaRPr sz="2400">
              <a:latin typeface="Calibri"/>
              <a:cs typeface="Calibri"/>
            </a:endParaRPr>
          </a:p>
          <a:p>
            <a:pPr marL="355600">
              <a:lnSpc>
                <a:spcPct val="100000"/>
              </a:lnSpc>
              <a:spcBef>
                <a:spcPts val="110"/>
              </a:spcBef>
            </a:pPr>
            <a:r>
              <a:rPr dirty="0" sz="2400" spc="55">
                <a:solidFill>
                  <a:srgbClr val="D1350F"/>
                </a:solidFill>
                <a:latin typeface="Calibri"/>
                <a:cs typeface="Calibri"/>
              </a:rPr>
              <a:t>−</a:t>
            </a:r>
            <a:r>
              <a:rPr dirty="0" sz="2400" spc="55">
                <a:solidFill>
                  <a:srgbClr val="4E3629"/>
                </a:solidFill>
                <a:latin typeface="Calibri"/>
                <a:cs typeface="Calibri"/>
              </a:rPr>
              <a:t>Si</a:t>
            </a:r>
            <a:r>
              <a:rPr dirty="0" sz="2400" spc="-45">
                <a:solidFill>
                  <a:srgbClr val="4E3629"/>
                </a:solidFill>
                <a:latin typeface="Calibri"/>
                <a:cs typeface="Calibri"/>
              </a:rPr>
              <a:t> </a:t>
            </a:r>
            <a:r>
              <a:rPr dirty="0" sz="2400">
                <a:solidFill>
                  <a:srgbClr val="4E3629"/>
                </a:solidFill>
                <a:latin typeface="Calibri"/>
                <a:cs typeface="Calibri"/>
              </a:rPr>
              <a:t>(IF)</a:t>
            </a:r>
            <a:r>
              <a:rPr dirty="0" sz="2400" spc="-45">
                <a:solidFill>
                  <a:srgbClr val="4E3629"/>
                </a:solidFill>
                <a:latin typeface="Calibri"/>
                <a:cs typeface="Calibri"/>
              </a:rPr>
              <a:t> </a:t>
            </a:r>
            <a:r>
              <a:rPr dirty="0" sz="2400">
                <a:solidFill>
                  <a:srgbClr val="4E3629"/>
                </a:solidFill>
                <a:latin typeface="Calibri"/>
                <a:cs typeface="Calibri"/>
              </a:rPr>
              <a:t>es</a:t>
            </a:r>
            <a:r>
              <a:rPr dirty="0" sz="2400" spc="-50">
                <a:solidFill>
                  <a:srgbClr val="4E3629"/>
                </a:solidFill>
                <a:latin typeface="Calibri"/>
                <a:cs typeface="Calibri"/>
              </a:rPr>
              <a:t> </a:t>
            </a:r>
            <a:r>
              <a:rPr dirty="0" sz="2400">
                <a:solidFill>
                  <a:srgbClr val="4E3629"/>
                </a:solidFill>
                <a:latin typeface="Calibri"/>
                <a:cs typeface="Calibri"/>
              </a:rPr>
              <a:t>60,</a:t>
            </a:r>
            <a:r>
              <a:rPr dirty="0" sz="2400" spc="-35">
                <a:solidFill>
                  <a:srgbClr val="4E3629"/>
                </a:solidFill>
                <a:latin typeface="Calibri"/>
                <a:cs typeface="Calibri"/>
              </a:rPr>
              <a:t> </a:t>
            </a:r>
            <a:r>
              <a:rPr dirty="0" sz="2400">
                <a:solidFill>
                  <a:srgbClr val="4E3629"/>
                </a:solidFill>
                <a:latin typeface="Calibri"/>
                <a:cs typeface="Calibri"/>
              </a:rPr>
              <a:t>(then)</a:t>
            </a:r>
            <a:r>
              <a:rPr dirty="0" sz="2400" spc="-45">
                <a:solidFill>
                  <a:srgbClr val="4E3629"/>
                </a:solidFill>
                <a:latin typeface="Calibri"/>
                <a:cs typeface="Calibri"/>
              </a:rPr>
              <a:t> </a:t>
            </a:r>
            <a:r>
              <a:rPr dirty="0" sz="2400">
                <a:solidFill>
                  <a:srgbClr val="4E3629"/>
                </a:solidFill>
                <a:latin typeface="Calibri"/>
                <a:cs typeface="Calibri"/>
              </a:rPr>
              <a:t>devuelve</a:t>
            </a:r>
            <a:r>
              <a:rPr dirty="0" sz="2400" spc="-25">
                <a:solidFill>
                  <a:srgbClr val="4E3629"/>
                </a:solidFill>
                <a:latin typeface="Calibri"/>
                <a:cs typeface="Calibri"/>
              </a:rPr>
              <a:t> </a:t>
            </a:r>
            <a:r>
              <a:rPr dirty="0" sz="2400" spc="-20">
                <a:solidFill>
                  <a:srgbClr val="4E3629"/>
                </a:solidFill>
                <a:latin typeface="Calibri"/>
                <a:cs typeface="Calibri"/>
              </a:rPr>
              <a:t>'It'</a:t>
            </a:r>
            <a:endParaRPr sz="2400">
              <a:latin typeface="Calibri"/>
              <a:cs typeface="Calibri"/>
            </a:endParaRPr>
          </a:p>
          <a:p>
            <a:pPr marL="530860" marR="1372235" indent="-175260">
              <a:lnSpc>
                <a:spcPts val="2590"/>
              </a:lnSpc>
              <a:spcBef>
                <a:spcPts val="445"/>
              </a:spcBef>
            </a:pPr>
            <a:r>
              <a:rPr dirty="0" sz="2400">
                <a:solidFill>
                  <a:srgbClr val="D1350F"/>
                </a:solidFill>
                <a:latin typeface="Calibri"/>
                <a:cs typeface="Calibri"/>
              </a:rPr>
              <a:t>−</a:t>
            </a:r>
            <a:r>
              <a:rPr dirty="0" sz="2400">
                <a:solidFill>
                  <a:srgbClr val="4E3629"/>
                </a:solidFill>
                <a:latin typeface="Calibri"/>
                <a:cs typeface="Calibri"/>
              </a:rPr>
              <a:t>En</a:t>
            </a:r>
            <a:r>
              <a:rPr dirty="0" sz="2400" spc="20">
                <a:solidFill>
                  <a:srgbClr val="4E3629"/>
                </a:solidFill>
                <a:latin typeface="Calibri"/>
                <a:cs typeface="Calibri"/>
              </a:rPr>
              <a:t> </a:t>
            </a:r>
            <a:r>
              <a:rPr dirty="0" sz="2400">
                <a:solidFill>
                  <a:srgbClr val="4E3629"/>
                </a:solidFill>
                <a:latin typeface="Calibri"/>
                <a:cs typeface="Calibri"/>
              </a:rPr>
              <a:t>caso</a:t>
            </a:r>
            <a:r>
              <a:rPr dirty="0" sz="2400" spc="15">
                <a:solidFill>
                  <a:srgbClr val="4E3629"/>
                </a:solidFill>
                <a:latin typeface="Calibri"/>
                <a:cs typeface="Calibri"/>
              </a:rPr>
              <a:t> </a:t>
            </a:r>
            <a:r>
              <a:rPr dirty="0" sz="2400" spc="-10">
                <a:solidFill>
                  <a:srgbClr val="4E3629"/>
                </a:solidFill>
                <a:latin typeface="Calibri"/>
                <a:cs typeface="Calibri"/>
              </a:rPr>
              <a:t>contrario</a:t>
            </a:r>
            <a:r>
              <a:rPr dirty="0" sz="2400">
                <a:solidFill>
                  <a:srgbClr val="4E3629"/>
                </a:solidFill>
                <a:latin typeface="Calibri"/>
                <a:cs typeface="Calibri"/>
              </a:rPr>
              <a:t> </a:t>
            </a:r>
            <a:r>
              <a:rPr dirty="0" sz="2400" spc="-10">
                <a:solidFill>
                  <a:srgbClr val="4E3629"/>
                </a:solidFill>
                <a:latin typeface="Calibri"/>
                <a:cs typeface="Calibri"/>
              </a:rPr>
              <a:t>(ELSE) </a:t>
            </a:r>
            <a:r>
              <a:rPr dirty="0" sz="2400">
                <a:solidFill>
                  <a:srgbClr val="4E3629"/>
                </a:solidFill>
                <a:latin typeface="Calibri"/>
                <a:cs typeface="Calibri"/>
              </a:rPr>
              <a:t>devuelve</a:t>
            </a:r>
            <a:r>
              <a:rPr dirty="0" sz="2400" spc="-80">
                <a:solidFill>
                  <a:srgbClr val="4E3629"/>
                </a:solidFill>
                <a:latin typeface="Calibri"/>
                <a:cs typeface="Calibri"/>
              </a:rPr>
              <a:t> </a:t>
            </a:r>
            <a:r>
              <a:rPr dirty="0" sz="2400">
                <a:solidFill>
                  <a:srgbClr val="4E3629"/>
                </a:solidFill>
                <a:latin typeface="Calibri"/>
                <a:cs typeface="Calibri"/>
              </a:rPr>
              <a:t>'Other</a:t>
            </a:r>
            <a:r>
              <a:rPr dirty="0" sz="2400" spc="-85">
                <a:solidFill>
                  <a:srgbClr val="4E3629"/>
                </a:solidFill>
                <a:latin typeface="Calibri"/>
                <a:cs typeface="Calibri"/>
              </a:rPr>
              <a:t> </a:t>
            </a:r>
            <a:r>
              <a:rPr dirty="0" sz="2400" spc="-10">
                <a:solidFill>
                  <a:srgbClr val="4E3629"/>
                </a:solidFill>
                <a:latin typeface="Calibri"/>
                <a:cs typeface="Calibri"/>
              </a:rPr>
              <a:t>dept.'</a:t>
            </a:r>
            <a:endParaRPr sz="2400">
              <a:latin typeface="Calibri"/>
              <a:cs typeface="Calibri"/>
            </a:endParaRPr>
          </a:p>
        </p:txBody>
      </p:sp>
      <p:graphicFrame>
        <p:nvGraphicFramePr>
          <p:cNvPr id="4" name="object 4"/>
          <p:cNvGraphicFramePr>
            <a:graphicFrameLocks noGrp="1"/>
          </p:cNvGraphicFramePr>
          <p:nvPr/>
        </p:nvGraphicFramePr>
        <p:xfrm>
          <a:off x="6065384" y="1038898"/>
          <a:ext cx="3062605" cy="5368924"/>
        </p:xfrm>
        <a:graphic>
          <a:graphicData uri="http://schemas.openxmlformats.org/drawingml/2006/table">
            <a:tbl>
              <a:tblPr firstRow="1" bandRow="1">
                <a:tableStyleId>{2D5ABB26-0587-4C30-8999-92F81FD0307C}</a:tableStyleId>
              </a:tblPr>
              <a:tblGrid>
                <a:gridCol w="1189990"/>
                <a:gridCol w="1783714"/>
              </a:tblGrid>
              <a:tr h="243204">
                <a:tc>
                  <a:txBody>
                    <a:bodyPr/>
                    <a:lstStyle/>
                    <a:p>
                      <a:pPr marL="71755">
                        <a:lnSpc>
                          <a:spcPts val="1820"/>
                        </a:lnSpc>
                      </a:pPr>
                      <a:r>
                        <a:rPr dirty="0" sz="1600" spc="-10" b="1">
                          <a:solidFill>
                            <a:srgbClr val="4E3629"/>
                          </a:solidFill>
                          <a:latin typeface="Calibri"/>
                          <a:cs typeface="Calibri"/>
                        </a:rPr>
                        <a:t>LAST_NAME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Department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204">
                <a:tc>
                  <a:txBody>
                    <a:bodyPr/>
                    <a:lstStyle/>
                    <a:p>
                      <a:pPr marL="71755">
                        <a:lnSpc>
                          <a:spcPts val="1820"/>
                        </a:lnSpc>
                      </a:pPr>
                      <a:r>
                        <a:rPr dirty="0" sz="1600" spc="-20">
                          <a:solidFill>
                            <a:srgbClr val="4E3629"/>
                          </a:solidFill>
                          <a:latin typeface="Calibri"/>
                          <a:cs typeface="Calibri"/>
                        </a:rPr>
                        <a:t>King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Management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840">
                <a:tc>
                  <a:txBody>
                    <a:bodyPr/>
                    <a:lstStyle/>
                    <a:p>
                      <a:pPr marL="71755">
                        <a:lnSpc>
                          <a:spcPts val="1820"/>
                        </a:lnSpc>
                      </a:pPr>
                      <a:r>
                        <a:rPr dirty="0" sz="1600" spc="-10">
                          <a:solidFill>
                            <a:srgbClr val="4E3629"/>
                          </a:solidFill>
                          <a:latin typeface="Calibri"/>
                          <a:cs typeface="Calibri"/>
                        </a:rPr>
                        <a:t>Kochhar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Management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Management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4"/>
                        </a:lnSpc>
                      </a:pPr>
                      <a:r>
                        <a:rPr dirty="0" sz="1600" spc="-10">
                          <a:solidFill>
                            <a:srgbClr val="4E3629"/>
                          </a:solidFill>
                          <a:latin typeface="Calibri"/>
                          <a:cs typeface="Calibri"/>
                        </a:rPr>
                        <a:t>Whalen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4"/>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0"/>
                        </a:lnSpc>
                      </a:pPr>
                      <a:r>
                        <a:rPr dirty="0" sz="1600" spc="-10">
                          <a:solidFill>
                            <a:srgbClr val="4E3629"/>
                          </a:solidFill>
                          <a:latin typeface="Calibri"/>
                          <a:cs typeface="Calibri"/>
                        </a:rPr>
                        <a:t>Higgins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0"/>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0"/>
                        </a:lnSpc>
                      </a:pPr>
                      <a:r>
                        <a:rPr dirty="0" sz="1600" spc="-10">
                          <a:solidFill>
                            <a:srgbClr val="4E3629"/>
                          </a:solidFill>
                          <a:latin typeface="Calibri"/>
                          <a:cs typeface="Calibri"/>
                        </a:rPr>
                        <a:t>Gietz</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0"/>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1755">
                        <a:lnSpc>
                          <a:spcPts val="1820"/>
                        </a:lnSpc>
                      </a:pPr>
                      <a:r>
                        <a:rPr dirty="0" sz="1600" spc="-10">
                          <a:solidFill>
                            <a:srgbClr val="4E3629"/>
                          </a:solidFill>
                          <a:latin typeface="Calibri"/>
                          <a:cs typeface="Calibri"/>
                        </a:rPr>
                        <a:t>Zlotkey</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Sales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spc="-20">
                          <a:solidFill>
                            <a:srgbClr val="4E3629"/>
                          </a:solidFill>
                          <a:latin typeface="Calibri"/>
                          <a:cs typeface="Calibri"/>
                        </a:rPr>
                        <a:t>Abel</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Sales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spc="-10">
                          <a:solidFill>
                            <a:srgbClr val="4E3629"/>
                          </a:solidFill>
                          <a:latin typeface="Calibri"/>
                          <a:cs typeface="Calibri"/>
                        </a:rPr>
                        <a:t>Taylor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Sales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4"/>
                        </a:lnSpc>
                      </a:pPr>
                      <a:r>
                        <a:rPr dirty="0" sz="1600" spc="-10">
                          <a:solidFill>
                            <a:srgbClr val="4E3629"/>
                          </a:solidFill>
                          <a:latin typeface="Calibri"/>
                          <a:cs typeface="Calibri"/>
                        </a:rPr>
                        <a:t>Grant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4"/>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4"/>
                        </a:lnSpc>
                      </a:pPr>
                      <a:r>
                        <a:rPr dirty="0" sz="1600" spc="-10">
                          <a:solidFill>
                            <a:srgbClr val="4E3629"/>
                          </a:solidFill>
                          <a:latin typeface="Calibri"/>
                          <a:cs typeface="Calibri"/>
                        </a:rPr>
                        <a:t>Mourgos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4"/>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4"/>
                        </a:lnSpc>
                      </a:pPr>
                      <a:r>
                        <a:rPr dirty="0" sz="1600" spc="-20">
                          <a:solidFill>
                            <a:srgbClr val="4E3629"/>
                          </a:solidFill>
                          <a:latin typeface="Calibri"/>
                          <a:cs typeface="Calibri"/>
                        </a:rPr>
                        <a:t>Rajs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4"/>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4"/>
                        </a:lnSpc>
                      </a:pPr>
                      <a:r>
                        <a:rPr dirty="0" sz="1600" spc="-10">
                          <a:solidFill>
                            <a:srgbClr val="4E3629"/>
                          </a:solidFill>
                          <a:latin typeface="Calibri"/>
                          <a:cs typeface="Calibri"/>
                        </a:rPr>
                        <a:t>Davies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4"/>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4"/>
                        </a:lnSpc>
                      </a:pPr>
                      <a:r>
                        <a:rPr dirty="0" sz="1600" spc="-10">
                          <a:solidFill>
                            <a:srgbClr val="4E3629"/>
                          </a:solidFill>
                          <a:latin typeface="Calibri"/>
                          <a:cs typeface="Calibri"/>
                        </a:rPr>
                        <a:t>Matos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4"/>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4"/>
                        </a:lnSpc>
                      </a:pPr>
                      <a:r>
                        <a:rPr dirty="0" sz="1600" spc="-10">
                          <a:solidFill>
                            <a:srgbClr val="4E3629"/>
                          </a:solidFill>
                          <a:latin typeface="Calibri"/>
                          <a:cs typeface="Calibri"/>
                        </a:rPr>
                        <a:t>Vargas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4"/>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1755">
                        <a:lnSpc>
                          <a:spcPts val="1820"/>
                        </a:lnSpc>
                      </a:pPr>
                      <a:r>
                        <a:rPr dirty="0" sz="1600" spc="-10">
                          <a:solidFill>
                            <a:srgbClr val="4E3629"/>
                          </a:solidFill>
                          <a:latin typeface="Calibri"/>
                          <a:cs typeface="Calibri"/>
                        </a:rPr>
                        <a:t>Hunold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It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1755">
                        <a:lnSpc>
                          <a:spcPts val="1820"/>
                        </a:lnSpc>
                      </a:pPr>
                      <a:r>
                        <a:rPr dirty="0" sz="1600" spc="-10">
                          <a:solidFill>
                            <a:srgbClr val="4E3629"/>
                          </a:solidFill>
                          <a:latin typeface="Calibri"/>
                          <a:cs typeface="Calibri"/>
                        </a:rPr>
                        <a:t>Ernst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It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1755">
                        <a:lnSpc>
                          <a:spcPts val="1820"/>
                        </a:lnSpc>
                      </a:pPr>
                      <a:r>
                        <a:rPr dirty="0" sz="1600" spc="-10">
                          <a:solidFill>
                            <a:srgbClr val="4E3629"/>
                          </a:solidFill>
                          <a:latin typeface="Calibri"/>
                          <a:cs typeface="Calibri"/>
                        </a:rPr>
                        <a:t>Lorentz</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It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4"/>
                        </a:lnSpc>
                      </a:pPr>
                      <a:r>
                        <a:rPr dirty="0" sz="1600" spc="-10">
                          <a:solidFill>
                            <a:srgbClr val="4E3629"/>
                          </a:solidFill>
                          <a:latin typeface="Calibri"/>
                          <a:cs typeface="Calibri"/>
                        </a:rPr>
                        <a:t>Hartstein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4"/>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6700">
                <a:tc>
                  <a:txBody>
                    <a:bodyPr/>
                    <a:lstStyle/>
                    <a:p>
                      <a:pPr marL="71755">
                        <a:lnSpc>
                          <a:spcPts val="1914"/>
                        </a:lnSpc>
                      </a:pPr>
                      <a:r>
                        <a:rPr dirty="0" sz="1600" spc="-25">
                          <a:solidFill>
                            <a:srgbClr val="4E3629"/>
                          </a:solidFill>
                          <a:latin typeface="Calibri"/>
                          <a:cs typeface="Calibri"/>
                        </a:rPr>
                        <a:t>Fay</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14"/>
                        </a:lnSpc>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p:cNvSpPr txBox="1"/>
          <p:nvPr/>
        </p:nvSpPr>
        <p:spPr>
          <a:xfrm>
            <a:off x="2110739" y="4474464"/>
            <a:ext cx="3876040" cy="1948180"/>
          </a:xfrm>
          <a:prstGeom prst="rect">
            <a:avLst/>
          </a:prstGeom>
          <a:solidFill>
            <a:srgbClr val="9DBEC4">
              <a:alpha val="50199"/>
            </a:srgbClr>
          </a:solidFill>
        </p:spPr>
        <p:txBody>
          <a:bodyPr wrap="square" lIns="0" tIns="0" rIns="0" bIns="0" rtlCol="0" vert="horz">
            <a:spAutoFit/>
          </a:bodyPr>
          <a:lstStyle/>
          <a:p>
            <a:pPr>
              <a:lnSpc>
                <a:spcPts val="1720"/>
              </a:lnSpc>
            </a:pPr>
            <a:r>
              <a:rPr dirty="0" sz="1600" b="1">
                <a:solidFill>
                  <a:srgbClr val="4E3629"/>
                </a:solidFill>
                <a:latin typeface="Courier New"/>
                <a:cs typeface="Courier New"/>
              </a:rPr>
              <a:t>SELECT</a:t>
            </a:r>
            <a:r>
              <a:rPr dirty="0" sz="1600" spc="-45" b="1">
                <a:solidFill>
                  <a:srgbClr val="4E3629"/>
                </a:solidFill>
                <a:latin typeface="Courier New"/>
                <a:cs typeface="Courier New"/>
              </a:rPr>
              <a:t> </a:t>
            </a:r>
            <a:r>
              <a:rPr dirty="0" sz="1600" spc="-10" b="1">
                <a:solidFill>
                  <a:srgbClr val="4E3629"/>
                </a:solidFill>
                <a:latin typeface="Courier New"/>
                <a:cs typeface="Courier New"/>
              </a:rPr>
              <a:t>last_name,</a:t>
            </a:r>
            <a:endParaRPr sz="1600">
              <a:latin typeface="Courier New"/>
              <a:cs typeface="Courier New"/>
            </a:endParaRPr>
          </a:p>
          <a:p>
            <a:pPr>
              <a:lnSpc>
                <a:spcPct val="100000"/>
              </a:lnSpc>
            </a:pPr>
            <a:r>
              <a:rPr dirty="0" sz="1600" b="1">
                <a:solidFill>
                  <a:srgbClr val="4E3629"/>
                </a:solidFill>
                <a:latin typeface="Courier New"/>
                <a:cs typeface="Courier New"/>
              </a:rPr>
              <a:t>CASE</a:t>
            </a:r>
            <a:r>
              <a:rPr dirty="0" sz="1600" spc="-35" b="1">
                <a:solidFill>
                  <a:srgbClr val="4E3629"/>
                </a:solidFill>
                <a:latin typeface="Courier New"/>
                <a:cs typeface="Courier New"/>
              </a:rPr>
              <a:t> </a:t>
            </a:r>
            <a:r>
              <a:rPr dirty="0" sz="1600" spc="-10" b="1">
                <a:solidFill>
                  <a:srgbClr val="4E3629"/>
                </a:solidFill>
                <a:latin typeface="Courier New"/>
                <a:cs typeface="Courier New"/>
              </a:rPr>
              <a:t>department_id</a:t>
            </a:r>
            <a:endParaRPr sz="1600">
              <a:latin typeface="Courier New"/>
              <a:cs typeface="Courier New"/>
            </a:endParaRPr>
          </a:p>
          <a:p>
            <a:pPr marL="365125" marR="450215">
              <a:lnSpc>
                <a:spcPct val="100000"/>
              </a:lnSpc>
            </a:pPr>
            <a:r>
              <a:rPr dirty="0" sz="1600" b="1">
                <a:solidFill>
                  <a:srgbClr val="4E3629"/>
                </a:solidFill>
                <a:latin typeface="Courier New"/>
                <a:cs typeface="Courier New"/>
              </a:rPr>
              <a:t>WHEN</a:t>
            </a:r>
            <a:r>
              <a:rPr dirty="0" sz="1600" spc="-20" b="1">
                <a:solidFill>
                  <a:srgbClr val="4E3629"/>
                </a:solidFill>
                <a:latin typeface="Courier New"/>
                <a:cs typeface="Courier New"/>
              </a:rPr>
              <a:t> </a:t>
            </a:r>
            <a:r>
              <a:rPr dirty="0" sz="1600" b="1">
                <a:solidFill>
                  <a:srgbClr val="4E3629"/>
                </a:solidFill>
                <a:latin typeface="Courier New"/>
                <a:cs typeface="Courier New"/>
              </a:rPr>
              <a:t>90</a:t>
            </a:r>
            <a:r>
              <a:rPr dirty="0" sz="1600" spc="-30" b="1">
                <a:solidFill>
                  <a:srgbClr val="4E3629"/>
                </a:solidFill>
                <a:latin typeface="Courier New"/>
                <a:cs typeface="Courier New"/>
              </a:rPr>
              <a:t> </a:t>
            </a:r>
            <a:r>
              <a:rPr dirty="0" sz="1600" b="1">
                <a:solidFill>
                  <a:srgbClr val="4E3629"/>
                </a:solidFill>
                <a:latin typeface="Courier New"/>
                <a:cs typeface="Courier New"/>
              </a:rPr>
              <a:t>THEN</a:t>
            </a:r>
            <a:r>
              <a:rPr dirty="0" sz="1600" spc="-30" b="1">
                <a:solidFill>
                  <a:srgbClr val="4E3629"/>
                </a:solidFill>
                <a:latin typeface="Courier New"/>
                <a:cs typeface="Courier New"/>
              </a:rPr>
              <a:t> </a:t>
            </a:r>
            <a:r>
              <a:rPr dirty="0" sz="1600" spc="-10" b="1">
                <a:solidFill>
                  <a:srgbClr val="4E3629"/>
                </a:solidFill>
                <a:latin typeface="Courier New"/>
                <a:cs typeface="Courier New"/>
              </a:rPr>
              <a:t>'Management' </a:t>
            </a:r>
            <a:r>
              <a:rPr dirty="0" sz="1600" b="1">
                <a:solidFill>
                  <a:srgbClr val="4E3629"/>
                </a:solidFill>
                <a:latin typeface="Courier New"/>
                <a:cs typeface="Courier New"/>
              </a:rPr>
              <a:t>WHEN</a:t>
            </a:r>
            <a:r>
              <a:rPr dirty="0" sz="1600" spc="-20" b="1">
                <a:solidFill>
                  <a:srgbClr val="4E3629"/>
                </a:solidFill>
                <a:latin typeface="Courier New"/>
                <a:cs typeface="Courier New"/>
              </a:rPr>
              <a:t> </a:t>
            </a:r>
            <a:r>
              <a:rPr dirty="0" sz="1600" b="1">
                <a:solidFill>
                  <a:srgbClr val="4E3629"/>
                </a:solidFill>
                <a:latin typeface="Courier New"/>
                <a:cs typeface="Courier New"/>
              </a:rPr>
              <a:t>80</a:t>
            </a:r>
            <a:r>
              <a:rPr dirty="0" sz="1600" spc="-30" b="1">
                <a:solidFill>
                  <a:srgbClr val="4E3629"/>
                </a:solidFill>
                <a:latin typeface="Courier New"/>
                <a:cs typeface="Courier New"/>
              </a:rPr>
              <a:t> </a:t>
            </a:r>
            <a:r>
              <a:rPr dirty="0" sz="1600" b="1">
                <a:solidFill>
                  <a:srgbClr val="4E3629"/>
                </a:solidFill>
                <a:latin typeface="Courier New"/>
                <a:cs typeface="Courier New"/>
              </a:rPr>
              <a:t>THEN</a:t>
            </a:r>
            <a:r>
              <a:rPr dirty="0" sz="1600" spc="-30" b="1">
                <a:solidFill>
                  <a:srgbClr val="4E3629"/>
                </a:solidFill>
                <a:latin typeface="Courier New"/>
                <a:cs typeface="Courier New"/>
              </a:rPr>
              <a:t> </a:t>
            </a:r>
            <a:r>
              <a:rPr dirty="0" sz="1600" spc="-10" b="1">
                <a:solidFill>
                  <a:srgbClr val="4E3629"/>
                </a:solidFill>
                <a:latin typeface="Courier New"/>
                <a:cs typeface="Courier New"/>
              </a:rPr>
              <a:t>'Sales'</a:t>
            </a:r>
            <a:endParaRPr sz="1600">
              <a:latin typeface="Courier New"/>
              <a:cs typeface="Courier New"/>
            </a:endParaRPr>
          </a:p>
          <a:p>
            <a:pPr marL="365125">
              <a:lnSpc>
                <a:spcPct val="100000"/>
              </a:lnSpc>
            </a:pPr>
            <a:r>
              <a:rPr dirty="0" sz="1600" b="1">
                <a:solidFill>
                  <a:srgbClr val="4E3629"/>
                </a:solidFill>
                <a:latin typeface="Courier New"/>
                <a:cs typeface="Courier New"/>
              </a:rPr>
              <a:t>WHEN</a:t>
            </a:r>
            <a:r>
              <a:rPr dirty="0" sz="1600" spc="-20" b="1">
                <a:solidFill>
                  <a:srgbClr val="4E3629"/>
                </a:solidFill>
                <a:latin typeface="Courier New"/>
                <a:cs typeface="Courier New"/>
              </a:rPr>
              <a:t> </a:t>
            </a:r>
            <a:r>
              <a:rPr dirty="0" sz="1600" b="1">
                <a:solidFill>
                  <a:srgbClr val="4E3629"/>
                </a:solidFill>
                <a:latin typeface="Courier New"/>
                <a:cs typeface="Courier New"/>
              </a:rPr>
              <a:t>60</a:t>
            </a:r>
            <a:r>
              <a:rPr dirty="0" sz="1600" spc="-30" b="1">
                <a:solidFill>
                  <a:srgbClr val="4E3629"/>
                </a:solidFill>
                <a:latin typeface="Courier New"/>
                <a:cs typeface="Courier New"/>
              </a:rPr>
              <a:t> </a:t>
            </a:r>
            <a:r>
              <a:rPr dirty="0" sz="1600" b="1">
                <a:solidFill>
                  <a:srgbClr val="4E3629"/>
                </a:solidFill>
                <a:latin typeface="Courier New"/>
                <a:cs typeface="Courier New"/>
              </a:rPr>
              <a:t>THEN</a:t>
            </a:r>
            <a:r>
              <a:rPr dirty="0" sz="1600" spc="-30" b="1">
                <a:solidFill>
                  <a:srgbClr val="4E3629"/>
                </a:solidFill>
                <a:latin typeface="Courier New"/>
                <a:cs typeface="Courier New"/>
              </a:rPr>
              <a:t> </a:t>
            </a:r>
            <a:r>
              <a:rPr dirty="0" sz="1600" spc="-20" b="1">
                <a:solidFill>
                  <a:srgbClr val="4E3629"/>
                </a:solidFill>
                <a:latin typeface="Courier New"/>
                <a:cs typeface="Courier New"/>
              </a:rPr>
              <a:t>'It'</a:t>
            </a:r>
            <a:endParaRPr sz="1600">
              <a:latin typeface="Courier New"/>
              <a:cs typeface="Courier New"/>
            </a:endParaRPr>
          </a:p>
          <a:p>
            <a:pPr marR="1304925" indent="365760">
              <a:lnSpc>
                <a:spcPct val="100000"/>
              </a:lnSpc>
            </a:pPr>
            <a:r>
              <a:rPr dirty="0" sz="1600" b="1">
                <a:solidFill>
                  <a:srgbClr val="4E3629"/>
                </a:solidFill>
                <a:latin typeface="Courier New"/>
                <a:cs typeface="Courier New"/>
              </a:rPr>
              <a:t>ELSE</a:t>
            </a:r>
            <a:r>
              <a:rPr dirty="0" sz="1600" spc="-35" b="1">
                <a:solidFill>
                  <a:srgbClr val="4E3629"/>
                </a:solidFill>
                <a:latin typeface="Courier New"/>
                <a:cs typeface="Courier New"/>
              </a:rPr>
              <a:t> </a:t>
            </a:r>
            <a:r>
              <a:rPr dirty="0" sz="1600" b="1">
                <a:solidFill>
                  <a:srgbClr val="4E3629"/>
                </a:solidFill>
                <a:latin typeface="Courier New"/>
                <a:cs typeface="Courier New"/>
              </a:rPr>
              <a:t>'Other</a:t>
            </a:r>
            <a:r>
              <a:rPr dirty="0" sz="1600" spc="-45" b="1">
                <a:solidFill>
                  <a:srgbClr val="4E3629"/>
                </a:solidFill>
                <a:latin typeface="Courier New"/>
                <a:cs typeface="Courier New"/>
              </a:rPr>
              <a:t> </a:t>
            </a:r>
            <a:r>
              <a:rPr dirty="0" sz="1600" spc="-10" b="1">
                <a:solidFill>
                  <a:srgbClr val="4E3629"/>
                </a:solidFill>
                <a:latin typeface="Courier New"/>
                <a:cs typeface="Courier New"/>
              </a:rPr>
              <a:t>dept.' </a:t>
            </a:r>
            <a:r>
              <a:rPr dirty="0" sz="1600" b="1">
                <a:solidFill>
                  <a:srgbClr val="4E3629"/>
                </a:solidFill>
                <a:latin typeface="Courier New"/>
                <a:cs typeface="Courier New"/>
              </a:rPr>
              <a:t>END</a:t>
            </a:r>
            <a:r>
              <a:rPr dirty="0" sz="1600" spc="-25" b="1">
                <a:solidFill>
                  <a:srgbClr val="4E3629"/>
                </a:solidFill>
                <a:latin typeface="Courier New"/>
                <a:cs typeface="Courier New"/>
              </a:rPr>
              <a:t> </a:t>
            </a:r>
            <a:r>
              <a:rPr dirty="0" sz="1600" b="1">
                <a:solidFill>
                  <a:srgbClr val="4E3629"/>
                </a:solidFill>
                <a:latin typeface="Courier New"/>
                <a:cs typeface="Courier New"/>
              </a:rPr>
              <a:t>AS</a:t>
            </a:r>
            <a:r>
              <a:rPr dirty="0" sz="1600" spc="-15" b="1">
                <a:solidFill>
                  <a:srgbClr val="4E3629"/>
                </a:solidFill>
                <a:latin typeface="Courier New"/>
                <a:cs typeface="Courier New"/>
              </a:rPr>
              <a:t> </a:t>
            </a:r>
            <a:r>
              <a:rPr dirty="0" sz="1600" spc="-10" b="1">
                <a:solidFill>
                  <a:srgbClr val="4E3629"/>
                </a:solidFill>
                <a:latin typeface="Courier New"/>
                <a:cs typeface="Courier New"/>
              </a:rPr>
              <a:t>"Department" </a:t>
            </a:r>
            <a:r>
              <a:rPr dirty="0" sz="1600" b="1">
                <a:solidFill>
                  <a:srgbClr val="4E3629"/>
                </a:solidFill>
                <a:latin typeface="Courier New"/>
                <a:cs typeface="Courier New"/>
              </a:rPr>
              <a:t>FROM</a:t>
            </a:r>
            <a:r>
              <a:rPr dirty="0" sz="1600" spc="-40" b="1">
                <a:solidFill>
                  <a:srgbClr val="4E3629"/>
                </a:solidFill>
                <a:latin typeface="Courier New"/>
                <a:cs typeface="Courier New"/>
              </a:rPr>
              <a:t> </a:t>
            </a:r>
            <a:r>
              <a:rPr dirty="0" sz="1600" spc="-10" b="1">
                <a:solidFill>
                  <a:srgbClr val="4E3629"/>
                </a:solidFill>
                <a:latin typeface="Courier New"/>
                <a:cs typeface="Courier New"/>
              </a:rPr>
              <a:t>employees;</a:t>
            </a:r>
            <a:endParaRPr sz="1600">
              <a:latin typeface="Courier New"/>
              <a:cs typeface="Courier New"/>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Expresión</a:t>
            </a:r>
            <a:r>
              <a:rPr dirty="0" spc="-125"/>
              <a:t> </a:t>
            </a:r>
            <a:r>
              <a:rPr dirty="0" spc="-10"/>
              <a:t>DECODE</a:t>
            </a:r>
          </a:p>
        </p:txBody>
      </p:sp>
      <p:sp>
        <p:nvSpPr>
          <p:cNvPr id="6" name="object 6"/>
          <p:cNvSpPr txBox="1"/>
          <p:nvPr/>
        </p:nvSpPr>
        <p:spPr>
          <a:xfrm>
            <a:off x="2874191" y="6516395"/>
            <a:ext cx="11836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Expresiones</a:t>
            </a:r>
            <a:r>
              <a:rPr dirty="0" sz="850" spc="50">
                <a:solidFill>
                  <a:srgbClr val="4E3629"/>
                </a:solidFill>
                <a:latin typeface="Calibri"/>
                <a:cs typeface="Calibri"/>
              </a:rPr>
              <a:t> </a:t>
            </a:r>
            <a:r>
              <a:rPr dirty="0" sz="850" spc="-10">
                <a:solidFill>
                  <a:srgbClr val="4E3629"/>
                </a:solidFill>
                <a:latin typeface="Calibri"/>
                <a:cs typeface="Calibri"/>
              </a:rPr>
              <a:t>Condicionales</a:t>
            </a:r>
            <a:endParaRPr sz="850">
              <a:latin typeface="Calibri"/>
              <a:cs typeface="Calibri"/>
            </a:endParaRPr>
          </a:p>
        </p:txBody>
      </p:sp>
      <p:sp>
        <p:nvSpPr>
          <p:cNvPr id="7" name="object 7"/>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11</a:t>
            </a: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415417"/>
            <a:ext cx="8111490" cy="219202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función</a:t>
            </a:r>
            <a:r>
              <a:rPr dirty="0" sz="2800" spc="-40">
                <a:solidFill>
                  <a:srgbClr val="4E3629"/>
                </a:solidFill>
                <a:latin typeface="Calibri"/>
                <a:cs typeface="Calibri"/>
              </a:rPr>
              <a:t> </a:t>
            </a:r>
            <a:r>
              <a:rPr dirty="0" sz="2800">
                <a:solidFill>
                  <a:srgbClr val="4E3629"/>
                </a:solidFill>
                <a:latin typeface="Calibri"/>
                <a:cs typeface="Calibri"/>
              </a:rPr>
              <a:t>DECODE</a:t>
            </a:r>
            <a:r>
              <a:rPr dirty="0" sz="2800" spc="-60">
                <a:solidFill>
                  <a:srgbClr val="4E3629"/>
                </a:solidFill>
                <a:latin typeface="Calibri"/>
                <a:cs typeface="Calibri"/>
              </a:rPr>
              <a:t> </a:t>
            </a:r>
            <a:r>
              <a:rPr dirty="0" sz="2800">
                <a:solidFill>
                  <a:srgbClr val="4E3629"/>
                </a:solidFill>
                <a:latin typeface="Calibri"/>
                <a:cs typeface="Calibri"/>
              </a:rPr>
              <a:t>evalúa</a:t>
            </a:r>
            <a:r>
              <a:rPr dirty="0" sz="2800" spc="-6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expresión</a:t>
            </a:r>
            <a:r>
              <a:rPr dirty="0" sz="2800" spc="-4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spc="-10">
                <a:solidFill>
                  <a:srgbClr val="4E3629"/>
                </a:solidFill>
                <a:latin typeface="Calibri"/>
                <a:cs typeface="Calibri"/>
              </a:rPr>
              <a:t>forma </a:t>
            </a:r>
            <a:r>
              <a:rPr dirty="0" sz="2800" spc="-10">
                <a:solidFill>
                  <a:srgbClr val="4E3629"/>
                </a:solidFill>
                <a:latin typeface="Calibri"/>
                <a:cs typeface="Calibri"/>
              </a:rPr>
              <a:t>	</a:t>
            </a:r>
            <a:r>
              <a:rPr dirty="0" sz="2800">
                <a:solidFill>
                  <a:srgbClr val="4E3629"/>
                </a:solidFill>
                <a:latin typeface="Calibri"/>
                <a:cs typeface="Calibri"/>
              </a:rPr>
              <a:t>similar</a:t>
            </a:r>
            <a:r>
              <a:rPr dirty="0" sz="2800" spc="-15">
                <a:solidFill>
                  <a:srgbClr val="4E3629"/>
                </a:solidFill>
                <a:latin typeface="Calibri"/>
                <a:cs typeface="Calibri"/>
              </a:rPr>
              <a:t> </a:t>
            </a:r>
            <a:r>
              <a:rPr dirty="0" sz="2800">
                <a:solidFill>
                  <a:srgbClr val="4E3629"/>
                </a:solidFill>
                <a:latin typeface="Calibri"/>
                <a:cs typeface="Calibri"/>
              </a:rPr>
              <a:t>a</a:t>
            </a:r>
            <a:r>
              <a:rPr dirty="0" sz="2800" spc="-15">
                <a:solidFill>
                  <a:srgbClr val="4E3629"/>
                </a:solidFill>
                <a:latin typeface="Calibri"/>
                <a:cs typeface="Calibri"/>
              </a:rPr>
              <a:t> </a:t>
            </a:r>
            <a:r>
              <a:rPr dirty="0" sz="2800">
                <a:solidFill>
                  <a:srgbClr val="4E3629"/>
                </a:solidFill>
                <a:latin typeface="Calibri"/>
                <a:cs typeface="Calibri"/>
              </a:rPr>
              <a:t>la</a:t>
            </a:r>
            <a:r>
              <a:rPr dirty="0" sz="2800" spc="-20">
                <a:solidFill>
                  <a:srgbClr val="4E3629"/>
                </a:solidFill>
                <a:latin typeface="Calibri"/>
                <a:cs typeface="Calibri"/>
              </a:rPr>
              <a:t> </a:t>
            </a:r>
            <a:r>
              <a:rPr dirty="0" sz="2800">
                <a:solidFill>
                  <a:srgbClr val="4E3629"/>
                </a:solidFill>
                <a:latin typeface="Calibri"/>
                <a:cs typeface="Calibri"/>
              </a:rPr>
              <a:t>lógica</a:t>
            </a:r>
            <a:r>
              <a:rPr dirty="0" sz="2800" spc="-25">
                <a:solidFill>
                  <a:srgbClr val="4E3629"/>
                </a:solidFill>
                <a:latin typeface="Calibri"/>
                <a:cs typeface="Calibri"/>
              </a:rPr>
              <a:t> </a:t>
            </a:r>
            <a:r>
              <a:rPr dirty="0" sz="2800" spc="-10">
                <a:solidFill>
                  <a:srgbClr val="4E3629"/>
                </a:solidFill>
                <a:latin typeface="Calibri"/>
                <a:cs typeface="Calibri"/>
              </a:rPr>
              <a:t>IF-</a:t>
            </a:r>
            <a:r>
              <a:rPr dirty="0" sz="2800" spc="-20">
                <a:solidFill>
                  <a:srgbClr val="4E3629"/>
                </a:solidFill>
                <a:latin typeface="Calibri"/>
                <a:cs typeface="Calibri"/>
              </a:rPr>
              <a:t>THEN-ELSE</a:t>
            </a:r>
            <a:endParaRPr sz="2800">
              <a:latin typeface="Calibri"/>
              <a:cs typeface="Calibri"/>
            </a:endParaRPr>
          </a:p>
          <a:p>
            <a:pPr marL="182880" marR="32893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DECODE</a:t>
            </a:r>
            <a:r>
              <a:rPr dirty="0" sz="2800" spc="-80">
                <a:solidFill>
                  <a:srgbClr val="4E3629"/>
                </a:solidFill>
                <a:latin typeface="Calibri"/>
                <a:cs typeface="Calibri"/>
              </a:rPr>
              <a:t> </a:t>
            </a:r>
            <a:r>
              <a:rPr dirty="0" sz="2800" spc="-10">
                <a:solidFill>
                  <a:srgbClr val="4E3629"/>
                </a:solidFill>
                <a:latin typeface="Calibri"/>
                <a:cs typeface="Calibri"/>
              </a:rPr>
              <a:t>compara</a:t>
            </a:r>
            <a:r>
              <a:rPr dirty="0" sz="2800" spc="-75">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a:solidFill>
                  <a:srgbClr val="4E3629"/>
                </a:solidFill>
                <a:latin typeface="Calibri"/>
                <a:cs typeface="Calibri"/>
              </a:rPr>
              <a:t>expresión</a:t>
            </a:r>
            <a:r>
              <a:rPr dirty="0" sz="2800" spc="-60">
                <a:solidFill>
                  <a:srgbClr val="4E3629"/>
                </a:solidFill>
                <a:latin typeface="Calibri"/>
                <a:cs typeface="Calibri"/>
              </a:rPr>
              <a:t> </a:t>
            </a:r>
            <a:r>
              <a:rPr dirty="0" sz="2800">
                <a:solidFill>
                  <a:srgbClr val="4E3629"/>
                </a:solidFill>
                <a:latin typeface="Calibri"/>
                <a:cs typeface="Calibri"/>
              </a:rPr>
              <a:t>con</a:t>
            </a:r>
            <a:r>
              <a:rPr dirty="0" sz="2800" spc="-80">
                <a:solidFill>
                  <a:srgbClr val="4E3629"/>
                </a:solidFill>
                <a:latin typeface="Calibri"/>
                <a:cs typeface="Calibri"/>
              </a:rPr>
              <a:t> </a:t>
            </a:r>
            <a:r>
              <a:rPr dirty="0" sz="2800">
                <a:solidFill>
                  <a:srgbClr val="4E3629"/>
                </a:solidFill>
                <a:latin typeface="Calibri"/>
                <a:cs typeface="Calibri"/>
              </a:rPr>
              <a:t>cada</a:t>
            </a:r>
            <a:r>
              <a:rPr dirty="0" sz="2800" spc="-85">
                <a:solidFill>
                  <a:srgbClr val="4E3629"/>
                </a:solidFill>
                <a:latin typeface="Calibri"/>
                <a:cs typeface="Calibri"/>
              </a:rPr>
              <a:t> </a:t>
            </a:r>
            <a:r>
              <a:rPr dirty="0" sz="2800">
                <a:solidFill>
                  <a:srgbClr val="4E3629"/>
                </a:solidFill>
                <a:latin typeface="Calibri"/>
                <a:cs typeface="Calibri"/>
              </a:rPr>
              <a:t>uno</a:t>
            </a:r>
            <a:r>
              <a:rPr dirty="0" sz="2800" spc="-65">
                <a:solidFill>
                  <a:srgbClr val="4E3629"/>
                </a:solidFill>
                <a:latin typeface="Calibri"/>
                <a:cs typeface="Calibri"/>
              </a:rPr>
              <a:t> </a:t>
            </a:r>
            <a:r>
              <a:rPr dirty="0" sz="2800">
                <a:solidFill>
                  <a:srgbClr val="4E3629"/>
                </a:solidFill>
                <a:latin typeface="Calibri"/>
                <a:cs typeface="Calibri"/>
              </a:rPr>
              <a:t>de</a:t>
            </a:r>
            <a:r>
              <a:rPr dirty="0" sz="2800" spc="-90">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valores</a:t>
            </a:r>
            <a:r>
              <a:rPr dirty="0" sz="2800" spc="-6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búsqueda</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sintaxis</a:t>
            </a:r>
            <a:r>
              <a:rPr dirty="0" sz="2800" spc="-4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DECODE</a:t>
            </a:r>
            <a:r>
              <a:rPr dirty="0" sz="2800" spc="-65">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p:cNvSpPr txBox="1"/>
          <p:nvPr/>
        </p:nvSpPr>
        <p:spPr>
          <a:xfrm>
            <a:off x="483552" y="4612769"/>
            <a:ext cx="7764145"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Si</a:t>
            </a:r>
            <a:r>
              <a:rPr dirty="0" sz="2800" spc="-4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omite</a:t>
            </a:r>
            <a:r>
              <a:rPr dirty="0" sz="2800" spc="-50">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por</a:t>
            </a:r>
            <a:r>
              <a:rPr dirty="0" sz="2800" spc="-30">
                <a:solidFill>
                  <a:srgbClr val="4E3629"/>
                </a:solidFill>
                <a:latin typeface="Calibri"/>
                <a:cs typeface="Calibri"/>
              </a:rPr>
              <a:t> </a:t>
            </a:r>
            <a:r>
              <a:rPr dirty="0" sz="2800" spc="-20">
                <a:solidFill>
                  <a:srgbClr val="4E3629"/>
                </a:solidFill>
                <a:latin typeface="Calibri"/>
                <a:cs typeface="Calibri"/>
              </a:rPr>
              <a:t>defecto,</a:t>
            </a:r>
            <a:r>
              <a:rPr dirty="0" sz="2800" spc="-5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devuelve</a:t>
            </a:r>
            <a:r>
              <a:rPr dirty="0" sz="2800" spc="-35">
                <a:solidFill>
                  <a:srgbClr val="4E3629"/>
                </a:solidFill>
                <a:latin typeface="Calibri"/>
                <a:cs typeface="Calibri"/>
              </a:rPr>
              <a:t> </a:t>
            </a:r>
            <a:r>
              <a:rPr dirty="0" sz="2800">
                <a:solidFill>
                  <a:srgbClr val="4E3629"/>
                </a:solidFill>
                <a:latin typeface="Calibri"/>
                <a:cs typeface="Calibri"/>
              </a:rPr>
              <a:t>un</a:t>
            </a:r>
            <a:r>
              <a:rPr dirty="0" sz="2800" spc="-30">
                <a:solidFill>
                  <a:srgbClr val="4E3629"/>
                </a:solidFill>
                <a:latin typeface="Calibri"/>
                <a:cs typeface="Calibri"/>
              </a:rPr>
              <a:t> </a:t>
            </a:r>
            <a:r>
              <a:rPr dirty="0" sz="2800" spc="-10">
                <a:solidFill>
                  <a:srgbClr val="4E3629"/>
                </a:solidFill>
                <a:latin typeface="Calibri"/>
                <a:cs typeface="Calibri"/>
              </a:rPr>
              <a:t>valor </a:t>
            </a:r>
            <a:r>
              <a:rPr dirty="0" sz="2800" spc="-10">
                <a:solidFill>
                  <a:srgbClr val="4E3629"/>
                </a:solidFill>
                <a:latin typeface="Calibri"/>
                <a:cs typeface="Calibri"/>
              </a:rPr>
              <a:t>	</a:t>
            </a:r>
            <a:r>
              <a:rPr dirty="0" sz="2800">
                <a:solidFill>
                  <a:srgbClr val="4E3629"/>
                </a:solidFill>
                <a:latin typeface="Calibri"/>
                <a:cs typeface="Calibri"/>
              </a:rPr>
              <a:t>nulo</a:t>
            </a:r>
            <a:r>
              <a:rPr dirty="0" sz="2800" spc="-55">
                <a:solidFill>
                  <a:srgbClr val="4E3629"/>
                </a:solidFill>
                <a:latin typeface="Calibri"/>
                <a:cs typeface="Calibri"/>
              </a:rPr>
              <a:t> </a:t>
            </a:r>
            <a:r>
              <a:rPr dirty="0" sz="2800">
                <a:solidFill>
                  <a:srgbClr val="4E3629"/>
                </a:solidFill>
                <a:latin typeface="Calibri"/>
                <a:cs typeface="Calibri"/>
              </a:rPr>
              <a:t>donde</a:t>
            </a:r>
            <a:r>
              <a:rPr dirty="0" sz="2800" spc="-5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búsqueda</a:t>
            </a:r>
            <a:r>
              <a:rPr dirty="0" sz="2800" spc="-25">
                <a:solidFill>
                  <a:srgbClr val="4E3629"/>
                </a:solidFill>
                <a:latin typeface="Calibri"/>
                <a:cs typeface="Calibri"/>
              </a:rPr>
              <a:t> </a:t>
            </a:r>
            <a:r>
              <a:rPr dirty="0" sz="2800">
                <a:solidFill>
                  <a:srgbClr val="4E3629"/>
                </a:solidFill>
                <a:latin typeface="Calibri"/>
                <a:cs typeface="Calibri"/>
              </a:rPr>
              <a:t>no</a:t>
            </a:r>
            <a:r>
              <a:rPr dirty="0" sz="2800" spc="-65">
                <a:solidFill>
                  <a:srgbClr val="4E3629"/>
                </a:solidFill>
                <a:latin typeface="Calibri"/>
                <a:cs typeface="Calibri"/>
              </a:rPr>
              <a:t> </a:t>
            </a:r>
            <a:r>
              <a:rPr dirty="0" sz="2800">
                <a:solidFill>
                  <a:srgbClr val="4E3629"/>
                </a:solidFill>
                <a:latin typeface="Calibri"/>
                <a:cs typeface="Calibri"/>
              </a:rPr>
              <a:t>coincida</a:t>
            </a:r>
            <a:r>
              <a:rPr dirty="0" sz="2800" spc="-45">
                <a:solidFill>
                  <a:srgbClr val="4E3629"/>
                </a:solidFill>
                <a:latin typeface="Calibri"/>
                <a:cs typeface="Calibri"/>
              </a:rPr>
              <a:t> </a:t>
            </a:r>
            <a:r>
              <a:rPr dirty="0" sz="2800" spc="-25">
                <a:solidFill>
                  <a:srgbClr val="4E3629"/>
                </a:solidFill>
                <a:latin typeface="Calibri"/>
                <a:cs typeface="Calibri"/>
              </a:rPr>
              <a:t>con </a:t>
            </a:r>
            <a:r>
              <a:rPr dirty="0" sz="2800" spc="-25">
                <a:solidFill>
                  <a:srgbClr val="4E3629"/>
                </a:solidFill>
                <a:latin typeface="Calibri"/>
                <a:cs typeface="Calibri"/>
              </a:rPr>
              <a:t>	</a:t>
            </a:r>
            <a:r>
              <a:rPr dirty="0" sz="2800">
                <a:solidFill>
                  <a:srgbClr val="4E3629"/>
                </a:solidFill>
                <a:latin typeface="Calibri"/>
                <a:cs typeface="Calibri"/>
              </a:rPr>
              <a:t>ninguno</a:t>
            </a:r>
            <a:r>
              <a:rPr dirty="0" sz="2800" spc="-3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spc="-10">
                <a:solidFill>
                  <a:srgbClr val="4E3629"/>
                </a:solidFill>
                <a:latin typeface="Calibri"/>
                <a:cs typeface="Calibri"/>
              </a:rPr>
              <a:t>valores</a:t>
            </a:r>
            <a:endParaRPr sz="2800">
              <a:latin typeface="Calibri"/>
              <a:cs typeface="Calibri"/>
            </a:endParaRPr>
          </a:p>
        </p:txBody>
      </p:sp>
      <p:sp>
        <p:nvSpPr>
          <p:cNvPr id="5" name="object 5"/>
          <p:cNvSpPr txBox="1"/>
          <p:nvPr/>
        </p:nvSpPr>
        <p:spPr>
          <a:xfrm>
            <a:off x="405384" y="3707891"/>
            <a:ext cx="8333740" cy="876300"/>
          </a:xfrm>
          <a:prstGeom prst="rect">
            <a:avLst/>
          </a:prstGeom>
          <a:solidFill>
            <a:srgbClr val="9DBEC4">
              <a:alpha val="50199"/>
            </a:srgbClr>
          </a:solidFill>
        </p:spPr>
        <p:txBody>
          <a:bodyPr wrap="square" lIns="0" tIns="8255" rIns="0" bIns="0" rtlCol="0" vert="horz">
            <a:spAutoFit/>
          </a:bodyPr>
          <a:lstStyle/>
          <a:p>
            <a:pPr marL="1228725" marR="2455545" indent="-1229995">
              <a:lnSpc>
                <a:spcPts val="2160"/>
              </a:lnSpc>
              <a:spcBef>
                <a:spcPts val="65"/>
              </a:spcBef>
            </a:pPr>
            <a:r>
              <a:rPr dirty="0" sz="1800" b="1">
                <a:solidFill>
                  <a:srgbClr val="4E3629"/>
                </a:solidFill>
                <a:latin typeface="Courier New"/>
                <a:cs typeface="Courier New"/>
              </a:rPr>
              <a:t>DECODE(columnl|expression,</a:t>
            </a:r>
            <a:r>
              <a:rPr dirty="0" sz="1800" spc="-175" b="1">
                <a:solidFill>
                  <a:srgbClr val="4E3629"/>
                </a:solidFill>
                <a:latin typeface="Courier New"/>
                <a:cs typeface="Courier New"/>
              </a:rPr>
              <a:t> </a:t>
            </a:r>
            <a:r>
              <a:rPr dirty="0" sz="1800" b="1">
                <a:solidFill>
                  <a:srgbClr val="4E3629"/>
                </a:solidFill>
                <a:latin typeface="Courier New"/>
                <a:cs typeface="Courier New"/>
              </a:rPr>
              <a:t>search1,</a:t>
            </a:r>
            <a:r>
              <a:rPr dirty="0" sz="1800" spc="-165" b="1">
                <a:solidFill>
                  <a:srgbClr val="4E3629"/>
                </a:solidFill>
                <a:latin typeface="Courier New"/>
                <a:cs typeface="Courier New"/>
              </a:rPr>
              <a:t> </a:t>
            </a:r>
            <a:r>
              <a:rPr dirty="0" sz="1800" spc="-10" b="1">
                <a:solidFill>
                  <a:srgbClr val="4E3629"/>
                </a:solidFill>
                <a:latin typeface="Courier New"/>
                <a:cs typeface="Courier New"/>
              </a:rPr>
              <a:t>result1 </a:t>
            </a:r>
            <a:r>
              <a:rPr dirty="0" sz="1800" b="1">
                <a:solidFill>
                  <a:srgbClr val="4E3629"/>
                </a:solidFill>
                <a:latin typeface="Courier New"/>
                <a:cs typeface="Courier New"/>
              </a:rPr>
              <a:t>[,</a:t>
            </a:r>
            <a:r>
              <a:rPr dirty="0" sz="1800" spc="-65" b="1">
                <a:solidFill>
                  <a:srgbClr val="4E3629"/>
                </a:solidFill>
                <a:latin typeface="Courier New"/>
                <a:cs typeface="Courier New"/>
              </a:rPr>
              <a:t> </a:t>
            </a:r>
            <a:r>
              <a:rPr dirty="0" sz="1800" b="1">
                <a:solidFill>
                  <a:srgbClr val="4E3629"/>
                </a:solidFill>
                <a:latin typeface="Courier New"/>
                <a:cs typeface="Courier New"/>
              </a:rPr>
              <a:t>search2,</a:t>
            </a:r>
            <a:r>
              <a:rPr dirty="0" sz="1800" spc="-55" b="1">
                <a:solidFill>
                  <a:srgbClr val="4E3629"/>
                </a:solidFill>
                <a:latin typeface="Courier New"/>
                <a:cs typeface="Courier New"/>
              </a:rPr>
              <a:t> </a:t>
            </a:r>
            <a:r>
              <a:rPr dirty="0" sz="1800" spc="-10" b="1">
                <a:solidFill>
                  <a:srgbClr val="4E3629"/>
                </a:solidFill>
                <a:latin typeface="Courier New"/>
                <a:cs typeface="Courier New"/>
              </a:rPr>
              <a:t>result2,...,]</a:t>
            </a:r>
            <a:endParaRPr sz="1800">
              <a:latin typeface="Courier New"/>
              <a:cs typeface="Courier New"/>
            </a:endParaRPr>
          </a:p>
          <a:p>
            <a:pPr marL="1228725">
              <a:lnSpc>
                <a:spcPts val="2090"/>
              </a:lnSpc>
            </a:pPr>
            <a:r>
              <a:rPr dirty="0" sz="1800" b="1">
                <a:solidFill>
                  <a:srgbClr val="4E3629"/>
                </a:solidFill>
                <a:latin typeface="Courier New"/>
                <a:cs typeface="Courier New"/>
              </a:rPr>
              <a:t>[,</a:t>
            </a:r>
            <a:r>
              <a:rPr dirty="0" sz="1800" spc="-40" b="1">
                <a:solidFill>
                  <a:srgbClr val="4E3629"/>
                </a:solidFill>
                <a:latin typeface="Courier New"/>
                <a:cs typeface="Courier New"/>
              </a:rPr>
              <a:t> </a:t>
            </a:r>
            <a:r>
              <a:rPr dirty="0" sz="1800" spc="-10" b="1">
                <a:solidFill>
                  <a:srgbClr val="4E3629"/>
                </a:solidFill>
                <a:latin typeface="Courier New"/>
                <a:cs typeface="Courier New"/>
              </a:rPr>
              <a:t>default])</a:t>
            </a:r>
            <a:endParaRPr sz="1800">
              <a:latin typeface="Courier New"/>
              <a:cs typeface="Courier New"/>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Expresión</a:t>
            </a:r>
            <a:r>
              <a:rPr dirty="0" spc="-125"/>
              <a:t> </a:t>
            </a:r>
            <a:r>
              <a:rPr dirty="0" spc="-10"/>
              <a:t>DECODE</a:t>
            </a:r>
          </a:p>
        </p:txBody>
      </p:sp>
      <p:sp>
        <p:nvSpPr>
          <p:cNvPr id="7" name="object 7"/>
          <p:cNvSpPr txBox="1"/>
          <p:nvPr/>
        </p:nvSpPr>
        <p:spPr>
          <a:xfrm>
            <a:off x="2874191" y="6516395"/>
            <a:ext cx="118364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5">
                <a:solidFill>
                  <a:srgbClr val="4E3629"/>
                </a:solidFill>
                <a:latin typeface="Calibri"/>
                <a:cs typeface="Calibri"/>
              </a:rPr>
              <a:t> </a:t>
            </a:r>
            <a:r>
              <a:rPr dirty="0" sz="850" spc="-10">
                <a:solidFill>
                  <a:srgbClr val="4E3629"/>
                </a:solidFill>
                <a:latin typeface="Calibri"/>
                <a:cs typeface="Calibri"/>
              </a:rPr>
              <a:t>5-</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Expresiones</a:t>
            </a:r>
            <a:r>
              <a:rPr dirty="0" sz="850" spc="50">
                <a:solidFill>
                  <a:srgbClr val="4E3629"/>
                </a:solidFill>
                <a:latin typeface="Calibri"/>
                <a:cs typeface="Calibri"/>
              </a:rPr>
              <a:t> </a:t>
            </a:r>
            <a:r>
              <a:rPr dirty="0" sz="850" spc="-10">
                <a:solidFill>
                  <a:srgbClr val="4E3629"/>
                </a:solidFill>
                <a:latin typeface="Calibri"/>
                <a:cs typeface="Calibri"/>
              </a:rPr>
              <a:t>Condicionales</a:t>
            </a:r>
            <a:endParaRPr sz="850">
              <a:latin typeface="Calibri"/>
              <a:cs typeface="Calibri"/>
            </a:endParaRP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161290">
              <a:lnSpc>
                <a:spcPts val="1045"/>
              </a:lnSpc>
            </a:pPr>
            <a:r>
              <a:rPr dirty="0" spc="-25"/>
              <a:t>12</a:t>
            </a: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p:cNvSpPr txBox="1"/>
          <p:nvPr/>
        </p:nvSpPr>
        <p:spPr>
          <a:xfrm>
            <a:off x="483552" y="1381889"/>
            <a:ext cx="310769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Examine</a:t>
            </a:r>
            <a:r>
              <a:rPr dirty="0" sz="2800" spc="-6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spc="-10">
                <a:solidFill>
                  <a:srgbClr val="4E3629"/>
                </a:solidFill>
                <a:latin typeface="Calibri"/>
                <a:cs typeface="Calibri"/>
              </a:rPr>
              <a:t>ejemplo:</a:t>
            </a:r>
            <a:endParaRPr sz="2800">
              <a:latin typeface="Calibri"/>
              <a:cs typeface="Calibri"/>
            </a:endParaRPr>
          </a:p>
        </p:txBody>
      </p:sp>
      <p:sp>
        <p:nvSpPr>
          <p:cNvPr id="4" name="object 4"/>
          <p:cNvSpPr txBox="1"/>
          <p:nvPr/>
        </p:nvSpPr>
        <p:spPr>
          <a:xfrm>
            <a:off x="483552" y="4039745"/>
            <a:ext cx="4799330" cy="1816735"/>
          </a:xfrm>
          <a:prstGeom prst="rect">
            <a:avLst/>
          </a:prstGeom>
        </p:spPr>
        <p:txBody>
          <a:bodyPr wrap="square" lIns="0" tIns="97155" rIns="0" bIns="0" rtlCol="0" vert="horz">
            <a:spAutoFit/>
          </a:bodyPr>
          <a:lstStyle/>
          <a:p>
            <a:pPr marL="182880" marR="508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Esta</a:t>
            </a:r>
            <a:r>
              <a:rPr dirty="0" sz="2800" spc="-135">
                <a:solidFill>
                  <a:srgbClr val="4E3629"/>
                </a:solidFill>
                <a:latin typeface="Calibri"/>
                <a:cs typeface="Calibri"/>
              </a:rPr>
              <a:t> </a:t>
            </a:r>
            <a:r>
              <a:rPr dirty="0" sz="2800">
                <a:solidFill>
                  <a:srgbClr val="4E3629"/>
                </a:solidFill>
                <a:latin typeface="Calibri"/>
                <a:cs typeface="Calibri"/>
              </a:rPr>
              <a:t>consulta</a:t>
            </a:r>
            <a:r>
              <a:rPr dirty="0" sz="2800" spc="-110">
                <a:solidFill>
                  <a:srgbClr val="4E3629"/>
                </a:solidFill>
                <a:latin typeface="Calibri"/>
                <a:cs typeface="Calibri"/>
              </a:rPr>
              <a:t> </a:t>
            </a:r>
            <a:r>
              <a:rPr dirty="0" sz="2800" spc="-10">
                <a:solidFill>
                  <a:srgbClr val="4E3629"/>
                </a:solidFill>
                <a:latin typeface="Calibri"/>
                <a:cs typeface="Calibri"/>
              </a:rPr>
              <a:t>devuelve </a:t>
            </a:r>
            <a:r>
              <a:rPr dirty="0" sz="2800" spc="-10">
                <a:solidFill>
                  <a:srgbClr val="4E3629"/>
                </a:solidFill>
                <a:latin typeface="Calibri"/>
                <a:cs typeface="Calibri"/>
              </a:rPr>
              <a:t>	</a:t>
            </a:r>
            <a:r>
              <a:rPr dirty="0" sz="2800" spc="-20">
                <a:solidFill>
                  <a:srgbClr val="4E3629"/>
                </a:solidFill>
                <a:latin typeface="Calibri"/>
                <a:cs typeface="Calibri"/>
              </a:rPr>
              <a:t>exactamente</a:t>
            </a:r>
            <a:r>
              <a:rPr dirty="0" sz="2800" spc="-65">
                <a:solidFill>
                  <a:srgbClr val="4E3629"/>
                </a:solidFill>
                <a:latin typeface="Calibri"/>
                <a:cs typeface="Calibri"/>
              </a:rPr>
              <a:t> </a:t>
            </a:r>
            <a:r>
              <a:rPr dirty="0" sz="2800">
                <a:solidFill>
                  <a:srgbClr val="4E3629"/>
                </a:solidFill>
                <a:latin typeface="Calibri"/>
                <a:cs typeface="Calibri"/>
              </a:rPr>
              <a:t>los</a:t>
            </a:r>
            <a:r>
              <a:rPr dirty="0" sz="2800" spc="-45">
                <a:solidFill>
                  <a:srgbClr val="4E3629"/>
                </a:solidFill>
                <a:latin typeface="Calibri"/>
                <a:cs typeface="Calibri"/>
              </a:rPr>
              <a:t> </a:t>
            </a:r>
            <a:r>
              <a:rPr dirty="0" sz="2800" spc="-10">
                <a:solidFill>
                  <a:srgbClr val="4E3629"/>
                </a:solidFill>
                <a:latin typeface="Calibri"/>
                <a:cs typeface="Calibri"/>
              </a:rPr>
              <a:t>mismos </a:t>
            </a:r>
            <a:r>
              <a:rPr dirty="0" sz="2800" spc="-10">
                <a:solidFill>
                  <a:srgbClr val="4E3629"/>
                </a:solidFill>
                <a:latin typeface="Calibri"/>
                <a:cs typeface="Calibri"/>
              </a:rPr>
              <a:t>	</a:t>
            </a:r>
            <a:r>
              <a:rPr dirty="0" sz="2800">
                <a:solidFill>
                  <a:srgbClr val="4E3629"/>
                </a:solidFill>
                <a:latin typeface="Calibri"/>
                <a:cs typeface="Calibri"/>
              </a:rPr>
              <a:t>resultados</a:t>
            </a:r>
            <a:r>
              <a:rPr dirty="0" sz="2800" spc="-45">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ejemplo</a:t>
            </a:r>
            <a:r>
              <a:rPr dirty="0" sz="2800" spc="-55">
                <a:solidFill>
                  <a:srgbClr val="4E3629"/>
                </a:solidFill>
                <a:latin typeface="Calibri"/>
                <a:cs typeface="Calibri"/>
              </a:rPr>
              <a:t> </a:t>
            </a:r>
            <a:r>
              <a:rPr dirty="0" sz="2800" spc="-20">
                <a:solidFill>
                  <a:srgbClr val="4E3629"/>
                </a:solidFill>
                <a:latin typeface="Calibri"/>
                <a:cs typeface="Calibri"/>
              </a:rPr>
              <a:t>CASE </a:t>
            </a:r>
            <a:r>
              <a:rPr dirty="0" sz="2800" spc="-20">
                <a:solidFill>
                  <a:srgbClr val="4E3629"/>
                </a:solidFill>
                <a:latin typeface="Calibri"/>
                <a:cs typeface="Calibri"/>
              </a:rPr>
              <a:t>	</a:t>
            </a:r>
            <a:r>
              <a:rPr dirty="0" sz="2800" spc="-35">
                <a:solidFill>
                  <a:srgbClr val="4E3629"/>
                </a:solidFill>
                <a:latin typeface="Calibri"/>
                <a:cs typeface="Calibri"/>
              </a:rPr>
              <a:t>anterior,</a:t>
            </a:r>
            <a:r>
              <a:rPr dirty="0" sz="2800" spc="-120">
                <a:solidFill>
                  <a:srgbClr val="4E3629"/>
                </a:solidFill>
                <a:latin typeface="Calibri"/>
                <a:cs typeface="Calibri"/>
              </a:rPr>
              <a:t> </a:t>
            </a:r>
            <a:r>
              <a:rPr dirty="0" sz="2800">
                <a:solidFill>
                  <a:srgbClr val="4E3629"/>
                </a:solidFill>
                <a:latin typeface="Calibri"/>
                <a:cs typeface="Calibri"/>
              </a:rPr>
              <a:t>pero</a:t>
            </a:r>
            <a:r>
              <a:rPr dirty="0" sz="2800" spc="-100">
                <a:solidFill>
                  <a:srgbClr val="4E3629"/>
                </a:solidFill>
                <a:latin typeface="Calibri"/>
                <a:cs typeface="Calibri"/>
              </a:rPr>
              <a:t> </a:t>
            </a:r>
            <a:r>
              <a:rPr dirty="0" sz="2800">
                <a:solidFill>
                  <a:srgbClr val="4E3629"/>
                </a:solidFill>
                <a:latin typeface="Calibri"/>
                <a:cs typeface="Calibri"/>
              </a:rPr>
              <a:t>utilizando</a:t>
            </a:r>
            <a:r>
              <a:rPr dirty="0" sz="2800" spc="-95">
                <a:solidFill>
                  <a:srgbClr val="4E3629"/>
                </a:solidFill>
                <a:latin typeface="Calibri"/>
                <a:cs typeface="Calibri"/>
              </a:rPr>
              <a:t> </a:t>
            </a:r>
            <a:r>
              <a:rPr dirty="0" sz="2800" spc="-10">
                <a:solidFill>
                  <a:srgbClr val="4E3629"/>
                </a:solidFill>
                <a:latin typeface="Calibri"/>
                <a:cs typeface="Calibri"/>
              </a:rPr>
              <a:t>sintaxis 	diferente</a:t>
            </a:r>
            <a:endParaRPr sz="2800">
              <a:latin typeface="Calibri"/>
              <a:cs typeface="Calibri"/>
            </a:endParaRPr>
          </a:p>
        </p:txBody>
      </p:sp>
      <p:graphicFrame>
        <p:nvGraphicFramePr>
          <p:cNvPr id="5" name="object 5"/>
          <p:cNvGraphicFramePr>
            <a:graphicFrameLocks noGrp="1"/>
          </p:cNvGraphicFramePr>
          <p:nvPr/>
        </p:nvGraphicFramePr>
        <p:xfrm>
          <a:off x="5640049" y="784225"/>
          <a:ext cx="3193415" cy="5626735"/>
        </p:xfrm>
        <a:graphic>
          <a:graphicData uri="http://schemas.openxmlformats.org/drawingml/2006/table">
            <a:tbl>
              <a:tblPr firstRow="1" bandRow="1">
                <a:tableStyleId>{2D5ABB26-0587-4C30-8999-92F81FD0307C}</a:tableStyleId>
              </a:tblPr>
              <a:tblGrid>
                <a:gridCol w="1130935"/>
                <a:gridCol w="1973579"/>
              </a:tblGrid>
              <a:tr h="243204">
                <a:tc>
                  <a:txBody>
                    <a:bodyPr/>
                    <a:lstStyle/>
                    <a:p>
                      <a:pPr marL="71755">
                        <a:lnSpc>
                          <a:spcPts val="1820"/>
                        </a:lnSpc>
                      </a:pPr>
                      <a:r>
                        <a:rPr dirty="0" sz="1600" spc="-10" b="1">
                          <a:solidFill>
                            <a:srgbClr val="4E3629"/>
                          </a:solidFill>
                          <a:latin typeface="Calibri"/>
                          <a:cs typeface="Calibri"/>
                        </a:rPr>
                        <a:t>LAST_NAME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Department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204">
                <a:tc>
                  <a:txBody>
                    <a:bodyPr/>
                    <a:lstStyle/>
                    <a:p>
                      <a:pPr marL="71755">
                        <a:lnSpc>
                          <a:spcPts val="1820"/>
                        </a:lnSpc>
                      </a:pPr>
                      <a:r>
                        <a:rPr dirty="0" sz="1600" spc="-20">
                          <a:solidFill>
                            <a:srgbClr val="4E3629"/>
                          </a:solidFill>
                          <a:latin typeface="Calibri"/>
                          <a:cs typeface="Calibri"/>
                        </a:rPr>
                        <a:t>King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Management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840">
                <a:tc>
                  <a:txBody>
                    <a:bodyPr/>
                    <a:lstStyle/>
                    <a:p>
                      <a:pPr marL="71755">
                        <a:lnSpc>
                          <a:spcPts val="1820"/>
                        </a:lnSpc>
                      </a:pPr>
                      <a:r>
                        <a:rPr dirty="0" sz="1600" spc="-10">
                          <a:solidFill>
                            <a:srgbClr val="4E3629"/>
                          </a:solidFill>
                          <a:latin typeface="Calibri"/>
                          <a:cs typeface="Calibri"/>
                        </a:rPr>
                        <a:t>Kochhar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Management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Management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10">
                          <a:solidFill>
                            <a:srgbClr val="4E3629"/>
                          </a:solidFill>
                          <a:latin typeface="Calibri"/>
                          <a:cs typeface="Calibri"/>
                        </a:rPr>
                        <a:t>Whalen</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10">
                          <a:solidFill>
                            <a:srgbClr val="4E3629"/>
                          </a:solidFill>
                          <a:latin typeface="Calibri"/>
                          <a:cs typeface="Calibri"/>
                        </a:rPr>
                        <a:t>Higgins</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10">
                          <a:solidFill>
                            <a:srgbClr val="4E3629"/>
                          </a:solidFill>
                          <a:latin typeface="Calibri"/>
                          <a:cs typeface="Calibri"/>
                        </a:rPr>
                        <a:t>Gietz</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spc="-10">
                          <a:solidFill>
                            <a:srgbClr val="4E3629"/>
                          </a:solidFill>
                          <a:latin typeface="Calibri"/>
                          <a:cs typeface="Calibri"/>
                        </a:rPr>
                        <a:t>Zlotkey</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Sales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spc="-20">
                          <a:solidFill>
                            <a:srgbClr val="4E3629"/>
                          </a:solidFill>
                          <a:latin typeface="Calibri"/>
                          <a:cs typeface="Calibri"/>
                        </a:rPr>
                        <a:t>Abel</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Sales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spc="-10">
                          <a:solidFill>
                            <a:srgbClr val="4E3629"/>
                          </a:solidFill>
                          <a:latin typeface="Calibri"/>
                          <a:cs typeface="Calibri"/>
                        </a:rPr>
                        <a:t>Taylor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Sales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10">
                          <a:solidFill>
                            <a:srgbClr val="4E3629"/>
                          </a:solidFill>
                          <a:latin typeface="Calibri"/>
                          <a:cs typeface="Calibri"/>
                        </a:rPr>
                        <a:t>Grant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10">
                          <a:solidFill>
                            <a:srgbClr val="4E3629"/>
                          </a:solidFill>
                          <a:latin typeface="Calibri"/>
                          <a:cs typeface="Calibri"/>
                        </a:rPr>
                        <a:t>Mourgos</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20">
                          <a:solidFill>
                            <a:srgbClr val="4E3629"/>
                          </a:solidFill>
                          <a:latin typeface="Calibri"/>
                          <a:cs typeface="Calibri"/>
                        </a:rPr>
                        <a:t>Rajs</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10">
                          <a:solidFill>
                            <a:srgbClr val="4E3629"/>
                          </a:solidFill>
                          <a:latin typeface="Calibri"/>
                          <a:cs typeface="Calibri"/>
                        </a:rPr>
                        <a:t>Davies</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10">
                          <a:solidFill>
                            <a:srgbClr val="4E3629"/>
                          </a:solidFill>
                          <a:latin typeface="Calibri"/>
                          <a:cs typeface="Calibri"/>
                        </a:rPr>
                        <a:t>Matos</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10">
                          <a:solidFill>
                            <a:srgbClr val="4E3629"/>
                          </a:solidFill>
                          <a:latin typeface="Calibri"/>
                          <a:cs typeface="Calibri"/>
                        </a:rPr>
                        <a:t>Vargas</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1755">
                        <a:lnSpc>
                          <a:spcPts val="1820"/>
                        </a:lnSpc>
                      </a:pPr>
                      <a:r>
                        <a:rPr dirty="0" sz="1600" spc="-10">
                          <a:solidFill>
                            <a:srgbClr val="4E3629"/>
                          </a:solidFill>
                          <a:latin typeface="Calibri"/>
                          <a:cs typeface="Calibri"/>
                        </a:rPr>
                        <a:t>Hunold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It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1755">
                        <a:lnSpc>
                          <a:spcPts val="1820"/>
                        </a:lnSpc>
                      </a:pPr>
                      <a:r>
                        <a:rPr dirty="0" sz="1600" spc="-10">
                          <a:solidFill>
                            <a:srgbClr val="4E3629"/>
                          </a:solidFill>
                          <a:latin typeface="Calibri"/>
                          <a:cs typeface="Calibri"/>
                        </a:rPr>
                        <a:t>Ernst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It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1755">
                        <a:lnSpc>
                          <a:spcPts val="1820"/>
                        </a:lnSpc>
                      </a:pPr>
                      <a:r>
                        <a:rPr dirty="0" sz="1600" spc="-10">
                          <a:solidFill>
                            <a:srgbClr val="4E3629"/>
                          </a:solidFill>
                          <a:latin typeface="Calibri"/>
                          <a:cs typeface="Calibri"/>
                        </a:rPr>
                        <a:t>Lorentz</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It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10">
                          <a:solidFill>
                            <a:srgbClr val="4E3629"/>
                          </a:solidFill>
                          <a:latin typeface="Calibri"/>
                          <a:cs typeface="Calibri"/>
                        </a:rPr>
                        <a:t>Hartstein</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0195">
                <a:tc>
                  <a:txBody>
                    <a:bodyPr/>
                    <a:lstStyle/>
                    <a:p>
                      <a:pPr marL="71755">
                        <a:lnSpc>
                          <a:spcPct val="100000"/>
                        </a:lnSpc>
                        <a:spcBef>
                          <a:spcPts val="80"/>
                        </a:spcBef>
                      </a:pPr>
                      <a:r>
                        <a:rPr dirty="0" sz="1600" spc="-25">
                          <a:solidFill>
                            <a:srgbClr val="4E3629"/>
                          </a:solidFill>
                          <a:latin typeface="Calibri"/>
                          <a:cs typeface="Calibri"/>
                        </a:rPr>
                        <a:t>Fay</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80"/>
                        </a:spcBef>
                      </a:pPr>
                      <a:r>
                        <a:rPr dirty="0" sz="1600">
                          <a:solidFill>
                            <a:srgbClr val="4E3629"/>
                          </a:solidFill>
                          <a:latin typeface="Calibri"/>
                          <a:cs typeface="Calibri"/>
                        </a:rPr>
                        <a:t>Other</a:t>
                      </a:r>
                      <a:r>
                        <a:rPr dirty="0" sz="1600" spc="-30">
                          <a:solidFill>
                            <a:srgbClr val="4E3629"/>
                          </a:solidFill>
                          <a:latin typeface="Calibri"/>
                          <a:cs typeface="Calibri"/>
                        </a:rPr>
                        <a:t> </a:t>
                      </a:r>
                      <a:r>
                        <a:rPr dirty="0" sz="1600" spc="-20">
                          <a:solidFill>
                            <a:srgbClr val="4E3629"/>
                          </a:solidFill>
                          <a:latin typeface="Calibri"/>
                          <a:cs typeface="Calibri"/>
                        </a:rPr>
                        <a:t>dept.</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6" name="object 6"/>
          <p:cNvSpPr txBox="1"/>
          <p:nvPr/>
        </p:nvSpPr>
        <p:spPr>
          <a:xfrm>
            <a:off x="393191" y="1865376"/>
            <a:ext cx="5055235" cy="2192020"/>
          </a:xfrm>
          <a:prstGeom prst="rect">
            <a:avLst/>
          </a:prstGeom>
          <a:solidFill>
            <a:srgbClr val="9DBEC4">
              <a:alpha val="50199"/>
            </a:srgbClr>
          </a:solidFill>
        </p:spPr>
        <p:txBody>
          <a:bodyPr wrap="square" lIns="0" tIns="0" rIns="0" bIns="0" rtlCol="0" vert="horz">
            <a:spAutoFit/>
          </a:bodyPr>
          <a:lstStyle/>
          <a:p>
            <a:pPr>
              <a:lnSpc>
                <a:spcPts val="1935"/>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a:t>
            </a:r>
            <a:endParaRPr sz="1800">
              <a:latin typeface="Courier New"/>
              <a:cs typeface="Courier New"/>
            </a:endParaRPr>
          </a:p>
          <a:p>
            <a:pPr marL="546735" marR="1908175" indent="-273050">
              <a:lnSpc>
                <a:spcPct val="100000"/>
              </a:lnSpc>
            </a:pPr>
            <a:r>
              <a:rPr dirty="0" sz="1800" spc="-10" b="1">
                <a:solidFill>
                  <a:srgbClr val="4E3629"/>
                </a:solidFill>
                <a:latin typeface="Courier New"/>
                <a:cs typeface="Courier New"/>
              </a:rPr>
              <a:t>DECODE(department_id, </a:t>
            </a:r>
            <a:r>
              <a:rPr dirty="0" sz="1800" b="1">
                <a:solidFill>
                  <a:srgbClr val="4E3629"/>
                </a:solidFill>
                <a:latin typeface="Courier New"/>
                <a:cs typeface="Courier New"/>
              </a:rPr>
              <a:t>90,</a:t>
            </a:r>
            <a:r>
              <a:rPr dirty="0" sz="1800" spc="-35" b="1">
                <a:solidFill>
                  <a:srgbClr val="4E3629"/>
                </a:solidFill>
                <a:latin typeface="Courier New"/>
                <a:cs typeface="Courier New"/>
              </a:rPr>
              <a:t> </a:t>
            </a:r>
            <a:r>
              <a:rPr dirty="0" sz="1800" spc="-10" b="1">
                <a:solidFill>
                  <a:srgbClr val="4E3629"/>
                </a:solidFill>
                <a:latin typeface="Courier New"/>
                <a:cs typeface="Courier New"/>
              </a:rPr>
              <a:t>'Management',</a:t>
            </a:r>
            <a:endParaRPr sz="1800">
              <a:latin typeface="Courier New"/>
              <a:cs typeface="Courier New"/>
            </a:endParaRPr>
          </a:p>
          <a:p>
            <a:pPr marL="681990">
              <a:lnSpc>
                <a:spcPct val="100000"/>
              </a:lnSpc>
            </a:pPr>
            <a:r>
              <a:rPr dirty="0" sz="1800" b="1">
                <a:solidFill>
                  <a:srgbClr val="4E3629"/>
                </a:solidFill>
                <a:latin typeface="Courier New"/>
                <a:cs typeface="Courier New"/>
              </a:rPr>
              <a:t>80,</a:t>
            </a:r>
            <a:r>
              <a:rPr dirty="0" sz="1800" spc="-25" b="1">
                <a:solidFill>
                  <a:srgbClr val="4E3629"/>
                </a:solidFill>
                <a:latin typeface="Courier New"/>
                <a:cs typeface="Courier New"/>
              </a:rPr>
              <a:t> </a:t>
            </a:r>
            <a:r>
              <a:rPr dirty="0" sz="1800" spc="-10" b="1">
                <a:solidFill>
                  <a:srgbClr val="4E3629"/>
                </a:solidFill>
                <a:latin typeface="Courier New"/>
                <a:cs typeface="Courier New"/>
              </a:rPr>
              <a:t>'Sales',</a:t>
            </a:r>
            <a:endParaRPr sz="1800">
              <a:latin typeface="Courier New"/>
              <a:cs typeface="Courier New"/>
            </a:endParaRPr>
          </a:p>
          <a:p>
            <a:pPr marL="546735">
              <a:lnSpc>
                <a:spcPct val="100000"/>
              </a:lnSpc>
            </a:pPr>
            <a:r>
              <a:rPr dirty="0" sz="1800" b="1">
                <a:solidFill>
                  <a:srgbClr val="4E3629"/>
                </a:solidFill>
                <a:latin typeface="Courier New"/>
                <a:cs typeface="Courier New"/>
              </a:rPr>
              <a:t>60,</a:t>
            </a:r>
            <a:r>
              <a:rPr dirty="0" sz="1800" spc="-35" b="1">
                <a:solidFill>
                  <a:srgbClr val="4E3629"/>
                </a:solidFill>
                <a:latin typeface="Courier New"/>
                <a:cs typeface="Courier New"/>
              </a:rPr>
              <a:t> </a:t>
            </a:r>
            <a:r>
              <a:rPr dirty="0" sz="1800" spc="-10" b="1">
                <a:solidFill>
                  <a:srgbClr val="4E3629"/>
                </a:solidFill>
                <a:latin typeface="Courier New"/>
                <a:cs typeface="Courier New"/>
              </a:rPr>
              <a:t>'It',</a:t>
            </a:r>
            <a:endParaRPr sz="1800">
              <a:latin typeface="Courier New"/>
              <a:cs typeface="Courier New"/>
            </a:endParaRPr>
          </a:p>
          <a:p>
            <a:pPr marR="2588895" indent="546735">
              <a:lnSpc>
                <a:spcPct val="100000"/>
              </a:lnSpc>
            </a:pPr>
            <a:r>
              <a:rPr dirty="0" sz="1800" b="1">
                <a:solidFill>
                  <a:srgbClr val="4E3629"/>
                </a:solidFill>
                <a:latin typeface="Courier New"/>
                <a:cs typeface="Courier New"/>
              </a:rPr>
              <a:t>'Other</a:t>
            </a:r>
            <a:r>
              <a:rPr dirty="0" sz="1800" spc="-70" b="1">
                <a:solidFill>
                  <a:srgbClr val="4E3629"/>
                </a:solidFill>
                <a:latin typeface="Courier New"/>
                <a:cs typeface="Courier New"/>
              </a:rPr>
              <a:t> </a:t>
            </a:r>
            <a:r>
              <a:rPr dirty="0" sz="1800" spc="-10" b="1">
                <a:solidFill>
                  <a:srgbClr val="4E3629"/>
                </a:solidFill>
                <a:latin typeface="Courier New"/>
                <a:cs typeface="Courier New"/>
              </a:rPr>
              <a:t>dept.') </a:t>
            </a:r>
            <a:r>
              <a:rPr dirty="0" sz="1800" b="1">
                <a:solidFill>
                  <a:srgbClr val="4E3629"/>
                </a:solidFill>
                <a:latin typeface="Courier New"/>
                <a:cs typeface="Courier New"/>
              </a:rPr>
              <a:t>AS</a:t>
            </a:r>
            <a:r>
              <a:rPr dirty="0" sz="1800" spc="-20" b="1">
                <a:solidFill>
                  <a:srgbClr val="4E3629"/>
                </a:solidFill>
                <a:latin typeface="Courier New"/>
                <a:cs typeface="Courier New"/>
              </a:rPr>
              <a:t> </a:t>
            </a:r>
            <a:r>
              <a:rPr dirty="0" sz="1800" spc="-10" b="1">
                <a:solidFill>
                  <a:srgbClr val="4E3629"/>
                </a:solidFill>
                <a:latin typeface="Courier New"/>
                <a:cs typeface="Courier New"/>
              </a:rPr>
              <a:t>"Department"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p:spPr>
        <p:txBody>
          <a:bodyPr wrap="square" lIns="0" tIns="77470" rIns="0" bIns="0" rtlCol="0" vert="horz">
            <a:spAutoFit/>
          </a:bodyPr>
          <a:lstStyle/>
          <a:p>
            <a:pPr marL="12700" marR="5080">
              <a:lnSpc>
                <a:spcPts val="3030"/>
              </a:lnSpc>
              <a:spcBef>
                <a:spcPts val="610"/>
              </a:spcBef>
              <a:tabLst>
                <a:tab pos="2983230" algn="l"/>
              </a:tabLst>
            </a:pPr>
            <a:r>
              <a:rPr dirty="0" sz="2900" spc="880">
                <a:solidFill>
                  <a:srgbClr val="131316"/>
                </a:solidFill>
                <a:latin typeface="Arial MT"/>
                <a:cs typeface="Arial MT"/>
              </a:rPr>
              <a:t>¡GRACIAS</a:t>
            </a:r>
            <a:r>
              <a:rPr dirty="0" sz="2900">
                <a:solidFill>
                  <a:srgbClr val="131316"/>
                </a:solidFill>
                <a:latin typeface="Arial MT"/>
                <a:cs typeface="Arial MT"/>
              </a:rPr>
              <a:t>	</a:t>
            </a:r>
            <a:r>
              <a:rPr dirty="0" sz="2900" spc="1005">
                <a:solidFill>
                  <a:srgbClr val="131316"/>
                </a:solidFill>
                <a:latin typeface="Arial MT"/>
                <a:cs typeface="Arial MT"/>
              </a:rPr>
              <a:t>POR </a:t>
            </a:r>
            <a:r>
              <a:rPr dirty="0" sz="2900" spc="775">
                <a:solidFill>
                  <a:srgbClr val="131316"/>
                </a:solidFill>
                <a:latin typeface="Arial MT"/>
                <a:cs typeface="Arial MT"/>
              </a:rPr>
              <a:t>SU</a:t>
            </a:r>
            <a:r>
              <a:rPr dirty="0" sz="2900" spc="640">
                <a:solidFill>
                  <a:srgbClr val="131316"/>
                </a:solidFill>
                <a:latin typeface="Arial MT"/>
                <a:cs typeface="Arial MT"/>
              </a:rPr>
              <a:t> </a:t>
            </a:r>
            <a:r>
              <a:rPr dirty="0" sz="2900" spc="930">
                <a:solidFill>
                  <a:srgbClr val="131316"/>
                </a:solidFill>
                <a:latin typeface="Arial MT"/>
                <a:cs typeface="Arial MT"/>
              </a:rPr>
              <a:t>ATENCIÓN!</a:t>
            </a:r>
            <a:endParaRPr sz="2900">
              <a:latin typeface="Arial MT"/>
              <a:cs typeface="Arial MT"/>
            </a:endParaRPr>
          </a:p>
        </p:txBody>
      </p:sp>
      <p:sp>
        <p:nvSpPr>
          <p:cNvPr id="3" name="object 3"/>
          <p:cNvSpPr txBox="1"/>
          <p:nvPr/>
        </p:nvSpPr>
        <p:spPr>
          <a:xfrm>
            <a:off x="3554886" y="3853027"/>
            <a:ext cx="1405890" cy="392430"/>
          </a:xfrm>
          <a:prstGeom prst="rect">
            <a:avLst/>
          </a:prstGeom>
        </p:spPr>
        <p:txBody>
          <a:bodyPr wrap="square" lIns="0" tIns="13335" rIns="0" bIns="0" rtlCol="0" vert="horz">
            <a:spAutoFit/>
          </a:bodyPr>
          <a:lstStyle/>
          <a:p>
            <a:pPr marL="12700">
              <a:lnSpc>
                <a:spcPct val="100000"/>
              </a:lnSpc>
              <a:spcBef>
                <a:spcPts val="105"/>
              </a:spcBef>
            </a:pPr>
            <a:r>
              <a:rPr dirty="0" sz="2400">
                <a:solidFill>
                  <a:srgbClr val="131316"/>
                </a:solidFill>
                <a:latin typeface="Lucida Sans Unicode"/>
                <a:cs typeface="Lucida Sans Unicode"/>
              </a:rPr>
              <a:t>D</a:t>
            </a:r>
            <a:r>
              <a:rPr dirty="0" sz="2400" spc="-204">
                <a:solidFill>
                  <a:srgbClr val="131316"/>
                </a:solidFill>
                <a:latin typeface="Lucida Sans Unicode"/>
                <a:cs typeface="Lucida Sans Unicode"/>
              </a:rPr>
              <a:t> </a:t>
            </a:r>
            <a:r>
              <a:rPr dirty="0" sz="2400" spc="80">
                <a:solidFill>
                  <a:srgbClr val="131316"/>
                </a:solidFill>
                <a:latin typeface="Lucida Sans Unicode"/>
                <a:cs typeface="Lucida Sans Unicode"/>
              </a:rPr>
              <a:t>U</a:t>
            </a:r>
            <a:r>
              <a:rPr dirty="0" sz="2400" spc="-195">
                <a:solidFill>
                  <a:srgbClr val="131316"/>
                </a:solidFill>
                <a:latin typeface="Lucida Sans Unicode"/>
                <a:cs typeface="Lucida Sans Unicode"/>
              </a:rPr>
              <a:t> </a:t>
            </a:r>
            <a:r>
              <a:rPr dirty="0" sz="2400">
                <a:solidFill>
                  <a:srgbClr val="131316"/>
                </a:solidFill>
                <a:latin typeface="Lucida Sans Unicode"/>
                <a:cs typeface="Lucida Sans Unicode"/>
              </a:rPr>
              <a:t>D</a:t>
            </a:r>
            <a:r>
              <a:rPr dirty="0" sz="2400" spc="-175">
                <a:solidFill>
                  <a:srgbClr val="131316"/>
                </a:solidFill>
                <a:latin typeface="Lucida Sans Unicode"/>
                <a:cs typeface="Lucida Sans Unicode"/>
              </a:rPr>
              <a:t> </a:t>
            </a:r>
            <a:r>
              <a:rPr dirty="0" sz="2400">
                <a:solidFill>
                  <a:srgbClr val="131316"/>
                </a:solidFill>
                <a:latin typeface="Lucida Sans Unicode"/>
                <a:cs typeface="Lucida Sans Unicode"/>
              </a:rPr>
              <a:t>A</a:t>
            </a:r>
            <a:r>
              <a:rPr dirty="0" sz="2400" spc="-204">
                <a:solidFill>
                  <a:srgbClr val="131316"/>
                </a:solidFill>
                <a:latin typeface="Lucida Sans Unicode"/>
                <a:cs typeface="Lucida Sans Unicode"/>
              </a:rPr>
              <a:t> </a:t>
            </a:r>
            <a:r>
              <a:rPr dirty="0" sz="2400" spc="204">
                <a:solidFill>
                  <a:srgbClr val="131316"/>
                </a:solidFill>
                <a:latin typeface="Lucida Sans Unicode"/>
                <a:cs typeface="Lucida Sans Unicode"/>
              </a:rPr>
              <a:t>S</a:t>
            </a:r>
            <a:endParaRPr sz="2400">
              <a:latin typeface="Lucida Sans Unicode"/>
              <a:cs typeface="Lucida Sans Unicode"/>
            </a:endParaRPr>
          </a:p>
        </p:txBody>
      </p:sp>
      <p:pic>
        <p:nvPicPr>
          <p:cNvPr id="4" name="object 4"/>
          <p:cNvPicPr/>
          <p:nvPr/>
        </p:nvPicPr>
        <p:blipFill>
          <a:blip r:embed="rId2" cstate="print"/>
          <a:stretch>
            <a:fillRect/>
          </a:stretch>
        </p:blipFill>
        <p:spPr>
          <a:xfrm>
            <a:off x="6757147" y="1446903"/>
            <a:ext cx="1325879" cy="1818042"/>
          </a:xfrm>
          <a:prstGeom prst="rect">
            <a:avLst/>
          </a:prstGeom>
        </p:spPr>
      </p:pic>
      <p:sp>
        <p:nvSpPr>
          <p:cNvPr id="5" name="object 5"/>
          <p:cNvSpPr txBox="1"/>
          <p:nvPr/>
        </p:nvSpPr>
        <p:spPr>
          <a:xfrm>
            <a:off x="1545842" y="4723479"/>
            <a:ext cx="5788025" cy="381000"/>
          </a:xfrm>
          <a:prstGeom prst="rect">
            <a:avLst/>
          </a:prstGeom>
        </p:spPr>
        <p:txBody>
          <a:bodyPr wrap="square" lIns="0" tIns="12065" rIns="0" bIns="0" rtlCol="0" vert="horz">
            <a:spAutoFit/>
          </a:bodyPr>
          <a:lstStyle/>
          <a:p>
            <a:pPr marL="316230" marR="5080" indent="-304165">
              <a:lnSpc>
                <a:spcPct val="122600"/>
              </a:lnSpc>
              <a:spcBef>
                <a:spcPts val="95"/>
              </a:spcBef>
            </a:pPr>
            <a:r>
              <a:rPr dirty="0" sz="950" spc="50">
                <a:solidFill>
                  <a:srgbClr val="131316"/>
                </a:solidFill>
                <a:latin typeface="Lucida Sans Unicode"/>
                <a:cs typeface="Lucida Sans Unicode"/>
              </a:rPr>
              <a:t>R</a:t>
            </a:r>
            <a:r>
              <a:rPr dirty="0" sz="950" spc="-85">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55">
                <a:solidFill>
                  <a:srgbClr val="131316"/>
                </a:solidFill>
                <a:latin typeface="Lucida Sans Unicode"/>
                <a:cs typeface="Lucida Sans Unicode"/>
              </a:rPr>
              <a:t> </a:t>
            </a:r>
            <a:r>
              <a:rPr dirty="0" sz="950" spc="114">
                <a:solidFill>
                  <a:srgbClr val="131316"/>
                </a:solidFill>
                <a:latin typeface="Lucida Sans Unicode"/>
                <a:cs typeface="Lucida Sans Unicode"/>
              </a:rPr>
              <a:t>C</a:t>
            </a:r>
            <a:r>
              <a:rPr dirty="0" sz="950" spc="-75">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70">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70">
                <a:solidFill>
                  <a:srgbClr val="131316"/>
                </a:solidFill>
                <a:latin typeface="Lucida Sans Unicode"/>
                <a:cs typeface="Lucida Sans Unicode"/>
              </a:rPr>
              <a:t> </a:t>
            </a:r>
            <a:r>
              <a:rPr dirty="0" sz="950" spc="50">
                <a:solidFill>
                  <a:srgbClr val="131316"/>
                </a:solidFill>
                <a:latin typeface="Lucida Sans Unicode"/>
                <a:cs typeface="Lucida Sans Unicode"/>
              </a:rPr>
              <a:t>R</a:t>
            </a:r>
            <a:r>
              <a:rPr dirty="0" sz="950" spc="-80">
                <a:solidFill>
                  <a:srgbClr val="131316"/>
                </a:solidFill>
                <a:latin typeface="Lucida Sans Unicode"/>
                <a:cs typeface="Lucida Sans Unicode"/>
              </a:rPr>
              <a:t> </a:t>
            </a:r>
            <a:r>
              <a:rPr dirty="0" sz="950">
                <a:solidFill>
                  <a:srgbClr val="131316"/>
                </a:solidFill>
                <a:latin typeface="Lucida Sans Unicode"/>
                <a:cs typeface="Lucida Sans Unicode"/>
              </a:rPr>
              <a:t>D</a:t>
            </a:r>
            <a:r>
              <a:rPr dirty="0" sz="950" spc="-80">
                <a:solidFill>
                  <a:srgbClr val="131316"/>
                </a:solidFill>
                <a:latin typeface="Lucida Sans Unicode"/>
                <a:cs typeface="Lucida Sans Unicode"/>
              </a:rPr>
              <a:t> </a:t>
            </a:r>
            <a:r>
              <a:rPr dirty="0" sz="950">
                <a:solidFill>
                  <a:srgbClr val="131316"/>
                </a:solidFill>
                <a:latin typeface="Lucida Sans Unicode"/>
                <a:cs typeface="Lucida Sans Unicode"/>
              </a:rPr>
              <a:t>A</a:t>
            </a:r>
            <a:r>
              <a:rPr dirty="0" sz="950" spc="409">
                <a:solidFill>
                  <a:srgbClr val="131316"/>
                </a:solidFill>
                <a:latin typeface="Lucida Sans Unicode"/>
                <a:cs typeface="Lucida Sans Unicode"/>
              </a:rPr>
              <a:t> </a:t>
            </a:r>
            <a:r>
              <a:rPr dirty="0" sz="950" spc="65">
                <a:solidFill>
                  <a:srgbClr val="131316"/>
                </a:solidFill>
                <a:latin typeface="Lucida Sans Unicode"/>
                <a:cs typeface="Lucida Sans Unicode"/>
              </a:rPr>
              <a:t>Q</a:t>
            </a:r>
            <a:r>
              <a:rPr dirty="0" sz="950" spc="-65">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80">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405">
                <a:solidFill>
                  <a:srgbClr val="131316"/>
                </a:solidFill>
                <a:latin typeface="Lucida Sans Unicode"/>
                <a:cs typeface="Lucida Sans Unicode"/>
              </a:rPr>
              <a:t> </a:t>
            </a:r>
            <a:r>
              <a:rPr dirty="0" sz="950">
                <a:solidFill>
                  <a:srgbClr val="131316"/>
                </a:solidFill>
                <a:latin typeface="Lucida Sans Unicode"/>
                <a:cs typeface="Lucida Sans Unicode"/>
              </a:rPr>
              <a:t>T</a:t>
            </a:r>
            <a:r>
              <a:rPr dirty="0" sz="950" spc="-70">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80">
                <a:solidFill>
                  <a:srgbClr val="131316"/>
                </a:solidFill>
                <a:latin typeface="Lucida Sans Unicode"/>
                <a:cs typeface="Lucida Sans Unicode"/>
              </a:rPr>
              <a:t> </a:t>
            </a:r>
            <a:r>
              <a:rPr dirty="0" sz="950">
                <a:solidFill>
                  <a:srgbClr val="131316"/>
                </a:solidFill>
                <a:latin typeface="Lucida Sans Unicode"/>
                <a:cs typeface="Lucida Sans Unicode"/>
              </a:rPr>
              <a:t>N</a:t>
            </a:r>
            <a:r>
              <a:rPr dirty="0" sz="950" spc="-60">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80">
                <a:solidFill>
                  <a:srgbClr val="131316"/>
                </a:solidFill>
                <a:latin typeface="Lucida Sans Unicode"/>
                <a:cs typeface="Lucida Sans Unicode"/>
              </a:rPr>
              <a:t> </a:t>
            </a:r>
            <a:r>
              <a:rPr dirty="0" sz="950" spc="65">
                <a:solidFill>
                  <a:srgbClr val="131316"/>
                </a:solidFill>
                <a:latin typeface="Lucida Sans Unicode"/>
                <a:cs typeface="Lucida Sans Unicode"/>
              </a:rPr>
              <a:t>M</a:t>
            </a:r>
            <a:r>
              <a:rPr dirty="0" sz="950" spc="-80">
                <a:solidFill>
                  <a:srgbClr val="131316"/>
                </a:solidFill>
                <a:latin typeface="Lucida Sans Unicode"/>
                <a:cs typeface="Lucida Sans Unicode"/>
              </a:rPr>
              <a:t> </a:t>
            </a:r>
            <a:r>
              <a:rPr dirty="0" sz="950" spc="65">
                <a:solidFill>
                  <a:srgbClr val="131316"/>
                </a:solidFill>
                <a:latin typeface="Lucida Sans Unicode"/>
                <a:cs typeface="Lucida Sans Unicode"/>
              </a:rPr>
              <a:t>O</a:t>
            </a:r>
            <a:r>
              <a:rPr dirty="0" sz="950" spc="-60">
                <a:solidFill>
                  <a:srgbClr val="131316"/>
                </a:solidFill>
                <a:latin typeface="Lucida Sans Unicode"/>
                <a:cs typeface="Lucida Sans Unicode"/>
              </a:rPr>
              <a:t> </a:t>
            </a:r>
            <a:r>
              <a:rPr dirty="0" sz="950" spc="105">
                <a:solidFill>
                  <a:srgbClr val="131316"/>
                </a:solidFill>
                <a:latin typeface="Lucida Sans Unicode"/>
                <a:cs typeface="Lucida Sans Unicode"/>
              </a:rPr>
              <a:t>S</a:t>
            </a:r>
            <a:r>
              <a:rPr dirty="0" sz="950" spc="400">
                <a:solidFill>
                  <a:srgbClr val="131316"/>
                </a:solidFill>
                <a:latin typeface="Lucida Sans Unicode"/>
                <a:cs typeface="Lucida Sans Unicode"/>
              </a:rPr>
              <a:t> </a:t>
            </a:r>
            <a:r>
              <a:rPr dirty="0" sz="950">
                <a:solidFill>
                  <a:srgbClr val="131316"/>
                </a:solidFill>
                <a:latin typeface="Lucida Sans Unicode"/>
                <a:cs typeface="Lucida Sans Unicode"/>
              </a:rPr>
              <a:t>N</a:t>
            </a:r>
            <a:r>
              <a:rPr dirty="0" sz="950" spc="-75">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70">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65">
                <a:solidFill>
                  <a:srgbClr val="131316"/>
                </a:solidFill>
                <a:latin typeface="Lucida Sans Unicode"/>
                <a:cs typeface="Lucida Sans Unicode"/>
              </a:rPr>
              <a:t> </a:t>
            </a:r>
            <a:r>
              <a:rPr dirty="0" sz="950" spc="105">
                <a:solidFill>
                  <a:srgbClr val="131316"/>
                </a:solidFill>
                <a:latin typeface="Lucida Sans Unicode"/>
                <a:cs typeface="Lucida Sans Unicode"/>
              </a:rPr>
              <a:t>S</a:t>
            </a:r>
            <a:r>
              <a:rPr dirty="0" sz="950" spc="-75">
                <a:solidFill>
                  <a:srgbClr val="131316"/>
                </a:solidFill>
                <a:latin typeface="Lucida Sans Unicode"/>
                <a:cs typeface="Lucida Sans Unicode"/>
              </a:rPr>
              <a:t> </a:t>
            </a:r>
            <a:r>
              <a:rPr dirty="0" sz="950">
                <a:solidFill>
                  <a:srgbClr val="131316"/>
                </a:solidFill>
                <a:latin typeface="Lucida Sans Unicode"/>
                <a:cs typeface="Lucida Sans Unicode"/>
              </a:rPr>
              <a:t>T</a:t>
            </a:r>
            <a:r>
              <a:rPr dirty="0" sz="950" spc="-70">
                <a:solidFill>
                  <a:srgbClr val="131316"/>
                </a:solidFill>
                <a:latin typeface="Lucida Sans Unicode"/>
                <a:cs typeface="Lucida Sans Unicode"/>
              </a:rPr>
              <a:t> </a:t>
            </a:r>
            <a:r>
              <a:rPr dirty="0" sz="950" spc="50">
                <a:solidFill>
                  <a:srgbClr val="131316"/>
                </a:solidFill>
                <a:latin typeface="Lucida Sans Unicode"/>
                <a:cs typeface="Lucida Sans Unicode"/>
              </a:rPr>
              <a:t>R</a:t>
            </a:r>
            <a:r>
              <a:rPr dirty="0" sz="950" spc="-70">
                <a:solidFill>
                  <a:srgbClr val="131316"/>
                </a:solidFill>
                <a:latin typeface="Lucida Sans Unicode"/>
                <a:cs typeface="Lucida Sans Unicode"/>
              </a:rPr>
              <a:t> </a:t>
            </a:r>
            <a:r>
              <a:rPr dirty="0" sz="950" spc="65">
                <a:solidFill>
                  <a:srgbClr val="131316"/>
                </a:solidFill>
                <a:latin typeface="Lucida Sans Unicode"/>
                <a:cs typeface="Lucida Sans Unicode"/>
              </a:rPr>
              <a:t>O</a:t>
            </a:r>
            <a:r>
              <a:rPr dirty="0" sz="950" spc="395">
                <a:solidFill>
                  <a:srgbClr val="131316"/>
                </a:solidFill>
                <a:latin typeface="Lucida Sans Unicode"/>
                <a:cs typeface="Lucida Sans Unicode"/>
              </a:rPr>
              <a:t> </a:t>
            </a:r>
            <a:r>
              <a:rPr dirty="0" sz="950">
                <a:solidFill>
                  <a:srgbClr val="131316"/>
                </a:solidFill>
                <a:latin typeface="Lucida Sans Unicode"/>
                <a:cs typeface="Lucida Sans Unicode"/>
              </a:rPr>
              <a:t>F</a:t>
            </a:r>
            <a:r>
              <a:rPr dirty="0" sz="950" spc="-65">
                <a:solidFill>
                  <a:srgbClr val="131316"/>
                </a:solidFill>
                <a:latin typeface="Lucida Sans Unicode"/>
                <a:cs typeface="Lucida Sans Unicode"/>
              </a:rPr>
              <a:t> </a:t>
            </a:r>
            <a:r>
              <a:rPr dirty="0" sz="950" spc="65">
                <a:solidFill>
                  <a:srgbClr val="131316"/>
                </a:solidFill>
                <a:latin typeface="Lucida Sans Unicode"/>
                <a:cs typeface="Lucida Sans Unicode"/>
              </a:rPr>
              <a:t>O</a:t>
            </a:r>
            <a:r>
              <a:rPr dirty="0" sz="950" spc="-80">
                <a:solidFill>
                  <a:srgbClr val="131316"/>
                </a:solidFill>
                <a:latin typeface="Lucida Sans Unicode"/>
                <a:cs typeface="Lucida Sans Unicode"/>
              </a:rPr>
              <a:t> </a:t>
            </a:r>
            <a:r>
              <a:rPr dirty="0" sz="950" spc="50">
                <a:solidFill>
                  <a:srgbClr val="131316"/>
                </a:solidFill>
                <a:latin typeface="Lucida Sans Unicode"/>
                <a:cs typeface="Lucida Sans Unicode"/>
              </a:rPr>
              <a:t>R</a:t>
            </a:r>
            <a:r>
              <a:rPr dirty="0" sz="950" spc="-70">
                <a:solidFill>
                  <a:srgbClr val="131316"/>
                </a:solidFill>
                <a:latin typeface="Lucida Sans Unicode"/>
                <a:cs typeface="Lucida Sans Unicode"/>
              </a:rPr>
              <a:t> </a:t>
            </a:r>
            <a:r>
              <a:rPr dirty="0" sz="950" spc="65">
                <a:solidFill>
                  <a:srgbClr val="131316"/>
                </a:solidFill>
                <a:latin typeface="Lucida Sans Unicode"/>
                <a:cs typeface="Lucida Sans Unicode"/>
              </a:rPr>
              <a:t>O</a:t>
            </a:r>
            <a:r>
              <a:rPr dirty="0" sz="950" spc="415">
                <a:solidFill>
                  <a:srgbClr val="131316"/>
                </a:solidFill>
                <a:latin typeface="Lucida Sans Unicode"/>
                <a:cs typeface="Lucida Sans Unicode"/>
              </a:rPr>
              <a:t> </a:t>
            </a:r>
            <a:r>
              <a:rPr dirty="0" sz="950" spc="105">
                <a:solidFill>
                  <a:srgbClr val="131316"/>
                </a:solidFill>
                <a:latin typeface="Lucida Sans Unicode"/>
                <a:cs typeface="Lucida Sans Unicode"/>
              </a:rPr>
              <a:t>S</a:t>
            </a:r>
            <a:r>
              <a:rPr dirty="0" sz="950" spc="-75">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65">
                <a:solidFill>
                  <a:srgbClr val="131316"/>
                </a:solidFill>
                <a:latin typeface="Lucida Sans Unicode"/>
                <a:cs typeface="Lucida Sans Unicode"/>
              </a:rPr>
              <a:t> </a:t>
            </a:r>
            <a:r>
              <a:rPr dirty="0" sz="950" spc="65">
                <a:solidFill>
                  <a:srgbClr val="131316"/>
                </a:solidFill>
                <a:latin typeface="Lucida Sans Unicode"/>
                <a:cs typeface="Lucida Sans Unicode"/>
              </a:rPr>
              <a:t>M</a:t>
            </a:r>
            <a:r>
              <a:rPr dirty="0" sz="950" spc="-85">
                <a:solidFill>
                  <a:srgbClr val="131316"/>
                </a:solidFill>
                <a:latin typeface="Lucida Sans Unicode"/>
                <a:cs typeface="Lucida Sans Unicode"/>
              </a:rPr>
              <a:t> </a:t>
            </a:r>
            <a:r>
              <a:rPr dirty="0" sz="950">
                <a:solidFill>
                  <a:srgbClr val="131316"/>
                </a:solidFill>
                <a:latin typeface="Lucida Sans Unicode"/>
                <a:cs typeface="Lucida Sans Unicode"/>
              </a:rPr>
              <a:t>A</a:t>
            </a:r>
            <a:r>
              <a:rPr dirty="0" sz="950" spc="-65">
                <a:solidFill>
                  <a:srgbClr val="131316"/>
                </a:solidFill>
                <a:latin typeface="Lucida Sans Unicode"/>
                <a:cs typeface="Lucida Sans Unicode"/>
              </a:rPr>
              <a:t> </a:t>
            </a:r>
            <a:r>
              <a:rPr dirty="0" sz="950">
                <a:solidFill>
                  <a:srgbClr val="131316"/>
                </a:solidFill>
                <a:latin typeface="Lucida Sans Unicode"/>
                <a:cs typeface="Lucida Sans Unicode"/>
              </a:rPr>
              <a:t>N</a:t>
            </a:r>
            <a:r>
              <a:rPr dirty="0" sz="950" spc="-85">
                <a:solidFill>
                  <a:srgbClr val="131316"/>
                </a:solidFill>
                <a:latin typeface="Lucida Sans Unicode"/>
                <a:cs typeface="Lucida Sans Unicode"/>
              </a:rPr>
              <a:t> </a:t>
            </a:r>
            <a:r>
              <a:rPr dirty="0" sz="950">
                <a:solidFill>
                  <a:srgbClr val="131316"/>
                </a:solidFill>
                <a:latin typeface="Lucida Sans Unicode"/>
                <a:cs typeface="Lucida Sans Unicode"/>
              </a:rPr>
              <a:t>A</a:t>
            </a:r>
            <a:r>
              <a:rPr dirty="0" sz="950" spc="-75">
                <a:solidFill>
                  <a:srgbClr val="131316"/>
                </a:solidFill>
                <a:latin typeface="Lucida Sans Unicode"/>
                <a:cs typeface="Lucida Sans Unicode"/>
              </a:rPr>
              <a:t> </a:t>
            </a:r>
            <a:r>
              <a:rPr dirty="0" sz="950">
                <a:solidFill>
                  <a:srgbClr val="131316"/>
                </a:solidFill>
                <a:latin typeface="Lucida Sans Unicode"/>
                <a:cs typeface="Lucida Sans Unicode"/>
              </a:rPr>
              <a:t>L</a:t>
            </a:r>
            <a:r>
              <a:rPr dirty="0" sz="950" spc="400">
                <a:solidFill>
                  <a:srgbClr val="131316"/>
                </a:solidFill>
                <a:latin typeface="Lucida Sans Unicode"/>
                <a:cs typeface="Lucida Sans Unicode"/>
              </a:rPr>
              <a:t> </a:t>
            </a:r>
            <a:r>
              <a:rPr dirty="0" sz="950">
                <a:solidFill>
                  <a:srgbClr val="131316"/>
                </a:solidFill>
                <a:latin typeface="Lucida Sans Unicode"/>
                <a:cs typeface="Lucida Sans Unicode"/>
              </a:rPr>
              <a:t>D</a:t>
            </a:r>
            <a:r>
              <a:rPr dirty="0" sz="950" spc="-65">
                <a:solidFill>
                  <a:srgbClr val="131316"/>
                </a:solidFill>
                <a:latin typeface="Lucida Sans Unicode"/>
                <a:cs typeface="Lucida Sans Unicode"/>
              </a:rPr>
              <a:t> </a:t>
            </a:r>
            <a:r>
              <a:rPr dirty="0" sz="950" spc="65">
                <a:solidFill>
                  <a:srgbClr val="131316"/>
                </a:solidFill>
                <a:latin typeface="Lucida Sans Unicode"/>
                <a:cs typeface="Lucida Sans Unicode"/>
              </a:rPr>
              <a:t>O</a:t>
            </a:r>
            <a:r>
              <a:rPr dirty="0" sz="950" spc="-85">
                <a:solidFill>
                  <a:srgbClr val="131316"/>
                </a:solidFill>
                <a:latin typeface="Lucida Sans Unicode"/>
                <a:cs typeface="Lucida Sans Unicode"/>
              </a:rPr>
              <a:t> </a:t>
            </a:r>
            <a:r>
              <a:rPr dirty="0" sz="950">
                <a:solidFill>
                  <a:srgbClr val="131316"/>
                </a:solidFill>
                <a:latin typeface="Lucida Sans Unicode"/>
                <a:cs typeface="Lucida Sans Unicode"/>
              </a:rPr>
              <a:t>N</a:t>
            </a:r>
            <a:r>
              <a:rPr dirty="0" sz="950" spc="-55">
                <a:solidFill>
                  <a:srgbClr val="131316"/>
                </a:solidFill>
                <a:latin typeface="Lucida Sans Unicode"/>
                <a:cs typeface="Lucida Sans Unicode"/>
              </a:rPr>
              <a:t> </a:t>
            </a:r>
            <a:r>
              <a:rPr dirty="0" sz="950">
                <a:solidFill>
                  <a:srgbClr val="131316"/>
                </a:solidFill>
                <a:latin typeface="Lucida Sans Unicode"/>
                <a:cs typeface="Lucida Sans Unicode"/>
              </a:rPr>
              <a:t>D</a:t>
            </a:r>
            <a:r>
              <a:rPr dirty="0" sz="950" spc="-65">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385">
                <a:solidFill>
                  <a:srgbClr val="131316"/>
                </a:solidFill>
                <a:latin typeface="Lucida Sans Unicode"/>
                <a:cs typeface="Lucida Sans Unicode"/>
              </a:rPr>
              <a:t> </a:t>
            </a:r>
            <a:r>
              <a:rPr dirty="0" sz="950" spc="85">
                <a:solidFill>
                  <a:srgbClr val="131316"/>
                </a:solidFill>
                <a:latin typeface="Lucida Sans Unicode"/>
                <a:cs typeface="Lucida Sans Unicode"/>
              </a:rPr>
              <a:t>P</a:t>
            </a:r>
            <a:r>
              <a:rPr dirty="0" sz="950" spc="-50">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85">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75">
                <a:solidFill>
                  <a:srgbClr val="131316"/>
                </a:solidFill>
                <a:latin typeface="Lucida Sans Unicode"/>
                <a:cs typeface="Lucida Sans Unicode"/>
              </a:rPr>
              <a:t> </a:t>
            </a:r>
            <a:r>
              <a:rPr dirty="0" sz="950">
                <a:solidFill>
                  <a:srgbClr val="131316"/>
                </a:solidFill>
                <a:latin typeface="Lucida Sans Unicode"/>
                <a:cs typeface="Lucida Sans Unicode"/>
              </a:rPr>
              <a:t>D</a:t>
            </a:r>
            <a:r>
              <a:rPr dirty="0" sz="950" spc="-80">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65">
                <a:solidFill>
                  <a:srgbClr val="131316"/>
                </a:solidFill>
                <a:latin typeface="Lucida Sans Unicode"/>
                <a:cs typeface="Lucida Sans Unicode"/>
              </a:rPr>
              <a:t> </a:t>
            </a:r>
            <a:r>
              <a:rPr dirty="0" sz="950" spc="55">
                <a:solidFill>
                  <a:srgbClr val="131316"/>
                </a:solidFill>
                <a:latin typeface="Lucida Sans Unicode"/>
                <a:cs typeface="Lucida Sans Unicode"/>
              </a:rPr>
              <a:t>S </a:t>
            </a:r>
            <a:r>
              <a:rPr dirty="0" sz="950" spc="114">
                <a:solidFill>
                  <a:srgbClr val="131316"/>
                </a:solidFill>
                <a:latin typeface="Lucida Sans Unicode"/>
                <a:cs typeface="Lucida Sans Unicode"/>
              </a:rPr>
              <a:t>C</a:t>
            </a:r>
            <a:r>
              <a:rPr dirty="0" sz="950" spc="-65">
                <a:solidFill>
                  <a:srgbClr val="131316"/>
                </a:solidFill>
                <a:latin typeface="Lucida Sans Unicode"/>
                <a:cs typeface="Lucida Sans Unicode"/>
              </a:rPr>
              <a:t> </a:t>
            </a:r>
            <a:r>
              <a:rPr dirty="0" sz="950" spc="65">
                <a:solidFill>
                  <a:srgbClr val="131316"/>
                </a:solidFill>
                <a:latin typeface="Lucida Sans Unicode"/>
                <a:cs typeface="Lucida Sans Unicode"/>
              </a:rPr>
              <a:t>O</a:t>
            </a:r>
            <a:r>
              <a:rPr dirty="0" sz="950" spc="-80">
                <a:solidFill>
                  <a:srgbClr val="131316"/>
                </a:solidFill>
                <a:latin typeface="Lucida Sans Unicode"/>
                <a:cs typeface="Lucida Sans Unicode"/>
              </a:rPr>
              <a:t> </a:t>
            </a:r>
            <a:r>
              <a:rPr dirty="0" sz="950">
                <a:solidFill>
                  <a:srgbClr val="131316"/>
                </a:solidFill>
                <a:latin typeface="Lucida Sans Unicode"/>
                <a:cs typeface="Lucida Sans Unicode"/>
              </a:rPr>
              <a:t>N</a:t>
            </a:r>
            <a:r>
              <a:rPr dirty="0" sz="950" spc="-55">
                <a:solidFill>
                  <a:srgbClr val="131316"/>
                </a:solidFill>
                <a:latin typeface="Lucida Sans Unicode"/>
                <a:cs typeface="Lucida Sans Unicode"/>
              </a:rPr>
              <a:t> </a:t>
            </a:r>
            <a:r>
              <a:rPr dirty="0" sz="950" spc="105">
                <a:solidFill>
                  <a:srgbClr val="131316"/>
                </a:solidFill>
                <a:latin typeface="Lucida Sans Unicode"/>
                <a:cs typeface="Lucida Sans Unicode"/>
              </a:rPr>
              <a:t>S</a:t>
            </a:r>
            <a:r>
              <a:rPr dirty="0" sz="950" spc="-60">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80">
                <a:solidFill>
                  <a:srgbClr val="131316"/>
                </a:solidFill>
                <a:latin typeface="Lucida Sans Unicode"/>
                <a:cs typeface="Lucida Sans Unicode"/>
              </a:rPr>
              <a:t> </a:t>
            </a:r>
            <a:r>
              <a:rPr dirty="0" sz="950">
                <a:solidFill>
                  <a:srgbClr val="131316"/>
                </a:solidFill>
                <a:latin typeface="Lucida Sans Unicode"/>
                <a:cs typeface="Lucida Sans Unicode"/>
              </a:rPr>
              <a:t>L</a:t>
            </a:r>
            <a:r>
              <a:rPr dirty="0" sz="950" spc="-75">
                <a:solidFill>
                  <a:srgbClr val="131316"/>
                </a:solidFill>
                <a:latin typeface="Lucida Sans Unicode"/>
                <a:cs typeface="Lucida Sans Unicode"/>
              </a:rPr>
              <a:t> </a:t>
            </a:r>
            <a:r>
              <a:rPr dirty="0" sz="950">
                <a:solidFill>
                  <a:srgbClr val="131316"/>
                </a:solidFill>
                <a:latin typeface="Lucida Sans Unicode"/>
                <a:cs typeface="Lucida Sans Unicode"/>
              </a:rPr>
              <a:t>T</a:t>
            </a:r>
            <a:r>
              <a:rPr dirty="0" sz="950" spc="-85">
                <a:solidFill>
                  <a:srgbClr val="131316"/>
                </a:solidFill>
                <a:latin typeface="Lucida Sans Unicode"/>
                <a:cs typeface="Lucida Sans Unicode"/>
              </a:rPr>
              <a:t> </a:t>
            </a:r>
            <a:r>
              <a:rPr dirty="0" sz="950">
                <a:solidFill>
                  <a:srgbClr val="131316"/>
                </a:solidFill>
                <a:latin typeface="Lucida Sans Unicode"/>
                <a:cs typeface="Lucida Sans Unicode"/>
              </a:rPr>
              <a:t>A</a:t>
            </a:r>
            <a:r>
              <a:rPr dirty="0" sz="950" spc="-65">
                <a:solidFill>
                  <a:srgbClr val="131316"/>
                </a:solidFill>
                <a:latin typeface="Lucida Sans Unicode"/>
                <a:cs typeface="Lucida Sans Unicode"/>
              </a:rPr>
              <a:t> </a:t>
            </a:r>
            <a:r>
              <a:rPr dirty="0" sz="950" spc="50">
                <a:solidFill>
                  <a:srgbClr val="131316"/>
                </a:solidFill>
                <a:latin typeface="Lucida Sans Unicode"/>
                <a:cs typeface="Lucida Sans Unicode"/>
              </a:rPr>
              <a:t>R</a:t>
            </a:r>
            <a:r>
              <a:rPr dirty="0" sz="950" spc="420">
                <a:solidFill>
                  <a:srgbClr val="131316"/>
                </a:solidFill>
                <a:latin typeface="Lucida Sans Unicode"/>
                <a:cs typeface="Lucida Sans Unicode"/>
              </a:rPr>
              <a:t> </a:t>
            </a:r>
            <a:r>
              <a:rPr dirty="0" sz="950" spc="114">
                <a:solidFill>
                  <a:srgbClr val="131316"/>
                </a:solidFill>
                <a:latin typeface="Lucida Sans Unicode"/>
                <a:cs typeface="Lucida Sans Unicode"/>
              </a:rPr>
              <a:t>C</a:t>
            </a:r>
            <a:r>
              <a:rPr dirty="0" sz="950" spc="-70">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70">
                <a:solidFill>
                  <a:srgbClr val="131316"/>
                </a:solidFill>
                <a:latin typeface="Lucida Sans Unicode"/>
                <a:cs typeface="Lucida Sans Unicode"/>
              </a:rPr>
              <a:t> </a:t>
            </a:r>
            <a:r>
              <a:rPr dirty="0" sz="950">
                <a:solidFill>
                  <a:srgbClr val="131316"/>
                </a:solidFill>
                <a:latin typeface="Lucida Sans Unicode"/>
                <a:cs typeface="Lucida Sans Unicode"/>
              </a:rPr>
              <a:t>A</a:t>
            </a:r>
            <a:r>
              <a:rPr dirty="0" sz="950" spc="-80">
                <a:solidFill>
                  <a:srgbClr val="131316"/>
                </a:solidFill>
                <a:latin typeface="Lucida Sans Unicode"/>
                <a:cs typeface="Lucida Sans Unicode"/>
              </a:rPr>
              <a:t> </a:t>
            </a:r>
            <a:r>
              <a:rPr dirty="0" sz="950">
                <a:solidFill>
                  <a:srgbClr val="131316"/>
                </a:solidFill>
                <a:latin typeface="Lucida Sans Unicode"/>
                <a:cs typeface="Lucida Sans Unicode"/>
              </a:rPr>
              <a:t>L</a:t>
            </a:r>
            <a:r>
              <a:rPr dirty="0" sz="950" spc="-65">
                <a:solidFill>
                  <a:srgbClr val="131316"/>
                </a:solidFill>
                <a:latin typeface="Lucida Sans Unicode"/>
                <a:cs typeface="Lucida Sans Unicode"/>
              </a:rPr>
              <a:t> </a:t>
            </a:r>
            <a:r>
              <a:rPr dirty="0" sz="950" spc="65">
                <a:solidFill>
                  <a:srgbClr val="131316"/>
                </a:solidFill>
                <a:latin typeface="Lucida Sans Unicode"/>
                <a:cs typeface="Lucida Sans Unicode"/>
              </a:rPr>
              <a:t>Q</a:t>
            </a:r>
            <a:r>
              <a:rPr dirty="0" sz="950" spc="-90">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50">
                <a:solidFill>
                  <a:srgbClr val="131316"/>
                </a:solidFill>
                <a:latin typeface="Lucida Sans Unicode"/>
                <a:cs typeface="Lucida Sans Unicode"/>
              </a:rPr>
              <a:t> </a:t>
            </a:r>
            <a:r>
              <a:rPr dirty="0" sz="950">
                <a:solidFill>
                  <a:srgbClr val="131316"/>
                </a:solidFill>
                <a:latin typeface="Lucida Sans Unicode"/>
                <a:cs typeface="Lucida Sans Unicode"/>
              </a:rPr>
              <a:t>I</a:t>
            </a:r>
            <a:r>
              <a:rPr dirty="0" sz="950" spc="-75">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80">
                <a:solidFill>
                  <a:srgbClr val="131316"/>
                </a:solidFill>
                <a:latin typeface="Lucida Sans Unicode"/>
                <a:cs typeface="Lucida Sans Unicode"/>
              </a:rPr>
              <a:t> </a:t>
            </a:r>
            <a:r>
              <a:rPr dirty="0" sz="950" spc="50">
                <a:solidFill>
                  <a:srgbClr val="131316"/>
                </a:solidFill>
                <a:latin typeface="Lucida Sans Unicode"/>
                <a:cs typeface="Lucida Sans Unicode"/>
              </a:rPr>
              <a:t>R</a:t>
            </a:r>
            <a:r>
              <a:rPr dirty="0" sz="950" spc="420">
                <a:solidFill>
                  <a:srgbClr val="131316"/>
                </a:solidFill>
                <a:latin typeface="Lucida Sans Unicode"/>
                <a:cs typeface="Lucida Sans Unicode"/>
              </a:rPr>
              <a:t> </a:t>
            </a:r>
            <a:r>
              <a:rPr dirty="0" sz="950">
                <a:solidFill>
                  <a:srgbClr val="131316"/>
                </a:solidFill>
                <a:latin typeface="Lucida Sans Unicode"/>
                <a:cs typeface="Lucida Sans Unicode"/>
              </a:rPr>
              <a:t>D</a:t>
            </a:r>
            <a:r>
              <a:rPr dirty="0" sz="950" spc="-80">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60">
                <a:solidFill>
                  <a:srgbClr val="131316"/>
                </a:solidFill>
                <a:latin typeface="Lucida Sans Unicode"/>
                <a:cs typeface="Lucida Sans Unicode"/>
              </a:rPr>
              <a:t> </a:t>
            </a:r>
            <a:r>
              <a:rPr dirty="0" sz="950">
                <a:solidFill>
                  <a:srgbClr val="131316"/>
                </a:solidFill>
                <a:latin typeface="Lucida Sans Unicode"/>
                <a:cs typeface="Lucida Sans Unicode"/>
              </a:rPr>
              <a:t>D</a:t>
            </a:r>
            <a:r>
              <a:rPr dirty="0" sz="950" spc="-75">
                <a:solidFill>
                  <a:srgbClr val="131316"/>
                </a:solidFill>
                <a:latin typeface="Lucida Sans Unicode"/>
                <a:cs typeface="Lucida Sans Unicode"/>
              </a:rPr>
              <a:t> </a:t>
            </a:r>
            <a:r>
              <a:rPr dirty="0" sz="950">
                <a:solidFill>
                  <a:srgbClr val="131316"/>
                </a:solidFill>
                <a:latin typeface="Lucida Sans Unicode"/>
                <a:cs typeface="Lucida Sans Unicode"/>
              </a:rPr>
              <a:t>A</a:t>
            </a:r>
            <a:r>
              <a:rPr dirty="0" sz="950" spc="409">
                <a:solidFill>
                  <a:srgbClr val="131316"/>
                </a:solidFill>
                <a:latin typeface="Lucida Sans Unicode"/>
                <a:cs typeface="Lucida Sans Unicode"/>
              </a:rPr>
              <a:t> </a:t>
            </a:r>
            <a:r>
              <a:rPr dirty="0" sz="950" spc="65">
                <a:solidFill>
                  <a:srgbClr val="131316"/>
                </a:solidFill>
                <a:latin typeface="Lucida Sans Unicode"/>
                <a:cs typeface="Lucida Sans Unicode"/>
              </a:rPr>
              <a:t>Q</a:t>
            </a:r>
            <a:r>
              <a:rPr dirty="0" sz="950" spc="-60">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80">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405">
                <a:solidFill>
                  <a:srgbClr val="131316"/>
                </a:solidFill>
                <a:latin typeface="Lucida Sans Unicode"/>
                <a:cs typeface="Lucida Sans Unicode"/>
              </a:rPr>
              <a:t> </a:t>
            </a:r>
            <a:r>
              <a:rPr dirty="0" sz="950">
                <a:solidFill>
                  <a:srgbClr val="131316"/>
                </a:solidFill>
                <a:latin typeface="Lucida Sans Unicode"/>
                <a:cs typeface="Lucida Sans Unicode"/>
              </a:rPr>
              <a:t>T</a:t>
            </a:r>
            <a:r>
              <a:rPr dirty="0" sz="950" spc="-65">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395">
                <a:solidFill>
                  <a:srgbClr val="131316"/>
                </a:solidFill>
                <a:latin typeface="Lucida Sans Unicode"/>
                <a:cs typeface="Lucida Sans Unicode"/>
              </a:rPr>
              <a:t> </a:t>
            </a:r>
            <a:r>
              <a:rPr dirty="0" sz="950" spc="105">
                <a:solidFill>
                  <a:srgbClr val="131316"/>
                </a:solidFill>
                <a:latin typeface="Lucida Sans Unicode"/>
                <a:cs typeface="Lucida Sans Unicode"/>
              </a:rPr>
              <a:t>S</a:t>
            </a:r>
            <a:r>
              <a:rPr dirty="0" sz="950" spc="-50">
                <a:solidFill>
                  <a:srgbClr val="131316"/>
                </a:solidFill>
                <a:latin typeface="Lucida Sans Unicode"/>
                <a:cs typeface="Lucida Sans Unicode"/>
              </a:rPr>
              <a:t> </a:t>
            </a:r>
            <a:r>
              <a:rPr dirty="0" sz="950">
                <a:solidFill>
                  <a:srgbClr val="131316"/>
                </a:solidFill>
                <a:latin typeface="Lucida Sans Unicode"/>
                <a:cs typeface="Lucida Sans Unicode"/>
              </a:rPr>
              <a:t>U</a:t>
            </a:r>
            <a:r>
              <a:rPr dirty="0" sz="950" spc="-80">
                <a:solidFill>
                  <a:srgbClr val="131316"/>
                </a:solidFill>
                <a:latin typeface="Lucida Sans Unicode"/>
                <a:cs typeface="Lucida Sans Unicode"/>
              </a:rPr>
              <a:t> </a:t>
            </a:r>
            <a:r>
              <a:rPr dirty="0" sz="950" spc="50">
                <a:solidFill>
                  <a:srgbClr val="131316"/>
                </a:solidFill>
                <a:latin typeface="Lucida Sans Unicode"/>
                <a:cs typeface="Lucida Sans Unicode"/>
              </a:rPr>
              <a:t>R</a:t>
            </a:r>
            <a:r>
              <a:rPr dirty="0" sz="950" spc="-55">
                <a:solidFill>
                  <a:srgbClr val="131316"/>
                </a:solidFill>
                <a:latin typeface="Lucida Sans Unicode"/>
                <a:cs typeface="Lucida Sans Unicode"/>
              </a:rPr>
              <a:t> </a:t>
            </a:r>
            <a:r>
              <a:rPr dirty="0" sz="950" spc="155">
                <a:solidFill>
                  <a:srgbClr val="131316"/>
                </a:solidFill>
                <a:latin typeface="Lucida Sans Unicode"/>
                <a:cs typeface="Lucida Sans Unicode"/>
              </a:rPr>
              <a:t>J</a:t>
            </a:r>
            <a:r>
              <a:rPr dirty="0" sz="950" spc="-70">
                <a:solidFill>
                  <a:srgbClr val="131316"/>
                </a:solidFill>
                <a:latin typeface="Lucida Sans Unicode"/>
                <a:cs typeface="Lucida Sans Unicode"/>
              </a:rPr>
              <a:t> </a:t>
            </a:r>
            <a:r>
              <a:rPr dirty="0" sz="950">
                <a:solidFill>
                  <a:srgbClr val="131316"/>
                </a:solidFill>
                <a:latin typeface="Lucida Sans Unicode"/>
                <a:cs typeface="Lucida Sans Unicode"/>
              </a:rPr>
              <a:t>A</a:t>
            </a:r>
            <a:r>
              <a:rPr dirty="0" sz="950" spc="405">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75">
                <a:solidFill>
                  <a:srgbClr val="131316"/>
                </a:solidFill>
                <a:latin typeface="Lucida Sans Unicode"/>
                <a:cs typeface="Lucida Sans Unicode"/>
              </a:rPr>
              <a:t> </a:t>
            </a:r>
            <a:r>
              <a:rPr dirty="0" sz="950">
                <a:solidFill>
                  <a:srgbClr val="131316"/>
                </a:solidFill>
                <a:latin typeface="Lucida Sans Unicode"/>
                <a:cs typeface="Lucida Sans Unicode"/>
              </a:rPr>
              <a:t>N</a:t>
            </a:r>
            <a:r>
              <a:rPr dirty="0" sz="950" spc="409">
                <a:solidFill>
                  <a:srgbClr val="131316"/>
                </a:solidFill>
                <a:latin typeface="Lucida Sans Unicode"/>
                <a:cs typeface="Lucida Sans Unicode"/>
              </a:rPr>
              <a:t> </a:t>
            </a:r>
            <a:r>
              <a:rPr dirty="0" sz="950">
                <a:solidFill>
                  <a:srgbClr val="131316"/>
                </a:solidFill>
                <a:latin typeface="Lucida Sans Unicode"/>
                <a:cs typeface="Lucida Sans Unicode"/>
              </a:rPr>
              <a:t>L</a:t>
            </a:r>
            <a:r>
              <a:rPr dirty="0" sz="950" spc="-70">
                <a:solidFill>
                  <a:srgbClr val="131316"/>
                </a:solidFill>
                <a:latin typeface="Lucida Sans Unicode"/>
                <a:cs typeface="Lucida Sans Unicode"/>
              </a:rPr>
              <a:t> </a:t>
            </a:r>
            <a:r>
              <a:rPr dirty="0" sz="950">
                <a:solidFill>
                  <a:srgbClr val="131316"/>
                </a:solidFill>
                <a:latin typeface="Lucida Sans Unicode"/>
                <a:cs typeface="Lucida Sans Unicode"/>
              </a:rPr>
              <a:t>A</a:t>
            </a:r>
            <a:r>
              <a:rPr dirty="0" sz="950" spc="409">
                <a:solidFill>
                  <a:srgbClr val="131316"/>
                </a:solidFill>
                <a:latin typeface="Lucida Sans Unicode"/>
                <a:cs typeface="Lucida Sans Unicode"/>
              </a:rPr>
              <a:t> </a:t>
            </a:r>
            <a:r>
              <a:rPr dirty="0" sz="950" spc="105">
                <a:solidFill>
                  <a:srgbClr val="131316"/>
                </a:solidFill>
                <a:latin typeface="Lucida Sans Unicode"/>
                <a:cs typeface="Lucida Sans Unicode"/>
              </a:rPr>
              <a:t>S</a:t>
            </a:r>
            <a:r>
              <a:rPr dirty="0" sz="950" spc="-80">
                <a:solidFill>
                  <a:srgbClr val="131316"/>
                </a:solidFill>
                <a:latin typeface="Lucida Sans Unicode"/>
                <a:cs typeface="Lucida Sans Unicode"/>
              </a:rPr>
              <a:t> </a:t>
            </a:r>
            <a:r>
              <a:rPr dirty="0" sz="950" spc="65">
                <a:solidFill>
                  <a:srgbClr val="131316"/>
                </a:solidFill>
                <a:latin typeface="Lucida Sans Unicode"/>
                <a:cs typeface="Lucida Sans Unicode"/>
              </a:rPr>
              <a:t>E</a:t>
            </a:r>
            <a:r>
              <a:rPr dirty="0" sz="950" spc="-55">
                <a:solidFill>
                  <a:srgbClr val="131316"/>
                </a:solidFill>
                <a:latin typeface="Lucida Sans Unicode"/>
                <a:cs typeface="Lucida Sans Unicode"/>
              </a:rPr>
              <a:t> </a:t>
            </a:r>
            <a:r>
              <a:rPr dirty="0" sz="950" spc="65">
                <a:solidFill>
                  <a:srgbClr val="131316"/>
                </a:solidFill>
                <a:latin typeface="Lucida Sans Unicode"/>
                <a:cs typeface="Lucida Sans Unicode"/>
              </a:rPr>
              <a:t>M</a:t>
            </a:r>
            <a:r>
              <a:rPr dirty="0" sz="950" spc="-80">
                <a:solidFill>
                  <a:srgbClr val="131316"/>
                </a:solidFill>
                <a:latin typeface="Lucida Sans Unicode"/>
                <a:cs typeface="Lucida Sans Unicode"/>
              </a:rPr>
              <a:t> </a:t>
            </a:r>
            <a:r>
              <a:rPr dirty="0" sz="950">
                <a:solidFill>
                  <a:srgbClr val="131316"/>
                </a:solidFill>
                <a:latin typeface="Lucida Sans Unicode"/>
                <a:cs typeface="Lucida Sans Unicode"/>
              </a:rPr>
              <a:t>A</a:t>
            </a:r>
            <a:r>
              <a:rPr dirty="0" sz="950" spc="-60">
                <a:solidFill>
                  <a:srgbClr val="131316"/>
                </a:solidFill>
                <a:latin typeface="Lucida Sans Unicode"/>
                <a:cs typeface="Lucida Sans Unicode"/>
              </a:rPr>
              <a:t> </a:t>
            </a:r>
            <a:r>
              <a:rPr dirty="0" sz="950">
                <a:solidFill>
                  <a:srgbClr val="131316"/>
                </a:solidFill>
                <a:latin typeface="Lucida Sans Unicode"/>
                <a:cs typeface="Lucida Sans Unicode"/>
              </a:rPr>
              <a:t>N</a:t>
            </a:r>
            <a:r>
              <a:rPr dirty="0" sz="950" spc="-90">
                <a:solidFill>
                  <a:srgbClr val="131316"/>
                </a:solidFill>
                <a:latin typeface="Lucida Sans Unicode"/>
                <a:cs typeface="Lucida Sans Unicode"/>
              </a:rPr>
              <a:t> </a:t>
            </a:r>
            <a:r>
              <a:rPr dirty="0" sz="950" spc="-50">
                <a:solidFill>
                  <a:srgbClr val="131316"/>
                </a:solidFill>
                <a:latin typeface="Lucida Sans Unicode"/>
                <a:cs typeface="Lucida Sans Unicode"/>
              </a:rPr>
              <a:t>A</a:t>
            </a:r>
            <a:endParaRPr sz="950">
              <a:latin typeface="Lucida Sans Unicode"/>
              <a:cs typeface="Lucida Sans Unicod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2026-05-12T05:40:14Z</dcterms:created>
  <dcterms:modified xsi:type="dcterms:W3CDTF">2026-05-12T05:40:14Z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2026-05-12T00:00:00Z</vt:filetime>
  </property>
  <property fmtid="{D5CDD505-2E9C-101B-9397-08002B2CF9AE}" pid="4" name="LastSaved">
    <vt:filetime>2026-05-12T00:00:00Z</vt:filetime>
  </property>
  <property fmtid="{D5CDD505-2E9C-101B-9397-08002B2CF9AE}" pid="5" name="Producer">
    <vt:lpwstr>iLovePDF</vt:lpwstr>
  </property>
</Properties>
</file>