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15:10:09</a:t>
            </a:r>
          </a:p>
          <a:p>
            <a:r>
              <a:t>--------------------------------------------</a:t>
            </a:r>
          </a:p>
          <a:p>
            <a:r>
              <a:t>Incluyendo significa que también se devolverán los valores coincidentes con los límites inferior y superior.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15:10:11</a:t>
            </a:r>
          </a:p>
          <a:p>
            <a:r>
              <a:t>--------------------------------------------</a:t>
            </a:r>
          </a:p>
          <a:p>
            <a:r>
              <a:t>Al comparar los valores NULL, NO PUEDE utilizar los operadores con el signo igual (=) o distinto de (! =). La consulta se ejecutará, pero no devolverá datos, ya que el valor real de NULL es desconocido, por lo que ¿cómo podemos comprobar si algo es igual o distinto a un valor que desconocemos?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489458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003540" cy="285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55904" y="6510552"/>
            <a:ext cx="128968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01456" y="6589648"/>
            <a:ext cx="198754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363664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Operadores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Comparación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Operadores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Comparación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5290" cy="371982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4643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familiarizado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comparación,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(=),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menor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(&lt;)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(&gt;)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agregan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funcionalidad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específicos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2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BETWEEN…AND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 spc="25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25">
                <a:solidFill>
                  <a:srgbClr val="4E3629"/>
                </a:solidFill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LIKE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BETWEEN...AND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69580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BETWEEN...AND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seleccionar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mostrar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según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rango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endParaRPr sz="2800">
              <a:latin typeface="Calibri"/>
              <a:cs typeface="Calibri"/>
            </a:endParaRPr>
          </a:p>
          <a:p>
            <a:pPr algn="just" marL="182880" marR="20129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condición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BETWEEN...AND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devolverá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rango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10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entre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límites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inferior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superior,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incluyendo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BETWEEN…AND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7985"/>
            <a:ext cx="8175625" cy="252730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84785" marR="5080" indent="-172720">
              <a:lnSpc>
                <a:spcPts val="2500"/>
              </a:lnSpc>
              <a:spcBef>
                <a:spcPts val="7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datos Employees,</a:t>
            </a:r>
            <a:r>
              <a:rPr dirty="0" u="heavy" sz="2600" spc="-1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devueltos</a:t>
            </a:r>
            <a:r>
              <a:rPr dirty="0" u="heavy" sz="26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incluyen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6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límite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inferior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u="heavy" sz="26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límite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superior</a:t>
            </a:r>
            <a:endParaRPr sz="2600">
              <a:latin typeface="Calibri"/>
              <a:cs typeface="Calibri"/>
            </a:endParaRPr>
          </a:p>
          <a:p>
            <a:pPr marL="184785" marR="627380" indent="-172720">
              <a:lnSpc>
                <a:spcPts val="25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especificados</a:t>
            </a:r>
            <a:r>
              <a:rPr dirty="0" sz="26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BETWEEN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incluyen</a:t>
            </a:r>
            <a:endParaRPr sz="2600">
              <a:latin typeface="Calibri"/>
              <a:cs typeface="Calibri"/>
            </a:endParaRPr>
          </a:p>
          <a:p>
            <a:pPr marL="184785" marR="299720" indent="-172720">
              <a:lnSpc>
                <a:spcPts val="250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límite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inferior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enumerar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primer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lugar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748405"/>
            <a:ext cx="5356225" cy="10566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84785" marR="5080" indent="-172720">
              <a:lnSpc>
                <a:spcPts val="2500"/>
              </a:lnSpc>
              <a:spcBef>
                <a:spcPts val="7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valor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límite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inferior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enumerar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primer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lugar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351588" y="3956255"/>
          <a:ext cx="2207895" cy="1445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315"/>
                <a:gridCol w="868045"/>
              </a:tblGrid>
              <a:tr h="3613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3956303"/>
            <a:ext cx="5316220" cy="8445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45085">
              <a:lnSpc>
                <a:spcPts val="1814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  <a:spcBef>
                <a:spcPts val="2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  <a:spcBef>
                <a:spcPts val="2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BETWEEN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9000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11000;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BETWEEN…AND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125334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BETWEEN...AND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1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771777"/>
            <a:ext cx="8159750" cy="17049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hecho,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hay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ningún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beneficio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rendimiento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usar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expresión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otra</a:t>
            </a:r>
            <a:endParaRPr sz="2800">
              <a:latin typeface="Calibri"/>
              <a:cs typeface="Calibri"/>
            </a:endParaRPr>
          </a:p>
          <a:p>
            <a:pPr marL="182880" marR="99949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simplicidad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leer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código,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utilizamos 	BETWEEN...AND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2295144"/>
            <a:ext cx="8345805" cy="4819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7620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6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&gt;=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9000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&lt;=11000;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IN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67675" cy="33445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889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conoce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"condición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miembro"</a:t>
            </a:r>
            <a:endParaRPr sz="2800">
              <a:latin typeface="Calibri"/>
              <a:cs typeface="Calibri"/>
            </a:endParaRPr>
          </a:p>
          <a:p>
            <a:pPr marL="159385" marR="363855" indent="-147320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probar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juego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114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especificado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identificar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cuyos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identificación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sean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2349,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7354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4333,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personas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cuyos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código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llamada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teléfono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internacional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1735,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82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165725" y="4787216"/>
          <a:ext cx="3667760" cy="1517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020"/>
                <a:gridCol w="1566545"/>
                <a:gridCol w="1216660"/>
              </a:tblGrid>
              <a:tr h="4984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STATE_PROVINCE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COUNTRY_ID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Toronto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Ontario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4792979"/>
            <a:ext cx="4594860" cy="127444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60960" rIns="0" bIns="0" rtlCol="0" vert="horz">
            <a:spAutoFit/>
          </a:bodyPr>
          <a:lstStyle/>
          <a:p>
            <a:pPr marL="45085" marR="719455">
              <a:lnSpc>
                <a:spcPct val="100000"/>
              </a:lnSpc>
              <a:spcBef>
                <a:spcPts val="48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city,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state_province, country_id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locations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IN('UK',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'CA');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IN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92109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WHERE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también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escribir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juego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condiciones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228721"/>
            <a:ext cx="761492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BETWEEN...AND,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escribir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eficaz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471927"/>
            <a:ext cx="8357870" cy="148463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27940" rIns="0" bIns="0" rtlCol="0" vert="horz">
            <a:spAutoFit/>
          </a:bodyPr>
          <a:lstStyle/>
          <a:p>
            <a:pPr marL="45720" marR="2980690">
              <a:lnSpc>
                <a:spcPct val="100000"/>
              </a:lnSpc>
              <a:spcBef>
                <a:spcPts val="22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city,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state_province,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country_id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locations</a:t>
            </a:r>
            <a:endParaRPr sz="18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IN('UK',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'CA');</a:t>
            </a:r>
            <a:endParaRPr sz="18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'UK'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'CA';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LIKE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7870190" cy="417004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¿Alguna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vez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compras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buscando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revista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televisión,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estaba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seguro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artículo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exacto?</a:t>
            </a:r>
            <a:endParaRPr sz="2800">
              <a:latin typeface="Calibri"/>
              <a:cs typeface="Calibri"/>
            </a:endParaRPr>
          </a:p>
          <a:p>
            <a:pPr marL="182880" marR="177165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búsquedas</a:t>
            </a:r>
            <a:r>
              <a:rPr dirty="0" sz="280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pasa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o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menos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endParaRPr sz="2800">
              <a:latin typeface="Calibri"/>
              <a:cs typeface="Calibri"/>
            </a:endParaRPr>
          </a:p>
          <a:p>
            <a:pPr algn="just" marL="182880" marR="103505" indent="-170815">
              <a:lnSpc>
                <a:spcPct val="800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administrador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saber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apellido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empieza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"S",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saber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nombre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completo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800">
              <a:latin typeface="Calibri"/>
              <a:cs typeface="Calibri"/>
            </a:endParaRPr>
          </a:p>
          <a:p>
            <a:pPr marL="182880" marR="133985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Afortunadamente,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condición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LIKE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permite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seleccionar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coincidan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caracteres,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patrones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números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LIKE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15275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símbolos,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(%)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guión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bajo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(_),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llamados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caracteres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comodín,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crear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cadena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búsqueda</a:t>
            </a:r>
            <a:endParaRPr sz="2800">
              <a:latin typeface="Calibri"/>
              <a:cs typeface="Calibri"/>
            </a:endParaRPr>
          </a:p>
          <a:p>
            <a:pPr marL="182880" marR="1010919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símbolo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porcentaje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(%)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representar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secuencia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cero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más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924870" y="4157734"/>
          <a:ext cx="1388745" cy="147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9210"/>
              </a:tblGrid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4163567"/>
            <a:ext cx="4277995" cy="12471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84150" rIns="0" bIns="0" rtlCol="0" vert="horz">
            <a:spAutoFit/>
          </a:bodyPr>
          <a:lstStyle/>
          <a:p>
            <a:pPr marL="104139" marR="1979930">
              <a:lnSpc>
                <a:spcPct val="100000"/>
              </a:lnSpc>
              <a:spcBef>
                <a:spcPts val="145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0413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'_o%';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LIKE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14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El</a:t>
            </a:r>
            <a:r>
              <a:rPr dirty="0" spc="-65"/>
              <a:t> </a:t>
            </a:r>
            <a:r>
              <a:rPr dirty="0"/>
              <a:t>símbolo</a:t>
            </a:r>
            <a:r>
              <a:rPr dirty="0" spc="-25"/>
              <a:t> </a:t>
            </a:r>
            <a:r>
              <a:rPr dirty="0"/>
              <a:t>del</a:t>
            </a:r>
            <a:r>
              <a:rPr dirty="0" spc="-50"/>
              <a:t> </a:t>
            </a:r>
            <a:r>
              <a:rPr dirty="0" spc="-10"/>
              <a:t>carácter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20"/>
              <a:t>subrayado </a:t>
            </a:r>
            <a:r>
              <a:rPr dirty="0"/>
              <a:t>(_)</a:t>
            </a:r>
            <a:r>
              <a:rPr dirty="0" spc="-50"/>
              <a:t> </a:t>
            </a:r>
            <a:r>
              <a:rPr dirty="0"/>
              <a:t>se</a:t>
            </a:r>
            <a:r>
              <a:rPr dirty="0" spc="-45"/>
              <a:t> </a:t>
            </a:r>
            <a:r>
              <a:rPr dirty="0"/>
              <a:t>utiliza</a:t>
            </a:r>
            <a:r>
              <a:rPr dirty="0" spc="-50"/>
              <a:t> </a:t>
            </a:r>
            <a:r>
              <a:rPr dirty="0" spc="-20"/>
              <a:t>para </a:t>
            </a:r>
            <a:r>
              <a:rPr dirty="0" spc="-20"/>
              <a:t>	</a:t>
            </a:r>
            <a:r>
              <a:rPr dirty="0" spc="-10"/>
              <a:t>representar</a:t>
            </a:r>
            <a:r>
              <a:rPr dirty="0" spc="-60"/>
              <a:t> </a:t>
            </a:r>
            <a:r>
              <a:rPr dirty="0"/>
              <a:t>un</a:t>
            </a:r>
            <a:r>
              <a:rPr dirty="0" spc="-60"/>
              <a:t> </a:t>
            </a:r>
            <a:r>
              <a:rPr dirty="0"/>
              <a:t>único</a:t>
            </a:r>
            <a:r>
              <a:rPr dirty="0" spc="-55"/>
              <a:t> </a:t>
            </a:r>
            <a:r>
              <a:rPr dirty="0" spc="-10"/>
              <a:t>carácter</a:t>
            </a:r>
          </a:p>
          <a:p>
            <a:pPr marL="182880" marR="27432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En</a:t>
            </a:r>
            <a:r>
              <a:rPr dirty="0" spc="-45"/>
              <a:t> </a:t>
            </a:r>
            <a:r>
              <a:rPr dirty="0"/>
              <a:t>el</a:t>
            </a:r>
            <a:r>
              <a:rPr dirty="0" spc="-65"/>
              <a:t> </a:t>
            </a:r>
            <a:r>
              <a:rPr dirty="0"/>
              <a:t>ejemplo</a:t>
            </a:r>
            <a:r>
              <a:rPr dirty="0" spc="-25"/>
              <a:t> </a:t>
            </a:r>
            <a:r>
              <a:rPr dirty="0"/>
              <a:t>que</a:t>
            </a:r>
            <a:r>
              <a:rPr dirty="0" spc="-40"/>
              <a:t> </a:t>
            </a:r>
            <a:r>
              <a:rPr dirty="0"/>
              <a:t>se</a:t>
            </a:r>
            <a:r>
              <a:rPr dirty="0" spc="-40"/>
              <a:t> </a:t>
            </a:r>
            <a:r>
              <a:rPr dirty="0" spc="-10"/>
              <a:t>muestra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 spc="-10"/>
              <a:t>continuación,</a:t>
            </a:r>
            <a:r>
              <a:rPr dirty="0" spc="-15"/>
              <a:t> </a:t>
            </a:r>
            <a:r>
              <a:rPr dirty="0" spc="-25"/>
              <a:t>se </a:t>
            </a:r>
            <a:r>
              <a:rPr dirty="0" spc="-25"/>
              <a:t>	</a:t>
            </a:r>
            <a:r>
              <a:rPr dirty="0" spc="-10"/>
              <a:t>devolverán</a:t>
            </a:r>
            <a:r>
              <a:rPr dirty="0" spc="-95"/>
              <a:t> </a:t>
            </a:r>
            <a:r>
              <a:rPr dirty="0"/>
              <a:t>todos</a:t>
            </a:r>
            <a:r>
              <a:rPr dirty="0" spc="-85"/>
              <a:t> </a:t>
            </a:r>
            <a:r>
              <a:rPr dirty="0"/>
              <a:t>los</a:t>
            </a:r>
            <a:r>
              <a:rPr dirty="0" spc="-85"/>
              <a:t> </a:t>
            </a:r>
            <a:r>
              <a:rPr dirty="0"/>
              <a:t>empleados</a:t>
            </a:r>
            <a:r>
              <a:rPr dirty="0" spc="-70"/>
              <a:t> </a:t>
            </a:r>
            <a:r>
              <a:rPr dirty="0"/>
              <a:t>cuyos</a:t>
            </a:r>
            <a:r>
              <a:rPr dirty="0" spc="-80"/>
              <a:t> </a:t>
            </a:r>
            <a:r>
              <a:rPr dirty="0" spc="-10"/>
              <a:t>apellidos </a:t>
            </a:r>
            <a:r>
              <a:rPr dirty="0" spc="-10"/>
              <a:t>	</a:t>
            </a:r>
            <a:r>
              <a:rPr dirty="0"/>
              <a:t>empiecen</a:t>
            </a:r>
            <a:r>
              <a:rPr dirty="0" spc="-60"/>
              <a:t> </a:t>
            </a:r>
            <a:r>
              <a:rPr dirty="0"/>
              <a:t>por</a:t>
            </a:r>
            <a:r>
              <a:rPr dirty="0" spc="-55"/>
              <a:t> </a:t>
            </a:r>
            <a:r>
              <a:rPr dirty="0"/>
              <a:t>cualquier</a:t>
            </a:r>
            <a:r>
              <a:rPr dirty="0" spc="-50"/>
              <a:t> </a:t>
            </a:r>
            <a:r>
              <a:rPr dirty="0"/>
              <a:t>letra</a:t>
            </a:r>
            <a:r>
              <a:rPr dirty="0" spc="-65"/>
              <a:t> </a:t>
            </a:r>
            <a:r>
              <a:rPr dirty="0"/>
              <a:t>seguida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una</a:t>
            </a:r>
            <a:r>
              <a:rPr dirty="0" spc="-50"/>
              <a:t> </a:t>
            </a:r>
            <a:r>
              <a:rPr dirty="0"/>
              <a:t>"o"</a:t>
            </a:r>
            <a:r>
              <a:rPr dirty="0" spc="-50"/>
              <a:t> y,</a:t>
            </a:r>
            <a:r>
              <a:rPr dirty="0" spc="-60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 spc="-10"/>
              <a:t>continuación,</a:t>
            </a:r>
            <a:r>
              <a:rPr dirty="0" spc="-60"/>
              <a:t> </a:t>
            </a:r>
            <a:r>
              <a:rPr dirty="0"/>
              <a:t>seguidos</a:t>
            </a:r>
            <a:r>
              <a:rPr dirty="0" spc="-75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/>
              <a:t>cualquier</a:t>
            </a:r>
            <a:r>
              <a:rPr dirty="0" spc="-80"/>
              <a:t> </a:t>
            </a:r>
            <a:r>
              <a:rPr dirty="0"/>
              <a:t>otro</a:t>
            </a:r>
            <a:r>
              <a:rPr dirty="0" spc="-85"/>
              <a:t> </a:t>
            </a:r>
            <a:r>
              <a:rPr dirty="0"/>
              <a:t>número</a:t>
            </a:r>
            <a:r>
              <a:rPr dirty="0" spc="-70"/>
              <a:t> </a:t>
            </a:r>
            <a:r>
              <a:rPr dirty="0" spc="-25"/>
              <a:t>de </a:t>
            </a:r>
            <a:r>
              <a:rPr dirty="0" spc="-25"/>
              <a:t>	</a:t>
            </a:r>
            <a:r>
              <a:rPr dirty="0" spc="-10"/>
              <a:t>letras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924870" y="4355855"/>
          <a:ext cx="1388745" cy="147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9210"/>
              </a:tblGrid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4361688"/>
            <a:ext cx="4277995" cy="12471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84150" rIns="0" bIns="0" rtlCol="0" vert="horz">
            <a:spAutoFit/>
          </a:bodyPr>
          <a:lstStyle/>
          <a:p>
            <a:pPr marL="104139" marR="1979930">
              <a:lnSpc>
                <a:spcPct val="100000"/>
              </a:lnSpc>
              <a:spcBef>
                <a:spcPts val="145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0413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'_o%';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LIKE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16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/>
              <a:t>Una</a:t>
            </a:r>
            <a:r>
              <a:rPr dirty="0" spc="-55"/>
              <a:t> </a:t>
            </a:r>
            <a:r>
              <a:rPr dirty="0"/>
              <a:t>opción</a:t>
            </a:r>
            <a:r>
              <a:rPr dirty="0" spc="-35"/>
              <a:t> </a:t>
            </a:r>
            <a:r>
              <a:rPr dirty="0"/>
              <a:t>adicional</a:t>
            </a:r>
            <a:r>
              <a:rPr dirty="0" spc="-45"/>
              <a:t> </a:t>
            </a:r>
            <a:r>
              <a:rPr dirty="0"/>
              <a:t>que</a:t>
            </a:r>
            <a:r>
              <a:rPr dirty="0" spc="-40"/>
              <a:t> </a:t>
            </a:r>
            <a:r>
              <a:rPr dirty="0"/>
              <a:t>es</a:t>
            </a:r>
            <a:r>
              <a:rPr dirty="0" spc="-50"/>
              <a:t> </a:t>
            </a:r>
            <a:r>
              <a:rPr dirty="0" spc="-10"/>
              <a:t>importante:</a:t>
            </a:r>
          </a:p>
          <a:p>
            <a:pPr marL="530860" marR="5080" indent="-175260">
              <a:lnSpc>
                <a:spcPts val="2590"/>
              </a:lnSpc>
              <a:spcBef>
                <a:spcPts val="475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Cuando</a:t>
            </a:r>
            <a:r>
              <a:rPr dirty="0" sz="2400" spc="-45"/>
              <a:t> </a:t>
            </a:r>
            <a:r>
              <a:rPr dirty="0" sz="2400"/>
              <a:t>necesite</a:t>
            </a:r>
            <a:r>
              <a:rPr dirty="0" sz="2400" spc="-45"/>
              <a:t> </a:t>
            </a:r>
            <a:r>
              <a:rPr dirty="0" sz="2400"/>
              <a:t>tener</a:t>
            </a:r>
            <a:r>
              <a:rPr dirty="0" sz="2400" spc="-50"/>
              <a:t> </a:t>
            </a:r>
            <a:r>
              <a:rPr dirty="0" sz="2400"/>
              <a:t>una</a:t>
            </a:r>
            <a:r>
              <a:rPr dirty="0" sz="2400" spc="-40"/>
              <a:t> </a:t>
            </a:r>
            <a:r>
              <a:rPr dirty="0" sz="2400"/>
              <a:t>coincidencia</a:t>
            </a:r>
            <a:r>
              <a:rPr dirty="0" sz="2400" spc="-60"/>
              <a:t> </a:t>
            </a:r>
            <a:r>
              <a:rPr dirty="0" sz="2400" spc="-10"/>
              <a:t>exacta</a:t>
            </a:r>
            <a:r>
              <a:rPr dirty="0" sz="2400" spc="-60"/>
              <a:t> </a:t>
            </a:r>
            <a:r>
              <a:rPr dirty="0" sz="2400"/>
              <a:t>para</a:t>
            </a:r>
            <a:r>
              <a:rPr dirty="0" sz="2400" spc="-40"/>
              <a:t> </a:t>
            </a:r>
            <a:r>
              <a:rPr dirty="0" sz="2400" spc="-25"/>
              <a:t>una </a:t>
            </a:r>
            <a:r>
              <a:rPr dirty="0" sz="2400"/>
              <a:t>cadena</a:t>
            </a:r>
            <a:r>
              <a:rPr dirty="0" sz="2400" spc="-55"/>
              <a:t> </a:t>
            </a:r>
            <a:r>
              <a:rPr dirty="0" sz="2400"/>
              <a:t>que</a:t>
            </a:r>
            <a:r>
              <a:rPr dirty="0" sz="2400" spc="-50"/>
              <a:t> </a:t>
            </a:r>
            <a:r>
              <a:rPr dirty="0" sz="2400"/>
              <a:t>tenga</a:t>
            </a:r>
            <a:r>
              <a:rPr dirty="0" sz="2400" spc="-65"/>
              <a:t> </a:t>
            </a:r>
            <a:r>
              <a:rPr dirty="0" sz="2400"/>
              <a:t>un</a:t>
            </a:r>
            <a:r>
              <a:rPr dirty="0" sz="2400" spc="-55"/>
              <a:t> </a:t>
            </a:r>
            <a:r>
              <a:rPr dirty="0" sz="2400" spc="-10"/>
              <a:t>carácter</a:t>
            </a:r>
            <a:r>
              <a:rPr dirty="0" sz="2400" spc="-75"/>
              <a:t> </a:t>
            </a:r>
            <a:r>
              <a:rPr dirty="0" sz="2400"/>
              <a:t>%</a:t>
            </a:r>
            <a:r>
              <a:rPr dirty="0" sz="2400" spc="-60"/>
              <a:t> </a:t>
            </a:r>
            <a:r>
              <a:rPr dirty="0" sz="2400"/>
              <a:t>o</a:t>
            </a:r>
            <a:r>
              <a:rPr dirty="0" sz="2400" spc="-60"/>
              <a:t> </a:t>
            </a:r>
            <a:r>
              <a:rPr dirty="0" sz="2400"/>
              <a:t>_,</a:t>
            </a:r>
            <a:r>
              <a:rPr dirty="0" sz="2400" spc="-55"/>
              <a:t> </a:t>
            </a:r>
            <a:r>
              <a:rPr dirty="0" sz="2400"/>
              <a:t>deberá</a:t>
            </a:r>
            <a:r>
              <a:rPr dirty="0" sz="2400" spc="-55"/>
              <a:t> </a:t>
            </a:r>
            <a:r>
              <a:rPr dirty="0" sz="2400"/>
              <a:t>indicar</a:t>
            </a:r>
            <a:r>
              <a:rPr dirty="0" sz="2400" spc="-65"/>
              <a:t> </a:t>
            </a:r>
            <a:r>
              <a:rPr dirty="0" sz="2400" spc="-25"/>
              <a:t>que </a:t>
            </a:r>
            <a:r>
              <a:rPr dirty="0" sz="2400"/>
              <a:t>dichos</a:t>
            </a:r>
            <a:r>
              <a:rPr dirty="0" sz="2400" spc="-55"/>
              <a:t> </a:t>
            </a:r>
            <a:r>
              <a:rPr dirty="0" sz="2400" spc="-10"/>
              <a:t>caracteres</a:t>
            </a:r>
            <a:r>
              <a:rPr dirty="0" sz="2400" spc="-65"/>
              <a:t> </a:t>
            </a:r>
            <a:r>
              <a:rPr dirty="0" sz="2400"/>
              <a:t>no</a:t>
            </a:r>
            <a:r>
              <a:rPr dirty="0" sz="2400" spc="-50"/>
              <a:t> </a:t>
            </a:r>
            <a:r>
              <a:rPr dirty="0" sz="2400"/>
              <a:t>son</a:t>
            </a:r>
            <a:r>
              <a:rPr dirty="0" sz="2400" spc="-45"/>
              <a:t> </a:t>
            </a:r>
            <a:r>
              <a:rPr dirty="0" sz="2400"/>
              <a:t>comodines</a:t>
            </a:r>
            <a:r>
              <a:rPr dirty="0" sz="2400" spc="-55"/>
              <a:t> </a:t>
            </a:r>
            <a:r>
              <a:rPr dirty="0" sz="2400"/>
              <a:t>sino</a:t>
            </a:r>
            <a:r>
              <a:rPr dirty="0" sz="2400" spc="-50"/>
              <a:t> </a:t>
            </a:r>
            <a:r>
              <a:rPr dirty="0" sz="2400"/>
              <a:t>parte</a:t>
            </a:r>
            <a:r>
              <a:rPr dirty="0" sz="2400" spc="-50"/>
              <a:t> </a:t>
            </a:r>
            <a:r>
              <a:rPr dirty="0" sz="2400"/>
              <a:t>del</a:t>
            </a:r>
            <a:r>
              <a:rPr dirty="0" sz="2400" spc="-45"/>
              <a:t> </a:t>
            </a:r>
            <a:r>
              <a:rPr dirty="0" sz="2400" spc="-10"/>
              <a:t>elemento </a:t>
            </a:r>
            <a:r>
              <a:rPr dirty="0" sz="2400"/>
              <a:t>que</a:t>
            </a:r>
            <a:r>
              <a:rPr dirty="0" sz="2400" spc="-60"/>
              <a:t> </a:t>
            </a:r>
            <a:r>
              <a:rPr dirty="0" sz="2400"/>
              <a:t>está</a:t>
            </a:r>
            <a:r>
              <a:rPr dirty="0" sz="2400" spc="-70"/>
              <a:t> </a:t>
            </a:r>
            <a:r>
              <a:rPr dirty="0" sz="2400" spc="-10"/>
              <a:t>buscando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LIKE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7985"/>
            <a:ext cx="8125459" cy="242697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84785" marR="5080" indent="-172720">
              <a:lnSpc>
                <a:spcPts val="2500"/>
              </a:lnSpc>
              <a:spcBef>
                <a:spcPts val="7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opción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ESCAPE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indicar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_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%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parte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nombre,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comodín</a:t>
            </a:r>
            <a:endParaRPr sz="2600">
              <a:latin typeface="Calibri"/>
              <a:cs typeface="Calibri"/>
            </a:endParaRPr>
          </a:p>
          <a:p>
            <a:pPr marL="184785" marR="411480" indent="-172720">
              <a:lnSpc>
                <a:spcPts val="25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deseamos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JOB_ID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contenga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patrón</a:t>
            </a:r>
            <a:endParaRPr sz="2600">
              <a:latin typeface="Calibri"/>
              <a:cs typeface="Calibri"/>
            </a:endParaRPr>
          </a:p>
          <a:p>
            <a:pPr algn="just" marL="184150" marR="618490">
              <a:lnSpc>
                <a:spcPct val="80000"/>
              </a:lnSpc>
              <a:spcBef>
                <a:spcPts val="15"/>
              </a:spcBef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_R,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tendríamos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carácter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escape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indicar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estamos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buscando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guión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bajo,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solo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carácter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647821"/>
            <a:ext cx="7183120" cy="10566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84785" marR="5080" indent="-172720">
              <a:lnSpc>
                <a:spcPts val="2500"/>
              </a:lnSpc>
              <a:spcBef>
                <a:spcPts val="7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barra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invertida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'\'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carácter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escape,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cualquier carácter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3880103"/>
            <a:ext cx="8345805" cy="8585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21285"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job_id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'%\_R%'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ESCAPE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'\';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761" y="1524761"/>
            <a:ext cx="0" cy="4419600"/>
          </a:xfrm>
          <a:custGeom>
            <a:avLst/>
            <a:gdLst/>
            <a:ahLst/>
            <a:cxnLst/>
            <a:rect l="l" t="t" r="r" b="b"/>
            <a:pathLst>
              <a:path w="0" h="4419600">
                <a:moveTo>
                  <a:pt x="0" y="0"/>
                </a:moveTo>
                <a:lnTo>
                  <a:pt x="0" y="4419600"/>
                </a:lnTo>
              </a:path>
            </a:pathLst>
          </a:custGeom>
          <a:ln w="19812">
            <a:solidFill>
              <a:srgbClr val="E0E2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83552" y="1491489"/>
            <a:ext cx="3568700" cy="1988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5080" indent="-45720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ESCAPE,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devolverían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todos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tuvieran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sus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JOB_ID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LIKE</a:t>
            </a: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590292" y="1096911"/>
          <a:ext cx="3243580" cy="5257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5405"/>
                <a:gridCol w="1818005"/>
              </a:tblGrid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ST_CLERK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IT_PROG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MK_REP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MK_REP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IT_PROG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IT_PROG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ST_CLERK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ST_CLERK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ST_CLERK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3733800"/>
            <a:ext cx="3839210" cy="8585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21285">
              <a:lnSpc>
                <a:spcPts val="20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job_id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job_id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'%_R%'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</a:t>
            </a:r>
            <a:r>
              <a:rPr dirty="0" spc="-55"/>
              <a:t> </a:t>
            </a:r>
            <a:r>
              <a:rPr dirty="0"/>
              <a:t>NULL,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NOT</a:t>
            </a:r>
            <a:r>
              <a:rPr dirty="0" spc="-65"/>
              <a:t> </a:t>
            </a:r>
            <a:r>
              <a:rPr dirty="0" spc="-20"/>
              <a:t>NULL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20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65465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7467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prueba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disponibles,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sin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asignar,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desconocidos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prueba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disponibles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410845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diapositiva,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cláusula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escribe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apellidos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aquellos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jefe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</a:t>
            </a:r>
            <a:r>
              <a:rPr dirty="0" spc="-55"/>
              <a:t> </a:t>
            </a:r>
            <a:r>
              <a:rPr dirty="0"/>
              <a:t>NULL,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NOT</a:t>
            </a:r>
            <a:r>
              <a:rPr dirty="0" spc="-65"/>
              <a:t> </a:t>
            </a:r>
            <a:r>
              <a:rPr dirty="0" spc="-20"/>
              <a:t>NULL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Operadores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5"/>
              <a:t> </a:t>
            </a:r>
            <a:r>
              <a:rPr dirty="0" spc="-10"/>
              <a:t>Comparación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21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2387729"/>
            <a:ext cx="7976234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King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Presidente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compañía,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por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jefe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713353"/>
            <a:ext cx="817880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NULL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commission_pct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435444" y="3260985"/>
          <a:ext cx="3333750" cy="147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7480"/>
                <a:gridCol w="1817370"/>
              </a:tblGrid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COMMISSION_PCT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.15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629412" y="1408175"/>
            <a:ext cx="4227830" cy="78359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78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manager_id</a:t>
            </a:r>
            <a:endParaRPr sz="1800">
              <a:latin typeface="Courier New"/>
              <a:cs typeface="Courier New"/>
            </a:endParaRPr>
          </a:p>
          <a:p>
            <a:pPr marL="10541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0541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manager_id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IS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NULL;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9412" y="3267455"/>
            <a:ext cx="4634865" cy="12039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63195" rIns="0" bIns="0" rtlCol="0" vert="horz">
            <a:spAutoFit/>
          </a:bodyPr>
          <a:lstStyle/>
          <a:p>
            <a:pPr marL="45720" marR="210820">
              <a:lnSpc>
                <a:spcPct val="100000"/>
              </a:lnSpc>
              <a:spcBef>
                <a:spcPts val="128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commission_pct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commission_pct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IS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NOT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NULL;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435444" y="1402213"/>
          <a:ext cx="3333750" cy="661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2425"/>
                <a:gridCol w="1622425"/>
              </a:tblGrid>
              <a:tr h="33083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2025-06-01T18:10:34Z</dcterms:created>
  <dcterms:modified xsi:type="dcterms:W3CDTF">2025-06-01T18:10:34Z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