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15:10:27</a:t>
            </a:r>
          </a:p>
          <a:p>
            <a:r>
              <a:t>--------------------------------------------</a:t>
            </a:r>
          </a:p>
          <a:p>
            <a:r>
              <a:t>El empleado Curtis Davis está en el departamento 50 y su nombre empieza por "C", por lo que lo devuelve la cláusula AND. La cláusula OR devuelve, a continuación, cualquier empleado cuyo apellido contenga la letra "s".</a:t>
            </a:r>
          </a:p>
          <a:p>
            <a:r>
              <a:t>Si alguna de las condiciones no se cumplen en la sentencia AND, la condición OR tendría que evaluar si son verdaderas para devolver alguna fila.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927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927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927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927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927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835977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5090160" cy="4496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55904" y="6510552"/>
            <a:ext cx="1995170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01456" y="6589648"/>
            <a:ext cx="199008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927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Relationship Id="rId5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566547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3-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Comparaciones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Lógicas</a:t>
            </a:r>
            <a:r>
              <a:rPr dirty="0" sz="2400" spc="-6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2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Reglas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Prioridad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9680" cy="29657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Condiciones</a:t>
            </a:r>
            <a:r>
              <a:rPr dirty="0" sz="3300" spc="-155"/>
              <a:t> </a:t>
            </a:r>
            <a:r>
              <a:rPr dirty="0" sz="3300" spc="-10"/>
              <a:t>Lógicas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8681719" y="6589648"/>
            <a:ext cx="80645" cy="1339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z="850" spc="-50">
                <a:solidFill>
                  <a:srgbClr val="4E3629"/>
                </a:solidFill>
                <a:latin typeface="Calibri"/>
                <a:cs typeface="Calibri"/>
              </a:rPr>
              <a:t>6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71815" cy="306070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59385" marR="342265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condiciones</a:t>
            </a:r>
            <a:r>
              <a:rPr dirty="0" u="heavy" sz="2800" spc="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lógicas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combinan</a:t>
            </a:r>
            <a:r>
              <a:rPr dirty="0" u="heavy" sz="2800" spc="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resultado</a:t>
            </a:r>
            <a:r>
              <a:rPr dirty="0" u="heavy" sz="2800" spc="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dos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condiciones</a:t>
            </a:r>
            <a:r>
              <a:rPr dirty="0" u="heavy" sz="2800" spc="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componentes</a:t>
            </a:r>
            <a:r>
              <a:rPr dirty="0" u="heavy" sz="2800" spc="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producir</a:t>
            </a:r>
            <a:r>
              <a:rPr dirty="0" u="heavy" sz="2800" spc="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único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resultado</a:t>
            </a:r>
            <a:r>
              <a:rPr dirty="0" u="heavy" sz="2800" spc="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según</a:t>
            </a:r>
            <a:r>
              <a:rPr dirty="0" u="heavy" sz="2800" spc="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dichas</a:t>
            </a:r>
            <a:r>
              <a:rPr dirty="0" u="heavy" sz="2800" spc="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condiciones</a:t>
            </a:r>
            <a:endParaRPr sz="2800">
              <a:latin typeface="Calibri"/>
              <a:cs typeface="Calibri"/>
            </a:endParaRPr>
          </a:p>
          <a:p>
            <a:pPr algn="just" marL="182880" marR="31115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asistir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concierto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rock,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debe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adquirir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entrada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transporte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llegar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allí</a:t>
            </a:r>
            <a:endParaRPr sz="2800">
              <a:latin typeface="Calibri"/>
              <a:cs typeface="Calibri"/>
            </a:endParaRPr>
          </a:p>
          <a:p>
            <a:pPr algn="just" marL="183515" indent="-170815">
              <a:lnSpc>
                <a:spcPct val="100000"/>
              </a:lnSpc>
              <a:spcBef>
                <a:spcPts val="42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cumplen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condiciones,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concierto</a:t>
            </a:r>
            <a:endParaRPr sz="2800">
              <a:latin typeface="Calibri"/>
              <a:cs typeface="Calibri"/>
            </a:endParaRPr>
          </a:p>
          <a:p>
            <a:pPr algn="just" marL="183515" indent="-170815">
              <a:lnSpc>
                <a:spcPct val="100000"/>
              </a:lnSpc>
              <a:spcBef>
                <a:spcPts val="45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¿Qué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hacer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obtener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transporte,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ir?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96252" y="4941675"/>
            <a:ext cx="788670" cy="387985"/>
          </a:xfrm>
          <a:custGeom>
            <a:avLst/>
            <a:gdLst/>
            <a:ahLst/>
            <a:cxnLst/>
            <a:rect l="l" t="t" r="r" b="b"/>
            <a:pathLst>
              <a:path w="788669" h="387985">
                <a:moveTo>
                  <a:pt x="691409" y="0"/>
                </a:moveTo>
                <a:lnTo>
                  <a:pt x="96940" y="0"/>
                </a:lnTo>
                <a:lnTo>
                  <a:pt x="68245" y="10857"/>
                </a:lnTo>
                <a:lnTo>
                  <a:pt x="41878" y="40327"/>
                </a:lnTo>
                <a:lnTo>
                  <a:pt x="20163" y="83756"/>
                </a:lnTo>
                <a:lnTo>
                  <a:pt x="5428" y="136491"/>
                </a:lnTo>
                <a:lnTo>
                  <a:pt x="0" y="193880"/>
                </a:lnTo>
                <a:lnTo>
                  <a:pt x="5428" y="251268"/>
                </a:lnTo>
                <a:lnTo>
                  <a:pt x="20163" y="304004"/>
                </a:lnTo>
                <a:lnTo>
                  <a:pt x="41878" y="347433"/>
                </a:lnTo>
                <a:lnTo>
                  <a:pt x="68245" y="376903"/>
                </a:lnTo>
                <a:lnTo>
                  <a:pt x="96940" y="387760"/>
                </a:lnTo>
                <a:lnTo>
                  <a:pt x="691409" y="387760"/>
                </a:lnTo>
                <a:lnTo>
                  <a:pt x="746471" y="347433"/>
                </a:lnTo>
                <a:lnTo>
                  <a:pt x="768186" y="304004"/>
                </a:lnTo>
                <a:lnTo>
                  <a:pt x="782921" y="251268"/>
                </a:lnTo>
                <a:lnTo>
                  <a:pt x="788350" y="193880"/>
                </a:lnTo>
                <a:lnTo>
                  <a:pt x="782921" y="136491"/>
                </a:lnTo>
                <a:lnTo>
                  <a:pt x="768186" y="83756"/>
                </a:lnTo>
                <a:lnTo>
                  <a:pt x="746471" y="40327"/>
                </a:lnTo>
                <a:lnTo>
                  <a:pt x="720104" y="10857"/>
                </a:lnTo>
                <a:lnTo>
                  <a:pt x="691409" y="0"/>
                </a:lnTo>
                <a:close/>
              </a:path>
            </a:pathLst>
          </a:custGeom>
          <a:solidFill>
            <a:srgbClr val="FB5C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96252" y="4071472"/>
            <a:ext cx="600075" cy="387985"/>
          </a:xfrm>
          <a:custGeom>
            <a:avLst/>
            <a:gdLst/>
            <a:ahLst/>
            <a:cxnLst/>
            <a:rect l="l" t="t" r="r" b="b"/>
            <a:pathLst>
              <a:path w="600075" h="387985">
                <a:moveTo>
                  <a:pt x="503139" y="0"/>
                </a:moveTo>
                <a:lnTo>
                  <a:pt x="96940" y="0"/>
                </a:lnTo>
                <a:lnTo>
                  <a:pt x="68245" y="10857"/>
                </a:lnTo>
                <a:lnTo>
                  <a:pt x="41878" y="40327"/>
                </a:lnTo>
                <a:lnTo>
                  <a:pt x="20163" y="83756"/>
                </a:lnTo>
                <a:lnTo>
                  <a:pt x="5428" y="136491"/>
                </a:lnTo>
                <a:lnTo>
                  <a:pt x="0" y="193880"/>
                </a:lnTo>
                <a:lnTo>
                  <a:pt x="5428" y="251268"/>
                </a:lnTo>
                <a:lnTo>
                  <a:pt x="20163" y="304004"/>
                </a:lnTo>
                <a:lnTo>
                  <a:pt x="41878" y="347433"/>
                </a:lnTo>
                <a:lnTo>
                  <a:pt x="68245" y="376903"/>
                </a:lnTo>
                <a:lnTo>
                  <a:pt x="96940" y="387760"/>
                </a:lnTo>
                <a:lnTo>
                  <a:pt x="503139" y="387760"/>
                </a:lnTo>
                <a:lnTo>
                  <a:pt x="558201" y="347433"/>
                </a:lnTo>
                <a:lnTo>
                  <a:pt x="579916" y="304004"/>
                </a:lnTo>
                <a:lnTo>
                  <a:pt x="594651" y="251268"/>
                </a:lnTo>
                <a:lnTo>
                  <a:pt x="600080" y="193880"/>
                </a:lnTo>
                <a:lnTo>
                  <a:pt x="594651" y="136491"/>
                </a:lnTo>
                <a:lnTo>
                  <a:pt x="579916" y="83756"/>
                </a:lnTo>
                <a:lnTo>
                  <a:pt x="558201" y="40327"/>
                </a:lnTo>
                <a:lnTo>
                  <a:pt x="531834" y="10857"/>
                </a:lnTo>
                <a:lnTo>
                  <a:pt x="503139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96252" y="3202791"/>
            <a:ext cx="824865" cy="387985"/>
          </a:xfrm>
          <a:custGeom>
            <a:avLst/>
            <a:gdLst/>
            <a:ahLst/>
            <a:cxnLst/>
            <a:rect l="l" t="t" r="r" b="b"/>
            <a:pathLst>
              <a:path w="824865" h="387985">
                <a:moveTo>
                  <a:pt x="727842" y="0"/>
                </a:moveTo>
                <a:lnTo>
                  <a:pt x="96940" y="0"/>
                </a:lnTo>
                <a:lnTo>
                  <a:pt x="68245" y="10857"/>
                </a:lnTo>
                <a:lnTo>
                  <a:pt x="41878" y="40327"/>
                </a:lnTo>
                <a:lnTo>
                  <a:pt x="20163" y="83756"/>
                </a:lnTo>
                <a:lnTo>
                  <a:pt x="5428" y="136491"/>
                </a:lnTo>
                <a:lnTo>
                  <a:pt x="0" y="193880"/>
                </a:lnTo>
                <a:lnTo>
                  <a:pt x="5428" y="251268"/>
                </a:lnTo>
                <a:lnTo>
                  <a:pt x="20163" y="304004"/>
                </a:lnTo>
                <a:lnTo>
                  <a:pt x="41878" y="347433"/>
                </a:lnTo>
                <a:lnTo>
                  <a:pt x="68245" y="376903"/>
                </a:lnTo>
                <a:lnTo>
                  <a:pt x="96940" y="387760"/>
                </a:lnTo>
                <a:lnTo>
                  <a:pt x="727842" y="387760"/>
                </a:lnTo>
                <a:lnTo>
                  <a:pt x="782904" y="347433"/>
                </a:lnTo>
                <a:lnTo>
                  <a:pt x="804618" y="304004"/>
                </a:lnTo>
                <a:lnTo>
                  <a:pt x="819353" y="251268"/>
                </a:lnTo>
                <a:lnTo>
                  <a:pt x="824782" y="193880"/>
                </a:lnTo>
                <a:lnTo>
                  <a:pt x="819353" y="136491"/>
                </a:lnTo>
                <a:lnTo>
                  <a:pt x="804618" y="83756"/>
                </a:lnTo>
                <a:lnTo>
                  <a:pt x="782904" y="40327"/>
                </a:lnTo>
                <a:lnTo>
                  <a:pt x="756536" y="10857"/>
                </a:lnTo>
                <a:lnTo>
                  <a:pt x="727842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10"/>
              <a:t>Operadores</a:t>
            </a:r>
            <a:r>
              <a:rPr dirty="0" sz="3300" spc="-114"/>
              <a:t> </a:t>
            </a:r>
            <a:r>
              <a:rPr dirty="0" sz="3300" spc="-10"/>
              <a:t>Lógicos</a:t>
            </a:r>
            <a:endParaRPr sz="3300"/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2710">
              <a:lnSpc>
                <a:spcPts val="910"/>
              </a:lnSpc>
            </a:pPr>
            <a:r>
              <a:rPr dirty="0" spc="-50"/>
              <a:t>8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483552" y="1415417"/>
            <a:ext cx="8185784" cy="393128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523875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operador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lógico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combina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resultados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dos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más</a:t>
            </a:r>
            <a:r>
              <a:rPr dirty="0" u="heavy" sz="28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condiciones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producir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único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resultado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global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verdadero</a:t>
            </a:r>
            <a:endParaRPr sz="2800">
              <a:latin typeface="Calibri"/>
              <a:cs typeface="Calibri"/>
            </a:endParaRPr>
          </a:p>
          <a:p>
            <a:pPr marL="182880" marR="113664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AND: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TRUE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(verdadero)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ambas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condiciones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verdaderas</a:t>
            </a:r>
            <a:endParaRPr sz="2800">
              <a:latin typeface="Calibri"/>
              <a:cs typeface="Calibri"/>
            </a:endParaRPr>
          </a:p>
          <a:p>
            <a:pPr marL="182880" marR="26162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OR: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TRUE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(verdadero)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condición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verdadera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NOT: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(verdadero)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falsa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Operador</a:t>
            </a:r>
            <a:r>
              <a:rPr dirty="0" sz="3300" spc="-150"/>
              <a:t> </a:t>
            </a:r>
            <a:r>
              <a:rPr dirty="0" sz="3300" spc="-25"/>
              <a:t>AND</a:t>
            </a:r>
            <a:endParaRPr sz="3300"/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2710">
              <a:lnSpc>
                <a:spcPts val="910"/>
              </a:lnSpc>
            </a:pPr>
            <a:r>
              <a:rPr dirty="0" spc="-50"/>
              <a:t>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9498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devueltos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serán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cumplan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ambas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condiciones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especificadas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503244" y="3876752"/>
          <a:ext cx="4742815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0975"/>
                <a:gridCol w="2026285"/>
                <a:gridCol w="1175385"/>
              </a:tblGrid>
              <a:tr h="2971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2781300"/>
            <a:ext cx="8345805" cy="85851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21285">
              <a:lnSpc>
                <a:spcPts val="208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department_id,</a:t>
            </a:r>
            <a:r>
              <a:rPr dirty="0" sz="1800" spc="-11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  <a:p>
            <a:pPr marL="1212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212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&gt;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50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AND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&gt;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12000;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Operador</a:t>
            </a:r>
            <a:r>
              <a:rPr dirty="0" sz="3300" spc="-150"/>
              <a:t> </a:t>
            </a:r>
            <a:r>
              <a:rPr dirty="0" sz="3300" spc="-25"/>
              <a:t>OR</a:t>
            </a:r>
            <a:endParaRPr sz="3300"/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705725" cy="24745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5240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resultados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devueltos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serán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filas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cumplan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condiciones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OR</a:t>
            </a:r>
            <a:endParaRPr sz="2800">
              <a:latin typeface="Calibri"/>
              <a:cs typeface="Calibri"/>
            </a:endParaRPr>
          </a:p>
          <a:p>
            <a:pPr algn="just"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otras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palabras,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devueltas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location_id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2500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manager_id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124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754682" y="5029654"/>
          <a:ext cx="6058535" cy="904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7425"/>
                <a:gridCol w="1722120"/>
                <a:gridCol w="1989454"/>
              </a:tblGrid>
              <a:tr h="40322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LOCATION_ID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71755">
                        <a:lnSpc>
                          <a:spcPts val="185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Shipping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5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50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71755">
                        <a:lnSpc>
                          <a:spcPts val="185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5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50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3931920"/>
            <a:ext cx="8345805" cy="85851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21285">
              <a:lnSpc>
                <a:spcPts val="208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14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department_name,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manager_id,</a:t>
            </a:r>
            <a:r>
              <a:rPr dirty="0" sz="1800" spc="-11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location_id</a:t>
            </a:r>
            <a:endParaRPr sz="1800">
              <a:latin typeface="Courier New"/>
              <a:cs typeface="Courier New"/>
            </a:endParaRPr>
          </a:p>
          <a:p>
            <a:pPr marL="1212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departments</a:t>
            </a:r>
            <a:endParaRPr sz="1800">
              <a:latin typeface="Courier New"/>
              <a:cs typeface="Courier New"/>
            </a:endParaRPr>
          </a:p>
          <a:p>
            <a:pPr marL="1212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location_id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2500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manager_id=124;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Operador</a:t>
            </a:r>
            <a:r>
              <a:rPr dirty="0" sz="3300" spc="-155"/>
              <a:t> </a:t>
            </a:r>
            <a:r>
              <a:rPr dirty="0" sz="3300" spc="-25"/>
              <a:t>NOT</a:t>
            </a:r>
            <a:endParaRPr sz="3300"/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0920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operador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NOT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devolverá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cumplan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832936" y="3859940"/>
          <a:ext cx="4083050" cy="150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7075"/>
                <a:gridCol w="1997075"/>
              </a:tblGrid>
              <a:tr h="3759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LOCATION_ID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Shipping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393191" y="2519172"/>
            <a:ext cx="8345805" cy="85851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208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14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department_name,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location_id</a:t>
            </a:r>
            <a:endParaRPr sz="1800">
              <a:latin typeface="Courier New"/>
              <a:cs typeface="Courier New"/>
            </a:endParaRPr>
          </a:p>
          <a:p>
            <a:pPr marL="12192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departments</a:t>
            </a:r>
            <a:endParaRPr sz="1800">
              <a:latin typeface="Courier New"/>
              <a:cs typeface="Courier New"/>
            </a:endParaRPr>
          </a:p>
          <a:p>
            <a:pPr marL="12192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location_id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NOT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IN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(1700,1800);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46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Reglas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Prioridad</a:t>
            </a:r>
            <a:r>
              <a:rPr dirty="0" spc="-25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/>
              <a:t>Qué</a:t>
            </a:r>
            <a:r>
              <a:rPr dirty="0" spc="-65"/>
              <a:t> </a:t>
            </a:r>
            <a:r>
              <a:rPr dirty="0"/>
              <a:t>Ocurre</a:t>
            </a:r>
            <a:r>
              <a:rPr dirty="0" spc="-60"/>
              <a:t> </a:t>
            </a:r>
            <a:r>
              <a:rPr dirty="0"/>
              <a:t>en</a:t>
            </a:r>
            <a:r>
              <a:rPr dirty="0" spc="-65"/>
              <a:t> </a:t>
            </a:r>
            <a:r>
              <a:rPr dirty="0"/>
              <a:t>Primer</a:t>
            </a:r>
            <a:r>
              <a:rPr dirty="0" spc="-35"/>
              <a:t> </a:t>
            </a:r>
            <a:r>
              <a:rPr dirty="0" spc="-10"/>
              <a:t>Lugar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14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16637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pc="-40"/>
              <a:t>Tenga</a:t>
            </a:r>
            <a:r>
              <a:rPr dirty="0" spc="-65"/>
              <a:t> </a:t>
            </a:r>
            <a:r>
              <a:rPr dirty="0"/>
              <a:t>en</a:t>
            </a:r>
            <a:r>
              <a:rPr dirty="0" spc="-45"/>
              <a:t> </a:t>
            </a:r>
            <a:r>
              <a:rPr dirty="0"/>
              <a:t>cuenta</a:t>
            </a:r>
            <a:r>
              <a:rPr dirty="0" spc="-40"/>
              <a:t> </a:t>
            </a:r>
            <a:r>
              <a:rPr dirty="0"/>
              <a:t>que</a:t>
            </a:r>
            <a:r>
              <a:rPr dirty="0" spc="-40"/>
              <a:t> </a:t>
            </a:r>
            <a:r>
              <a:rPr dirty="0"/>
              <a:t>el</a:t>
            </a:r>
            <a:r>
              <a:rPr dirty="0" spc="-60"/>
              <a:t> </a:t>
            </a:r>
            <a:r>
              <a:rPr dirty="0" spc="-10"/>
              <a:t>operador </a:t>
            </a:r>
            <a:r>
              <a:rPr dirty="0" spc="-10"/>
              <a:t>	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se</a:t>
            </a:r>
            <a:r>
              <a:rPr dirty="0" spc="-50"/>
              <a:t> </a:t>
            </a:r>
            <a:r>
              <a:rPr dirty="0"/>
              <a:t>evalúa</a:t>
            </a:r>
            <a:r>
              <a:rPr dirty="0" spc="-65"/>
              <a:t> </a:t>
            </a:r>
            <a:r>
              <a:rPr dirty="0"/>
              <a:t>antes</a:t>
            </a:r>
            <a:r>
              <a:rPr dirty="0" spc="-60"/>
              <a:t> </a:t>
            </a:r>
            <a:r>
              <a:rPr dirty="0"/>
              <a:t>que</a:t>
            </a:r>
            <a:r>
              <a:rPr dirty="0" spc="-40"/>
              <a:t> </a:t>
            </a:r>
            <a:r>
              <a:rPr dirty="0" spc="-25"/>
              <a:t>el </a:t>
            </a:r>
            <a:r>
              <a:rPr dirty="0" spc="-25"/>
              <a:t>	</a:t>
            </a:r>
            <a:r>
              <a:rPr dirty="0"/>
              <a:t>operador</a:t>
            </a:r>
            <a:r>
              <a:rPr dirty="0" spc="-130"/>
              <a:t> </a:t>
            </a:r>
            <a:r>
              <a:rPr dirty="0" spc="-25"/>
              <a:t>OR</a:t>
            </a: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Esto</a:t>
            </a:r>
            <a:r>
              <a:rPr dirty="0" spc="-80"/>
              <a:t> </a:t>
            </a:r>
            <a:r>
              <a:rPr dirty="0"/>
              <a:t>significa</a:t>
            </a:r>
            <a:r>
              <a:rPr dirty="0" spc="-70"/>
              <a:t> </a:t>
            </a:r>
            <a:r>
              <a:rPr dirty="0"/>
              <a:t>que,</a:t>
            </a:r>
            <a:r>
              <a:rPr dirty="0" spc="-60"/>
              <a:t> </a:t>
            </a:r>
            <a:r>
              <a:rPr dirty="0"/>
              <a:t>para</a:t>
            </a:r>
            <a:r>
              <a:rPr dirty="0" spc="-65"/>
              <a:t> </a:t>
            </a:r>
            <a:r>
              <a:rPr dirty="0"/>
              <a:t>que</a:t>
            </a:r>
            <a:r>
              <a:rPr dirty="0" spc="-75"/>
              <a:t> </a:t>
            </a:r>
            <a:r>
              <a:rPr dirty="0" spc="-25"/>
              <a:t>el </a:t>
            </a:r>
            <a:r>
              <a:rPr dirty="0" spc="-25"/>
              <a:t>	</a:t>
            </a:r>
            <a:r>
              <a:rPr dirty="0"/>
              <a:t>ejemplo</a:t>
            </a:r>
            <a:r>
              <a:rPr dirty="0" spc="-65"/>
              <a:t> </a:t>
            </a:r>
            <a:r>
              <a:rPr dirty="0"/>
              <a:t>en</a:t>
            </a:r>
            <a:r>
              <a:rPr dirty="0" spc="-65"/>
              <a:t> </a:t>
            </a:r>
            <a:r>
              <a:rPr dirty="0"/>
              <a:t>la</a:t>
            </a:r>
            <a:r>
              <a:rPr dirty="0" spc="-75"/>
              <a:t> </a:t>
            </a:r>
            <a:r>
              <a:rPr dirty="0"/>
              <a:t>diapositiva</a:t>
            </a:r>
            <a:r>
              <a:rPr dirty="0" spc="-50"/>
              <a:t> </a:t>
            </a:r>
            <a:r>
              <a:rPr dirty="0" spc="-25"/>
              <a:t>anterior, </a:t>
            </a:r>
            <a:r>
              <a:rPr dirty="0" spc="-25"/>
              <a:t>	</a:t>
            </a:r>
            <a:r>
              <a:rPr dirty="0"/>
              <a:t>si</a:t>
            </a:r>
            <a:r>
              <a:rPr dirty="0" spc="-35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/>
              <a:t>se</a:t>
            </a:r>
            <a:r>
              <a:rPr dirty="0" spc="-40"/>
              <a:t> </a:t>
            </a:r>
            <a:r>
              <a:rPr dirty="0"/>
              <a:t>cumple</a:t>
            </a:r>
            <a:r>
              <a:rPr dirty="0" spc="-20"/>
              <a:t> </a:t>
            </a:r>
            <a:r>
              <a:rPr dirty="0"/>
              <a:t>alguna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25"/>
              <a:t>las </a:t>
            </a:r>
            <a:r>
              <a:rPr dirty="0" spc="-25"/>
              <a:t>	</a:t>
            </a:r>
            <a:r>
              <a:rPr dirty="0"/>
              <a:t>condiciones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/>
              <a:t>la</a:t>
            </a:r>
            <a:r>
              <a:rPr dirty="0" spc="-80"/>
              <a:t> </a:t>
            </a:r>
            <a:r>
              <a:rPr dirty="0"/>
              <a:t>sentencia</a:t>
            </a:r>
            <a:r>
              <a:rPr dirty="0" spc="-65"/>
              <a:t> </a:t>
            </a:r>
            <a:r>
              <a:rPr dirty="0" spc="-20"/>
              <a:t>AND, </a:t>
            </a:r>
            <a:r>
              <a:rPr dirty="0" spc="-20"/>
              <a:t>	</a:t>
            </a:r>
            <a:r>
              <a:rPr dirty="0"/>
              <a:t>se</a:t>
            </a:r>
            <a:r>
              <a:rPr dirty="0" spc="-60"/>
              <a:t> </a:t>
            </a:r>
            <a:r>
              <a:rPr dirty="0" spc="-10"/>
              <a:t>utilizará</a:t>
            </a:r>
            <a:r>
              <a:rPr dirty="0" spc="-45"/>
              <a:t> </a:t>
            </a:r>
            <a:r>
              <a:rPr dirty="0"/>
              <a:t>el</a:t>
            </a:r>
            <a:r>
              <a:rPr dirty="0" spc="-65"/>
              <a:t> </a:t>
            </a:r>
            <a:r>
              <a:rPr dirty="0"/>
              <a:t>operador</a:t>
            </a:r>
            <a:r>
              <a:rPr dirty="0" spc="-40"/>
              <a:t> </a:t>
            </a:r>
            <a:r>
              <a:rPr dirty="0"/>
              <a:t>OR</a:t>
            </a:r>
            <a:r>
              <a:rPr dirty="0" spc="-50"/>
              <a:t> </a:t>
            </a:r>
            <a:r>
              <a:rPr dirty="0" spc="-20"/>
              <a:t>para </a:t>
            </a:r>
            <a:r>
              <a:rPr dirty="0" spc="-20"/>
              <a:t>	</a:t>
            </a:r>
            <a:r>
              <a:rPr dirty="0"/>
              <a:t>seleccionar</a:t>
            </a:r>
            <a:r>
              <a:rPr dirty="0" spc="-60"/>
              <a:t> </a:t>
            </a:r>
            <a:r>
              <a:rPr dirty="0"/>
              <a:t>las</a:t>
            </a:r>
            <a:r>
              <a:rPr dirty="0" spc="-75"/>
              <a:t> </a:t>
            </a:r>
            <a:r>
              <a:rPr dirty="0" spc="-20"/>
              <a:t>filas</a:t>
            </a:r>
          </a:p>
          <a:p>
            <a:pPr marL="182880" marR="885190" indent="-170815">
              <a:lnSpc>
                <a:spcPts val="3030"/>
              </a:lnSpc>
              <a:spcBef>
                <a:spcPts val="7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Es</a:t>
            </a:r>
            <a:r>
              <a:rPr dirty="0" spc="-80"/>
              <a:t> </a:t>
            </a:r>
            <a:r>
              <a:rPr dirty="0" spc="-10"/>
              <a:t>importante</a:t>
            </a:r>
            <a:r>
              <a:rPr dirty="0" spc="-55"/>
              <a:t> </a:t>
            </a:r>
            <a:r>
              <a:rPr dirty="0" spc="-10"/>
              <a:t>recordar</a:t>
            </a:r>
            <a:r>
              <a:rPr dirty="0" spc="-85"/>
              <a:t> </a:t>
            </a:r>
            <a:r>
              <a:rPr dirty="0" spc="-20"/>
              <a:t>este </a:t>
            </a:r>
            <a:r>
              <a:rPr dirty="0" spc="-20"/>
              <a:t>	</a:t>
            </a:r>
            <a:r>
              <a:rPr dirty="0" spc="-10"/>
              <a:t>concepto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942153" y="1575229"/>
          <a:ext cx="2891790" cy="3825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835"/>
                <a:gridCol w="1963419"/>
              </a:tblGrid>
              <a:tr h="3810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ORDER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OPERATOR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Arithmetic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*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/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Concatenation||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Comparison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&lt;,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&lt;=,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&gt;,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&gt;=,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&lt;&gt;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20979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(NOT)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NULL,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LIKE,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(NOT)</a:t>
                      </a:r>
                      <a:r>
                        <a:rPr dirty="0" sz="1600" spc="-7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(NOT)</a:t>
                      </a:r>
                      <a:r>
                        <a:rPr dirty="0" sz="1600" spc="-7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BETWEEN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96799"/>
            <a:ext cx="77012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Reglas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Prioridad</a:t>
            </a:r>
            <a:r>
              <a:rPr dirty="0" spc="-25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/>
              <a:t>Qué</a:t>
            </a:r>
            <a:r>
              <a:rPr dirty="0" spc="-65"/>
              <a:t> </a:t>
            </a:r>
            <a:r>
              <a:rPr dirty="0"/>
              <a:t>Ocurre</a:t>
            </a:r>
            <a:r>
              <a:rPr dirty="0" spc="-60"/>
              <a:t> </a:t>
            </a:r>
            <a:r>
              <a:rPr dirty="0"/>
              <a:t>en</a:t>
            </a:r>
            <a:r>
              <a:rPr dirty="0" spc="-65"/>
              <a:t> </a:t>
            </a:r>
            <a:r>
              <a:rPr dirty="0"/>
              <a:t>Primer</a:t>
            </a:r>
            <a:r>
              <a:rPr dirty="0" spc="-35"/>
              <a:t> </a:t>
            </a:r>
            <a:r>
              <a:rPr dirty="0" spc="-10"/>
              <a:t>Lugar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644722" y="3511913"/>
          <a:ext cx="3214370" cy="2999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2860"/>
                <a:gridCol w="1162685"/>
                <a:gridCol w="669925"/>
              </a:tblGrid>
              <a:tr h="4267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1400" spc="-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Raise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46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590"/>
                        </a:lnSpc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ts val="1670"/>
                        </a:lnSpc>
                      </a:pPr>
                      <a:r>
                        <a:rPr dirty="0" sz="14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_ID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590"/>
                        </a:lnSpc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ts val="1670"/>
                        </a:lnSpc>
                      </a:pPr>
                      <a:r>
                        <a:rPr dirty="0" sz="14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r>
                        <a:rPr dirty="0" sz="14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Shelley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r>
                        <a:rPr dirty="0" sz="1400" spc="-7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Kevin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Rajs</a:t>
                      </a:r>
                      <a:r>
                        <a:rPr dirty="0" sz="14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3675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Trenna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Davies</a:t>
                      </a:r>
                      <a:r>
                        <a:rPr dirty="0" sz="14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3255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Curtis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Matos</a:t>
                      </a:r>
                      <a:r>
                        <a:rPr dirty="0" sz="1400" spc="-7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2730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Randall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Vargas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2625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Peter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Ernst</a:t>
                      </a:r>
                      <a:r>
                        <a:rPr dirty="0" sz="14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6300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Bruce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Hartstein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13650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Michael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405384" y="4338828"/>
            <a:ext cx="5168265" cy="1728470"/>
          </a:xfrm>
          <a:custGeom>
            <a:avLst/>
            <a:gdLst/>
            <a:ahLst/>
            <a:cxnLst/>
            <a:rect l="l" t="t" r="r" b="b"/>
            <a:pathLst>
              <a:path w="5168265" h="1728470">
                <a:moveTo>
                  <a:pt x="5167884" y="0"/>
                </a:moveTo>
                <a:lnTo>
                  <a:pt x="0" y="0"/>
                </a:lnTo>
                <a:lnTo>
                  <a:pt x="0" y="1728216"/>
                </a:lnTo>
                <a:lnTo>
                  <a:pt x="5167884" y="1728216"/>
                </a:lnTo>
                <a:lnTo>
                  <a:pt x="5167884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83552" y="1415417"/>
            <a:ext cx="8092440" cy="468185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2222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primer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lugar,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evalúa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AND,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devolverán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trabajen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80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50,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tengan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empiece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"C"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2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evalúa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</a:t>
            </a:r>
            <a:r>
              <a:rPr dirty="0" sz="28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devuelven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cuyo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apellido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2985"/>
              </a:lnSpc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contenga</a:t>
            </a:r>
            <a:r>
              <a:rPr dirty="0" sz="2800" spc="-1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"s"</a:t>
            </a:r>
            <a:endParaRPr sz="2800">
              <a:latin typeface="Calibri"/>
              <a:cs typeface="Calibri"/>
            </a:endParaRPr>
          </a:p>
          <a:p>
            <a:pPr marL="301625" marR="3223260" indent="-259079">
              <a:lnSpc>
                <a:spcPct val="100000"/>
              </a:lnSpc>
              <a:spcBef>
                <a:spcPts val="80"/>
              </a:spcBef>
            </a:pP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7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last_name||'</a:t>
            </a:r>
            <a:r>
              <a:rPr dirty="0" sz="17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4E3629"/>
                </a:solidFill>
                <a:latin typeface="Courier New"/>
                <a:cs typeface="Courier New"/>
              </a:rPr>
              <a:t>'||salary*1.05</a:t>
            </a:r>
            <a:r>
              <a:rPr dirty="0" sz="1700" spc="-10" b="1">
                <a:solidFill>
                  <a:srgbClr val="4E3629"/>
                </a:solidFill>
                <a:latin typeface="Courier New"/>
                <a:cs typeface="Courier New"/>
              </a:rPr>
              <a:t> 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7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"Employee</a:t>
            </a:r>
            <a:r>
              <a:rPr dirty="0" sz="17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Raise",</a:t>
            </a:r>
            <a:r>
              <a:rPr dirty="0" sz="17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4E3629"/>
                </a:solidFill>
                <a:latin typeface="Courier New"/>
                <a:cs typeface="Courier New"/>
              </a:rPr>
              <a:t>department_id,</a:t>
            </a:r>
            <a:endParaRPr sz="1700">
              <a:latin typeface="Courier New"/>
              <a:cs typeface="Courier New"/>
            </a:endParaRPr>
          </a:p>
          <a:p>
            <a:pPr marL="42545" marR="6218555">
              <a:lnSpc>
                <a:spcPct val="100000"/>
              </a:lnSpc>
            </a:pPr>
            <a:r>
              <a:rPr dirty="0" sz="1700" spc="-10" b="1">
                <a:solidFill>
                  <a:srgbClr val="4E3629"/>
                </a:solidFill>
                <a:latin typeface="Courier New"/>
                <a:cs typeface="Courier New"/>
              </a:rPr>
              <a:t>first_name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7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700">
              <a:latin typeface="Courier New"/>
              <a:cs typeface="Courier New"/>
            </a:endParaRPr>
          </a:p>
          <a:p>
            <a:pPr marL="302260" marR="4264025" indent="-259715">
              <a:lnSpc>
                <a:spcPct val="100000"/>
              </a:lnSpc>
            </a:pP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7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7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4E3629"/>
                </a:solidFill>
                <a:latin typeface="Courier New"/>
                <a:cs typeface="Courier New"/>
              </a:rPr>
              <a:t>IN(50,80)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AND</a:t>
            </a:r>
            <a:r>
              <a:rPr dirty="0" sz="17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first_name</a:t>
            </a:r>
            <a:r>
              <a:rPr dirty="0" sz="17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7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spc="-20" b="1">
                <a:solidFill>
                  <a:srgbClr val="4E3629"/>
                </a:solidFill>
                <a:latin typeface="Courier New"/>
                <a:cs typeface="Courier New"/>
              </a:rPr>
              <a:t>'C%'</a:t>
            </a:r>
            <a:r>
              <a:rPr dirty="0" sz="1700" spc="5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OR</a:t>
            </a:r>
            <a:r>
              <a:rPr dirty="0" sz="17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7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7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4E3629"/>
                </a:solidFill>
                <a:latin typeface="Courier New"/>
                <a:cs typeface="Courier New"/>
              </a:rPr>
              <a:t>'%s%';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3-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Comparaciones</a:t>
            </a:r>
            <a:r>
              <a:rPr dirty="0" spc="15"/>
              <a:t> </a:t>
            </a:r>
            <a:r>
              <a:rPr dirty="0"/>
              <a:t>Lógicas</a:t>
            </a:r>
            <a:r>
              <a:rPr dirty="0" spc="10"/>
              <a:t> </a:t>
            </a:r>
            <a:r>
              <a:rPr dirty="0"/>
              <a:t>y</a:t>
            </a:r>
            <a:r>
              <a:rPr dirty="0" spc="-30"/>
              <a:t> </a:t>
            </a:r>
            <a:r>
              <a:rPr dirty="0"/>
              <a:t>Reglas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Prioridad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10"/>
              </a:lnSpc>
            </a:pP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2025-06-01T18:10:48Z</dcterms:created>
  <dcterms:modified xsi:type="dcterms:W3CDTF">2025-06-01T18:10:48Z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2025-03-02T00:00:00Z</vt:filetime>
  </property>
  <property fmtid="{D5CDD505-2E9C-101B-9397-08002B2CF9AE}" pid="3" name="Creator">
    <vt:lpwstr>Acrobat PDFMaker 17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15.2 (Build 24C101) Quartz PDFContext</vt:lpwstr>
  </property>
</Properties>
</file>