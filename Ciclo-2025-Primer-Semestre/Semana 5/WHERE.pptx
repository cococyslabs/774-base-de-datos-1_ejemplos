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18:47:18</a:t>
            </a:r>
          </a:p>
          <a:p>
            <a:r>
              <a:t>--------------------------------------------</a:t>
            </a:r>
          </a:p>
          <a:p>
            <a:r>
              <a:t>Como las cadenas de caracteres, los valores de fecha deben estar entre comillas simples. Los formatos aceptables para los valores de fecha son:</a:t>
            </a:r>
          </a:p>
          <a:p>
            <a:r>
              <a:t>Utilizar un guión o una barra inclinada adelante para separar día, mes y año, p. ej., ' '20-MAR-1999', '20/MAR/1999".</a:t>
            </a:r>
          </a:p>
          <a:p>
            <a:r>
              <a:t>Utilizar 3 caracteres para el mes, ya sea en mayúsculas, minúsculas o con mayúscula inicial, p. ej., '20/MAR/1999', '20/mar/1999', '20/Mar/1999". Utilizar valores año de 4 dígitos.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385319"/>
            <a:ext cx="8359775" cy="894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7796530" cy="4373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55904" y="6510552"/>
            <a:ext cx="1471929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419227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2-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Limitación</a:t>
            </a:r>
            <a:r>
              <a:rPr dirty="0" sz="2400" spc="-6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400" spc="-3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400" spc="-30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Seleccionadas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54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Cláusula</a:t>
            </a:r>
            <a:r>
              <a:rPr dirty="0" sz="3300" spc="-50"/>
              <a:t> </a:t>
            </a:r>
            <a:r>
              <a:rPr dirty="0" sz="3300" spc="-20"/>
              <a:t>WHERE</a:t>
            </a:r>
            <a:endParaRPr sz="3300"/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50"/>
              <a:t>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76209" cy="306070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6385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Al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recuperar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base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datos,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necesite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limitar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filas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datos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muestran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Esto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consigue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contiene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una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condición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que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cumplir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e,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inmediatamente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después,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sigue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FROM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sintaxis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4996817"/>
            <a:ext cx="714375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Nota: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alias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cláusula 	WHERE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4543044"/>
            <a:ext cx="8345805" cy="40259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254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33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column_name</a:t>
            </a:r>
            <a:r>
              <a:rPr dirty="0" sz="1800" spc="-5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comparison_condition</a:t>
            </a:r>
            <a:r>
              <a:rPr dirty="0" sz="1800" spc="-60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comparison_value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541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/>
              <a:t>Cláusula</a:t>
            </a:r>
            <a:r>
              <a:rPr dirty="0" sz="3300" spc="-50"/>
              <a:t> </a:t>
            </a:r>
            <a:r>
              <a:rPr dirty="0" sz="3300" spc="-20"/>
              <a:t>WHERE</a:t>
            </a:r>
            <a:endParaRPr sz="3300"/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50"/>
              <a:t>7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6760209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Examine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sentencia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SQL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base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256409"/>
            <a:ext cx="814641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Mediante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adición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limitan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aquellas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employee_id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101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162063" y="2107594"/>
          <a:ext cx="3683000" cy="1126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4605"/>
                <a:gridCol w="1178559"/>
                <a:gridCol w="1131569"/>
              </a:tblGrid>
              <a:tr h="39624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Steven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King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239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Neena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204">
                <a:tc>
                  <a:txBody>
                    <a:bodyPr/>
                    <a:lstStyle/>
                    <a:p>
                      <a:pPr marL="7239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Lex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820"/>
                        </a:lnSpc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1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Haan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162064" y="4703668"/>
          <a:ext cx="3671570" cy="640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0000"/>
                <a:gridCol w="1172210"/>
                <a:gridCol w="1140460"/>
              </a:tblGrid>
              <a:tr h="39687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EMPLOYEE_ID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FIRST_NAME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LAST_NAME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101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Neena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820"/>
                        </a:lnSpc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Kochhar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393191" y="2398776"/>
            <a:ext cx="4535805" cy="8445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45085">
              <a:lnSpc>
                <a:spcPts val="192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</a:pP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  <a:spcBef>
                <a:spcPts val="26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5384" y="4713732"/>
            <a:ext cx="4523740" cy="121920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5715" rIns="0" bIns="0" rtlCol="0" vert="horz">
            <a:spAutoFit/>
          </a:bodyPr>
          <a:lstStyle/>
          <a:p>
            <a:pPr marL="45085" marR="238125">
              <a:lnSpc>
                <a:spcPct val="100000"/>
              </a:lnSpc>
              <a:spcBef>
                <a:spcPts val="4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first_name, last_name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  <a:spcBef>
                <a:spcPts val="219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  <a:spcBef>
                <a:spcPts val="21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employee_id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101;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4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Operadores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 spc="-10"/>
              <a:t>Comparación</a:t>
            </a:r>
            <a:r>
              <a:rPr dirty="0" spc="-45"/>
              <a:t> </a:t>
            </a:r>
            <a:r>
              <a:rPr dirty="0"/>
              <a:t>en</a:t>
            </a:r>
            <a:r>
              <a:rPr dirty="0" spc="-50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/>
              <a:t>Cláusula</a:t>
            </a:r>
            <a:r>
              <a:rPr dirty="0" spc="-40"/>
              <a:t> </a:t>
            </a:r>
            <a:r>
              <a:rPr dirty="0" spc="-10"/>
              <a:t>WHERE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50"/>
              <a:t>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Como</a:t>
            </a:r>
            <a:r>
              <a:rPr dirty="0" spc="-60"/>
              <a:t> </a:t>
            </a:r>
            <a:r>
              <a:rPr dirty="0"/>
              <a:t>ha</a:t>
            </a:r>
            <a:r>
              <a:rPr dirty="0" spc="-35"/>
              <a:t> </a:t>
            </a:r>
            <a:r>
              <a:rPr dirty="0"/>
              <a:t>visto</a:t>
            </a:r>
            <a:r>
              <a:rPr dirty="0" spc="-45"/>
              <a:t> </a:t>
            </a:r>
            <a:r>
              <a:rPr dirty="0"/>
              <a:t>en</a:t>
            </a:r>
            <a:r>
              <a:rPr dirty="0" spc="-45"/>
              <a:t> </a:t>
            </a:r>
            <a:r>
              <a:rPr dirty="0"/>
              <a:t>la</a:t>
            </a:r>
            <a:r>
              <a:rPr dirty="0" spc="-50"/>
              <a:t> </a:t>
            </a:r>
            <a:r>
              <a:rPr dirty="0"/>
              <a:t>diapositiva</a:t>
            </a:r>
            <a:r>
              <a:rPr dirty="0" spc="-40"/>
              <a:t> </a:t>
            </a:r>
            <a:r>
              <a:rPr dirty="0" spc="-30"/>
              <a:t>anterior,</a:t>
            </a:r>
            <a:r>
              <a:rPr dirty="0" spc="-40"/>
              <a:t> </a:t>
            </a:r>
            <a:r>
              <a:rPr dirty="0"/>
              <a:t>el</a:t>
            </a:r>
            <a:r>
              <a:rPr dirty="0" spc="-65"/>
              <a:t> </a:t>
            </a:r>
            <a:r>
              <a:rPr dirty="0"/>
              <a:t>signo</a:t>
            </a:r>
            <a:r>
              <a:rPr dirty="0" spc="-40"/>
              <a:t> </a:t>
            </a:r>
            <a:r>
              <a:rPr dirty="0"/>
              <a:t>=</a:t>
            </a:r>
            <a:r>
              <a:rPr dirty="0" spc="-55"/>
              <a:t> </a:t>
            </a:r>
            <a:r>
              <a:rPr dirty="0" spc="-25"/>
              <a:t>se </a:t>
            </a:r>
            <a:r>
              <a:rPr dirty="0" spc="-25"/>
              <a:t>	</a:t>
            </a:r>
            <a:r>
              <a:rPr dirty="0"/>
              <a:t>puede</a:t>
            </a:r>
            <a:r>
              <a:rPr dirty="0" spc="-45"/>
              <a:t> </a:t>
            </a:r>
            <a:r>
              <a:rPr dirty="0"/>
              <a:t>utilizar</a:t>
            </a:r>
            <a:r>
              <a:rPr dirty="0" spc="-55"/>
              <a:t> </a:t>
            </a:r>
            <a:r>
              <a:rPr dirty="0"/>
              <a:t>en</a:t>
            </a:r>
            <a:r>
              <a:rPr dirty="0" spc="-65"/>
              <a:t> </a:t>
            </a:r>
            <a:r>
              <a:rPr dirty="0"/>
              <a:t>la</a:t>
            </a:r>
            <a:r>
              <a:rPr dirty="0" spc="-60"/>
              <a:t> </a:t>
            </a:r>
            <a:r>
              <a:rPr dirty="0"/>
              <a:t>cláusula</a:t>
            </a:r>
            <a:r>
              <a:rPr dirty="0" spc="-50"/>
              <a:t> </a:t>
            </a:r>
            <a:r>
              <a:rPr dirty="0" spc="-10"/>
              <a:t>WHERE</a:t>
            </a:r>
          </a:p>
          <a:p>
            <a:pPr marL="182880" marR="51435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Además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55"/>
              <a:t> </a:t>
            </a:r>
            <a:r>
              <a:rPr dirty="0"/>
              <a:t>operador</a:t>
            </a:r>
            <a:r>
              <a:rPr dirty="0" spc="-30"/>
              <a:t> </a:t>
            </a:r>
            <a:r>
              <a:rPr dirty="0"/>
              <a:t>"igual</a:t>
            </a:r>
            <a:r>
              <a:rPr dirty="0" spc="-45"/>
              <a:t> </a:t>
            </a:r>
            <a:r>
              <a:rPr dirty="0"/>
              <a:t>que"</a:t>
            </a:r>
            <a:r>
              <a:rPr dirty="0" spc="-30"/>
              <a:t> </a:t>
            </a:r>
            <a:r>
              <a:rPr dirty="0"/>
              <a:t>(</a:t>
            </a:r>
            <a:r>
              <a:rPr dirty="0" spc="-45"/>
              <a:t> </a:t>
            </a:r>
            <a:r>
              <a:rPr dirty="0"/>
              <a:t>=</a:t>
            </a:r>
            <a:r>
              <a:rPr dirty="0" spc="-40"/>
              <a:t> </a:t>
            </a:r>
            <a:r>
              <a:rPr dirty="0"/>
              <a:t>),</a:t>
            </a:r>
            <a:r>
              <a:rPr dirty="0" spc="-55"/>
              <a:t> </a:t>
            </a:r>
            <a:r>
              <a:rPr dirty="0"/>
              <a:t>se</a:t>
            </a:r>
            <a:r>
              <a:rPr dirty="0" spc="-40"/>
              <a:t> </a:t>
            </a:r>
            <a:r>
              <a:rPr dirty="0" spc="-10"/>
              <a:t>pueden </a:t>
            </a:r>
            <a:r>
              <a:rPr dirty="0" spc="-10"/>
              <a:t>	</a:t>
            </a:r>
            <a:r>
              <a:rPr dirty="0"/>
              <a:t>utilizar</a:t>
            </a:r>
            <a:r>
              <a:rPr dirty="0" spc="-95"/>
              <a:t> </a:t>
            </a:r>
            <a:r>
              <a:rPr dirty="0"/>
              <a:t>otros</a:t>
            </a:r>
            <a:r>
              <a:rPr dirty="0" spc="-95"/>
              <a:t> </a:t>
            </a:r>
            <a:r>
              <a:rPr dirty="0" spc="-10"/>
              <a:t>operadores</a:t>
            </a:r>
            <a:r>
              <a:rPr dirty="0" spc="-85"/>
              <a:t> </a:t>
            </a:r>
            <a:r>
              <a:rPr dirty="0"/>
              <a:t>de</a:t>
            </a:r>
            <a:r>
              <a:rPr dirty="0" spc="-90"/>
              <a:t> </a:t>
            </a:r>
            <a:r>
              <a:rPr dirty="0" spc="-10"/>
              <a:t>comparación</a:t>
            </a:r>
            <a:r>
              <a:rPr dirty="0" spc="-85"/>
              <a:t> </a:t>
            </a:r>
            <a:r>
              <a:rPr dirty="0" spc="-20"/>
              <a:t>para </a:t>
            </a:r>
            <a:r>
              <a:rPr dirty="0" spc="-20"/>
              <a:t>	</a:t>
            </a:r>
            <a:r>
              <a:rPr dirty="0" spc="-10"/>
              <a:t>comparar</a:t>
            </a:r>
            <a:r>
              <a:rPr dirty="0" spc="-70"/>
              <a:t> </a:t>
            </a:r>
            <a:r>
              <a:rPr dirty="0"/>
              <a:t>una</a:t>
            </a:r>
            <a:r>
              <a:rPr dirty="0" spc="-55"/>
              <a:t> </a:t>
            </a:r>
            <a:r>
              <a:rPr dirty="0" spc="-10"/>
              <a:t>expresión</a:t>
            </a:r>
            <a:r>
              <a:rPr dirty="0" spc="-60"/>
              <a:t> </a:t>
            </a:r>
            <a:r>
              <a:rPr dirty="0"/>
              <a:t>con</a:t>
            </a:r>
            <a:r>
              <a:rPr dirty="0" spc="-70"/>
              <a:t> </a:t>
            </a:r>
            <a:r>
              <a:rPr dirty="0" spc="-10"/>
              <a:t>otra:</a:t>
            </a:r>
          </a:p>
          <a:p>
            <a:pPr marL="355600">
              <a:lnSpc>
                <a:spcPct val="100000"/>
              </a:lnSpc>
              <a:spcBef>
                <a:spcPts val="75"/>
              </a:spcBef>
            </a:pPr>
            <a:r>
              <a:rPr dirty="0" sz="2400" spc="75">
                <a:solidFill>
                  <a:srgbClr val="D1350F"/>
                </a:solidFill>
              </a:rPr>
              <a:t>−</a:t>
            </a:r>
            <a:r>
              <a:rPr dirty="0" sz="2400" spc="75"/>
              <a:t>=</a:t>
            </a:r>
            <a:r>
              <a:rPr dirty="0" sz="2400" spc="-15"/>
              <a:t> </a:t>
            </a:r>
            <a:r>
              <a:rPr dirty="0" sz="2400"/>
              <a:t>igual</a:t>
            </a:r>
            <a:r>
              <a:rPr dirty="0" sz="2400" spc="-25"/>
              <a:t> que</a:t>
            </a:r>
            <a:endParaRPr sz="2400"/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 spc="75">
                <a:solidFill>
                  <a:srgbClr val="D1350F"/>
                </a:solidFill>
              </a:rPr>
              <a:t>−</a:t>
            </a:r>
            <a:r>
              <a:rPr dirty="0" sz="2400" spc="75"/>
              <a:t>&gt;</a:t>
            </a:r>
            <a:r>
              <a:rPr dirty="0" sz="2400" spc="-30"/>
              <a:t> </a:t>
            </a:r>
            <a:r>
              <a:rPr dirty="0" sz="2400" spc="-10"/>
              <a:t>mayor</a:t>
            </a:r>
            <a:r>
              <a:rPr dirty="0" sz="2400" spc="-50"/>
              <a:t> </a:t>
            </a:r>
            <a:r>
              <a:rPr dirty="0" sz="2400" spc="-25"/>
              <a:t>que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&gt;=</a:t>
            </a:r>
            <a:r>
              <a:rPr dirty="0" sz="2400" spc="10"/>
              <a:t> </a:t>
            </a:r>
            <a:r>
              <a:rPr dirty="0" sz="2400" spc="-10"/>
              <a:t>mayor </a:t>
            </a:r>
            <a:r>
              <a:rPr dirty="0" sz="2400"/>
              <a:t>o</a:t>
            </a:r>
            <a:r>
              <a:rPr dirty="0" sz="2400" spc="5"/>
              <a:t> </a:t>
            </a:r>
            <a:r>
              <a:rPr dirty="0" sz="2400"/>
              <a:t>igual</a:t>
            </a:r>
            <a:r>
              <a:rPr dirty="0" sz="2400" spc="5"/>
              <a:t> </a:t>
            </a:r>
            <a:r>
              <a:rPr dirty="0" sz="2400" spc="-25"/>
              <a:t>que</a:t>
            </a:r>
            <a:endParaRPr sz="2400"/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 spc="75">
                <a:solidFill>
                  <a:srgbClr val="D1350F"/>
                </a:solidFill>
              </a:rPr>
              <a:t>−</a:t>
            </a:r>
            <a:r>
              <a:rPr dirty="0" sz="2400" spc="75"/>
              <a:t>&lt;</a:t>
            </a:r>
            <a:r>
              <a:rPr dirty="0" sz="2400" spc="-15"/>
              <a:t> </a:t>
            </a:r>
            <a:r>
              <a:rPr dirty="0" sz="2400"/>
              <a:t>menor</a:t>
            </a:r>
            <a:r>
              <a:rPr dirty="0" sz="2400" spc="-25"/>
              <a:t> que</a:t>
            </a:r>
            <a:endParaRPr sz="2400"/>
          </a:p>
          <a:p>
            <a:pPr marL="3556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&lt;=</a:t>
            </a:r>
            <a:r>
              <a:rPr dirty="0" sz="2400" spc="20"/>
              <a:t> </a:t>
            </a:r>
            <a:r>
              <a:rPr dirty="0" sz="2400"/>
              <a:t>menor</a:t>
            </a:r>
            <a:r>
              <a:rPr dirty="0" sz="2400" spc="5"/>
              <a:t> </a:t>
            </a:r>
            <a:r>
              <a:rPr dirty="0" sz="2400"/>
              <a:t>o</a:t>
            </a:r>
            <a:r>
              <a:rPr dirty="0" sz="2400" spc="10"/>
              <a:t> </a:t>
            </a:r>
            <a:r>
              <a:rPr dirty="0" sz="2400"/>
              <a:t>igual</a:t>
            </a:r>
            <a:r>
              <a:rPr dirty="0" sz="2400" spc="5"/>
              <a:t> </a:t>
            </a:r>
            <a:r>
              <a:rPr dirty="0" sz="2400" spc="-25"/>
              <a:t>que</a:t>
            </a:r>
            <a:endParaRPr sz="2400"/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>
                <a:solidFill>
                  <a:srgbClr val="D1350F"/>
                </a:solidFill>
              </a:rPr>
              <a:t>−</a:t>
            </a:r>
            <a:r>
              <a:rPr dirty="0" sz="2400"/>
              <a:t>&lt;&gt;</a:t>
            </a:r>
            <a:r>
              <a:rPr dirty="0" sz="2400" spc="5"/>
              <a:t> </a:t>
            </a:r>
            <a:r>
              <a:rPr dirty="0" sz="2400"/>
              <a:t>no</a:t>
            </a:r>
            <a:r>
              <a:rPr dirty="0" sz="2400" spc="-5"/>
              <a:t> </a:t>
            </a:r>
            <a:r>
              <a:rPr dirty="0" sz="2400"/>
              <a:t>es</a:t>
            </a:r>
            <a:r>
              <a:rPr dirty="0" sz="2400" spc="-5"/>
              <a:t> </a:t>
            </a:r>
            <a:r>
              <a:rPr dirty="0" sz="2400"/>
              <a:t>igual</a:t>
            </a:r>
            <a:r>
              <a:rPr dirty="0" sz="2400" spc="-10"/>
              <a:t> </a:t>
            </a:r>
            <a:r>
              <a:rPr dirty="0" sz="2400"/>
              <a:t>que</a:t>
            </a:r>
            <a:r>
              <a:rPr dirty="0" sz="2400" spc="5"/>
              <a:t> </a:t>
            </a:r>
            <a:r>
              <a:rPr dirty="0" sz="2400"/>
              <a:t>(o</a:t>
            </a:r>
            <a:r>
              <a:rPr dirty="0" sz="2400" spc="-5"/>
              <a:t> </a:t>
            </a:r>
            <a:r>
              <a:rPr dirty="0" sz="2400"/>
              <a:t>!=</a:t>
            </a:r>
            <a:r>
              <a:rPr dirty="0" sz="2400" spc="5"/>
              <a:t> </a:t>
            </a:r>
            <a:r>
              <a:rPr dirty="0" sz="2400"/>
              <a:t>o</a:t>
            </a:r>
            <a:r>
              <a:rPr dirty="0" sz="2400" spc="-5"/>
              <a:t> </a:t>
            </a:r>
            <a:r>
              <a:rPr dirty="0" sz="2400" spc="-25"/>
              <a:t>^=)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Cadenas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Caracteres</a:t>
            </a:r>
            <a:r>
              <a:rPr dirty="0" spc="-55"/>
              <a:t> </a:t>
            </a:r>
            <a:r>
              <a:rPr dirty="0"/>
              <a:t>y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Fecha</a:t>
            </a:r>
            <a:r>
              <a:rPr dirty="0" spc="-55"/>
              <a:t> </a:t>
            </a:r>
            <a:r>
              <a:rPr dirty="0"/>
              <a:t>en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 spc="-10"/>
              <a:t>Cláusula WHERE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0539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5811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fechas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y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cadenas</a:t>
            </a:r>
            <a:r>
              <a:rPr dirty="0" u="heavy" sz="2800" spc="-2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caracteres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cláusula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WHERE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deben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incluir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entre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comillas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simples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('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')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embargo,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entre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comillas</a:t>
            </a:r>
            <a:r>
              <a:rPr dirty="0" sz="2800" spc="-10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simples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Cadenas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Caracteres</a:t>
            </a:r>
            <a:r>
              <a:rPr dirty="0" spc="-55"/>
              <a:t> </a:t>
            </a:r>
            <a:r>
              <a:rPr dirty="0"/>
              <a:t>y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Fecha</a:t>
            </a:r>
            <a:r>
              <a:rPr dirty="0" spc="-55"/>
              <a:t> </a:t>
            </a:r>
            <a:r>
              <a:rPr dirty="0"/>
              <a:t>en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 spc="-10"/>
              <a:t>Cláusula WHERE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742555" cy="170624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14984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Observe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datos 	Employees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9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contiene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cadena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incluye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entre</a:t>
            </a:r>
            <a:r>
              <a:rPr dirty="0" sz="2800" spc="-1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comillas</a:t>
            </a:r>
            <a:r>
              <a:rPr dirty="0" sz="2800" spc="-10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simples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5384" y="3546347"/>
            <a:ext cx="8345805" cy="8445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04139">
              <a:lnSpc>
                <a:spcPts val="202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9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first_name,</a:t>
            </a:r>
            <a:r>
              <a:rPr dirty="0" sz="1800" spc="-8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endParaRPr sz="1800">
              <a:latin typeface="Courier New"/>
              <a:cs typeface="Courier New"/>
            </a:endParaRPr>
          </a:p>
          <a:p>
            <a:pPr marL="10413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04139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'Taylor';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dirty="0"/>
              <a:t>Cadenas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 spc="-10"/>
              <a:t>Caracteres</a:t>
            </a:r>
            <a:r>
              <a:rPr dirty="0" spc="-55"/>
              <a:t> </a:t>
            </a:r>
            <a:r>
              <a:rPr dirty="0"/>
              <a:t>y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Fecha</a:t>
            </a:r>
            <a:r>
              <a:rPr dirty="0" spc="-55"/>
              <a:t> </a:t>
            </a:r>
            <a:r>
              <a:rPr dirty="0"/>
              <a:t>en</a:t>
            </a:r>
            <a:r>
              <a:rPr dirty="0" spc="-35"/>
              <a:t> </a:t>
            </a:r>
            <a:r>
              <a:rPr dirty="0"/>
              <a:t>la</a:t>
            </a:r>
            <a:r>
              <a:rPr dirty="0" spc="-40"/>
              <a:t> </a:t>
            </a:r>
            <a:r>
              <a:rPr dirty="0" spc="-10"/>
              <a:t>Cláusula WHERE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672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Qué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cree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pasará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WHERE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escribiera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así: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2771777"/>
            <a:ext cx="7750175" cy="208915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37147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3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Todas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las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búsquedas</a:t>
            </a:r>
            <a:r>
              <a:rPr dirty="0" u="heavy" sz="2800" spc="-2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de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caracteres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son</a:t>
            </a:r>
            <a:r>
              <a:rPr dirty="0" u="heavy" sz="2800" spc="-5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sensibles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5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mayúsculas/minúsculas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78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Debido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tabla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Employees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almacena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los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apellidos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mayúsculas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adecuado,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se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devolverán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este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2330195"/>
            <a:ext cx="8345805" cy="40259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619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28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'jones';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12" y="796799"/>
            <a:ext cx="790194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Operadores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65"/>
              <a:t> </a:t>
            </a:r>
            <a:r>
              <a:rPr dirty="0" spc="-10"/>
              <a:t>Comparación</a:t>
            </a:r>
            <a:r>
              <a:rPr dirty="0" spc="-50"/>
              <a:t> </a:t>
            </a:r>
            <a:r>
              <a:rPr dirty="0"/>
              <a:t>en</a:t>
            </a:r>
            <a:r>
              <a:rPr dirty="0" spc="-50"/>
              <a:t> </a:t>
            </a:r>
            <a:r>
              <a:rPr dirty="0"/>
              <a:t>la</a:t>
            </a:r>
            <a:r>
              <a:rPr dirty="0" spc="-55"/>
              <a:t> </a:t>
            </a:r>
            <a:r>
              <a:rPr dirty="0"/>
              <a:t>Cláusula</a:t>
            </a:r>
            <a:r>
              <a:rPr dirty="0" spc="-40"/>
              <a:t> </a:t>
            </a:r>
            <a:r>
              <a:rPr dirty="0" spc="-10"/>
              <a:t>WHERE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2-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 spc="-10"/>
              <a:t>Limitación</a:t>
            </a:r>
            <a:r>
              <a:rPr dirty="0" spc="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/>
              <a:t>Filas </a:t>
            </a:r>
            <a:r>
              <a:rPr dirty="0" spc="-10"/>
              <a:t>Seleccionadas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8750490" y="6567768"/>
            <a:ext cx="1536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 sz="1000" spc="-25" b="1">
                <a:solidFill>
                  <a:srgbClr val="4E3629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875905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operadores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comparación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pueden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todas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formas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cláusula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WHERE: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742565"/>
            <a:ext cx="8122920" cy="1706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ts val="3195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siguiente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ejemplo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base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datos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Employees,</a:t>
            </a:r>
            <a:endParaRPr sz="2800">
              <a:latin typeface="Calibri"/>
              <a:cs typeface="Calibri"/>
            </a:endParaRPr>
          </a:p>
          <a:p>
            <a:pPr marL="184785">
              <a:lnSpc>
                <a:spcPts val="3195"/>
              </a:lnSpc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¿qué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filas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seleccionarán?</a:t>
            </a:r>
            <a:endParaRPr sz="2800">
              <a:latin typeface="Calibri"/>
              <a:cs typeface="Calibri"/>
            </a:endParaRPr>
          </a:p>
          <a:p>
            <a:pPr marL="182880" marR="1084580" indent="-170815">
              <a:lnSpc>
                <a:spcPts val="3030"/>
              </a:lnSpc>
              <a:spcBef>
                <a:spcPts val="8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¿Se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incluirán</a:t>
            </a:r>
            <a:r>
              <a:rPr dirty="0" sz="2800" spc="-1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los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salarios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3000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juego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resultados?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6051" y="2307335"/>
            <a:ext cx="8347075" cy="2990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203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hire_date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&lt;</a:t>
            </a:r>
            <a:r>
              <a:rPr dirty="0" sz="1800" spc="-2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'01-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Jan-2000'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6051" y="3201923"/>
            <a:ext cx="8347075" cy="2990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05410">
              <a:lnSpc>
                <a:spcPts val="2035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job_id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=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'IT_PROG'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99288" y="2726435"/>
            <a:ext cx="8345805" cy="29908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04775">
              <a:lnSpc>
                <a:spcPts val="2039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&gt;=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6000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617720" y="5311140"/>
            <a:ext cx="4121150" cy="844550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104775">
              <a:lnSpc>
                <a:spcPts val="203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last_name,</a:t>
            </a:r>
            <a:r>
              <a:rPr dirty="0" sz="1800" spc="-7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endParaRPr sz="1800">
              <a:latin typeface="Courier New"/>
              <a:cs typeface="Courier New"/>
            </a:endParaRPr>
          </a:p>
          <a:p>
            <a:pPr marL="1047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employees</a:t>
            </a:r>
            <a:endParaRPr sz="1800">
              <a:latin typeface="Courier New"/>
              <a:cs typeface="Courier New"/>
            </a:endParaRPr>
          </a:p>
          <a:p>
            <a:pPr marL="104775"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WHERE</a:t>
            </a:r>
            <a:r>
              <a:rPr dirty="0" sz="1800" spc="-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salary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&lt;=</a:t>
            </a:r>
            <a:r>
              <a:rPr dirty="0" sz="1800" spc="-4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3000;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2025-06-01T17:59:48Z</dcterms:created>
  <dcterms:modified xsi:type="dcterms:W3CDTF">2025-06-01T17:59:48Z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2025-03-02T00:00:00Z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15.2 (Build 24C101) Quartz PDFContext</vt:lpwstr>
  </property>
</Properties>
</file>