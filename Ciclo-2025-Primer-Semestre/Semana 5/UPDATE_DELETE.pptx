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/Relationships>
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/Relationships>
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/Relationships>
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/Relationships>
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/Relationships>
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/Relationships>
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2020-08-14 19:02:49</a:t>
            </a:r>
          </a:p>
          <a:p>
            <a:r>
              <a:t>--------------------------------------------</a:t>
            </a:r>
          </a:p>
          <a:p>
            <a:r>
              <a:t>Utilice solo tablas copy_tablename en todas las transacciones de DML.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2020-08-14 19:02:50</a:t>
            </a:r>
          </a:p>
          <a:p>
            <a:r>
              <a:t>--------------------------------------------</a:t>
            </a:r>
          </a:p>
          <a:p>
            <a:r>
              <a:t>Al actualizar varias columnas, las columnas deben estar separadas por una coma.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12-</a:t>
            </a:r>
            <a:r>
              <a:rPr dirty="0" spc="-50"/>
              <a:t>2</a:t>
            </a:r>
          </a:p>
          <a:p>
            <a:pPr marL="12700" marR="5080">
              <a:lnSpc>
                <a:spcPts val="919"/>
              </a:lnSpc>
              <a:spcBef>
                <a:spcPts val="60"/>
              </a:spcBef>
            </a:pPr>
            <a:r>
              <a:rPr dirty="0" spc="-10"/>
              <a:t>Actualización</a:t>
            </a:r>
            <a:r>
              <a:rPr dirty="0" spc="10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/>
              <a:t>Valores de</a:t>
            </a:r>
            <a:r>
              <a:rPr dirty="0" spc="-25"/>
              <a:t> </a:t>
            </a:r>
            <a:r>
              <a:rPr dirty="0"/>
              <a:t>Columna</a:t>
            </a:r>
            <a:r>
              <a:rPr dirty="0" spc="-15"/>
              <a:t> </a:t>
            </a:r>
            <a:r>
              <a:rPr dirty="0" spc="-50"/>
              <a:t>y</a:t>
            </a:r>
            <a:r>
              <a:rPr dirty="0" spc="500"/>
              <a:t> </a:t>
            </a:r>
            <a:r>
              <a:rPr dirty="0"/>
              <a:t>Supresión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30"/>
              <a:t> </a:t>
            </a:r>
            <a:r>
              <a:rPr dirty="0" spc="-10"/>
              <a:t>Filas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12-</a:t>
            </a:r>
            <a:r>
              <a:rPr dirty="0" spc="-50"/>
              <a:t>2</a:t>
            </a:r>
          </a:p>
          <a:p>
            <a:pPr marL="12700" marR="5080">
              <a:lnSpc>
                <a:spcPts val="919"/>
              </a:lnSpc>
              <a:spcBef>
                <a:spcPts val="60"/>
              </a:spcBef>
            </a:pPr>
            <a:r>
              <a:rPr dirty="0" spc="-10"/>
              <a:t>Actualización</a:t>
            </a:r>
            <a:r>
              <a:rPr dirty="0" spc="10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/>
              <a:t>Valores de</a:t>
            </a:r>
            <a:r>
              <a:rPr dirty="0" spc="-25"/>
              <a:t> </a:t>
            </a:r>
            <a:r>
              <a:rPr dirty="0"/>
              <a:t>Columna</a:t>
            </a:r>
            <a:r>
              <a:rPr dirty="0" spc="-15"/>
              <a:t> </a:t>
            </a:r>
            <a:r>
              <a:rPr dirty="0" spc="-50"/>
              <a:t>y</a:t>
            </a:r>
            <a:r>
              <a:rPr dirty="0" spc="500"/>
              <a:t> </a:t>
            </a:r>
            <a:r>
              <a:rPr dirty="0"/>
              <a:t>Supresión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30"/>
              <a:t> </a:t>
            </a:r>
            <a:r>
              <a:rPr dirty="0" spc="-10"/>
              <a:t>Filas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12-</a:t>
            </a:r>
            <a:r>
              <a:rPr dirty="0" spc="-50"/>
              <a:t>2</a:t>
            </a:r>
          </a:p>
          <a:p>
            <a:pPr marL="12700" marR="5080">
              <a:lnSpc>
                <a:spcPts val="919"/>
              </a:lnSpc>
              <a:spcBef>
                <a:spcPts val="60"/>
              </a:spcBef>
            </a:pPr>
            <a:r>
              <a:rPr dirty="0" spc="-10"/>
              <a:t>Actualización</a:t>
            </a:r>
            <a:r>
              <a:rPr dirty="0" spc="10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/>
              <a:t>Valores de</a:t>
            </a:r>
            <a:r>
              <a:rPr dirty="0" spc="-25"/>
              <a:t> </a:t>
            </a:r>
            <a:r>
              <a:rPr dirty="0"/>
              <a:t>Columna</a:t>
            </a:r>
            <a:r>
              <a:rPr dirty="0" spc="-15"/>
              <a:t> </a:t>
            </a:r>
            <a:r>
              <a:rPr dirty="0" spc="-50"/>
              <a:t>y</a:t>
            </a:r>
            <a:r>
              <a:rPr dirty="0" spc="500"/>
              <a:t> </a:t>
            </a:r>
            <a:r>
              <a:rPr dirty="0"/>
              <a:t>Supresión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30"/>
              <a:t> </a:t>
            </a:r>
            <a:r>
              <a:rPr dirty="0" spc="-10"/>
              <a:t>Filas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12-</a:t>
            </a:r>
            <a:r>
              <a:rPr dirty="0" spc="-50"/>
              <a:t>2</a:t>
            </a:r>
          </a:p>
          <a:p>
            <a:pPr marL="12700" marR="5080">
              <a:lnSpc>
                <a:spcPts val="919"/>
              </a:lnSpc>
              <a:spcBef>
                <a:spcPts val="60"/>
              </a:spcBef>
            </a:pPr>
            <a:r>
              <a:rPr dirty="0" spc="-10"/>
              <a:t>Actualización</a:t>
            </a:r>
            <a:r>
              <a:rPr dirty="0" spc="10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/>
              <a:t>Valores de</a:t>
            </a:r>
            <a:r>
              <a:rPr dirty="0" spc="-25"/>
              <a:t> </a:t>
            </a:r>
            <a:r>
              <a:rPr dirty="0"/>
              <a:t>Columna</a:t>
            </a:r>
            <a:r>
              <a:rPr dirty="0" spc="-15"/>
              <a:t> </a:t>
            </a:r>
            <a:r>
              <a:rPr dirty="0" spc="-50"/>
              <a:t>y</a:t>
            </a:r>
            <a:r>
              <a:rPr dirty="0" spc="500"/>
              <a:t> </a:t>
            </a:r>
            <a:r>
              <a:rPr dirty="0"/>
              <a:t>Supresión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30"/>
              <a:t> </a:t>
            </a:r>
            <a:r>
              <a:rPr dirty="0" spc="-10"/>
              <a:t>Filas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12-</a:t>
            </a:r>
            <a:r>
              <a:rPr dirty="0" spc="-50"/>
              <a:t>2</a:t>
            </a:r>
          </a:p>
          <a:p>
            <a:pPr marL="12700" marR="5080">
              <a:lnSpc>
                <a:spcPts val="919"/>
              </a:lnSpc>
              <a:spcBef>
                <a:spcPts val="60"/>
              </a:spcBef>
            </a:pPr>
            <a:r>
              <a:rPr dirty="0" spc="-10"/>
              <a:t>Actualización</a:t>
            </a:r>
            <a:r>
              <a:rPr dirty="0" spc="10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/>
              <a:t>Valores de</a:t>
            </a:r>
            <a:r>
              <a:rPr dirty="0" spc="-25"/>
              <a:t> </a:t>
            </a:r>
            <a:r>
              <a:rPr dirty="0"/>
              <a:t>Columna</a:t>
            </a:r>
            <a:r>
              <a:rPr dirty="0" spc="-15"/>
              <a:t> </a:t>
            </a:r>
            <a:r>
              <a:rPr dirty="0" spc="-50"/>
              <a:t>y</a:t>
            </a:r>
            <a:r>
              <a:rPr dirty="0" spc="500"/>
              <a:t> </a:t>
            </a:r>
            <a:r>
              <a:rPr dirty="0"/>
              <a:t>Supresión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30"/>
              <a:t> </a:t>
            </a:r>
            <a:r>
              <a:rPr dirty="0" spc="-10"/>
              <a:t>Filas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5384" y="6178295"/>
            <a:ext cx="1258824" cy="4206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2112" y="748031"/>
            <a:ext cx="1380489" cy="528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7202" y="1355371"/>
            <a:ext cx="8189595" cy="18681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172119" y="6589648"/>
            <a:ext cx="3222625" cy="133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74191" y="6449092"/>
            <a:ext cx="1724025" cy="3670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12-</a:t>
            </a:r>
            <a:r>
              <a:rPr dirty="0" spc="-50"/>
              <a:t>2</a:t>
            </a:r>
          </a:p>
          <a:p>
            <a:pPr marL="12700" marR="5080">
              <a:lnSpc>
                <a:spcPts val="919"/>
              </a:lnSpc>
              <a:spcBef>
                <a:spcPts val="60"/>
              </a:spcBef>
            </a:pPr>
            <a:r>
              <a:rPr dirty="0" spc="-10"/>
              <a:t>Actualización</a:t>
            </a:r>
            <a:r>
              <a:rPr dirty="0" spc="10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/>
              <a:t>Valores de</a:t>
            </a:r>
            <a:r>
              <a:rPr dirty="0" spc="-25"/>
              <a:t> </a:t>
            </a:r>
            <a:r>
              <a:rPr dirty="0"/>
              <a:t>Columna</a:t>
            </a:r>
            <a:r>
              <a:rPr dirty="0" spc="-15"/>
              <a:t> </a:t>
            </a:r>
            <a:r>
              <a:rPr dirty="0" spc="-50"/>
              <a:t>y</a:t>
            </a:r>
            <a:r>
              <a:rPr dirty="0" spc="500"/>
              <a:t> </a:t>
            </a:r>
            <a:r>
              <a:rPr dirty="0"/>
              <a:t>Supresión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30"/>
              <a:t> </a:t>
            </a:r>
            <a:r>
              <a:rPr dirty="0" spc="-10"/>
              <a:t>Filas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25090" y="6567768"/>
            <a:ext cx="21717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.xml"/><Relationship Id="rId6" Type="http://schemas.openxmlformats.org/officeDocument/2006/relationships/slide" Target="slide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slide" Target="slide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slide" Target="slide4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slide" Target="slide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slide" Target="slide6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Relationship Id="rId4" Type="http://schemas.openxmlformats.org/officeDocument/2006/relationships/slide" Target="slide7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slide" Target="slide8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60831" y="702563"/>
              <a:ext cx="8022590" cy="5453380"/>
            </a:xfrm>
            <a:custGeom>
              <a:avLst/>
              <a:gdLst/>
              <a:ahLst/>
              <a:cxnLst/>
              <a:rect l="l" t="t" r="r" b="b"/>
              <a:pathLst>
                <a:path w="8022590" h="545338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E0E2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0787" y="5570219"/>
              <a:ext cx="1258824" cy="420623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5057819" y="6562597"/>
            <a:ext cx="32226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Copyright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©</a:t>
            </a:r>
            <a:r>
              <a:rPr dirty="0" sz="850" spc="-4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2020,</a:t>
            </a:r>
            <a:r>
              <a:rPr dirty="0" sz="850" spc="-4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Oracle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y/o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sus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filiales.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Todos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los</a:t>
            </a:r>
            <a:r>
              <a:rPr dirty="0" sz="850" spc="-2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derechos</a:t>
            </a:r>
            <a:r>
              <a:rPr dirty="0" sz="850" spc="-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reservados.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58315" y="862895"/>
            <a:ext cx="7047865" cy="1342390"/>
          </a:xfrm>
          <a:prstGeom prst="rect"/>
        </p:spPr>
        <p:txBody>
          <a:bodyPr wrap="square" lIns="0" tIns="153670" rIns="0" bIns="0" rtlCol="0" vert="horz">
            <a:spAutoFit/>
          </a:bodyPr>
          <a:lstStyle/>
          <a:p>
            <a:pPr marL="12700" marR="5080">
              <a:lnSpc>
                <a:spcPts val="4610"/>
              </a:lnSpc>
              <a:spcBef>
                <a:spcPts val="1210"/>
              </a:spcBef>
            </a:pPr>
            <a:r>
              <a:rPr dirty="0" sz="4800"/>
              <a:t>Database</a:t>
            </a:r>
            <a:r>
              <a:rPr dirty="0" sz="4800" spc="-190"/>
              <a:t> </a:t>
            </a:r>
            <a:r>
              <a:rPr dirty="0" sz="4800" spc="-20"/>
              <a:t>Programming</a:t>
            </a:r>
            <a:r>
              <a:rPr dirty="0" sz="4800" spc="-185"/>
              <a:t> </a:t>
            </a:r>
            <a:r>
              <a:rPr dirty="0" sz="4800" spc="-20"/>
              <a:t>with </a:t>
            </a:r>
            <a:r>
              <a:rPr dirty="0" sz="4800" spc="-25"/>
              <a:t>SQL</a:t>
            </a:r>
            <a:endParaRPr sz="4800"/>
          </a:p>
        </p:txBody>
      </p:sp>
      <p:sp>
        <p:nvSpPr>
          <p:cNvPr id="8" name="object 8" descr=""/>
          <p:cNvSpPr txBox="1"/>
          <p:nvPr/>
        </p:nvSpPr>
        <p:spPr>
          <a:xfrm>
            <a:off x="962879" y="2400950"/>
            <a:ext cx="7221220" cy="888365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12-</a:t>
            </a:r>
            <a:r>
              <a:rPr dirty="0" sz="2400" spc="-50" b="1">
                <a:solidFill>
                  <a:srgbClr val="4E3629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Actualización</a:t>
            </a:r>
            <a:r>
              <a:rPr dirty="0" sz="2400" spc="-7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3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4E3629"/>
                </a:solidFill>
                <a:latin typeface="Calibri"/>
                <a:cs typeface="Calibri"/>
              </a:rPr>
              <a:t>Valores</a:t>
            </a:r>
            <a:r>
              <a:rPr dirty="0" sz="2400" spc="-5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4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400" spc="-4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400" spc="-5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Supresión</a:t>
            </a:r>
            <a:r>
              <a:rPr dirty="0" sz="2400" spc="-5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4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98747" y="3485388"/>
            <a:ext cx="5058156" cy="29657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112" y="748031"/>
            <a:ext cx="1492885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UPDATE: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12-</a:t>
            </a:r>
            <a:r>
              <a:rPr dirty="0" spc="-50"/>
              <a:t>2</a:t>
            </a:r>
          </a:p>
          <a:p>
            <a:pPr marL="12700" marR="5080">
              <a:lnSpc>
                <a:spcPts val="919"/>
              </a:lnSpc>
              <a:spcBef>
                <a:spcPts val="60"/>
              </a:spcBef>
            </a:pPr>
            <a:r>
              <a:rPr dirty="0" spc="-10"/>
              <a:t>Actualización</a:t>
            </a:r>
            <a:r>
              <a:rPr dirty="0" spc="10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/>
              <a:t>Valores de</a:t>
            </a:r>
            <a:r>
              <a:rPr dirty="0" spc="-25"/>
              <a:t> </a:t>
            </a:r>
            <a:r>
              <a:rPr dirty="0"/>
              <a:t>Columna</a:t>
            </a:r>
            <a:r>
              <a:rPr dirty="0" spc="-15"/>
              <a:t> </a:t>
            </a:r>
            <a:r>
              <a:rPr dirty="0" spc="-50"/>
              <a:t>y</a:t>
            </a:r>
            <a:r>
              <a:rPr dirty="0" spc="500"/>
              <a:t> </a:t>
            </a:r>
            <a:r>
              <a:rPr dirty="0"/>
              <a:t>Supresión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30"/>
              <a:t> </a:t>
            </a:r>
            <a:r>
              <a:rPr dirty="0" spc="-10"/>
              <a:t>Filas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6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946390" cy="43700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59385" marR="576580" indent="-147320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5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10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sentencia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UPDATE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utiliza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para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modificar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filas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existentes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tabla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1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UPDATE</a:t>
            </a:r>
            <a:r>
              <a:rPr dirty="0" sz="2800" spc="-1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necesita</a:t>
            </a:r>
            <a:r>
              <a:rPr dirty="0" sz="2800" spc="-1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cuatro</a:t>
            </a:r>
            <a:r>
              <a:rPr dirty="0" sz="2800" spc="-1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valores:</a:t>
            </a:r>
            <a:endParaRPr sz="2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40"/>
              </a:spcBef>
            </a:pPr>
            <a:r>
              <a:rPr dirty="0" sz="2400" spc="5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 spc="5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nombre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"/>
              </a:spcBef>
            </a:pPr>
            <a:r>
              <a:rPr dirty="0" sz="2400" spc="5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 spc="5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nombre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4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columnas</a:t>
            </a:r>
            <a:r>
              <a:rPr dirty="0" sz="24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cuyos</a:t>
            </a:r>
            <a:r>
              <a:rPr dirty="0" sz="24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valores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van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4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modificar</a:t>
            </a:r>
            <a:endParaRPr sz="2400">
              <a:latin typeface="Calibri"/>
              <a:cs typeface="Calibri"/>
            </a:endParaRPr>
          </a:p>
          <a:p>
            <a:pPr marL="530860" marR="102235" indent="-175260">
              <a:lnSpc>
                <a:spcPts val="2590"/>
              </a:lnSpc>
              <a:spcBef>
                <a:spcPts val="434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nuevo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valor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cada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columnas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están modificando</a:t>
            </a:r>
            <a:endParaRPr sz="2400">
              <a:latin typeface="Calibri"/>
              <a:cs typeface="Calibri"/>
            </a:endParaRPr>
          </a:p>
          <a:p>
            <a:pPr marL="530860" marR="5080" indent="-175260">
              <a:lnSpc>
                <a:spcPts val="2590"/>
              </a:lnSpc>
              <a:spcBef>
                <a:spcPts val="40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condición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identifique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van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modificar</a:t>
            </a:r>
            <a:endParaRPr sz="2400">
              <a:latin typeface="Calibri"/>
              <a:cs typeface="Calibri"/>
            </a:endParaRPr>
          </a:p>
          <a:p>
            <a:pPr marL="182880" marR="1198245" indent="-170815">
              <a:lnSpc>
                <a:spcPts val="3030"/>
              </a:lnSpc>
              <a:spcBef>
                <a:spcPts val="7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nuevo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valor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el 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resultado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subconsulta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fila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0"/>
              <a:t>UPDATE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39430" cy="209042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28194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ejemplo,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UPDATE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para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cambiar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teléfono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empleado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empleados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Tenga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cuenta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copy_employees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utiliza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transacción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756875" y="4844844"/>
          <a:ext cx="7489190" cy="661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9755"/>
                <a:gridCol w="1849755"/>
                <a:gridCol w="1703069"/>
                <a:gridCol w="1995804"/>
              </a:tblGrid>
              <a:tr h="33083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EMPLOYEE_ID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FIRST_NAME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PHONE_NUMBER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600" spc="-25">
                          <a:solidFill>
                            <a:srgbClr val="D1350F"/>
                          </a:solidFill>
                          <a:latin typeface="Calibri"/>
                          <a:cs typeface="Calibri"/>
                        </a:rPr>
                        <a:t>303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Angelina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Wright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600" spc="-10">
                          <a:solidFill>
                            <a:srgbClr val="D1350F"/>
                          </a:solidFill>
                          <a:latin typeface="Calibri"/>
                          <a:cs typeface="Calibri"/>
                        </a:rPr>
                        <a:t>123456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/>
          <p:nvPr/>
        </p:nvSpPr>
        <p:spPr>
          <a:xfrm>
            <a:off x="393191" y="3634740"/>
            <a:ext cx="4064635" cy="810895"/>
          </a:xfrm>
          <a:custGeom>
            <a:avLst/>
            <a:gdLst/>
            <a:ahLst/>
            <a:cxnLst/>
            <a:rect l="l" t="t" r="r" b="b"/>
            <a:pathLst>
              <a:path w="4064635" h="810895">
                <a:moveTo>
                  <a:pt x="4064508" y="0"/>
                </a:moveTo>
                <a:lnTo>
                  <a:pt x="0" y="0"/>
                </a:lnTo>
                <a:lnTo>
                  <a:pt x="0" y="810768"/>
                </a:lnTo>
                <a:lnTo>
                  <a:pt x="4064508" y="810768"/>
                </a:lnTo>
                <a:lnTo>
                  <a:pt x="4064508" y="0"/>
                </a:lnTo>
                <a:close/>
              </a:path>
            </a:pathLst>
          </a:custGeom>
          <a:solidFill>
            <a:srgbClr val="9DBEC4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380493" y="3588570"/>
            <a:ext cx="371221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UPDATE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copy_employees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SET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phone_number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'</a:t>
            </a:r>
            <a:r>
              <a:rPr dirty="0" sz="1800" spc="-10" b="1">
                <a:solidFill>
                  <a:srgbClr val="D1350F"/>
                </a:solidFill>
                <a:latin typeface="Courier New"/>
                <a:cs typeface="Courier New"/>
              </a:rPr>
              <a:t>123456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'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80264" y="4137210"/>
            <a:ext cx="3302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employee_id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D1350F"/>
                </a:solidFill>
                <a:latin typeface="Courier New"/>
                <a:cs typeface="Courier New"/>
              </a:rPr>
              <a:t>303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3431692" y="3512820"/>
            <a:ext cx="5137785" cy="757555"/>
          </a:xfrm>
          <a:custGeom>
            <a:avLst/>
            <a:gdLst/>
            <a:ahLst/>
            <a:cxnLst/>
            <a:rect l="l" t="t" r="r" b="b"/>
            <a:pathLst>
              <a:path w="5137784" h="757554">
                <a:moveTo>
                  <a:pt x="5137759" y="0"/>
                </a:moveTo>
                <a:lnTo>
                  <a:pt x="1666087" y="0"/>
                </a:lnTo>
                <a:lnTo>
                  <a:pt x="1666087" y="126237"/>
                </a:lnTo>
                <a:lnTo>
                  <a:pt x="0" y="284606"/>
                </a:lnTo>
                <a:lnTo>
                  <a:pt x="1666087" y="315594"/>
                </a:lnTo>
                <a:lnTo>
                  <a:pt x="1666087" y="757427"/>
                </a:lnTo>
                <a:lnTo>
                  <a:pt x="5137759" y="757427"/>
                </a:lnTo>
                <a:lnTo>
                  <a:pt x="5137759" y="0"/>
                </a:lnTo>
                <a:close/>
              </a:path>
            </a:pathLst>
          </a:custGeom>
          <a:solidFill>
            <a:srgbClr val="D135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5176841" y="3589018"/>
            <a:ext cx="3312795" cy="54673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2700" marR="5080" indent="149225">
              <a:lnSpc>
                <a:spcPts val="1939"/>
              </a:lnSpc>
              <a:spcBef>
                <a:spcPts val="345"/>
              </a:spcBef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Se</a:t>
            </a:r>
            <a:r>
              <a:rPr dirty="0" sz="18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recomienda</a:t>
            </a:r>
            <a:r>
              <a:rPr dirty="0" sz="18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que</a:t>
            </a:r>
            <a:r>
              <a:rPr dirty="0" sz="18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dirty="0" sz="18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sentencia </a:t>
            </a:r>
            <a:r>
              <a:rPr dirty="0" sz="1800" spc="-25" b="1">
                <a:solidFill>
                  <a:srgbClr val="FFFFFF"/>
                </a:solidFill>
                <a:latin typeface="Calibri"/>
                <a:cs typeface="Calibri"/>
              </a:rPr>
              <a:t>UPDATE</a:t>
            </a:r>
            <a:r>
              <a:rPr dirty="0" sz="18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aparezca</a:t>
            </a:r>
            <a:r>
              <a:rPr dirty="0" sz="18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sola</a:t>
            </a:r>
            <a:r>
              <a:rPr dirty="0" sz="18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dirty="0" sz="18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una</a:t>
            </a:r>
            <a:r>
              <a:rPr dirty="0" sz="18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línea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12-</a:t>
            </a:r>
            <a:r>
              <a:rPr dirty="0" spc="-50"/>
              <a:t>2</a:t>
            </a:r>
          </a:p>
          <a:p>
            <a:pPr marL="12700" marR="5080">
              <a:lnSpc>
                <a:spcPts val="919"/>
              </a:lnSpc>
              <a:spcBef>
                <a:spcPts val="60"/>
              </a:spcBef>
            </a:pPr>
            <a:r>
              <a:rPr dirty="0" spc="-10"/>
              <a:t>Actualización</a:t>
            </a:r>
            <a:r>
              <a:rPr dirty="0" spc="10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/>
              <a:t>Valores de</a:t>
            </a:r>
            <a:r>
              <a:rPr dirty="0" spc="-25"/>
              <a:t> </a:t>
            </a:r>
            <a:r>
              <a:rPr dirty="0"/>
              <a:t>Columna</a:t>
            </a:r>
            <a:r>
              <a:rPr dirty="0" spc="-15"/>
              <a:t> </a:t>
            </a:r>
            <a:r>
              <a:rPr dirty="0" spc="-50"/>
              <a:t>y</a:t>
            </a:r>
            <a:r>
              <a:rPr dirty="0" spc="500"/>
              <a:t> </a:t>
            </a:r>
            <a:r>
              <a:rPr dirty="0"/>
              <a:t>Supresión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30"/>
              <a:t> </a:t>
            </a:r>
            <a:r>
              <a:rPr dirty="0" spc="-10"/>
              <a:t>Filas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7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0"/>
              <a:t>UPDATE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12-</a:t>
            </a:r>
            <a:r>
              <a:rPr dirty="0" spc="-50"/>
              <a:t>2</a:t>
            </a:r>
          </a:p>
          <a:p>
            <a:pPr marL="12700" marR="5080">
              <a:lnSpc>
                <a:spcPts val="919"/>
              </a:lnSpc>
              <a:spcBef>
                <a:spcPts val="60"/>
              </a:spcBef>
            </a:pPr>
            <a:r>
              <a:rPr dirty="0" spc="-10"/>
              <a:t>Actualización</a:t>
            </a:r>
            <a:r>
              <a:rPr dirty="0" spc="10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/>
              <a:t>Valores de</a:t>
            </a:r>
            <a:r>
              <a:rPr dirty="0" spc="-25"/>
              <a:t> </a:t>
            </a:r>
            <a:r>
              <a:rPr dirty="0"/>
              <a:t>Columna</a:t>
            </a:r>
            <a:r>
              <a:rPr dirty="0" spc="-15"/>
              <a:t> </a:t>
            </a:r>
            <a:r>
              <a:rPr dirty="0" spc="-50"/>
              <a:t>y</a:t>
            </a:r>
            <a:r>
              <a:rPr dirty="0" spc="500"/>
              <a:t> </a:t>
            </a:r>
            <a:r>
              <a:rPr dirty="0"/>
              <a:t>Supresión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30"/>
              <a:t> </a:t>
            </a:r>
            <a:r>
              <a:rPr dirty="0" spc="-10"/>
              <a:t>Filas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8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974965" cy="170624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22987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Podemos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cambiar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varias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columnas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y/o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varias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en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UPDATE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ejemplo,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cambia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teléfono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el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apellido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dos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empleados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741686" y="4579244"/>
          <a:ext cx="7683500" cy="1131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98650"/>
                <a:gridCol w="1898650"/>
                <a:gridCol w="1898650"/>
                <a:gridCol w="1898650"/>
              </a:tblGrid>
              <a:tr h="37719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EMPLOYEE_ID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FIRST_NAME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PHONE_NUMBER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303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Angelina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600" spc="-10">
                          <a:solidFill>
                            <a:srgbClr val="D1350F"/>
                          </a:solidFill>
                          <a:latin typeface="Calibri"/>
                          <a:cs typeface="Calibri"/>
                        </a:rPr>
                        <a:t>Jones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600" spc="-10">
                          <a:solidFill>
                            <a:srgbClr val="D1350F"/>
                          </a:solidFill>
                          <a:latin typeface="Calibri"/>
                          <a:cs typeface="Calibri"/>
                        </a:rPr>
                        <a:t>654321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304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Test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600" spc="-10">
                          <a:solidFill>
                            <a:srgbClr val="D1350F"/>
                          </a:solidFill>
                          <a:latin typeface="Calibri"/>
                          <a:cs typeface="Calibri"/>
                        </a:rPr>
                        <a:t>Jones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600" spc="-10">
                          <a:solidFill>
                            <a:srgbClr val="D1350F"/>
                          </a:solidFill>
                          <a:latin typeface="Calibri"/>
                          <a:cs typeface="Calibri"/>
                        </a:rPr>
                        <a:t>654321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405384" y="3314700"/>
            <a:ext cx="8345805" cy="81089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9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UPDATE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copy_employees</a:t>
            </a:r>
            <a:endParaRPr sz="1800">
              <a:latin typeface="Courier New"/>
              <a:cs typeface="Courier New"/>
            </a:endParaRPr>
          </a:p>
          <a:p>
            <a:pPr marR="1786889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SET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phone_number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'</a:t>
            </a: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654321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',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'</a:t>
            </a:r>
            <a:r>
              <a:rPr dirty="0" sz="1800" spc="-10" b="1">
                <a:solidFill>
                  <a:srgbClr val="D1350F"/>
                </a:solidFill>
                <a:latin typeface="Courier New"/>
                <a:cs typeface="Courier New"/>
              </a:rPr>
              <a:t>Jones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'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employee_id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&gt;=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303;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0"/>
              <a:t>UPDATE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12-</a:t>
            </a:r>
            <a:r>
              <a:rPr dirty="0" spc="-50"/>
              <a:t>2</a:t>
            </a:r>
          </a:p>
          <a:p>
            <a:pPr marL="12700" marR="5080">
              <a:lnSpc>
                <a:spcPts val="919"/>
              </a:lnSpc>
              <a:spcBef>
                <a:spcPts val="60"/>
              </a:spcBef>
            </a:pPr>
            <a:r>
              <a:rPr dirty="0" spc="-10"/>
              <a:t>Actualización</a:t>
            </a:r>
            <a:r>
              <a:rPr dirty="0" spc="10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/>
              <a:t>Valores de</a:t>
            </a:r>
            <a:r>
              <a:rPr dirty="0" spc="-25"/>
              <a:t> </a:t>
            </a:r>
            <a:r>
              <a:rPr dirty="0"/>
              <a:t>Columna</a:t>
            </a:r>
            <a:r>
              <a:rPr dirty="0" spc="-15"/>
              <a:t> </a:t>
            </a:r>
            <a:r>
              <a:rPr dirty="0" spc="-50"/>
              <a:t>y</a:t>
            </a:r>
            <a:r>
              <a:rPr dirty="0" spc="500"/>
              <a:t> </a:t>
            </a:r>
            <a:r>
              <a:rPr dirty="0"/>
              <a:t>Supresión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30"/>
              <a:t> </a:t>
            </a:r>
            <a:r>
              <a:rPr dirty="0" spc="-10"/>
              <a:t>Filas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9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71755" rIns="0" bIns="0" rtlCol="0" vert="horz">
            <a:spAutoFit/>
          </a:bodyPr>
          <a:lstStyle/>
          <a:p>
            <a:pPr marL="189865" indent="-170815">
              <a:lnSpc>
                <a:spcPct val="100000"/>
              </a:lnSpc>
              <a:spcBef>
                <a:spcPts val="565"/>
              </a:spcBef>
              <a:buClr>
                <a:srgbClr val="D1350F"/>
              </a:buClr>
              <a:buFont typeface="Arial MT"/>
              <a:buChar char="•"/>
              <a:tabLst>
                <a:tab pos="189865" algn="l"/>
              </a:tabLst>
            </a:pPr>
            <a:r>
              <a:rPr dirty="0" spc="-40"/>
              <a:t>Tenga</a:t>
            </a:r>
            <a:r>
              <a:rPr dirty="0" spc="-75"/>
              <a:t> </a:t>
            </a:r>
            <a:r>
              <a:rPr dirty="0"/>
              <a:t>cuidado</a:t>
            </a:r>
            <a:r>
              <a:rPr dirty="0" spc="-40"/>
              <a:t> </a:t>
            </a:r>
            <a:r>
              <a:rPr dirty="0"/>
              <a:t>al</a:t>
            </a:r>
            <a:r>
              <a:rPr dirty="0" spc="-75"/>
              <a:t> </a:t>
            </a:r>
            <a:r>
              <a:rPr dirty="0"/>
              <a:t>actualizar</a:t>
            </a:r>
            <a:r>
              <a:rPr dirty="0" spc="-65"/>
              <a:t> </a:t>
            </a:r>
            <a:r>
              <a:rPr dirty="0"/>
              <a:t>los</a:t>
            </a:r>
            <a:r>
              <a:rPr dirty="0" spc="-55"/>
              <a:t> </a:t>
            </a:r>
            <a:r>
              <a:rPr dirty="0"/>
              <a:t>valores</a:t>
            </a:r>
            <a:r>
              <a:rPr dirty="0" spc="-70"/>
              <a:t> </a:t>
            </a:r>
            <a:r>
              <a:rPr dirty="0"/>
              <a:t>de</a:t>
            </a:r>
            <a:r>
              <a:rPr dirty="0" spc="-65"/>
              <a:t> </a:t>
            </a:r>
            <a:r>
              <a:rPr dirty="0" spc="-10"/>
              <a:t>columna</a:t>
            </a:r>
          </a:p>
          <a:p>
            <a:pPr marL="189230" marR="5080" indent="-170815">
              <a:lnSpc>
                <a:spcPts val="3030"/>
              </a:lnSpc>
              <a:spcBef>
                <a:spcPts val="844"/>
              </a:spcBef>
              <a:buClr>
                <a:srgbClr val="D1350F"/>
              </a:buClr>
              <a:buFont typeface="Arial MT"/>
              <a:buChar char="•"/>
              <a:tabLst>
                <a:tab pos="191135" algn="l"/>
              </a:tabLst>
            </a:pPr>
            <a:r>
              <a:rPr dirty="0"/>
              <a:t>Si</a:t>
            </a:r>
            <a:r>
              <a:rPr dirty="0" spc="-35"/>
              <a:t> </a:t>
            </a:r>
            <a:r>
              <a:rPr dirty="0"/>
              <a:t>la</a:t>
            </a:r>
            <a:r>
              <a:rPr dirty="0" spc="-40"/>
              <a:t> </a:t>
            </a:r>
            <a:r>
              <a:rPr dirty="0"/>
              <a:t>cláusula</a:t>
            </a:r>
            <a:r>
              <a:rPr dirty="0" spc="-10"/>
              <a:t> </a:t>
            </a:r>
            <a:r>
              <a:rPr dirty="0"/>
              <a:t>WHERE</a:t>
            </a:r>
            <a:r>
              <a:rPr dirty="0" spc="-35"/>
              <a:t> </a:t>
            </a:r>
            <a:r>
              <a:rPr dirty="0"/>
              <a:t>se</a:t>
            </a:r>
            <a:r>
              <a:rPr dirty="0" spc="-20"/>
              <a:t> </a:t>
            </a:r>
            <a:r>
              <a:rPr dirty="0"/>
              <a:t>omite,</a:t>
            </a:r>
            <a:r>
              <a:rPr dirty="0" spc="-40"/>
              <a:t> </a:t>
            </a:r>
            <a:r>
              <a:rPr dirty="0"/>
              <a:t>todas</a:t>
            </a:r>
            <a:r>
              <a:rPr dirty="0" spc="-25"/>
              <a:t> </a:t>
            </a:r>
            <a:r>
              <a:rPr dirty="0"/>
              <a:t>las</a:t>
            </a:r>
            <a:r>
              <a:rPr dirty="0" spc="-40"/>
              <a:t> </a:t>
            </a:r>
            <a:r>
              <a:rPr dirty="0"/>
              <a:t>filas</a:t>
            </a:r>
            <a:r>
              <a:rPr dirty="0" spc="-3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/>
              <a:t>la</a:t>
            </a:r>
            <a:r>
              <a:rPr dirty="0" spc="-30"/>
              <a:t> </a:t>
            </a:r>
            <a:r>
              <a:rPr dirty="0" spc="-10"/>
              <a:t>tabla </a:t>
            </a:r>
            <a:r>
              <a:rPr dirty="0" spc="-10"/>
              <a:t>	</a:t>
            </a:r>
            <a:r>
              <a:rPr dirty="0"/>
              <a:t>se</a:t>
            </a:r>
            <a:r>
              <a:rPr dirty="0" spc="-25"/>
              <a:t> </a:t>
            </a:r>
            <a:r>
              <a:rPr dirty="0" spc="-10"/>
              <a:t>actualizarán</a:t>
            </a:r>
          </a:p>
          <a:p>
            <a:pPr marL="189865" indent="-170815">
              <a:lnSpc>
                <a:spcPct val="100000"/>
              </a:lnSpc>
              <a:spcBef>
                <a:spcPts val="415"/>
              </a:spcBef>
              <a:buClr>
                <a:srgbClr val="D1350F"/>
              </a:buClr>
              <a:buFont typeface="Arial MT"/>
              <a:buChar char="•"/>
              <a:tabLst>
                <a:tab pos="189865" algn="l"/>
              </a:tabLst>
            </a:pPr>
            <a:r>
              <a:rPr dirty="0"/>
              <a:t>Puede</a:t>
            </a:r>
            <a:r>
              <a:rPr dirty="0" spc="-25"/>
              <a:t> </a:t>
            </a:r>
            <a:r>
              <a:rPr dirty="0"/>
              <a:t>que</a:t>
            </a:r>
            <a:r>
              <a:rPr dirty="0" spc="-20"/>
              <a:t> </a:t>
            </a:r>
            <a:r>
              <a:rPr dirty="0"/>
              <a:t>esto</a:t>
            </a:r>
            <a:r>
              <a:rPr dirty="0" spc="-45"/>
              <a:t> </a:t>
            </a:r>
            <a:r>
              <a:rPr dirty="0"/>
              <a:t>no</a:t>
            </a:r>
            <a:r>
              <a:rPr dirty="0" spc="-30"/>
              <a:t> </a:t>
            </a:r>
            <a:r>
              <a:rPr dirty="0"/>
              <a:t>sea</a:t>
            </a:r>
            <a:r>
              <a:rPr dirty="0" spc="-40"/>
              <a:t> </a:t>
            </a:r>
            <a:r>
              <a:rPr dirty="0"/>
              <a:t>lo</a:t>
            </a:r>
            <a:r>
              <a:rPr dirty="0" spc="-45"/>
              <a:t> </a:t>
            </a:r>
            <a:r>
              <a:rPr dirty="0" spc="-10"/>
              <a:t>deseado</a:t>
            </a: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588201" y="4081965"/>
          <a:ext cx="7971155" cy="1975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0405"/>
                <a:gridCol w="1970405"/>
                <a:gridCol w="1970405"/>
                <a:gridCol w="1970404"/>
              </a:tblGrid>
              <a:tr h="23241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2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EMPLOYEE_ID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2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FIRST_NAME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2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2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PHONE_NUMBER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193675">
                <a:tc>
                  <a:txBody>
                    <a:bodyPr/>
                    <a:lstStyle/>
                    <a:p>
                      <a:pPr marL="71755">
                        <a:lnSpc>
                          <a:spcPts val="1410"/>
                        </a:lnSpc>
                      </a:pP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410"/>
                        </a:lnSpc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Steven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410"/>
                        </a:lnSpc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Jones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410"/>
                        </a:lnSpc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654321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193675">
                <a:tc>
                  <a:txBody>
                    <a:bodyPr/>
                    <a:lstStyle/>
                    <a:p>
                      <a:pPr marL="71755">
                        <a:lnSpc>
                          <a:spcPts val="1410"/>
                        </a:lnSpc>
                      </a:pP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410"/>
                        </a:lnSpc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Neena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ts val="1410"/>
                        </a:lnSpc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Jones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ts val="1410"/>
                        </a:lnSpc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654321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193675">
                <a:tc>
                  <a:txBody>
                    <a:bodyPr/>
                    <a:lstStyle/>
                    <a:p>
                      <a:pPr marL="72390">
                        <a:lnSpc>
                          <a:spcPts val="1410"/>
                        </a:lnSpc>
                      </a:pP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ts val="1410"/>
                        </a:lnSpc>
                      </a:pP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Lex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ts val="1410"/>
                        </a:lnSpc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Jones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ts val="1410"/>
                        </a:lnSpc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654321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193675">
                <a:tc>
                  <a:txBody>
                    <a:bodyPr/>
                    <a:lstStyle/>
                    <a:p>
                      <a:pPr marL="72390">
                        <a:lnSpc>
                          <a:spcPts val="1410"/>
                        </a:lnSpc>
                      </a:pP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ts val="1410"/>
                        </a:lnSpc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Jennifer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ts val="1410"/>
                        </a:lnSpc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Jones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ts val="1410"/>
                        </a:lnSpc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654321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193675">
                <a:tc>
                  <a:txBody>
                    <a:bodyPr/>
                    <a:lstStyle/>
                    <a:p>
                      <a:pPr marL="72390">
                        <a:lnSpc>
                          <a:spcPts val="1410"/>
                        </a:lnSpc>
                      </a:pP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205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ts val="1410"/>
                        </a:lnSpc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Shelley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ts val="1410"/>
                        </a:lnSpc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Jones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ts val="1410"/>
                        </a:lnSpc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654321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193675">
                <a:tc>
                  <a:txBody>
                    <a:bodyPr/>
                    <a:lstStyle/>
                    <a:p>
                      <a:pPr marL="72390">
                        <a:lnSpc>
                          <a:spcPts val="1410"/>
                        </a:lnSpc>
                      </a:pP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206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ts val="1410"/>
                        </a:lnSpc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William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ts val="1410"/>
                        </a:lnSpc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Jones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410"/>
                        </a:lnSpc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654321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193675">
                <a:tc>
                  <a:txBody>
                    <a:bodyPr/>
                    <a:lstStyle/>
                    <a:p>
                      <a:pPr marL="73025">
                        <a:lnSpc>
                          <a:spcPts val="1410"/>
                        </a:lnSpc>
                      </a:pP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149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410"/>
                        </a:lnSpc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Eleni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410"/>
                        </a:lnSpc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Jones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410"/>
                        </a:lnSpc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654321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193675">
                <a:tc>
                  <a:txBody>
                    <a:bodyPr/>
                    <a:lstStyle/>
                    <a:p>
                      <a:pPr marL="73025">
                        <a:lnSpc>
                          <a:spcPts val="1410"/>
                        </a:lnSpc>
                      </a:pP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174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410"/>
                        </a:lnSpc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Ellen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410"/>
                        </a:lnSpc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Jones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410"/>
                        </a:lnSpc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654321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193675">
                <a:tc>
                  <a:txBody>
                    <a:bodyPr/>
                    <a:lstStyle/>
                    <a:p>
                      <a:pPr marL="73025">
                        <a:lnSpc>
                          <a:spcPts val="1410"/>
                        </a:lnSpc>
                      </a:pPr>
                      <a:r>
                        <a:rPr dirty="0" sz="12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410"/>
                        </a:lnSpc>
                      </a:pPr>
                      <a:r>
                        <a:rPr dirty="0" sz="12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410"/>
                        </a:lnSpc>
                      </a:pPr>
                      <a:r>
                        <a:rPr dirty="0" sz="12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410"/>
                        </a:lnSpc>
                      </a:pPr>
                      <a:r>
                        <a:rPr dirty="0" sz="12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405384" y="3343655"/>
            <a:ext cx="8345805" cy="61150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31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UPDATE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copy_employees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SET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phone_number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'</a:t>
            </a: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654321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',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'</a:t>
            </a:r>
            <a:r>
              <a:rPr dirty="0" sz="1800" spc="-10" b="1">
                <a:solidFill>
                  <a:srgbClr val="D1350F"/>
                </a:solidFill>
                <a:latin typeface="Courier New"/>
                <a:cs typeface="Courier New"/>
              </a:rPr>
              <a:t>Jones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'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112" y="385319"/>
            <a:ext cx="7831455" cy="894080"/>
          </a:xfrm>
          <a:prstGeom prst="rect"/>
        </p:spPr>
        <p:txBody>
          <a:bodyPr wrap="square" lIns="0" tIns="64135" rIns="0" bIns="0" rtlCol="0" vert="horz">
            <a:spAutoFit/>
          </a:bodyPr>
          <a:lstStyle/>
          <a:p>
            <a:pPr marL="12700" marR="5080">
              <a:lnSpc>
                <a:spcPts val="3240"/>
              </a:lnSpc>
              <a:spcBef>
                <a:spcPts val="505"/>
              </a:spcBef>
            </a:pPr>
            <a:r>
              <a:rPr dirty="0" sz="3000"/>
              <a:t>Actualización</a:t>
            </a:r>
            <a:r>
              <a:rPr dirty="0" sz="3000" spc="-80"/>
              <a:t> </a:t>
            </a:r>
            <a:r>
              <a:rPr dirty="0" sz="3000"/>
              <a:t>de</a:t>
            </a:r>
            <a:r>
              <a:rPr dirty="0" sz="3000" spc="-70"/>
              <a:t> </a:t>
            </a:r>
            <a:r>
              <a:rPr dirty="0" sz="3000"/>
              <a:t>una</a:t>
            </a:r>
            <a:r>
              <a:rPr dirty="0" sz="3000" spc="-50"/>
              <a:t> </a:t>
            </a:r>
            <a:r>
              <a:rPr dirty="0" sz="3000"/>
              <a:t>Columna</a:t>
            </a:r>
            <a:r>
              <a:rPr dirty="0" sz="3000" spc="-50"/>
              <a:t> </a:t>
            </a:r>
            <a:r>
              <a:rPr dirty="0" sz="3000"/>
              <a:t>con</a:t>
            </a:r>
            <a:r>
              <a:rPr dirty="0" sz="3000" spc="-70"/>
              <a:t> </a:t>
            </a:r>
            <a:r>
              <a:rPr dirty="0" sz="3000"/>
              <a:t>un</a:t>
            </a:r>
            <a:r>
              <a:rPr dirty="0" sz="3000" spc="-55"/>
              <a:t> </a:t>
            </a:r>
            <a:r>
              <a:rPr dirty="0" sz="3000" spc="-20"/>
              <a:t>Valor</a:t>
            </a:r>
            <a:r>
              <a:rPr dirty="0" sz="3000" spc="-55"/>
              <a:t> </a:t>
            </a:r>
            <a:r>
              <a:rPr dirty="0" sz="3000"/>
              <a:t>de</a:t>
            </a:r>
            <a:r>
              <a:rPr dirty="0" sz="3000" spc="-70"/>
              <a:t> </a:t>
            </a:r>
            <a:r>
              <a:rPr dirty="0" sz="3000" spc="-25"/>
              <a:t>una </a:t>
            </a:r>
            <a:r>
              <a:rPr dirty="0" sz="3000" spc="-10"/>
              <a:t>Subconsulta</a:t>
            </a:r>
            <a:endParaRPr sz="3000"/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12-</a:t>
            </a:r>
            <a:r>
              <a:rPr dirty="0" spc="-50"/>
              <a:t>2</a:t>
            </a:r>
          </a:p>
          <a:p>
            <a:pPr marL="12700" marR="5080">
              <a:lnSpc>
                <a:spcPts val="919"/>
              </a:lnSpc>
              <a:spcBef>
                <a:spcPts val="60"/>
              </a:spcBef>
            </a:pPr>
            <a:r>
              <a:rPr dirty="0" spc="-10"/>
              <a:t>Actualización</a:t>
            </a:r>
            <a:r>
              <a:rPr dirty="0" spc="10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/>
              <a:t>Valores de</a:t>
            </a:r>
            <a:r>
              <a:rPr dirty="0" spc="-25"/>
              <a:t> </a:t>
            </a:r>
            <a:r>
              <a:rPr dirty="0"/>
              <a:t>Columna</a:t>
            </a:r>
            <a:r>
              <a:rPr dirty="0" spc="-15"/>
              <a:t> </a:t>
            </a:r>
            <a:r>
              <a:rPr dirty="0" spc="-50"/>
              <a:t>y</a:t>
            </a:r>
            <a:r>
              <a:rPr dirty="0" spc="500"/>
              <a:t> </a:t>
            </a:r>
            <a:r>
              <a:rPr dirty="0"/>
              <a:t>Supresión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30"/>
              <a:t> </a:t>
            </a:r>
            <a:r>
              <a:rPr dirty="0" spc="-10"/>
              <a:t>Filas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10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69580" cy="12204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Podemos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1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resultado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subconsulta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proporcionar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valor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nuevo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una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800" spc="-10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actualizada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4126613"/>
            <a:ext cx="7899400" cy="12204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ejemplo,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cambia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salario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empleado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(id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=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101)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mismo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salario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otro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empleado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(id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=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100)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1819525" y="5197985"/>
          <a:ext cx="7002780" cy="973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8470"/>
                <a:gridCol w="1728470"/>
                <a:gridCol w="1728469"/>
                <a:gridCol w="1728470"/>
              </a:tblGrid>
              <a:tr h="32448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EMPLOYEE_ID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FIRST_NAME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SALARY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Steven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24000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Neena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Kochhar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24000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393191" y="2682239"/>
            <a:ext cx="8345805" cy="137668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6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UPDATE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copy_employees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SET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salary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(SELECT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salary</a:t>
            </a:r>
            <a:endParaRPr sz="1800">
              <a:latin typeface="Courier New"/>
              <a:cs typeface="Courier New"/>
            </a:endParaRPr>
          </a:p>
          <a:p>
            <a:pPr marL="1597025" marR="3463925" indent="31369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copy_employees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employee_id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100)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employee_id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101;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DELETE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460615" cy="208597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59385" marR="367665" indent="-147320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5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sentencia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DELETE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utiliza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para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eliminar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filas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existentes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tabla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1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necesita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valores:</a:t>
            </a:r>
            <a:endParaRPr sz="2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40"/>
              </a:spcBef>
            </a:pPr>
            <a:r>
              <a:rPr dirty="0" sz="2400" spc="5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 spc="5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nombre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"/>
              </a:spcBef>
            </a:pPr>
            <a:r>
              <a:rPr dirty="0" sz="2400" spc="5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 spc="5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condición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identifica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4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van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suprimir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9192" y="4082796"/>
            <a:ext cx="3741420" cy="2257043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12-</a:t>
            </a:r>
            <a:r>
              <a:rPr dirty="0" spc="-50"/>
              <a:t>2</a:t>
            </a:r>
          </a:p>
          <a:p>
            <a:pPr marL="12700" marR="5080">
              <a:lnSpc>
                <a:spcPts val="919"/>
              </a:lnSpc>
              <a:spcBef>
                <a:spcPts val="60"/>
              </a:spcBef>
            </a:pPr>
            <a:r>
              <a:rPr dirty="0" spc="-10"/>
              <a:t>Actualización</a:t>
            </a:r>
            <a:r>
              <a:rPr dirty="0" spc="10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/>
              <a:t>Valores de</a:t>
            </a:r>
            <a:r>
              <a:rPr dirty="0" spc="-25"/>
              <a:t> </a:t>
            </a:r>
            <a:r>
              <a:rPr dirty="0"/>
              <a:t>Columna</a:t>
            </a:r>
            <a:r>
              <a:rPr dirty="0" spc="-15"/>
              <a:t> </a:t>
            </a:r>
            <a:r>
              <a:rPr dirty="0" spc="-50"/>
              <a:t>y</a:t>
            </a:r>
            <a:r>
              <a:rPr dirty="0" spc="500"/>
              <a:t> </a:t>
            </a:r>
            <a:r>
              <a:rPr dirty="0"/>
              <a:t>Supresión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30"/>
              <a:t> </a:t>
            </a:r>
            <a:r>
              <a:rPr dirty="0" spc="-10"/>
              <a:t>Filas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17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DELETE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12-</a:t>
            </a:r>
            <a:r>
              <a:rPr dirty="0" spc="-50"/>
              <a:t>2</a:t>
            </a:r>
          </a:p>
          <a:p>
            <a:pPr marL="12700" marR="5080">
              <a:lnSpc>
                <a:spcPts val="919"/>
              </a:lnSpc>
              <a:spcBef>
                <a:spcPts val="60"/>
              </a:spcBef>
            </a:pPr>
            <a:r>
              <a:rPr dirty="0" spc="-10"/>
              <a:t>Actualización</a:t>
            </a:r>
            <a:r>
              <a:rPr dirty="0" spc="10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/>
              <a:t>Valores de</a:t>
            </a:r>
            <a:r>
              <a:rPr dirty="0" spc="-25"/>
              <a:t> </a:t>
            </a:r>
            <a:r>
              <a:rPr dirty="0"/>
              <a:t>Columna</a:t>
            </a:r>
            <a:r>
              <a:rPr dirty="0" spc="-15"/>
              <a:t> </a:t>
            </a:r>
            <a:r>
              <a:rPr dirty="0" spc="-50"/>
              <a:t>y</a:t>
            </a:r>
            <a:r>
              <a:rPr dirty="0" spc="500"/>
              <a:t> </a:t>
            </a:r>
            <a:r>
              <a:rPr dirty="0"/>
              <a:t>Supresión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30"/>
              <a:t> </a:t>
            </a:r>
            <a:r>
              <a:rPr dirty="0" spc="-10"/>
              <a:t>Filas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18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851775" cy="12204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ejemplo,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copia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empleados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suprimir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fila: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empleado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el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identificador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303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3640457"/>
            <a:ext cx="8018145" cy="170624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¿Qué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predice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suprimirá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elimina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cláusula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WHERE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DELETE?</a:t>
            </a:r>
            <a:endParaRPr sz="2800">
              <a:latin typeface="Calibri"/>
              <a:cs typeface="Calibri"/>
            </a:endParaRPr>
          </a:p>
          <a:p>
            <a:pPr marL="182880" marR="888365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suprimen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todas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omite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WHERE: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5384" y="2755392"/>
            <a:ext cx="8345805" cy="57912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6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DELETE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copy_employees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employee_id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303;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Oracle Academy</dc:creator>
  <dc:title>PowerPoint Presentation</dc:title>
  <dcterms:created xsi:type="dcterms:W3CDTF">2025-06-01T18:00:09Z</dcterms:created>
  <dcterms:modified xsi:type="dcterms:W3CDTF">2025-06-01T18:00:09Z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2025-03-03T00:00:00Z</vt:filetime>
  </property>
  <property fmtid="{D5CDD505-2E9C-101B-9397-08002B2CF9AE}" pid="3" name="Creator">
    <vt:lpwstr>Acrobat PDFMaker 20 for PowerPoint</vt:lpwstr>
  </property>
  <property fmtid="{D5CDD505-2E9C-101B-9397-08002B2CF9AE}" pid="4" name="LastSaved">
    <vt:filetime>2025-06-01T00:00:00Z</vt:filetime>
  </property>
  <property fmtid="{D5CDD505-2E9C-101B-9397-08002B2CF9AE}" pid="5" name="Producer">
    <vt:lpwstr>macOS Version 15.2 (Build 24C101) Quartz PDFContext</vt:lpwstr>
  </property>
</Properties>
</file>