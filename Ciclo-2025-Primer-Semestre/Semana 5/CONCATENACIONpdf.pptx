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835977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837" y="1359029"/>
            <a:ext cx="8188325" cy="1632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3592829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Columnas,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2400" spc="-7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400" spc="-7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Columnas,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Operador</a:t>
            </a:r>
            <a:r>
              <a:rPr dirty="0" sz="3300" spc="-85"/>
              <a:t> </a:t>
            </a:r>
            <a:r>
              <a:rPr dirty="0" sz="3300"/>
              <a:t>de</a:t>
            </a:r>
            <a:r>
              <a:rPr dirty="0" sz="3300" spc="-85"/>
              <a:t> </a:t>
            </a:r>
            <a:r>
              <a:rPr dirty="0" sz="3300" spc="-10"/>
              <a:t>Concatenación</a:t>
            </a:r>
            <a:endParaRPr sz="3300"/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7728584" cy="30607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Concatenación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significa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conectar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enlazar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juntos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serie</a:t>
            </a:r>
            <a:endParaRPr sz="2800">
              <a:latin typeface="Calibri"/>
              <a:cs typeface="Calibri"/>
            </a:endParaRPr>
          </a:p>
          <a:p>
            <a:pPr marL="182880" marR="8636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símbolo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concatenación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2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barras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verticales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veces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denominadas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"líneas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verticales"</a:t>
            </a:r>
            <a:endParaRPr sz="2800">
              <a:latin typeface="Calibri"/>
              <a:cs typeface="Calibri"/>
            </a:endParaRPr>
          </a:p>
          <a:p>
            <a:pPr marL="182880" marR="59817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||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combinan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salida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3552" y="4996817"/>
            <a:ext cx="782256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concatenan,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resultante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cadena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caracteres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750490" y="6536145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4E3629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1000" y="4543044"/>
            <a:ext cx="8357870" cy="3841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2730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string1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string2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string_n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Columnas,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Operador</a:t>
            </a:r>
            <a:r>
              <a:rPr dirty="0" sz="3300" spc="-85"/>
              <a:t> </a:t>
            </a:r>
            <a:r>
              <a:rPr dirty="0" sz="3300"/>
              <a:t>de</a:t>
            </a:r>
            <a:r>
              <a:rPr dirty="0" sz="3300" spc="-85"/>
              <a:t> </a:t>
            </a:r>
            <a:r>
              <a:rPr dirty="0" sz="3300" spc="-10"/>
              <a:t>Concatenación</a:t>
            </a:r>
            <a:endParaRPr sz="3300"/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7877809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variante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anterior,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||'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'||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introducir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espacio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department_id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department_name</a:t>
            </a:r>
            <a:endParaRPr sz="2800">
              <a:latin typeface="Calibri"/>
              <a:cs typeface="Calibri"/>
            </a:endParaRPr>
          </a:p>
          <a:p>
            <a:pPr marL="159385" marR="833755" indent="-147320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carácter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'espacio'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comillas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simples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espacio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entre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valores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750490" y="6536145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2358177" y="4219266"/>
          <a:ext cx="4676775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7875"/>
              </a:tblGrid>
              <a:tr h="335280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DEPARTMENT_ID||'</a:t>
                      </a:r>
                      <a:r>
                        <a:rPr dirty="0" sz="1600" spc="-6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'||DEPARTMENT_NAME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Shipping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405384" y="3555491"/>
            <a:ext cx="8345805" cy="58229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9525" rIns="0" bIns="0" rtlCol="0" vert="horz">
            <a:spAutoFit/>
          </a:bodyPr>
          <a:lstStyle/>
          <a:p>
            <a:pPr marL="45085" marR="2416175">
              <a:lnSpc>
                <a:spcPts val="2110"/>
              </a:lnSpc>
              <a:spcBef>
                <a:spcPts val="7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'||department_name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Columnas,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0"/>
              <a:t>Concatenación</a:t>
            </a:r>
            <a:r>
              <a:rPr dirty="0" sz="3300" spc="-45"/>
              <a:t> </a:t>
            </a:r>
            <a:r>
              <a:rPr dirty="0" sz="3300"/>
              <a:t>y</a:t>
            </a:r>
            <a:r>
              <a:rPr dirty="0" sz="3300" spc="-55"/>
              <a:t> </a:t>
            </a:r>
            <a:r>
              <a:rPr dirty="0" sz="3300"/>
              <a:t>Alias</a:t>
            </a:r>
            <a:r>
              <a:rPr dirty="0" sz="3300" spc="-55"/>
              <a:t> </a:t>
            </a:r>
            <a:r>
              <a:rPr dirty="0" sz="3300"/>
              <a:t>de</a:t>
            </a:r>
            <a:r>
              <a:rPr dirty="0" sz="3300" spc="-50"/>
              <a:t> </a:t>
            </a:r>
            <a:r>
              <a:rPr dirty="0" sz="3300" spc="-10"/>
              <a:t>Columna</a:t>
            </a:r>
            <a:endParaRPr sz="3300"/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7713980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alias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útiles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cuando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operador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concatenación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línea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SELECT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defecto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aparezca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cabecera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11</a:t>
            </a:r>
            <a:endParaRPr sz="85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782307" y="3109738"/>
          <a:ext cx="205105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150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b="1">
                          <a:solidFill>
                            <a:srgbClr val="4E3629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r>
                        <a:rPr dirty="0" sz="1400" spc="-90" b="1">
                          <a:solidFill>
                            <a:srgbClr val="4E362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4E3629"/>
                          </a:solidFill>
                          <a:latin typeface="Arial"/>
                          <a:cs typeface="Arial"/>
                        </a:rPr>
                        <a:t>Info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6782307" y="5183056"/>
          <a:ext cx="205105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150"/>
              </a:tblGrid>
              <a:tr h="2743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400" spc="-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Ellen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Curtis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Lex</a:t>
                      </a:r>
                      <a:r>
                        <a:rPr dirty="0" sz="14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405384" y="3119627"/>
            <a:ext cx="5538470" cy="1207135"/>
          </a:xfrm>
          <a:custGeom>
            <a:avLst/>
            <a:gdLst/>
            <a:ahLst/>
            <a:cxnLst/>
            <a:rect l="l" t="t" r="r" b="b"/>
            <a:pathLst>
              <a:path w="5538470" h="1207135">
                <a:moveTo>
                  <a:pt x="5538216" y="0"/>
                </a:moveTo>
                <a:lnTo>
                  <a:pt x="0" y="0"/>
                </a:lnTo>
                <a:lnTo>
                  <a:pt x="0" y="1207008"/>
                </a:lnTo>
                <a:lnTo>
                  <a:pt x="5538216" y="1207008"/>
                </a:lnTo>
                <a:lnTo>
                  <a:pt x="5538216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95661" y="3277069"/>
            <a:ext cx="527431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  <a:tabLst>
                <a:tab pos="2334895" algn="l"/>
              </a:tabLst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'||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department_name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AS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Arial"/>
                <a:cs typeface="Arial"/>
              </a:rPr>
              <a:t>"</a:t>
            </a:r>
            <a:r>
              <a:rPr dirty="0" sz="1800" spc="-5" b="1">
                <a:solidFill>
                  <a:srgbClr val="4E36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Info</a:t>
            </a:r>
            <a:r>
              <a:rPr dirty="0" sz="1800" spc="-6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Arial"/>
                <a:cs typeface="Arial"/>
              </a:rPr>
              <a:t>"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4819" y="5201411"/>
            <a:ext cx="5478780" cy="78232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4775">
              <a:lnSpc>
                <a:spcPts val="17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||'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'||</a:t>
            </a:r>
            <a:endParaRPr sz="1800">
              <a:latin typeface="Courier New"/>
              <a:cs typeface="Courier New"/>
            </a:endParaRPr>
          </a:p>
          <a:p>
            <a:pPr marL="104775" marR="1350010" indent="189865">
              <a:lnSpc>
                <a:spcPts val="2110"/>
              </a:lnSpc>
              <a:spcBef>
                <a:spcPts val="15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"Employee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Name"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Columnas,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Uso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DISTINCT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para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Eliminar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las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Filas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Duplicadas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1415417"/>
            <a:ext cx="6172200" cy="33445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753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Muchas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veces,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deseará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saber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cuántas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instancias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únicas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existen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lista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todos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hay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endParaRPr sz="2800">
              <a:latin typeface="Calibri"/>
              <a:cs typeface="Calibri"/>
            </a:endParaRPr>
          </a:p>
          <a:p>
            <a:pPr marL="182880" marR="50990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escribir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seleccionar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valores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department_id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17</a:t>
            </a:r>
            <a:endParaRPr sz="85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965950" y="1441575"/>
          <a:ext cx="1856105" cy="3688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7205"/>
              </a:tblGrid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405384" y="4863084"/>
            <a:ext cx="4052570" cy="8705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32715" rIns="0" bIns="0" rtlCol="0" vert="horz">
            <a:spAutoFit/>
          </a:bodyPr>
          <a:lstStyle/>
          <a:p>
            <a:pPr marL="45085" marR="1268095">
              <a:lnSpc>
                <a:spcPct val="100000"/>
              </a:lnSpc>
              <a:spcBef>
                <a:spcPts val="104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721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65"/>
              </a:lnSpc>
              <a:spcBef>
                <a:spcPts val="100"/>
              </a:spcBef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DP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85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ts val="965"/>
              </a:lnSpc>
            </a:pP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Columnas, 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Caracteres</a:t>
            </a:r>
            <a:r>
              <a:rPr dirty="0" sz="85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85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Uso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DISTINCT</a:t>
            </a:r>
            <a:r>
              <a:rPr dirty="0" spc="-65"/>
              <a:t> </a:t>
            </a:r>
            <a:r>
              <a:rPr dirty="0"/>
              <a:t>para</a:t>
            </a:r>
            <a:r>
              <a:rPr dirty="0" spc="-50"/>
              <a:t> </a:t>
            </a:r>
            <a:r>
              <a:rPr dirty="0"/>
              <a:t>Eliminar</a:t>
            </a:r>
            <a:r>
              <a:rPr dirty="0" spc="-60"/>
              <a:t> </a:t>
            </a:r>
            <a:r>
              <a:rPr dirty="0"/>
              <a:t>las</a:t>
            </a:r>
            <a:r>
              <a:rPr dirty="0" spc="-50"/>
              <a:t> </a:t>
            </a:r>
            <a:r>
              <a:rPr dirty="0"/>
              <a:t>Filas</a:t>
            </a:r>
            <a:r>
              <a:rPr dirty="0" spc="-65"/>
              <a:t> </a:t>
            </a:r>
            <a:r>
              <a:rPr dirty="0" spc="-10"/>
              <a:t>Duplicadas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90500" indent="-172085">
              <a:lnSpc>
                <a:spcPts val="2650"/>
              </a:lnSpc>
              <a:spcBef>
                <a:spcPts val="105"/>
              </a:spcBef>
              <a:buClr>
                <a:srgbClr val="D1350F"/>
              </a:buClr>
              <a:buFont typeface="Arial MT"/>
              <a:buChar char="•"/>
              <a:tabLst>
                <a:tab pos="190500" algn="l"/>
              </a:tabLst>
            </a:pPr>
            <a:r>
              <a:rPr dirty="0"/>
              <a:t>A</a:t>
            </a:r>
            <a:r>
              <a:rPr dirty="0" spc="-25"/>
              <a:t> </a:t>
            </a:r>
            <a:r>
              <a:rPr dirty="0"/>
              <a:t>menos</a:t>
            </a:r>
            <a:r>
              <a:rPr dirty="0" spc="-30"/>
              <a:t> </a:t>
            </a:r>
            <a:r>
              <a:rPr dirty="0"/>
              <a:t>que</a:t>
            </a:r>
            <a:r>
              <a:rPr dirty="0" spc="-40"/>
              <a:t> </a:t>
            </a:r>
            <a:r>
              <a:rPr dirty="0"/>
              <a:t>se</a:t>
            </a:r>
            <a:r>
              <a:rPr dirty="0" spc="-30"/>
              <a:t> </a:t>
            </a:r>
            <a:r>
              <a:rPr dirty="0"/>
              <a:t>indique</a:t>
            </a:r>
            <a:r>
              <a:rPr dirty="0" spc="-50"/>
              <a:t> </a:t>
            </a:r>
            <a:r>
              <a:rPr dirty="0"/>
              <a:t>lo</a:t>
            </a:r>
            <a:r>
              <a:rPr dirty="0" spc="-10"/>
              <a:t> </a:t>
            </a:r>
            <a:r>
              <a:rPr dirty="0" spc="-20"/>
              <a:t>contrario, </a:t>
            </a:r>
            <a:r>
              <a:rPr dirty="0"/>
              <a:t>la</a:t>
            </a:r>
            <a:r>
              <a:rPr dirty="0" spc="-15"/>
              <a:t> </a:t>
            </a:r>
            <a:r>
              <a:rPr dirty="0"/>
              <a:t>salida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25"/>
              <a:t>una</a:t>
            </a:r>
          </a:p>
          <a:p>
            <a:pPr marL="190500" marR="651510">
              <a:lnSpc>
                <a:spcPct val="70000"/>
              </a:lnSpc>
              <a:spcBef>
                <a:spcPts val="465"/>
              </a:spcBef>
            </a:pPr>
            <a:r>
              <a:rPr dirty="0"/>
              <a:t>consulta</a:t>
            </a:r>
            <a:r>
              <a:rPr dirty="0" spc="-70"/>
              <a:t> </a:t>
            </a:r>
            <a:r>
              <a:rPr dirty="0"/>
              <a:t>SQL</a:t>
            </a:r>
            <a:r>
              <a:rPr dirty="0" spc="-60"/>
              <a:t> </a:t>
            </a:r>
            <a:r>
              <a:rPr dirty="0" spc="-10"/>
              <a:t>mostrará</a:t>
            </a:r>
            <a:r>
              <a:rPr dirty="0" spc="-70"/>
              <a:t> </a:t>
            </a:r>
            <a:r>
              <a:rPr dirty="0"/>
              <a:t>el</a:t>
            </a:r>
            <a:r>
              <a:rPr dirty="0" spc="-65"/>
              <a:t> </a:t>
            </a:r>
            <a:r>
              <a:rPr dirty="0"/>
              <a:t>resultado</a:t>
            </a:r>
            <a:r>
              <a:rPr dirty="0" spc="-75"/>
              <a:t> </a:t>
            </a:r>
            <a:r>
              <a:rPr dirty="0"/>
              <a:t>sin</a:t>
            </a:r>
            <a:r>
              <a:rPr dirty="0" spc="-70"/>
              <a:t> </a:t>
            </a:r>
            <a:r>
              <a:rPr dirty="0"/>
              <a:t>eliminar</a:t>
            </a:r>
            <a:r>
              <a:rPr dirty="0" spc="-65"/>
              <a:t> </a:t>
            </a:r>
            <a:r>
              <a:rPr dirty="0"/>
              <a:t>las</a:t>
            </a:r>
            <a:r>
              <a:rPr dirty="0" spc="-65"/>
              <a:t> </a:t>
            </a:r>
            <a:r>
              <a:rPr dirty="0" spc="-10"/>
              <a:t>filas duplicadas</a:t>
            </a:r>
          </a:p>
          <a:p>
            <a:pPr marL="190500" marR="5080" indent="-172720">
              <a:lnSpc>
                <a:spcPct val="700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90500" algn="l"/>
              </a:tabLst>
            </a:pPr>
            <a:r>
              <a:rPr dirty="0"/>
              <a:t>En</a:t>
            </a:r>
            <a:r>
              <a:rPr dirty="0" spc="-55"/>
              <a:t> </a:t>
            </a:r>
            <a:r>
              <a:rPr dirty="0"/>
              <a:t>SQL,</a:t>
            </a:r>
            <a:r>
              <a:rPr dirty="0" spc="-65"/>
              <a:t> </a:t>
            </a:r>
            <a:r>
              <a:rPr dirty="0"/>
              <a:t>se</a:t>
            </a:r>
            <a:r>
              <a:rPr dirty="0" spc="-60"/>
              <a:t> </a:t>
            </a:r>
            <a:r>
              <a:rPr dirty="0"/>
              <a:t>utiliza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/>
              <a:t>palabra</a:t>
            </a:r>
            <a:r>
              <a:rPr dirty="0" spc="-60"/>
              <a:t> </a:t>
            </a:r>
            <a:r>
              <a:rPr dirty="0"/>
              <a:t>clave</a:t>
            </a:r>
            <a:r>
              <a:rPr dirty="0" spc="-50"/>
              <a:t> </a:t>
            </a:r>
            <a:r>
              <a:rPr dirty="0"/>
              <a:t>DISTINCT</a:t>
            </a:r>
            <a:r>
              <a:rPr dirty="0" spc="-80"/>
              <a:t> </a:t>
            </a:r>
            <a:r>
              <a:rPr dirty="0"/>
              <a:t>para</a:t>
            </a:r>
            <a:r>
              <a:rPr dirty="0" spc="-65"/>
              <a:t> </a:t>
            </a:r>
            <a:r>
              <a:rPr dirty="0"/>
              <a:t>eliminar</a:t>
            </a:r>
            <a:r>
              <a:rPr dirty="0" spc="-60"/>
              <a:t> </a:t>
            </a:r>
            <a:r>
              <a:rPr dirty="0" spc="-25"/>
              <a:t>las </a:t>
            </a:r>
            <a:r>
              <a:rPr dirty="0"/>
              <a:t>filas</a:t>
            </a:r>
            <a:r>
              <a:rPr dirty="0" spc="-35"/>
              <a:t> </a:t>
            </a:r>
            <a:r>
              <a:rPr dirty="0" spc="-10"/>
              <a:t>duplicadas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83552" y="3705989"/>
            <a:ext cx="5982335" cy="218884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84785" marR="5080" indent="-172720">
              <a:lnSpc>
                <a:spcPct val="70000"/>
              </a:lnSpc>
              <a:spcBef>
                <a:spcPts val="10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cualificador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DISTINCT</a:t>
            </a:r>
            <a:r>
              <a:rPr dirty="0" sz="26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afecta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enumeradas</a:t>
            </a:r>
            <a:r>
              <a:rPr dirty="0" sz="26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combinaciones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diferentes</a:t>
            </a:r>
            <a:r>
              <a:rPr dirty="0" sz="26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columnas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endParaRPr sz="2600">
              <a:latin typeface="Calibri"/>
              <a:cs typeface="Calibri"/>
            </a:endParaRPr>
          </a:p>
          <a:p>
            <a:pPr algn="just" marL="184785" marR="255270" indent="-172720">
              <a:lnSpc>
                <a:spcPct val="7000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clave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DISTINCT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aparecer directamente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palabra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clave SELECT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750490" y="6536145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3191" y="3011423"/>
            <a:ext cx="5984875" cy="62674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0795" rIns="0" bIns="0" rtlCol="0" vert="horz">
            <a:spAutoFit/>
          </a:bodyPr>
          <a:lstStyle/>
          <a:p>
            <a:pPr marL="45085" marR="1971675">
              <a:lnSpc>
                <a:spcPct val="100000"/>
              </a:lnSpc>
              <a:spcBef>
                <a:spcPts val="8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DISTINCT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7066803" y="3004559"/>
          <a:ext cx="1755139" cy="3011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239"/>
              </a:tblGrid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2025-06-01T18:11:01Z</dcterms:created>
  <dcterms:modified xsi:type="dcterms:W3CDTF">2025-06-01T18:11:01Z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