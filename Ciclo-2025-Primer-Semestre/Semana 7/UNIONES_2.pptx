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/Relationships>
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/Relationships>
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/Relationships>
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/Relationships>
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/Relationships>
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2020-08-14 18:55:02</a:t>
            </a:r>
          </a:p>
          <a:p>
            <a:r>
              <a:t>--------------------------------------------</a:t>
            </a:r>
          </a:p>
          <a:p>
            <a:r>
              <a:t>NATURAL JOIN, JOIN ON y JOIN USING son tipos de uniones internas.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2020-08-14 18:55:03</a:t>
            </a:r>
          </a:p>
          <a:p>
            <a:r>
              <a:t>--------------------------------------------</a:t>
            </a:r>
          </a:p>
          <a:p>
            <a:r>
              <a:t>Los nombres de columna en la salida de ejemplo se han abreviado para que quepan en la diapositiva.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2020-08-14 18:55:03</a:t>
            </a:r>
          </a:p>
          <a:p>
            <a:r>
              <a:t>--------------------------------------------</a:t>
            </a:r>
          </a:p>
          <a:p>
            <a:r>
              <a:t>Los nombres de columna en la salida de ejemplo se han abreviado para que quepan en la diapositiva.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2020-08-14 18:55:04</a:t>
            </a:r>
          </a:p>
          <a:p>
            <a:r>
              <a:t>--------------------------------------------</a:t>
            </a:r>
          </a:p>
          <a:p>
            <a:r>
              <a:t>Los nombres de columna en la salida de ejemplo se han abreviado para que quepan en la diapositiva.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2020-08-14 18:55:05</a:t>
            </a:r>
          </a:p>
          <a:p>
            <a:r>
              <a:t>--------------------------------------------</a:t>
            </a:r>
          </a:p>
          <a:p>
            <a:r>
              <a:t>Los nombres de columna en la salida de ejemplo se han abreviado para que quepan en la diapositiva.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/>
              <a:t>Uniones</a:t>
            </a:r>
            <a:r>
              <a:rPr dirty="0" spc="-20"/>
              <a:t> </a:t>
            </a:r>
            <a:r>
              <a:rPr dirty="0"/>
              <a:t>Internas</a:t>
            </a:r>
            <a:r>
              <a:rPr dirty="0" spc="-30"/>
              <a:t> </a:t>
            </a:r>
            <a:r>
              <a:rPr dirty="0"/>
              <a:t>frente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45"/>
              <a:t> </a:t>
            </a:r>
            <a:r>
              <a:rPr dirty="0" spc="-10"/>
              <a:t>Externas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/>
              <a:t>Uniones</a:t>
            </a:r>
            <a:r>
              <a:rPr dirty="0" spc="-20"/>
              <a:t> </a:t>
            </a:r>
            <a:r>
              <a:rPr dirty="0"/>
              <a:t>Internas</a:t>
            </a:r>
            <a:r>
              <a:rPr dirty="0" spc="-30"/>
              <a:t> </a:t>
            </a:r>
            <a:r>
              <a:rPr dirty="0"/>
              <a:t>frente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45"/>
              <a:t> </a:t>
            </a:r>
            <a:r>
              <a:rPr dirty="0" spc="-10"/>
              <a:t>Externas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/>
              <a:t>Uniones</a:t>
            </a:r>
            <a:r>
              <a:rPr dirty="0" spc="-20"/>
              <a:t> </a:t>
            </a:r>
            <a:r>
              <a:rPr dirty="0"/>
              <a:t>Internas</a:t>
            </a:r>
            <a:r>
              <a:rPr dirty="0" spc="-30"/>
              <a:t> </a:t>
            </a:r>
            <a:r>
              <a:rPr dirty="0"/>
              <a:t>frente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45"/>
              <a:t> </a:t>
            </a:r>
            <a:r>
              <a:rPr dirty="0" spc="-10"/>
              <a:t>Externas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/>
              <a:t>Uniones</a:t>
            </a:r>
            <a:r>
              <a:rPr dirty="0" spc="-20"/>
              <a:t> </a:t>
            </a:r>
            <a:r>
              <a:rPr dirty="0"/>
              <a:t>Internas</a:t>
            </a:r>
            <a:r>
              <a:rPr dirty="0" spc="-30"/>
              <a:t> </a:t>
            </a:r>
            <a:r>
              <a:rPr dirty="0"/>
              <a:t>frente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45"/>
              <a:t> </a:t>
            </a:r>
            <a:r>
              <a:rPr dirty="0" spc="-10"/>
              <a:t>Externas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/>
              <a:t>Uniones</a:t>
            </a:r>
            <a:r>
              <a:rPr dirty="0" spc="-20"/>
              <a:t> </a:t>
            </a:r>
            <a:r>
              <a:rPr dirty="0"/>
              <a:t>Internas</a:t>
            </a:r>
            <a:r>
              <a:rPr dirty="0" spc="-30"/>
              <a:t> </a:t>
            </a:r>
            <a:r>
              <a:rPr dirty="0"/>
              <a:t>frente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45"/>
              <a:t> </a:t>
            </a:r>
            <a:r>
              <a:rPr dirty="0" spc="-10"/>
              <a:t>Externas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112" y="748031"/>
            <a:ext cx="6764655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8741" y="3366777"/>
            <a:ext cx="8435975" cy="2388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72119" y="6589648"/>
            <a:ext cx="3222625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74191" y="6516395"/>
            <a:ext cx="1553845" cy="249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/>
              <a:t>Uniones</a:t>
            </a:r>
            <a:r>
              <a:rPr dirty="0" spc="-20"/>
              <a:t> </a:t>
            </a:r>
            <a:r>
              <a:rPr dirty="0"/>
              <a:t>Internas</a:t>
            </a:r>
            <a:r>
              <a:rPr dirty="0" spc="-30"/>
              <a:t> </a:t>
            </a:r>
            <a:r>
              <a:rPr dirty="0"/>
              <a:t>frente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45"/>
              <a:t> </a:t>
            </a:r>
            <a:r>
              <a:rPr dirty="0" spc="-10"/>
              <a:t>Externas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25090" y="6567768"/>
            <a:ext cx="17907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Relationship Id="rId6" Type="http://schemas.openxmlformats.org/officeDocument/2006/relationships/slide" Target="slide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Relationship Id="rId4" Type="http://schemas.openxmlformats.org/officeDocument/2006/relationships/slide" Target="slide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Relationship Id="rId4" Type="http://schemas.openxmlformats.org/officeDocument/2006/relationships/slide" Target="slide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Relationship Id="rId4" Type="http://schemas.openxmlformats.org/officeDocument/2006/relationships/slide" Target="slide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6.xml"/><Relationship Id="rId5" Type="http://schemas.openxmlformats.org/officeDocument/2006/relationships/slide" Target="slide6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7.xml"/><Relationship Id="rId5" Type="http://schemas.openxmlformats.org/officeDocument/2006/relationships/slide" Target="slide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60831" y="702563"/>
              <a:ext cx="8022590" cy="5453380"/>
            </a:xfrm>
            <a:custGeom>
              <a:avLst/>
              <a:gdLst/>
              <a:ahLst/>
              <a:cxnLst/>
              <a:rect l="l" t="t" r="r" b="b"/>
              <a:pathLst>
                <a:path w="8022590" h="545338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E0E2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0787" y="5570219"/>
              <a:ext cx="1258824" cy="420623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0578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58315" y="862895"/>
            <a:ext cx="7047865" cy="1342390"/>
          </a:xfrm>
          <a:prstGeom prst="rect"/>
        </p:spPr>
        <p:txBody>
          <a:bodyPr wrap="square" lIns="0" tIns="153670" rIns="0" bIns="0" rtlCol="0" vert="horz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210"/>
              </a:spcBef>
            </a:pPr>
            <a:r>
              <a:rPr dirty="0" sz="4800"/>
              <a:t>Database</a:t>
            </a:r>
            <a:r>
              <a:rPr dirty="0" sz="4800" spc="-190"/>
              <a:t> </a:t>
            </a:r>
            <a:r>
              <a:rPr dirty="0" sz="4800" spc="-20"/>
              <a:t>Programming</a:t>
            </a:r>
            <a:r>
              <a:rPr dirty="0" sz="4800" spc="-185"/>
              <a:t> </a:t>
            </a:r>
            <a:r>
              <a:rPr dirty="0" sz="4800" spc="-20"/>
              <a:t>with </a:t>
            </a:r>
            <a:r>
              <a:rPr dirty="0" sz="4800" spc="-25"/>
              <a:t>SQL</a:t>
            </a:r>
            <a:endParaRPr sz="4800"/>
          </a:p>
        </p:txBody>
      </p:sp>
      <p:sp>
        <p:nvSpPr>
          <p:cNvPr id="8" name="object 8" descr=""/>
          <p:cNvSpPr txBox="1"/>
          <p:nvPr/>
        </p:nvSpPr>
        <p:spPr>
          <a:xfrm>
            <a:off x="962879" y="2400950"/>
            <a:ext cx="4395470" cy="88836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6-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Uniones</a:t>
            </a:r>
            <a:r>
              <a:rPr dirty="0" sz="2400" spc="-8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Internas</a:t>
            </a:r>
            <a:r>
              <a:rPr dirty="0" sz="2400" spc="-6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frente</a:t>
            </a:r>
            <a:r>
              <a:rPr dirty="0" sz="2400" spc="-6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400" spc="-7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Externas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46576" y="3599688"/>
            <a:ext cx="5058156" cy="29657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Uniones</a:t>
            </a:r>
            <a:r>
              <a:rPr dirty="0" spc="-65"/>
              <a:t> </a:t>
            </a:r>
            <a:r>
              <a:rPr dirty="0"/>
              <a:t>Internas</a:t>
            </a:r>
            <a:r>
              <a:rPr dirty="0" spc="-60"/>
              <a:t> </a:t>
            </a:r>
            <a:r>
              <a:rPr dirty="0"/>
              <a:t>y</a:t>
            </a:r>
            <a:r>
              <a:rPr dirty="0" spc="-75"/>
              <a:t> </a:t>
            </a:r>
            <a:r>
              <a:rPr dirty="0" spc="-10"/>
              <a:t>Externas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/>
              <a:t>Uniones</a:t>
            </a:r>
            <a:r>
              <a:rPr dirty="0" spc="-20"/>
              <a:t> </a:t>
            </a:r>
            <a:r>
              <a:rPr dirty="0"/>
              <a:t>Internas</a:t>
            </a:r>
            <a:r>
              <a:rPr dirty="0" spc="-30"/>
              <a:t> </a:t>
            </a:r>
            <a:r>
              <a:rPr dirty="0"/>
              <a:t>frente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45"/>
              <a:t> </a:t>
            </a:r>
            <a:r>
              <a:rPr dirty="0" spc="-10"/>
              <a:t>Externas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5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381889"/>
            <a:ext cx="8098155" cy="4170045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82880" marR="485775" indent="-170815">
              <a:lnSpc>
                <a:spcPct val="80000"/>
              </a:lnSpc>
              <a:spcBef>
                <a:spcPts val="76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ANSI-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99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SQL,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unión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dos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más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tablas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devuelven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solo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filas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coincidentes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denomina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unión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interna</a:t>
            </a:r>
            <a:endParaRPr sz="2800">
              <a:latin typeface="Calibri"/>
              <a:cs typeface="Calibri"/>
            </a:endParaRPr>
          </a:p>
          <a:p>
            <a:pPr marL="159385" marR="313055" indent="-147320">
              <a:lnSpc>
                <a:spcPct val="80000"/>
              </a:lnSpc>
              <a:spcBef>
                <a:spcPts val="81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Cuando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unión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devuelve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filas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coincidentes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,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así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coincidentes,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denomina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unión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externa</a:t>
            </a:r>
            <a:endParaRPr sz="2800">
              <a:latin typeface="Calibri"/>
              <a:cs typeface="Calibri"/>
            </a:endParaRPr>
          </a:p>
          <a:p>
            <a:pPr marL="182880" marR="605790" indent="-170815">
              <a:lnSpc>
                <a:spcPct val="80000"/>
              </a:lnSpc>
              <a:spcBef>
                <a:spcPts val="79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sintaxis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uniones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externas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los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términos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"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izquierda,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completa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y</a:t>
            </a:r>
            <a:r>
              <a:rPr dirty="0" u="heavy" sz="2800" spc="-9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derecha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"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ct val="80000"/>
              </a:lnSpc>
              <a:spcBef>
                <a:spcPts val="80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Estos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están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asociados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orden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los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FROM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sentencia 	SELECT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Uniones</a:t>
            </a:r>
            <a:r>
              <a:rPr dirty="0" spc="-70"/>
              <a:t> </a:t>
            </a:r>
            <a:r>
              <a:rPr dirty="0"/>
              <a:t>Externas</a:t>
            </a:r>
            <a:r>
              <a:rPr dirty="0" spc="-80"/>
              <a:t> </a:t>
            </a:r>
            <a:r>
              <a:rPr dirty="0" spc="-10"/>
              <a:t>Izquierdas</a:t>
            </a:r>
            <a:r>
              <a:rPr dirty="0" spc="-70"/>
              <a:t> </a:t>
            </a:r>
            <a:r>
              <a:rPr dirty="0"/>
              <a:t>y</a:t>
            </a:r>
            <a:r>
              <a:rPr dirty="0" spc="-75"/>
              <a:t> </a:t>
            </a:r>
            <a:r>
              <a:rPr dirty="0" spc="-10"/>
              <a:t>Derechas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771130" cy="16046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mostrado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externa 	izquierda,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tenga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cuenta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nombre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aparece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izquierda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palabras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"left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outer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join"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hace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referencia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como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"tabla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izquierda"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5731286" y="3064724"/>
          <a:ext cx="2862580" cy="26396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6310"/>
                <a:gridCol w="683895"/>
                <a:gridCol w="1134745"/>
              </a:tblGrid>
              <a:tr h="24066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DEPT_ID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DEPT_NAME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066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Whalen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066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Fay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Marketing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066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066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Zlotkey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80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066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4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Haan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Executive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066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Kochhar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Executive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066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Executive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066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Gietz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110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Accounting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066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Higgins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110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Accounting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3045">
                <a:tc>
                  <a:txBody>
                    <a:bodyPr/>
                    <a:lstStyle/>
                    <a:p>
                      <a:pPr marL="8890">
                        <a:lnSpc>
                          <a:spcPts val="1655"/>
                        </a:lnSpc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Grant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ts val="1655"/>
                        </a:lnSpc>
                      </a:pP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ts val="1655"/>
                        </a:lnSpc>
                      </a:pP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2698242" y="3633978"/>
            <a:ext cx="2334895" cy="346075"/>
          </a:xfrm>
          <a:prstGeom prst="rect">
            <a:avLst/>
          </a:prstGeom>
          <a:solidFill>
            <a:srgbClr val="9DBEC4">
              <a:alpha val="50199"/>
            </a:srgbClr>
          </a:solidFill>
          <a:ln w="38100">
            <a:solidFill>
              <a:srgbClr val="D1350F"/>
            </a:solidFill>
          </a:ln>
        </p:spPr>
        <p:txBody>
          <a:bodyPr wrap="square" lIns="0" tIns="43815" rIns="0" bIns="0" rtlCol="0" vert="horz">
            <a:spAutoFit/>
          </a:bodyPr>
          <a:lstStyle/>
          <a:p>
            <a:pPr marL="27305">
              <a:lnSpc>
                <a:spcPct val="100000"/>
              </a:lnSpc>
              <a:spcBef>
                <a:spcPts val="34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LEFT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OUTER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JOIN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5384" y="3070860"/>
            <a:ext cx="5209540" cy="1818639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58419" rIns="0" bIns="0" rtlCol="0" vert="horz">
            <a:spAutoFit/>
          </a:bodyPr>
          <a:lstStyle/>
          <a:p>
            <a:pPr marR="287020">
              <a:lnSpc>
                <a:spcPct val="100000"/>
              </a:lnSpc>
              <a:spcBef>
                <a:spcPts val="459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e.last_name,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d.department_id, d.department_name</a:t>
            </a:r>
            <a:endParaRPr sz="1800">
              <a:latin typeface="Courier New"/>
              <a:cs typeface="Courier New"/>
            </a:endParaRPr>
          </a:p>
          <a:p>
            <a:pPr marR="301625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e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departments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d</a:t>
            </a:r>
            <a:endParaRPr sz="1800">
              <a:latin typeface="Courier New"/>
              <a:cs typeface="Courier New"/>
            </a:endParaRPr>
          </a:p>
          <a:p>
            <a:pPr marR="233362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ON</a:t>
            </a:r>
            <a:r>
              <a:rPr dirty="0" sz="1800" spc="-9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(e.department_id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=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d.department_id);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4199382" y="5559547"/>
            <a:ext cx="1416685" cy="114300"/>
            <a:chOff x="4199382" y="5559547"/>
            <a:chExt cx="1416685" cy="114300"/>
          </a:xfrm>
        </p:grpSpPr>
        <p:sp>
          <p:nvSpPr>
            <p:cNvPr id="8" name="object 8" descr=""/>
            <p:cNvSpPr/>
            <p:nvPr/>
          </p:nvSpPr>
          <p:spPr>
            <a:xfrm>
              <a:off x="4199382" y="5616702"/>
              <a:ext cx="1321435" cy="0"/>
            </a:xfrm>
            <a:custGeom>
              <a:avLst/>
              <a:gdLst/>
              <a:ahLst/>
              <a:cxnLst/>
              <a:rect l="l" t="t" r="r" b="b"/>
              <a:pathLst>
                <a:path w="1321435" h="0">
                  <a:moveTo>
                    <a:pt x="0" y="0"/>
                  </a:moveTo>
                  <a:lnTo>
                    <a:pt x="1321269" y="0"/>
                  </a:lnTo>
                </a:path>
              </a:pathLst>
            </a:custGeom>
            <a:ln w="38100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501607" y="5559547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362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1564" y="365759"/>
            <a:ext cx="797050" cy="1101852"/>
          </a:xfrm>
          <a:prstGeom prst="rect">
            <a:avLst/>
          </a:prstGeom>
        </p:spPr>
      </p:pic>
      <p:sp>
        <p:nvSpPr>
          <p:cNvPr id="11" name="object 1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/>
              <a:t>Uniones</a:t>
            </a:r>
            <a:r>
              <a:rPr dirty="0" spc="-20"/>
              <a:t> </a:t>
            </a:r>
            <a:r>
              <a:rPr dirty="0"/>
              <a:t>Internas</a:t>
            </a:r>
            <a:r>
              <a:rPr dirty="0" spc="-30"/>
              <a:t> </a:t>
            </a:r>
            <a:r>
              <a:rPr dirty="0"/>
              <a:t>frente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45"/>
              <a:t> </a:t>
            </a:r>
            <a:r>
              <a:rPr dirty="0" spc="-10"/>
              <a:t>Externas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6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Uniones</a:t>
            </a:r>
            <a:r>
              <a:rPr dirty="0" spc="-70"/>
              <a:t> </a:t>
            </a:r>
            <a:r>
              <a:rPr dirty="0"/>
              <a:t>Externas</a:t>
            </a:r>
            <a:r>
              <a:rPr dirty="0" spc="-80"/>
              <a:t> </a:t>
            </a:r>
            <a:r>
              <a:rPr dirty="0" spc="-10"/>
              <a:t>Izquierdas</a:t>
            </a:r>
            <a:r>
              <a:rPr dirty="0" spc="-70"/>
              <a:t> </a:t>
            </a:r>
            <a:r>
              <a:rPr dirty="0"/>
              <a:t>y</a:t>
            </a:r>
            <a:r>
              <a:rPr dirty="0" spc="-75"/>
              <a:t> </a:t>
            </a:r>
            <a:r>
              <a:rPr dirty="0" spc="-10"/>
              <a:t>Derechas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736205" cy="12204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consulta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devolverá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apellidos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todos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los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empleados,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tanto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aquellos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estén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asignados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</a:t>
            </a:r>
            <a:r>
              <a:rPr dirty="0" u="heavy" sz="2800" spc="-9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departamento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como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5731286" y="3064724"/>
          <a:ext cx="2862580" cy="26396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6310"/>
                <a:gridCol w="683895"/>
                <a:gridCol w="1134745"/>
              </a:tblGrid>
              <a:tr h="24066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DEPT_ID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DEPT_NAME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066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Whalen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066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Fay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Marketing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066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066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Zlotkey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80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066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4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Haan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Executive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066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Kochhar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Executive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066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Executive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066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Gietz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110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Accounting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0665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Higgins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110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Accounting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3045">
                <a:tc>
                  <a:txBody>
                    <a:bodyPr/>
                    <a:lstStyle/>
                    <a:p>
                      <a:pPr marL="8890">
                        <a:lnSpc>
                          <a:spcPts val="1655"/>
                        </a:lnSpc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Grant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ts val="1655"/>
                        </a:lnSpc>
                      </a:pP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ts val="1655"/>
                        </a:lnSpc>
                      </a:pP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2698242" y="3633978"/>
            <a:ext cx="2334895" cy="346075"/>
          </a:xfrm>
          <a:prstGeom prst="rect">
            <a:avLst/>
          </a:prstGeom>
          <a:solidFill>
            <a:srgbClr val="9DBEC4">
              <a:alpha val="50199"/>
            </a:srgbClr>
          </a:solidFill>
          <a:ln w="38100">
            <a:solidFill>
              <a:srgbClr val="D1350F"/>
            </a:solidFill>
          </a:ln>
        </p:spPr>
        <p:txBody>
          <a:bodyPr wrap="square" lIns="0" tIns="43815" rIns="0" bIns="0" rtlCol="0" vert="horz">
            <a:spAutoFit/>
          </a:bodyPr>
          <a:lstStyle/>
          <a:p>
            <a:pPr marL="27305">
              <a:lnSpc>
                <a:spcPct val="100000"/>
              </a:lnSpc>
              <a:spcBef>
                <a:spcPts val="34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LEFT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OUTER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JOIN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5384" y="3070860"/>
            <a:ext cx="5209540" cy="1818639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58419" rIns="0" bIns="0" rtlCol="0" vert="horz">
            <a:spAutoFit/>
          </a:bodyPr>
          <a:lstStyle/>
          <a:p>
            <a:pPr marR="287020">
              <a:lnSpc>
                <a:spcPct val="100000"/>
              </a:lnSpc>
              <a:spcBef>
                <a:spcPts val="459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e.last_name,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d.department_id, d.department_name</a:t>
            </a:r>
            <a:endParaRPr sz="1800">
              <a:latin typeface="Courier New"/>
              <a:cs typeface="Courier New"/>
            </a:endParaRPr>
          </a:p>
          <a:p>
            <a:pPr marR="3016250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e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departments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d</a:t>
            </a:r>
            <a:endParaRPr sz="1800">
              <a:latin typeface="Courier New"/>
              <a:cs typeface="Courier New"/>
            </a:endParaRPr>
          </a:p>
          <a:p>
            <a:pPr marR="233362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ON</a:t>
            </a:r>
            <a:r>
              <a:rPr dirty="0" sz="1800" spc="-9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(e.department_id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=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d.department_id);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4199382" y="5559547"/>
            <a:ext cx="1416685" cy="114300"/>
            <a:chOff x="4199382" y="5559547"/>
            <a:chExt cx="1416685" cy="114300"/>
          </a:xfrm>
        </p:grpSpPr>
        <p:sp>
          <p:nvSpPr>
            <p:cNvPr id="8" name="object 8" descr=""/>
            <p:cNvSpPr/>
            <p:nvPr/>
          </p:nvSpPr>
          <p:spPr>
            <a:xfrm>
              <a:off x="4199382" y="5616702"/>
              <a:ext cx="1321435" cy="0"/>
            </a:xfrm>
            <a:custGeom>
              <a:avLst/>
              <a:gdLst/>
              <a:ahLst/>
              <a:cxnLst/>
              <a:rect l="l" t="t" r="r" b="b"/>
              <a:pathLst>
                <a:path w="1321435" h="0">
                  <a:moveTo>
                    <a:pt x="0" y="0"/>
                  </a:moveTo>
                  <a:lnTo>
                    <a:pt x="1321269" y="0"/>
                  </a:lnTo>
                </a:path>
              </a:pathLst>
            </a:custGeom>
            <a:ln w="38100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501607" y="5559547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362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1564" y="365759"/>
            <a:ext cx="1040892" cy="1437132"/>
          </a:xfrm>
          <a:prstGeom prst="rect">
            <a:avLst/>
          </a:prstGeom>
        </p:spPr>
      </p:pic>
      <p:sp>
        <p:nvSpPr>
          <p:cNvPr id="11" name="object 1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/>
              <a:t>Uniones</a:t>
            </a:r>
            <a:r>
              <a:rPr dirty="0" spc="-20"/>
              <a:t> </a:t>
            </a:r>
            <a:r>
              <a:rPr dirty="0"/>
              <a:t>Internas</a:t>
            </a:r>
            <a:r>
              <a:rPr dirty="0" spc="-30"/>
              <a:t> </a:t>
            </a:r>
            <a:r>
              <a:rPr dirty="0"/>
              <a:t>frente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45"/>
              <a:t> </a:t>
            </a:r>
            <a:r>
              <a:rPr dirty="0" spc="-10"/>
              <a:t>Externas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7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Uniones</a:t>
            </a:r>
            <a:r>
              <a:rPr dirty="0" spc="-70"/>
              <a:t> </a:t>
            </a:r>
            <a:r>
              <a:rPr dirty="0"/>
              <a:t>Externas</a:t>
            </a:r>
            <a:r>
              <a:rPr dirty="0" spc="-80"/>
              <a:t> </a:t>
            </a:r>
            <a:r>
              <a:rPr dirty="0" spc="-10"/>
              <a:t>Izquierdas</a:t>
            </a:r>
            <a:r>
              <a:rPr dirty="0" spc="-70"/>
              <a:t> </a:t>
            </a:r>
            <a:r>
              <a:rPr dirty="0"/>
              <a:t>y</a:t>
            </a:r>
            <a:r>
              <a:rPr dirty="0" spc="-75"/>
              <a:t> </a:t>
            </a:r>
            <a:r>
              <a:rPr dirty="0" spc="-10"/>
              <a:t>Derechas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922259" cy="16046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externa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derecha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devolvería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todos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ID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departamento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departamento,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tanto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aquellos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tengan</a:t>
            </a:r>
            <a:r>
              <a:rPr dirty="0" u="heavy" sz="2800" spc="-1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empleados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asignados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como</a:t>
            </a:r>
            <a:r>
              <a:rPr dirty="0" u="heavy" sz="2800" spc="-9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5555122" y="3064724"/>
          <a:ext cx="3326765" cy="2386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5380"/>
                <a:gridCol w="932815"/>
                <a:gridCol w="1169670"/>
              </a:tblGrid>
              <a:tr h="23876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DEPT_ID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DEPT_NAME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Whalen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Hartstein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Marketing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Executive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Kochhar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Executive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4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4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Haan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Executive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2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Higgins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110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Accounting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Gietz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110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Accounting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solidFill>
                      <a:srgbClr val="D1350F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4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190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solidFill>
                      <a:srgbClr val="D1350F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Contracting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solidFill>
                      <a:srgbClr val="D1350F"/>
                    </a:solidFill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405384" y="3070860"/>
            <a:ext cx="5011420" cy="1818639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58419" rIns="0" bIns="0" rtlCol="0" vert="horz">
            <a:spAutoFit/>
          </a:bodyPr>
          <a:lstStyle/>
          <a:p>
            <a:pPr marR="88900">
              <a:lnSpc>
                <a:spcPct val="100000"/>
              </a:lnSpc>
              <a:spcBef>
                <a:spcPts val="459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e.last_name,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d.department_id, d.department_name</a:t>
            </a:r>
            <a:endParaRPr sz="1800">
              <a:latin typeface="Courier New"/>
              <a:cs typeface="Courier New"/>
            </a:endParaRPr>
          </a:p>
          <a:p>
            <a:pPr marR="49974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RIGHT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OUTER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JOIN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departments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d</a:t>
            </a:r>
            <a:endParaRPr sz="1800">
              <a:latin typeface="Courier New"/>
              <a:cs typeface="Courier New"/>
            </a:endParaRPr>
          </a:p>
          <a:p>
            <a:pPr marR="213550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ON</a:t>
            </a:r>
            <a:r>
              <a:rPr dirty="0" sz="1800" spc="-9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(e.department_id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=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d.department_id);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3999738" y="5268462"/>
            <a:ext cx="1416685" cy="114300"/>
            <a:chOff x="3999738" y="5268462"/>
            <a:chExt cx="1416685" cy="114300"/>
          </a:xfrm>
        </p:grpSpPr>
        <p:sp>
          <p:nvSpPr>
            <p:cNvPr id="7" name="object 7" descr=""/>
            <p:cNvSpPr/>
            <p:nvPr/>
          </p:nvSpPr>
          <p:spPr>
            <a:xfrm>
              <a:off x="3999738" y="5325617"/>
              <a:ext cx="1321435" cy="0"/>
            </a:xfrm>
            <a:custGeom>
              <a:avLst/>
              <a:gdLst/>
              <a:ahLst/>
              <a:cxnLst/>
              <a:rect l="l" t="t" r="r" b="b"/>
              <a:pathLst>
                <a:path w="1321435" h="0">
                  <a:moveTo>
                    <a:pt x="0" y="0"/>
                  </a:moveTo>
                  <a:lnTo>
                    <a:pt x="1321269" y="0"/>
                  </a:lnTo>
                </a:path>
              </a:pathLst>
            </a:custGeom>
            <a:ln w="38100">
              <a:solidFill>
                <a:srgbClr val="4E362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301963" y="5268462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299"/>
                  </a:lnTo>
                  <a:lnTo>
                    <a:pt x="114300" y="571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362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1564" y="365760"/>
            <a:ext cx="862582" cy="1191767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/>
              <a:t>Uniones</a:t>
            </a:r>
            <a:r>
              <a:rPr dirty="0" spc="-20"/>
              <a:t> </a:t>
            </a:r>
            <a:r>
              <a:rPr dirty="0"/>
              <a:t>Internas</a:t>
            </a:r>
            <a:r>
              <a:rPr dirty="0" spc="-30"/>
              <a:t> </a:t>
            </a:r>
            <a:r>
              <a:rPr dirty="0"/>
              <a:t>frente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45"/>
              <a:t> </a:t>
            </a:r>
            <a:r>
              <a:rPr dirty="0" spc="-10"/>
              <a:t>Externas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8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Unión</a:t>
            </a:r>
            <a:r>
              <a:rPr dirty="0" spc="-65"/>
              <a:t> </a:t>
            </a:r>
            <a:r>
              <a:rPr dirty="0"/>
              <a:t>Externa</a:t>
            </a:r>
            <a:r>
              <a:rPr dirty="0" spc="-85"/>
              <a:t> </a:t>
            </a:r>
            <a:r>
              <a:rPr dirty="0" spc="-10"/>
              <a:t>Completa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35290" cy="37287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15875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crear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condición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recuperar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todas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coincidentes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todas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no 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coincidentes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ambas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endParaRPr sz="2800">
              <a:latin typeface="Calibri"/>
              <a:cs typeface="Calibri"/>
            </a:endParaRPr>
          </a:p>
          <a:p>
            <a:pPr marL="182880" marR="761365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externa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completa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resuelve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este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problema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juego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resultados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externa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completa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incluye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externa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izquierda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y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externa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derecha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combinadas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duplicación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6324600" y="4732020"/>
            <a:ext cx="2165985" cy="1525905"/>
            <a:chOff x="6324600" y="4732020"/>
            <a:chExt cx="2165985" cy="152590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24600" y="4732020"/>
              <a:ext cx="2165604" cy="152552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9943" y="4811268"/>
              <a:ext cx="1994903" cy="1367015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/>
              <a:t>Uniones</a:t>
            </a:r>
            <a:r>
              <a:rPr dirty="0" spc="-20"/>
              <a:t> </a:t>
            </a:r>
            <a:r>
              <a:rPr dirty="0"/>
              <a:t>Internas</a:t>
            </a:r>
            <a:r>
              <a:rPr dirty="0" spc="-30"/>
              <a:t> </a:t>
            </a:r>
            <a:r>
              <a:rPr dirty="0"/>
              <a:t>frente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45"/>
              <a:t> </a:t>
            </a:r>
            <a:r>
              <a:rPr dirty="0" spc="-10"/>
              <a:t>Externas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9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Ejemplo</a:t>
            </a:r>
            <a:r>
              <a:rPr dirty="0" spc="-60"/>
              <a:t> </a:t>
            </a:r>
            <a:r>
              <a:rPr dirty="0"/>
              <a:t>de</a:t>
            </a:r>
            <a:r>
              <a:rPr dirty="0" spc="-55"/>
              <a:t> </a:t>
            </a:r>
            <a:r>
              <a:rPr dirty="0"/>
              <a:t>FULL</a:t>
            </a:r>
            <a:r>
              <a:rPr dirty="0" spc="-70"/>
              <a:t> </a:t>
            </a:r>
            <a:r>
              <a:rPr dirty="0"/>
              <a:t>OUTER</a:t>
            </a:r>
            <a:r>
              <a:rPr dirty="0" spc="-50"/>
              <a:t> </a:t>
            </a:r>
            <a:r>
              <a:rPr dirty="0" spc="-20"/>
              <a:t>JOIN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530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muestra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externa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completa.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6909816" y="288036"/>
            <a:ext cx="1937385" cy="1369060"/>
            <a:chOff x="6909816" y="288036"/>
            <a:chExt cx="1937385" cy="136906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09816" y="288036"/>
              <a:ext cx="1937003" cy="1368552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93636" y="365760"/>
              <a:ext cx="1769364" cy="1213103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2657094" y="2439161"/>
            <a:ext cx="2188845" cy="250190"/>
          </a:xfrm>
          <a:prstGeom prst="rect">
            <a:avLst/>
          </a:prstGeom>
          <a:solidFill>
            <a:srgbClr val="9DBEC4">
              <a:alpha val="50199"/>
            </a:srgbClr>
          </a:solidFill>
          <a:ln w="38100">
            <a:solidFill>
              <a:srgbClr val="D1350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56515">
              <a:lnSpc>
                <a:spcPts val="180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FULL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OUTER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JOIN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3</a:t>
            </a:r>
          </a:p>
          <a:p>
            <a:pPr marL="12700">
              <a:lnSpc>
                <a:spcPts val="965"/>
              </a:lnSpc>
            </a:pPr>
            <a:r>
              <a:rPr dirty="0"/>
              <a:t>Uniones</a:t>
            </a:r>
            <a:r>
              <a:rPr dirty="0" spc="-20"/>
              <a:t> </a:t>
            </a:r>
            <a:r>
              <a:rPr dirty="0"/>
              <a:t>Internas</a:t>
            </a:r>
            <a:r>
              <a:rPr dirty="0" spc="-30"/>
              <a:t> </a:t>
            </a:r>
            <a:r>
              <a:rPr dirty="0"/>
              <a:t>frente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45"/>
              <a:t> </a:t>
            </a:r>
            <a:r>
              <a:rPr dirty="0" spc="-10"/>
              <a:t>Externas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10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393191" y="2054351"/>
            <a:ext cx="8345805" cy="100901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64769" rIns="0" bIns="0" rtlCol="0" vert="horz">
            <a:spAutoFit/>
          </a:bodyPr>
          <a:lstStyle/>
          <a:p>
            <a:pPr marR="965835">
              <a:lnSpc>
                <a:spcPct val="100000"/>
              </a:lnSpc>
              <a:spcBef>
                <a:spcPts val="509"/>
              </a:spcBef>
              <a:tabLst>
                <a:tab pos="4502785" algn="l"/>
              </a:tabLst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11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e.last_name,</a:t>
            </a:r>
            <a:r>
              <a:rPr dirty="0" sz="1800" spc="-11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d.department_id,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d.department_name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e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	departments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d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ON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(e.department_id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d.department_id);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386841" y="3366777"/>
          <a:ext cx="8435975" cy="2388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8120"/>
                <a:gridCol w="2802889"/>
                <a:gridCol w="2806065"/>
              </a:tblGrid>
              <a:tr h="23876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DEPT_ID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DEPT_NAME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939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Executive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Kochhar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Executive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939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Taylor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80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Grant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solidFill>
                      <a:srgbClr val="D1350F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solidFill>
                      <a:srgbClr val="D1350F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solidFill>
                      <a:srgbClr val="D1350F"/>
                    </a:solidFill>
                  </a:tcPr>
                </a:tc>
              </a:tr>
              <a:tr h="233045">
                <a:tc>
                  <a:txBody>
                    <a:bodyPr/>
                    <a:lstStyle/>
                    <a:p>
                      <a:pPr marL="23495">
                        <a:lnSpc>
                          <a:spcPts val="1650"/>
                        </a:lnSpc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Mourgos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ts val="1650"/>
                        </a:lnSpc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ts val="1650"/>
                        </a:lnSpc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Shipping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4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190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33045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Fay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Marketing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4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solidFill>
                      <a:srgbClr val="D1350F"/>
                    </a:solidFill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400" spc="-25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190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solidFill>
                      <a:srgbClr val="D1350F"/>
                    </a:solidFill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400" spc="-1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Contracting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31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solidFill>
                      <a:srgbClr val="D1350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Oracle Academy</dc:creator>
  <dc:title>PowerPoint Presentation</dc:title>
  <dcterms:created xsi:type="dcterms:W3CDTF">2025-06-01T18:19:18Z</dcterms:created>
  <dcterms:modified xsi:type="dcterms:W3CDTF">2025-06-01T18:19:18Z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2025-03-17T00:00:00Z</vt:filetime>
  </property>
  <property fmtid="{D5CDD505-2E9C-101B-9397-08002B2CF9AE}" pid="3" name="Creator">
    <vt:lpwstr>Acrobat PDFMaker 20 for PowerPoint</vt:lpwstr>
  </property>
  <property fmtid="{D5CDD505-2E9C-101B-9397-08002B2CF9AE}" pid="4" name="LastSaved">
    <vt:filetime>2025-06-01T00:00:00Z</vt:filetime>
  </property>
  <property fmtid="{D5CDD505-2E9C-101B-9397-08002B2CF9AE}" pid="5" name="Producer">
    <vt:lpwstr>macOS Version 15.3.1 (Build 24D70) Quartz PDFContext</vt:lpwstr>
  </property>
</Properties>
</file>