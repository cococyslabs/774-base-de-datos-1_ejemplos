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18:53:15</a:t>
            </a:r>
          </a:p>
          <a:p>
            <a:r>
              <a:t>--------------------------------------------</a:t>
            </a:r>
          </a:p>
          <a:p>
            <a:r>
              <a:t>Referencia: http://www.ansi.org/default.aspx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18:53:17</a:t>
            </a:r>
          </a:p>
          <a:p>
            <a:r>
              <a:t>--------------------------------------------</a:t>
            </a:r>
          </a:p>
          <a:p>
            <a:r>
              <a:t>La cláusula WHERE se ha agregado para aplicar una restricción adicional a una de las tablas, para limitar las filas de la salida.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18:53:18</a:t>
            </a:r>
          </a:p>
          <a:p>
            <a:r>
              <a:t>--------------------------------------------</a:t>
            </a:r>
          </a:p>
          <a:p>
            <a:r>
              <a:t>El juego de resultados de una CROSS JOIN aúna datos de dos tablas que no están relacionados de forma lógica entre sí.</a:t>
            </a:r>
          </a:p>
          <a:p>
            <a:r>
              <a:t>Las uniones cruzadas son útiles durante las pruebas para crear juegos de datos de gran tamaño para medir el rendimiento de la base de datos.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452247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381889"/>
            <a:ext cx="8154034" cy="4408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720850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Relationship Id="rId5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Relationship Id="rId5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Relationship Id="rId5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Relationship Id="rId5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Relationship Id="rId5" Type="http://schemas.openxmlformats.org/officeDocument/2006/relationships/slide" Target="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88124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6-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Cruzadas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Naturales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0223" y="2723388"/>
            <a:ext cx="393192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Comandos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Unión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9434" cy="37191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1155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Hay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conexiones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Uniones</a:t>
            </a:r>
            <a:r>
              <a:rPr dirty="0" u="heavy" sz="24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propiedad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Oracle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Uniones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estándar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compatibles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ANSI/ISO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SQL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99</a:t>
            </a:r>
            <a:endParaRPr sz="2400">
              <a:latin typeface="Calibri"/>
              <a:cs typeface="Calibri"/>
            </a:endParaRPr>
          </a:p>
          <a:p>
            <a:pPr marL="182880" marR="601980" indent="-170815">
              <a:lnSpc>
                <a:spcPts val="303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curso,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aprenderá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tratarán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curso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adelante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ANSI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182880" marR="62484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ANSI</a:t>
            </a:r>
            <a:r>
              <a:rPr dirty="0" u="none" spc="-45"/>
              <a:t> </a:t>
            </a:r>
            <a:r>
              <a:rPr dirty="0" u="none"/>
              <a:t>son</a:t>
            </a:r>
            <a:r>
              <a:rPr dirty="0" u="none" spc="-35"/>
              <a:t> </a:t>
            </a:r>
            <a:r>
              <a:rPr dirty="0" u="none"/>
              <a:t>las</a:t>
            </a:r>
            <a:r>
              <a:rPr dirty="0" u="none" spc="-55"/>
              <a:t> </a:t>
            </a:r>
            <a:r>
              <a:rPr dirty="0" u="none"/>
              <a:t>siglas</a:t>
            </a:r>
            <a:r>
              <a:rPr dirty="0" u="none" spc="-5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American</a:t>
            </a:r>
            <a:r>
              <a:rPr dirty="0" u="none" spc="-35"/>
              <a:t> </a:t>
            </a:r>
            <a:r>
              <a:rPr dirty="0" u="none"/>
              <a:t>National</a:t>
            </a:r>
            <a:r>
              <a:rPr dirty="0" u="none" spc="-50"/>
              <a:t> </a:t>
            </a:r>
            <a:r>
              <a:rPr dirty="0" u="none" spc="-10"/>
              <a:t>Standards 	Institute</a:t>
            </a: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Fundada</a:t>
            </a:r>
            <a:r>
              <a:rPr dirty="0" u="none" spc="-35"/>
              <a:t> </a:t>
            </a:r>
            <a:r>
              <a:rPr dirty="0" u="none"/>
              <a:t>en</a:t>
            </a:r>
            <a:r>
              <a:rPr dirty="0" u="none" spc="-55"/>
              <a:t> </a:t>
            </a:r>
            <a:r>
              <a:rPr dirty="0" u="none"/>
              <a:t>1918,</a:t>
            </a:r>
            <a:r>
              <a:rPr dirty="0" u="none" spc="-40"/>
              <a:t> </a:t>
            </a:r>
            <a:r>
              <a:rPr dirty="0" u="none"/>
              <a:t>ANSI</a:t>
            </a:r>
            <a:r>
              <a:rPr dirty="0" u="none" spc="-50"/>
              <a:t> </a:t>
            </a:r>
            <a:r>
              <a:rPr dirty="0"/>
              <a:t>es</a:t>
            </a:r>
            <a:r>
              <a:rPr dirty="0" spc="-60"/>
              <a:t> </a:t>
            </a:r>
            <a:r>
              <a:rPr dirty="0"/>
              <a:t>una</a:t>
            </a:r>
            <a:r>
              <a:rPr dirty="0" spc="-50"/>
              <a:t> </a:t>
            </a:r>
            <a:r>
              <a:rPr dirty="0" spc="-10"/>
              <a:t>organización</a:t>
            </a:r>
            <a:r>
              <a:rPr dirty="0" spc="-70"/>
              <a:t> </a:t>
            </a:r>
            <a:r>
              <a:rPr dirty="0"/>
              <a:t>privada</a:t>
            </a:r>
            <a:r>
              <a:rPr dirty="0" spc="-50"/>
              <a:t> </a:t>
            </a:r>
            <a:r>
              <a:rPr dirty="0" spc="-25"/>
              <a:t>sin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ánimo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lucro</a:t>
            </a:r>
            <a:r>
              <a:rPr dirty="0" spc="-60"/>
              <a:t> </a:t>
            </a:r>
            <a:r>
              <a:rPr dirty="0"/>
              <a:t>que</a:t>
            </a:r>
            <a:r>
              <a:rPr dirty="0" spc="-55"/>
              <a:t> </a:t>
            </a:r>
            <a:r>
              <a:rPr dirty="0" spc="-10"/>
              <a:t>administra</a:t>
            </a:r>
            <a:r>
              <a:rPr dirty="0" spc="-45"/>
              <a:t> </a:t>
            </a:r>
            <a:r>
              <a:rPr dirty="0"/>
              <a:t>y</a:t>
            </a:r>
            <a:r>
              <a:rPr dirty="0" spc="-80"/>
              <a:t> </a:t>
            </a:r>
            <a:r>
              <a:rPr dirty="0"/>
              <a:t>coordina</a:t>
            </a:r>
            <a:r>
              <a:rPr dirty="0" spc="-50"/>
              <a:t> </a:t>
            </a:r>
            <a:r>
              <a:rPr dirty="0"/>
              <a:t>el</a:t>
            </a:r>
            <a:r>
              <a:rPr dirty="0" spc="-80"/>
              <a:t> </a:t>
            </a:r>
            <a:r>
              <a:rPr dirty="0"/>
              <a:t>sistema</a:t>
            </a:r>
            <a:r>
              <a:rPr dirty="0" spc="-65"/>
              <a:t> </a:t>
            </a:r>
            <a:r>
              <a:rPr dirty="0" spc="-25"/>
              <a:t>de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evaluación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conformidad</a:t>
            </a:r>
            <a:r>
              <a:rPr dirty="0" spc="-45"/>
              <a:t> </a:t>
            </a:r>
            <a:r>
              <a:rPr dirty="0"/>
              <a:t>y</a:t>
            </a:r>
            <a:r>
              <a:rPr dirty="0" spc="-80"/>
              <a:t> </a:t>
            </a:r>
            <a:r>
              <a:rPr dirty="0" spc="-10"/>
              <a:t>estandarización</a:t>
            </a:r>
            <a:r>
              <a:rPr dirty="0" u="none" spc="-10"/>
              <a:t> </a:t>
            </a:r>
            <a:r>
              <a:rPr dirty="0" u="none" spc="-10"/>
              <a:t>	</a:t>
            </a:r>
            <a:r>
              <a:rPr dirty="0" spc="-10"/>
              <a:t>voluntaria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/>
              <a:t>EE.</a:t>
            </a:r>
            <a:r>
              <a:rPr dirty="0" spc="-40"/>
              <a:t> </a:t>
            </a:r>
            <a:r>
              <a:rPr dirty="0" spc="-25"/>
              <a:t>UU</a:t>
            </a:r>
          </a:p>
          <a:p>
            <a:pPr marL="182880" marR="236854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La</a:t>
            </a:r>
            <a:r>
              <a:rPr dirty="0" u="none" spc="-90"/>
              <a:t> </a:t>
            </a:r>
            <a:r>
              <a:rPr dirty="0" u="none"/>
              <a:t>misión</a:t>
            </a:r>
            <a:r>
              <a:rPr dirty="0" u="none" spc="-55"/>
              <a:t> </a:t>
            </a:r>
            <a:r>
              <a:rPr dirty="0" u="none"/>
              <a:t>del</a:t>
            </a:r>
            <a:r>
              <a:rPr dirty="0" u="none" spc="-80"/>
              <a:t> </a:t>
            </a:r>
            <a:r>
              <a:rPr dirty="0" u="none"/>
              <a:t>Instituto</a:t>
            </a:r>
            <a:r>
              <a:rPr dirty="0" u="none" spc="-60"/>
              <a:t> </a:t>
            </a:r>
            <a:r>
              <a:rPr dirty="0" u="none"/>
              <a:t>es</a:t>
            </a:r>
            <a:r>
              <a:rPr dirty="0" u="none" spc="-75"/>
              <a:t> </a:t>
            </a:r>
            <a:r>
              <a:rPr dirty="0" u="none"/>
              <a:t>mejorar</a:t>
            </a:r>
            <a:r>
              <a:rPr dirty="0" u="none" spc="-90"/>
              <a:t> </a:t>
            </a:r>
            <a:r>
              <a:rPr dirty="0" u="none"/>
              <a:t>tanto</a:t>
            </a:r>
            <a:r>
              <a:rPr dirty="0" u="none" spc="-80"/>
              <a:t> </a:t>
            </a:r>
            <a:r>
              <a:rPr dirty="0" u="none" spc="-25"/>
              <a:t>la </a:t>
            </a:r>
            <a:r>
              <a:rPr dirty="0" u="none" spc="-25"/>
              <a:t>	</a:t>
            </a:r>
            <a:r>
              <a:rPr dirty="0" u="none" spc="-10"/>
              <a:t>competitividad</a:t>
            </a:r>
            <a:r>
              <a:rPr dirty="0" u="none" spc="-30"/>
              <a:t> </a:t>
            </a:r>
            <a:r>
              <a:rPr dirty="0" u="none"/>
              <a:t>global</a:t>
            </a:r>
            <a:r>
              <a:rPr dirty="0" u="none" spc="-65"/>
              <a:t> </a:t>
            </a:r>
            <a:r>
              <a:rPr dirty="0" u="none"/>
              <a:t>de</a:t>
            </a:r>
            <a:r>
              <a:rPr dirty="0" u="none" spc="-40"/>
              <a:t> </a:t>
            </a:r>
            <a:r>
              <a:rPr dirty="0" u="none"/>
              <a:t>negocios</a:t>
            </a:r>
            <a:r>
              <a:rPr dirty="0" u="none" spc="-5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EE.</a:t>
            </a:r>
            <a:r>
              <a:rPr dirty="0" u="none" spc="-55"/>
              <a:t> </a:t>
            </a:r>
            <a:r>
              <a:rPr dirty="0" u="none"/>
              <a:t>UU.</a:t>
            </a:r>
            <a:r>
              <a:rPr dirty="0" u="none" spc="-55"/>
              <a:t> </a:t>
            </a:r>
            <a:r>
              <a:rPr dirty="0" u="none"/>
              <a:t>como</a:t>
            </a:r>
            <a:r>
              <a:rPr dirty="0" u="none" spc="-45"/>
              <a:t> </a:t>
            </a:r>
            <a:r>
              <a:rPr dirty="0" u="none" spc="-25"/>
              <a:t>la </a:t>
            </a:r>
            <a:r>
              <a:rPr dirty="0" u="none" spc="-25"/>
              <a:t>	</a:t>
            </a:r>
            <a:r>
              <a:rPr dirty="0" u="none"/>
              <a:t>calidad</a:t>
            </a:r>
            <a:r>
              <a:rPr dirty="0" u="none" spc="-55"/>
              <a:t>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 spc="-20"/>
              <a:t>vida</a:t>
            </a:r>
          </a:p>
          <a:p>
            <a:pPr marL="184785">
              <a:lnSpc>
                <a:spcPts val="2350"/>
              </a:lnSpc>
            </a:pPr>
            <a:r>
              <a:rPr dirty="0" u="none"/>
              <a:t>de</a:t>
            </a:r>
            <a:r>
              <a:rPr dirty="0" u="none" spc="-30"/>
              <a:t> </a:t>
            </a:r>
            <a:r>
              <a:rPr dirty="0" u="none"/>
              <a:t>EE.</a:t>
            </a:r>
            <a:r>
              <a:rPr dirty="0" u="none" spc="-50"/>
              <a:t> </a:t>
            </a:r>
            <a:r>
              <a:rPr dirty="0" u="none"/>
              <a:t>UU.</a:t>
            </a:r>
            <a:r>
              <a:rPr dirty="0" u="none" spc="-25"/>
              <a:t> </a:t>
            </a:r>
            <a:r>
              <a:rPr dirty="0" u="none"/>
              <a:t>al</a:t>
            </a:r>
            <a:r>
              <a:rPr dirty="0" u="none" spc="-55"/>
              <a:t> </a:t>
            </a:r>
            <a:r>
              <a:rPr dirty="0" u="none" spc="-10"/>
              <a:t>promocionar</a:t>
            </a:r>
            <a:r>
              <a:rPr dirty="0" u="none" spc="-5"/>
              <a:t> </a:t>
            </a:r>
            <a:r>
              <a:rPr dirty="0" u="none"/>
              <a:t>y</a:t>
            </a:r>
            <a:r>
              <a:rPr dirty="0" u="none" spc="-50"/>
              <a:t> </a:t>
            </a:r>
            <a:r>
              <a:rPr dirty="0" u="none"/>
              <a:t>el</a:t>
            </a:r>
            <a:r>
              <a:rPr dirty="0" u="none" spc="-45"/>
              <a:t> </a:t>
            </a:r>
            <a:r>
              <a:rPr dirty="0" u="none" spc="-10"/>
              <a:t>facilitar</a:t>
            </a:r>
            <a:r>
              <a:rPr dirty="0" u="none" spc="-45"/>
              <a:t> </a:t>
            </a:r>
            <a:r>
              <a:rPr dirty="0" u="none"/>
              <a:t>los</a:t>
            </a:r>
            <a:r>
              <a:rPr dirty="0" u="none" spc="-30"/>
              <a:t> </a:t>
            </a:r>
            <a:r>
              <a:rPr dirty="0" u="none" spc="-10"/>
              <a:t>estándares</a:t>
            </a:r>
          </a:p>
          <a:p>
            <a:pPr marL="184785" marR="18415">
              <a:lnSpc>
                <a:spcPct val="80000"/>
              </a:lnSpc>
              <a:spcBef>
                <a:spcPts val="335"/>
              </a:spcBef>
            </a:pPr>
            <a:r>
              <a:rPr dirty="0" u="none"/>
              <a:t>de</a:t>
            </a:r>
            <a:r>
              <a:rPr dirty="0" u="none" spc="-65"/>
              <a:t> </a:t>
            </a:r>
            <a:r>
              <a:rPr dirty="0" u="none" spc="-10"/>
              <a:t>conformidad</a:t>
            </a:r>
            <a:r>
              <a:rPr dirty="0" u="none" spc="-50"/>
              <a:t> </a:t>
            </a:r>
            <a:r>
              <a:rPr dirty="0" u="none" spc="-10"/>
              <a:t>voluntaria</a:t>
            </a:r>
            <a:r>
              <a:rPr dirty="0" u="none" spc="-45"/>
              <a:t> </a:t>
            </a:r>
            <a:r>
              <a:rPr dirty="0" u="none"/>
              <a:t>y</a:t>
            </a:r>
            <a:r>
              <a:rPr dirty="0" u="none" spc="-70"/>
              <a:t> </a:t>
            </a:r>
            <a:r>
              <a:rPr dirty="0" u="none"/>
              <a:t>los</a:t>
            </a:r>
            <a:r>
              <a:rPr dirty="0" u="none" spc="-65"/>
              <a:t> </a:t>
            </a:r>
            <a:r>
              <a:rPr dirty="0" u="none"/>
              <a:t>sistemas</a:t>
            </a:r>
            <a:r>
              <a:rPr dirty="0" u="none" spc="-50"/>
              <a:t> </a:t>
            </a:r>
            <a:r>
              <a:rPr dirty="0" u="none"/>
              <a:t>de</a:t>
            </a:r>
            <a:r>
              <a:rPr dirty="0" u="none" spc="-70"/>
              <a:t> </a:t>
            </a:r>
            <a:r>
              <a:rPr dirty="0" u="none" spc="-10"/>
              <a:t>evaluación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 spc="-10"/>
              <a:t>conformidad,</a:t>
            </a:r>
            <a:r>
              <a:rPr dirty="0" u="none" spc="-25"/>
              <a:t> </a:t>
            </a:r>
            <a:r>
              <a:rPr dirty="0" u="none"/>
              <a:t>así</a:t>
            </a:r>
            <a:r>
              <a:rPr dirty="0" u="none" spc="-70"/>
              <a:t> </a:t>
            </a:r>
            <a:r>
              <a:rPr dirty="0" u="none"/>
              <a:t>como</a:t>
            </a:r>
            <a:r>
              <a:rPr dirty="0" u="none" spc="-55"/>
              <a:t> </a:t>
            </a:r>
            <a:r>
              <a:rPr dirty="0" u="none"/>
              <a:t>al</a:t>
            </a:r>
            <a:r>
              <a:rPr dirty="0" u="none" spc="-65"/>
              <a:t> </a:t>
            </a:r>
            <a:r>
              <a:rPr dirty="0" u="none" spc="-10"/>
              <a:t>proteger</a:t>
            </a:r>
            <a:r>
              <a:rPr dirty="0" u="none" spc="-65"/>
              <a:t> </a:t>
            </a:r>
            <a:r>
              <a:rPr dirty="0" u="none"/>
              <a:t>su</a:t>
            </a:r>
            <a:r>
              <a:rPr dirty="0" u="none" spc="-40"/>
              <a:t> </a:t>
            </a:r>
            <a:r>
              <a:rPr dirty="0" u="none" spc="-10"/>
              <a:t>integridad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SQL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48600" cy="32429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lenguaje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estructurado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(SQL)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lenguaje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estándar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sector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procesamiento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información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gestión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1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relacionales</a:t>
            </a:r>
            <a:r>
              <a:rPr dirty="0" sz="2800" spc="-1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(RDBMS)</a:t>
            </a:r>
            <a:endParaRPr sz="2800">
              <a:latin typeface="Calibri"/>
              <a:cs typeface="Calibri"/>
            </a:endParaRPr>
          </a:p>
          <a:p>
            <a:pPr marL="182880" marR="37782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idioma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diseñado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originalmente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IBM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1970,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tuvo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generalizado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1980,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convirtió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estándar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sector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1986,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adoptado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ANSI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163055" y="4770120"/>
            <a:ext cx="2677795" cy="1800225"/>
            <a:chOff x="6163055" y="4770120"/>
            <a:chExt cx="2677795" cy="18002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3055" y="6018275"/>
              <a:ext cx="2677668" cy="55168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7143" y="4770120"/>
              <a:ext cx="1895855" cy="172211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SQL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93684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Hasta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ahora,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habido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estandarizaciones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basada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anterior</a:t>
            </a:r>
            <a:endParaRPr sz="2800">
              <a:latin typeface="Calibri"/>
              <a:cs typeface="Calibri"/>
            </a:endParaRPr>
          </a:p>
          <a:p>
            <a:pPr marL="159385" marR="335280" indent="-147320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denominan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año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propusieron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primera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vez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ampliamente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conocidos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abreviatura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ANSI-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86,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ANSI-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92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ANSI-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99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150864" y="4344923"/>
            <a:ext cx="2677795" cy="1800225"/>
            <a:chOff x="6150864" y="4344923"/>
            <a:chExt cx="2677795" cy="18002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0864" y="5593079"/>
              <a:ext cx="2677667" cy="55168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4952" y="4344923"/>
              <a:ext cx="1895854" cy="17221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0"/>
              <a:t> </a:t>
            </a:r>
            <a:r>
              <a:rPr dirty="0" spc="-35"/>
              <a:t>NATURAL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00340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17843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SQL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combina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campos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más)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relacional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natural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mismo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selecciona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tengan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equivalentes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coincidentes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688592" y="3997452"/>
            <a:ext cx="5200015" cy="1800225"/>
            <a:chOff x="1688592" y="3997452"/>
            <a:chExt cx="5200015" cy="18002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812" y="5245608"/>
              <a:ext cx="2677667" cy="55168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4900" y="3997452"/>
              <a:ext cx="1895855" cy="172212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2" y="5245608"/>
              <a:ext cx="2677668" cy="55168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2680" y="3997452"/>
              <a:ext cx="1895856" cy="172212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4191" y="6489343"/>
            <a:ext cx="172085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6-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Cruzadas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Naturales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0"/>
              <a:t> </a:t>
            </a:r>
            <a:r>
              <a:rPr dirty="0" spc="-35"/>
              <a:t>NATURAL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12</a:t>
            </a:r>
            <a:endParaRPr sz="85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43863" y="3395111"/>
          <a:ext cx="3233420" cy="220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/>
                <a:gridCol w="930275"/>
                <a:gridCol w="963294"/>
              </a:tblGrid>
              <a:tr h="3073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MK_REP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144162" y="3379634"/>
          <a:ext cx="3307715" cy="2400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/>
                <a:gridCol w="2083435"/>
              </a:tblGrid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</a:t>
                      </a:r>
                      <a:r>
                        <a:rPr dirty="0" sz="1200" spc="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AD_ASST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200" spc="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Assistant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2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Accountant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SA_MAN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3859909" y="3435624"/>
            <a:ext cx="987425" cy="172720"/>
            <a:chOff x="3859909" y="3435624"/>
            <a:chExt cx="987425" cy="172720"/>
          </a:xfrm>
        </p:grpSpPr>
        <p:sp>
          <p:nvSpPr>
            <p:cNvPr id="9" name="object 9" descr=""/>
            <p:cNvSpPr/>
            <p:nvPr/>
          </p:nvSpPr>
          <p:spPr>
            <a:xfrm>
              <a:off x="3878961" y="3521240"/>
              <a:ext cx="949325" cy="1270"/>
            </a:xfrm>
            <a:custGeom>
              <a:avLst/>
              <a:gdLst/>
              <a:ahLst/>
              <a:cxnLst/>
              <a:rect l="l" t="t" r="r" b="b"/>
              <a:pathLst>
                <a:path w="949325" h="1270">
                  <a:moveTo>
                    <a:pt x="0" y="0"/>
                  </a:moveTo>
                  <a:lnTo>
                    <a:pt x="948905" y="965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13500" y="3455408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5" h="133350">
                  <a:moveTo>
                    <a:pt x="139" y="0"/>
                  </a:moveTo>
                  <a:lnTo>
                    <a:pt x="114363" y="66802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78959" y="3454674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5" h="133350">
                  <a:moveTo>
                    <a:pt x="114236" y="133350"/>
                  </a:moveTo>
                  <a:lnTo>
                    <a:pt x="0" y="66560"/>
                  </a:lnTo>
                  <a:lnTo>
                    <a:pt x="114363" y="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83552" y="1355371"/>
            <a:ext cx="7249159" cy="188341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job_id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referencia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mismo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jobs</a:t>
            </a:r>
            <a:endParaRPr sz="2800">
              <a:latin typeface="Calibri"/>
              <a:cs typeface="Calibri"/>
            </a:endParaRPr>
          </a:p>
          <a:p>
            <a:pPr algn="ctr" marL="28575">
              <a:lnSpc>
                <a:spcPct val="100000"/>
              </a:lnSpc>
              <a:spcBef>
                <a:spcPts val="1495"/>
              </a:spcBef>
              <a:tabLst>
                <a:tab pos="4731385" algn="l"/>
              </a:tabLst>
            </a:pP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000" spc="-20">
                <a:solidFill>
                  <a:srgbClr val="4E3629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440990" y="3898295"/>
            <a:ext cx="1638935" cy="353695"/>
          </a:xfrm>
          <a:custGeom>
            <a:avLst/>
            <a:gdLst/>
            <a:ahLst/>
            <a:cxnLst/>
            <a:rect l="l" t="t" r="r" b="b"/>
            <a:pathLst>
              <a:path w="1638935" h="353695">
                <a:moveTo>
                  <a:pt x="1550022" y="0"/>
                </a:moveTo>
                <a:lnTo>
                  <a:pt x="88285" y="0"/>
                </a:lnTo>
                <a:lnTo>
                  <a:pt x="62152" y="9887"/>
                </a:lnTo>
                <a:lnTo>
                  <a:pt x="38139" y="36726"/>
                </a:lnTo>
                <a:lnTo>
                  <a:pt x="18363" y="76278"/>
                </a:lnTo>
                <a:lnTo>
                  <a:pt x="4943" y="124305"/>
                </a:lnTo>
                <a:lnTo>
                  <a:pt x="0" y="176570"/>
                </a:lnTo>
                <a:lnTo>
                  <a:pt x="4943" y="228835"/>
                </a:lnTo>
                <a:lnTo>
                  <a:pt x="18363" y="276862"/>
                </a:lnTo>
                <a:lnTo>
                  <a:pt x="38139" y="316414"/>
                </a:lnTo>
                <a:lnTo>
                  <a:pt x="62152" y="343253"/>
                </a:lnTo>
                <a:lnTo>
                  <a:pt x="88285" y="353141"/>
                </a:lnTo>
                <a:lnTo>
                  <a:pt x="1550022" y="353141"/>
                </a:lnTo>
                <a:lnTo>
                  <a:pt x="1600168" y="316414"/>
                </a:lnTo>
                <a:lnTo>
                  <a:pt x="1619944" y="276862"/>
                </a:lnTo>
                <a:lnTo>
                  <a:pt x="1633363" y="228835"/>
                </a:lnTo>
                <a:lnTo>
                  <a:pt x="1638307" y="176570"/>
                </a:lnTo>
                <a:lnTo>
                  <a:pt x="1633363" y="124305"/>
                </a:lnTo>
                <a:lnTo>
                  <a:pt x="1619944" y="76278"/>
                </a:lnTo>
                <a:lnTo>
                  <a:pt x="1600168" y="36726"/>
                </a:lnTo>
                <a:lnTo>
                  <a:pt x="1576154" y="9887"/>
                </a:lnTo>
                <a:lnTo>
                  <a:pt x="1550022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0"/>
              <a:t> </a:t>
            </a:r>
            <a:r>
              <a:rPr dirty="0" spc="-35"/>
              <a:t>NATURAL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83552" y="1381889"/>
            <a:ext cx="8114030" cy="226060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just" marL="182880" marR="25463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código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natural,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posible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tener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forma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explícita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correspondiente</a:t>
            </a:r>
            <a:endParaRPr sz="2800">
              <a:latin typeface="Calibri"/>
              <a:cs typeface="Calibri"/>
            </a:endParaRPr>
          </a:p>
          <a:p>
            <a:pPr algn="just" marL="182880" marR="5080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ambas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mismos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3552" y="4519805"/>
            <a:ext cx="7647940" cy="147574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job_title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relacionados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jobs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job_id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	común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3191" y="3643884"/>
            <a:ext cx="8345805" cy="85216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job_id,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job_title</a:t>
            </a:r>
            <a:endParaRPr sz="1800">
              <a:latin typeface="Courier New"/>
              <a:cs typeface="Courier New"/>
            </a:endParaRPr>
          </a:p>
          <a:p>
            <a:pPr marR="396875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NATURAL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jobs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80;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0"/>
              <a:t> </a:t>
            </a:r>
            <a:r>
              <a:rPr dirty="0" spc="-35"/>
              <a:t>NATURAL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31812" y="2999689"/>
          <a:ext cx="7622540" cy="2442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105"/>
                <a:gridCol w="1578609"/>
                <a:gridCol w="1698625"/>
                <a:gridCol w="2781935"/>
              </a:tblGrid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Shelley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William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405384" y="1664207"/>
            <a:ext cx="8345805" cy="8534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6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job_id,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job_title</a:t>
            </a:r>
            <a:endParaRPr sz="1800">
              <a:latin typeface="Courier New"/>
              <a:cs typeface="Courier New"/>
            </a:endParaRPr>
          </a:p>
          <a:p>
            <a:pPr marR="39693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NATURAL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jobs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80;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0"/>
              <a:t> </a:t>
            </a:r>
            <a:r>
              <a:rPr dirty="0" spc="-35"/>
              <a:t>NATURAL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4572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Aquí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710817"/>
            <a:ext cx="4970780" cy="294322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Tanto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departments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locations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location_id,</a:t>
            </a:r>
            <a:endParaRPr sz="2800">
              <a:latin typeface="Calibri"/>
              <a:cs typeface="Calibri"/>
            </a:endParaRPr>
          </a:p>
          <a:p>
            <a:pPr marL="184150">
              <a:lnSpc>
                <a:spcPts val="2350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endParaRPr sz="2800">
              <a:latin typeface="Calibri"/>
              <a:cs typeface="Calibri"/>
            </a:endParaRPr>
          </a:p>
          <a:p>
            <a:pPr marL="184150">
              <a:lnSpc>
                <a:spcPts val="3025"/>
              </a:lnSpc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38163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Observe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natural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715262" y="1876071"/>
          <a:ext cx="3234055" cy="360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/>
                <a:gridCol w="1145539"/>
              </a:tblGrid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Southlake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003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39395">
                        <a:lnSpc>
                          <a:spcPts val="19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San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Francisco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Seattle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Seattle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Seattle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Contracting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Seattle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658368" y="1885188"/>
            <a:ext cx="4810125" cy="9042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2700" rIns="0" bIns="0" rtlCol="0" vert="horz">
            <a:spAutoFit/>
          </a:bodyPr>
          <a:lstStyle/>
          <a:p>
            <a:pPr marR="8432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department_name,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city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NATURAL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CROSS</a:t>
            </a:r>
            <a:r>
              <a:rPr dirty="0" spc="-80"/>
              <a:t> </a:t>
            </a:r>
            <a:r>
              <a:rPr dirty="0" spc="-20"/>
              <a:t>JOIN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634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El</a:t>
            </a:r>
            <a:r>
              <a:rPr dirty="0" u="none" spc="-55"/>
              <a:t> </a:t>
            </a:r>
            <a:r>
              <a:rPr dirty="0" u="none"/>
              <a:t>valor</a:t>
            </a:r>
            <a:r>
              <a:rPr dirty="0" u="none" spc="-60"/>
              <a:t> </a:t>
            </a:r>
            <a:r>
              <a:rPr dirty="0" u="none"/>
              <a:t>CROSS</a:t>
            </a:r>
            <a:r>
              <a:rPr dirty="0" u="none" spc="-40"/>
              <a:t> </a:t>
            </a:r>
            <a:r>
              <a:rPr dirty="0" u="none"/>
              <a:t>JOIN</a:t>
            </a:r>
            <a:r>
              <a:rPr dirty="0" u="none" spc="-40"/>
              <a:t> </a:t>
            </a:r>
            <a:r>
              <a:rPr dirty="0" u="none"/>
              <a:t>SQL</a:t>
            </a:r>
            <a:r>
              <a:rPr dirty="0" u="none" spc="-45"/>
              <a:t> </a:t>
            </a:r>
            <a:r>
              <a:rPr dirty="0" u="none"/>
              <a:t>de</a:t>
            </a:r>
            <a:r>
              <a:rPr dirty="0" u="none" spc="-35"/>
              <a:t> </a:t>
            </a:r>
            <a:r>
              <a:rPr dirty="0" u="none"/>
              <a:t>ANSI/ISO</a:t>
            </a:r>
            <a:r>
              <a:rPr dirty="0" u="none" spc="-30"/>
              <a:t> </a:t>
            </a:r>
            <a:r>
              <a:rPr dirty="0" u="none"/>
              <a:t>SQL:</a:t>
            </a:r>
            <a:r>
              <a:rPr dirty="0" u="none" spc="-35"/>
              <a:t> </a:t>
            </a:r>
            <a:r>
              <a:rPr dirty="0" u="none"/>
              <a:t>1999</a:t>
            </a:r>
            <a:r>
              <a:rPr dirty="0" u="none" spc="-15"/>
              <a:t> </a:t>
            </a:r>
            <a:r>
              <a:rPr dirty="0" spc="-25"/>
              <a:t>une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cada</a:t>
            </a:r>
            <a:r>
              <a:rPr dirty="0" spc="-40"/>
              <a:t> </a:t>
            </a:r>
            <a:r>
              <a:rPr dirty="0"/>
              <a:t>fila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una</a:t>
            </a:r>
            <a:r>
              <a:rPr dirty="0" spc="-15"/>
              <a:t> </a:t>
            </a:r>
            <a:r>
              <a:rPr dirty="0"/>
              <a:t>tabla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cada</a:t>
            </a:r>
            <a:r>
              <a:rPr dirty="0" spc="-40"/>
              <a:t> </a:t>
            </a:r>
            <a:r>
              <a:rPr dirty="0"/>
              <a:t>fila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/>
              <a:t>otra</a:t>
            </a:r>
            <a:r>
              <a:rPr dirty="0" spc="-40"/>
              <a:t> </a:t>
            </a:r>
            <a:r>
              <a:rPr dirty="0" spc="-10"/>
              <a:t>tabla</a:t>
            </a:r>
          </a:p>
          <a:p>
            <a:pPr marL="182880" marR="55245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El</a:t>
            </a:r>
            <a:r>
              <a:rPr dirty="0" u="none" spc="-75"/>
              <a:t> </a:t>
            </a:r>
            <a:r>
              <a:rPr dirty="0" u="none"/>
              <a:t>juego</a:t>
            </a:r>
            <a:r>
              <a:rPr dirty="0" u="none" spc="-7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 spc="-10"/>
              <a:t>resultados</a:t>
            </a:r>
            <a:r>
              <a:rPr dirty="0" u="none" spc="-40"/>
              <a:t> </a:t>
            </a:r>
            <a:r>
              <a:rPr dirty="0" u="none" spc="-10"/>
              <a:t>representa</a:t>
            </a:r>
            <a:r>
              <a:rPr dirty="0" u="none" spc="-50"/>
              <a:t> </a:t>
            </a:r>
            <a:r>
              <a:rPr dirty="0" u="none"/>
              <a:t>todas</a:t>
            </a:r>
            <a:r>
              <a:rPr dirty="0" u="none" spc="-65"/>
              <a:t> </a:t>
            </a:r>
            <a:r>
              <a:rPr dirty="0" u="none"/>
              <a:t>las</a:t>
            </a:r>
            <a:r>
              <a:rPr dirty="0" u="none" spc="-60"/>
              <a:t> </a:t>
            </a:r>
            <a:r>
              <a:rPr dirty="0" u="none" spc="-10"/>
              <a:t>posibles 	combinaciones</a:t>
            </a:r>
            <a:r>
              <a:rPr dirty="0" u="none" spc="-5"/>
              <a:t> </a:t>
            </a:r>
            <a:r>
              <a:rPr dirty="0" u="none"/>
              <a:t>de</a:t>
            </a:r>
            <a:r>
              <a:rPr dirty="0" u="none" spc="-25"/>
              <a:t> </a:t>
            </a:r>
            <a:r>
              <a:rPr dirty="0" u="none"/>
              <a:t>filas</a:t>
            </a:r>
            <a:r>
              <a:rPr dirty="0" u="none" spc="-35"/>
              <a:t> </a:t>
            </a:r>
            <a:r>
              <a:rPr dirty="0" u="none"/>
              <a:t>de</a:t>
            </a:r>
            <a:r>
              <a:rPr dirty="0" u="none" spc="-25"/>
              <a:t> </a:t>
            </a:r>
            <a:r>
              <a:rPr dirty="0" u="none"/>
              <a:t>las</a:t>
            </a:r>
            <a:r>
              <a:rPr dirty="0" u="none" spc="-35"/>
              <a:t> </a:t>
            </a:r>
            <a:r>
              <a:rPr dirty="0" u="none"/>
              <a:t>dos</a:t>
            </a:r>
            <a:r>
              <a:rPr dirty="0" u="none" spc="-15"/>
              <a:t> </a:t>
            </a:r>
            <a:r>
              <a:rPr dirty="0" u="none" spc="-10"/>
              <a:t>tablas</a:t>
            </a: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u="none"/>
              <a:t>Esto</a:t>
            </a:r>
            <a:r>
              <a:rPr dirty="0" u="none" spc="-65"/>
              <a:t> </a:t>
            </a:r>
            <a:r>
              <a:rPr dirty="0" u="none"/>
              <a:t>podría</a:t>
            </a:r>
            <a:r>
              <a:rPr dirty="0" u="none" spc="-45"/>
              <a:t> </a:t>
            </a:r>
            <a:r>
              <a:rPr dirty="0" u="none"/>
              <a:t>ser</a:t>
            </a:r>
            <a:r>
              <a:rPr dirty="0" u="none" spc="-60"/>
              <a:t> </a:t>
            </a:r>
            <a:r>
              <a:rPr dirty="0" u="none"/>
              <a:t>muy</a:t>
            </a:r>
            <a:r>
              <a:rPr dirty="0" u="none" spc="-50"/>
              <a:t> </a:t>
            </a:r>
            <a:r>
              <a:rPr dirty="0" u="none" spc="-10"/>
              <a:t>grande</a:t>
            </a:r>
          </a:p>
          <a:p>
            <a:pPr marL="182880" marR="5080" indent="-170815">
              <a:lnSpc>
                <a:spcPts val="3030"/>
              </a:lnSpc>
              <a:spcBef>
                <a:spcPts val="83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Si</a:t>
            </a:r>
            <a:r>
              <a:rPr dirty="0" u="none" spc="-50"/>
              <a:t> </a:t>
            </a:r>
            <a:r>
              <a:rPr dirty="0" u="none"/>
              <a:t>ejecuta</a:t>
            </a:r>
            <a:r>
              <a:rPr dirty="0" u="none" spc="-45"/>
              <a:t> </a:t>
            </a:r>
            <a:r>
              <a:rPr dirty="0" u="none"/>
              <a:t>CROSS</a:t>
            </a:r>
            <a:r>
              <a:rPr dirty="0" u="none" spc="-55"/>
              <a:t> </a:t>
            </a:r>
            <a:r>
              <a:rPr dirty="0" u="none"/>
              <a:t>JOIN</a:t>
            </a:r>
            <a:r>
              <a:rPr dirty="0" u="none" spc="-40"/>
              <a:t> </a:t>
            </a:r>
            <a:r>
              <a:rPr dirty="0" u="none"/>
              <a:t>en</a:t>
            </a:r>
            <a:r>
              <a:rPr dirty="0" u="none" spc="-45"/>
              <a:t> </a:t>
            </a:r>
            <a:r>
              <a:rPr dirty="0" u="none"/>
              <a:t>una</a:t>
            </a:r>
            <a:r>
              <a:rPr dirty="0" u="none" spc="-35"/>
              <a:t> </a:t>
            </a:r>
            <a:r>
              <a:rPr dirty="0" u="none"/>
              <a:t>tabla</a:t>
            </a:r>
            <a:r>
              <a:rPr dirty="0" u="none" spc="-30"/>
              <a:t> </a:t>
            </a:r>
            <a:r>
              <a:rPr dirty="0" u="none"/>
              <a:t>con</a:t>
            </a:r>
            <a:r>
              <a:rPr dirty="0" u="none" spc="-45"/>
              <a:t> </a:t>
            </a:r>
            <a:r>
              <a:rPr dirty="0" u="none"/>
              <a:t>20</a:t>
            </a:r>
            <a:r>
              <a:rPr dirty="0" u="none" spc="-40"/>
              <a:t> </a:t>
            </a:r>
            <a:r>
              <a:rPr dirty="0" u="none"/>
              <a:t>filas</a:t>
            </a:r>
            <a:r>
              <a:rPr dirty="0" u="none" spc="-60"/>
              <a:t> </a:t>
            </a:r>
            <a:r>
              <a:rPr dirty="0" u="none"/>
              <a:t>con</a:t>
            </a:r>
            <a:r>
              <a:rPr dirty="0" u="none" spc="-40"/>
              <a:t> </a:t>
            </a:r>
            <a:r>
              <a:rPr dirty="0" u="none" spc="-25"/>
              <a:t>una </a:t>
            </a:r>
            <a:r>
              <a:rPr dirty="0" u="none" spc="-25"/>
              <a:t>	</a:t>
            </a:r>
            <a:r>
              <a:rPr dirty="0" u="none"/>
              <a:t>tabla</a:t>
            </a:r>
            <a:r>
              <a:rPr dirty="0" u="none" spc="-65"/>
              <a:t> </a:t>
            </a:r>
            <a:r>
              <a:rPr dirty="0" u="none"/>
              <a:t>con</a:t>
            </a:r>
            <a:r>
              <a:rPr dirty="0" u="none" spc="-55"/>
              <a:t> </a:t>
            </a:r>
            <a:r>
              <a:rPr dirty="0" u="none"/>
              <a:t>100</a:t>
            </a:r>
            <a:r>
              <a:rPr dirty="0" u="none" spc="-35"/>
              <a:t> </a:t>
            </a:r>
            <a:r>
              <a:rPr dirty="0" u="none"/>
              <a:t>filas,</a:t>
            </a:r>
            <a:r>
              <a:rPr dirty="0" u="none" spc="-70"/>
              <a:t> </a:t>
            </a:r>
            <a:r>
              <a:rPr dirty="0" u="none"/>
              <a:t>la</a:t>
            </a:r>
            <a:r>
              <a:rPr dirty="0" u="none" spc="-60"/>
              <a:t> </a:t>
            </a:r>
            <a:r>
              <a:rPr dirty="0" u="none"/>
              <a:t>consulta</a:t>
            </a:r>
            <a:r>
              <a:rPr dirty="0" u="none" spc="-30"/>
              <a:t> </a:t>
            </a:r>
            <a:r>
              <a:rPr dirty="0" u="none" spc="-10"/>
              <a:t>devolverá</a:t>
            </a:r>
            <a:r>
              <a:rPr dirty="0" u="none" spc="-60"/>
              <a:t> </a:t>
            </a:r>
            <a:r>
              <a:rPr dirty="0" u="none"/>
              <a:t>2000</a:t>
            </a:r>
            <a:r>
              <a:rPr dirty="0" u="none" spc="-35"/>
              <a:t> </a:t>
            </a:r>
            <a:r>
              <a:rPr dirty="0" u="none" spc="-10"/>
              <a:t>filas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452977" y="3417749"/>
            <a:ext cx="1365885" cy="353695"/>
          </a:xfrm>
          <a:custGeom>
            <a:avLst/>
            <a:gdLst/>
            <a:ahLst/>
            <a:cxnLst/>
            <a:rect l="l" t="t" r="r" b="b"/>
            <a:pathLst>
              <a:path w="1365885" h="353695">
                <a:moveTo>
                  <a:pt x="1277142" y="0"/>
                </a:moveTo>
                <a:lnTo>
                  <a:pt x="88285" y="0"/>
                </a:lnTo>
                <a:lnTo>
                  <a:pt x="62152" y="9887"/>
                </a:lnTo>
                <a:lnTo>
                  <a:pt x="38139" y="36726"/>
                </a:lnTo>
                <a:lnTo>
                  <a:pt x="18363" y="76278"/>
                </a:lnTo>
                <a:lnTo>
                  <a:pt x="4943" y="124305"/>
                </a:lnTo>
                <a:lnTo>
                  <a:pt x="0" y="176570"/>
                </a:lnTo>
                <a:lnTo>
                  <a:pt x="4943" y="228835"/>
                </a:lnTo>
                <a:lnTo>
                  <a:pt x="18363" y="276862"/>
                </a:lnTo>
                <a:lnTo>
                  <a:pt x="38139" y="316414"/>
                </a:lnTo>
                <a:lnTo>
                  <a:pt x="62152" y="343253"/>
                </a:lnTo>
                <a:lnTo>
                  <a:pt x="88285" y="353141"/>
                </a:lnTo>
                <a:lnTo>
                  <a:pt x="1277142" y="353141"/>
                </a:lnTo>
                <a:lnTo>
                  <a:pt x="1327288" y="316414"/>
                </a:lnTo>
                <a:lnTo>
                  <a:pt x="1347064" y="276862"/>
                </a:lnTo>
                <a:lnTo>
                  <a:pt x="1360483" y="228835"/>
                </a:lnTo>
                <a:lnTo>
                  <a:pt x="1365427" y="176570"/>
                </a:lnTo>
                <a:lnTo>
                  <a:pt x="1360483" y="124305"/>
                </a:lnTo>
                <a:lnTo>
                  <a:pt x="1347064" y="76278"/>
                </a:lnTo>
                <a:lnTo>
                  <a:pt x="1327288" y="36726"/>
                </a:lnTo>
                <a:lnTo>
                  <a:pt x="1303275" y="9887"/>
                </a:lnTo>
                <a:lnTo>
                  <a:pt x="1277142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Unión</a:t>
            </a:r>
            <a:r>
              <a:rPr dirty="0" spc="-45"/>
              <a:t> </a:t>
            </a:r>
            <a:r>
              <a:rPr dirty="0" spc="-10"/>
              <a:t>Cruzada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10"/>
              <a:t> Cruzadas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Uniones</a:t>
            </a:r>
            <a:r>
              <a:rPr dirty="0" spc="-5"/>
              <a:t> </a:t>
            </a:r>
            <a:r>
              <a:rPr dirty="0" spc="-10"/>
              <a:t>Naturales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83552" y="1415417"/>
            <a:ext cx="6783070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20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departments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8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CROSS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JOIN,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160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495190" y="3130812"/>
          <a:ext cx="3274060" cy="2800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205"/>
                <a:gridCol w="1926589"/>
              </a:tblGrid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6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05384" y="3137916"/>
            <a:ext cx="4810125" cy="90233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1430" rIns="0" bIns="0" rtlCol="0" vert="horz">
            <a:spAutoFit/>
          </a:bodyPr>
          <a:lstStyle/>
          <a:p>
            <a:pPr marR="298450"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CROSS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2025-06-01T18:19:01Z</dcterms:created>
  <dcterms:modified xsi:type="dcterms:W3CDTF">2025-06-01T18:19:01Z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