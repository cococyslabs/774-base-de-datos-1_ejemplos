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/Relationships>
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/Relationships>
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/Relationships>
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18:54:21</a:t>
            </a:r>
          </a:p>
          <a:p>
            <a:r>
              <a:t>--------------------------------------------</a:t>
            </a:r>
          </a:p>
          <a:p>
            <a:r>
              <a:t>Se suele preferir una cláusula USING a una unión natural, incluso aunque las columnas tengan el mismo tipo de dato, así como el mismo nombre, debido a que indica claramente exactamente qué columna de unión se está utilizando.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18:54:22</a:t>
            </a:r>
          </a:p>
          <a:p>
            <a:r>
              <a:t>--------------------------------------------</a:t>
            </a:r>
          </a:p>
          <a:p>
            <a:r>
              <a:t>Si la columna de la cláusula USING tiene un cualificador, se devuelve el siguiente error ORA-25154: column part of USING clause cannot have qualifier.</a:t>
            </a:r>
          </a:p>
          <a:p>
            <a:r>
              <a:t>Nota: La última línea de la salida de ejemplo utiliza ... ... ... ... para indicar que se devuelven más datos de los que se muestran en la diapositiva.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18:54:24</a:t>
            </a:r>
          </a:p>
          <a:p>
            <a:r>
              <a:t>--------------------------------------------</a:t>
            </a:r>
          </a:p>
          <a:p>
            <a:r>
              <a:t>Nota: Debido a que la columna job_id de las tablas employees y jobs tienen el mismo nombre y tipo de dato, la consulta anterior también se podría escribir con NATURAL JOIN o JOIN USING.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18:54:25</a:t>
            </a:r>
          </a:p>
          <a:p>
            <a:r>
              <a:t>--------------------------------------------</a:t>
            </a:r>
          </a:p>
          <a:p>
            <a:r>
              <a:t>Con una cláusula JOIN ON, puede utilizar operadores distintos de "=". Por ejemplo, &gt;=, &lt;=, BETWEEN.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646938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3741" y="2458970"/>
            <a:ext cx="3700145" cy="3500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74191" y="6516395"/>
            <a:ext cx="634364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1790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1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Relationship Id="rId5" Type="http://schemas.openxmlformats.org/officeDocument/2006/relationships/slide" Target="slide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178181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6-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Cláusulas</a:t>
            </a:r>
            <a:r>
              <a:rPr dirty="0" sz="2400" spc="-10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4E3629"/>
                </a:solidFill>
                <a:latin typeface="Calibri"/>
                <a:cs typeface="Calibri"/>
              </a:rPr>
              <a:t>Join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62728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95"/>
              <a:t> </a:t>
            </a:r>
            <a:r>
              <a:rPr dirty="0" spc="-10"/>
              <a:t>USING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2915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natural,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tienen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los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mismos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nombres,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pero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diferentes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tipos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dato,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provoca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error</a:t>
            </a:r>
            <a:endParaRPr sz="2800">
              <a:latin typeface="Calibri"/>
              <a:cs typeface="Calibri"/>
            </a:endParaRPr>
          </a:p>
          <a:p>
            <a:pPr marL="182880" marR="873125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evitar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situación,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modificar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USING</a:t>
            </a:r>
            <a:endParaRPr sz="2800">
              <a:latin typeface="Calibri"/>
              <a:cs typeface="Calibri"/>
            </a:endParaRPr>
          </a:p>
          <a:p>
            <a:pPr marL="182880" marR="84518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USING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95"/>
              <a:t> </a:t>
            </a:r>
            <a:r>
              <a:rPr dirty="0" spc="-10"/>
              <a:t>USING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51165" cy="247459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05854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USING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hace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referencia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tener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cualificador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(nombre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tabla)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ubicación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1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64179" y="4536601"/>
          <a:ext cx="770382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3730"/>
                <a:gridCol w="1903730"/>
                <a:gridCol w="1903730"/>
                <a:gridCol w="1903729"/>
              </a:tblGrid>
              <a:tr h="3048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Jennifer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Michael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Pat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71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93191" y="3921252"/>
            <a:ext cx="8345805" cy="49403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3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department_name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USING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(department_id);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95"/>
              <a:t> </a:t>
            </a:r>
            <a:r>
              <a:rPr dirty="0" spc="-10"/>
              <a:t>USING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54062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USING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limitar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tablas: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798511" y="3971396"/>
          <a:ext cx="7720965" cy="659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8175"/>
                <a:gridCol w="1908175"/>
                <a:gridCol w="1908175"/>
                <a:gridCol w="1908175"/>
              </a:tblGrid>
              <a:tr h="32956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DEPARTMENT_NAME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Shelley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110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93191" y="2761488"/>
            <a:ext cx="8345805" cy="9728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6990" rIns="0" bIns="0" rtlCol="0" vert="horz">
            <a:spAutoFit/>
          </a:bodyPr>
          <a:lstStyle/>
          <a:p>
            <a:pPr marR="147955">
              <a:lnSpc>
                <a:spcPct val="100000"/>
              </a:lnSpc>
              <a:spcBef>
                <a:spcPts val="37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department_id,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department_name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USING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(department_id)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'Higgins';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60"/>
              <a:t> </a:t>
            </a:r>
            <a:r>
              <a:rPr dirty="0" spc="-35"/>
              <a:t>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52765" cy="42132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ocurre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tienen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diferentes,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bien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unión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utiliza 	operadores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comparación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distinto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&lt;,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&gt;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o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BETWEEN?</a:t>
            </a:r>
            <a:endParaRPr sz="2800">
              <a:latin typeface="Calibri"/>
              <a:cs typeface="Calibri"/>
            </a:endParaRPr>
          </a:p>
          <a:p>
            <a:pPr marL="182880" marR="73025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podemos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USING,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lugar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utilizamos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marL="182880" marR="110553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permite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especificar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mayor</a:t>
            </a:r>
            <a:r>
              <a:rPr dirty="0" u="heavy" sz="2800" spc="-9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variedad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condiciones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unión</a:t>
            </a:r>
            <a:endParaRPr sz="2800">
              <a:latin typeface="Calibri"/>
              <a:cs typeface="Calibri"/>
            </a:endParaRPr>
          </a:p>
          <a:p>
            <a:pPr marL="182880" marR="531495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permite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limitar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ambas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Cláusula</a:t>
            </a:r>
            <a:r>
              <a:rPr dirty="0" spc="-70"/>
              <a:t> </a:t>
            </a:r>
            <a:r>
              <a:rPr dirty="0" spc="-25"/>
              <a:t>ON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521335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jobs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640457"/>
            <a:ext cx="5006975" cy="16046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necesita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cuando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7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comunes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tengan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diferentes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1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dos</a:t>
            </a: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865808" y="1565636"/>
          <a:ext cx="2875915" cy="4544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90"/>
                <a:gridCol w="1393190"/>
              </a:tblGrid>
              <a:tr h="3251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Assistant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5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5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5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2663951"/>
            <a:ext cx="5224780" cy="97091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6355" rIns="0" bIns="0" rtlCol="0" vert="horz">
            <a:spAutoFit/>
          </a:bodyPr>
          <a:lstStyle/>
          <a:p>
            <a:pPr marR="1395095">
              <a:lnSpc>
                <a:spcPct val="100000"/>
              </a:lnSpc>
              <a:spcBef>
                <a:spcPts val="36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job_title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j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(e.job_id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j.job_id);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48031"/>
            <a:ext cx="4095750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Cláusula</a:t>
            </a:r>
            <a:r>
              <a:rPr dirty="0" spc="-70"/>
              <a:t> </a:t>
            </a:r>
            <a:r>
              <a:rPr dirty="0" spc="-25"/>
              <a:t>ON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5439410" cy="4205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ts val="3025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usar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marL="184785" marR="5080">
              <a:lnSpc>
                <a:spcPct val="80000"/>
              </a:lnSpc>
              <a:spcBef>
                <a:spcPts val="335"/>
              </a:spcBef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columnas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el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mismo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nombre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ambas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tablas,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agregar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calificador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(ya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el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tabla),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contrario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error.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ejemplo,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usan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350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calificador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e.job_id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=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j.job_id,</a:t>
            </a:r>
            <a:endParaRPr sz="2800">
              <a:latin typeface="Calibri"/>
              <a:cs typeface="Calibri"/>
            </a:endParaRPr>
          </a:p>
          <a:p>
            <a:pPr marL="184785" marR="503555">
              <a:lnSpc>
                <a:spcPct val="80000"/>
              </a:lnSpc>
              <a:spcBef>
                <a:spcPts val="335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podrían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haberse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escrito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usando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nombres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2685"/>
              </a:lnSpc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(employees.job_id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=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jobs.job_id)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998963" y="1945572"/>
          <a:ext cx="2875915" cy="4544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190"/>
                <a:gridCol w="1393190"/>
              </a:tblGrid>
              <a:tr h="3251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Vice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President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Administration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Assistant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Gietz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Accountant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04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2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5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098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5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ts val="191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Representative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843271" y="850391"/>
          <a:ext cx="4025265" cy="972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0564"/>
                <a:gridCol w="272414"/>
                <a:gridCol w="1694814"/>
              </a:tblGrid>
              <a:tr h="626745">
                <a:tc gridSpan="3">
                  <a:txBody>
                    <a:bodyPr/>
                    <a:lstStyle/>
                    <a:p>
                      <a:pPr marR="1187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last_name,</a:t>
                      </a:r>
                      <a:r>
                        <a:rPr dirty="0" sz="1800" spc="-7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job_title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employees</a:t>
                      </a:r>
                      <a:r>
                        <a:rPr dirty="0" sz="1800" spc="-4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dirty="0" sz="1800" spc="-4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JOIN</a:t>
                      </a:r>
                      <a:r>
                        <a:rPr dirty="0" sz="1800" spc="-55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jobs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47625">
                    <a:solidFill>
                      <a:srgbClr val="9DBEC4">
                        <a:alpha val="501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45440">
                <a:tc>
                  <a:txBody>
                    <a:bodyPr/>
                    <a:lstStyle/>
                    <a:p>
                      <a:pPr marL="274320">
                        <a:lnSpc>
                          <a:spcPts val="1920"/>
                        </a:lnSpc>
                      </a:pPr>
                      <a:r>
                        <a:rPr dirty="0" sz="180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ON</a:t>
                      </a:r>
                      <a:r>
                        <a:rPr dirty="0" sz="1800" spc="-4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(e.job_id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dirty="0" sz="1800" spc="-5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920"/>
                        </a:lnSpc>
                      </a:pPr>
                      <a:r>
                        <a:rPr dirty="0" sz="1800" spc="-10" b="1">
                          <a:solidFill>
                            <a:srgbClr val="4E3629"/>
                          </a:solidFill>
                          <a:latin typeface="Courier New"/>
                          <a:cs typeface="Courier New"/>
                        </a:rPr>
                        <a:t>j.job_id);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9DBEC4">
                        <a:alpha val="501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55"/>
              <a:t> </a:t>
            </a:r>
            <a:r>
              <a:rPr dirty="0"/>
              <a:t>con</a:t>
            </a:r>
            <a:r>
              <a:rPr dirty="0" spc="-50"/>
              <a:t> </a:t>
            </a:r>
            <a:r>
              <a:rPr dirty="0"/>
              <a:t>Cláusula</a:t>
            </a:r>
            <a:r>
              <a:rPr dirty="0" spc="-45"/>
              <a:t> </a:t>
            </a:r>
            <a:r>
              <a:rPr dirty="0" spc="-10"/>
              <a:t>WHERE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6699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Aquí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muestra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misma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consulta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cláusula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limitar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seleccionadas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137389" y="2450973"/>
          <a:ext cx="3422015" cy="1612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2235"/>
                <a:gridCol w="1960879"/>
              </a:tblGrid>
              <a:tr h="40322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JOB_TITLE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Higgins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Accounting</a:t>
                      </a:r>
                      <a:r>
                        <a:rPr dirty="0" sz="1600" spc="-7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Programmer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r>
                        <a:rPr dirty="0" sz="1600" spc="-9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Manager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667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393191" y="2456688"/>
            <a:ext cx="4178935" cy="12954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71755" rIns="0" bIns="0" rtlCol="0" vert="horz">
            <a:spAutoFit/>
          </a:bodyPr>
          <a:lstStyle/>
          <a:p>
            <a:pPr algn="ctr" marR="348615" indent="-136525">
              <a:lnSpc>
                <a:spcPct val="100000"/>
              </a:lnSpc>
              <a:spcBef>
                <a:spcPts val="56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job_title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j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(e.job_id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j.job_id)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LIKE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'H%';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80"/>
              <a:t> </a:t>
            </a:r>
            <a:r>
              <a:rPr dirty="0"/>
              <a:t>ON</a:t>
            </a:r>
            <a:r>
              <a:rPr dirty="0" spc="-80"/>
              <a:t> </a:t>
            </a:r>
            <a:r>
              <a:rPr dirty="0"/>
              <a:t>con</a:t>
            </a:r>
            <a:r>
              <a:rPr dirty="0" spc="-85"/>
              <a:t> </a:t>
            </a:r>
            <a:r>
              <a:rPr dirty="0"/>
              <a:t>Operador</a:t>
            </a:r>
            <a:r>
              <a:rPr dirty="0" spc="-75"/>
              <a:t> </a:t>
            </a:r>
            <a:r>
              <a:rPr dirty="0" spc="-10"/>
              <a:t>Distinto</a:t>
            </a:r>
            <a:r>
              <a:rPr dirty="0" spc="-80"/>
              <a:t> </a:t>
            </a:r>
            <a:r>
              <a:rPr dirty="0" spc="-25"/>
              <a:t>de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56880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ocasiones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recuperar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ninguna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columna 	correspondiente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otra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643761"/>
            <a:ext cx="45827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Suponga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desea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conocer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3552" y="3027970"/>
            <a:ext cx="4394835" cy="29083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4785" marR="522605">
              <a:lnSpc>
                <a:spcPts val="3030"/>
              </a:lnSpc>
              <a:spcBef>
                <a:spcPts val="470"/>
              </a:spcBef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grade_level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el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salario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empleado</a:t>
            </a:r>
            <a:endParaRPr sz="2800">
              <a:latin typeface="Calibri"/>
              <a:cs typeface="Calibri"/>
            </a:endParaRPr>
          </a:p>
          <a:p>
            <a:pPr marL="182880" marR="438784" indent="-170815">
              <a:lnSpc>
                <a:spcPts val="3030"/>
              </a:lnSpc>
              <a:spcBef>
                <a:spcPts val="5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job_grades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tiene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común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5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permite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97096" y="2840584"/>
            <a:ext cx="142303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1600" spc="-4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4E3629"/>
                </a:solidFill>
                <a:latin typeface="Calibri"/>
                <a:cs typeface="Calibri"/>
              </a:rPr>
              <a:t>job_grades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4933724" y="3422650"/>
          <a:ext cx="3876040" cy="2567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3655"/>
                <a:gridCol w="1203959"/>
                <a:gridCol w="1278255"/>
              </a:tblGrid>
              <a:tr h="3810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GRADE_LEVEL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LOWEST_SAL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HIGHEST_SAL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14999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15000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24999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40000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Cláusula</a:t>
            </a:r>
            <a:r>
              <a:rPr dirty="0" spc="-80"/>
              <a:t> </a:t>
            </a:r>
            <a:r>
              <a:rPr dirty="0"/>
              <a:t>ON</a:t>
            </a:r>
            <a:r>
              <a:rPr dirty="0" spc="-80"/>
              <a:t> </a:t>
            </a:r>
            <a:r>
              <a:rPr dirty="0"/>
              <a:t>con</a:t>
            </a:r>
            <a:r>
              <a:rPr dirty="0" spc="-85"/>
              <a:t> </a:t>
            </a:r>
            <a:r>
              <a:rPr dirty="0"/>
              <a:t>Operador</a:t>
            </a:r>
            <a:r>
              <a:rPr dirty="0" spc="-75"/>
              <a:t> </a:t>
            </a:r>
            <a:r>
              <a:rPr dirty="0" spc="-10"/>
              <a:t>Distinto</a:t>
            </a:r>
            <a:r>
              <a:rPr dirty="0" spc="-80"/>
              <a:t> </a:t>
            </a:r>
            <a:r>
              <a:rPr dirty="0" spc="-25"/>
              <a:t>de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13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5384" y="1418844"/>
            <a:ext cx="8345805" cy="122110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4290" rIns="0" bIns="0" rtlCol="0" vert="horz">
            <a:spAutoFit/>
          </a:bodyPr>
          <a:lstStyle/>
          <a:p>
            <a:pPr marR="1513840">
              <a:lnSpc>
                <a:spcPct val="100000"/>
              </a:lnSpc>
              <a:spcBef>
                <a:spcPts val="27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salary,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grade_level,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lowest_sal, highest_sal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job_grades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ON(salary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BETWEEN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lowest_sal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AND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highest_sal);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29180" y="2922059"/>
          <a:ext cx="7677150" cy="26822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0"/>
                <a:gridCol w="1517650"/>
                <a:gridCol w="1517650"/>
                <a:gridCol w="1517650"/>
                <a:gridCol w="1517650"/>
              </a:tblGrid>
              <a:tr h="38481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SALARY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GRADE_LEVEL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LOWEST_SAL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HIGHEST_SAL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175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Vargas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Matos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2600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2999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Davies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Rajs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3500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4200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Whalen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4400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5800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3000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5999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6000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9999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55270">
                <a:tc>
                  <a:txBody>
                    <a:bodyPr/>
                    <a:lstStyle/>
                    <a:p>
                      <a:pPr marL="69850">
                        <a:lnSpc>
                          <a:spcPts val="1864"/>
                        </a:lnSpc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Unión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30"/>
              <a:t>Tres</a:t>
            </a:r>
            <a:r>
              <a:rPr dirty="0" spc="-75"/>
              <a:t> </a:t>
            </a:r>
            <a:r>
              <a:rPr dirty="0" spc="-30"/>
              <a:t>Tablas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108315" cy="29603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59385" marR="5080" indent="-147320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Tanto</a:t>
            </a:r>
            <a:r>
              <a:rPr dirty="0" u="heavy" sz="2800" spc="-9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USING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ON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para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unir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tres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o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más</a:t>
            </a:r>
            <a:r>
              <a:rPr dirty="0" u="heavy" sz="2800" spc="-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tablas</a:t>
            </a:r>
            <a:endParaRPr sz="2800">
              <a:latin typeface="Calibri"/>
              <a:cs typeface="Calibri"/>
            </a:endParaRPr>
          </a:p>
          <a:p>
            <a:pPr marL="182880" marR="95885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Supongamos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necesitamos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informe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nuestros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empleados,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su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ciudad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donde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está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ubicado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departamento</a:t>
            </a:r>
            <a:endParaRPr sz="2800">
              <a:latin typeface="Calibri"/>
              <a:cs typeface="Calibri"/>
            </a:endParaRPr>
          </a:p>
          <a:p>
            <a:pPr marL="182880" marR="2000250" indent="-170815">
              <a:lnSpc>
                <a:spcPts val="3030"/>
              </a:lnSpc>
              <a:spcBef>
                <a:spcPts val="78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Necesitamos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unir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tres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tablas: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employees, 	departaments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locations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4532" y="4276344"/>
            <a:ext cx="2502408" cy="200101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14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Ejemplo</a:t>
            </a:r>
            <a:r>
              <a:rPr dirty="0" spc="-65"/>
              <a:t> </a:t>
            </a:r>
            <a:r>
              <a:rPr dirty="0"/>
              <a:t>de</a:t>
            </a:r>
            <a:r>
              <a:rPr dirty="0" spc="-55"/>
              <a:t> </a:t>
            </a:r>
            <a:r>
              <a:rPr dirty="0"/>
              <a:t>la</a:t>
            </a:r>
            <a:r>
              <a:rPr dirty="0" spc="-65"/>
              <a:t> </a:t>
            </a:r>
            <a:r>
              <a:rPr dirty="0"/>
              <a:t>Unión</a:t>
            </a:r>
            <a:r>
              <a:rPr dirty="0" spc="-50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30"/>
              <a:t>Tres</a:t>
            </a:r>
            <a:r>
              <a:rPr dirty="0" spc="-65"/>
              <a:t> </a:t>
            </a:r>
            <a:r>
              <a:rPr dirty="0" spc="-10"/>
              <a:t>Tablas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144524" y="3429000"/>
            <a:ext cx="2590800" cy="2139950"/>
            <a:chOff x="1144524" y="3429000"/>
            <a:chExt cx="2590800" cy="21399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4524" y="4939283"/>
              <a:ext cx="2590799" cy="62941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2056" y="3429000"/>
              <a:ext cx="1685544" cy="2061972"/>
            </a:xfrm>
            <a:prstGeom prst="rect">
              <a:avLst/>
            </a:prstGeom>
          </p:spPr>
        </p:pic>
      </p:grp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121841" y="2458970"/>
          <a:ext cx="3700145" cy="350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6820"/>
                <a:gridCol w="1219200"/>
                <a:gridCol w="1164590"/>
              </a:tblGrid>
              <a:tr h="32829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Departemen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Hartstein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Toronto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Fay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Marketing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Toronto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Zlotkey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Abel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Taylor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Sales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Oxford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Hunold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Southlake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Ernst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Southlake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Lorentz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Southlake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57721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Mourgos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Shipping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5367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59079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South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San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Francisco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8829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952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6-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Cláusulas</a:t>
            </a:r>
            <a:r>
              <a:rPr dirty="0" spc="-50"/>
              <a:t> </a:t>
            </a:r>
            <a:r>
              <a:rPr dirty="0" spc="-20"/>
              <a:t>Join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15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405384" y="1397508"/>
            <a:ext cx="8345805" cy="972819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6990" rIns="0" bIns="0" rtlCol="0" vert="horz">
            <a:spAutoFit/>
          </a:bodyPr>
          <a:lstStyle/>
          <a:p>
            <a:pPr marR="831215">
              <a:lnSpc>
                <a:spcPct val="100000"/>
              </a:lnSpc>
              <a:spcBef>
                <a:spcPts val="37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department_name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"Department",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city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8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departments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USING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(department_id)</a:t>
            </a:r>
            <a:endParaRPr sz="1800">
              <a:latin typeface="Courier New"/>
              <a:cs typeface="Courier New"/>
            </a:endParaRPr>
          </a:p>
          <a:p>
            <a:pPr marL="27368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JOIN</a:t>
            </a:r>
            <a:r>
              <a:rPr dirty="0" sz="1800" spc="-7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locations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USING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(location_id);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2025-06-01T18:19:46Z</dcterms:created>
  <dcterms:modified xsi:type="dcterms:W3CDTF">2025-06-01T18:19:46Z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