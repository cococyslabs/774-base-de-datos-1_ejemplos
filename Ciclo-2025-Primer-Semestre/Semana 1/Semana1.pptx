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18288000" cy="10287000"/>
  <p:embeddedFontLst>
    <p:embeddedFont>
      <p:font typeface="Tahoma"/>
      <p:regular r:id="rId22"/>
      <p:bold r:id="rId23"/>
    </p:embeddedFon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zZPIK7P/m9KNT9gUzNjq2552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ahoma-regular.fntdata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9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" type="body"/>
          </p:nvPr>
        </p:nvSpPr>
        <p:spPr>
          <a:xfrm>
            <a:off x="2354880" y="3748594"/>
            <a:ext cx="9274175" cy="5692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ctrTitle"/>
          </p:nvPr>
        </p:nvSpPr>
        <p:spPr>
          <a:xfrm>
            <a:off x="1362188" y="595521"/>
            <a:ext cx="14016990" cy="181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9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9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9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8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900" u="none" cap="none" strike="noStrike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8"/>
          <p:cNvSpPr txBox="1"/>
          <p:nvPr>
            <p:ph idx="1" type="body"/>
          </p:nvPr>
        </p:nvSpPr>
        <p:spPr>
          <a:xfrm>
            <a:off x="2354880" y="3748594"/>
            <a:ext cx="9274175" cy="5692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734625" y="2899920"/>
            <a:ext cx="16818610" cy="328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864735" lvl="0" marL="4876800" marR="50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Introducción a base de datos relacionales</a:t>
            </a:r>
            <a:endParaRPr sz="92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1036" y="0"/>
            <a:ext cx="4752974" cy="125729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"/>
          <p:cNvSpPr txBox="1"/>
          <p:nvPr/>
        </p:nvSpPr>
        <p:spPr>
          <a:xfrm>
            <a:off x="1016148" y="7714287"/>
            <a:ext cx="9166225" cy="230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Sistemas de bases de datos 1</a:t>
            </a:r>
            <a:endParaRPr sz="50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12700" marR="2164080" rtl="0" algn="l">
              <a:lnSpc>
                <a:spcPct val="1227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Escuela de Ingenieria de Ciencias Y Sistemas Facultad de Ingenieria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1270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Universidad de San Carlos de Guatemala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3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939188" y="3982099"/>
            <a:ext cx="6191885" cy="666750"/>
          </a:xfrm>
          <a:custGeom>
            <a:rect b="b" l="l" r="r" t="t"/>
            <a:pathLst>
              <a:path extrusionOk="0" h="666750" w="6191884">
                <a:moveTo>
                  <a:pt x="5714428" y="666407"/>
                </a:moveTo>
                <a:lnTo>
                  <a:pt x="0" y="666407"/>
                </a:lnTo>
                <a:lnTo>
                  <a:pt x="0" y="0"/>
                </a:lnTo>
                <a:lnTo>
                  <a:pt x="5714428" y="0"/>
                </a:lnTo>
                <a:lnTo>
                  <a:pt x="6191703" y="333203"/>
                </a:lnTo>
                <a:lnTo>
                  <a:pt x="5714428" y="6664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3536755" y="4051982"/>
            <a:ext cx="2728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Base de datos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17141384" y="356745"/>
            <a:ext cx="732790" cy="874394"/>
            <a:chOff x="17141384" y="356745"/>
            <a:chExt cx="732790" cy="874394"/>
          </a:xfrm>
        </p:grpSpPr>
        <p:sp>
          <p:nvSpPr>
            <p:cNvPr id="55" name="Google Shape;55;p2"/>
            <p:cNvSpPr/>
            <p:nvPr/>
          </p:nvSpPr>
          <p:spPr>
            <a:xfrm>
              <a:off x="17141384" y="356745"/>
              <a:ext cx="732790" cy="874394"/>
            </a:xfrm>
            <a:custGeom>
              <a:rect b="b" l="l" r="r" t="t"/>
              <a:pathLst>
                <a:path extrusionOk="0" h="874394" w="732790">
                  <a:moveTo>
                    <a:pt x="122932" y="651141"/>
                  </a:moveTo>
                  <a:lnTo>
                    <a:pt x="78007" y="651141"/>
                  </a:lnTo>
                  <a:lnTo>
                    <a:pt x="110296" y="609829"/>
                  </a:lnTo>
                  <a:lnTo>
                    <a:pt x="133913" y="563719"/>
                  </a:lnTo>
                  <a:lnTo>
                    <a:pt x="148410" y="513893"/>
                  </a:lnTo>
                  <a:lnTo>
                    <a:pt x="153342" y="461435"/>
                  </a:lnTo>
                  <a:lnTo>
                    <a:pt x="153342" y="317003"/>
                  </a:lnTo>
                  <a:lnTo>
                    <a:pt x="158970" y="267982"/>
                  </a:lnTo>
                  <a:lnTo>
                    <a:pt x="174998" y="222949"/>
                  </a:lnTo>
                  <a:lnTo>
                    <a:pt x="200137" y="183196"/>
                  </a:lnTo>
                  <a:lnTo>
                    <a:pt x="233103" y="150014"/>
                  </a:lnTo>
                  <a:lnTo>
                    <a:pt x="272608" y="124695"/>
                  </a:lnTo>
                  <a:lnTo>
                    <a:pt x="272608" y="94244"/>
                  </a:lnTo>
                  <a:lnTo>
                    <a:pt x="279984" y="57595"/>
                  </a:lnTo>
                  <a:lnTo>
                    <a:pt x="300086" y="27634"/>
                  </a:lnTo>
                  <a:lnTo>
                    <a:pt x="329877" y="7417"/>
                  </a:lnTo>
                  <a:lnTo>
                    <a:pt x="366318" y="0"/>
                  </a:lnTo>
                  <a:lnTo>
                    <a:pt x="402758" y="7417"/>
                  </a:lnTo>
                  <a:lnTo>
                    <a:pt x="432549" y="27634"/>
                  </a:lnTo>
                  <a:lnTo>
                    <a:pt x="437001" y="34270"/>
                  </a:lnTo>
                  <a:lnTo>
                    <a:pt x="366318" y="34270"/>
                  </a:lnTo>
                  <a:lnTo>
                    <a:pt x="343128" y="38991"/>
                  </a:lnTo>
                  <a:lnTo>
                    <a:pt x="324170" y="51856"/>
                  </a:lnTo>
                  <a:lnTo>
                    <a:pt x="311378" y="70922"/>
                  </a:lnTo>
                  <a:lnTo>
                    <a:pt x="306684" y="94244"/>
                  </a:lnTo>
                  <a:lnTo>
                    <a:pt x="306684" y="111369"/>
                  </a:lnTo>
                  <a:lnTo>
                    <a:pt x="460027" y="111369"/>
                  </a:lnTo>
                  <a:lnTo>
                    <a:pt x="460027" y="124695"/>
                  </a:lnTo>
                  <a:lnTo>
                    <a:pt x="479355" y="137082"/>
                  </a:lnTo>
                  <a:lnTo>
                    <a:pt x="366318" y="137082"/>
                  </a:lnTo>
                  <a:lnTo>
                    <a:pt x="318814" y="143520"/>
                  </a:lnTo>
                  <a:lnTo>
                    <a:pt x="276094" y="161682"/>
                  </a:lnTo>
                  <a:lnTo>
                    <a:pt x="239876" y="189839"/>
                  </a:lnTo>
                  <a:lnTo>
                    <a:pt x="211878" y="226264"/>
                  </a:lnTo>
                  <a:lnTo>
                    <a:pt x="193820" y="269228"/>
                  </a:lnTo>
                  <a:lnTo>
                    <a:pt x="187418" y="317003"/>
                  </a:lnTo>
                  <a:lnTo>
                    <a:pt x="187418" y="461435"/>
                  </a:lnTo>
                  <a:lnTo>
                    <a:pt x="183223" y="512830"/>
                  </a:lnTo>
                  <a:lnTo>
                    <a:pt x="170857" y="562113"/>
                  </a:lnTo>
                  <a:lnTo>
                    <a:pt x="150650" y="608484"/>
                  </a:lnTo>
                  <a:lnTo>
                    <a:pt x="122932" y="651141"/>
                  </a:lnTo>
                  <a:close/>
                </a:path>
                <a:path extrusionOk="0" h="874394" w="732790">
                  <a:moveTo>
                    <a:pt x="460027" y="111369"/>
                  </a:moveTo>
                  <a:lnTo>
                    <a:pt x="425951" y="111369"/>
                  </a:lnTo>
                  <a:lnTo>
                    <a:pt x="425951" y="94244"/>
                  </a:lnTo>
                  <a:lnTo>
                    <a:pt x="421257" y="70922"/>
                  </a:lnTo>
                  <a:lnTo>
                    <a:pt x="408465" y="51856"/>
                  </a:lnTo>
                  <a:lnTo>
                    <a:pt x="389507" y="38991"/>
                  </a:lnTo>
                  <a:lnTo>
                    <a:pt x="366318" y="34270"/>
                  </a:lnTo>
                  <a:lnTo>
                    <a:pt x="437001" y="34270"/>
                  </a:lnTo>
                  <a:lnTo>
                    <a:pt x="452651" y="57595"/>
                  </a:lnTo>
                  <a:lnTo>
                    <a:pt x="460027" y="94244"/>
                  </a:lnTo>
                  <a:lnTo>
                    <a:pt x="460027" y="111369"/>
                  </a:lnTo>
                  <a:close/>
                </a:path>
                <a:path extrusionOk="0" h="874394" w="732790">
                  <a:moveTo>
                    <a:pt x="425951" y="111369"/>
                  </a:moveTo>
                  <a:lnTo>
                    <a:pt x="306684" y="111369"/>
                  </a:lnTo>
                  <a:lnTo>
                    <a:pt x="336253" y="104948"/>
                  </a:lnTo>
                  <a:lnTo>
                    <a:pt x="366327" y="102808"/>
                  </a:lnTo>
                  <a:lnTo>
                    <a:pt x="396368" y="104948"/>
                  </a:lnTo>
                  <a:lnTo>
                    <a:pt x="425951" y="111369"/>
                  </a:lnTo>
                  <a:close/>
                </a:path>
                <a:path extrusionOk="0" h="874394" w="732790">
                  <a:moveTo>
                    <a:pt x="654629" y="651141"/>
                  </a:moveTo>
                  <a:lnTo>
                    <a:pt x="609703" y="651141"/>
                  </a:lnTo>
                  <a:lnTo>
                    <a:pt x="581985" y="608484"/>
                  </a:lnTo>
                  <a:lnTo>
                    <a:pt x="561778" y="562113"/>
                  </a:lnTo>
                  <a:lnTo>
                    <a:pt x="549412" y="512830"/>
                  </a:lnTo>
                  <a:lnTo>
                    <a:pt x="545217" y="461435"/>
                  </a:lnTo>
                  <a:lnTo>
                    <a:pt x="545217" y="317003"/>
                  </a:lnTo>
                  <a:lnTo>
                    <a:pt x="538816" y="269228"/>
                  </a:lnTo>
                  <a:lnTo>
                    <a:pt x="520757" y="226264"/>
                  </a:lnTo>
                  <a:lnTo>
                    <a:pt x="492759" y="189839"/>
                  </a:lnTo>
                  <a:lnTo>
                    <a:pt x="456541" y="161682"/>
                  </a:lnTo>
                  <a:lnTo>
                    <a:pt x="413821" y="143520"/>
                  </a:lnTo>
                  <a:lnTo>
                    <a:pt x="366318" y="137082"/>
                  </a:lnTo>
                  <a:lnTo>
                    <a:pt x="479355" y="137082"/>
                  </a:lnTo>
                  <a:lnTo>
                    <a:pt x="532498" y="183196"/>
                  </a:lnTo>
                  <a:lnTo>
                    <a:pt x="557638" y="222949"/>
                  </a:lnTo>
                  <a:lnTo>
                    <a:pt x="573665" y="267982"/>
                  </a:lnTo>
                  <a:lnTo>
                    <a:pt x="579293" y="317003"/>
                  </a:lnTo>
                  <a:lnTo>
                    <a:pt x="579293" y="461435"/>
                  </a:lnTo>
                  <a:lnTo>
                    <a:pt x="584125" y="512830"/>
                  </a:lnTo>
                  <a:lnTo>
                    <a:pt x="584225" y="513893"/>
                  </a:lnTo>
                  <a:lnTo>
                    <a:pt x="598722" y="563719"/>
                  </a:lnTo>
                  <a:lnTo>
                    <a:pt x="622338" y="609829"/>
                  </a:lnTo>
                  <a:lnTo>
                    <a:pt x="654629" y="651141"/>
                  </a:lnTo>
                  <a:close/>
                </a:path>
                <a:path extrusionOk="0" h="874394" w="732790">
                  <a:moveTo>
                    <a:pt x="673003" y="771089"/>
                  </a:moveTo>
                  <a:lnTo>
                    <a:pt x="59633" y="771089"/>
                  </a:lnTo>
                  <a:lnTo>
                    <a:pt x="36443" y="766368"/>
                  </a:lnTo>
                  <a:lnTo>
                    <a:pt x="17485" y="753503"/>
                  </a:lnTo>
                  <a:lnTo>
                    <a:pt x="4693" y="734437"/>
                  </a:lnTo>
                  <a:lnTo>
                    <a:pt x="0" y="711115"/>
                  </a:lnTo>
                  <a:lnTo>
                    <a:pt x="4693" y="687793"/>
                  </a:lnTo>
                  <a:lnTo>
                    <a:pt x="17485" y="668727"/>
                  </a:lnTo>
                  <a:lnTo>
                    <a:pt x="36443" y="655862"/>
                  </a:lnTo>
                  <a:lnTo>
                    <a:pt x="59633" y="651141"/>
                  </a:lnTo>
                  <a:lnTo>
                    <a:pt x="673003" y="651141"/>
                  </a:lnTo>
                  <a:lnTo>
                    <a:pt x="696192" y="655862"/>
                  </a:lnTo>
                  <a:lnTo>
                    <a:pt x="715150" y="668727"/>
                  </a:lnTo>
                  <a:lnTo>
                    <a:pt x="727942" y="687793"/>
                  </a:lnTo>
                  <a:lnTo>
                    <a:pt x="732636" y="711115"/>
                  </a:lnTo>
                  <a:lnTo>
                    <a:pt x="727942" y="734437"/>
                  </a:lnTo>
                  <a:lnTo>
                    <a:pt x="715150" y="753503"/>
                  </a:lnTo>
                  <a:lnTo>
                    <a:pt x="696192" y="766368"/>
                  </a:lnTo>
                  <a:lnTo>
                    <a:pt x="673003" y="771089"/>
                  </a:lnTo>
                  <a:close/>
                </a:path>
                <a:path extrusionOk="0" h="874394" w="732790">
                  <a:moveTo>
                    <a:pt x="366318" y="873901"/>
                  </a:moveTo>
                  <a:lnTo>
                    <a:pt x="329877" y="866483"/>
                  </a:lnTo>
                  <a:lnTo>
                    <a:pt x="300086" y="846266"/>
                  </a:lnTo>
                  <a:lnTo>
                    <a:pt x="279984" y="816305"/>
                  </a:lnTo>
                  <a:lnTo>
                    <a:pt x="272608" y="779656"/>
                  </a:lnTo>
                  <a:lnTo>
                    <a:pt x="272608" y="771089"/>
                  </a:lnTo>
                  <a:lnTo>
                    <a:pt x="306684" y="771089"/>
                  </a:lnTo>
                  <a:lnTo>
                    <a:pt x="306684" y="779656"/>
                  </a:lnTo>
                  <a:lnTo>
                    <a:pt x="311378" y="802978"/>
                  </a:lnTo>
                  <a:lnTo>
                    <a:pt x="324170" y="822044"/>
                  </a:lnTo>
                  <a:lnTo>
                    <a:pt x="343128" y="834909"/>
                  </a:lnTo>
                  <a:lnTo>
                    <a:pt x="366318" y="839630"/>
                  </a:lnTo>
                  <a:lnTo>
                    <a:pt x="437001" y="839630"/>
                  </a:lnTo>
                  <a:lnTo>
                    <a:pt x="432549" y="846266"/>
                  </a:lnTo>
                  <a:lnTo>
                    <a:pt x="402758" y="866483"/>
                  </a:lnTo>
                  <a:lnTo>
                    <a:pt x="366318" y="873901"/>
                  </a:lnTo>
                  <a:close/>
                </a:path>
                <a:path extrusionOk="0" h="874394" w="732790">
                  <a:moveTo>
                    <a:pt x="437001" y="839630"/>
                  </a:moveTo>
                  <a:lnTo>
                    <a:pt x="366318" y="839630"/>
                  </a:lnTo>
                  <a:lnTo>
                    <a:pt x="389507" y="834909"/>
                  </a:lnTo>
                  <a:lnTo>
                    <a:pt x="408465" y="822044"/>
                  </a:lnTo>
                  <a:lnTo>
                    <a:pt x="421257" y="802978"/>
                  </a:lnTo>
                  <a:lnTo>
                    <a:pt x="425951" y="779656"/>
                  </a:lnTo>
                  <a:lnTo>
                    <a:pt x="425951" y="771089"/>
                  </a:lnTo>
                  <a:lnTo>
                    <a:pt x="460027" y="771089"/>
                  </a:lnTo>
                  <a:lnTo>
                    <a:pt x="460027" y="779656"/>
                  </a:lnTo>
                  <a:lnTo>
                    <a:pt x="452651" y="816305"/>
                  </a:lnTo>
                  <a:lnTo>
                    <a:pt x="437001" y="8396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" name="Google Shape;5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657232" y="447582"/>
              <a:ext cx="135450" cy="225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2"/>
            <p:cNvSpPr/>
            <p:nvPr/>
          </p:nvSpPr>
          <p:spPr>
            <a:xfrm>
              <a:off x="17674470" y="356836"/>
              <a:ext cx="198755" cy="343535"/>
            </a:xfrm>
            <a:custGeom>
              <a:rect b="b" l="l" r="r" t="t"/>
              <a:pathLst>
                <a:path extrusionOk="0" h="343534" w="198755">
                  <a:moveTo>
                    <a:pt x="189116" y="343293"/>
                  </a:moveTo>
                  <a:lnTo>
                    <a:pt x="170400" y="341829"/>
                  </a:lnTo>
                  <a:lnTo>
                    <a:pt x="163385" y="333587"/>
                  </a:lnTo>
                  <a:lnTo>
                    <a:pt x="164116" y="324151"/>
                  </a:lnTo>
                  <a:lnTo>
                    <a:pt x="163865" y="273255"/>
                  </a:lnTo>
                  <a:lnTo>
                    <a:pt x="155493" y="223903"/>
                  </a:lnTo>
                  <a:lnTo>
                    <a:pt x="139482" y="177000"/>
                  </a:lnTo>
                  <a:lnTo>
                    <a:pt x="116316" y="133456"/>
                  </a:lnTo>
                  <a:lnTo>
                    <a:pt x="86477" y="94176"/>
                  </a:lnTo>
                  <a:lnTo>
                    <a:pt x="50447" y="60069"/>
                  </a:lnTo>
                  <a:lnTo>
                    <a:pt x="8709" y="32042"/>
                  </a:lnTo>
                  <a:lnTo>
                    <a:pt x="3551" y="27638"/>
                  </a:lnTo>
                  <a:lnTo>
                    <a:pt x="577" y="21790"/>
                  </a:lnTo>
                  <a:lnTo>
                    <a:pt x="0" y="15247"/>
                  </a:lnTo>
                  <a:lnTo>
                    <a:pt x="2035" y="8758"/>
                  </a:lnTo>
                  <a:lnTo>
                    <a:pt x="6413" y="3572"/>
                  </a:lnTo>
                  <a:lnTo>
                    <a:pt x="12227" y="580"/>
                  </a:lnTo>
                  <a:lnTo>
                    <a:pt x="18734" y="0"/>
                  </a:lnTo>
                  <a:lnTo>
                    <a:pt x="25188" y="2046"/>
                  </a:lnTo>
                  <a:lnTo>
                    <a:pt x="66152" y="28934"/>
                  </a:lnTo>
                  <a:lnTo>
                    <a:pt x="102307" y="61090"/>
                  </a:lnTo>
                  <a:lnTo>
                    <a:pt x="133292" y="97838"/>
                  </a:lnTo>
                  <a:lnTo>
                    <a:pt x="158749" y="138503"/>
                  </a:lnTo>
                  <a:lnTo>
                    <a:pt x="178316" y="182408"/>
                  </a:lnTo>
                  <a:lnTo>
                    <a:pt x="191635" y="228878"/>
                  </a:lnTo>
                  <a:lnTo>
                    <a:pt x="198346" y="277237"/>
                  </a:lnTo>
                  <a:lnTo>
                    <a:pt x="198088" y="326809"/>
                  </a:lnTo>
                  <a:lnTo>
                    <a:pt x="197356" y="336288"/>
                  </a:lnTo>
                  <a:lnTo>
                    <a:pt x="189116" y="3432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" name="Google Shape;5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222301" y="447584"/>
              <a:ext cx="135451" cy="2249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2"/>
            <p:cNvSpPr/>
            <p:nvPr/>
          </p:nvSpPr>
          <p:spPr>
            <a:xfrm>
              <a:off x="17142169" y="356834"/>
              <a:ext cx="198755" cy="343535"/>
            </a:xfrm>
            <a:custGeom>
              <a:rect b="b" l="l" r="r" t="t"/>
              <a:pathLst>
                <a:path extrusionOk="0" h="343534" w="198755">
                  <a:moveTo>
                    <a:pt x="9194" y="343298"/>
                  </a:moveTo>
                  <a:lnTo>
                    <a:pt x="988" y="336256"/>
                  </a:lnTo>
                  <a:lnTo>
                    <a:pt x="257" y="326811"/>
                  </a:lnTo>
                  <a:lnTo>
                    <a:pt x="0" y="277238"/>
                  </a:lnTo>
                  <a:lnTo>
                    <a:pt x="6710" y="228879"/>
                  </a:lnTo>
                  <a:lnTo>
                    <a:pt x="20029" y="182409"/>
                  </a:lnTo>
                  <a:lnTo>
                    <a:pt x="39597" y="138504"/>
                  </a:lnTo>
                  <a:lnTo>
                    <a:pt x="65053" y="97840"/>
                  </a:lnTo>
                  <a:lnTo>
                    <a:pt x="96039" y="61091"/>
                  </a:lnTo>
                  <a:lnTo>
                    <a:pt x="132193" y="28935"/>
                  </a:lnTo>
                  <a:lnTo>
                    <a:pt x="173158" y="2047"/>
                  </a:lnTo>
                  <a:lnTo>
                    <a:pt x="179610" y="0"/>
                  </a:lnTo>
                  <a:lnTo>
                    <a:pt x="186116" y="579"/>
                  </a:lnTo>
                  <a:lnTo>
                    <a:pt x="191931" y="3571"/>
                  </a:lnTo>
                  <a:lnTo>
                    <a:pt x="196311" y="8759"/>
                  </a:lnTo>
                  <a:lnTo>
                    <a:pt x="198346" y="15249"/>
                  </a:lnTo>
                  <a:lnTo>
                    <a:pt x="197769" y="21793"/>
                  </a:lnTo>
                  <a:lnTo>
                    <a:pt x="194794" y="27641"/>
                  </a:lnTo>
                  <a:lnTo>
                    <a:pt x="189637" y="32044"/>
                  </a:lnTo>
                  <a:lnTo>
                    <a:pt x="147899" y="60072"/>
                  </a:lnTo>
                  <a:lnTo>
                    <a:pt x="111868" y="94180"/>
                  </a:lnTo>
                  <a:lnTo>
                    <a:pt x="82029" y="133459"/>
                  </a:lnTo>
                  <a:lnTo>
                    <a:pt x="58862" y="177004"/>
                  </a:lnTo>
                  <a:lnTo>
                    <a:pt x="42852" y="223906"/>
                  </a:lnTo>
                  <a:lnTo>
                    <a:pt x="34480" y="273258"/>
                  </a:lnTo>
                  <a:lnTo>
                    <a:pt x="34229" y="324153"/>
                  </a:lnTo>
                  <a:lnTo>
                    <a:pt x="34960" y="333590"/>
                  </a:lnTo>
                  <a:lnTo>
                    <a:pt x="27946" y="341832"/>
                  </a:lnTo>
                  <a:lnTo>
                    <a:pt x="18565" y="342565"/>
                  </a:lnTo>
                  <a:lnTo>
                    <a:pt x="9194" y="3432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2"/>
          <p:cNvSpPr txBox="1"/>
          <p:nvPr>
            <p:ph type="title"/>
          </p:nvPr>
        </p:nvSpPr>
        <p:spPr>
          <a:xfrm>
            <a:off x="1977947" y="498550"/>
            <a:ext cx="81846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0">
                <a:latin typeface="Tahoma"/>
                <a:ea typeface="Tahoma"/>
                <a:cs typeface="Tahoma"/>
                <a:sym typeface="Tahoma"/>
              </a:rPr>
              <a:t>Agenda</a:t>
            </a:r>
            <a:endParaRPr sz="1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497529" y="4993412"/>
            <a:ext cx="5353684" cy="1267459"/>
          </a:xfrm>
          <a:custGeom>
            <a:rect b="b" l="l" r="r" t="t"/>
            <a:pathLst>
              <a:path extrusionOk="0" h="1267459" w="5353684">
                <a:moveTo>
                  <a:pt x="4582121" y="1267162"/>
                </a:moveTo>
                <a:lnTo>
                  <a:pt x="0" y="1267162"/>
                </a:lnTo>
                <a:lnTo>
                  <a:pt x="0" y="0"/>
                </a:lnTo>
                <a:lnTo>
                  <a:pt x="4582121" y="0"/>
                </a:lnTo>
                <a:lnTo>
                  <a:pt x="5353646" y="633581"/>
                </a:lnTo>
                <a:lnTo>
                  <a:pt x="4582121" y="12671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10162640" y="2344222"/>
            <a:ext cx="78480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50">
                <a:solidFill>
                  <a:srgbClr val="121316"/>
                </a:solidFill>
                <a:latin typeface="Tahoma"/>
                <a:ea typeface="Tahoma"/>
                <a:cs typeface="Tahoma"/>
                <a:sym typeface="Tahoma"/>
              </a:rPr>
              <a:t>Recordatorio</a:t>
            </a:r>
            <a:endParaRPr sz="1025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250825" rtl="0" algn="ctr">
              <a:lnSpc>
                <a:spcPct val="100000"/>
              </a:lnSpc>
              <a:spcBef>
                <a:spcPts val="10365"/>
              </a:spcBef>
              <a:spcAft>
                <a:spcPts val="0"/>
              </a:spcAft>
              <a:buNone/>
            </a:pPr>
            <a:r>
              <a:rPr lang="en-US" sz="4500">
                <a:latin typeface="Verdana"/>
                <a:ea typeface="Verdana"/>
                <a:cs typeface="Verdana"/>
                <a:sym typeface="Verdana"/>
              </a:rPr>
              <a:t>HT1</a:t>
            </a:r>
            <a:endParaRPr sz="4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939188" y="5415793"/>
            <a:ext cx="6190615" cy="1184910"/>
          </a:xfrm>
          <a:custGeom>
            <a:rect b="b" l="l" r="r" t="t"/>
            <a:pathLst>
              <a:path extrusionOk="0" h="1184909" w="6190615">
                <a:moveTo>
                  <a:pt x="5714427" y="1184401"/>
                </a:moveTo>
                <a:lnTo>
                  <a:pt x="0" y="1184401"/>
                </a:lnTo>
                <a:lnTo>
                  <a:pt x="0" y="0"/>
                </a:lnTo>
                <a:lnTo>
                  <a:pt x="5714427" y="0"/>
                </a:lnTo>
                <a:lnTo>
                  <a:pt x="6190346" y="590517"/>
                </a:lnTo>
                <a:lnTo>
                  <a:pt x="6190346" y="593883"/>
                </a:lnTo>
                <a:lnTo>
                  <a:pt x="5714427" y="1184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2320086" y="5540881"/>
            <a:ext cx="51618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976630" lvl="0" marL="988694" marR="5080" rtl="0" algn="l">
              <a:lnSpc>
                <a:spcPct val="12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Tecnología de una Base de datos Relacional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939188" y="7371719"/>
            <a:ext cx="6190615" cy="1184910"/>
          </a:xfrm>
          <a:custGeom>
            <a:rect b="b" l="l" r="r" t="t"/>
            <a:pathLst>
              <a:path extrusionOk="0" h="1184909" w="6190615">
                <a:moveTo>
                  <a:pt x="5714427" y="1184401"/>
                </a:moveTo>
                <a:lnTo>
                  <a:pt x="0" y="1184401"/>
                </a:lnTo>
                <a:lnTo>
                  <a:pt x="0" y="0"/>
                </a:lnTo>
                <a:lnTo>
                  <a:pt x="5714427" y="0"/>
                </a:lnTo>
                <a:lnTo>
                  <a:pt x="6190346" y="590517"/>
                </a:lnTo>
                <a:lnTo>
                  <a:pt x="6190346" y="593883"/>
                </a:lnTo>
                <a:lnTo>
                  <a:pt x="5714427" y="1184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2262936" y="7801608"/>
            <a:ext cx="5275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51075" lvl="0" marL="2263140" marR="5080" rtl="0" algn="l">
              <a:lnSpc>
                <a:spcPct val="12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Anatomia de una sentencia SQL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ctrTitle"/>
          </p:nvPr>
        </p:nvSpPr>
        <p:spPr>
          <a:xfrm>
            <a:off x="1362188" y="595521"/>
            <a:ext cx="14016990" cy="181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800">
            <a:spAutoFit/>
          </a:bodyPr>
          <a:lstStyle/>
          <a:p>
            <a:pPr indent="0" lvl="0" marL="12700" marR="5080" rtl="0" algn="l">
              <a:lnSpc>
                <a:spcPct val="1114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COMPETENCIA(S)	QUE DESARROLLAREMOS</a:t>
            </a:r>
            <a:endParaRPr sz="6100"/>
          </a:p>
        </p:txBody>
      </p:sp>
      <p:sp>
        <p:nvSpPr>
          <p:cNvPr id="72" name="Google Shape;72;p3"/>
          <p:cNvSpPr txBox="1"/>
          <p:nvPr/>
        </p:nvSpPr>
        <p:spPr>
          <a:xfrm>
            <a:off x="2461622" y="4337355"/>
            <a:ext cx="12443460" cy="152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16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Tahoma"/>
                <a:ea typeface="Tahoma"/>
                <a:cs typeface="Tahoma"/>
                <a:sym typeface="Tahoma"/>
              </a:rPr>
              <a:t>Administra bases de datos relacionales utilizando herramientas de gestión como Oracle y SQL Developer para mantener la disponibilidad, seguridad y eficiencia de los sistemas de información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7300">
            <a:spAutoFit/>
          </a:bodyPr>
          <a:lstStyle/>
          <a:p>
            <a:pPr indent="0" lvl="0" marL="34772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FFFFFF"/>
                </a:solidFill>
              </a:rPr>
              <a:t>BASE DE DATOS</a:t>
            </a:r>
            <a:endParaRPr sz="6100"/>
          </a:p>
        </p:txBody>
      </p:sp>
      <p:sp>
        <p:nvSpPr>
          <p:cNvPr id="78" name="Google Shape;78;p4"/>
          <p:cNvSpPr txBox="1"/>
          <p:nvPr/>
        </p:nvSpPr>
        <p:spPr>
          <a:xfrm>
            <a:off x="1016000" y="4682380"/>
            <a:ext cx="15424785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12700" marR="5080" rtl="0" algn="l">
              <a:lnSpc>
                <a:spcPct val="11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CONJUNTO ORGANIZADO DE DATOS RELACIONADOS, ALMACENADOS EN MEDIOS DIGITALES, QUE PUEDEN SER GESTIONADOS POR UN SGBD PARA FACILITAR SU ACCESO, CONSULTA Y ACTUALIZACIÓN.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7423199" y="944998"/>
            <a:ext cx="3441700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FFFFFF"/>
                </a:solidFill>
              </a:rPr>
              <a:t>TIPOS</a:t>
            </a:r>
            <a:endParaRPr sz="6100"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304" y="5013711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304" y="5718561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304" y="6423411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942" y="6771074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942" y="7123499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9942" y="7475924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304" y="8185536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2354880" y="4788318"/>
            <a:ext cx="11809730" cy="357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TABLAS BIDIMENSIONALES CON FILAS Y COLUMNAS.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ESTABLECIDAS MEDIANTE CLAVES PRIMARIAS Y FORÁNEAS.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6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2450" marR="5252720" rtl="0" algn="l">
              <a:lnSpc>
                <a:spcPct val="1112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MADUREZ Y ESTANDARIZACIÓN (SQL). TRANSACCIONES ACID COMPLETAS.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2450" rtl="0" algn="l">
              <a:lnSpc>
                <a:spcPct val="108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AMPLIO ECOSISTEMA DE HERRAMIENTAS Y SOPORTE.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SISTEMAS BANCARIOS, ERP, CRM, INVENTARIOS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103510" y="2840080"/>
            <a:ext cx="756602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RELACIONALES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7423199" y="944998"/>
            <a:ext cx="3441700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FFFFFF"/>
                </a:solidFill>
              </a:rPr>
              <a:t>TIPOS</a:t>
            </a:r>
            <a:endParaRPr sz="6100"/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304" y="3973988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942" y="4321650"/>
            <a:ext cx="85725" cy="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3237629" y="4678838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237629" y="5031263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942" y="5731350"/>
            <a:ext cx="85725" cy="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3237629" y="6088537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237629" y="6440962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9942" y="7141050"/>
            <a:ext cx="85725" cy="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3237629" y="7498237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237629" y="7850662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9942" y="8550750"/>
            <a:ext cx="85725" cy="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3237629" y="8907937"/>
            <a:ext cx="76200" cy="76200"/>
          </a:xfrm>
          <a:custGeom>
            <a:rect b="b" l="l" r="r" t="t"/>
            <a:pathLst>
              <a:path extrusionOk="0" h="76200" w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554" y="9260362"/>
            <a:ext cx="76199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 txBox="1"/>
          <p:nvPr>
            <p:ph idx="1" type="body"/>
          </p:nvPr>
        </p:nvSpPr>
        <p:spPr>
          <a:xfrm>
            <a:off x="2354880" y="3215194"/>
            <a:ext cx="9274200" cy="6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ModeloS</a:t>
            </a:r>
            <a:r>
              <a:rPr b="0" lang="en-US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55245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Clave–valor</a:t>
            </a:r>
            <a:endParaRPr/>
          </a:p>
          <a:p>
            <a:pPr indent="0" lvl="0" marL="1091565" marR="2034539" rtl="0" algn="l">
              <a:lnSpc>
                <a:spcPct val="1112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Datos guardados como pares &lt;clave,valor&gt; Redis, DynamoDB</a:t>
            </a:r>
            <a:endParaRPr/>
          </a:p>
          <a:p>
            <a:pPr indent="0" lvl="0" marL="552450" rtl="0" algn="l">
              <a:lnSpc>
                <a:spcPct val="115600"/>
              </a:lnSpc>
              <a:spcBef>
                <a:spcPts val="249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Documentos</a:t>
            </a:r>
            <a:endParaRPr/>
          </a:p>
          <a:p>
            <a:pPr indent="0" lvl="0" marL="1091565" marR="2493010" rtl="0" algn="l">
              <a:lnSpc>
                <a:spcPct val="1112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Almacenan Documentos (JSON, BSON) MongoDB</a:t>
            </a:r>
            <a:endParaRPr/>
          </a:p>
          <a:p>
            <a:pPr indent="0" lvl="0" marL="552450" rtl="0" algn="l">
              <a:lnSpc>
                <a:spcPct val="115600"/>
              </a:lnSpc>
              <a:spcBef>
                <a:spcPts val="249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Columnas</a:t>
            </a:r>
            <a:endParaRPr/>
          </a:p>
          <a:p>
            <a:pPr indent="0" lvl="0" marL="1091565" marR="1063625" rtl="0" algn="l">
              <a:lnSpc>
                <a:spcPct val="1112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Filas con muchas columnas agrupadas en familias Cassandra</a:t>
            </a:r>
            <a:endParaRPr/>
          </a:p>
          <a:p>
            <a:pPr indent="0" lvl="0" marL="552450" rtl="0" algn="l">
              <a:lnSpc>
                <a:spcPct val="115400"/>
              </a:lnSpc>
              <a:spcBef>
                <a:spcPts val="249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Grafos</a:t>
            </a:r>
            <a:endParaRPr/>
          </a:p>
          <a:p>
            <a:pPr indent="-540385" lvl="0" marL="1631314" marR="5080" rtl="0" algn="l">
              <a:lnSpc>
                <a:spcPct val="1112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Modelan entidades como nodos y relaciones como aristas Neo4j</a:t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1394916" y="2171686"/>
            <a:ext cx="915543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RELACIONALES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1135508" y="953222"/>
            <a:ext cx="16221075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BASES DE DATOS RELACIONALES</a:t>
            </a:r>
            <a:endParaRPr sz="5100"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3389312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3736975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4089400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4441825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4794250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5151437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5499099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0712" y="5851524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0712" y="6203949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0712" y="6556375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6913562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/>
        </p:nvSpPr>
        <p:spPr>
          <a:xfrm>
            <a:off x="1016000" y="2459075"/>
            <a:ext cx="148002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Lenguaje de bases de datos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540384" lvl="0" marL="1091565" marR="763270" rtl="0" algn="l">
              <a:lnSpc>
                <a:spcPct val="111200"/>
              </a:lnSpc>
              <a:spcBef>
                <a:spcPts val="282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Lenguaje de definición de datos (DDL): CREATE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091565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ALTER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091565" marR="3912234" rtl="0" algn="l">
              <a:lnSpc>
                <a:spcPct val="1112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DROP TRUNCATE.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Lenguaje de manipulación de datos (DML):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091565" marR="4441190" rtl="0" algn="l">
              <a:lnSpc>
                <a:spcPct val="1112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INSERT UPDATE DELETE MERGE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Lenguaje de control de transacciones (TCL):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091565" marR="3823334" rtl="0" algn="l">
              <a:lnSpc>
                <a:spcPct val="1112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COMMIT ROLLBACK SAVEPOINT.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3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Lenguaje de control de datos (DCL):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091565" marR="4317365" rtl="0" algn="l">
              <a:lnSpc>
                <a:spcPct val="1112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GRANT REVOKE.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1135508" y="953222"/>
            <a:ext cx="16221075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BASES DE DATOS RELACIONALES</a:t>
            </a:r>
            <a:endParaRPr sz="5100"/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3313112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4017962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4722812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5427662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6913562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7261225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7970836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8675686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/>
          <p:nvPr/>
        </p:nvSpPr>
        <p:spPr>
          <a:xfrm>
            <a:off x="1016000" y="2300382"/>
            <a:ext cx="10903585" cy="655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Mantenimiento y seguridad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Copias de seguridad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backups completos, diferenciales y de logs.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Recuperación ante desastres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plan de restauración y failover.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registro de accesos y cambios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Encriptación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datos en reposo y en tránsito.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Transacciones y concurrencia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154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Transacción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unidad lógica de trabajo (ACID).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091565" rtl="0" algn="l">
              <a:lnSpc>
                <a:spcPct val="11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Atomicidad, Consistencia, Aislamiento, Durabilidad.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de concurrencia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bloqueos, timestamping, multiversión.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Manejo de fallos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commit, rollback, puntos de recuperación (savepoints).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BASES DE DATOS RELACIONALES</a:t>
            </a:r>
            <a:endParaRPr sz="5100"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4113405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4818255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5523105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6227955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6932805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/>
        </p:nvSpPr>
        <p:spPr>
          <a:xfrm>
            <a:off x="1016000" y="3024475"/>
            <a:ext cx="10868660" cy="4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Términos clave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estructura básica de almacenamiento.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Fila 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(registro): instancia de datos en una tabla.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Columna (campo)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atributo de la tabla; todos los valores comparten tipo.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Clave primaria (PK)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identifica de forma única cada fila.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551815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Clave ajena (FK)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referencia a la PK de otra tabla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BASES DE DATOS RELACIONALES</a:t>
            </a:r>
            <a:endParaRPr sz="5100"/>
          </a:p>
        </p:txBody>
      </p:sp>
      <p:sp>
        <p:nvSpPr>
          <p:cNvPr id="160" name="Google Shape;160;p11"/>
          <p:cNvSpPr txBox="1"/>
          <p:nvPr/>
        </p:nvSpPr>
        <p:spPr>
          <a:xfrm>
            <a:off x="1016000" y="3024475"/>
            <a:ext cx="7234555" cy="449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Propiedades de las tablas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297180" lvl="0" marL="55245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columna contiene valores del mismo tipo.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97180" lvl="0" marL="55245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valor en una columna es único.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97180" lvl="0" marL="55245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fila es única.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97180" lvl="0" marL="55245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orden de columnas no importa.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97180" lvl="0" marL="55245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orden de filas no importa.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97180" lvl="0" marL="55245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AutoNum type="arabicPeriod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columna tiene un nombre único.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1470990" y="4321460"/>
            <a:ext cx="15346044" cy="152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6720840" lvl="0" marL="6732905" marR="508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ANATOMÍA DE UNA SENTENCIA SQL</a:t>
            </a:r>
            <a:endParaRPr sz="5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1470990" y="953222"/>
            <a:ext cx="15346044" cy="152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6720840" lvl="0" marL="6732905" marR="508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ANATOMÍA DE UNA SENTENCIA SQL</a:t>
            </a:r>
            <a:endParaRPr sz="5100"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2663110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3101260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6194861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6623485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7052110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4" y="7480735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3"/>
          <p:cNvSpPr txBox="1"/>
          <p:nvPr/>
        </p:nvSpPr>
        <p:spPr>
          <a:xfrm>
            <a:off x="1555650" y="2380524"/>
            <a:ext cx="13006800" cy="5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la más importante de SQL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Recupera información de las tablas según criterios definidos.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634" lvl="0" marL="1221740" marR="5080" rtl="0" algn="l">
              <a:lnSpc>
                <a:spcPct val="140800"/>
              </a:lnSpc>
              <a:spcBef>
                <a:spcPts val="1675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&lt;COLUMNAS&gt; FROM &lt;TABLA&gt;;</a:t>
            </a:r>
            <a:endParaRPr sz="5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44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CONVENCIONES DE ESTILO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57416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PALABRAS CLAVE EN MAYÚSCULAS (SELECT, FROM, WHERE). </a:t>
            </a:r>
            <a:endParaRPr sz="2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57416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NOMBRES DE TABLAS Y COLUMNAS EN MINÚSCULAS.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CLÁUSULA EN UNA LÍNEA DISTINTA.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6720839" lvl="0" marL="7170419" marR="508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FFFFF"/>
                </a:solidFill>
              </a:rPr>
              <a:t>ANATOMÍA DE UNA SENTENCIA SQL</a:t>
            </a:r>
            <a:endParaRPr sz="5100"/>
          </a:p>
        </p:txBody>
      </p:sp>
      <p:sp>
        <p:nvSpPr>
          <p:cNvPr id="183" name="Google Shape;183;p14"/>
          <p:cNvSpPr txBox="1"/>
          <p:nvPr/>
        </p:nvSpPr>
        <p:spPr>
          <a:xfrm>
            <a:off x="1016000" y="3211753"/>
            <a:ext cx="882523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PROYECCIÓN: DETERMINA LAS COLUMNAS MOSTRADAS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1016000" y="4167740"/>
            <a:ext cx="13426500" cy="4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35" lvl="0" marL="1761489" marR="1739900" rtl="0" algn="l">
              <a:lnSpc>
                <a:spcPct val="14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&lt;COLUMNAS&gt; FROM &lt;TABLA&gt;;</a:t>
            </a:r>
            <a:endParaRPr sz="5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SELECCIÓN: DETERMINA LAS FILAS RETORNADAS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7614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&lt;COMPARADOR&gt;;</a:t>
            </a:r>
            <a:endParaRPr sz="5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1879600" lvl="0" marL="3660775" marR="5080" rtl="0" algn="l">
              <a:lnSpc>
                <a:spcPct val="11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CLAVE APRENDIDOS</a:t>
            </a:r>
            <a:endParaRPr/>
          </a:p>
        </p:txBody>
      </p:sp>
      <p:pic>
        <p:nvPicPr>
          <p:cNvPr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597" y="4596139"/>
            <a:ext cx="123825" cy="12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909" y="5086677"/>
            <a:ext cx="133350" cy="1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4909" y="5581977"/>
            <a:ext cx="133350" cy="1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/>
        </p:nvSpPr>
        <p:spPr>
          <a:xfrm>
            <a:off x="3066608" y="4340285"/>
            <a:ext cx="3263900" cy="2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05155" lvl="0" marL="617220" marR="58039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Tahoma"/>
                <a:ea typeface="Tahoma"/>
                <a:cs typeface="Tahoma"/>
                <a:sym typeface="Tahoma"/>
              </a:rPr>
              <a:t>Base de Datos Relacionales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60452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Tahoma"/>
                <a:ea typeface="Tahoma"/>
                <a:cs typeface="Tahoma"/>
                <a:sym typeface="Tahoma"/>
              </a:rPr>
              <a:t>No Relacionales DBMS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Tahoma"/>
                <a:ea typeface="Tahoma"/>
                <a:cs typeface="Tahoma"/>
                <a:sym typeface="Tahoma"/>
              </a:rPr>
              <a:t>SELECT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597" y="6082039"/>
            <a:ext cx="123825" cy="12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9597" y="6577339"/>
            <a:ext cx="123825" cy="12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1033393" y="932370"/>
            <a:ext cx="16323190" cy="205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925">
            <a:spAutoFit/>
          </a:bodyPr>
          <a:lstStyle/>
          <a:p>
            <a:pPr indent="0" lvl="0" marL="3828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HONESTIDAD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2533399" y="3498457"/>
            <a:ext cx="13127355" cy="2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Tahoma"/>
                <a:ea typeface="Tahoma"/>
                <a:cs typeface="Tahoma"/>
                <a:sym typeface="Tahoma"/>
              </a:rPr>
              <a:t>Imaginemos un sistema de nómina en una empresa: los salarios se calculan, se registran en la base de datos y se pagan a fin de mes. Mantener la honestidad implica que nadie pueda alterar esos registros de forma arbitraria para elevar, disminuir o cancelar pagos según sus conveniencias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4425095" y="3273312"/>
            <a:ext cx="8684260" cy="1755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300">
            <a:spAutoFit/>
          </a:bodyPr>
          <a:lstStyle/>
          <a:p>
            <a:pPr indent="0" lvl="0" marL="12700" marR="5080" rtl="0" algn="l">
              <a:lnSpc>
                <a:spcPct val="1032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¡GRACIAS	POR SU	ATENCIÓN!</a:t>
            </a:r>
            <a:endParaRPr sz="6100"/>
          </a:p>
        </p:txBody>
      </p:sp>
      <p:sp>
        <p:nvSpPr>
          <p:cNvPr id="207" name="Google Shape;207;p17"/>
          <p:cNvSpPr txBox="1"/>
          <p:nvPr/>
        </p:nvSpPr>
        <p:spPr>
          <a:xfrm>
            <a:off x="7320100" y="6040716"/>
            <a:ext cx="289433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D U D A S</a:t>
            </a:r>
            <a:endParaRPr sz="5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3750" y="1028700"/>
            <a:ext cx="2752724" cy="37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3144025" y="7845100"/>
            <a:ext cx="128973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635" lvl="0" marL="647700" marR="5080" rtl="0" algn="l">
              <a:lnSpc>
                <a:spcPct val="12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R E C U E R D A	Q U E	T E N E M O S	N U E S T R O	F O R O	S E M A N A L	D O N D E	P U E D E S  C O N S U L T A R		C U A L Q U I E R	D U D A	Q U E	T E		S U R J A	E N		L A	S E M A N A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2025-06-01T17:18:49Z</dcterms:created>
  <dc:creator>Fernando Ibarra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2025-05-21T00:00:00Z</vt:filetime>
  </property>
  <property fmtid="{D5CDD505-2E9C-101B-9397-08002B2CF9AE}" pid="3" name="Creator">
    <vt:lpwstr>Canva</vt:lpwstr>
  </property>
  <property fmtid="{D5CDD505-2E9C-101B-9397-08002B2CF9AE}" pid="4" name="LastSaved">
    <vt:filetime>2025-06-01T00:00:00Z</vt:filetime>
  </property>
  <property fmtid="{D5CDD505-2E9C-101B-9397-08002B2CF9AE}" pid="5" name="Producer">
    <vt:lpwstr>Canva</vt:lpwstr>
  </property>
</Properties>
</file>