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6"/>
            <a:ext cx="1258824" cy="4206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074" y="385013"/>
            <a:ext cx="8359851" cy="895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14" y="1415923"/>
            <a:ext cx="8057515" cy="4113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836" y="6591325"/>
            <a:ext cx="3219450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645" y="6517868"/>
            <a:ext cx="1186179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28380" y="6591325"/>
            <a:ext cx="173354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192023"/>
            <a:ext cx="8759952" cy="914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5751576"/>
            <a:ext cx="8759952" cy="914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4895" y="2514600"/>
            <a:ext cx="5474208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8" y="5570220"/>
              <a:ext cx="1258824" cy="420624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8536" y="6564274"/>
            <a:ext cx="321945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92" y="855979"/>
            <a:ext cx="705040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5"/>
              <a:t> </a:t>
            </a:r>
            <a:r>
              <a:rPr dirty="0" sz="4800" spc="-20"/>
              <a:t>Programming</a:t>
            </a:r>
            <a:r>
              <a:rPr dirty="0" sz="4800" spc="-19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964" y="2401570"/>
            <a:ext cx="3336925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13-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Modificación</a:t>
            </a:r>
            <a:r>
              <a:rPr dirty="0" sz="2400" spc="-6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3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60442" cy="29634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216852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ALTER</a:t>
            </a:r>
            <a:r>
              <a:rPr dirty="0" spc="-150"/>
              <a:t> </a:t>
            </a:r>
            <a:r>
              <a:rPr dirty="0" spc="-40"/>
              <a:t>TABLE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393907"/>
            <a:ext cx="7905750" cy="28638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70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ALTER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TABLE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Modificar una</a:t>
            </a:r>
            <a:r>
              <a:rPr dirty="0" sz="2400" spc="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existente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Definir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DEFAULT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Borrar</a:t>
            </a:r>
            <a:r>
              <a:rPr dirty="0" sz="240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400">
              <a:latin typeface="Calibri"/>
              <a:cs typeface="Calibri"/>
            </a:endParaRPr>
          </a:p>
          <a:p>
            <a:pPr marL="183515" marR="5080" indent="-171450">
              <a:lnSpc>
                <a:spcPts val="303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modificar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donde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aparece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216852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ALTER</a:t>
            </a:r>
            <a:r>
              <a:rPr dirty="0" spc="-150"/>
              <a:t> </a:t>
            </a:r>
            <a:r>
              <a:rPr dirty="0" spc="-40"/>
              <a:t>TABLE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8022590" cy="209042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3302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recién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agregada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siempre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convierte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última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3515" marR="5080" indent="-171450">
              <a:lnSpc>
                <a:spcPct val="90000"/>
              </a:lnSpc>
              <a:spcBef>
                <a:spcPts val="76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Además,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agrega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 	inicialmente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será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existentes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2279" y="3947159"/>
            <a:ext cx="3137154" cy="210235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ALTER</a:t>
            </a:r>
            <a:r>
              <a:rPr dirty="0" spc="-105"/>
              <a:t> </a:t>
            </a:r>
            <a:r>
              <a:rPr dirty="0" spc="-30"/>
              <a:t>TABLE:</a:t>
            </a:r>
            <a:r>
              <a:rPr dirty="0" spc="-80"/>
              <a:t> </a:t>
            </a:r>
            <a:r>
              <a:rPr dirty="0"/>
              <a:t>Adición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100"/>
              <a:t> </a:t>
            </a:r>
            <a:r>
              <a:rPr dirty="0"/>
              <a:t>una</a:t>
            </a:r>
            <a:r>
              <a:rPr dirty="0" spc="-90"/>
              <a:t> </a:t>
            </a:r>
            <a:r>
              <a:rPr dirty="0" spc="-10"/>
              <a:t>Columna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8055609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SQL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3257169"/>
            <a:ext cx="20370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2337816"/>
            <a:ext cx="8345805" cy="80962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8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tablename</a:t>
            </a:r>
            <a:endParaRPr sz="1800">
              <a:latin typeface="Courier New"/>
              <a:cs typeface="Courier New"/>
            </a:endParaRPr>
          </a:p>
          <a:p>
            <a:pPr marR="178816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ADD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(column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name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data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type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[DEFAULT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expression],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column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name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data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type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[DEFAULT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expression],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5384" y="3858767"/>
            <a:ext cx="8345805" cy="5867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0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my_cd_collection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ADD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(release_date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DATE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DEFAULT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SYSDATE);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3191" y="4594859"/>
            <a:ext cx="8345805" cy="5867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my_friends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ADD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(favorite_game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VARCHAR2(30));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ALTER</a:t>
            </a:r>
            <a:r>
              <a:rPr dirty="0" spc="-105"/>
              <a:t> </a:t>
            </a:r>
            <a:r>
              <a:rPr dirty="0" spc="-30"/>
              <a:t>TABLE:</a:t>
            </a:r>
            <a:r>
              <a:rPr dirty="0" spc="-80"/>
              <a:t> </a:t>
            </a:r>
            <a:r>
              <a:rPr dirty="0" spc="-10"/>
              <a:t>Modificación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95"/>
              <a:t> </a:t>
            </a:r>
            <a:r>
              <a:rPr dirty="0"/>
              <a:t>una</a:t>
            </a:r>
            <a:r>
              <a:rPr dirty="0" spc="-95"/>
              <a:t> </a:t>
            </a:r>
            <a:r>
              <a:rPr dirty="0" spc="-10"/>
              <a:t>Columna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10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382394"/>
            <a:ext cx="8088630" cy="446595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83515" marR="5080" indent="-171450">
              <a:lnSpc>
                <a:spcPts val="2690"/>
              </a:lnSpc>
              <a:spcBef>
                <a:spcPts val="74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modificación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cambios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tamaño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DEFAULT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800">
              <a:latin typeface="Calibri"/>
              <a:cs typeface="Calibri"/>
            </a:endParaRPr>
          </a:p>
          <a:p>
            <a:pPr marL="183515" marR="153035" indent="-171450">
              <a:lnSpc>
                <a:spcPts val="269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restricciones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modificar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siguientes:</a:t>
            </a:r>
            <a:endParaRPr sz="2800">
              <a:latin typeface="Calibri"/>
              <a:cs typeface="Calibri"/>
            </a:endParaRPr>
          </a:p>
          <a:p>
            <a:pPr marL="530860" marR="619125" indent="-175260">
              <a:lnSpc>
                <a:spcPct val="80000"/>
              </a:lnSpc>
              <a:spcBef>
                <a:spcPts val="43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aumentar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ancho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precisión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columna numérica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620"/>
              </a:lnSpc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aumentar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ancho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endParaRPr sz="2400">
              <a:latin typeface="Calibri"/>
              <a:cs typeface="Calibri"/>
            </a:endParaRPr>
          </a:p>
          <a:p>
            <a:pPr marL="530860" marR="262890" indent="-175260">
              <a:lnSpc>
                <a:spcPts val="2300"/>
              </a:lnSpc>
              <a:spcBef>
                <a:spcPts val="47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reducir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ancho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NUMBER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contiene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únicamente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nulos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2400">
              <a:latin typeface="Calibri"/>
              <a:cs typeface="Calibri"/>
            </a:endParaRPr>
          </a:p>
          <a:p>
            <a:pPr marL="530860" marR="194945" indent="-175260">
              <a:lnSpc>
                <a:spcPts val="2300"/>
              </a:lnSpc>
              <a:spcBef>
                <a:spcPts val="409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tipos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VARCHAR,</a:t>
            </a:r>
            <a:r>
              <a:rPr dirty="0" sz="24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reducir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ancho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hasta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mayor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incluido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ALTER</a:t>
            </a:r>
            <a:r>
              <a:rPr dirty="0" spc="-105"/>
              <a:t> </a:t>
            </a:r>
            <a:r>
              <a:rPr dirty="0" spc="-30"/>
              <a:t>TABLE:</a:t>
            </a:r>
            <a:r>
              <a:rPr dirty="0" spc="-80"/>
              <a:t> </a:t>
            </a:r>
            <a:r>
              <a:rPr dirty="0" spc="-10"/>
              <a:t>Modificación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95"/>
              <a:t> </a:t>
            </a:r>
            <a:r>
              <a:rPr dirty="0"/>
              <a:t>una</a:t>
            </a:r>
            <a:r>
              <a:rPr dirty="0" spc="-95"/>
              <a:t> </a:t>
            </a:r>
            <a:r>
              <a:rPr dirty="0" spc="-10"/>
              <a:t>Columna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8180070" cy="3345179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102489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contiene</a:t>
            </a:r>
            <a:r>
              <a:rPr dirty="0" sz="2800" spc="-1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1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nulos</a:t>
            </a:r>
            <a:endParaRPr sz="2800">
              <a:latin typeface="Calibri"/>
              <a:cs typeface="Calibri"/>
            </a:endParaRPr>
          </a:p>
          <a:p>
            <a:pPr marL="183515" marR="26034" indent="-171450">
              <a:lnSpc>
                <a:spcPct val="90000"/>
              </a:lnSpc>
              <a:spcBef>
                <a:spcPts val="76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convertir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CHAR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VARCHAR2</a:t>
            </a:r>
            <a:r>
              <a:rPr dirty="0" sz="2800" spc="7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7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VARCHAR2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CHAR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contiene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nulos,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bien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tamaño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pequeño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800">
              <a:latin typeface="Calibri"/>
              <a:cs typeface="Calibri"/>
            </a:endParaRPr>
          </a:p>
          <a:p>
            <a:pPr marL="183515" marR="5080" indent="-171450">
              <a:lnSpc>
                <a:spcPts val="3020"/>
              </a:lnSpc>
              <a:spcBef>
                <a:spcPts val="85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DEFAULT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silo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afecta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inserciones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posteriores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9"/>
              </a:spcBef>
            </a:pPr>
            <a:r>
              <a:rPr dirty="0" sz="3000"/>
              <a:t>Ejemplo</a:t>
            </a:r>
            <a:r>
              <a:rPr dirty="0" sz="3000" spc="-70"/>
              <a:t> </a:t>
            </a:r>
            <a:r>
              <a:rPr dirty="0" sz="3000"/>
              <a:t>de</a:t>
            </a:r>
            <a:r>
              <a:rPr dirty="0" sz="3000" spc="-65"/>
              <a:t> </a:t>
            </a:r>
            <a:r>
              <a:rPr dirty="0" sz="3000" spc="-30"/>
              <a:t>ALTER</a:t>
            </a:r>
            <a:r>
              <a:rPr dirty="0" sz="3000" spc="-80"/>
              <a:t> </a:t>
            </a:r>
            <a:r>
              <a:rPr dirty="0" sz="3000" spc="-25"/>
              <a:t>TABLE:</a:t>
            </a:r>
            <a:r>
              <a:rPr dirty="0" sz="3000" spc="-75"/>
              <a:t> </a:t>
            </a:r>
            <a:r>
              <a:rPr dirty="0" sz="3000"/>
              <a:t>Modificación</a:t>
            </a:r>
            <a:r>
              <a:rPr dirty="0" sz="3000" spc="-80"/>
              <a:t> </a:t>
            </a:r>
            <a:r>
              <a:rPr dirty="0" sz="3000"/>
              <a:t>de</a:t>
            </a:r>
            <a:r>
              <a:rPr dirty="0" sz="3000" spc="-75"/>
              <a:t> </a:t>
            </a:r>
            <a:r>
              <a:rPr dirty="0" sz="3000" spc="-25"/>
              <a:t>una </a:t>
            </a:r>
            <a:r>
              <a:rPr dirty="0" sz="3000" spc="-10"/>
              <a:t>Columna</a:t>
            </a:r>
            <a:endParaRPr sz="3000"/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20495"/>
            <a:ext cx="7036434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creado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columnas: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3191" y="1892807"/>
            <a:ext cx="8345805" cy="7867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mod_emp</a:t>
            </a:r>
            <a:endParaRPr sz="1800">
              <a:latin typeface="Courier New"/>
              <a:cs typeface="Courier New"/>
            </a:endParaRPr>
          </a:p>
          <a:p>
            <a:pPr marL="409575" marR="4788535" indent="-1358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(last_name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VARCHAR2(20),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NUMBER(8,2));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93191" y="3724655"/>
            <a:ext cx="8345805" cy="454659"/>
          </a:xfrm>
          <a:custGeom>
            <a:avLst/>
            <a:gdLst/>
            <a:ahLst/>
            <a:cxnLst/>
            <a:rect l="l" t="t" r="r" b="b"/>
            <a:pathLst>
              <a:path w="8345805" h="454660">
                <a:moveTo>
                  <a:pt x="8345424" y="0"/>
                </a:moveTo>
                <a:lnTo>
                  <a:pt x="0" y="0"/>
                </a:lnTo>
                <a:lnTo>
                  <a:pt x="0" y="454152"/>
                </a:lnTo>
                <a:lnTo>
                  <a:pt x="8345424" y="454152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80491" y="2733522"/>
            <a:ext cx="8131175" cy="147955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87655" indent="-172085">
              <a:lnSpc>
                <a:spcPct val="100000"/>
              </a:lnSpc>
              <a:spcBef>
                <a:spcPts val="590"/>
              </a:spcBef>
              <a:buClr>
                <a:srgbClr val="D1350F"/>
              </a:buClr>
              <a:buFont typeface="Arial MT"/>
              <a:buChar char="•"/>
              <a:tabLst>
                <a:tab pos="28765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¿Cuál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estas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modificaciones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estaría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permitida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cuál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no?</a:t>
            </a:r>
            <a:endParaRPr sz="2600">
              <a:latin typeface="Calibri"/>
              <a:cs typeface="Calibri"/>
            </a:endParaRPr>
          </a:p>
          <a:p>
            <a:pPr marL="287655" indent="-172085">
              <a:lnSpc>
                <a:spcPts val="3070"/>
              </a:lnSpc>
              <a:spcBef>
                <a:spcPts val="490"/>
              </a:spcBef>
              <a:buClr>
                <a:srgbClr val="D1350F"/>
              </a:buClr>
              <a:buFont typeface="Arial MT"/>
              <a:buChar char="•"/>
              <a:tabLst>
                <a:tab pos="28765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Considere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respuestas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211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mod_emp</a:t>
            </a:r>
            <a:endParaRPr sz="1800">
              <a:latin typeface="Courier New"/>
              <a:cs typeface="Courier New"/>
            </a:endParaRPr>
          </a:p>
          <a:p>
            <a:pPr marL="69532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MODIFY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(last_name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VARCHAR2(30));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12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93191" y="4265676"/>
            <a:ext cx="8345805" cy="42989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8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mod_emp</a:t>
            </a:r>
            <a:endParaRPr sz="1800">
              <a:latin typeface="Courier New"/>
              <a:cs typeface="Courier New"/>
            </a:endParaRPr>
          </a:p>
          <a:p>
            <a:pPr marL="682625">
              <a:lnSpc>
                <a:spcPts val="19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MODIFY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(last_name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VARCHAR2(10));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3191" y="4777740"/>
            <a:ext cx="8345805" cy="45465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8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mod_emp</a:t>
            </a:r>
            <a:endParaRPr sz="1800">
              <a:latin typeface="Courier New"/>
              <a:cs typeface="Courier New"/>
            </a:endParaRPr>
          </a:p>
          <a:p>
            <a:pPr marL="682625">
              <a:lnSpc>
                <a:spcPts val="198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MODIFY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(salary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NUMBER(10,2));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3191" y="5314188"/>
            <a:ext cx="8345805" cy="483234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9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mod_emp</a:t>
            </a:r>
            <a:endParaRPr sz="1800">
              <a:latin typeface="Courier New"/>
              <a:cs typeface="Courier New"/>
            </a:endParaRPr>
          </a:p>
          <a:p>
            <a:pPr marL="682625">
              <a:lnSpc>
                <a:spcPts val="211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MODIFY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(salary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NUMBER(8,2)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DEFAULT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50);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9"/>
              </a:spcBef>
            </a:pPr>
            <a:r>
              <a:rPr dirty="0" sz="3000"/>
              <a:t>Ejemplo</a:t>
            </a:r>
            <a:r>
              <a:rPr dirty="0" sz="3000" spc="-70"/>
              <a:t> </a:t>
            </a:r>
            <a:r>
              <a:rPr dirty="0" sz="3000"/>
              <a:t>de</a:t>
            </a:r>
            <a:r>
              <a:rPr dirty="0" sz="3000" spc="-65"/>
              <a:t> </a:t>
            </a:r>
            <a:r>
              <a:rPr dirty="0" sz="3000" spc="-30"/>
              <a:t>ALTER</a:t>
            </a:r>
            <a:r>
              <a:rPr dirty="0" sz="3000" spc="-80"/>
              <a:t> </a:t>
            </a:r>
            <a:r>
              <a:rPr dirty="0" sz="3000" spc="-25"/>
              <a:t>TABLE:</a:t>
            </a:r>
            <a:r>
              <a:rPr dirty="0" sz="3000" spc="-75"/>
              <a:t> </a:t>
            </a:r>
            <a:r>
              <a:rPr dirty="0" sz="3000"/>
              <a:t>Modificación</a:t>
            </a:r>
            <a:r>
              <a:rPr dirty="0" sz="3000" spc="-80"/>
              <a:t> </a:t>
            </a:r>
            <a:r>
              <a:rPr dirty="0" sz="3000"/>
              <a:t>de</a:t>
            </a:r>
            <a:r>
              <a:rPr dirty="0" sz="3000" spc="-75"/>
              <a:t> </a:t>
            </a:r>
            <a:r>
              <a:rPr dirty="0" sz="3000" spc="-25"/>
              <a:t>una </a:t>
            </a:r>
            <a:r>
              <a:rPr dirty="0" sz="3000" spc="-10"/>
              <a:t>Columna</a:t>
            </a:r>
            <a:endParaRPr sz="3000"/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902079"/>
            <a:ext cx="813308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estaría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permitida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estuvieran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vacías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largo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tuviera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10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menos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3743705"/>
            <a:ext cx="763397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Estaría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permitida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aumenta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ancho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3191" y="2994660"/>
            <a:ext cx="8345805" cy="5200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3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mod_emp</a:t>
            </a:r>
            <a:endParaRPr sz="1800">
              <a:latin typeface="Courier New"/>
              <a:cs typeface="Courier New"/>
            </a:endParaRPr>
          </a:p>
          <a:p>
            <a:pPr marL="68262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MODIFY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(last_name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VARCHAR2(10));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3191" y="4890515"/>
            <a:ext cx="8345805" cy="5200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3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mod_emp</a:t>
            </a:r>
            <a:endParaRPr sz="1800">
              <a:latin typeface="Courier New"/>
              <a:cs typeface="Courier New"/>
            </a:endParaRPr>
          </a:p>
          <a:p>
            <a:pPr marL="68262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MODIFY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(last_name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VARCHAR2(30));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9"/>
              </a:spcBef>
            </a:pPr>
            <a:r>
              <a:rPr dirty="0" sz="3000"/>
              <a:t>Ejemplo</a:t>
            </a:r>
            <a:r>
              <a:rPr dirty="0" sz="3000" spc="-70"/>
              <a:t> </a:t>
            </a:r>
            <a:r>
              <a:rPr dirty="0" sz="3000"/>
              <a:t>de</a:t>
            </a:r>
            <a:r>
              <a:rPr dirty="0" sz="3000" spc="-65"/>
              <a:t> </a:t>
            </a:r>
            <a:r>
              <a:rPr dirty="0" sz="3000" spc="-30"/>
              <a:t>ALTER</a:t>
            </a:r>
            <a:r>
              <a:rPr dirty="0" sz="3000" spc="-80"/>
              <a:t> </a:t>
            </a:r>
            <a:r>
              <a:rPr dirty="0" sz="3000" spc="-25"/>
              <a:t>TABLE:</a:t>
            </a:r>
            <a:r>
              <a:rPr dirty="0" sz="3000" spc="-75"/>
              <a:t> </a:t>
            </a:r>
            <a:r>
              <a:rPr dirty="0" sz="3000"/>
              <a:t>Modificación</a:t>
            </a:r>
            <a:r>
              <a:rPr dirty="0" sz="3000" spc="-80"/>
              <a:t> </a:t>
            </a:r>
            <a:r>
              <a:rPr dirty="0" sz="3000"/>
              <a:t>de</a:t>
            </a:r>
            <a:r>
              <a:rPr dirty="0" sz="3000" spc="-75"/>
              <a:t> </a:t>
            </a:r>
            <a:r>
              <a:rPr dirty="0" sz="3000" spc="-25"/>
              <a:t>una </a:t>
            </a:r>
            <a:r>
              <a:rPr dirty="0" sz="3000" spc="-10"/>
              <a:t>Columna</a:t>
            </a:r>
            <a:endParaRPr sz="3000"/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902079"/>
            <a:ext cx="762825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Estaría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permitida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aumenta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precisión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3743705"/>
            <a:ext cx="797750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permitiría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DEFAULT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7576" y="2942844"/>
            <a:ext cx="8345805" cy="5200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3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mod_emp</a:t>
            </a:r>
            <a:endParaRPr sz="1800">
              <a:latin typeface="Courier New"/>
              <a:cs typeface="Courier New"/>
            </a:endParaRPr>
          </a:p>
          <a:p>
            <a:pPr marL="6819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MODIFY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(salary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NUMBER(10,2));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7576" y="4890515"/>
            <a:ext cx="8345805" cy="5200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3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mod_emp</a:t>
            </a:r>
            <a:endParaRPr sz="1800">
              <a:latin typeface="Courier New"/>
              <a:cs typeface="Courier New"/>
            </a:endParaRPr>
          </a:p>
          <a:p>
            <a:pPr marL="6819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MODIFY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(salary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NUMBER(8,2)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DEFAULT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50);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ALTER</a:t>
            </a:r>
            <a:r>
              <a:rPr dirty="0" spc="-105"/>
              <a:t> </a:t>
            </a:r>
            <a:r>
              <a:rPr dirty="0" spc="-30"/>
              <a:t>TABLE:</a:t>
            </a:r>
            <a:r>
              <a:rPr dirty="0" spc="-85"/>
              <a:t> </a:t>
            </a:r>
            <a:r>
              <a:rPr dirty="0"/>
              <a:t>Borrado</a:t>
            </a:r>
            <a:r>
              <a:rPr dirty="0" spc="-100"/>
              <a:t> </a:t>
            </a:r>
            <a:r>
              <a:rPr dirty="0"/>
              <a:t>de</a:t>
            </a:r>
            <a:r>
              <a:rPr dirty="0" spc="-100"/>
              <a:t> </a:t>
            </a:r>
            <a:r>
              <a:rPr dirty="0"/>
              <a:t>una</a:t>
            </a:r>
            <a:r>
              <a:rPr dirty="0" spc="-105"/>
              <a:t> </a:t>
            </a:r>
            <a:r>
              <a:rPr dirty="0" spc="-10"/>
              <a:t>Columna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393907"/>
            <a:ext cx="7954009" cy="265684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70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borrar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aplican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reglas: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borrar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contenga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borrar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vez</a:t>
            </a:r>
            <a:endParaRPr sz="2400">
              <a:latin typeface="Calibri"/>
              <a:cs typeface="Calibri"/>
            </a:endParaRPr>
          </a:p>
          <a:p>
            <a:pPr marL="530860" marR="567690" indent="-175260">
              <a:lnSpc>
                <a:spcPts val="2590"/>
              </a:lnSpc>
              <a:spcBef>
                <a:spcPts val="434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borrar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tabla;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debe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permanecer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menos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400">
              <a:latin typeface="Calibri"/>
              <a:cs typeface="Calibri"/>
            </a:endParaRPr>
          </a:p>
          <a:p>
            <a:pPr marL="530860" marR="45720" indent="-175260">
              <a:lnSpc>
                <a:spcPts val="2590"/>
              </a:lnSpc>
              <a:spcBef>
                <a:spcPts val="41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vez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borrada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columna,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recuperar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ALTER</a:t>
            </a:r>
            <a:r>
              <a:rPr dirty="0" spc="-105"/>
              <a:t> </a:t>
            </a:r>
            <a:r>
              <a:rPr dirty="0" spc="-30"/>
              <a:t>TABLE:</a:t>
            </a:r>
            <a:r>
              <a:rPr dirty="0" spc="-85"/>
              <a:t> </a:t>
            </a:r>
            <a:r>
              <a:rPr dirty="0"/>
              <a:t>Borrado</a:t>
            </a:r>
            <a:r>
              <a:rPr dirty="0" spc="-100"/>
              <a:t> </a:t>
            </a:r>
            <a:r>
              <a:rPr dirty="0"/>
              <a:t>de</a:t>
            </a:r>
            <a:r>
              <a:rPr dirty="0" spc="-100"/>
              <a:t> </a:t>
            </a:r>
            <a:r>
              <a:rPr dirty="0"/>
              <a:t>una</a:t>
            </a:r>
            <a:r>
              <a:rPr dirty="0" spc="-105"/>
              <a:t> </a:t>
            </a:r>
            <a:r>
              <a:rPr dirty="0" spc="-10"/>
              <a:t>Columna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20110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1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SQL: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2873120"/>
            <a:ext cx="20370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2071116"/>
            <a:ext cx="8345805" cy="5200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3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tablename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DROP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COLUMN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column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name;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9288" y="3520440"/>
            <a:ext cx="8345805" cy="5200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3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my_cd_collection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DROP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COLUMN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release_date;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5384" y="4404359"/>
            <a:ext cx="8345805" cy="51815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3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my_friends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DROP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COLUMN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favorite_game;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SET</a:t>
            </a:r>
            <a:r>
              <a:rPr dirty="0" spc="-60"/>
              <a:t> </a:t>
            </a:r>
            <a:r>
              <a:rPr dirty="0"/>
              <a:t>UNUSED</a:t>
            </a:r>
            <a:r>
              <a:rPr dirty="0" spc="-65"/>
              <a:t> </a:t>
            </a:r>
            <a:r>
              <a:rPr dirty="0"/>
              <a:t>para</a:t>
            </a:r>
            <a:r>
              <a:rPr dirty="0" spc="-60"/>
              <a:t> </a:t>
            </a:r>
            <a:r>
              <a:rPr dirty="0" spc="-10"/>
              <a:t>Columnas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20495"/>
            <a:ext cx="7982584" cy="403987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84785" marR="646430" indent="-172720">
              <a:lnSpc>
                <a:spcPts val="2810"/>
              </a:lnSpc>
              <a:spcBef>
                <a:spcPts val="45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Borrar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grande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llevar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mucho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tiempo</a:t>
            </a:r>
            <a:endParaRPr sz="2600">
              <a:latin typeface="Calibri"/>
              <a:cs typeface="Calibri"/>
            </a:endParaRPr>
          </a:p>
          <a:p>
            <a:pPr marL="184785" marR="429895" indent="-172720">
              <a:lnSpc>
                <a:spcPts val="281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alternativa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rápida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marcar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como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 utilizable</a:t>
            </a:r>
            <a:endParaRPr sz="2600">
              <a:latin typeface="Calibri"/>
              <a:cs typeface="Calibri"/>
            </a:endParaRPr>
          </a:p>
          <a:p>
            <a:pPr marL="184785" marR="5080" indent="-172720">
              <a:lnSpc>
                <a:spcPct val="90000"/>
              </a:lnSpc>
              <a:spcBef>
                <a:spcPts val="75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permanecen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datos,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acceder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ellos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ninguna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forma,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lo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efecto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mismo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borrar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600">
              <a:latin typeface="Calibri"/>
              <a:cs typeface="Calibri"/>
            </a:endParaRPr>
          </a:p>
          <a:p>
            <a:pPr marL="184785" marR="85090" indent="-172720">
              <a:lnSpc>
                <a:spcPts val="2810"/>
              </a:lnSpc>
              <a:spcBef>
                <a:spcPts val="84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hecho,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mismo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utilizada</a:t>
            </a:r>
            <a:endParaRPr sz="2600">
              <a:latin typeface="Calibri"/>
              <a:cs typeface="Calibri"/>
            </a:endParaRPr>
          </a:p>
          <a:p>
            <a:pPr marL="184785" indent="-172085">
              <a:lnSpc>
                <a:spcPct val="100000"/>
              </a:lnSpc>
              <a:spcBef>
                <a:spcPts val="44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utilizadas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existen,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invisibles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5495035"/>
            <a:ext cx="129667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Sintaxis: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76044" y="5602223"/>
            <a:ext cx="6863080" cy="32194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4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tablename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UNUSED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(column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name);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SET</a:t>
            </a:r>
            <a:r>
              <a:rPr dirty="0" spc="-60"/>
              <a:t> </a:t>
            </a:r>
            <a:r>
              <a:rPr dirty="0"/>
              <a:t>UNUSED</a:t>
            </a:r>
            <a:r>
              <a:rPr dirty="0" spc="-65"/>
              <a:t> </a:t>
            </a:r>
            <a:r>
              <a:rPr dirty="0"/>
              <a:t>para</a:t>
            </a:r>
            <a:r>
              <a:rPr dirty="0" spc="-70"/>
              <a:t> </a:t>
            </a:r>
            <a:r>
              <a:rPr dirty="0" spc="-10"/>
              <a:t>Columnas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14668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2388488"/>
            <a:ext cx="7872730" cy="257492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DROP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UNUSED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columnas 	marcadas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actualmente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utilizadas</a:t>
            </a:r>
            <a:endParaRPr sz="2800">
              <a:latin typeface="Calibri"/>
              <a:cs typeface="Calibri"/>
            </a:endParaRPr>
          </a:p>
          <a:p>
            <a:pPr marL="183515" marR="845185" indent="-171450">
              <a:lnSpc>
                <a:spcPct val="90000"/>
              </a:lnSpc>
              <a:spcBef>
                <a:spcPts val="75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desee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reclamar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espacio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disco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adicional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utilizadas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3191" y="1840992"/>
            <a:ext cx="8345805" cy="53530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9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endParaRPr sz="1800">
              <a:latin typeface="Courier New"/>
              <a:cs typeface="Courier New"/>
            </a:endParaRPr>
          </a:p>
          <a:p>
            <a:pPr marL="40957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UNUSED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(email);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3191" y="4962144"/>
            <a:ext cx="8345805" cy="5365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4788535">
              <a:lnSpc>
                <a:spcPts val="190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endParaRPr sz="1800">
              <a:latin typeface="Courier New"/>
              <a:cs typeface="Courier New"/>
            </a:endParaRPr>
          </a:p>
          <a:p>
            <a:pPr algn="ctr" marR="47821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DROP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UNUSED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COLUMNS;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436372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Resumen</a:t>
            </a:r>
            <a:r>
              <a:rPr dirty="0" spc="-75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30"/>
              <a:t>ALTER</a:t>
            </a:r>
            <a:r>
              <a:rPr dirty="0" spc="-80"/>
              <a:t> </a:t>
            </a:r>
            <a:r>
              <a:rPr dirty="0" spc="-35"/>
              <a:t>TABLE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817562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gráfico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resumen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comando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ALTER 	TABLE: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98462" y="2393314"/>
          <a:ext cx="8436610" cy="313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8305"/>
                <a:gridCol w="2047874"/>
                <a:gridCol w="3351529"/>
              </a:tblGrid>
              <a:tr h="26543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Sintaxis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Problemas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marL="13970" marR="590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ALTER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tablename</a:t>
                      </a:r>
                      <a:r>
                        <a:rPr dirty="0" sz="12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ADD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(column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[DEFAULT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expression],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[DEFAULT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expression],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Agrega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nueva</a:t>
                      </a:r>
                      <a:r>
                        <a:rPr dirty="0" sz="12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14604" marR="5200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 puede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especificar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dónde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debe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aparecer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la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tabla.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convierte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última columna.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marL="13970" marR="609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ALTER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tablename</a:t>
                      </a:r>
                      <a:r>
                        <a:rPr dirty="0" sz="12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MODIFY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(column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[DEFAULT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expression],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type,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marR="184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utiliza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cambiar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dato,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tamaño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valor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por</a:t>
                      </a:r>
                      <a:r>
                        <a:rPr dirty="0" sz="1200" spc="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defecto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 una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columna.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marR="9779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cambio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valor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por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defecto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solo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afecta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inserciones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posteriores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marL="13970" marR="45656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ALTER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tablename</a:t>
                      </a:r>
                      <a:r>
                        <a:rPr dirty="0" sz="12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DROP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r>
                        <a:rPr dirty="0" sz="12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name;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marR="476884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utiliza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2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borrar</a:t>
                      </a:r>
                      <a:r>
                        <a:rPr dirty="0" sz="12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marR="660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Debe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quedar</a:t>
                      </a:r>
                      <a:r>
                        <a:rPr dirty="0" sz="12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menos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después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modificarla.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vez</a:t>
                      </a:r>
                      <a:r>
                        <a:rPr dirty="0" sz="1200" spc="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borrada,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200" spc="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recuperar.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marL="13970" marR="8572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ALTER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tablename</a:t>
                      </a:r>
                      <a:r>
                        <a:rPr dirty="0" sz="12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UNUSED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(column name);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marR="285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utiliza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marcar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más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columnas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12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puedan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borrar</a:t>
                      </a:r>
                      <a:r>
                        <a:rPr dirty="0" sz="12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más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tarde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marR="7683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restaura</a:t>
                      </a:r>
                      <a:r>
                        <a:rPr dirty="0" sz="12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espacio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disco.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columnas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tratan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como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hubieran</a:t>
                      </a:r>
                      <a:r>
                        <a:rPr dirty="0" sz="12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borrado.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ALTER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tablename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DROP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UNUSED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8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marR="14604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Elimina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</a:t>
                      </a:r>
                      <a:r>
                        <a:rPr dirty="0" sz="12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todas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columnas</a:t>
                      </a:r>
                      <a:r>
                        <a:rPr dirty="0" sz="12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marcadas</a:t>
                      </a:r>
                      <a:r>
                        <a:rPr dirty="0" sz="1200" spc="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actualmente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como</a:t>
                      </a:r>
                      <a:r>
                        <a:rPr dirty="0" sz="1200" spc="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utilizadas.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marR="1149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vez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definidas</a:t>
                      </a:r>
                      <a:r>
                        <a:rPr dirty="0" sz="12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como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utilizadas,</a:t>
                      </a:r>
                      <a:r>
                        <a:rPr dirty="0" sz="12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hay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acceso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columnas;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muestra</a:t>
                      </a:r>
                      <a:r>
                        <a:rPr dirty="0" sz="12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ningún</a:t>
                      </a:r>
                      <a:r>
                        <a:rPr dirty="0" sz="12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dato</a:t>
                      </a:r>
                      <a:r>
                        <a:rPr dirty="0" sz="12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DESCRIBE.</a:t>
                      </a:r>
                      <a:r>
                        <a:rPr dirty="0" sz="12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Eliminación</a:t>
                      </a:r>
                      <a:r>
                        <a:rPr dirty="0" sz="12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permanente;</a:t>
                      </a:r>
                      <a:r>
                        <a:rPr dirty="0" sz="12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sin</a:t>
                      </a:r>
                      <a:r>
                        <a:rPr dirty="0" sz="12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rollback.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211709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DROP</a:t>
            </a:r>
            <a:r>
              <a:rPr dirty="0" spc="-45"/>
              <a:t> </a:t>
            </a:r>
            <a:r>
              <a:rPr dirty="0" spc="-50"/>
              <a:t>TABLE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20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8174355" cy="382206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29972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DROP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TABLE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definición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endParaRPr sz="2800">
              <a:latin typeface="Calibri"/>
              <a:cs typeface="Calibri"/>
            </a:endParaRPr>
          </a:p>
          <a:p>
            <a:pPr marL="183515" marR="5080" indent="-171450">
              <a:lnSpc>
                <a:spcPts val="303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pierde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índices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asociados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mismos</a:t>
            </a:r>
            <a:endParaRPr sz="2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420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emite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DROP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TABLE: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suprimen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tabla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elimina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descripción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400">
              <a:latin typeface="Calibri"/>
              <a:cs typeface="Calibri"/>
            </a:endParaRPr>
          </a:p>
          <a:p>
            <a:pPr marL="183515" marR="271780" indent="-171450">
              <a:lnSpc>
                <a:spcPts val="3020"/>
              </a:lnSpc>
              <a:spcBef>
                <a:spcPts val="82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Server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cuestiona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decisión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borra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 	inmediatamente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211709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DROP</a:t>
            </a:r>
            <a:r>
              <a:rPr dirty="0" spc="-45"/>
              <a:t> </a:t>
            </a:r>
            <a:r>
              <a:rPr dirty="0" spc="-50"/>
              <a:t>TABLE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21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8157209" cy="257683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371475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diapositiva,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verá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restaurar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después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borrarla,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garantizado</a:t>
            </a:r>
            <a:endParaRPr sz="2800">
              <a:latin typeface="Calibri"/>
              <a:cs typeface="Calibri"/>
            </a:endParaRPr>
          </a:p>
          <a:p>
            <a:pPr marL="183515" marR="5080" indent="-171450">
              <a:lnSpc>
                <a:spcPct val="90000"/>
              </a:lnSpc>
              <a:spcBef>
                <a:spcPts val="76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creador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 con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privilegio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DROP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TABLE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(normalmente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DBA)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puede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4621529"/>
            <a:ext cx="14668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4165091"/>
            <a:ext cx="8345805" cy="25907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8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DROP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tablename;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3191" y="5311140"/>
            <a:ext cx="8345805" cy="25907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8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DROP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311467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35"/>
              <a:t>TABLE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22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8174355" cy="42138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14097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borra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error,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recuperar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3515" marR="5080" indent="-171450">
              <a:lnSpc>
                <a:spcPct val="90000"/>
              </a:lnSpc>
              <a:spcBef>
                <a:spcPts val="76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propia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papelera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reciclaje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mueven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borrados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recuperar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aquí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comando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FLASHBACK</a:t>
            </a:r>
            <a:r>
              <a:rPr dirty="0" sz="2800" spc="-1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TABLE</a:t>
            </a:r>
            <a:endParaRPr sz="2800">
              <a:latin typeface="Calibri"/>
              <a:cs typeface="Calibri"/>
            </a:endParaRPr>
          </a:p>
          <a:p>
            <a:pPr marL="183515" marR="530860" indent="-171450">
              <a:lnSpc>
                <a:spcPts val="3020"/>
              </a:lnSpc>
              <a:spcBef>
                <a:spcPts val="85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comando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restaurar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índice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haya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borrado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por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error</a:t>
            </a:r>
            <a:endParaRPr sz="2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42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3191" y="5605271"/>
            <a:ext cx="8345805" cy="36131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FLASHBACK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tablename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BEFORE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DROP;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311467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35"/>
              <a:t>TABLE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7564755" cy="12198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borra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EMPLOYEES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error,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recuperarla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simplemente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emitiendo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comando: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3156585"/>
            <a:ext cx="7900034" cy="247332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83515" marR="5080" indent="-171450">
              <a:lnSpc>
                <a:spcPct val="90000"/>
              </a:lnSpc>
              <a:spcBef>
                <a:spcPts val="43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propietario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emitir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comando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flashback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está 	restaurando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tenía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índices,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restauran</a:t>
            </a:r>
            <a:endParaRPr sz="2800">
              <a:latin typeface="Calibri"/>
              <a:cs typeface="Calibri"/>
            </a:endParaRPr>
          </a:p>
          <a:p>
            <a:pPr marL="183515" marR="484505" indent="-171450">
              <a:lnSpc>
                <a:spcPts val="3030"/>
              </a:lnSpc>
              <a:spcBef>
                <a:spcPts val="83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posible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restaurar 	consultando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 	USER_RECYCLEBIN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7576" y="2679192"/>
            <a:ext cx="8345805" cy="36131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FLASHBACK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BEFORE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DROP;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1523" y="4959096"/>
            <a:ext cx="1284731" cy="1597152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311467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35"/>
              <a:t>TABLE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766699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USER_RECYCLEBIN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como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demás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diccionario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1523" y="4959096"/>
            <a:ext cx="1284731" cy="1597152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798512" y="3335401"/>
          <a:ext cx="7601584" cy="1104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4440"/>
                <a:gridCol w="2504440"/>
                <a:gridCol w="2504439"/>
              </a:tblGrid>
              <a:tr h="368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ORIGINAL_NAME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DROPTIME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DROP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2007-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12-05:12.34.24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EMP_PK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DROP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2007-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12-05:12.34.24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24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05384" y="2427732"/>
            <a:ext cx="8345805" cy="57340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4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original_name,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operation,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droptime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user_recyclebin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311467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35"/>
              <a:t>TABLE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25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8079740" cy="38296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113665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vez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restaurada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comando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FLASHBACK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TABLE,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visible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vista 	USER_RECYCLEBIN</a:t>
            </a:r>
            <a:endParaRPr sz="2800">
              <a:latin typeface="Calibri"/>
              <a:cs typeface="Calibri"/>
            </a:endParaRPr>
          </a:p>
          <a:p>
            <a:pPr marL="183515" marR="481965" indent="-171450">
              <a:lnSpc>
                <a:spcPts val="3020"/>
              </a:lnSpc>
              <a:spcBef>
                <a:spcPts val="81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índice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borrara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original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restaurará</a:t>
            </a:r>
            <a:endParaRPr sz="2800">
              <a:latin typeface="Calibri"/>
              <a:cs typeface="Calibri"/>
            </a:endParaRPr>
          </a:p>
          <a:p>
            <a:pPr marL="183515" marR="333375" indent="-171450">
              <a:lnSpc>
                <a:spcPct val="9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necesario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(por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motivos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seguridad)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borrar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completamente,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omitiendo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papelera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reciclaje</a:t>
            </a:r>
            <a:endParaRPr sz="2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45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hacer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agregando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palabra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clave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PURGE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3191" y="5413247"/>
            <a:ext cx="8345805" cy="3251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DROP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PURGE;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RENAME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26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382394"/>
            <a:ext cx="7901305" cy="202057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83515" marR="1019810" indent="-171450">
              <a:lnSpc>
                <a:spcPts val="2690"/>
              </a:lnSpc>
              <a:spcBef>
                <a:spcPts val="74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RENAME</a:t>
            </a:r>
            <a:endParaRPr sz="2800">
              <a:latin typeface="Calibri"/>
              <a:cs typeface="Calibri"/>
            </a:endParaRPr>
          </a:p>
          <a:p>
            <a:pPr marL="183515" marR="5080" indent="-171450">
              <a:lnSpc>
                <a:spcPts val="269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hacer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propietario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	DBA</a:t>
            </a:r>
            <a:endParaRPr sz="2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14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3838194"/>
            <a:ext cx="14668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3514" y="4723638"/>
            <a:ext cx="8013700" cy="113474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algn="just" marL="183515" marR="5080" indent="-171450">
              <a:lnSpc>
                <a:spcPts val="2690"/>
              </a:lnSpc>
              <a:spcBef>
                <a:spcPts val="74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Veremos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adelante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podemos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renombrar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otros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como,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vistas,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secuencias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sinónimos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3191" y="3429000"/>
            <a:ext cx="8345805" cy="3251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RENAME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old_name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new_name;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1668" y="4326635"/>
            <a:ext cx="8347075" cy="3251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RENAME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my_cd_collection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my_music;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184023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TRUNCATE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27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7947659" cy="279971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truncar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libera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espacio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almacenamiento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utilizado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dicha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430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TRUNCATE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TABLE: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0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eliminación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735"/>
              </a:lnSpc>
              <a:spcBef>
                <a:spcPts val="12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ser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propietario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endParaRPr sz="2400">
              <a:latin typeface="Calibri"/>
              <a:cs typeface="Calibri"/>
            </a:endParaRPr>
          </a:p>
          <a:p>
            <a:pPr marL="530860">
              <a:lnSpc>
                <a:spcPts val="2735"/>
              </a:lnSpc>
            </a:pP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4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DROP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ANY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184023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TRUNCATE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28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13766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2388488"/>
            <a:ext cx="8051800" cy="20891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DELETE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libera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espacio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almacenamiento</a:t>
            </a:r>
            <a:endParaRPr sz="2800">
              <a:latin typeface="Calibri"/>
              <a:cs typeface="Calibri"/>
            </a:endParaRPr>
          </a:p>
          <a:p>
            <a:pPr marL="183515" marR="886460" indent="-171450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TRUNCATE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rápido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DELETE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genera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información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1953767"/>
            <a:ext cx="8345805" cy="3251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4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TRUNCATE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tablename;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3681729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COMMENT</a:t>
            </a:r>
            <a:r>
              <a:rPr dirty="0" spc="-6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 spc="-20"/>
              <a:t>TABLE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29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7877809" cy="170624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comentario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hasta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2.000 	caracteres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sobre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mediante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COMMENT</a:t>
            </a:r>
            <a:endParaRPr sz="2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430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3640912"/>
            <a:ext cx="14662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3105911"/>
            <a:ext cx="8345805" cy="58547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681990" marR="1785620" indent="-683260">
              <a:lnSpc>
                <a:spcPts val="216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COMMENT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tablename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|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COLUMN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table.column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IS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'place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your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comment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here';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5384" y="4178808"/>
            <a:ext cx="8345805" cy="58547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COMMENT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6819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IS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'Western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Region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only';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" y="748410"/>
            <a:ext cx="3681729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COMMENT</a:t>
            </a:r>
            <a:r>
              <a:rPr dirty="0" spc="-6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 spc="-20"/>
              <a:t>TABLE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30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7760334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comentarios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diccionario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4229861"/>
            <a:ext cx="811466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50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borrar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comentario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realizado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anteriormente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cadena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vacía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("):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2491867" y="3207511"/>
          <a:ext cx="4248150" cy="734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9625"/>
                <a:gridCol w="2079625"/>
              </a:tblGrid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COMMENTS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Western</a:t>
                      </a:r>
                      <a:r>
                        <a:rPr dirty="0" sz="1600" spc="-7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Region</a:t>
                      </a:r>
                      <a:r>
                        <a:rPr dirty="0" sz="16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405384" y="2510027"/>
            <a:ext cx="8345805" cy="58547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R="4651375">
              <a:lnSpc>
                <a:spcPts val="216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table_name,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comments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user_tab_comments;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7576" y="5210555"/>
            <a:ext cx="8345805" cy="39941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361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8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COMMENT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IS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20"/>
              <a:t>QUERY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31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382394"/>
            <a:ext cx="8112125" cy="461454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83515" marR="307340" indent="-171450">
              <a:lnSpc>
                <a:spcPts val="2690"/>
              </a:lnSpc>
              <a:spcBef>
                <a:spcPts val="74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detecte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han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cambiado,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algún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modo,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forma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incorrecta</a:t>
            </a:r>
            <a:endParaRPr sz="2800">
              <a:latin typeface="Calibri"/>
              <a:cs typeface="Calibri"/>
            </a:endParaRPr>
          </a:p>
          <a:p>
            <a:pPr marL="183515" marR="332740" indent="-171450">
              <a:lnSpc>
                <a:spcPct val="80000"/>
              </a:lnSpc>
              <a:spcBef>
                <a:spcPts val="82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Afortunadamente,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momentos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concretos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tiempo,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comparar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diferentes 	versiones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largo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tiempo</a:t>
            </a:r>
            <a:endParaRPr sz="28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120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muy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útil</a:t>
            </a:r>
            <a:endParaRPr sz="2800">
              <a:latin typeface="Calibri"/>
              <a:cs typeface="Calibri"/>
            </a:endParaRPr>
          </a:p>
          <a:p>
            <a:pPr marL="183515" marR="521970" indent="-171450">
              <a:lnSpc>
                <a:spcPct val="80000"/>
              </a:lnSpc>
              <a:spcBef>
                <a:spcPts val="8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Imagine,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alguien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error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ha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realizado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algún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DML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y,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ejecuta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COMMIT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dichos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cambios</a:t>
            </a:r>
            <a:endParaRPr sz="2800">
              <a:latin typeface="Calibri"/>
              <a:cs typeface="Calibri"/>
            </a:endParaRPr>
          </a:p>
          <a:p>
            <a:pPr marL="183515" marR="5080" indent="-171450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1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Application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Express</a:t>
            </a:r>
            <a:r>
              <a:rPr dirty="0" sz="2800" spc="-1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confirma</a:t>
            </a:r>
            <a:r>
              <a:rPr dirty="0" sz="2800" spc="-1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automáticamente,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cometen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fácilmente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errores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20"/>
              <a:t>QUERY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32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83515" marR="66675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Puede</a:t>
            </a:r>
            <a:r>
              <a:rPr dirty="0" spc="-75"/>
              <a:t> </a:t>
            </a:r>
            <a:r>
              <a:rPr dirty="0"/>
              <a:t>utilizar</a:t>
            </a:r>
            <a:r>
              <a:rPr dirty="0" spc="-80"/>
              <a:t> </a:t>
            </a:r>
            <a:r>
              <a:rPr dirty="0"/>
              <a:t>la</a:t>
            </a:r>
            <a:r>
              <a:rPr dirty="0" spc="-95"/>
              <a:t> </a:t>
            </a:r>
            <a:r>
              <a:rPr dirty="0"/>
              <a:t>función</a:t>
            </a:r>
            <a:r>
              <a:rPr dirty="0" spc="-60"/>
              <a:t> </a:t>
            </a:r>
            <a:r>
              <a:rPr dirty="0"/>
              <a:t>FLASHBACK</a:t>
            </a:r>
            <a:r>
              <a:rPr dirty="0" spc="-70"/>
              <a:t> </a:t>
            </a:r>
            <a:r>
              <a:rPr dirty="0"/>
              <a:t>QUERY</a:t>
            </a:r>
            <a:r>
              <a:rPr dirty="0" spc="-90"/>
              <a:t> </a:t>
            </a:r>
            <a:r>
              <a:rPr dirty="0" spc="-20"/>
              <a:t>para </a:t>
            </a:r>
            <a:r>
              <a:rPr dirty="0" spc="-20"/>
              <a:t>	</a:t>
            </a:r>
            <a:r>
              <a:rPr dirty="0"/>
              <a:t>examinar</a:t>
            </a:r>
            <a:r>
              <a:rPr dirty="0" spc="-70"/>
              <a:t> </a:t>
            </a:r>
            <a:r>
              <a:rPr dirty="0"/>
              <a:t>qué</a:t>
            </a:r>
            <a:r>
              <a:rPr dirty="0" spc="-70"/>
              <a:t> </a:t>
            </a:r>
            <a:r>
              <a:rPr dirty="0"/>
              <a:t>aspecto</a:t>
            </a:r>
            <a:r>
              <a:rPr dirty="0" spc="-65"/>
              <a:t> </a:t>
            </a:r>
            <a:r>
              <a:rPr dirty="0"/>
              <a:t>tenían</a:t>
            </a:r>
            <a:r>
              <a:rPr dirty="0" spc="-60"/>
              <a:t> </a:t>
            </a:r>
            <a:r>
              <a:rPr dirty="0"/>
              <a:t>las</a:t>
            </a:r>
            <a:r>
              <a:rPr dirty="0" spc="-75"/>
              <a:t> </a:t>
            </a:r>
            <a:r>
              <a:rPr dirty="0"/>
              <a:t>filas</a:t>
            </a:r>
            <a:r>
              <a:rPr dirty="0" spc="-80"/>
              <a:t> </a:t>
            </a:r>
            <a:r>
              <a:rPr dirty="0"/>
              <a:t>ANTES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/>
              <a:t>que</a:t>
            </a:r>
            <a:r>
              <a:rPr dirty="0" spc="-70"/>
              <a:t> </a:t>
            </a:r>
            <a:r>
              <a:rPr dirty="0" spc="-25"/>
              <a:t>se </a:t>
            </a:r>
            <a:r>
              <a:rPr dirty="0" spc="-25"/>
              <a:t>	</a:t>
            </a:r>
            <a:r>
              <a:rPr dirty="0"/>
              <a:t>aplicaran</a:t>
            </a:r>
            <a:r>
              <a:rPr dirty="0" spc="-110"/>
              <a:t> </a:t>
            </a:r>
            <a:r>
              <a:rPr dirty="0"/>
              <a:t>esos</a:t>
            </a:r>
            <a:r>
              <a:rPr dirty="0" spc="-100"/>
              <a:t> </a:t>
            </a:r>
            <a:r>
              <a:rPr dirty="0" spc="-10"/>
              <a:t>cambios</a:t>
            </a:r>
          </a:p>
          <a:p>
            <a:pPr marL="183515" marR="10795" indent="-171450">
              <a:lnSpc>
                <a:spcPts val="3020"/>
              </a:lnSpc>
              <a:spcBef>
                <a:spcPts val="81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Cuando</a:t>
            </a:r>
            <a:r>
              <a:rPr dirty="0" spc="-100"/>
              <a:t> </a:t>
            </a:r>
            <a:r>
              <a:rPr dirty="0"/>
              <a:t>Oracle</a:t>
            </a:r>
            <a:r>
              <a:rPr dirty="0" spc="-114"/>
              <a:t> </a:t>
            </a:r>
            <a:r>
              <a:rPr dirty="0"/>
              <a:t>cambia</a:t>
            </a:r>
            <a:r>
              <a:rPr dirty="0" spc="-110"/>
              <a:t> </a:t>
            </a:r>
            <a:r>
              <a:rPr dirty="0"/>
              <a:t>datos,</a:t>
            </a:r>
            <a:r>
              <a:rPr dirty="0" spc="-110"/>
              <a:t> </a:t>
            </a:r>
            <a:r>
              <a:rPr dirty="0"/>
              <a:t>siempre</a:t>
            </a:r>
            <a:r>
              <a:rPr dirty="0" spc="-95"/>
              <a:t> </a:t>
            </a:r>
            <a:r>
              <a:rPr dirty="0"/>
              <a:t>mantiene</a:t>
            </a:r>
            <a:r>
              <a:rPr dirty="0" spc="-105"/>
              <a:t> </a:t>
            </a:r>
            <a:r>
              <a:rPr dirty="0" spc="-25"/>
              <a:t>una </a:t>
            </a:r>
            <a:r>
              <a:rPr dirty="0" spc="-25"/>
              <a:t>	</a:t>
            </a:r>
            <a:r>
              <a:rPr dirty="0"/>
              <a:t>copia</a:t>
            </a:r>
            <a:r>
              <a:rPr dirty="0" spc="-55"/>
              <a:t> </a:t>
            </a:r>
            <a:r>
              <a:rPr dirty="0"/>
              <a:t>del</a:t>
            </a:r>
            <a:r>
              <a:rPr dirty="0" spc="-85"/>
              <a:t> </a:t>
            </a:r>
            <a:r>
              <a:rPr dirty="0"/>
              <a:t>aspecto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los</a:t>
            </a:r>
            <a:r>
              <a:rPr dirty="0" spc="-75"/>
              <a:t> </a:t>
            </a:r>
            <a:r>
              <a:rPr dirty="0"/>
              <a:t>datos</a:t>
            </a:r>
            <a:r>
              <a:rPr dirty="0" spc="-55"/>
              <a:t> </a:t>
            </a:r>
            <a:r>
              <a:rPr dirty="0" spc="-10"/>
              <a:t>corregidos</a:t>
            </a:r>
            <a:r>
              <a:rPr dirty="0" spc="-70"/>
              <a:t> </a:t>
            </a:r>
            <a:r>
              <a:rPr dirty="0"/>
              <a:t>antes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25"/>
              <a:t>que </a:t>
            </a:r>
            <a:r>
              <a:rPr dirty="0" spc="-25"/>
              <a:t>	</a:t>
            </a:r>
            <a:r>
              <a:rPr dirty="0"/>
              <a:t>se</a:t>
            </a:r>
            <a:r>
              <a:rPr dirty="0" spc="-85"/>
              <a:t> </a:t>
            </a:r>
            <a:r>
              <a:rPr dirty="0" spc="-10"/>
              <a:t>realizara</a:t>
            </a:r>
            <a:r>
              <a:rPr dirty="0" spc="-90"/>
              <a:t> </a:t>
            </a:r>
            <a:r>
              <a:rPr dirty="0"/>
              <a:t>cualquier</a:t>
            </a:r>
            <a:r>
              <a:rPr dirty="0" spc="-60"/>
              <a:t> </a:t>
            </a:r>
            <a:r>
              <a:rPr dirty="0" spc="-10"/>
              <a:t>cambio</a:t>
            </a:r>
          </a:p>
          <a:p>
            <a:pPr marL="183515" marR="5080" indent="-171450">
              <a:lnSpc>
                <a:spcPct val="90000"/>
              </a:lnSpc>
              <a:spcBef>
                <a:spcPts val="7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Por</a:t>
            </a:r>
            <a:r>
              <a:rPr dirty="0" spc="-60"/>
              <a:t> </a:t>
            </a:r>
            <a:r>
              <a:rPr dirty="0"/>
              <a:t>lo</a:t>
            </a:r>
            <a:r>
              <a:rPr dirty="0" spc="-60"/>
              <a:t> </a:t>
            </a:r>
            <a:r>
              <a:rPr dirty="0"/>
              <a:t>que</a:t>
            </a:r>
            <a:r>
              <a:rPr dirty="0" spc="-70"/>
              <a:t> </a:t>
            </a:r>
            <a:r>
              <a:rPr dirty="0"/>
              <a:t>mantiene</a:t>
            </a:r>
            <a:r>
              <a:rPr dirty="0" spc="-55"/>
              <a:t> </a:t>
            </a:r>
            <a:r>
              <a:rPr dirty="0"/>
              <a:t>una</a:t>
            </a:r>
            <a:r>
              <a:rPr dirty="0" spc="-50"/>
              <a:t> </a:t>
            </a:r>
            <a:r>
              <a:rPr dirty="0"/>
              <a:t>copia</a:t>
            </a:r>
            <a:r>
              <a:rPr dirty="0" spc="-70"/>
              <a:t> </a:t>
            </a:r>
            <a:r>
              <a:rPr dirty="0"/>
              <a:t>del</a:t>
            </a:r>
            <a:r>
              <a:rPr dirty="0" spc="-65"/>
              <a:t> </a:t>
            </a:r>
            <a:r>
              <a:rPr dirty="0"/>
              <a:t>valor</a:t>
            </a:r>
            <a:r>
              <a:rPr dirty="0" spc="-70"/>
              <a:t> </a:t>
            </a:r>
            <a:r>
              <a:rPr dirty="0"/>
              <a:t>anterior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25"/>
              <a:t>la </a:t>
            </a:r>
            <a:r>
              <a:rPr dirty="0" spc="-25"/>
              <a:t>	</a:t>
            </a:r>
            <a:r>
              <a:rPr dirty="0"/>
              <a:t>columna</a:t>
            </a:r>
            <a:r>
              <a:rPr dirty="0" spc="-65"/>
              <a:t> </a:t>
            </a:r>
            <a:r>
              <a:rPr dirty="0"/>
              <a:t>para</a:t>
            </a:r>
            <a:r>
              <a:rPr dirty="0" spc="-75"/>
              <a:t> </a:t>
            </a:r>
            <a:r>
              <a:rPr dirty="0"/>
              <a:t>una</a:t>
            </a:r>
            <a:r>
              <a:rPr dirty="0" spc="-60"/>
              <a:t> </a:t>
            </a:r>
            <a:r>
              <a:rPr dirty="0" spc="-10"/>
              <a:t>actualización</a:t>
            </a:r>
            <a:r>
              <a:rPr dirty="0" spc="-90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/>
              <a:t>columna,</a:t>
            </a:r>
            <a:r>
              <a:rPr dirty="0" spc="-60"/>
              <a:t> </a:t>
            </a:r>
            <a:r>
              <a:rPr dirty="0" spc="-10"/>
              <a:t>mantiene </a:t>
            </a:r>
            <a:r>
              <a:rPr dirty="0" spc="-10"/>
              <a:t>	</a:t>
            </a:r>
            <a:r>
              <a:rPr dirty="0"/>
              <a:t>toda</a:t>
            </a:r>
            <a:r>
              <a:rPr dirty="0" spc="-70"/>
              <a:t> </a:t>
            </a:r>
            <a:r>
              <a:rPr dirty="0"/>
              <a:t>la</a:t>
            </a:r>
            <a:r>
              <a:rPr dirty="0" spc="-65"/>
              <a:t> </a:t>
            </a:r>
            <a:r>
              <a:rPr dirty="0"/>
              <a:t>fila</a:t>
            </a:r>
            <a:r>
              <a:rPr dirty="0" spc="-65"/>
              <a:t> </a:t>
            </a:r>
            <a:r>
              <a:rPr dirty="0"/>
              <a:t>para</a:t>
            </a:r>
            <a:r>
              <a:rPr dirty="0" spc="-65"/>
              <a:t> </a:t>
            </a:r>
            <a:r>
              <a:rPr dirty="0"/>
              <a:t>una</a:t>
            </a:r>
            <a:r>
              <a:rPr dirty="0" spc="-60"/>
              <a:t> </a:t>
            </a:r>
            <a:r>
              <a:rPr dirty="0"/>
              <a:t>supresión</a:t>
            </a:r>
            <a:r>
              <a:rPr dirty="0" spc="-15"/>
              <a:t> </a:t>
            </a:r>
            <a:r>
              <a:rPr dirty="0"/>
              <a:t>y</a:t>
            </a:r>
            <a:r>
              <a:rPr dirty="0" spc="-65"/>
              <a:t> </a:t>
            </a:r>
            <a:r>
              <a:rPr dirty="0"/>
              <a:t>no</a:t>
            </a:r>
            <a:r>
              <a:rPr dirty="0" spc="-65"/>
              <a:t> </a:t>
            </a:r>
            <a:r>
              <a:rPr dirty="0"/>
              <a:t>mantiene</a:t>
            </a:r>
            <a:r>
              <a:rPr dirty="0" spc="-55"/>
              <a:t> </a:t>
            </a:r>
            <a:r>
              <a:rPr dirty="0" spc="-20"/>
              <a:t>nada </a:t>
            </a:r>
            <a:r>
              <a:rPr dirty="0" spc="-20"/>
              <a:t>	</a:t>
            </a:r>
            <a:r>
              <a:rPr dirty="0"/>
              <a:t>para</a:t>
            </a:r>
            <a:r>
              <a:rPr dirty="0" spc="-70"/>
              <a:t> </a:t>
            </a:r>
            <a:r>
              <a:rPr dirty="0"/>
              <a:t>una</a:t>
            </a:r>
            <a:r>
              <a:rPr dirty="0" spc="-50"/>
              <a:t> </a:t>
            </a:r>
            <a:r>
              <a:rPr dirty="0" spc="-10"/>
              <a:t>sentencia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 spc="-10"/>
              <a:t>inserción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20"/>
              <a:t>QUERY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33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83515" marR="110998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Estas</a:t>
            </a:r>
            <a:r>
              <a:rPr dirty="0" spc="-85"/>
              <a:t> </a:t>
            </a:r>
            <a:r>
              <a:rPr dirty="0"/>
              <a:t>copias</a:t>
            </a:r>
            <a:r>
              <a:rPr dirty="0" spc="-80"/>
              <a:t> </a:t>
            </a:r>
            <a:r>
              <a:rPr dirty="0"/>
              <a:t>antiguas</a:t>
            </a:r>
            <a:r>
              <a:rPr dirty="0" spc="-80"/>
              <a:t> </a:t>
            </a:r>
            <a:r>
              <a:rPr dirty="0"/>
              <a:t>se</a:t>
            </a:r>
            <a:r>
              <a:rPr dirty="0" spc="-85"/>
              <a:t> </a:t>
            </a:r>
            <a:r>
              <a:rPr dirty="0"/>
              <a:t>mantienen</a:t>
            </a:r>
            <a:r>
              <a:rPr dirty="0" spc="-75"/>
              <a:t> </a:t>
            </a:r>
            <a:r>
              <a:rPr dirty="0"/>
              <a:t>en</a:t>
            </a:r>
            <a:r>
              <a:rPr dirty="0" spc="-90"/>
              <a:t> </a:t>
            </a:r>
            <a:r>
              <a:rPr dirty="0"/>
              <a:t>un</a:t>
            </a:r>
            <a:r>
              <a:rPr dirty="0" spc="-85"/>
              <a:t> </a:t>
            </a:r>
            <a:r>
              <a:rPr dirty="0" spc="-10"/>
              <a:t>lugar </a:t>
            </a:r>
            <a:r>
              <a:rPr dirty="0" spc="-10"/>
              <a:t>	</a:t>
            </a:r>
            <a:r>
              <a:rPr dirty="0"/>
              <a:t>especial</a:t>
            </a:r>
            <a:r>
              <a:rPr dirty="0" spc="-105"/>
              <a:t> </a:t>
            </a:r>
            <a:r>
              <a:rPr dirty="0" spc="-10"/>
              <a:t>denominado</a:t>
            </a:r>
            <a:r>
              <a:rPr dirty="0" spc="-70"/>
              <a:t> </a:t>
            </a:r>
            <a:r>
              <a:rPr dirty="0"/>
              <a:t>el</a:t>
            </a:r>
            <a:r>
              <a:rPr dirty="0" spc="-75"/>
              <a:t> </a:t>
            </a:r>
            <a:r>
              <a:rPr dirty="0"/>
              <a:t>tablespace</a:t>
            </a:r>
            <a:r>
              <a:rPr dirty="0" spc="-75"/>
              <a:t> </a:t>
            </a:r>
            <a:r>
              <a:rPr dirty="0" spc="-20"/>
              <a:t>UNDO</a:t>
            </a:r>
          </a:p>
          <a:p>
            <a:pPr marL="183515" marR="5080" indent="-171450">
              <a:lnSpc>
                <a:spcPts val="303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Los</a:t>
            </a:r>
            <a:r>
              <a:rPr dirty="0" spc="-50"/>
              <a:t> </a:t>
            </a:r>
            <a:r>
              <a:rPr dirty="0"/>
              <a:t>usuarios</a:t>
            </a:r>
            <a:r>
              <a:rPr dirty="0" spc="-30"/>
              <a:t> </a:t>
            </a:r>
            <a:r>
              <a:rPr dirty="0"/>
              <a:t>pueden</a:t>
            </a:r>
            <a:r>
              <a:rPr dirty="0" spc="-40"/>
              <a:t> </a:t>
            </a:r>
            <a:r>
              <a:rPr dirty="0"/>
              <a:t>acceder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/>
              <a:t>esta</a:t>
            </a:r>
            <a:r>
              <a:rPr dirty="0" spc="-45"/>
              <a:t> </a:t>
            </a:r>
            <a:r>
              <a:rPr dirty="0"/>
              <a:t>zona</a:t>
            </a:r>
            <a:r>
              <a:rPr dirty="0" spc="-65"/>
              <a:t> </a:t>
            </a:r>
            <a:r>
              <a:rPr dirty="0"/>
              <a:t>especial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25"/>
              <a:t>la </a:t>
            </a:r>
            <a:r>
              <a:rPr dirty="0" spc="-25"/>
              <a:t>	</a:t>
            </a:r>
            <a:r>
              <a:rPr dirty="0"/>
              <a:t>base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/>
              <a:t>datos</a:t>
            </a:r>
            <a:r>
              <a:rPr dirty="0" spc="-70"/>
              <a:t> </a:t>
            </a:r>
            <a:r>
              <a:rPr dirty="0" spc="-10"/>
              <a:t>mediante</a:t>
            </a:r>
            <a:r>
              <a:rPr dirty="0" spc="-70"/>
              <a:t> </a:t>
            </a:r>
            <a:r>
              <a:rPr dirty="0"/>
              <a:t>una</a:t>
            </a:r>
            <a:r>
              <a:rPr dirty="0" spc="-70"/>
              <a:t> </a:t>
            </a:r>
            <a:r>
              <a:rPr dirty="0"/>
              <a:t>consulta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10"/>
              <a:t>flashback</a:t>
            </a:r>
          </a:p>
          <a:p>
            <a:pPr marL="183515" marR="271145" indent="-171450">
              <a:lnSpc>
                <a:spcPct val="90000"/>
              </a:lnSpc>
              <a:spcBef>
                <a:spcPts val="75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Puede</a:t>
            </a:r>
            <a:r>
              <a:rPr dirty="0" spc="-60"/>
              <a:t> </a:t>
            </a:r>
            <a:r>
              <a:rPr dirty="0"/>
              <a:t>consultar</a:t>
            </a:r>
            <a:r>
              <a:rPr dirty="0" spc="-45"/>
              <a:t> </a:t>
            </a:r>
            <a:r>
              <a:rPr dirty="0"/>
              <a:t>las</a:t>
            </a:r>
            <a:r>
              <a:rPr dirty="0" spc="-75"/>
              <a:t> </a:t>
            </a:r>
            <a:r>
              <a:rPr dirty="0" spc="-10"/>
              <a:t>versiones</a:t>
            </a:r>
            <a:r>
              <a:rPr dirty="0" spc="-55"/>
              <a:t> </a:t>
            </a:r>
            <a:r>
              <a:rPr dirty="0" spc="-10"/>
              <a:t>anteriores</a:t>
            </a:r>
            <a:r>
              <a:rPr dirty="0" spc="-7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los</a:t>
            </a:r>
            <a:r>
              <a:rPr dirty="0" spc="-65"/>
              <a:t> </a:t>
            </a:r>
            <a:r>
              <a:rPr dirty="0" spc="-10"/>
              <a:t>datos 	utilizando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70"/>
              <a:t> </a:t>
            </a:r>
            <a:r>
              <a:rPr dirty="0"/>
              <a:t>cláusula</a:t>
            </a:r>
            <a:r>
              <a:rPr dirty="0" spc="-45"/>
              <a:t> </a:t>
            </a:r>
            <a:r>
              <a:rPr dirty="0"/>
              <a:t>VERSIONS</a:t>
            </a:r>
            <a:r>
              <a:rPr dirty="0" spc="-50"/>
              <a:t> </a:t>
            </a:r>
            <a:r>
              <a:rPr dirty="0"/>
              <a:t>en</a:t>
            </a:r>
            <a:r>
              <a:rPr dirty="0" spc="-60"/>
              <a:t> </a:t>
            </a:r>
            <a:r>
              <a:rPr dirty="0"/>
              <a:t>una</a:t>
            </a:r>
            <a:r>
              <a:rPr dirty="0" spc="-40"/>
              <a:t> </a:t>
            </a:r>
            <a:r>
              <a:rPr dirty="0" spc="-10"/>
              <a:t>sentencia 	SELECT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20"/>
              <a:t>QUERY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34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382394"/>
            <a:ext cx="20370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14" y="3596716"/>
            <a:ext cx="8137525" cy="226187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83515" marR="5080" indent="-171450">
              <a:lnSpc>
                <a:spcPct val="80000"/>
              </a:lnSpc>
              <a:spcBef>
                <a:spcPts val="7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SCN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hacía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referencia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consulta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anterior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significa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sistema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identificación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precisa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tiempo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3515" marR="537845" indent="-171450">
              <a:lnSpc>
                <a:spcPts val="269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trata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secuencial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incrementa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mantiene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propia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3191" y="1882139"/>
            <a:ext cx="8345805" cy="16967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95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6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employee_id,first_name</a:t>
            </a:r>
            <a:r>
              <a:rPr dirty="0" sz="16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||'</a:t>
            </a:r>
            <a:r>
              <a:rPr dirty="0" sz="16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'||</a:t>
            </a:r>
            <a:r>
              <a:rPr dirty="0" sz="16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6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6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"NAME",</a:t>
            </a:r>
            <a:endParaRPr sz="1600">
              <a:latin typeface="Courier New"/>
              <a:cs typeface="Courier New"/>
            </a:endParaRPr>
          </a:p>
          <a:p>
            <a:pPr marL="487680" marR="3087370">
              <a:lnSpc>
                <a:spcPct val="100000"/>
              </a:lnSpc>
              <a:tabLst>
                <a:tab pos="2687320" algn="l"/>
              </a:tabLst>
            </a:pP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versions_operation</a:t>
            </a:r>
            <a:r>
              <a:rPr dirty="0" sz="1600" spc="-8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6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"OPERATION",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versions_starttime</a:t>
            </a:r>
            <a:r>
              <a:rPr dirty="0" sz="1600" spc="-114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6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"START_DATE",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versions_endtime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	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6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"END_DATE",</a:t>
            </a:r>
            <a:r>
              <a:rPr dirty="0" sz="16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600">
              <a:latin typeface="Courier New"/>
              <a:cs typeface="Courier New"/>
            </a:endParaRPr>
          </a:p>
          <a:p>
            <a:pPr marL="243204">
              <a:lnSpc>
                <a:spcPct val="100000"/>
              </a:lnSpc>
            </a:pP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VERSIONS</a:t>
            </a:r>
            <a:r>
              <a:rPr dirty="0" sz="1600" spc="-6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BETWEEN</a:t>
            </a:r>
            <a:r>
              <a:rPr dirty="0" sz="1600" spc="-5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SCN</a:t>
            </a:r>
            <a:r>
              <a:rPr dirty="0" sz="16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MINVALUE</a:t>
            </a:r>
            <a:r>
              <a:rPr dirty="0" sz="1600" spc="-5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D1350F"/>
                </a:solidFill>
                <a:latin typeface="Courier New"/>
                <a:cs typeface="Courier New"/>
              </a:rPr>
              <a:t>AND</a:t>
            </a:r>
            <a:r>
              <a:rPr dirty="0" sz="1600" spc="-5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D1350F"/>
                </a:solidFill>
                <a:latin typeface="Courier New"/>
                <a:cs typeface="Courier New"/>
              </a:rPr>
              <a:t>MAXVALUE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tabLst>
                <a:tab pos="854710" algn="l"/>
              </a:tabLst>
            </a:pPr>
            <a:r>
              <a:rPr dirty="0" sz="1600" spc="-1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	employee_id</a:t>
            </a:r>
            <a:r>
              <a:rPr dirty="0" sz="16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6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600" spc="-25" b="1">
                <a:solidFill>
                  <a:srgbClr val="4E3629"/>
                </a:solidFill>
                <a:latin typeface="Courier New"/>
                <a:cs typeface="Courier New"/>
              </a:rPr>
              <a:t>1;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20"/>
              <a:t>QUERY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35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7822565" cy="170624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3515" marR="167640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mejor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forma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demostrar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FLASHBACK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QUERY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endParaRPr sz="2800">
              <a:latin typeface="Calibri"/>
              <a:cs typeface="Calibri"/>
            </a:endParaRPr>
          </a:p>
          <a:p>
            <a:pPr marL="183515" marR="5080" indent="-171450">
              <a:lnSpc>
                <a:spcPts val="303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contenido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employee_id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1931" y="5219522"/>
            <a:ext cx="26136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1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1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han</a:t>
            </a:r>
            <a:r>
              <a:rPr dirty="0" sz="1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encontrado</a:t>
            </a:r>
            <a:r>
              <a:rPr dirty="0" sz="1800" spc="-20">
                <a:solidFill>
                  <a:srgbClr val="4E3629"/>
                </a:solidFill>
                <a:latin typeface="Calibri"/>
                <a:cs typeface="Calibri"/>
              </a:rPr>
              <a:t> datos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3186683"/>
            <a:ext cx="8345805" cy="18872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4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employee_id,first_name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||'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'||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"NAME",</a:t>
            </a:r>
            <a:endParaRPr sz="1800">
              <a:latin typeface="Courier New"/>
              <a:cs typeface="Courier New"/>
            </a:endParaRPr>
          </a:p>
          <a:p>
            <a:pPr marL="546735" marR="2467610">
              <a:lnSpc>
                <a:spcPct val="100000"/>
              </a:lnSpc>
              <a:tabLst>
                <a:tab pos="3001645" algn="l"/>
              </a:tabLst>
            </a:pP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versions_operation</a:t>
            </a:r>
            <a:r>
              <a:rPr dirty="0" sz="1800" spc="-11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"OPERATION",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versions_starttime</a:t>
            </a:r>
            <a:r>
              <a:rPr dirty="0" sz="1800" spc="-12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"START_DATE",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versions_endtime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	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"END_DATE",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273685">
              <a:lnSpc>
                <a:spcPct val="100000"/>
              </a:lnSpc>
            </a:pP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</a:t>
            </a:r>
            <a:r>
              <a:rPr dirty="0" sz="1800" spc="-8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BETWEEN</a:t>
            </a:r>
            <a:r>
              <a:rPr dirty="0" sz="18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SCN</a:t>
            </a:r>
            <a:r>
              <a:rPr dirty="0" sz="18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MINVALUE</a:t>
            </a:r>
            <a:r>
              <a:rPr dirty="0" sz="18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AND</a:t>
            </a:r>
            <a:r>
              <a:rPr dirty="0" sz="1800" spc="-5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MAXVALUE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tabLst>
                <a:tab pos="956310" algn="l"/>
              </a:tabLst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employee_id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20"/>
              <a:t>QUERY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36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0491" y="1579244"/>
            <a:ext cx="57708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creamos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34313" y="5298947"/>
          <a:ext cx="7588884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810"/>
                <a:gridCol w="1397000"/>
                <a:gridCol w="1010919"/>
                <a:gridCol w="2168525"/>
                <a:gridCol w="918209"/>
                <a:gridCol w="732154"/>
              </a:tblGrid>
              <a:tr h="33528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START_DATE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END_DATE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Natacha</a:t>
                      </a:r>
                      <a:r>
                        <a:rPr dirty="0" sz="14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Hansen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07-SEP-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1998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06.51.58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2272283"/>
            <a:ext cx="8345805" cy="817244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2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INSERT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INTO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VALUES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(1,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'Natacha',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'Hansen',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'NHANSEN',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'4412312341234',</a:t>
            </a:r>
            <a:endParaRPr sz="1800">
              <a:latin typeface="Courier New"/>
              <a:cs typeface="Courier New"/>
            </a:endParaRPr>
          </a:p>
          <a:p>
            <a:pPr marL="1092200"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'07-SEP-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1998',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'AD_VP',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12000,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null,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100,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90,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NULL);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3191" y="3221735"/>
            <a:ext cx="8345805" cy="1885314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employee_id,first_name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||'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'||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"NAME",</a:t>
            </a:r>
            <a:endParaRPr sz="1800">
              <a:latin typeface="Courier New"/>
              <a:cs typeface="Courier New"/>
            </a:endParaRPr>
          </a:p>
          <a:p>
            <a:pPr marL="547370" marR="2466975">
              <a:lnSpc>
                <a:spcPct val="100000"/>
              </a:lnSpc>
              <a:tabLst>
                <a:tab pos="3002280" algn="l"/>
              </a:tabLst>
            </a:pP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versions_operation</a:t>
            </a:r>
            <a:r>
              <a:rPr dirty="0" sz="1800" spc="-10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"OPERATION",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versions_starttime</a:t>
            </a:r>
            <a:r>
              <a:rPr dirty="0" sz="1800" spc="-10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"START_DATE",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versions_endtime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	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"END_DATE",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</a:pP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</a:t>
            </a:r>
            <a:r>
              <a:rPr dirty="0" sz="1800" spc="-8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BETWEEN</a:t>
            </a:r>
            <a:r>
              <a:rPr dirty="0" sz="18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SCN</a:t>
            </a:r>
            <a:r>
              <a:rPr dirty="0" sz="18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MINVALUE</a:t>
            </a:r>
            <a:r>
              <a:rPr dirty="0" sz="18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AND</a:t>
            </a:r>
            <a:r>
              <a:rPr dirty="0" sz="1800" spc="-5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MAXVALUE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tabLst>
                <a:tab pos="956944" algn="l"/>
              </a:tabLst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employee_id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20"/>
              <a:t>QUERY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37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58547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actualizar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fila: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21867" y="4870577"/>
          <a:ext cx="7576820" cy="1064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810"/>
                <a:gridCol w="1202055"/>
                <a:gridCol w="882014"/>
                <a:gridCol w="1866264"/>
                <a:gridCol w="1917699"/>
                <a:gridCol w="601345"/>
              </a:tblGrid>
              <a:tr h="33528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OPERATION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START_DATE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END_DATE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Natacha</a:t>
                      </a:r>
                      <a:r>
                        <a:rPr dirty="0" sz="13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Hansen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07-SEP-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1998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06.57.01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AM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Natacha</a:t>
                      </a:r>
                      <a:r>
                        <a:rPr dirty="0" sz="13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Hansen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07-SEP-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1998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06.51.58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AM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07-SEP-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1998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06.57.01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AM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12000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1937004"/>
            <a:ext cx="8345805" cy="817244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2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UPDATE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5384" y="2865120"/>
            <a:ext cx="8345805" cy="18872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2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employee_id,first_name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||'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'||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"NAME",</a:t>
            </a:r>
            <a:endParaRPr sz="1800">
              <a:latin typeface="Courier New"/>
              <a:cs typeface="Courier New"/>
            </a:endParaRPr>
          </a:p>
          <a:p>
            <a:pPr marL="546735" marR="2467610">
              <a:lnSpc>
                <a:spcPct val="100000"/>
              </a:lnSpc>
              <a:tabLst>
                <a:tab pos="3001645" algn="l"/>
              </a:tabLst>
            </a:pP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versions_operation</a:t>
            </a:r>
            <a:r>
              <a:rPr dirty="0" sz="1800" spc="-11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"OPERATION",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versions_starttime</a:t>
            </a:r>
            <a:r>
              <a:rPr dirty="0" sz="1800" spc="-11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"START_DATE",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versions_endtime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	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"END_DATE",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273685">
              <a:lnSpc>
                <a:spcPct val="100000"/>
              </a:lnSpc>
            </a:pP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</a:t>
            </a:r>
            <a:r>
              <a:rPr dirty="0" sz="1800" spc="-9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BETWEEN</a:t>
            </a:r>
            <a:r>
              <a:rPr dirty="0" sz="1800" spc="-7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SCN</a:t>
            </a:r>
            <a:r>
              <a:rPr dirty="0" sz="18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MINVALUE</a:t>
            </a:r>
            <a:r>
              <a:rPr dirty="0" sz="1800" spc="-6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AND</a:t>
            </a:r>
            <a:r>
              <a:rPr dirty="0" sz="1800" spc="-6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MAXVALUE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956310" algn="l"/>
              </a:tabLst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employee_id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20"/>
              <a:t>QUERY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38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56743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suprimir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fila: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21867" y="4645278"/>
          <a:ext cx="7576820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810"/>
                <a:gridCol w="1202055"/>
                <a:gridCol w="882014"/>
                <a:gridCol w="1866264"/>
                <a:gridCol w="1917699"/>
                <a:gridCol w="601345"/>
              </a:tblGrid>
              <a:tr h="33528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OPERATION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START_DATE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END_DATE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Natacha</a:t>
                      </a:r>
                      <a:r>
                        <a:rPr dirty="0" sz="13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Hansen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07-SEP-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1998</a:t>
                      </a:r>
                      <a:r>
                        <a:rPr dirty="0" sz="1300" spc="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07.00.10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AM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Natacha</a:t>
                      </a:r>
                      <a:r>
                        <a:rPr dirty="0" sz="13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Hansen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07-SEP-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1998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06.57.01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AM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07-SEP-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1998</a:t>
                      </a:r>
                      <a:r>
                        <a:rPr dirty="0" sz="1300" spc="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07.00.10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AM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Natacha</a:t>
                      </a:r>
                      <a:r>
                        <a:rPr dirty="0" sz="13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Hansen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07-SEP-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1998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06.51.58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AM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07-SEP-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1998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06.57.01</a:t>
                      </a:r>
                      <a:r>
                        <a:rPr dirty="0" sz="13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AM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3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12000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1882139"/>
            <a:ext cx="8345805" cy="62674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DELETE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5384" y="2636520"/>
            <a:ext cx="8345805" cy="18872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14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employee_id,first_name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||'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'||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"NAME",</a:t>
            </a:r>
            <a:endParaRPr sz="1800">
              <a:latin typeface="Courier New"/>
              <a:cs typeface="Courier New"/>
            </a:endParaRPr>
          </a:p>
          <a:p>
            <a:pPr marL="546735" marR="2467610">
              <a:lnSpc>
                <a:spcPct val="100000"/>
              </a:lnSpc>
              <a:tabLst>
                <a:tab pos="3001645" algn="l"/>
              </a:tabLst>
            </a:pP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versions_operation</a:t>
            </a:r>
            <a:r>
              <a:rPr dirty="0" sz="1800" spc="-11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"OPERATION",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versions_starttime</a:t>
            </a:r>
            <a:r>
              <a:rPr dirty="0" sz="1800" spc="-12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"START_DATE",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versions_endtime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	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"END_DATE",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273685">
              <a:lnSpc>
                <a:spcPct val="100000"/>
              </a:lnSpc>
            </a:pP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VERSIONS</a:t>
            </a:r>
            <a:r>
              <a:rPr dirty="0" sz="1800" spc="-8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BETWEEN</a:t>
            </a:r>
            <a:r>
              <a:rPr dirty="0" sz="18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SCN</a:t>
            </a:r>
            <a:r>
              <a:rPr dirty="0" sz="18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MINVALUE</a:t>
            </a:r>
            <a:r>
              <a:rPr dirty="0" sz="1800" spc="-60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D1350F"/>
                </a:solidFill>
                <a:latin typeface="Courier New"/>
                <a:cs typeface="Courier New"/>
              </a:rPr>
              <a:t>AND</a:t>
            </a:r>
            <a:r>
              <a:rPr dirty="0" sz="1800" spc="-55" b="1">
                <a:solidFill>
                  <a:srgbClr val="D1350F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MAXVALUE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tabLst>
                <a:tab pos="956310" algn="l"/>
              </a:tabLst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employee_id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609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FLASHBACK</a:t>
            </a:r>
            <a:r>
              <a:rPr dirty="0" spc="-114"/>
              <a:t> </a:t>
            </a:r>
            <a:r>
              <a:rPr dirty="0" spc="-20"/>
              <a:t>QUERY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13-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Modificación</a:t>
            </a:r>
            <a:r>
              <a:rPr dirty="0" spc="3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una </a:t>
            </a:r>
            <a:r>
              <a:rPr dirty="0" spc="-20"/>
              <a:t>Tabla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5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5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30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39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14" y="1415923"/>
            <a:ext cx="7588250" cy="247459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183515" marR="184785" indent="-171450">
              <a:lnSpc>
                <a:spcPts val="3020"/>
              </a:lnSpc>
              <a:spcBef>
                <a:spcPts val="4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última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diapositiva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anterior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disponible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Flashback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query,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decir,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VERSIONS</a:t>
            </a:r>
            <a:endParaRPr sz="2800">
              <a:latin typeface="Calibri"/>
              <a:cs typeface="Calibri"/>
            </a:endParaRPr>
          </a:p>
          <a:p>
            <a:pPr marL="183515" marR="5080" indent="-171450">
              <a:lnSpc>
                <a:spcPts val="3020"/>
              </a:lnSpc>
              <a:spcBef>
                <a:spcPts val="81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intenta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búsqueda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normal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employee_id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=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delete,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recibirá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error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normal,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Found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4005071"/>
            <a:ext cx="8345805" cy="88265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  <a:p>
            <a:pPr marR="533400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copy_employees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DP_13_3_esp</dc:title>
  <dcterms:created xsi:type="dcterms:W3CDTF">2025-06-01T17:48:30Z</dcterms:created>
  <dcterms:modified xsi:type="dcterms:W3CDTF">2025-06-01T17:48:30Z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 (Build 24D60) Quartz PDFContext</vt:lpwstr>
  </property>
</Properties>
</file>