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1346816"/>
            <a:ext cx="1534668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213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213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213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rgbClr val="1213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28700" y="9248775"/>
            <a:ext cx="1203325" cy="0"/>
          </a:xfrm>
          <a:custGeom>
            <a:avLst/>
            <a:gdLst/>
            <a:ahLst/>
            <a:cxnLst/>
            <a:rect l="l" t="t" r="r" b="b"/>
            <a:pathLst>
              <a:path w="1203325" h="0">
                <a:moveTo>
                  <a:pt x="0" y="0"/>
                </a:moveTo>
                <a:lnTo>
                  <a:pt x="1203104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1346816"/>
            <a:ext cx="1534668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rgbClr val="1213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22938" y="5027910"/>
            <a:ext cx="9349105" cy="351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4246" y="244928"/>
            <a:ext cx="5356595" cy="132669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16148" y="7811773"/>
            <a:ext cx="9309100" cy="220853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150"/>
              </a:spcBef>
            </a:pPr>
            <a:r>
              <a:rPr dirty="0" sz="5000" spc="-390">
                <a:solidFill>
                  <a:srgbClr val="121316"/>
                </a:solidFill>
                <a:latin typeface="Arial Black"/>
                <a:cs typeface="Arial Black"/>
              </a:rPr>
              <a:t>Sistemas</a:t>
            </a:r>
            <a:r>
              <a:rPr dirty="0" sz="5000" spc="-3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5000" spc="-305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5000" spc="-36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5000" spc="-495">
                <a:solidFill>
                  <a:srgbClr val="121316"/>
                </a:solidFill>
                <a:latin typeface="Arial Black"/>
                <a:cs typeface="Arial Black"/>
              </a:rPr>
              <a:t>Bases</a:t>
            </a:r>
            <a:r>
              <a:rPr dirty="0" sz="5000" spc="-36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5000" spc="-305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5000" spc="-36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5000" spc="-295">
                <a:solidFill>
                  <a:srgbClr val="121316"/>
                </a:solidFill>
                <a:latin typeface="Arial Black"/>
                <a:cs typeface="Arial Black"/>
              </a:rPr>
              <a:t>Datos</a:t>
            </a:r>
            <a:r>
              <a:rPr dirty="0" sz="5000" spc="-36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5000" spc="-555">
                <a:solidFill>
                  <a:srgbClr val="121316"/>
                </a:solidFill>
                <a:latin typeface="Arial Black"/>
                <a:cs typeface="Arial Black"/>
              </a:rPr>
              <a:t>1</a:t>
            </a:r>
            <a:endParaRPr sz="5000">
              <a:latin typeface="Arial Black"/>
              <a:cs typeface="Arial Black"/>
            </a:endParaRPr>
          </a:p>
          <a:p>
            <a:pPr marL="12700" marR="2272030" indent="34290">
              <a:lnSpc>
                <a:spcPts val="3660"/>
              </a:lnSpc>
              <a:spcBef>
                <a:spcPts val="95"/>
              </a:spcBef>
            </a:pPr>
            <a:r>
              <a:rPr dirty="0" sz="2500" spc="-229">
                <a:solidFill>
                  <a:srgbClr val="121316"/>
                </a:solidFill>
                <a:latin typeface="Arial Black"/>
                <a:cs typeface="Arial Black"/>
              </a:rPr>
              <a:t>Escuela</a:t>
            </a:r>
            <a:r>
              <a:rPr dirty="0" sz="2500" spc="-17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0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25">
                <a:solidFill>
                  <a:srgbClr val="121316"/>
                </a:solidFill>
                <a:latin typeface="Arial Black"/>
                <a:cs typeface="Arial Black"/>
              </a:rPr>
              <a:t>Ingenieria</a:t>
            </a:r>
            <a:r>
              <a:rPr dirty="0" sz="2500" spc="-17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0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204">
                <a:solidFill>
                  <a:srgbClr val="121316"/>
                </a:solidFill>
                <a:latin typeface="Arial Black"/>
                <a:cs typeface="Arial Black"/>
              </a:rPr>
              <a:t>Ciencias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390">
                <a:solidFill>
                  <a:srgbClr val="121316"/>
                </a:solidFill>
                <a:latin typeface="Arial Black"/>
                <a:cs typeface="Arial Black"/>
              </a:rPr>
              <a:t>Y</a:t>
            </a:r>
            <a:r>
              <a:rPr dirty="0" sz="2500" spc="-17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5">
                <a:solidFill>
                  <a:srgbClr val="121316"/>
                </a:solidFill>
                <a:latin typeface="Arial Black"/>
                <a:cs typeface="Arial Black"/>
              </a:rPr>
              <a:t>Sistemas 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Facultad</a:t>
            </a:r>
            <a:r>
              <a:rPr dirty="0" sz="2500" spc="-15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0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2500" spc="-15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0">
                <a:solidFill>
                  <a:srgbClr val="121316"/>
                </a:solidFill>
                <a:latin typeface="Arial Black"/>
                <a:cs typeface="Arial Black"/>
              </a:rPr>
              <a:t>Ingenieria</a:t>
            </a:r>
            <a:endParaRPr sz="2500">
              <a:latin typeface="Arial Black"/>
              <a:cs typeface="Arial Black"/>
            </a:endParaRPr>
          </a:p>
          <a:p>
            <a:pPr marL="12700">
              <a:lnSpc>
                <a:spcPts val="2725"/>
              </a:lnSpc>
            </a:pPr>
            <a:r>
              <a:rPr dirty="0" sz="2500" spc="-125">
                <a:solidFill>
                  <a:srgbClr val="121316"/>
                </a:solidFill>
                <a:latin typeface="Arial Black"/>
                <a:cs typeface="Arial Black"/>
              </a:rPr>
              <a:t>Universidad</a:t>
            </a:r>
            <a:r>
              <a:rPr dirty="0" sz="2500" spc="-170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0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215">
                <a:solidFill>
                  <a:srgbClr val="121316"/>
                </a:solidFill>
                <a:latin typeface="Arial Black"/>
                <a:cs typeface="Arial Black"/>
              </a:rPr>
              <a:t>San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75">
                <a:solidFill>
                  <a:srgbClr val="121316"/>
                </a:solidFill>
                <a:latin typeface="Arial Black"/>
                <a:cs typeface="Arial Black"/>
              </a:rPr>
              <a:t>Carlos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50">
                <a:solidFill>
                  <a:srgbClr val="121316"/>
                </a:solidFill>
                <a:latin typeface="Arial Black"/>
                <a:cs typeface="Arial Black"/>
              </a:rPr>
              <a:t>de</a:t>
            </a:r>
            <a:r>
              <a:rPr dirty="0" sz="2500" spc="-165">
                <a:solidFill>
                  <a:srgbClr val="121316"/>
                </a:solidFill>
                <a:latin typeface="Arial Black"/>
                <a:cs typeface="Arial Black"/>
              </a:rPr>
              <a:t> </a:t>
            </a:r>
            <a:r>
              <a:rPr dirty="0" sz="2500" spc="-10">
                <a:solidFill>
                  <a:srgbClr val="121316"/>
                </a:solidFill>
                <a:latin typeface="Arial Black"/>
                <a:cs typeface="Arial Black"/>
              </a:rPr>
              <a:t>Guatemala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94833" y="4056046"/>
            <a:ext cx="12960350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434" b="0">
                <a:latin typeface="Arial Black"/>
                <a:cs typeface="Arial Black"/>
              </a:rPr>
              <a:t>Normalización</a:t>
            </a:r>
            <a:r>
              <a:rPr dirty="0" sz="9200" spc="-665" b="0">
                <a:latin typeface="Arial Black"/>
                <a:cs typeface="Arial Black"/>
              </a:rPr>
              <a:t> </a:t>
            </a:r>
            <a:r>
              <a:rPr dirty="0" sz="9200" spc="-470" b="0">
                <a:latin typeface="Arial Black"/>
                <a:cs typeface="Arial Black"/>
              </a:rPr>
              <a:t>Parte</a:t>
            </a:r>
            <a:r>
              <a:rPr dirty="0" sz="9200" spc="-660" b="0">
                <a:latin typeface="Arial Black"/>
                <a:cs typeface="Arial Black"/>
              </a:rPr>
              <a:t> </a:t>
            </a:r>
            <a:r>
              <a:rPr dirty="0" sz="9200" spc="-975" b="0">
                <a:latin typeface="Arial Black"/>
                <a:cs typeface="Arial Black"/>
              </a:rPr>
              <a:t>1</a:t>
            </a:r>
            <a:endParaRPr sz="9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767141" y="3492368"/>
            <a:ext cx="4610100" cy="1257300"/>
          </a:xfrm>
          <a:custGeom>
            <a:avLst/>
            <a:gdLst/>
            <a:ahLst/>
            <a:cxnLst/>
            <a:rect l="l" t="t" r="r" b="b"/>
            <a:pathLst>
              <a:path w="4610100" h="1257300">
                <a:moveTo>
                  <a:pt x="4138665" y="1257299"/>
                </a:moveTo>
                <a:lnTo>
                  <a:pt x="4610063" y="634760"/>
                </a:lnTo>
              </a:path>
              <a:path w="4610100" h="1257300">
                <a:moveTo>
                  <a:pt x="4610063" y="625813"/>
                </a:moveTo>
                <a:lnTo>
                  <a:pt x="4136186" y="0"/>
                </a:lnTo>
                <a:lnTo>
                  <a:pt x="0" y="0"/>
                </a:lnTo>
                <a:lnTo>
                  <a:pt x="0" y="125729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464858" y="3503157"/>
            <a:ext cx="2949575" cy="1073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81685" marR="5080" indent="-769620">
              <a:lnSpc>
                <a:spcPct val="122800"/>
              </a:lnSpc>
              <a:spcBef>
                <a:spcPts val="95"/>
              </a:spcBef>
            </a:pPr>
            <a:r>
              <a:rPr dirty="0" sz="2800" spc="114">
                <a:latin typeface="Verdana"/>
                <a:cs typeface="Verdana"/>
              </a:rPr>
              <a:t>Primera</a:t>
            </a:r>
            <a:r>
              <a:rPr dirty="0" sz="2800" spc="-110">
                <a:latin typeface="Verdana"/>
                <a:cs typeface="Verdana"/>
              </a:rPr>
              <a:t> </a:t>
            </a:r>
            <a:r>
              <a:rPr dirty="0" sz="2800" spc="85">
                <a:latin typeface="Verdana"/>
                <a:cs typeface="Verdana"/>
              </a:rPr>
              <a:t>Formal </a:t>
            </a:r>
            <a:r>
              <a:rPr dirty="0" sz="2800" spc="100">
                <a:latin typeface="Verdana"/>
                <a:cs typeface="Verdana"/>
              </a:rPr>
              <a:t>Normal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61181" y="514660"/>
            <a:ext cx="4911725" cy="2311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0" spc="-1789" b="0">
                <a:latin typeface="Trebuchet MS"/>
                <a:cs typeface="Trebuchet MS"/>
              </a:rPr>
              <a:t>Agenda</a:t>
            </a:r>
            <a:endParaRPr sz="15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655134" y="3492368"/>
            <a:ext cx="4610100" cy="1257300"/>
          </a:xfrm>
          <a:custGeom>
            <a:avLst/>
            <a:gdLst/>
            <a:ahLst/>
            <a:cxnLst/>
            <a:rect l="l" t="t" r="r" b="b"/>
            <a:pathLst>
              <a:path w="4610100" h="1257300">
                <a:moveTo>
                  <a:pt x="4138665" y="1257299"/>
                </a:moveTo>
                <a:lnTo>
                  <a:pt x="4610063" y="634760"/>
                </a:lnTo>
              </a:path>
              <a:path w="4610100" h="1257300">
                <a:moveTo>
                  <a:pt x="4610064" y="625814"/>
                </a:moveTo>
                <a:lnTo>
                  <a:pt x="4136186" y="0"/>
                </a:lnTo>
                <a:lnTo>
                  <a:pt x="0" y="0"/>
                </a:lnTo>
                <a:lnTo>
                  <a:pt x="0" y="1257299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311925" y="3503157"/>
            <a:ext cx="3031490" cy="1073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22325" marR="5080" indent="-810260">
              <a:lnSpc>
                <a:spcPct val="122800"/>
              </a:lnSpc>
              <a:spcBef>
                <a:spcPts val="95"/>
              </a:spcBef>
            </a:pPr>
            <a:r>
              <a:rPr dirty="0" sz="2800" spc="125">
                <a:latin typeface="Verdana"/>
                <a:cs typeface="Verdana"/>
              </a:rPr>
              <a:t>Segunda</a:t>
            </a:r>
            <a:r>
              <a:rPr dirty="0" sz="2800" spc="-105">
                <a:latin typeface="Verdana"/>
                <a:cs typeface="Verdana"/>
              </a:rPr>
              <a:t> </a:t>
            </a:r>
            <a:r>
              <a:rPr dirty="0" sz="2800" spc="80">
                <a:latin typeface="Verdana"/>
                <a:cs typeface="Verdana"/>
              </a:rPr>
              <a:t>Forma </a:t>
            </a:r>
            <a:r>
              <a:rPr dirty="0" sz="2800" spc="100">
                <a:latin typeface="Verdana"/>
                <a:cs typeface="Verdana"/>
              </a:rPr>
              <a:t>Normal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767176" y="5599619"/>
            <a:ext cx="4610100" cy="733425"/>
          </a:xfrm>
          <a:custGeom>
            <a:avLst/>
            <a:gdLst/>
            <a:ahLst/>
            <a:cxnLst/>
            <a:rect l="l" t="t" r="r" b="b"/>
            <a:pathLst>
              <a:path w="4610100" h="733425">
                <a:moveTo>
                  <a:pt x="4140365" y="733425"/>
                </a:moveTo>
                <a:lnTo>
                  <a:pt x="4610029" y="370936"/>
                </a:lnTo>
              </a:path>
              <a:path w="4610100" h="733425">
                <a:moveTo>
                  <a:pt x="4610029" y="365762"/>
                </a:moveTo>
                <a:lnTo>
                  <a:pt x="4136123" y="0"/>
                </a:lnTo>
                <a:lnTo>
                  <a:pt x="0" y="0"/>
                </a:lnTo>
                <a:lnTo>
                  <a:pt x="0" y="73342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513674" y="5707600"/>
            <a:ext cx="28517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35">
                <a:latin typeface="Verdana"/>
                <a:cs typeface="Verdana"/>
              </a:rPr>
              <a:t>Tipos</a:t>
            </a:r>
            <a:r>
              <a:rPr dirty="0" sz="2800" spc="-120">
                <a:latin typeface="Verdana"/>
                <a:cs typeface="Verdana"/>
              </a:rPr>
              <a:t> </a:t>
            </a:r>
            <a:r>
              <a:rPr dirty="0" sz="2800" spc="185">
                <a:latin typeface="Verdana"/>
                <a:cs typeface="Verdana"/>
              </a:rPr>
              <a:t>de</a:t>
            </a:r>
            <a:r>
              <a:rPr dirty="0" sz="2800" spc="-114">
                <a:latin typeface="Verdana"/>
                <a:cs typeface="Verdana"/>
              </a:rPr>
              <a:t> </a:t>
            </a:r>
            <a:r>
              <a:rPr dirty="0" sz="2800" spc="145"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715178" y="5687925"/>
            <a:ext cx="4610100" cy="733425"/>
          </a:xfrm>
          <a:custGeom>
            <a:avLst/>
            <a:gdLst/>
            <a:ahLst/>
            <a:cxnLst/>
            <a:rect l="l" t="t" r="r" b="b"/>
            <a:pathLst>
              <a:path w="4610100" h="733425">
                <a:moveTo>
                  <a:pt x="4140366" y="733424"/>
                </a:moveTo>
                <a:lnTo>
                  <a:pt x="4610028" y="370937"/>
                </a:lnTo>
              </a:path>
              <a:path w="4610100" h="733425">
                <a:moveTo>
                  <a:pt x="4610028" y="365762"/>
                </a:moveTo>
                <a:lnTo>
                  <a:pt x="4136123" y="0"/>
                </a:lnTo>
                <a:lnTo>
                  <a:pt x="0" y="0"/>
                </a:lnTo>
                <a:lnTo>
                  <a:pt x="0" y="73342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1055822" y="5795907"/>
            <a:ext cx="36639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90">
                <a:latin typeface="Verdana"/>
                <a:cs typeface="Verdana"/>
              </a:rPr>
              <a:t>Creación</a:t>
            </a:r>
            <a:r>
              <a:rPr dirty="0" sz="2800" spc="-130">
                <a:latin typeface="Verdana"/>
                <a:cs typeface="Verdana"/>
              </a:rPr>
              <a:t> </a:t>
            </a:r>
            <a:r>
              <a:rPr dirty="0" sz="2800" spc="185">
                <a:latin typeface="Verdana"/>
                <a:cs typeface="Verdana"/>
              </a:rPr>
              <a:t>de</a:t>
            </a:r>
            <a:r>
              <a:rPr dirty="0" sz="2800" spc="-125">
                <a:latin typeface="Verdana"/>
                <a:cs typeface="Verdana"/>
              </a:rPr>
              <a:t> </a:t>
            </a:r>
            <a:r>
              <a:rPr dirty="0" sz="2800" spc="125">
                <a:latin typeface="Verdana"/>
                <a:cs typeface="Verdana"/>
              </a:rPr>
              <a:t>tablas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968559" y="7272376"/>
            <a:ext cx="4610100" cy="733425"/>
          </a:xfrm>
          <a:custGeom>
            <a:avLst/>
            <a:gdLst/>
            <a:ahLst/>
            <a:cxnLst/>
            <a:rect l="l" t="t" r="r" b="b"/>
            <a:pathLst>
              <a:path w="4610100" h="733425">
                <a:moveTo>
                  <a:pt x="4140366" y="733424"/>
                </a:moveTo>
                <a:lnTo>
                  <a:pt x="4610029" y="370936"/>
                </a:lnTo>
              </a:path>
              <a:path w="4610100" h="733425">
                <a:moveTo>
                  <a:pt x="4610029" y="365762"/>
                </a:moveTo>
                <a:lnTo>
                  <a:pt x="4136123" y="0"/>
                </a:lnTo>
                <a:lnTo>
                  <a:pt x="0" y="0"/>
                </a:lnTo>
                <a:lnTo>
                  <a:pt x="0" y="733425"/>
                </a:lnTo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437194" y="7380358"/>
            <a:ext cx="34080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55">
                <a:latin typeface="Verdana"/>
                <a:cs typeface="Verdana"/>
              </a:rPr>
              <a:t>Gestión</a:t>
            </a:r>
            <a:r>
              <a:rPr dirty="0" sz="2800" spc="-130">
                <a:latin typeface="Verdana"/>
                <a:cs typeface="Verdana"/>
              </a:rPr>
              <a:t> </a:t>
            </a:r>
            <a:r>
              <a:rPr dirty="0" sz="2800" spc="185">
                <a:latin typeface="Verdana"/>
                <a:cs typeface="Verdana"/>
              </a:rPr>
              <a:t>de</a:t>
            </a:r>
            <a:r>
              <a:rPr dirty="0" sz="2800" spc="-125">
                <a:latin typeface="Verdana"/>
                <a:cs typeface="Verdana"/>
              </a:rPr>
              <a:t> </a:t>
            </a:r>
            <a:r>
              <a:rPr dirty="0" sz="2800" spc="125">
                <a:latin typeface="Verdana"/>
                <a:cs typeface="Verdana"/>
              </a:rPr>
              <a:t>tablas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2188" y="595521"/>
            <a:ext cx="14016990" cy="1818639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6800"/>
              </a:lnSpc>
              <a:spcBef>
                <a:spcPts val="715"/>
              </a:spcBef>
              <a:tabLst>
                <a:tab pos="11676380" algn="l"/>
              </a:tabLst>
            </a:pPr>
            <a:r>
              <a:rPr dirty="0" sz="6100" spc="1880"/>
              <a:t>COMPETENCIA(S)</a:t>
            </a:r>
            <a:r>
              <a:rPr dirty="0" sz="6100"/>
              <a:t>	</a:t>
            </a:r>
            <a:r>
              <a:rPr dirty="0" sz="6100" spc="1664"/>
              <a:t>QUE </a:t>
            </a:r>
            <a:r>
              <a:rPr dirty="0" sz="6100" spc="2130"/>
              <a:t>DESARROLLAREMOS</a:t>
            </a:r>
            <a:endParaRPr sz="61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638" y="3999204"/>
            <a:ext cx="123825" cy="12382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966579" y="3638518"/>
            <a:ext cx="15305405" cy="3683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42900"/>
              </a:lnSpc>
              <a:spcBef>
                <a:spcPts val="95"/>
              </a:spcBef>
            </a:pP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Aplica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150">
                <a:solidFill>
                  <a:srgbClr val="121316"/>
                </a:solidFill>
                <a:latin typeface="Verdana"/>
                <a:cs typeface="Verdana"/>
              </a:rPr>
              <a:t>conceptos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>
                <a:solidFill>
                  <a:srgbClr val="121316"/>
                </a:solidFill>
                <a:latin typeface="Verdana"/>
                <a:cs typeface="Verdana"/>
              </a:rPr>
              <a:t>la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65">
                <a:solidFill>
                  <a:srgbClr val="121316"/>
                </a:solidFill>
                <a:latin typeface="Verdana"/>
                <a:cs typeface="Verdana"/>
              </a:rPr>
              <a:t>teoría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60">
                <a:solidFill>
                  <a:srgbClr val="121316"/>
                </a:solidFill>
                <a:latin typeface="Verdana"/>
                <a:cs typeface="Verdana"/>
              </a:rPr>
              <a:t>relacional</a:t>
            </a:r>
            <a:r>
              <a:rPr dirty="0" sz="2800" spc="29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conviertiendo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los</a:t>
            </a:r>
            <a:r>
              <a:rPr dirty="0" sz="2800" spc="29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requerimientos </a:t>
            </a:r>
            <a:r>
              <a:rPr dirty="0" sz="2800" spc="95">
                <a:solidFill>
                  <a:srgbClr val="121316"/>
                </a:solidFill>
                <a:latin typeface="Verdana"/>
                <a:cs typeface="Verdana"/>
              </a:rPr>
              <a:t>funciones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en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65">
                <a:solidFill>
                  <a:srgbClr val="121316"/>
                </a:solidFill>
                <a:latin typeface="Verdana"/>
                <a:cs typeface="Verdana"/>
              </a:rPr>
              <a:t>tablas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121316"/>
                </a:solidFill>
                <a:latin typeface="Verdana"/>
                <a:cs typeface="Verdana"/>
              </a:rPr>
              <a:t>normalizadas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55">
                <a:solidFill>
                  <a:srgbClr val="121316"/>
                </a:solidFill>
                <a:latin typeface="Verdana"/>
                <a:cs typeface="Verdana"/>
              </a:rPr>
              <a:t>con</a:t>
            </a:r>
            <a:r>
              <a:rPr dirty="0" sz="2800" spc="-4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121316"/>
                </a:solidFill>
                <a:latin typeface="Verdana"/>
                <a:cs typeface="Verdana"/>
              </a:rPr>
              <a:t>el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75">
                <a:solidFill>
                  <a:srgbClr val="121316"/>
                </a:solidFill>
                <a:latin typeface="Verdana"/>
                <a:cs typeface="Verdana"/>
              </a:rPr>
              <a:t>fin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90">
                <a:solidFill>
                  <a:srgbClr val="121316"/>
                </a:solidFill>
                <a:latin typeface="Verdana"/>
                <a:cs typeface="Verdana"/>
              </a:rPr>
              <a:t>crear</a:t>
            </a:r>
            <a:r>
              <a:rPr dirty="0" sz="2800" spc="-4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60">
                <a:solidFill>
                  <a:srgbClr val="121316"/>
                </a:solidFill>
                <a:latin typeface="Verdana"/>
                <a:cs typeface="Verdana"/>
              </a:rPr>
              <a:t>sistemas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-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65">
                <a:solidFill>
                  <a:srgbClr val="121316"/>
                </a:solidFill>
                <a:latin typeface="Verdana"/>
                <a:cs typeface="Verdana"/>
              </a:rPr>
              <a:t>almacenamiento </a:t>
            </a:r>
            <a:r>
              <a:rPr dirty="0" sz="2800" spc="105">
                <a:solidFill>
                  <a:srgbClr val="121316"/>
                </a:solidFill>
                <a:latin typeface="Verdana"/>
                <a:cs typeface="Verdana"/>
              </a:rPr>
              <a:t>que</a:t>
            </a:r>
            <a:r>
              <a:rPr dirty="0" sz="28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garanticen</a:t>
            </a:r>
            <a:r>
              <a:rPr dirty="0" sz="28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45">
                <a:solidFill>
                  <a:srgbClr val="121316"/>
                </a:solidFill>
                <a:latin typeface="Verdana"/>
                <a:cs typeface="Verdana"/>
              </a:rPr>
              <a:t>integridad,</a:t>
            </a:r>
            <a:r>
              <a:rPr dirty="0" sz="28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95">
                <a:solidFill>
                  <a:srgbClr val="121316"/>
                </a:solidFill>
                <a:latin typeface="Verdana"/>
                <a:cs typeface="Verdana"/>
              </a:rPr>
              <a:t>consistencia</a:t>
            </a:r>
            <a:r>
              <a:rPr dirty="0" sz="28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-90">
                <a:solidFill>
                  <a:srgbClr val="121316"/>
                </a:solidFill>
                <a:latin typeface="Verdana"/>
                <a:cs typeface="Verdana"/>
              </a:rPr>
              <a:t>y</a:t>
            </a:r>
            <a:r>
              <a:rPr dirty="0" sz="28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05">
                <a:solidFill>
                  <a:srgbClr val="121316"/>
                </a:solidFill>
                <a:latin typeface="Verdana"/>
                <a:cs typeface="Verdana"/>
              </a:rPr>
              <a:t>eficiencia</a:t>
            </a:r>
            <a:r>
              <a:rPr dirty="0" sz="28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45">
                <a:solidFill>
                  <a:srgbClr val="121316"/>
                </a:solidFill>
                <a:latin typeface="Verdana"/>
                <a:cs typeface="Verdana"/>
              </a:rPr>
              <a:t>los</a:t>
            </a:r>
            <a:r>
              <a:rPr dirty="0" sz="28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-10">
                <a:solidFill>
                  <a:srgbClr val="121316"/>
                </a:solidFill>
                <a:latin typeface="Verdana"/>
                <a:cs typeface="Verdana"/>
              </a:rPr>
              <a:t>datos.</a:t>
            </a:r>
            <a:endParaRPr sz="2800">
              <a:latin typeface="Verdana"/>
              <a:cs typeface="Verdana"/>
            </a:endParaRPr>
          </a:p>
          <a:p>
            <a:pPr algn="just" marL="12700" marR="5080">
              <a:lnSpc>
                <a:spcPts val="4800"/>
              </a:lnSpc>
              <a:spcBef>
                <a:spcPts val="200"/>
              </a:spcBef>
            </a:pPr>
            <a:r>
              <a:rPr dirty="0" sz="2800">
                <a:solidFill>
                  <a:srgbClr val="121316"/>
                </a:solidFill>
                <a:latin typeface="Verdana"/>
                <a:cs typeface="Verdana"/>
              </a:rPr>
              <a:t>Diseña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90">
                <a:solidFill>
                  <a:srgbClr val="121316"/>
                </a:solidFill>
                <a:latin typeface="Verdana"/>
                <a:cs typeface="Verdana"/>
              </a:rPr>
              <a:t>modelos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bases</a:t>
            </a:r>
            <a:r>
              <a:rPr dirty="0" sz="2800" spc="6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140">
                <a:solidFill>
                  <a:srgbClr val="121316"/>
                </a:solidFill>
                <a:latin typeface="Verdana"/>
                <a:cs typeface="Verdana"/>
              </a:rPr>
              <a:t>de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100">
                <a:solidFill>
                  <a:srgbClr val="121316"/>
                </a:solidFill>
                <a:latin typeface="Verdana"/>
                <a:cs typeface="Verdana"/>
              </a:rPr>
              <a:t>datos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50">
                <a:solidFill>
                  <a:srgbClr val="121316"/>
                </a:solidFill>
                <a:latin typeface="Verdana"/>
                <a:cs typeface="Verdana"/>
              </a:rPr>
              <a:t>utilizando</a:t>
            </a:r>
            <a:r>
              <a:rPr dirty="0" sz="2800" spc="60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diagramas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entidad-</a:t>
            </a:r>
            <a:r>
              <a:rPr dirty="0" sz="2800" spc="75">
                <a:solidFill>
                  <a:srgbClr val="121316"/>
                </a:solidFill>
                <a:latin typeface="Verdana"/>
                <a:cs typeface="Verdana"/>
              </a:rPr>
              <a:t>relación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  </a:t>
            </a:r>
            <a:r>
              <a:rPr dirty="0" sz="2800" spc="-50">
                <a:solidFill>
                  <a:srgbClr val="121316"/>
                </a:solidFill>
                <a:latin typeface="Verdana"/>
                <a:cs typeface="Verdana"/>
              </a:rPr>
              <a:t>y 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normalización</a:t>
            </a:r>
            <a:r>
              <a:rPr dirty="0" sz="2800" spc="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55">
                <a:solidFill>
                  <a:srgbClr val="121316"/>
                </a:solidFill>
                <a:latin typeface="Verdana"/>
                <a:cs typeface="Verdana"/>
              </a:rPr>
              <a:t>para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121316"/>
                </a:solidFill>
                <a:latin typeface="Verdana"/>
                <a:cs typeface="Verdana"/>
              </a:rPr>
              <a:t>garantizar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45">
                <a:solidFill>
                  <a:srgbClr val="121316"/>
                </a:solidFill>
                <a:latin typeface="Verdana"/>
                <a:cs typeface="Verdana"/>
              </a:rPr>
              <a:t>integridad,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95">
                <a:solidFill>
                  <a:srgbClr val="121316"/>
                </a:solidFill>
                <a:latin typeface="Verdana"/>
                <a:cs typeface="Verdana"/>
              </a:rPr>
              <a:t>consistencia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121316"/>
                </a:solidFill>
                <a:latin typeface="Verdana"/>
                <a:cs typeface="Verdana"/>
              </a:rPr>
              <a:t>y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05">
                <a:solidFill>
                  <a:srgbClr val="121316"/>
                </a:solidFill>
                <a:latin typeface="Verdana"/>
                <a:cs typeface="Verdana"/>
              </a:rPr>
              <a:t>eficiencia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en </a:t>
            </a:r>
            <a:r>
              <a:rPr dirty="0" sz="2800" spc="50">
                <a:solidFill>
                  <a:srgbClr val="121316"/>
                </a:solidFill>
                <a:latin typeface="Verdana"/>
                <a:cs typeface="Verdana"/>
              </a:rPr>
              <a:t>el</a:t>
            </a:r>
            <a:r>
              <a:rPr dirty="0" sz="2800" spc="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150">
                <a:solidFill>
                  <a:srgbClr val="121316"/>
                </a:solidFill>
                <a:latin typeface="Verdana"/>
                <a:cs typeface="Verdana"/>
              </a:rPr>
              <a:t>acceso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-50">
                <a:solidFill>
                  <a:srgbClr val="121316"/>
                </a:solidFill>
                <a:latin typeface="Verdana"/>
                <a:cs typeface="Verdana"/>
              </a:rPr>
              <a:t>a </a:t>
            </a:r>
            <a:r>
              <a:rPr dirty="0" sz="2800" spc="45">
                <a:solidFill>
                  <a:srgbClr val="121316"/>
                </a:solidFill>
                <a:latin typeface="Verdana"/>
                <a:cs typeface="Verdana"/>
              </a:rPr>
              <a:t>los</a:t>
            </a:r>
            <a:r>
              <a:rPr dirty="0" sz="28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800" spc="80">
                <a:solidFill>
                  <a:srgbClr val="121316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0638" y="5828004"/>
            <a:ext cx="123825" cy="123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22938" y="2122785"/>
            <a:ext cx="9349105" cy="2349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1200"/>
              </a:lnSpc>
              <a:spcBef>
                <a:spcPts val="100"/>
              </a:spcBef>
            </a:pPr>
            <a:r>
              <a:rPr dirty="0" sz="2700" spc="100" b="0">
                <a:solidFill>
                  <a:srgbClr val="FFFFFF"/>
                </a:solidFill>
                <a:latin typeface="Lucida Sans Unicode"/>
                <a:cs typeface="Lucida Sans Unicode"/>
              </a:rPr>
              <a:t>Una</a:t>
            </a:r>
            <a:r>
              <a:rPr dirty="0" sz="2700" spc="64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serie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5" b="0">
                <a:solidFill>
                  <a:srgbClr val="FFFFFF"/>
                </a:solidFill>
                <a:latin typeface="Lucida Sans Unicode"/>
                <a:cs typeface="Lucida Sans Unicode"/>
              </a:rPr>
              <a:t>pasos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5" b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 b="0">
                <a:solidFill>
                  <a:srgbClr val="FFFFFF"/>
                </a:solidFill>
                <a:latin typeface="Lucida Sans Unicode"/>
                <a:cs typeface="Lucida Sans Unicode"/>
              </a:rPr>
              <a:t>se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realizan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60" b="0">
                <a:solidFill>
                  <a:srgbClr val="FFFFFF"/>
                </a:solidFill>
                <a:latin typeface="Lucida Sans Unicode"/>
                <a:cs typeface="Lucida Sans Unicode"/>
              </a:rPr>
              <a:t>para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lograr</a:t>
            </a:r>
            <a:r>
              <a:rPr dirty="0" sz="2700" spc="64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5" b="0">
                <a:solidFill>
                  <a:srgbClr val="FFFFFF"/>
                </a:solidFill>
                <a:latin typeface="Lucida Sans Unicode"/>
                <a:cs typeface="Lucida Sans Unicode"/>
              </a:rPr>
              <a:t>un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diseño</a:t>
            </a:r>
            <a:r>
              <a:rPr dirty="0" sz="2700" spc="5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700" spc="5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55" b="0">
                <a:solidFill>
                  <a:srgbClr val="FFFFFF"/>
                </a:solidFill>
                <a:latin typeface="Lucida Sans Unicode"/>
                <a:cs typeface="Lucida Sans Unicode"/>
              </a:rPr>
              <a:t>base</a:t>
            </a:r>
            <a:r>
              <a:rPr dirty="0" sz="2700" spc="5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700" spc="5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 b="0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r>
              <a:rPr dirty="0" sz="2700" spc="5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5" b="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700" spc="5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 b="0">
                <a:solidFill>
                  <a:srgbClr val="FFFFFF"/>
                </a:solidFill>
                <a:latin typeface="Lucida Sans Unicode"/>
                <a:cs typeface="Lucida Sans Unicode"/>
              </a:rPr>
              <a:t>permita</a:t>
            </a:r>
            <a:r>
              <a:rPr dirty="0" sz="2700" spc="5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un</a:t>
            </a:r>
            <a:r>
              <a:rPr dirty="0" sz="2700" spc="52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70" b="0">
                <a:solidFill>
                  <a:srgbClr val="FFFFFF"/>
                </a:solidFill>
                <a:latin typeface="Lucida Sans Unicode"/>
                <a:cs typeface="Lucida Sans Unicode"/>
              </a:rPr>
              <a:t>acceso</a:t>
            </a:r>
            <a:r>
              <a:rPr dirty="0" sz="2700" spc="5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45" b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dirty="0" sz="2700" spc="130" b="0">
                <a:solidFill>
                  <a:srgbClr val="FFFFFF"/>
                </a:solidFill>
                <a:latin typeface="Lucida Sans Unicode"/>
                <a:cs typeface="Lucida Sans Unicode"/>
              </a:rPr>
              <a:t>almacenamiento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eficientes</a:t>
            </a:r>
            <a:r>
              <a:rPr dirty="0" sz="2700" spc="1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dirty="0" sz="2700" b="0">
                <a:solidFill>
                  <a:srgbClr val="FFFFFF"/>
                </a:solidFill>
                <a:latin typeface="Lucida Sans Unicode"/>
                <a:cs typeface="Lucida Sans Unicode"/>
              </a:rPr>
              <a:t>los</a:t>
            </a:r>
            <a:r>
              <a:rPr dirty="0" sz="2700" spc="1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 b="0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05" b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dirty="0" sz="2700" spc="13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135" b="0">
                <a:solidFill>
                  <a:srgbClr val="FFFFFF"/>
                </a:solidFill>
                <a:latin typeface="Lucida Sans Unicode"/>
                <a:cs typeface="Lucida Sans Unicode"/>
              </a:rPr>
              <a:t>una base de</a:t>
            </a:r>
            <a:r>
              <a:rPr dirty="0" sz="2700" spc="-12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90" b="0">
                <a:solidFill>
                  <a:srgbClr val="FFFFFF"/>
                </a:solidFill>
                <a:latin typeface="Lucida Sans Unicode"/>
                <a:cs typeface="Lucida Sans Unicode"/>
              </a:rPr>
              <a:t>datos</a:t>
            </a:r>
            <a:r>
              <a:rPr dirty="0" sz="2700" spc="-12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 b="0">
                <a:solidFill>
                  <a:srgbClr val="FFFFFF"/>
                </a:solidFill>
                <a:latin typeface="Lucida Sans Unicode"/>
                <a:cs typeface="Lucida Sans Unicode"/>
              </a:rPr>
              <a:t>relacional.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1200"/>
              </a:lnSpc>
              <a:spcBef>
                <a:spcPts val="100"/>
              </a:spcBef>
            </a:pPr>
            <a:r>
              <a:rPr dirty="0"/>
              <a:t>Estos</a:t>
            </a:r>
            <a:r>
              <a:rPr dirty="0" spc="445"/>
              <a:t> </a:t>
            </a:r>
            <a:r>
              <a:rPr dirty="0" spc="105"/>
              <a:t>pasos</a:t>
            </a:r>
            <a:r>
              <a:rPr dirty="0" spc="445"/>
              <a:t> </a:t>
            </a:r>
            <a:r>
              <a:rPr dirty="0" spc="95"/>
              <a:t>reducen</a:t>
            </a:r>
            <a:r>
              <a:rPr dirty="0" spc="450"/>
              <a:t> </a:t>
            </a:r>
            <a:r>
              <a:rPr dirty="0" spc="100"/>
              <a:t>la</a:t>
            </a:r>
            <a:r>
              <a:rPr dirty="0" spc="445"/>
              <a:t> </a:t>
            </a:r>
            <a:r>
              <a:rPr dirty="0" spc="105"/>
              <a:t>redundancia</a:t>
            </a:r>
            <a:r>
              <a:rPr dirty="0" spc="450"/>
              <a:t> </a:t>
            </a:r>
            <a:r>
              <a:rPr dirty="0" spc="135"/>
              <a:t>de</a:t>
            </a:r>
            <a:r>
              <a:rPr dirty="0" spc="445"/>
              <a:t> </a:t>
            </a:r>
            <a:r>
              <a:rPr dirty="0" spc="90"/>
              <a:t>datos</a:t>
            </a:r>
            <a:r>
              <a:rPr dirty="0" spc="450"/>
              <a:t> </a:t>
            </a:r>
            <a:r>
              <a:rPr dirty="0" spc="95"/>
              <a:t>y</a:t>
            </a:r>
            <a:r>
              <a:rPr dirty="0" spc="445"/>
              <a:t> </a:t>
            </a:r>
            <a:r>
              <a:rPr dirty="0" spc="50"/>
              <a:t>las </a:t>
            </a:r>
            <a:r>
              <a:rPr dirty="0"/>
              <a:t>posibilidades</a:t>
            </a:r>
            <a:r>
              <a:rPr dirty="0" spc="665"/>
              <a:t>  </a:t>
            </a:r>
            <a:r>
              <a:rPr dirty="0" spc="135"/>
              <a:t>de</a:t>
            </a:r>
            <a:r>
              <a:rPr dirty="0" spc="665"/>
              <a:t>  </a:t>
            </a:r>
            <a:r>
              <a:rPr dirty="0" spc="105"/>
              <a:t>que</a:t>
            </a:r>
            <a:r>
              <a:rPr dirty="0" spc="665"/>
              <a:t>  </a:t>
            </a:r>
            <a:r>
              <a:rPr dirty="0"/>
              <a:t>los</a:t>
            </a:r>
            <a:r>
              <a:rPr dirty="0" spc="665"/>
              <a:t>  </a:t>
            </a:r>
            <a:r>
              <a:rPr dirty="0" spc="90"/>
              <a:t>datos</a:t>
            </a:r>
            <a:r>
              <a:rPr dirty="0" spc="665"/>
              <a:t>  </a:t>
            </a:r>
            <a:r>
              <a:rPr dirty="0" spc="130"/>
              <a:t>pasen</a:t>
            </a:r>
            <a:r>
              <a:rPr dirty="0" spc="665"/>
              <a:t>  </a:t>
            </a:r>
            <a:r>
              <a:rPr dirty="0" spc="325"/>
              <a:t>a</a:t>
            </a:r>
            <a:r>
              <a:rPr dirty="0" spc="665"/>
              <a:t>  </a:t>
            </a:r>
            <a:r>
              <a:rPr dirty="0" spc="-25"/>
              <a:t>ser </a:t>
            </a:r>
            <a:r>
              <a:rPr dirty="0" spc="-10"/>
              <a:t>inconsistentes.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</a:p>
          <a:p>
            <a:pPr algn="just" marL="12700" marR="5080">
              <a:lnSpc>
                <a:spcPct val="141200"/>
              </a:lnSpc>
            </a:pPr>
            <a:r>
              <a:rPr dirty="0">
                <a:latin typeface="Arial Black"/>
                <a:cs typeface="Arial Black"/>
              </a:rPr>
              <a:t>Redundancia</a:t>
            </a:r>
            <a:r>
              <a:rPr dirty="0"/>
              <a:t>:</a:t>
            </a:r>
            <a:r>
              <a:rPr dirty="0" spc="325"/>
              <a:t>   </a:t>
            </a:r>
            <a:r>
              <a:rPr dirty="0" spc="95"/>
              <a:t>algo</a:t>
            </a:r>
            <a:r>
              <a:rPr dirty="0" spc="325"/>
              <a:t>   </a:t>
            </a:r>
            <a:r>
              <a:rPr dirty="0" spc="105"/>
              <a:t>que</a:t>
            </a:r>
            <a:r>
              <a:rPr dirty="0" spc="330"/>
              <a:t>   </a:t>
            </a:r>
            <a:r>
              <a:rPr dirty="0" spc="90"/>
              <a:t>es</a:t>
            </a:r>
            <a:r>
              <a:rPr dirty="0" spc="325"/>
              <a:t>   </a:t>
            </a:r>
            <a:r>
              <a:rPr dirty="0" spc="85"/>
              <a:t>innecesariamente </a:t>
            </a:r>
            <a:r>
              <a:rPr dirty="0" spc="-10"/>
              <a:t>repetitivo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0" y="3019628"/>
            <a:ext cx="6927215" cy="4210050"/>
          </a:xfrm>
          <a:custGeom>
            <a:avLst/>
            <a:gdLst/>
            <a:ahLst/>
            <a:cxnLst/>
            <a:rect l="l" t="t" r="r" b="b"/>
            <a:pathLst>
              <a:path w="6927215" h="4210050">
                <a:moveTo>
                  <a:pt x="0" y="0"/>
                </a:moveTo>
                <a:lnTo>
                  <a:pt x="6564682" y="0"/>
                </a:lnTo>
                <a:lnTo>
                  <a:pt x="6612257" y="3138"/>
                </a:lnTo>
                <a:lnTo>
                  <a:pt x="6658613" y="12400"/>
                </a:lnTo>
                <a:lnTo>
                  <a:pt x="6703190" y="27550"/>
                </a:lnTo>
                <a:lnTo>
                  <a:pt x="6745423" y="48357"/>
                </a:lnTo>
                <a:lnTo>
                  <a:pt x="6784751" y="74588"/>
                </a:lnTo>
                <a:lnTo>
                  <a:pt x="6820611" y="106009"/>
                </a:lnTo>
                <a:lnTo>
                  <a:pt x="6852032" y="141869"/>
                </a:lnTo>
                <a:lnTo>
                  <a:pt x="6878262" y="181196"/>
                </a:lnTo>
                <a:lnTo>
                  <a:pt x="6899069" y="223430"/>
                </a:lnTo>
                <a:lnTo>
                  <a:pt x="6914220" y="268006"/>
                </a:lnTo>
                <a:lnTo>
                  <a:pt x="6923481" y="314363"/>
                </a:lnTo>
                <a:lnTo>
                  <a:pt x="6926620" y="361937"/>
                </a:lnTo>
                <a:lnTo>
                  <a:pt x="6926620" y="3850195"/>
                </a:lnTo>
                <a:lnTo>
                  <a:pt x="6923481" y="3897770"/>
                </a:lnTo>
                <a:lnTo>
                  <a:pt x="6914220" y="3944126"/>
                </a:lnTo>
                <a:lnTo>
                  <a:pt x="6899069" y="3988702"/>
                </a:lnTo>
                <a:lnTo>
                  <a:pt x="6878262" y="4030936"/>
                </a:lnTo>
                <a:lnTo>
                  <a:pt x="6852032" y="4070264"/>
                </a:lnTo>
                <a:lnTo>
                  <a:pt x="6820611" y="4106124"/>
                </a:lnTo>
                <a:lnTo>
                  <a:pt x="6784751" y="4137544"/>
                </a:lnTo>
                <a:lnTo>
                  <a:pt x="6745423" y="4163775"/>
                </a:lnTo>
                <a:lnTo>
                  <a:pt x="6703190" y="4184582"/>
                </a:lnTo>
                <a:lnTo>
                  <a:pt x="6658614" y="4199733"/>
                </a:lnTo>
                <a:lnTo>
                  <a:pt x="6612257" y="4208994"/>
                </a:lnTo>
                <a:lnTo>
                  <a:pt x="6596265" y="4210049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016000" y="863053"/>
            <a:ext cx="38061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028700" y="9248775"/>
              <a:ext cx="1203325" cy="0"/>
            </a:xfrm>
            <a:custGeom>
              <a:avLst/>
              <a:gdLst/>
              <a:ahLst/>
              <a:cxnLst/>
              <a:rect l="l" t="t" r="r" b="b"/>
              <a:pathLst>
                <a:path w="1203325" h="0">
                  <a:moveTo>
                    <a:pt x="0" y="0"/>
                  </a:moveTo>
                  <a:lnTo>
                    <a:pt x="120310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4231682"/>
              <a:ext cx="3543299" cy="26574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45699" y="6856880"/>
              <a:ext cx="7248524" cy="24002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50" b="0">
                <a:solidFill>
                  <a:srgbClr val="FFFFFF"/>
                </a:solidFill>
                <a:latin typeface="Arial Black"/>
                <a:cs typeface="Arial Black"/>
              </a:rPr>
              <a:t>Primer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30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5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0318" y="3313811"/>
            <a:ext cx="114300" cy="11429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2624" y="3132900"/>
            <a:ext cx="842454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Necesita</a:t>
            </a:r>
            <a:r>
              <a:rPr dirty="0" sz="26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existan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atributos</a:t>
            </a:r>
            <a:r>
              <a:rPr dirty="0" sz="26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varios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Lucida Sans Unicode"/>
                <a:cs typeface="Lucida Sans Unicode"/>
              </a:rPr>
              <a:t>valores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32845" y="4508840"/>
            <a:ext cx="15843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5">
                <a:solidFill>
                  <a:srgbClr val="00BE62"/>
                </a:solidFill>
                <a:latin typeface="Verdana"/>
                <a:cs typeface="Verdana"/>
              </a:rPr>
              <a:t>Classroom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967426" y="4508840"/>
            <a:ext cx="10071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tendrá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0098" y="4455386"/>
            <a:ext cx="206692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  <a:tabLst>
                <a:tab pos="661035" algn="l"/>
              </a:tabLst>
            </a:pP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atributo </a:t>
            </a:r>
            <a:r>
              <a:rPr dirty="0" sz="2400" spc="-55">
                <a:solidFill>
                  <a:srgbClr val="FFFFFF"/>
                </a:solidFill>
                <a:latin typeface="Verdana"/>
                <a:cs typeface="Verdana"/>
              </a:rPr>
              <a:t>varios</a:t>
            </a: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Verdana"/>
                <a:cs typeface="Verdana"/>
              </a:rPr>
              <a:t>valores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10098" y="5712686"/>
            <a:ext cx="5164455" cy="863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Esta</a:t>
            </a:r>
            <a:r>
              <a:rPr dirty="0" sz="2400" spc="2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entidad</a:t>
            </a:r>
            <a:r>
              <a:rPr dirty="0" sz="2400" spc="2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no</a:t>
            </a:r>
            <a:r>
              <a:rPr dirty="0" sz="2400" spc="3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está</a:t>
            </a:r>
            <a:r>
              <a:rPr dirty="0" sz="2400" spc="2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en</a:t>
            </a:r>
            <a:r>
              <a:rPr dirty="0" sz="2400" spc="2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el</a:t>
            </a:r>
            <a:r>
              <a:rPr dirty="0" sz="2400" spc="3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0CBFDE"/>
                </a:solidFill>
                <a:latin typeface="Verdana"/>
                <a:cs typeface="Verdana"/>
              </a:rPr>
              <a:t>primer </a:t>
            </a:r>
            <a:r>
              <a:rPr dirty="0" sz="2400" spc="-35">
                <a:solidFill>
                  <a:srgbClr val="0CBFDE"/>
                </a:solidFill>
                <a:latin typeface="Verdana"/>
                <a:cs typeface="Verdana"/>
              </a:rPr>
              <a:t>formato</a:t>
            </a:r>
            <a:r>
              <a:rPr dirty="0" sz="2400" spc="-19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0CBFDE"/>
                </a:solidFill>
                <a:latin typeface="Verdana"/>
                <a:cs typeface="Verdana"/>
              </a:rPr>
              <a:t>normal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027059" y="4591987"/>
            <a:ext cx="6245225" cy="1840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dirty="0" sz="2600" spc="-75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dirty="0" sz="2600" spc="-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atributo</a:t>
            </a:r>
            <a:r>
              <a:rPr dirty="0" sz="2600" spc="-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tiene</a:t>
            </a:r>
            <a:r>
              <a:rPr dirty="0" sz="2600" spc="-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varios</a:t>
            </a:r>
            <a:r>
              <a:rPr dirty="0" sz="2600" spc="-70">
                <a:solidFill>
                  <a:srgbClr val="FFFFFF"/>
                </a:solidFill>
                <a:latin typeface="Verdana"/>
                <a:cs typeface="Verdana"/>
              </a:rPr>
              <a:t>  </a:t>
            </a:r>
            <a:r>
              <a:rPr dirty="0" sz="2600" spc="-40">
                <a:solidFill>
                  <a:srgbClr val="FFFFFF"/>
                </a:solidFill>
                <a:latin typeface="Verdana"/>
                <a:cs typeface="Verdana"/>
              </a:rPr>
              <a:t>valores,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creamos</a:t>
            </a:r>
            <a:r>
              <a:rPr dirty="0" sz="2600" spc="6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una</a:t>
            </a:r>
            <a:r>
              <a:rPr dirty="0" sz="2600" spc="6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entidad</a:t>
            </a:r>
            <a:r>
              <a:rPr dirty="0" sz="2600" spc="6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adicional</a:t>
            </a:r>
            <a:r>
              <a:rPr dirty="0" sz="2600" spc="6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600" spc="6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relacionamos</a:t>
            </a:r>
            <a:r>
              <a:rPr dirty="0" sz="2600" spc="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dirty="0" sz="2600" spc="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dirty="0" sz="2600" spc="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entidad</a:t>
            </a:r>
            <a:r>
              <a:rPr dirty="0" sz="2600" spc="4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Verdana"/>
                <a:cs typeface="Verdana"/>
              </a:rPr>
              <a:t>original </a:t>
            </a:r>
            <a:r>
              <a:rPr dirty="0" sz="2600">
                <a:solidFill>
                  <a:srgbClr val="FFFFFF"/>
                </a:solidFill>
                <a:latin typeface="Verdana"/>
                <a:cs typeface="Verdana"/>
              </a:rPr>
              <a:t>con</a:t>
            </a:r>
            <a:r>
              <a:rPr dirty="0" sz="26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90">
                <a:solidFill>
                  <a:srgbClr val="FFFFFF"/>
                </a:solidFill>
                <a:latin typeface="Verdana"/>
                <a:cs typeface="Verdana"/>
              </a:rPr>
              <a:t>una</a:t>
            </a:r>
            <a:r>
              <a:rPr dirty="0" sz="2600" spc="-2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30">
                <a:solidFill>
                  <a:srgbClr val="FFFFFF"/>
                </a:solidFill>
                <a:latin typeface="Verdana"/>
                <a:cs typeface="Verdana"/>
              </a:rPr>
              <a:t>relación</a:t>
            </a:r>
            <a:r>
              <a:rPr dirty="0" sz="2600" spc="-2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Verdana"/>
                <a:cs typeface="Verdana"/>
              </a:rPr>
              <a:t>1:M</a:t>
            </a:r>
            <a:endParaRPr sz="2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5737" y="4454254"/>
              <a:ext cx="4810124" cy="29717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6200" y="4590424"/>
              <a:ext cx="8020049" cy="26955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50" b="0">
                <a:solidFill>
                  <a:srgbClr val="FFFFFF"/>
                </a:solidFill>
                <a:latin typeface="Arial Black"/>
                <a:cs typeface="Arial Black"/>
              </a:rPr>
              <a:t>Primer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30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5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1394" y="3132900"/>
            <a:ext cx="15309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Ejemplo</a:t>
            </a: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87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3456" y="4396496"/>
              <a:ext cx="3990974" cy="28860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4107562"/>
              <a:ext cx="8486774" cy="35337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50" b="0">
                <a:solidFill>
                  <a:srgbClr val="FFFFFF"/>
                </a:solidFill>
                <a:latin typeface="Arial Black"/>
                <a:cs typeface="Arial Black"/>
              </a:rPr>
              <a:t>Primer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30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5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1394" y="3132900"/>
            <a:ext cx="161544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Ejemplo</a:t>
            </a: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6809" y="3638160"/>
              <a:ext cx="5438774" cy="44005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7401" y="4274565"/>
              <a:ext cx="7591424" cy="26384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250" b="0">
                <a:solidFill>
                  <a:srgbClr val="FFFFFF"/>
                </a:solidFill>
                <a:latin typeface="Arial Black"/>
                <a:cs typeface="Arial Black"/>
              </a:rPr>
              <a:t>Primer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3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30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5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1394" y="3132900"/>
            <a:ext cx="161988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Ejemplo</a:t>
            </a: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Lucida Sans Unicode"/>
                <a:cs typeface="Lucida Sans Unicode"/>
              </a:rPr>
              <a:t>3</a:t>
            </a:r>
            <a:endParaRPr sz="2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028700" y="9248775"/>
              <a:ext cx="1203325" cy="0"/>
            </a:xfrm>
            <a:custGeom>
              <a:avLst/>
              <a:gdLst/>
              <a:ahLst/>
              <a:cxnLst/>
              <a:rect l="l" t="t" r="r" b="b"/>
              <a:pathLst>
                <a:path w="1203325" h="0">
                  <a:moveTo>
                    <a:pt x="0" y="0"/>
                  </a:moveTo>
                  <a:lnTo>
                    <a:pt x="1203104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9249" y="3964687"/>
              <a:ext cx="3495674" cy="42576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160" b="0">
                <a:solidFill>
                  <a:srgbClr val="FFFFFF"/>
                </a:solidFill>
                <a:latin typeface="Arial Black"/>
                <a:cs typeface="Arial Black"/>
              </a:rPr>
              <a:t>Segunda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6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0318" y="3313811"/>
            <a:ext cx="114300" cy="1142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72624" y="3132900"/>
            <a:ext cx="14678025" cy="4685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Necesita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FFFFFF"/>
                </a:solidFill>
                <a:latin typeface="Lucida Sans Unicode"/>
                <a:cs typeface="Lucida Sans Unicode"/>
              </a:rPr>
              <a:t>cualquier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atributo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60">
                <a:solidFill>
                  <a:srgbClr val="FFFFFF"/>
                </a:solidFill>
                <a:latin typeface="Lucida Sans Unicode"/>
                <a:cs typeface="Lucida Sans Unicode"/>
              </a:rPr>
              <a:t>sea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25">
                <a:solidFill>
                  <a:srgbClr val="FFFFFF"/>
                </a:solidFill>
                <a:latin typeface="Lucida Sans Unicode"/>
                <a:cs typeface="Lucida Sans Unicode"/>
              </a:rPr>
              <a:t>ID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>
                <a:solidFill>
                  <a:srgbClr val="FFFFFF"/>
                </a:solidFill>
                <a:latin typeface="Lucida Sans Unicode"/>
                <a:cs typeface="Lucida Sans Unicode"/>
              </a:rPr>
              <a:t>dependa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todo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Lucida Sans Unicode"/>
                <a:cs typeface="Lucida Sans Unicode"/>
              </a:rPr>
              <a:t>ID</a:t>
            </a:r>
            <a:endParaRPr sz="2600">
              <a:latin typeface="Lucida Sans Unicode"/>
              <a:cs typeface="Lucida Sans Unicode"/>
            </a:endParaRPr>
          </a:p>
          <a:p>
            <a:pPr marL="5117465" marR="5080">
              <a:lnSpc>
                <a:spcPct val="114599"/>
              </a:lnSpc>
              <a:spcBef>
                <a:spcPts val="3869"/>
              </a:spcBef>
            </a:pP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dirty="0" sz="24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75">
                <a:solidFill>
                  <a:srgbClr val="FFFFFF"/>
                </a:solidFill>
                <a:latin typeface="Verdana"/>
                <a:cs typeface="Verdana"/>
              </a:rPr>
              <a:t>ID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Verdana"/>
                <a:cs typeface="Verdana"/>
              </a:rPr>
              <a:t>es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75">
                <a:solidFill>
                  <a:srgbClr val="00BE62"/>
                </a:solidFill>
                <a:latin typeface="Verdana"/>
                <a:cs typeface="Verdana"/>
              </a:rPr>
              <a:t>ID</a:t>
            </a:r>
            <a:r>
              <a:rPr dirty="0" sz="2400" spc="-165">
                <a:solidFill>
                  <a:srgbClr val="00BE62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00BE62"/>
                </a:solidFill>
                <a:latin typeface="Verdana"/>
                <a:cs typeface="Verdana"/>
              </a:rPr>
              <a:t>compuesto</a:t>
            </a:r>
            <a:r>
              <a:rPr dirty="0" sz="2400" spc="-165">
                <a:solidFill>
                  <a:srgbClr val="00BE62"/>
                </a:solidFill>
                <a:latin typeface="Verdana"/>
                <a:cs typeface="Verdana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Verdana"/>
                <a:cs typeface="Verdana"/>
              </a:rPr>
              <a:t>que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consta</a:t>
            </a:r>
            <a:r>
              <a:rPr dirty="0" sz="2400" spc="-1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del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Verdana"/>
                <a:cs typeface="Verdana"/>
              </a:rPr>
              <a:t>número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proveedor</a:t>
            </a:r>
            <a:r>
              <a:rPr dirty="0" sz="2400" spc="-1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dirty="0" sz="24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65">
                <a:solidFill>
                  <a:srgbClr val="FFFFFF"/>
                </a:solidFill>
                <a:latin typeface="Verdana"/>
                <a:cs typeface="Verdana"/>
              </a:rPr>
              <a:t>número</a:t>
            </a:r>
            <a:r>
              <a:rPr dirty="0" sz="2400" spc="-2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2400" spc="-229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producto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2400">
              <a:latin typeface="Verdana"/>
              <a:cs typeface="Verdana"/>
            </a:endParaRPr>
          </a:p>
          <a:p>
            <a:pPr marL="5117465" marR="5080">
              <a:lnSpc>
                <a:spcPct val="114599"/>
              </a:lnSpc>
              <a:tabLst>
                <a:tab pos="5622925" algn="l"/>
                <a:tab pos="6235065" algn="l"/>
                <a:tab pos="8017509" algn="l"/>
                <a:tab pos="10074275" algn="l"/>
                <a:tab pos="10491470" algn="l"/>
                <a:tab pos="12255500" algn="l"/>
                <a:tab pos="14004290" algn="l"/>
                <a:tab pos="14495144" algn="l"/>
              </a:tabLst>
            </a:pP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un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proveedor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proporciona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productos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diferentes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y,</a:t>
            </a: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	</a:t>
            </a:r>
            <a:r>
              <a:rPr dirty="0" sz="2400" spc="-145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dirty="0" sz="2400" spc="-40">
                <a:solidFill>
                  <a:srgbClr val="FFFFFF"/>
                </a:solidFill>
                <a:latin typeface="Verdana"/>
                <a:cs typeface="Verdana"/>
              </a:rPr>
              <a:t>continuación,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Verdana"/>
                <a:cs typeface="Verdana"/>
              </a:rPr>
              <a:t>se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Verdana"/>
                <a:cs typeface="Verdana"/>
              </a:rPr>
              <a:t>crean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3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instancias</a:t>
            </a:r>
            <a:r>
              <a:rPr dirty="0" sz="2400" spc="-2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distintas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400">
              <a:latin typeface="Verdana"/>
              <a:cs typeface="Verdana"/>
            </a:endParaRPr>
          </a:p>
          <a:p>
            <a:pPr marL="5117465">
              <a:lnSpc>
                <a:spcPct val="100000"/>
              </a:lnSpc>
              <a:spcBef>
                <a:spcPts val="5"/>
              </a:spcBef>
            </a:pPr>
            <a:r>
              <a:rPr dirty="0" sz="2400" spc="-65">
                <a:solidFill>
                  <a:srgbClr val="FFFFFF"/>
                </a:solidFill>
                <a:latin typeface="Verdana"/>
                <a:cs typeface="Verdana"/>
              </a:rPr>
              <a:t>¿Qué</a:t>
            </a:r>
            <a:r>
              <a:rPr dirty="0" sz="24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Verdana"/>
                <a:cs typeface="Verdana"/>
              </a:rPr>
              <a:t>sucede</a:t>
            </a: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Verdana"/>
                <a:cs typeface="Verdana"/>
              </a:rPr>
              <a:t>si</a:t>
            </a:r>
            <a:r>
              <a:rPr dirty="0" sz="24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nombre</a:t>
            </a: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dirty="0" sz="2400" spc="-2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Verdana"/>
                <a:cs typeface="Verdana"/>
              </a:rPr>
              <a:t>proveedor</a:t>
            </a:r>
            <a:r>
              <a:rPr dirty="0" sz="2400" spc="-2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cambia?</a:t>
            </a:r>
            <a:endParaRPr sz="2400">
              <a:latin typeface="Verdana"/>
              <a:cs typeface="Verdana"/>
            </a:endParaRPr>
          </a:p>
          <a:p>
            <a:pPr marL="5117465" marR="5080">
              <a:lnSpc>
                <a:spcPct val="114599"/>
              </a:lnSpc>
            </a:pP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El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0CBFDE"/>
                </a:solidFill>
                <a:latin typeface="Verdana"/>
                <a:cs typeface="Verdana"/>
              </a:rPr>
              <a:t>nombre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de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proveedor</a:t>
            </a:r>
            <a:r>
              <a:rPr dirty="0" sz="2400" spc="-8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se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tendrá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que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 spc="-20">
                <a:solidFill>
                  <a:srgbClr val="0CBFDE"/>
                </a:solidFill>
                <a:latin typeface="Verdana"/>
                <a:cs typeface="Verdana"/>
              </a:rPr>
              <a:t>cambiar</a:t>
            </a:r>
            <a:r>
              <a:rPr dirty="0" sz="2400" spc="-85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en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0CBFDE"/>
                </a:solidFill>
                <a:latin typeface="Verdana"/>
                <a:cs typeface="Verdana"/>
              </a:rPr>
              <a:t>5</a:t>
            </a:r>
            <a:r>
              <a:rPr dirty="0" sz="2400" spc="-90">
                <a:solidFill>
                  <a:srgbClr val="0CBFDE"/>
                </a:solidFill>
                <a:latin typeface="Verdana"/>
                <a:cs typeface="Verdana"/>
              </a:rPr>
              <a:t> </a:t>
            </a:r>
            <a:r>
              <a:rPr dirty="0" sz="2400" spc="-10">
                <a:solidFill>
                  <a:srgbClr val="0CBFDE"/>
                </a:solidFill>
                <a:latin typeface="Verdana"/>
                <a:cs typeface="Verdana"/>
              </a:rPr>
              <a:t>instancias distintas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4640" y="4274448"/>
              <a:ext cx="3495674" cy="425767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6523" y="4650418"/>
              <a:ext cx="10296523" cy="34194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160" b="0">
                <a:solidFill>
                  <a:srgbClr val="FFFFFF"/>
                </a:solidFill>
                <a:latin typeface="Arial Black"/>
                <a:cs typeface="Arial Black"/>
              </a:rPr>
              <a:t>Segunda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204" b="0">
                <a:solidFill>
                  <a:srgbClr val="FFFFFF"/>
                </a:solidFill>
                <a:latin typeface="Arial Black"/>
                <a:cs typeface="Arial Black"/>
              </a:rPr>
              <a:t>Forma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170" b="0">
                <a:solidFill>
                  <a:srgbClr val="FFFFFF"/>
                </a:solidFill>
                <a:latin typeface="Arial Black"/>
                <a:cs typeface="Arial Black"/>
              </a:rPr>
              <a:t>Normal</a:t>
            </a:r>
            <a:r>
              <a:rPr dirty="0" sz="8000" spc="-925" b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8000" spc="-560" b="0">
                <a:solidFill>
                  <a:srgbClr val="FFFFFF"/>
                </a:solidFill>
                <a:latin typeface="Arial Black"/>
                <a:cs typeface="Arial Black"/>
              </a:rPr>
              <a:t>(1NF)</a:t>
            </a:r>
            <a:endParaRPr sz="8000">
              <a:latin typeface="Arial Black"/>
              <a:cs typeface="Arial Black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0318" y="3313811"/>
            <a:ext cx="114300" cy="1142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472624" y="3132900"/>
            <a:ext cx="1131760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70">
                <a:solidFill>
                  <a:srgbClr val="FFFFFF"/>
                </a:solidFill>
                <a:latin typeface="Lucida Sans Unicode"/>
                <a:cs typeface="Lucida Sans Unicode"/>
              </a:rPr>
              <a:t>Necesita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60">
                <a:solidFill>
                  <a:srgbClr val="FFFFFF"/>
                </a:solidFill>
                <a:latin typeface="Lucida Sans Unicode"/>
                <a:cs typeface="Lucida Sans Unicode"/>
              </a:rPr>
              <a:t>cualquier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atributo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00">
                <a:solidFill>
                  <a:srgbClr val="FFFFFF"/>
                </a:solidFill>
                <a:latin typeface="Lucida Sans Unicode"/>
                <a:cs typeface="Lucida Sans Unicode"/>
              </a:rPr>
              <a:t>que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60">
                <a:solidFill>
                  <a:srgbClr val="FFFFFF"/>
                </a:solidFill>
                <a:latin typeface="Lucida Sans Unicode"/>
                <a:cs typeface="Lucida Sans Unicode"/>
              </a:rPr>
              <a:t>sea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25">
                <a:solidFill>
                  <a:srgbClr val="FFFFFF"/>
                </a:solidFill>
                <a:latin typeface="Lucida Sans Unicode"/>
                <a:cs typeface="Lucida Sans Unicode"/>
              </a:rPr>
              <a:t>ID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40">
                <a:solidFill>
                  <a:srgbClr val="FFFFFF"/>
                </a:solidFill>
                <a:latin typeface="Lucida Sans Unicode"/>
                <a:cs typeface="Lucida Sans Unicode"/>
              </a:rPr>
              <a:t>dependa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13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todo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el</a:t>
            </a:r>
            <a:r>
              <a:rPr dirty="0" sz="26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Lucida Sans Unicode"/>
                <a:cs typeface="Lucida Sans Unicode"/>
              </a:rPr>
              <a:t>ID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16000" y="694118"/>
            <a:ext cx="3664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>
                <a:solidFill>
                  <a:srgbClr val="FFFFFF"/>
                </a:solidFill>
                <a:latin typeface="Arial Black"/>
                <a:cs typeface="Arial Black"/>
              </a:rPr>
              <a:t>Sistemas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120">
                <a:solidFill>
                  <a:srgbClr val="FFFFFF"/>
                </a:solidFill>
                <a:latin typeface="Arial Black"/>
                <a:cs typeface="Arial Black"/>
              </a:rPr>
              <a:t>Base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80">
                <a:solidFill>
                  <a:srgbClr val="FFFFFF"/>
                </a:solidFill>
                <a:latin typeface="Arial Black"/>
                <a:cs typeface="Arial Black"/>
              </a:rPr>
              <a:t>Datos</a:t>
            </a:r>
            <a:r>
              <a:rPr dirty="0" sz="2000" spc="-2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000" spc="-64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1684" rIns="0" bIns="0" rtlCol="0" vert="horz">
            <a:spAutoFit/>
          </a:bodyPr>
          <a:lstStyle/>
          <a:p>
            <a:pPr marL="4850130">
              <a:lnSpc>
                <a:spcPct val="100000"/>
              </a:lnSpc>
              <a:spcBef>
                <a:spcPts val="100"/>
              </a:spcBef>
            </a:pPr>
            <a:r>
              <a:rPr dirty="0" spc="2425"/>
              <a:t>LEALTAD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249755" y="5106887"/>
            <a:ext cx="12520930" cy="113474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345"/>
              </a:spcBef>
            </a:pP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LA</a:t>
            </a:r>
            <a:r>
              <a:rPr dirty="0" sz="2500" spc="-254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65">
                <a:solidFill>
                  <a:srgbClr val="121316"/>
                </a:solidFill>
                <a:latin typeface="Verdana"/>
                <a:cs typeface="Verdana"/>
              </a:rPr>
              <a:t>LEALTAD</a:t>
            </a:r>
            <a:r>
              <a:rPr dirty="0" sz="2500" spc="-32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85">
                <a:solidFill>
                  <a:srgbClr val="121316"/>
                </a:solidFill>
                <a:latin typeface="Verdana"/>
                <a:cs typeface="Verdana"/>
              </a:rPr>
              <a:t>SE</a:t>
            </a:r>
            <a:r>
              <a:rPr dirty="0" sz="2500" spc="-3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TRADUCE</a:t>
            </a:r>
            <a:r>
              <a:rPr dirty="0" sz="2500" spc="-19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25">
                <a:solidFill>
                  <a:srgbClr val="121316"/>
                </a:solidFill>
                <a:latin typeface="Verdana"/>
                <a:cs typeface="Verdana"/>
              </a:rPr>
              <a:t>EN</a:t>
            </a:r>
            <a:r>
              <a:rPr dirty="0" sz="25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45">
                <a:solidFill>
                  <a:srgbClr val="121316"/>
                </a:solidFill>
                <a:latin typeface="Verdana"/>
                <a:cs typeface="Verdana"/>
              </a:rPr>
              <a:t>GARANTIZAR</a:t>
            </a:r>
            <a:r>
              <a:rPr dirty="0" sz="2500" spc="-29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35">
                <a:solidFill>
                  <a:srgbClr val="121316"/>
                </a:solidFill>
                <a:latin typeface="Verdana"/>
                <a:cs typeface="Verdana"/>
              </a:rPr>
              <a:t>QUE,</a:t>
            </a:r>
            <a:r>
              <a:rPr dirty="0" sz="2500" spc="-22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UNA</a:t>
            </a:r>
            <a:r>
              <a:rPr dirty="0" sz="2500" spc="-31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100">
                <a:solidFill>
                  <a:srgbClr val="121316"/>
                </a:solidFill>
                <a:latin typeface="Verdana"/>
                <a:cs typeface="Verdana"/>
              </a:rPr>
              <a:t>VEZ</a:t>
            </a:r>
            <a:r>
              <a:rPr dirty="0" sz="2500" spc="-254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ACEPTADA</a:t>
            </a:r>
            <a:r>
              <a:rPr dirty="0" sz="2500" spc="-36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40">
                <a:solidFill>
                  <a:srgbClr val="121316"/>
                </a:solidFill>
                <a:latin typeface="Verdana"/>
                <a:cs typeface="Verdana"/>
              </a:rPr>
              <a:t>Y </a:t>
            </a:r>
            <a:r>
              <a:rPr dirty="0" sz="2500" spc="50">
                <a:solidFill>
                  <a:srgbClr val="121316"/>
                </a:solidFill>
                <a:latin typeface="Verdana"/>
                <a:cs typeface="Verdana"/>
              </a:rPr>
              <a:t>COMPROMETIDA</a:t>
            </a:r>
            <a:r>
              <a:rPr dirty="0" sz="2500" spc="-29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UNA</a:t>
            </a:r>
            <a:r>
              <a:rPr dirty="0" sz="2500" spc="-3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OPERACIÓN</a:t>
            </a:r>
            <a:r>
              <a:rPr dirty="0" sz="2500" spc="-27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155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500" spc="-30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UN</a:t>
            </a:r>
            <a:r>
              <a:rPr dirty="0" sz="2500" spc="-20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100">
                <a:solidFill>
                  <a:srgbClr val="121316"/>
                </a:solidFill>
                <a:latin typeface="Verdana"/>
                <a:cs typeface="Verdana"/>
              </a:rPr>
              <a:t>DISEÑO,</a:t>
            </a:r>
            <a:r>
              <a:rPr dirty="0" sz="2500" spc="-20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30">
                <a:solidFill>
                  <a:srgbClr val="121316"/>
                </a:solidFill>
                <a:latin typeface="Verdana"/>
                <a:cs typeface="Verdana"/>
              </a:rPr>
              <a:t>EL</a:t>
            </a:r>
            <a:r>
              <a:rPr dirty="0" sz="2500" spc="-32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65">
                <a:solidFill>
                  <a:srgbClr val="121316"/>
                </a:solidFill>
                <a:latin typeface="Verdana"/>
                <a:cs typeface="Verdana"/>
              </a:rPr>
              <a:t>SISTEMA</a:t>
            </a:r>
            <a:r>
              <a:rPr dirty="0" sz="2500" spc="-3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90">
                <a:solidFill>
                  <a:srgbClr val="121316"/>
                </a:solidFill>
                <a:latin typeface="Verdana"/>
                <a:cs typeface="Verdana"/>
              </a:rPr>
              <a:t>Y</a:t>
            </a:r>
            <a:r>
              <a:rPr dirty="0" sz="2500" spc="-31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45">
                <a:solidFill>
                  <a:srgbClr val="121316"/>
                </a:solidFill>
                <a:latin typeface="Verdana"/>
                <a:cs typeface="Verdana"/>
              </a:rPr>
              <a:t>LAS</a:t>
            </a:r>
            <a:r>
              <a:rPr dirty="0" sz="2500" spc="-2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10">
                <a:solidFill>
                  <a:srgbClr val="121316"/>
                </a:solidFill>
                <a:latin typeface="Verdana"/>
                <a:cs typeface="Verdana"/>
              </a:rPr>
              <a:t>POLÍTICAS </a:t>
            </a:r>
            <a:r>
              <a:rPr dirty="0" sz="2500" spc="-30">
                <a:solidFill>
                  <a:srgbClr val="121316"/>
                </a:solidFill>
                <a:latin typeface="Verdana"/>
                <a:cs typeface="Verdana"/>
              </a:rPr>
              <a:t>ASOCIADAS</a:t>
            </a:r>
            <a:r>
              <a:rPr dirty="0" sz="2500" spc="-2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85">
                <a:solidFill>
                  <a:srgbClr val="121316"/>
                </a:solidFill>
                <a:latin typeface="Verdana"/>
                <a:cs typeface="Verdana"/>
              </a:rPr>
              <a:t>SE</a:t>
            </a:r>
            <a:r>
              <a:rPr dirty="0" sz="2500" spc="-16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MANTENGAN</a:t>
            </a:r>
            <a:r>
              <a:rPr dirty="0" sz="2500" spc="-17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105">
                <a:solidFill>
                  <a:srgbClr val="121316"/>
                </a:solidFill>
                <a:latin typeface="Verdana"/>
                <a:cs typeface="Verdana"/>
              </a:rPr>
              <a:t>FIELES</a:t>
            </a:r>
            <a:r>
              <a:rPr dirty="0" sz="2500" spc="-28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5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75">
                <a:solidFill>
                  <a:srgbClr val="121316"/>
                </a:solidFill>
                <a:latin typeface="Verdana"/>
                <a:cs typeface="Verdana"/>
              </a:rPr>
              <a:t>ESA</a:t>
            </a:r>
            <a:r>
              <a:rPr dirty="0" sz="2500" spc="-22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PROMESA</a:t>
            </a:r>
            <a:r>
              <a:rPr dirty="0" sz="2500" spc="-29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500" spc="-22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121316"/>
                </a:solidFill>
                <a:latin typeface="Verdana"/>
                <a:cs typeface="Verdana"/>
              </a:rPr>
              <a:t>LO</a:t>
            </a:r>
            <a:r>
              <a:rPr dirty="0" sz="2500" spc="-25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55">
                <a:solidFill>
                  <a:srgbClr val="121316"/>
                </a:solidFill>
                <a:latin typeface="Verdana"/>
                <a:cs typeface="Verdana"/>
              </a:rPr>
              <a:t>LARGO</a:t>
            </a:r>
            <a:r>
              <a:rPr dirty="0" sz="2500" spc="-24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30">
                <a:solidFill>
                  <a:srgbClr val="121316"/>
                </a:solidFill>
                <a:latin typeface="Verdana"/>
                <a:cs typeface="Verdana"/>
              </a:rPr>
              <a:t>DEL</a:t>
            </a:r>
            <a:r>
              <a:rPr dirty="0" sz="2500" spc="-39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500" spc="-10">
                <a:solidFill>
                  <a:srgbClr val="121316"/>
                </a:solidFill>
                <a:latin typeface="Verdana"/>
                <a:cs typeface="Verdana"/>
              </a:rPr>
              <a:t>TIEMPO.</a:t>
            </a:r>
            <a:endParaRPr sz="2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5095" y="3273312"/>
            <a:ext cx="8684260" cy="1755139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ts val="6300"/>
              </a:lnSpc>
              <a:spcBef>
                <a:spcPts val="1160"/>
              </a:spcBef>
              <a:tabLst>
                <a:tab pos="1878330" algn="l"/>
                <a:tab pos="6186805" algn="l"/>
              </a:tabLst>
            </a:pPr>
            <a:r>
              <a:rPr dirty="0" sz="6100" spc="1720"/>
              <a:t>¡GRACIAS</a:t>
            </a:r>
            <a:r>
              <a:rPr dirty="0" sz="6100"/>
              <a:t>	</a:t>
            </a:r>
            <a:r>
              <a:rPr dirty="0" sz="6100" spc="2070"/>
              <a:t>POR </a:t>
            </a:r>
            <a:r>
              <a:rPr dirty="0" sz="6100" spc="1555"/>
              <a:t>SU</a:t>
            </a:r>
            <a:r>
              <a:rPr dirty="0" sz="6100"/>
              <a:t>	</a:t>
            </a:r>
            <a:r>
              <a:rPr dirty="0" sz="6100" spc="1830"/>
              <a:t>ATENCIÓN!</a:t>
            </a:r>
            <a:endParaRPr sz="6100"/>
          </a:p>
        </p:txBody>
      </p:sp>
      <p:sp>
        <p:nvSpPr>
          <p:cNvPr id="3" name="object 3" descr=""/>
          <p:cNvSpPr txBox="1"/>
          <p:nvPr/>
        </p:nvSpPr>
        <p:spPr>
          <a:xfrm>
            <a:off x="7320100" y="6040716"/>
            <a:ext cx="289433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85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5000" spc="-59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5000" spc="-45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5000" spc="-58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5000" spc="-85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5000" spc="-58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5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5000" spc="-58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5000" spc="-5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endParaRPr sz="500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63750" y="1028700"/>
            <a:ext cx="2752724" cy="377189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144022" y="7845111"/>
            <a:ext cx="11999595" cy="76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7700" marR="5080" indent="-635635">
              <a:lnSpc>
                <a:spcPct val="121900"/>
              </a:lnSpc>
              <a:spcBef>
                <a:spcPts val="100"/>
              </a:spcBef>
              <a:tabLst>
                <a:tab pos="2018664" algn="l"/>
                <a:tab pos="2868930" algn="l"/>
                <a:tab pos="2913380" algn="l"/>
                <a:tab pos="4672330" algn="l"/>
                <a:tab pos="5074285" algn="l"/>
                <a:tab pos="6179185" algn="l"/>
                <a:tab pos="6448425" algn="l"/>
                <a:tab pos="7029450" algn="l"/>
                <a:tab pos="7547609" algn="l"/>
                <a:tab pos="7582534" algn="l"/>
                <a:tab pos="8818880" algn="l"/>
                <a:tab pos="9318625" algn="l"/>
                <a:tab pos="9404350" algn="l"/>
                <a:tab pos="9962515" algn="l"/>
                <a:tab pos="10680700" algn="l"/>
              </a:tabLst>
            </a:pPr>
            <a:r>
              <a:rPr dirty="0" sz="2000" spc="-35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220">
                <a:solidFill>
                  <a:srgbClr val="121316"/>
                </a:solidFill>
                <a:latin typeface="Verdana"/>
                <a:cs typeface="Verdana"/>
              </a:rPr>
              <a:t>C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Q</a:t>
            </a:r>
            <a:r>
              <a:rPr dirty="0" sz="2000" spc="-24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T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135">
                <a:solidFill>
                  <a:srgbClr val="121316"/>
                </a:solidFill>
                <a:latin typeface="Verdana"/>
                <a:cs typeface="Verdana"/>
              </a:rPr>
              <a:t>M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N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T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4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F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4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9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135">
                <a:solidFill>
                  <a:srgbClr val="121316"/>
                </a:solidFill>
                <a:latin typeface="Verdana"/>
                <a:cs typeface="Verdana"/>
              </a:rPr>
              <a:t>M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L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70">
                <a:solidFill>
                  <a:srgbClr val="121316"/>
                </a:solidFill>
                <a:latin typeface="Verdana"/>
                <a:cs typeface="Verdana"/>
              </a:rPr>
              <a:t>P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S </a:t>
            </a:r>
            <a:r>
              <a:rPr dirty="0" sz="2000" spc="220">
                <a:solidFill>
                  <a:srgbClr val="121316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O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9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L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T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	</a:t>
            </a:r>
            <a:r>
              <a:rPr dirty="0" sz="2000" spc="220">
                <a:solidFill>
                  <a:srgbClr val="121316"/>
                </a:solidFill>
                <a:latin typeface="Verdana"/>
                <a:cs typeface="Verdana"/>
              </a:rPr>
              <a:t>C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L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Q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60">
                <a:solidFill>
                  <a:srgbClr val="121316"/>
                </a:solidFill>
                <a:latin typeface="Verdana"/>
                <a:cs typeface="Verdana"/>
              </a:rPr>
              <a:t>I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40">
                <a:solidFill>
                  <a:srgbClr val="121316"/>
                </a:solidFill>
                <a:latin typeface="Verdana"/>
                <a:cs typeface="Verdana"/>
              </a:rPr>
              <a:t>D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90">
                <a:solidFill>
                  <a:srgbClr val="121316"/>
                </a:solidFill>
                <a:latin typeface="Verdana"/>
                <a:cs typeface="Verdana"/>
              </a:rPr>
              <a:t>Q</a:t>
            </a:r>
            <a:r>
              <a:rPr dirty="0" sz="2000" spc="-24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T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	</a:t>
            </a:r>
            <a:r>
              <a:rPr dirty="0" sz="2000" spc="-9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 spc="-22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121316"/>
                </a:solidFill>
                <a:latin typeface="Verdana"/>
                <a:cs typeface="Verdana"/>
              </a:rPr>
              <a:t>U</a:t>
            </a:r>
            <a:r>
              <a:rPr dirty="0" sz="2000" spc="-22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35">
                <a:solidFill>
                  <a:srgbClr val="121316"/>
                </a:solidFill>
                <a:latin typeface="Verdana"/>
                <a:cs typeface="Verdana"/>
              </a:rPr>
              <a:t>R</a:t>
            </a:r>
            <a:r>
              <a:rPr dirty="0" sz="2000" spc="-22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J</a:t>
            </a:r>
            <a:r>
              <a:rPr dirty="0" sz="2000" spc="-22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	L</a:t>
            </a:r>
            <a:r>
              <a:rPr dirty="0" sz="2000" spc="-240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	</a:t>
            </a:r>
            <a:r>
              <a:rPr dirty="0" sz="2000" spc="-90">
                <a:solidFill>
                  <a:srgbClr val="121316"/>
                </a:solidFill>
                <a:latin typeface="Verdana"/>
                <a:cs typeface="Verdana"/>
              </a:rPr>
              <a:t>S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70">
                <a:solidFill>
                  <a:srgbClr val="121316"/>
                </a:solidFill>
                <a:latin typeface="Verdana"/>
                <a:cs typeface="Verdana"/>
              </a:rPr>
              <a:t>E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135">
                <a:solidFill>
                  <a:srgbClr val="121316"/>
                </a:solidFill>
                <a:latin typeface="Verdana"/>
                <a:cs typeface="Verdana"/>
              </a:rPr>
              <a:t>M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r>
              <a:rPr dirty="0" sz="2000" spc="-229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121316"/>
                </a:solidFill>
                <a:latin typeface="Verdana"/>
                <a:cs typeface="Verdana"/>
              </a:rPr>
              <a:t>N</a:t>
            </a:r>
            <a:r>
              <a:rPr dirty="0" sz="2000" spc="-235">
                <a:solidFill>
                  <a:srgbClr val="121316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121316"/>
                </a:solidFill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Fernando Ibarra</dc:creator>
  <cp:keywords>DAGoamgBY90,BADZNoIwwTA,0</cp:keywords>
  <dc:title>Semana 3 Parte 1</dc:title>
  <dcterms:created xsi:type="dcterms:W3CDTF">2025-06-01T17:49:20Z</dcterms:created>
  <dcterms:modified xsi:type="dcterms:W3CDTF">2025-06-01T17:49:20Z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2025-05-26T00:00:00Z</vt:filetime>
  </property>
  <property fmtid="{D5CDD505-2E9C-101B-9397-08002B2CF9AE}" pid="3" name="Creator">
    <vt:lpwstr>Canva</vt:lpwstr>
  </property>
  <property fmtid="{D5CDD505-2E9C-101B-9397-08002B2CF9AE}" pid="4" name="LastSaved">
    <vt:filetime>2025-06-01T00:00:00Z</vt:filetime>
  </property>
  <property fmtid="{D5CDD505-2E9C-101B-9397-08002B2CF9AE}" pid="5" name="Producer">
    <vt:lpwstr>Canva</vt:lpwstr>
  </property>
</Properties>
</file>