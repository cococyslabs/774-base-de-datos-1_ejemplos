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jpg" ContentType="image/jpg"/>
  <Default Extension="png" ContentType="image/png"/>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9144000" cy="6858000"/>
  <p:notesSz cx="9144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19:11:14</a:t>
            </a:r>
          </a:p>
          <a:p>
            <a:r>
              <a:t>--------------------------------------------</a:t>
            </a:r>
          </a:p>
          <a:p>
            <a:r>
              <a:t>Esta vista en línea busca el salario más alto para cada departamento y, a continuación, la consulta muestra el nombre del empleado con ese salario.</a:t>
            </a:r>
          </a:p>
          <a:p>
            <a:r>
              <a:t>Una vista en línea debe tener un alias (en este ejemplo, "d") ya que funciona como un nombre de tabla en la cláusula FROM y "SELECT department_id, max(salary) …" no es un nombre de tabla válido.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19:11:15</a:t>
            </a:r>
          </a:p>
          <a:p>
            <a:r>
              <a:t>--------------------------------------------</a:t>
            </a:r>
          </a:p>
          <a:p>
            <a:r>
              <a:t>Sin embargo, los resultados de esta consulta no son lo que espera. El motivo es que la cláusula ORDER BY ejecute siempre se ejecuta la última, por lo que las filas se ordenan después de que se les asigne un número. La siguiente diapositiva muestra cómo resolver este problema.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2020-08-14 19:11:15</a:t>
            </a:r>
          </a:p>
          <a:p>
            <a:r>
              <a:t>--------------------------------------------</a:t>
            </a:r>
          </a:p>
          <a:p>
            <a:r>
              <a:t>Mediante una vista en línea, la cláusula ORDER BY se realiza antes de que se agregue ROWNUM.</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15-</a:t>
            </a:r>
            <a:r>
              <a:rPr dirty="0" spc="-50"/>
              <a:t>3</a:t>
            </a:r>
          </a:p>
          <a:p>
            <a:pPr marL="12700">
              <a:lnSpc>
                <a:spcPts val="965"/>
              </a:lnSpc>
            </a:pPr>
            <a:r>
              <a:rPr dirty="0"/>
              <a:t>Gestión</a:t>
            </a:r>
            <a:r>
              <a:rPr dirty="0" spc="-20"/>
              <a:t> </a:t>
            </a:r>
            <a:r>
              <a:rPr dirty="0"/>
              <a:t>de</a:t>
            </a:r>
            <a:r>
              <a:rPr dirty="0" spc="-35"/>
              <a:t> </a:t>
            </a:r>
            <a:r>
              <a:rPr dirty="0" spc="-10"/>
              <a:t>Vistas</a:t>
            </a:r>
          </a:p>
        </p:txBody>
      </p:sp>
      <p:sp>
        <p:nvSpPr>
          <p:cNvPr id="6" name="Holder 6"/>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p:txBody>
          <a:bodyPr lIns="0" tIns="0" rIns="0" bIns="0"/>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15-</a:t>
            </a:r>
            <a:r>
              <a:rPr dirty="0" spc="-50"/>
              <a:t>3</a:t>
            </a:r>
          </a:p>
          <a:p>
            <a:pPr marL="12700">
              <a:lnSpc>
                <a:spcPts val="965"/>
              </a:lnSpc>
            </a:pPr>
            <a:r>
              <a:rPr dirty="0"/>
              <a:t>Gestión</a:t>
            </a:r>
            <a:r>
              <a:rPr dirty="0" spc="-20"/>
              <a:t> </a:t>
            </a:r>
            <a:r>
              <a:rPr dirty="0"/>
              <a:t>de</a:t>
            </a:r>
            <a:r>
              <a:rPr dirty="0" spc="-35"/>
              <a:t> </a:t>
            </a:r>
            <a:r>
              <a:rPr dirty="0" spc="-10"/>
              <a:t>Vistas</a:t>
            </a:r>
          </a:p>
        </p:txBody>
      </p:sp>
      <p:sp>
        <p:nvSpPr>
          <p:cNvPr id="6" name="Holder 6"/>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idx="2" sz="half"/>
          </p:nvPr>
        </p:nvSpPr>
        <p:spPr>
          <a:xfrm>
            <a:off x="457200" y="1577340"/>
            <a:ext cx="397764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Holder 6"/>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15-</a:t>
            </a:r>
            <a:r>
              <a:rPr dirty="0" spc="-50"/>
              <a:t>3</a:t>
            </a:r>
          </a:p>
          <a:p>
            <a:pPr marL="12700">
              <a:lnSpc>
                <a:spcPts val="965"/>
              </a:lnSpc>
            </a:pPr>
            <a:r>
              <a:rPr dirty="0"/>
              <a:t>Gestión</a:t>
            </a:r>
            <a:r>
              <a:rPr dirty="0" spc="-20"/>
              <a:t> </a:t>
            </a:r>
            <a:r>
              <a:rPr dirty="0"/>
              <a:t>de</a:t>
            </a:r>
            <a:r>
              <a:rPr dirty="0" spc="-35"/>
              <a:t> </a:t>
            </a:r>
            <a:r>
              <a:rPr dirty="0" spc="-10"/>
              <a:t>Vistas</a:t>
            </a:r>
          </a:p>
        </p:txBody>
      </p:sp>
      <p:sp>
        <p:nvSpPr>
          <p:cNvPr id="7" name="Holder 7"/>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4" name="Holder 4"/>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15-</a:t>
            </a:r>
            <a:r>
              <a:rPr dirty="0" spc="-50"/>
              <a:t>3</a:t>
            </a:r>
          </a:p>
          <a:p>
            <a:pPr marL="12700">
              <a:lnSpc>
                <a:spcPts val="965"/>
              </a:lnSpc>
            </a:pPr>
            <a:r>
              <a:rPr dirty="0"/>
              <a:t>Gestión</a:t>
            </a:r>
            <a:r>
              <a:rPr dirty="0" spc="-20"/>
              <a:t> </a:t>
            </a:r>
            <a:r>
              <a:rPr dirty="0"/>
              <a:t>de</a:t>
            </a:r>
            <a:r>
              <a:rPr dirty="0" spc="-35"/>
              <a:t> </a:t>
            </a:r>
            <a:r>
              <a:rPr dirty="0" spc="-10"/>
              <a:t>Vistas</a:t>
            </a:r>
          </a:p>
        </p:txBody>
      </p:sp>
      <p:sp>
        <p:nvSpPr>
          <p:cNvPr id="5" name="Holder 5"/>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Holder 3"/>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10"/>
              <a:t> </a:t>
            </a:r>
            <a:r>
              <a:rPr dirty="0"/>
              <a:t>15-</a:t>
            </a:r>
            <a:r>
              <a:rPr dirty="0" spc="-50"/>
              <a:t>3</a:t>
            </a:r>
          </a:p>
          <a:p>
            <a:pPr marL="12700">
              <a:lnSpc>
                <a:spcPts val="965"/>
              </a:lnSpc>
            </a:pPr>
            <a:r>
              <a:rPr dirty="0"/>
              <a:t>Gestión</a:t>
            </a:r>
            <a:r>
              <a:rPr dirty="0" spc="-20"/>
              <a:t> </a:t>
            </a:r>
            <a:r>
              <a:rPr dirty="0"/>
              <a:t>de</a:t>
            </a:r>
            <a:r>
              <a:rPr dirty="0" spc="-35"/>
              <a:t> </a:t>
            </a:r>
            <a:r>
              <a:rPr dirty="0" spc="-10"/>
              <a:t>Vistas</a:t>
            </a:r>
          </a:p>
        </p:txBody>
      </p:sp>
      <p:sp>
        <p:nvSpPr>
          <p:cNvPr id="4" name="Holder 4"/>
          <p:cNvSpPr>
            <a:spLocks noGrp="1"/>
          </p:cNvSpPr>
          <p:nvPr>
            <p:ph type="sldNum" idx="7" sz="quarter"/>
          </p:nvPr>
        </p:nvSpPr>
        <p:spPr/>
        <p:txBody>
          <a:bodyPr lIns="0" tIns="0" rIns="0" bIns="0"/>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pic>
        <p:nvPicPr>
          <p:cNvPr id="17" name="bg object 17"/>
          <p:cNvPicPr/>
          <p:nvPr/>
        </p:nvPicPr>
        <p:blipFill>
          <a:blip r:embed="rId7" cstate="print"/>
          <a:stretch>
            <a:fillRect/>
          </a:stretch>
        </p:blipFill>
        <p:spPr>
          <a:xfrm>
            <a:off x="0" y="0"/>
            <a:ext cx="9144000" cy="254507"/>
          </a:xfrm>
          <a:prstGeom prst="rect">
            <a:avLst/>
          </a:prstGeom>
        </p:spPr>
      </p:pic>
      <p:pic>
        <p:nvPicPr>
          <p:cNvPr id="18" name="bg object 18"/>
          <p:cNvPicPr/>
          <p:nvPr/>
        </p:nvPicPr>
        <p:blipFill>
          <a:blip r:embed="rId8" cstate="print"/>
          <a:stretch>
            <a:fillRect/>
          </a:stretch>
        </p:blipFill>
        <p:spPr>
          <a:xfrm>
            <a:off x="405384" y="6178295"/>
            <a:ext cx="1258824" cy="420624"/>
          </a:xfrm>
          <a:prstGeom prst="rect">
            <a:avLst/>
          </a:prstGeom>
        </p:spPr>
      </p:pic>
      <p:sp>
        <p:nvSpPr>
          <p:cNvPr id="2" name="Holder 2"/>
          <p:cNvSpPr>
            <a:spLocks noGrp="1"/>
          </p:cNvSpPr>
          <p:nvPr>
            <p:ph type="title"/>
          </p:nvPr>
        </p:nvSpPr>
        <p:spPr>
          <a:xfrm>
            <a:off x="392112" y="748031"/>
            <a:ext cx="4717415" cy="528319"/>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a:xfrm>
            <a:off x="483552" y="1415417"/>
            <a:ext cx="7969250" cy="2576195"/>
          </a:xfrm>
          <a:prstGeom prst="rect">
            <a:avLst/>
          </a:prstGeom>
        </p:spPr>
        <p:txBody>
          <a:bodyPr wrap="square" lIns="0" tIns="0" rIns="0" bIns="0">
            <a:spAutoFit/>
          </a:bodyPr>
          <a:lstStyle>
            <a:lvl1pPr>
              <a:defRPr sz="2800" b="0" i="0">
                <a:solidFill>
                  <a:srgbClr val="4E3629"/>
                </a:solidFill>
                <a:latin typeface="Calibri"/>
                <a:cs typeface="Calibri"/>
              </a:defRPr>
            </a:lvl1pPr>
          </a:lstStyle>
          <a:p/>
        </p:txBody>
      </p:sp>
      <p:sp>
        <p:nvSpPr>
          <p:cNvPr id="4" name="Holder 4"/>
          <p:cNvSpPr>
            <a:spLocks noGrp="1"/>
          </p:cNvSpPr>
          <p:nvPr>
            <p:ph type="ftr" idx="5" sz="quarter"/>
          </p:nvPr>
        </p:nvSpPr>
        <p:spPr>
          <a:xfrm>
            <a:off x="5172119" y="6589648"/>
            <a:ext cx="3222625" cy="13398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a:xfrm>
            <a:off x="2874191" y="6516395"/>
            <a:ext cx="784225" cy="24955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855"/>
              </a:lnSpc>
            </a:pPr>
            <a:r>
              <a:rPr dirty="0"/>
              <a:t>DP</a:t>
            </a:r>
            <a:r>
              <a:rPr dirty="0" spc="-10"/>
              <a:t> </a:t>
            </a:r>
            <a:r>
              <a:rPr dirty="0"/>
              <a:t>15-</a:t>
            </a:r>
            <a:r>
              <a:rPr dirty="0" spc="-50"/>
              <a:t>3</a:t>
            </a:r>
          </a:p>
          <a:p>
            <a:pPr marL="12700">
              <a:lnSpc>
                <a:spcPts val="965"/>
              </a:lnSpc>
            </a:pPr>
            <a:r>
              <a:rPr dirty="0"/>
              <a:t>Gestión</a:t>
            </a:r>
            <a:r>
              <a:rPr dirty="0" spc="-20"/>
              <a:t> </a:t>
            </a:r>
            <a:r>
              <a:rPr dirty="0"/>
              <a:t>de</a:t>
            </a:r>
            <a:r>
              <a:rPr dirty="0" spc="-35"/>
              <a:t> </a:t>
            </a:r>
            <a:r>
              <a:rPr dirty="0" spc="-10"/>
              <a:t>Vistas</a:t>
            </a:r>
          </a:p>
        </p:txBody>
      </p:sp>
      <p:sp>
        <p:nvSpPr>
          <p:cNvPr id="6" name="Holder 6"/>
          <p:cNvSpPr>
            <a:spLocks noGrp="1"/>
          </p:cNvSpPr>
          <p:nvPr>
            <p:ph type="sldNum" idx="7" sz="quarter"/>
          </p:nvPr>
        </p:nvSpPr>
        <p:spPr>
          <a:xfrm>
            <a:off x="8725090" y="6567768"/>
            <a:ext cx="179070" cy="152400"/>
          </a:xfrm>
          <a:prstGeom prst="rect">
            <a:avLst/>
          </a:prstGeom>
        </p:spPr>
        <p:txBody>
          <a:bodyPr wrap="square" lIns="0" tIns="0" rIns="0" bIns="0">
            <a:spAutoFit/>
          </a:bodyPr>
          <a:lstStyle>
            <a:lvl1pPr>
              <a:defRPr sz="1000" b="1" i="0">
                <a:solidFill>
                  <a:srgbClr val="4E3629"/>
                </a:solidFill>
                <a:latin typeface="Calibri"/>
                <a:cs typeface="Calibri"/>
              </a:defRPr>
            </a:lvl1pPr>
          </a:lstStyle>
          <a:p>
            <a:pPr marL="38100">
              <a:lnSpc>
                <a:spcPts val="1045"/>
              </a:lnSpc>
            </a:pPr>
            <a:fld id="{81D60167-4931-47E6-BA6A-407CBD079E47}" type="slidenum">
              <a:rPr dirty="0" spc="-25"/>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1.xml"/><Relationship Id="rId6" Type="http://schemas.openxmlformats.org/officeDocument/2006/relationships/slide" Target="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2.xml"/><Relationship Id="rId4"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slide" Target="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slide" Target="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slide" Target="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slide" Target="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slide" Target="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slide" Target="slide9.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0" y="0"/>
            <a:ext cx="9144000" cy="6858000"/>
            <a:chOff x="0" y="0"/>
            <a:chExt cx="9144000" cy="6858000"/>
          </a:xfrm>
        </p:grpSpPr>
        <p:pic>
          <p:nvPicPr>
            <p:cNvPr id="3" name="object 3" descr=""/>
            <p:cNvPicPr/>
            <p:nvPr/>
          </p:nvPicPr>
          <p:blipFill>
            <a:blip r:embed="rId2" cstate="print"/>
            <a:stretch>
              <a:fillRect/>
            </a:stretch>
          </p:blipFill>
          <p:spPr>
            <a:xfrm>
              <a:off x="0" y="0"/>
              <a:ext cx="9144000" cy="6858000"/>
            </a:xfrm>
            <a:prstGeom prst="rect">
              <a:avLst/>
            </a:prstGeom>
          </p:spPr>
        </p:pic>
        <p:sp>
          <p:nvSpPr>
            <p:cNvPr id="4" name="object 4" descr=""/>
            <p:cNvSpPr/>
            <p:nvPr/>
          </p:nvSpPr>
          <p:spPr>
            <a:xfrm>
              <a:off x="560831" y="702563"/>
              <a:ext cx="8022590" cy="5453380"/>
            </a:xfrm>
            <a:custGeom>
              <a:avLst/>
              <a:gdLst/>
              <a:ahLst/>
              <a:cxnLst/>
              <a:rect l="l" t="t" r="r" b="b"/>
              <a:pathLst>
                <a:path w="8022590" h="5453380">
                  <a:moveTo>
                    <a:pt x="8022335" y="0"/>
                  </a:moveTo>
                  <a:lnTo>
                    <a:pt x="0" y="0"/>
                  </a:lnTo>
                  <a:lnTo>
                    <a:pt x="0" y="5452872"/>
                  </a:lnTo>
                  <a:lnTo>
                    <a:pt x="8022335" y="5452872"/>
                  </a:lnTo>
                  <a:lnTo>
                    <a:pt x="8022335" y="0"/>
                  </a:lnTo>
                  <a:close/>
                </a:path>
              </a:pathLst>
            </a:custGeom>
            <a:solidFill>
              <a:srgbClr val="E0E2E1"/>
            </a:solidFill>
          </p:spPr>
          <p:txBody>
            <a:bodyPr wrap="square" lIns="0" tIns="0" rIns="0" bIns="0" rtlCol="0"/>
            <a:lstStyle/>
            <a:p/>
          </p:txBody>
        </p:sp>
        <p:pic>
          <p:nvPicPr>
            <p:cNvPr id="5" name="object 5" descr=""/>
            <p:cNvPicPr/>
            <p:nvPr/>
          </p:nvPicPr>
          <p:blipFill>
            <a:blip r:embed="rId3" cstate="print"/>
            <a:stretch>
              <a:fillRect/>
            </a:stretch>
          </p:blipFill>
          <p:spPr>
            <a:xfrm>
              <a:off x="970787" y="5570219"/>
              <a:ext cx="1258824" cy="420623"/>
            </a:xfrm>
            <a:prstGeom prst="rect">
              <a:avLst/>
            </a:prstGeom>
          </p:spPr>
        </p:pic>
      </p:grpSp>
      <p:sp>
        <p:nvSpPr>
          <p:cNvPr id="6" name="object 6" descr=""/>
          <p:cNvSpPr txBox="1"/>
          <p:nvPr/>
        </p:nvSpPr>
        <p:spPr>
          <a:xfrm>
            <a:off x="5057819" y="6562597"/>
            <a:ext cx="3222625" cy="155575"/>
          </a:xfrm>
          <a:prstGeom prst="rect">
            <a:avLst/>
          </a:prstGeom>
        </p:spPr>
        <p:txBody>
          <a:bodyPr wrap="square" lIns="0" tIns="12700" rIns="0" bIns="0" rtlCol="0" vert="horz">
            <a:spAutoFit/>
          </a:bodyPr>
          <a:lstStyle/>
          <a:p>
            <a:pPr marL="12700">
              <a:lnSpc>
                <a:spcPct val="100000"/>
              </a:lnSpc>
              <a:spcBef>
                <a:spcPts val="100"/>
              </a:spcBef>
            </a:pPr>
            <a:r>
              <a:rPr dirty="0" sz="850">
                <a:solidFill>
                  <a:srgbClr val="FDF0D9"/>
                </a:solidFill>
                <a:latin typeface="Calibri"/>
                <a:cs typeface="Calibri"/>
              </a:rPr>
              <a:t>Copyright</a:t>
            </a:r>
            <a:r>
              <a:rPr dirty="0" sz="850" spc="-35">
                <a:solidFill>
                  <a:srgbClr val="FDF0D9"/>
                </a:solidFill>
                <a:latin typeface="Calibri"/>
                <a:cs typeface="Calibri"/>
              </a:rPr>
              <a:t> </a:t>
            </a:r>
            <a:r>
              <a:rPr dirty="0" sz="850">
                <a:solidFill>
                  <a:srgbClr val="FDF0D9"/>
                </a:solidFill>
                <a:latin typeface="Calibri"/>
                <a:cs typeface="Calibri"/>
              </a:rPr>
              <a:t>©</a:t>
            </a:r>
            <a:r>
              <a:rPr dirty="0" sz="850" spc="-40">
                <a:solidFill>
                  <a:srgbClr val="FDF0D9"/>
                </a:solidFill>
                <a:latin typeface="Calibri"/>
                <a:cs typeface="Calibri"/>
              </a:rPr>
              <a:t> </a:t>
            </a:r>
            <a:r>
              <a:rPr dirty="0" sz="850">
                <a:solidFill>
                  <a:srgbClr val="FDF0D9"/>
                </a:solidFill>
                <a:latin typeface="Calibri"/>
                <a:cs typeface="Calibri"/>
              </a:rPr>
              <a:t>2020,</a:t>
            </a:r>
            <a:r>
              <a:rPr dirty="0" sz="850" spc="-45">
                <a:solidFill>
                  <a:srgbClr val="FDF0D9"/>
                </a:solidFill>
                <a:latin typeface="Calibri"/>
                <a:cs typeface="Calibri"/>
              </a:rPr>
              <a:t> </a:t>
            </a:r>
            <a:r>
              <a:rPr dirty="0" sz="850">
                <a:solidFill>
                  <a:srgbClr val="FDF0D9"/>
                </a:solidFill>
                <a:latin typeface="Calibri"/>
                <a:cs typeface="Calibri"/>
              </a:rPr>
              <a:t>Oracle</a:t>
            </a:r>
            <a:r>
              <a:rPr dirty="0" sz="850" spc="-30">
                <a:solidFill>
                  <a:srgbClr val="FDF0D9"/>
                </a:solidFill>
                <a:latin typeface="Calibri"/>
                <a:cs typeface="Calibri"/>
              </a:rPr>
              <a:t> </a:t>
            </a:r>
            <a:r>
              <a:rPr dirty="0" sz="850">
                <a:solidFill>
                  <a:srgbClr val="FDF0D9"/>
                </a:solidFill>
                <a:latin typeface="Calibri"/>
                <a:cs typeface="Calibri"/>
              </a:rPr>
              <a:t>y/o</a:t>
            </a:r>
            <a:r>
              <a:rPr dirty="0" sz="850" spc="-30">
                <a:solidFill>
                  <a:srgbClr val="FDF0D9"/>
                </a:solidFill>
                <a:latin typeface="Calibri"/>
                <a:cs typeface="Calibri"/>
              </a:rPr>
              <a:t> </a:t>
            </a:r>
            <a:r>
              <a:rPr dirty="0" sz="850">
                <a:solidFill>
                  <a:srgbClr val="FDF0D9"/>
                </a:solidFill>
                <a:latin typeface="Calibri"/>
                <a:cs typeface="Calibri"/>
              </a:rPr>
              <a:t>sus</a:t>
            </a:r>
            <a:r>
              <a:rPr dirty="0" sz="850" spc="-35">
                <a:solidFill>
                  <a:srgbClr val="FDF0D9"/>
                </a:solidFill>
                <a:latin typeface="Calibri"/>
                <a:cs typeface="Calibri"/>
              </a:rPr>
              <a:t> </a:t>
            </a:r>
            <a:r>
              <a:rPr dirty="0" sz="850">
                <a:solidFill>
                  <a:srgbClr val="FDF0D9"/>
                </a:solidFill>
                <a:latin typeface="Calibri"/>
                <a:cs typeface="Calibri"/>
              </a:rPr>
              <a:t>filiales.</a:t>
            </a:r>
            <a:r>
              <a:rPr dirty="0" sz="850" spc="-10">
                <a:solidFill>
                  <a:srgbClr val="FDF0D9"/>
                </a:solidFill>
                <a:latin typeface="Calibri"/>
                <a:cs typeface="Calibri"/>
              </a:rPr>
              <a:t> </a:t>
            </a:r>
            <a:r>
              <a:rPr dirty="0" sz="850">
                <a:solidFill>
                  <a:srgbClr val="FDF0D9"/>
                </a:solidFill>
                <a:latin typeface="Calibri"/>
                <a:cs typeface="Calibri"/>
              </a:rPr>
              <a:t>Todos</a:t>
            </a:r>
            <a:r>
              <a:rPr dirty="0" sz="850" spc="-35">
                <a:solidFill>
                  <a:srgbClr val="FDF0D9"/>
                </a:solidFill>
                <a:latin typeface="Calibri"/>
                <a:cs typeface="Calibri"/>
              </a:rPr>
              <a:t> </a:t>
            </a:r>
            <a:r>
              <a:rPr dirty="0" sz="850">
                <a:solidFill>
                  <a:srgbClr val="FDF0D9"/>
                </a:solidFill>
                <a:latin typeface="Calibri"/>
                <a:cs typeface="Calibri"/>
              </a:rPr>
              <a:t>los</a:t>
            </a:r>
            <a:r>
              <a:rPr dirty="0" sz="850" spc="-25">
                <a:solidFill>
                  <a:srgbClr val="FDF0D9"/>
                </a:solidFill>
                <a:latin typeface="Calibri"/>
                <a:cs typeface="Calibri"/>
              </a:rPr>
              <a:t> </a:t>
            </a:r>
            <a:r>
              <a:rPr dirty="0" sz="850">
                <a:solidFill>
                  <a:srgbClr val="FDF0D9"/>
                </a:solidFill>
                <a:latin typeface="Calibri"/>
                <a:cs typeface="Calibri"/>
              </a:rPr>
              <a:t>derechos</a:t>
            </a:r>
            <a:r>
              <a:rPr dirty="0" sz="850" spc="-5">
                <a:solidFill>
                  <a:srgbClr val="FDF0D9"/>
                </a:solidFill>
                <a:latin typeface="Calibri"/>
                <a:cs typeface="Calibri"/>
              </a:rPr>
              <a:t> </a:t>
            </a:r>
            <a:r>
              <a:rPr dirty="0" sz="850" spc="-10">
                <a:solidFill>
                  <a:srgbClr val="FDF0D9"/>
                </a:solidFill>
                <a:latin typeface="Calibri"/>
                <a:cs typeface="Calibri"/>
              </a:rPr>
              <a:t>reservados.</a:t>
            </a:r>
            <a:endParaRPr sz="850">
              <a:latin typeface="Calibri"/>
              <a:cs typeface="Calibri"/>
            </a:endParaRPr>
          </a:p>
        </p:txBody>
      </p:sp>
      <p:sp>
        <p:nvSpPr>
          <p:cNvPr id="7" name="object 7"/>
          <p:cNvSpPr txBox="1">
            <a:spLocks noGrp="1"/>
          </p:cNvSpPr>
          <p:nvPr>
            <p:ph type="title"/>
          </p:nvPr>
        </p:nvSpPr>
        <p:spPr>
          <a:xfrm>
            <a:off x="958315" y="862895"/>
            <a:ext cx="7047865" cy="1342390"/>
          </a:xfrm>
          <a:prstGeom prst="rect"/>
        </p:spPr>
        <p:txBody>
          <a:bodyPr wrap="square" lIns="0" tIns="153670" rIns="0" bIns="0" rtlCol="0" vert="horz">
            <a:spAutoFit/>
          </a:bodyPr>
          <a:lstStyle/>
          <a:p>
            <a:pPr marL="12700" marR="5080">
              <a:lnSpc>
                <a:spcPts val="4610"/>
              </a:lnSpc>
              <a:spcBef>
                <a:spcPts val="1210"/>
              </a:spcBef>
            </a:pPr>
            <a:r>
              <a:rPr dirty="0" sz="4800"/>
              <a:t>Database</a:t>
            </a:r>
            <a:r>
              <a:rPr dirty="0" sz="4800" spc="-190"/>
              <a:t> </a:t>
            </a:r>
            <a:r>
              <a:rPr dirty="0" sz="4800" spc="-20"/>
              <a:t>Programming</a:t>
            </a:r>
            <a:r>
              <a:rPr dirty="0" sz="4800" spc="-185"/>
              <a:t> </a:t>
            </a:r>
            <a:r>
              <a:rPr dirty="0" sz="4800" spc="-20"/>
              <a:t>with </a:t>
            </a:r>
            <a:r>
              <a:rPr dirty="0" sz="4800" spc="-25"/>
              <a:t>SQL</a:t>
            </a:r>
            <a:endParaRPr sz="4800"/>
          </a:p>
        </p:txBody>
      </p:sp>
      <p:sp>
        <p:nvSpPr>
          <p:cNvPr id="8" name="object 8" descr=""/>
          <p:cNvSpPr txBox="1"/>
          <p:nvPr/>
        </p:nvSpPr>
        <p:spPr>
          <a:xfrm>
            <a:off x="962879" y="2400950"/>
            <a:ext cx="2201545" cy="888365"/>
          </a:xfrm>
          <a:prstGeom prst="rect">
            <a:avLst/>
          </a:prstGeom>
        </p:spPr>
        <p:txBody>
          <a:bodyPr wrap="square" lIns="0" tIns="78105" rIns="0" bIns="0" rtlCol="0" vert="horz">
            <a:spAutoFit/>
          </a:bodyPr>
          <a:lstStyle/>
          <a:p>
            <a:pPr marL="12700">
              <a:lnSpc>
                <a:spcPct val="100000"/>
              </a:lnSpc>
              <a:spcBef>
                <a:spcPts val="615"/>
              </a:spcBef>
            </a:pPr>
            <a:r>
              <a:rPr dirty="0" sz="2400" spc="-10" b="1">
                <a:solidFill>
                  <a:srgbClr val="4E3629"/>
                </a:solidFill>
                <a:latin typeface="Calibri"/>
                <a:cs typeface="Calibri"/>
              </a:rPr>
              <a:t>15-</a:t>
            </a:r>
            <a:r>
              <a:rPr dirty="0" sz="2400" spc="-50" b="1">
                <a:solidFill>
                  <a:srgbClr val="4E3629"/>
                </a:solidFill>
                <a:latin typeface="Calibri"/>
                <a:cs typeface="Calibri"/>
              </a:rPr>
              <a:t>3</a:t>
            </a:r>
            <a:endParaRPr sz="2400">
              <a:latin typeface="Calibri"/>
              <a:cs typeface="Calibri"/>
            </a:endParaRPr>
          </a:p>
          <a:p>
            <a:pPr marL="12700">
              <a:lnSpc>
                <a:spcPct val="100000"/>
              </a:lnSpc>
              <a:spcBef>
                <a:spcPts val="515"/>
              </a:spcBef>
            </a:pPr>
            <a:r>
              <a:rPr dirty="0" sz="2400" b="1">
                <a:solidFill>
                  <a:srgbClr val="4E3629"/>
                </a:solidFill>
                <a:latin typeface="Calibri"/>
                <a:cs typeface="Calibri"/>
              </a:rPr>
              <a:t>Gestión</a:t>
            </a:r>
            <a:r>
              <a:rPr dirty="0" sz="2400" spc="-60" b="1">
                <a:solidFill>
                  <a:srgbClr val="4E3629"/>
                </a:solidFill>
                <a:latin typeface="Calibri"/>
                <a:cs typeface="Calibri"/>
              </a:rPr>
              <a:t> </a:t>
            </a:r>
            <a:r>
              <a:rPr dirty="0" sz="2400" b="1">
                <a:solidFill>
                  <a:srgbClr val="4E3629"/>
                </a:solidFill>
                <a:latin typeface="Calibri"/>
                <a:cs typeface="Calibri"/>
              </a:rPr>
              <a:t>de</a:t>
            </a:r>
            <a:r>
              <a:rPr dirty="0" sz="2400" spc="-50" b="1">
                <a:solidFill>
                  <a:srgbClr val="4E3629"/>
                </a:solidFill>
                <a:latin typeface="Calibri"/>
                <a:cs typeface="Calibri"/>
              </a:rPr>
              <a:t> </a:t>
            </a:r>
            <a:r>
              <a:rPr dirty="0" sz="2400" spc="-10" b="1">
                <a:solidFill>
                  <a:srgbClr val="4E3629"/>
                </a:solidFill>
                <a:latin typeface="Calibri"/>
                <a:cs typeface="Calibri"/>
              </a:rPr>
              <a:t>Vistas</a:t>
            </a:r>
            <a:endParaRPr sz="2400">
              <a:latin typeface="Calibri"/>
              <a:cs typeface="Calibri"/>
            </a:endParaRPr>
          </a:p>
        </p:txBody>
      </p:sp>
      <p:pic>
        <p:nvPicPr>
          <p:cNvPr id="9" name="object 9" descr=""/>
          <p:cNvPicPr/>
          <p:nvPr/>
        </p:nvPicPr>
        <p:blipFill>
          <a:blip r:embed="rId4" cstate="print"/>
          <a:stretch>
            <a:fillRect/>
          </a:stretch>
        </p:blipFill>
        <p:spPr>
          <a:xfrm>
            <a:off x="4904232" y="2598420"/>
            <a:ext cx="3867912" cy="389686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Supresión</a:t>
            </a:r>
            <a:r>
              <a:rPr dirty="0" spc="-60"/>
              <a:t> </a:t>
            </a:r>
            <a:r>
              <a:rPr dirty="0"/>
              <a:t>de</a:t>
            </a:r>
            <a:r>
              <a:rPr dirty="0" spc="-65"/>
              <a:t> </a:t>
            </a:r>
            <a:r>
              <a:rPr dirty="0"/>
              <a:t>una</a:t>
            </a:r>
            <a:r>
              <a:rPr dirty="0" spc="-65"/>
              <a:t> </a:t>
            </a:r>
            <a:r>
              <a:rPr dirty="0" spc="-10"/>
              <a:t>Vista</a:t>
            </a:r>
          </a:p>
        </p:txBody>
      </p:sp>
      <p:sp>
        <p:nvSpPr>
          <p:cNvPr id="3" name="object 3" descr=""/>
          <p:cNvSpPr txBox="1"/>
          <p:nvPr/>
        </p:nvSpPr>
        <p:spPr>
          <a:xfrm>
            <a:off x="483552" y="1415417"/>
            <a:ext cx="8091170" cy="3344545"/>
          </a:xfrm>
          <a:prstGeom prst="rect">
            <a:avLst/>
          </a:prstGeom>
        </p:spPr>
        <p:txBody>
          <a:bodyPr wrap="square" lIns="0" tIns="59690" rIns="0" bIns="0" rtlCol="0" vert="horz">
            <a:spAutoFit/>
          </a:bodyPr>
          <a:lstStyle/>
          <a:p>
            <a:pPr marL="182880" marR="57213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Puesto</a:t>
            </a:r>
            <a:r>
              <a:rPr dirty="0" sz="2800" spc="-75">
                <a:solidFill>
                  <a:srgbClr val="4E3629"/>
                </a:solidFill>
                <a:latin typeface="Calibri"/>
                <a:cs typeface="Calibri"/>
              </a:rPr>
              <a:t> </a:t>
            </a:r>
            <a:r>
              <a:rPr dirty="0" sz="2800">
                <a:solidFill>
                  <a:srgbClr val="4E3629"/>
                </a:solidFill>
                <a:latin typeface="Calibri"/>
                <a:cs typeface="Calibri"/>
              </a:rPr>
              <a:t>que</a:t>
            </a:r>
            <a:r>
              <a:rPr dirty="0" sz="2800" spc="-70">
                <a:solidFill>
                  <a:srgbClr val="4E3629"/>
                </a:solidFill>
                <a:latin typeface="Calibri"/>
                <a:cs typeface="Calibri"/>
              </a:rPr>
              <a:t> </a:t>
            </a:r>
            <a:r>
              <a:rPr dirty="0" sz="2800">
                <a:solidFill>
                  <a:srgbClr val="4E3629"/>
                </a:solidFill>
                <a:latin typeface="Calibri"/>
                <a:cs typeface="Calibri"/>
              </a:rPr>
              <a:t>una</a:t>
            </a:r>
            <a:r>
              <a:rPr dirty="0" sz="2800" spc="-75">
                <a:solidFill>
                  <a:srgbClr val="4E3629"/>
                </a:solidFill>
                <a:latin typeface="Calibri"/>
                <a:cs typeface="Calibri"/>
              </a:rPr>
              <a:t> </a:t>
            </a:r>
            <a:r>
              <a:rPr dirty="0" sz="2800">
                <a:solidFill>
                  <a:srgbClr val="4E3629"/>
                </a:solidFill>
                <a:latin typeface="Calibri"/>
                <a:cs typeface="Calibri"/>
              </a:rPr>
              <a:t>vista</a:t>
            </a:r>
            <a:r>
              <a:rPr dirty="0" sz="2800" spc="-65">
                <a:solidFill>
                  <a:srgbClr val="4E3629"/>
                </a:solidFill>
                <a:latin typeface="Calibri"/>
                <a:cs typeface="Calibri"/>
              </a:rPr>
              <a:t> </a:t>
            </a:r>
            <a:r>
              <a:rPr dirty="0" sz="2800">
                <a:solidFill>
                  <a:srgbClr val="4E3629"/>
                </a:solidFill>
                <a:latin typeface="Calibri"/>
                <a:cs typeface="Calibri"/>
              </a:rPr>
              <a:t>no</a:t>
            </a:r>
            <a:r>
              <a:rPr dirty="0" sz="2800" spc="-80">
                <a:solidFill>
                  <a:srgbClr val="4E3629"/>
                </a:solidFill>
                <a:latin typeface="Calibri"/>
                <a:cs typeface="Calibri"/>
              </a:rPr>
              <a:t> </a:t>
            </a:r>
            <a:r>
              <a:rPr dirty="0" sz="2800">
                <a:solidFill>
                  <a:srgbClr val="4E3629"/>
                </a:solidFill>
                <a:latin typeface="Calibri"/>
                <a:cs typeface="Calibri"/>
              </a:rPr>
              <a:t>contiene</a:t>
            </a:r>
            <a:r>
              <a:rPr dirty="0" sz="2800" spc="-80">
                <a:solidFill>
                  <a:srgbClr val="4E3629"/>
                </a:solidFill>
                <a:latin typeface="Calibri"/>
                <a:cs typeface="Calibri"/>
              </a:rPr>
              <a:t> </a:t>
            </a:r>
            <a:r>
              <a:rPr dirty="0" sz="2800">
                <a:solidFill>
                  <a:srgbClr val="4E3629"/>
                </a:solidFill>
                <a:latin typeface="Calibri"/>
                <a:cs typeface="Calibri"/>
              </a:rPr>
              <a:t>datos</a:t>
            </a:r>
            <a:r>
              <a:rPr dirty="0" sz="2800" spc="-80">
                <a:solidFill>
                  <a:srgbClr val="4E3629"/>
                </a:solidFill>
                <a:latin typeface="Calibri"/>
                <a:cs typeface="Calibri"/>
              </a:rPr>
              <a:t> </a:t>
            </a:r>
            <a:r>
              <a:rPr dirty="0" sz="2800">
                <a:solidFill>
                  <a:srgbClr val="4E3629"/>
                </a:solidFill>
                <a:latin typeface="Calibri"/>
                <a:cs typeface="Calibri"/>
              </a:rPr>
              <a:t>propios,</a:t>
            </a:r>
            <a:r>
              <a:rPr dirty="0" sz="2800" spc="-65">
                <a:solidFill>
                  <a:srgbClr val="4E3629"/>
                </a:solidFill>
                <a:latin typeface="Calibri"/>
                <a:cs typeface="Calibri"/>
              </a:rPr>
              <a:t> </a:t>
            </a:r>
            <a:r>
              <a:rPr dirty="0" sz="2800" spc="-25">
                <a:solidFill>
                  <a:srgbClr val="4E3629"/>
                </a:solidFill>
                <a:latin typeface="Calibri"/>
                <a:cs typeface="Calibri"/>
              </a:rPr>
              <a:t>su </a:t>
            </a:r>
            <a:r>
              <a:rPr dirty="0" sz="2800" spc="-25">
                <a:solidFill>
                  <a:srgbClr val="4E3629"/>
                </a:solidFill>
                <a:latin typeface="Calibri"/>
                <a:cs typeface="Calibri"/>
              </a:rPr>
              <a:t>	</a:t>
            </a:r>
            <a:r>
              <a:rPr dirty="0" sz="2800">
                <a:solidFill>
                  <a:srgbClr val="4E3629"/>
                </a:solidFill>
                <a:latin typeface="Calibri"/>
                <a:cs typeface="Calibri"/>
              </a:rPr>
              <a:t>eliminación</a:t>
            </a:r>
            <a:r>
              <a:rPr dirty="0" sz="2800" spc="-35">
                <a:solidFill>
                  <a:srgbClr val="4E3629"/>
                </a:solidFill>
                <a:latin typeface="Calibri"/>
                <a:cs typeface="Calibri"/>
              </a:rPr>
              <a:t> </a:t>
            </a:r>
            <a:r>
              <a:rPr dirty="0" sz="2800">
                <a:solidFill>
                  <a:srgbClr val="4E3629"/>
                </a:solidFill>
                <a:latin typeface="Calibri"/>
                <a:cs typeface="Calibri"/>
              </a:rPr>
              <a:t>no</a:t>
            </a:r>
            <a:r>
              <a:rPr dirty="0" sz="2800" spc="-40">
                <a:solidFill>
                  <a:srgbClr val="4E3629"/>
                </a:solidFill>
                <a:latin typeface="Calibri"/>
                <a:cs typeface="Calibri"/>
              </a:rPr>
              <a:t> </a:t>
            </a:r>
            <a:r>
              <a:rPr dirty="0" sz="2800" spc="-10">
                <a:solidFill>
                  <a:srgbClr val="4E3629"/>
                </a:solidFill>
                <a:latin typeface="Calibri"/>
                <a:cs typeface="Calibri"/>
              </a:rPr>
              <a:t>afecta</a:t>
            </a:r>
            <a:r>
              <a:rPr dirty="0" sz="2800" spc="-75">
                <a:solidFill>
                  <a:srgbClr val="4E3629"/>
                </a:solidFill>
                <a:latin typeface="Calibri"/>
                <a:cs typeface="Calibri"/>
              </a:rPr>
              <a:t> </a:t>
            </a:r>
            <a:r>
              <a:rPr dirty="0" sz="2800">
                <a:solidFill>
                  <a:srgbClr val="4E3629"/>
                </a:solidFill>
                <a:latin typeface="Calibri"/>
                <a:cs typeface="Calibri"/>
              </a:rPr>
              <a:t>a</a:t>
            </a:r>
            <a:r>
              <a:rPr dirty="0" sz="2800" spc="-45">
                <a:solidFill>
                  <a:srgbClr val="4E3629"/>
                </a:solidFill>
                <a:latin typeface="Calibri"/>
                <a:cs typeface="Calibri"/>
              </a:rPr>
              <a:t> </a:t>
            </a:r>
            <a:r>
              <a:rPr dirty="0" sz="2800">
                <a:solidFill>
                  <a:srgbClr val="4E3629"/>
                </a:solidFill>
                <a:latin typeface="Calibri"/>
                <a:cs typeface="Calibri"/>
              </a:rPr>
              <a:t>los</a:t>
            </a:r>
            <a:r>
              <a:rPr dirty="0" sz="2800" spc="-45">
                <a:solidFill>
                  <a:srgbClr val="4E3629"/>
                </a:solidFill>
                <a:latin typeface="Calibri"/>
                <a:cs typeface="Calibri"/>
              </a:rPr>
              <a:t> </a:t>
            </a:r>
            <a:r>
              <a:rPr dirty="0" sz="2800">
                <a:solidFill>
                  <a:srgbClr val="4E3629"/>
                </a:solidFill>
                <a:latin typeface="Calibri"/>
                <a:cs typeface="Calibri"/>
              </a:rPr>
              <a:t>datos</a:t>
            </a:r>
            <a:r>
              <a:rPr dirty="0" sz="2800" spc="-4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las</a:t>
            </a:r>
            <a:r>
              <a:rPr dirty="0" sz="2800" spc="-40">
                <a:solidFill>
                  <a:srgbClr val="4E3629"/>
                </a:solidFill>
                <a:latin typeface="Calibri"/>
                <a:cs typeface="Calibri"/>
              </a:rPr>
              <a:t> </a:t>
            </a:r>
            <a:r>
              <a:rPr dirty="0" sz="2800" spc="-10">
                <a:solidFill>
                  <a:srgbClr val="4E3629"/>
                </a:solidFill>
                <a:latin typeface="Calibri"/>
                <a:cs typeface="Calibri"/>
              </a:rPr>
              <a:t>tablas 	subyacentes</a:t>
            </a:r>
            <a:endParaRPr sz="2800">
              <a:latin typeface="Calibri"/>
              <a:cs typeface="Calibri"/>
            </a:endParaRPr>
          </a:p>
          <a:p>
            <a:pPr marL="182880" marR="5080"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Si</a:t>
            </a:r>
            <a:r>
              <a:rPr dirty="0" sz="2800" spc="-65">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vista</a:t>
            </a:r>
            <a:r>
              <a:rPr dirty="0" sz="2800" spc="-55">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a:solidFill>
                  <a:srgbClr val="4E3629"/>
                </a:solidFill>
                <a:latin typeface="Calibri"/>
                <a:cs typeface="Calibri"/>
              </a:rPr>
              <a:t>ha</a:t>
            </a:r>
            <a:r>
              <a:rPr dirty="0" sz="2800" spc="-65">
                <a:solidFill>
                  <a:srgbClr val="4E3629"/>
                </a:solidFill>
                <a:latin typeface="Calibri"/>
                <a:cs typeface="Calibri"/>
              </a:rPr>
              <a:t> </a:t>
            </a:r>
            <a:r>
              <a:rPr dirty="0" sz="2800">
                <a:solidFill>
                  <a:srgbClr val="4E3629"/>
                </a:solidFill>
                <a:latin typeface="Calibri"/>
                <a:cs typeface="Calibri"/>
              </a:rPr>
              <a:t>utilizado</a:t>
            </a:r>
            <a:r>
              <a:rPr dirty="0" sz="2800" spc="-45">
                <a:solidFill>
                  <a:srgbClr val="4E3629"/>
                </a:solidFill>
                <a:latin typeface="Calibri"/>
                <a:cs typeface="Calibri"/>
              </a:rPr>
              <a:t> </a:t>
            </a:r>
            <a:r>
              <a:rPr dirty="0" sz="2800">
                <a:solidFill>
                  <a:srgbClr val="4E3629"/>
                </a:solidFill>
                <a:latin typeface="Calibri"/>
                <a:cs typeface="Calibri"/>
              </a:rPr>
              <a:t>para</a:t>
            </a:r>
            <a:r>
              <a:rPr dirty="0" sz="2800" spc="-65">
                <a:solidFill>
                  <a:srgbClr val="4E3629"/>
                </a:solidFill>
                <a:latin typeface="Calibri"/>
                <a:cs typeface="Calibri"/>
              </a:rPr>
              <a:t> </a:t>
            </a:r>
            <a:r>
              <a:rPr dirty="0" sz="2800" spc="-25">
                <a:solidFill>
                  <a:srgbClr val="4E3629"/>
                </a:solidFill>
                <a:latin typeface="Calibri"/>
                <a:cs typeface="Calibri"/>
              </a:rPr>
              <a:t>INSERTAR,</a:t>
            </a:r>
            <a:r>
              <a:rPr dirty="0" sz="2800" spc="-55">
                <a:solidFill>
                  <a:srgbClr val="4E3629"/>
                </a:solidFill>
                <a:latin typeface="Calibri"/>
                <a:cs typeface="Calibri"/>
              </a:rPr>
              <a:t> </a:t>
            </a:r>
            <a:r>
              <a:rPr dirty="0" sz="2800" spc="-10">
                <a:solidFill>
                  <a:srgbClr val="4E3629"/>
                </a:solidFill>
                <a:latin typeface="Calibri"/>
                <a:cs typeface="Calibri"/>
              </a:rPr>
              <a:t>ACTUALIZAR</a:t>
            </a:r>
            <a:r>
              <a:rPr dirty="0" sz="2800" spc="-65">
                <a:solidFill>
                  <a:srgbClr val="4E3629"/>
                </a:solidFill>
                <a:latin typeface="Calibri"/>
                <a:cs typeface="Calibri"/>
              </a:rPr>
              <a:t> </a:t>
            </a:r>
            <a:r>
              <a:rPr dirty="0" sz="2800" spc="-50">
                <a:solidFill>
                  <a:srgbClr val="4E3629"/>
                </a:solidFill>
                <a:latin typeface="Calibri"/>
                <a:cs typeface="Calibri"/>
              </a:rPr>
              <a:t>o </a:t>
            </a:r>
            <a:r>
              <a:rPr dirty="0" sz="2800" spc="-50">
                <a:solidFill>
                  <a:srgbClr val="4E3629"/>
                </a:solidFill>
                <a:latin typeface="Calibri"/>
                <a:cs typeface="Calibri"/>
              </a:rPr>
              <a:t>	</a:t>
            </a:r>
            <a:r>
              <a:rPr dirty="0" sz="2800">
                <a:solidFill>
                  <a:srgbClr val="4E3629"/>
                </a:solidFill>
                <a:latin typeface="Calibri"/>
                <a:cs typeface="Calibri"/>
              </a:rPr>
              <a:t>SUPRIMIR</a:t>
            </a:r>
            <a:r>
              <a:rPr dirty="0" sz="2800" spc="-55">
                <a:solidFill>
                  <a:srgbClr val="4E3629"/>
                </a:solidFill>
                <a:latin typeface="Calibri"/>
                <a:cs typeface="Calibri"/>
              </a:rPr>
              <a:t> </a:t>
            </a:r>
            <a:r>
              <a:rPr dirty="0" sz="2800">
                <a:solidFill>
                  <a:srgbClr val="4E3629"/>
                </a:solidFill>
                <a:latin typeface="Calibri"/>
                <a:cs typeface="Calibri"/>
              </a:rPr>
              <a:t>datos</a:t>
            </a:r>
            <a:r>
              <a:rPr dirty="0" sz="2800" spc="-60">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el</a:t>
            </a:r>
            <a:r>
              <a:rPr dirty="0" sz="2800" spc="-90">
                <a:solidFill>
                  <a:srgbClr val="4E3629"/>
                </a:solidFill>
                <a:latin typeface="Calibri"/>
                <a:cs typeface="Calibri"/>
              </a:rPr>
              <a:t> </a:t>
            </a:r>
            <a:r>
              <a:rPr dirty="0" sz="2800">
                <a:solidFill>
                  <a:srgbClr val="4E3629"/>
                </a:solidFill>
                <a:latin typeface="Calibri"/>
                <a:cs typeface="Calibri"/>
              </a:rPr>
              <a:t>pasado,</a:t>
            </a:r>
            <a:r>
              <a:rPr dirty="0" sz="2800" spc="-45">
                <a:solidFill>
                  <a:srgbClr val="4E3629"/>
                </a:solidFill>
                <a:latin typeface="Calibri"/>
                <a:cs typeface="Calibri"/>
              </a:rPr>
              <a:t> </a:t>
            </a:r>
            <a:r>
              <a:rPr dirty="0" sz="2800">
                <a:solidFill>
                  <a:srgbClr val="4E3629"/>
                </a:solidFill>
                <a:latin typeface="Calibri"/>
                <a:cs typeface="Calibri"/>
              </a:rPr>
              <a:t>esos</a:t>
            </a:r>
            <a:r>
              <a:rPr dirty="0" sz="2800" spc="-65">
                <a:solidFill>
                  <a:srgbClr val="4E3629"/>
                </a:solidFill>
                <a:latin typeface="Calibri"/>
                <a:cs typeface="Calibri"/>
              </a:rPr>
              <a:t> </a:t>
            </a:r>
            <a:r>
              <a:rPr dirty="0" sz="2800">
                <a:solidFill>
                  <a:srgbClr val="4E3629"/>
                </a:solidFill>
                <a:latin typeface="Calibri"/>
                <a:cs typeface="Calibri"/>
              </a:rPr>
              <a:t>cambios</a:t>
            </a:r>
            <a:r>
              <a:rPr dirty="0" sz="2800" spc="-50">
                <a:solidFill>
                  <a:srgbClr val="4E3629"/>
                </a:solidFill>
                <a:latin typeface="Calibri"/>
                <a:cs typeface="Calibri"/>
              </a:rPr>
              <a:t> </a:t>
            </a:r>
            <a:r>
              <a:rPr dirty="0" sz="2800">
                <a:solidFill>
                  <a:srgbClr val="4E3629"/>
                </a:solidFill>
                <a:latin typeface="Calibri"/>
                <a:cs typeface="Calibri"/>
              </a:rPr>
              <a:t>en</a:t>
            </a:r>
            <a:r>
              <a:rPr dirty="0" sz="2800" spc="-75">
                <a:solidFill>
                  <a:srgbClr val="4E3629"/>
                </a:solidFill>
                <a:latin typeface="Calibri"/>
                <a:cs typeface="Calibri"/>
              </a:rPr>
              <a:t> </a:t>
            </a:r>
            <a:r>
              <a:rPr dirty="0" sz="2800" spc="-25">
                <a:solidFill>
                  <a:srgbClr val="4E3629"/>
                </a:solidFill>
                <a:latin typeface="Calibri"/>
                <a:cs typeface="Calibri"/>
              </a:rPr>
              <a:t>las </a:t>
            </a:r>
            <a:r>
              <a:rPr dirty="0" sz="2800" spc="-25">
                <a:solidFill>
                  <a:srgbClr val="4E3629"/>
                </a:solidFill>
                <a:latin typeface="Calibri"/>
                <a:cs typeface="Calibri"/>
              </a:rPr>
              <a:t>	</a:t>
            </a:r>
            <a:r>
              <a:rPr dirty="0" sz="2800">
                <a:solidFill>
                  <a:srgbClr val="4E3629"/>
                </a:solidFill>
                <a:latin typeface="Calibri"/>
                <a:cs typeface="Calibri"/>
              </a:rPr>
              <a:t>tablas</a:t>
            </a:r>
            <a:r>
              <a:rPr dirty="0" sz="2800" spc="-30">
                <a:solidFill>
                  <a:srgbClr val="4E3629"/>
                </a:solidFill>
                <a:latin typeface="Calibri"/>
                <a:cs typeface="Calibri"/>
              </a:rPr>
              <a:t> </a:t>
            </a:r>
            <a:r>
              <a:rPr dirty="0" sz="2800">
                <a:solidFill>
                  <a:srgbClr val="4E3629"/>
                </a:solidFill>
                <a:latin typeface="Calibri"/>
                <a:cs typeface="Calibri"/>
              </a:rPr>
              <a:t>base</a:t>
            </a:r>
            <a:r>
              <a:rPr dirty="0" sz="2800" spc="-25">
                <a:solidFill>
                  <a:srgbClr val="4E3629"/>
                </a:solidFill>
                <a:latin typeface="Calibri"/>
                <a:cs typeface="Calibri"/>
              </a:rPr>
              <a:t> </a:t>
            </a:r>
            <a:r>
              <a:rPr dirty="0" sz="2800">
                <a:solidFill>
                  <a:srgbClr val="4E3629"/>
                </a:solidFill>
                <a:latin typeface="Calibri"/>
                <a:cs typeface="Calibri"/>
              </a:rPr>
              <a:t>se</a:t>
            </a:r>
            <a:r>
              <a:rPr dirty="0" sz="2800" spc="-35">
                <a:solidFill>
                  <a:srgbClr val="4E3629"/>
                </a:solidFill>
                <a:latin typeface="Calibri"/>
                <a:cs typeface="Calibri"/>
              </a:rPr>
              <a:t> </a:t>
            </a:r>
            <a:r>
              <a:rPr dirty="0" sz="2800" spc="-10">
                <a:solidFill>
                  <a:srgbClr val="4E3629"/>
                </a:solidFill>
                <a:latin typeface="Calibri"/>
                <a:cs typeface="Calibri"/>
              </a:rPr>
              <a:t>mantienen</a:t>
            </a:r>
            <a:endParaRPr sz="2800">
              <a:latin typeface="Calibri"/>
              <a:cs typeface="Calibri"/>
            </a:endParaRPr>
          </a:p>
          <a:p>
            <a:pPr marL="182880" marR="843280"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supresión</a:t>
            </a:r>
            <a:r>
              <a:rPr dirty="0" sz="2800" spc="-2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a:solidFill>
                  <a:srgbClr val="4E3629"/>
                </a:solidFill>
                <a:latin typeface="Calibri"/>
                <a:cs typeface="Calibri"/>
              </a:rPr>
              <a:t>vista</a:t>
            </a:r>
            <a:r>
              <a:rPr dirty="0" sz="2800" spc="-55">
                <a:solidFill>
                  <a:srgbClr val="4E3629"/>
                </a:solidFill>
                <a:latin typeface="Calibri"/>
                <a:cs typeface="Calibri"/>
              </a:rPr>
              <a:t> </a:t>
            </a:r>
            <a:r>
              <a:rPr dirty="0" sz="2800" spc="-10">
                <a:solidFill>
                  <a:srgbClr val="4E3629"/>
                </a:solidFill>
                <a:latin typeface="Calibri"/>
                <a:cs typeface="Calibri"/>
              </a:rPr>
              <a:t>simplemente</a:t>
            </a:r>
            <a:r>
              <a:rPr dirty="0" sz="2800" spc="-50">
                <a:solidFill>
                  <a:srgbClr val="4E3629"/>
                </a:solidFill>
                <a:latin typeface="Calibri"/>
                <a:cs typeface="Calibri"/>
              </a:rPr>
              <a:t> </a:t>
            </a:r>
            <a:r>
              <a:rPr dirty="0" sz="2800">
                <a:solidFill>
                  <a:srgbClr val="4E3629"/>
                </a:solidFill>
                <a:latin typeface="Calibri"/>
                <a:cs typeface="Calibri"/>
              </a:rPr>
              <a:t>elimina</a:t>
            </a:r>
            <a:r>
              <a:rPr dirty="0" sz="2800" spc="-55">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definición</a:t>
            </a:r>
            <a:r>
              <a:rPr dirty="0" sz="2800" spc="-4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vista</a:t>
            </a:r>
            <a:r>
              <a:rPr dirty="0" sz="2800" spc="-5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base</a:t>
            </a:r>
            <a:r>
              <a:rPr dirty="0" sz="2800" spc="-5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p:txBody>
      </p:sp>
      <p:pic>
        <p:nvPicPr>
          <p:cNvPr id="4" name="object 4" descr=""/>
          <p:cNvPicPr/>
          <p:nvPr/>
        </p:nvPicPr>
        <p:blipFill>
          <a:blip r:embed="rId2" cstate="print"/>
          <a:stretch>
            <a:fillRect/>
          </a:stretch>
        </p:blipFill>
        <p:spPr>
          <a:xfrm>
            <a:off x="5891784" y="4626864"/>
            <a:ext cx="3011411" cy="1828799"/>
          </a:xfrm>
          <a:prstGeom prst="rect">
            <a:avLst/>
          </a:prstGeom>
        </p:spPr>
      </p:pic>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15-</a:t>
            </a:r>
            <a:r>
              <a:rPr dirty="0" spc="-50"/>
              <a:t>3</a:t>
            </a:r>
          </a:p>
          <a:p>
            <a:pPr marL="12700">
              <a:lnSpc>
                <a:spcPts val="965"/>
              </a:lnSpc>
            </a:pPr>
            <a:r>
              <a:rPr dirty="0"/>
              <a:t>Gestión</a:t>
            </a:r>
            <a:r>
              <a:rPr dirty="0" spc="-20"/>
              <a:t> </a:t>
            </a:r>
            <a:r>
              <a:rPr dirty="0"/>
              <a:t>de</a:t>
            </a:r>
            <a:r>
              <a:rPr dirty="0" spc="-35"/>
              <a:t> </a:t>
            </a:r>
            <a:r>
              <a:rPr dirty="0" spc="-10"/>
              <a:t>Vistas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5</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Supresión</a:t>
            </a:r>
            <a:r>
              <a:rPr dirty="0" spc="-60"/>
              <a:t> </a:t>
            </a:r>
            <a:r>
              <a:rPr dirty="0"/>
              <a:t>de</a:t>
            </a:r>
            <a:r>
              <a:rPr dirty="0" spc="-65"/>
              <a:t> </a:t>
            </a:r>
            <a:r>
              <a:rPr dirty="0"/>
              <a:t>una</a:t>
            </a:r>
            <a:r>
              <a:rPr dirty="0" spc="-65"/>
              <a:t> </a:t>
            </a:r>
            <a:r>
              <a:rPr dirty="0" spc="-10"/>
              <a:t>Vista</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15-</a:t>
            </a:r>
            <a:r>
              <a:rPr dirty="0" spc="-50"/>
              <a:t>3</a:t>
            </a:r>
          </a:p>
          <a:p>
            <a:pPr marL="12700">
              <a:lnSpc>
                <a:spcPts val="965"/>
              </a:lnSpc>
            </a:pPr>
            <a:r>
              <a:rPr dirty="0"/>
              <a:t>Gestión</a:t>
            </a:r>
            <a:r>
              <a:rPr dirty="0" spc="-20"/>
              <a:t> </a:t>
            </a:r>
            <a:r>
              <a:rPr dirty="0"/>
              <a:t>de</a:t>
            </a:r>
            <a:r>
              <a:rPr dirty="0" spc="-35"/>
              <a:t> </a:t>
            </a:r>
            <a:r>
              <a:rPr dirty="0" spc="-10"/>
              <a:t>Vistas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6</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860030" cy="2192020"/>
          </a:xfrm>
          <a:prstGeom prst="rect">
            <a:avLst/>
          </a:prstGeom>
        </p:spPr>
        <p:txBody>
          <a:bodyPr wrap="square" lIns="0" tIns="59690" rIns="0" bIns="0" rtlCol="0" vert="horz">
            <a:spAutoFit/>
          </a:bodyPr>
          <a:lstStyle/>
          <a:p>
            <a:pPr marL="182880" marR="75501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Recuerde</a:t>
            </a:r>
            <a:r>
              <a:rPr dirty="0" sz="2800" spc="-60">
                <a:solidFill>
                  <a:srgbClr val="4E3629"/>
                </a:solidFill>
                <a:latin typeface="Calibri"/>
                <a:cs typeface="Calibri"/>
              </a:rPr>
              <a:t> </a:t>
            </a:r>
            <a:r>
              <a:rPr dirty="0" sz="2800">
                <a:solidFill>
                  <a:srgbClr val="4E3629"/>
                </a:solidFill>
                <a:latin typeface="Calibri"/>
                <a:cs typeface="Calibri"/>
              </a:rPr>
              <a:t>que</a:t>
            </a:r>
            <a:r>
              <a:rPr dirty="0" sz="2800" spc="-60">
                <a:solidFill>
                  <a:srgbClr val="4E3629"/>
                </a:solidFill>
                <a:latin typeface="Calibri"/>
                <a:cs typeface="Calibri"/>
              </a:rPr>
              <a:t> </a:t>
            </a:r>
            <a:r>
              <a:rPr dirty="0" sz="2800">
                <a:solidFill>
                  <a:srgbClr val="4E3629"/>
                </a:solidFill>
                <a:latin typeface="Calibri"/>
                <a:cs typeface="Calibri"/>
              </a:rPr>
              <a:t>las</a:t>
            </a:r>
            <a:r>
              <a:rPr dirty="0" sz="2800" spc="-65">
                <a:solidFill>
                  <a:srgbClr val="4E3629"/>
                </a:solidFill>
                <a:latin typeface="Calibri"/>
                <a:cs typeface="Calibri"/>
              </a:rPr>
              <a:t> </a:t>
            </a:r>
            <a:r>
              <a:rPr dirty="0" sz="2800">
                <a:solidFill>
                  <a:srgbClr val="4E3629"/>
                </a:solidFill>
                <a:latin typeface="Calibri"/>
                <a:cs typeface="Calibri"/>
              </a:rPr>
              <a:t>vistas</a:t>
            </a:r>
            <a:r>
              <a:rPr dirty="0" sz="2800" spc="-50">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a:solidFill>
                  <a:srgbClr val="4E3629"/>
                </a:solidFill>
                <a:latin typeface="Calibri"/>
                <a:cs typeface="Calibri"/>
              </a:rPr>
              <a:t>almacenan</a:t>
            </a:r>
            <a:r>
              <a:rPr dirty="0" sz="2800" spc="-65">
                <a:solidFill>
                  <a:srgbClr val="4E3629"/>
                </a:solidFill>
                <a:latin typeface="Calibri"/>
                <a:cs typeface="Calibri"/>
              </a:rPr>
              <a:t> </a:t>
            </a:r>
            <a:r>
              <a:rPr dirty="0" sz="2800">
                <a:solidFill>
                  <a:srgbClr val="4E3629"/>
                </a:solidFill>
                <a:latin typeface="Calibri"/>
                <a:cs typeface="Calibri"/>
              </a:rPr>
              <a:t>como</a:t>
            </a:r>
            <a:r>
              <a:rPr dirty="0" sz="2800" spc="-70">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spc="-10">
                <a:solidFill>
                  <a:srgbClr val="4E3629"/>
                </a:solidFill>
                <a:latin typeface="Calibri"/>
                <a:cs typeface="Calibri"/>
              </a:rPr>
              <a:t>sentencia</a:t>
            </a:r>
            <a:r>
              <a:rPr dirty="0" sz="2800" spc="-45">
                <a:solidFill>
                  <a:srgbClr val="4E3629"/>
                </a:solidFill>
                <a:latin typeface="Calibri"/>
                <a:cs typeface="Calibri"/>
              </a:rPr>
              <a:t> </a:t>
            </a:r>
            <a:r>
              <a:rPr dirty="0" sz="2800">
                <a:solidFill>
                  <a:srgbClr val="4E3629"/>
                </a:solidFill>
                <a:latin typeface="Calibri"/>
                <a:cs typeface="Calibri"/>
              </a:rPr>
              <a:t>SELECT</a:t>
            </a:r>
            <a:r>
              <a:rPr dirty="0" sz="2800" spc="-55">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diccionario</a:t>
            </a:r>
            <a:r>
              <a:rPr dirty="0" sz="2800" spc="-3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Solo</a:t>
            </a:r>
            <a:r>
              <a:rPr dirty="0" sz="2800" spc="-60">
                <a:solidFill>
                  <a:srgbClr val="4E3629"/>
                </a:solidFill>
                <a:latin typeface="Calibri"/>
                <a:cs typeface="Calibri"/>
              </a:rPr>
              <a:t> </a:t>
            </a: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creador</a:t>
            </a:r>
            <a:r>
              <a:rPr dirty="0" sz="2800" spc="-50">
                <a:solidFill>
                  <a:srgbClr val="4E3629"/>
                </a:solidFill>
                <a:latin typeface="Calibri"/>
                <a:cs typeface="Calibri"/>
              </a:rPr>
              <a:t> </a:t>
            </a:r>
            <a:r>
              <a:rPr dirty="0" sz="2800">
                <a:solidFill>
                  <a:srgbClr val="4E3629"/>
                </a:solidFill>
                <a:latin typeface="Calibri"/>
                <a:cs typeface="Calibri"/>
              </a:rPr>
              <a:t>o</a:t>
            </a:r>
            <a:r>
              <a:rPr dirty="0" sz="2800" spc="-60">
                <a:solidFill>
                  <a:srgbClr val="4E3629"/>
                </a:solidFill>
                <a:latin typeface="Calibri"/>
                <a:cs typeface="Calibri"/>
              </a:rPr>
              <a:t> </a:t>
            </a:r>
            <a:r>
              <a:rPr dirty="0" sz="2800">
                <a:solidFill>
                  <a:srgbClr val="4E3629"/>
                </a:solidFill>
                <a:latin typeface="Calibri"/>
                <a:cs typeface="Calibri"/>
              </a:rPr>
              <a:t>usuarios</a:t>
            </a:r>
            <a:r>
              <a:rPr dirty="0" sz="2800" spc="-25">
                <a:solidFill>
                  <a:srgbClr val="4E3629"/>
                </a:solidFill>
                <a:latin typeface="Calibri"/>
                <a:cs typeface="Calibri"/>
              </a:rPr>
              <a:t> </a:t>
            </a:r>
            <a:r>
              <a:rPr dirty="0" sz="2800">
                <a:solidFill>
                  <a:srgbClr val="4E3629"/>
                </a:solidFill>
                <a:latin typeface="Calibri"/>
                <a:cs typeface="Calibri"/>
              </a:rPr>
              <a:t>con</a:t>
            </a:r>
            <a:r>
              <a:rPr dirty="0" sz="2800" spc="-50">
                <a:solidFill>
                  <a:srgbClr val="4E3629"/>
                </a:solidFill>
                <a:latin typeface="Calibri"/>
                <a:cs typeface="Calibri"/>
              </a:rPr>
              <a:t> </a:t>
            </a: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privilegio</a:t>
            </a:r>
            <a:r>
              <a:rPr dirty="0" sz="2800" spc="-45">
                <a:solidFill>
                  <a:srgbClr val="4E3629"/>
                </a:solidFill>
                <a:latin typeface="Calibri"/>
                <a:cs typeface="Calibri"/>
              </a:rPr>
              <a:t> </a:t>
            </a:r>
            <a:r>
              <a:rPr dirty="0" sz="2800">
                <a:solidFill>
                  <a:srgbClr val="4E3629"/>
                </a:solidFill>
                <a:latin typeface="Calibri"/>
                <a:cs typeface="Calibri"/>
              </a:rPr>
              <a:t>DROP</a:t>
            </a:r>
            <a:r>
              <a:rPr dirty="0" sz="2800" spc="-50">
                <a:solidFill>
                  <a:srgbClr val="4E3629"/>
                </a:solidFill>
                <a:latin typeface="Calibri"/>
                <a:cs typeface="Calibri"/>
              </a:rPr>
              <a:t> </a:t>
            </a:r>
            <a:r>
              <a:rPr dirty="0" sz="2800" spc="-25">
                <a:solidFill>
                  <a:srgbClr val="4E3629"/>
                </a:solidFill>
                <a:latin typeface="Calibri"/>
                <a:cs typeface="Calibri"/>
              </a:rPr>
              <a:t>ANY </a:t>
            </a:r>
            <a:r>
              <a:rPr dirty="0" sz="2800" spc="-25">
                <a:solidFill>
                  <a:srgbClr val="4E3629"/>
                </a:solidFill>
                <a:latin typeface="Calibri"/>
                <a:cs typeface="Calibri"/>
              </a:rPr>
              <a:t>	</a:t>
            </a:r>
            <a:r>
              <a:rPr dirty="0" sz="2800">
                <a:solidFill>
                  <a:srgbClr val="4E3629"/>
                </a:solidFill>
                <a:latin typeface="Calibri"/>
                <a:cs typeface="Calibri"/>
              </a:rPr>
              <a:t>VIEW</a:t>
            </a:r>
            <a:r>
              <a:rPr dirty="0" sz="2800" spc="-85">
                <a:solidFill>
                  <a:srgbClr val="4E3629"/>
                </a:solidFill>
                <a:latin typeface="Calibri"/>
                <a:cs typeface="Calibri"/>
              </a:rPr>
              <a:t> </a:t>
            </a:r>
            <a:r>
              <a:rPr dirty="0" sz="2800">
                <a:solidFill>
                  <a:srgbClr val="4E3629"/>
                </a:solidFill>
                <a:latin typeface="Calibri"/>
                <a:cs typeface="Calibri"/>
              </a:rPr>
              <a:t>pueden</a:t>
            </a:r>
            <a:r>
              <a:rPr dirty="0" sz="2800" spc="-40">
                <a:solidFill>
                  <a:srgbClr val="4E3629"/>
                </a:solidFill>
                <a:latin typeface="Calibri"/>
                <a:cs typeface="Calibri"/>
              </a:rPr>
              <a:t> </a:t>
            </a:r>
            <a:r>
              <a:rPr dirty="0" sz="2800">
                <a:solidFill>
                  <a:srgbClr val="4E3629"/>
                </a:solidFill>
                <a:latin typeface="Calibri"/>
                <a:cs typeface="Calibri"/>
              </a:rPr>
              <a:t>eliminar</a:t>
            </a:r>
            <a:r>
              <a:rPr dirty="0" sz="2800" spc="-60">
                <a:solidFill>
                  <a:srgbClr val="4E3629"/>
                </a:solidFill>
                <a:latin typeface="Calibri"/>
                <a:cs typeface="Calibri"/>
              </a:rPr>
              <a:t> </a:t>
            </a:r>
            <a:r>
              <a:rPr dirty="0" sz="2800">
                <a:solidFill>
                  <a:srgbClr val="4E3629"/>
                </a:solidFill>
                <a:latin typeface="Calibri"/>
                <a:cs typeface="Calibri"/>
              </a:rPr>
              <a:t>una</a:t>
            </a:r>
            <a:r>
              <a:rPr dirty="0" sz="2800" spc="-50">
                <a:solidFill>
                  <a:srgbClr val="4E3629"/>
                </a:solidFill>
                <a:latin typeface="Calibri"/>
                <a:cs typeface="Calibri"/>
              </a:rPr>
              <a:t> </a:t>
            </a:r>
            <a:r>
              <a:rPr dirty="0" sz="2800" spc="-10">
                <a:solidFill>
                  <a:srgbClr val="4E3629"/>
                </a:solidFill>
                <a:latin typeface="Calibri"/>
                <a:cs typeface="Calibri"/>
              </a:rPr>
              <a:t>vista</a:t>
            </a:r>
            <a:endParaRPr sz="2800">
              <a:latin typeface="Calibri"/>
              <a:cs typeface="Calibri"/>
            </a:endParaRPr>
          </a:p>
          <a:p>
            <a:pPr marL="183515" indent="-170815">
              <a:lnSpc>
                <a:spcPct val="100000"/>
              </a:lnSpc>
              <a:spcBef>
                <a:spcPts val="415"/>
              </a:spcBef>
              <a:buClr>
                <a:srgbClr val="D1350F"/>
              </a:buClr>
              <a:buFont typeface="Arial MT"/>
              <a:buChar char="•"/>
              <a:tabLst>
                <a:tab pos="183515" algn="l"/>
              </a:tabLst>
            </a:pPr>
            <a:r>
              <a:rPr dirty="0" sz="2800">
                <a:solidFill>
                  <a:srgbClr val="4E3629"/>
                </a:solidFill>
                <a:latin typeface="Calibri"/>
                <a:cs typeface="Calibri"/>
              </a:rPr>
              <a:t>La</a:t>
            </a:r>
            <a:r>
              <a:rPr dirty="0" sz="2800" spc="-85">
                <a:solidFill>
                  <a:srgbClr val="4E3629"/>
                </a:solidFill>
                <a:latin typeface="Calibri"/>
                <a:cs typeface="Calibri"/>
              </a:rPr>
              <a:t> </a:t>
            </a:r>
            <a:r>
              <a:rPr dirty="0" sz="2800">
                <a:solidFill>
                  <a:srgbClr val="4E3629"/>
                </a:solidFill>
                <a:latin typeface="Calibri"/>
                <a:cs typeface="Calibri"/>
              </a:rPr>
              <a:t>sintaxis</a:t>
            </a:r>
            <a:r>
              <a:rPr dirty="0" sz="2800" spc="-45">
                <a:solidFill>
                  <a:srgbClr val="4E3629"/>
                </a:solidFill>
                <a:latin typeface="Calibri"/>
                <a:cs typeface="Calibri"/>
              </a:rPr>
              <a:t> </a:t>
            </a:r>
            <a:r>
              <a:rPr dirty="0" sz="2800">
                <a:solidFill>
                  <a:srgbClr val="4E3629"/>
                </a:solidFill>
                <a:latin typeface="Calibri"/>
                <a:cs typeface="Calibri"/>
              </a:rPr>
              <a:t>SQL</a:t>
            </a:r>
            <a:r>
              <a:rPr dirty="0" sz="2800" spc="-75">
                <a:solidFill>
                  <a:srgbClr val="4E3629"/>
                </a:solidFill>
                <a:latin typeface="Calibri"/>
                <a:cs typeface="Calibri"/>
              </a:rPr>
              <a:t> </a:t>
            </a:r>
            <a:r>
              <a:rPr dirty="0" sz="2800">
                <a:solidFill>
                  <a:srgbClr val="4E3629"/>
                </a:solidFill>
                <a:latin typeface="Calibri"/>
                <a:cs typeface="Calibri"/>
              </a:rPr>
              <a:t>para</a:t>
            </a:r>
            <a:r>
              <a:rPr dirty="0" sz="2800" spc="-65">
                <a:solidFill>
                  <a:srgbClr val="4E3629"/>
                </a:solidFill>
                <a:latin typeface="Calibri"/>
                <a:cs typeface="Calibri"/>
              </a:rPr>
              <a:t> </a:t>
            </a:r>
            <a:r>
              <a:rPr dirty="0" sz="2800">
                <a:solidFill>
                  <a:srgbClr val="4E3629"/>
                </a:solidFill>
                <a:latin typeface="Calibri"/>
                <a:cs typeface="Calibri"/>
              </a:rPr>
              <a:t>eliminar</a:t>
            </a:r>
            <a:r>
              <a:rPr dirty="0" sz="2800" spc="-70">
                <a:solidFill>
                  <a:srgbClr val="4E3629"/>
                </a:solidFill>
                <a:latin typeface="Calibri"/>
                <a:cs typeface="Calibri"/>
              </a:rPr>
              <a:t> </a:t>
            </a:r>
            <a:r>
              <a:rPr dirty="0" sz="2800">
                <a:solidFill>
                  <a:srgbClr val="4E3629"/>
                </a:solidFill>
                <a:latin typeface="Calibri"/>
                <a:cs typeface="Calibri"/>
              </a:rPr>
              <a:t>una</a:t>
            </a:r>
            <a:r>
              <a:rPr dirty="0" sz="2800" spc="-65">
                <a:solidFill>
                  <a:srgbClr val="4E3629"/>
                </a:solidFill>
                <a:latin typeface="Calibri"/>
                <a:cs typeface="Calibri"/>
              </a:rPr>
              <a:t> </a:t>
            </a:r>
            <a:r>
              <a:rPr dirty="0" sz="2800">
                <a:solidFill>
                  <a:srgbClr val="4E3629"/>
                </a:solidFill>
                <a:latin typeface="Calibri"/>
                <a:cs typeface="Calibri"/>
              </a:rPr>
              <a:t>vista</a:t>
            </a:r>
            <a:r>
              <a:rPr dirty="0" sz="2800" spc="-50">
                <a:solidFill>
                  <a:srgbClr val="4E3629"/>
                </a:solidFill>
                <a:latin typeface="Calibri"/>
                <a:cs typeface="Calibri"/>
              </a:rPr>
              <a:t> </a:t>
            </a:r>
            <a:r>
              <a:rPr dirty="0" sz="2800" spc="-25">
                <a:solidFill>
                  <a:srgbClr val="4E3629"/>
                </a:solidFill>
                <a:latin typeface="Calibri"/>
                <a:cs typeface="Calibri"/>
              </a:rPr>
              <a:t>es:</a:t>
            </a:r>
            <a:endParaRPr sz="2800">
              <a:latin typeface="Calibri"/>
              <a:cs typeface="Calibri"/>
            </a:endParaRPr>
          </a:p>
        </p:txBody>
      </p:sp>
      <p:sp>
        <p:nvSpPr>
          <p:cNvPr id="4" name="object 4" descr=""/>
          <p:cNvSpPr txBox="1"/>
          <p:nvPr/>
        </p:nvSpPr>
        <p:spPr>
          <a:xfrm>
            <a:off x="405384" y="3931920"/>
            <a:ext cx="8345805" cy="294640"/>
          </a:xfrm>
          <a:prstGeom prst="rect">
            <a:avLst/>
          </a:prstGeom>
          <a:solidFill>
            <a:srgbClr val="9DBEC4">
              <a:alpha val="50199"/>
            </a:srgbClr>
          </a:solidFill>
        </p:spPr>
        <p:txBody>
          <a:bodyPr wrap="square" lIns="0" tIns="0" rIns="0" bIns="0" rtlCol="0" vert="horz">
            <a:spAutoFit/>
          </a:bodyPr>
          <a:lstStyle/>
          <a:p>
            <a:pPr>
              <a:lnSpc>
                <a:spcPts val="2020"/>
              </a:lnSpc>
            </a:pPr>
            <a:r>
              <a:rPr dirty="0" sz="1800" b="1">
                <a:solidFill>
                  <a:srgbClr val="4E3629"/>
                </a:solidFill>
                <a:latin typeface="Courier New"/>
                <a:cs typeface="Courier New"/>
              </a:rPr>
              <a:t>DROP</a:t>
            </a:r>
            <a:r>
              <a:rPr dirty="0" sz="1800" spc="-40" b="1">
                <a:solidFill>
                  <a:srgbClr val="4E3629"/>
                </a:solidFill>
                <a:latin typeface="Courier New"/>
                <a:cs typeface="Courier New"/>
              </a:rPr>
              <a:t> </a:t>
            </a:r>
            <a:r>
              <a:rPr dirty="0" sz="1800" b="1">
                <a:solidFill>
                  <a:srgbClr val="4E3629"/>
                </a:solidFill>
                <a:latin typeface="Courier New"/>
                <a:cs typeface="Courier New"/>
              </a:rPr>
              <a:t>VIEW</a:t>
            </a:r>
            <a:r>
              <a:rPr dirty="0" sz="1800" spc="-40" b="1">
                <a:solidFill>
                  <a:srgbClr val="4E3629"/>
                </a:solidFill>
                <a:latin typeface="Courier New"/>
                <a:cs typeface="Courier New"/>
              </a:rPr>
              <a:t> </a:t>
            </a:r>
            <a:r>
              <a:rPr dirty="0" sz="1800" spc="-10" b="1">
                <a:solidFill>
                  <a:srgbClr val="4E3629"/>
                </a:solidFill>
                <a:latin typeface="Courier New"/>
                <a:cs typeface="Courier New"/>
              </a:rPr>
              <a:t>viewname;</a:t>
            </a:r>
            <a:endParaRPr sz="1800">
              <a:latin typeface="Courier New"/>
              <a:cs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Vistas</a:t>
            </a:r>
            <a:r>
              <a:rPr dirty="0" spc="-95"/>
              <a:t> </a:t>
            </a:r>
            <a:r>
              <a:rPr dirty="0"/>
              <a:t>en</a:t>
            </a:r>
            <a:r>
              <a:rPr dirty="0" spc="-75"/>
              <a:t> </a:t>
            </a:r>
            <a:r>
              <a:rPr dirty="0" spc="-10"/>
              <a:t>Línea</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15-</a:t>
            </a:r>
            <a:r>
              <a:rPr dirty="0" spc="-50"/>
              <a:t>3</a:t>
            </a:r>
          </a:p>
          <a:p>
            <a:pPr marL="12700">
              <a:lnSpc>
                <a:spcPts val="965"/>
              </a:lnSpc>
            </a:pPr>
            <a:r>
              <a:rPr dirty="0"/>
              <a:t>Gestión</a:t>
            </a:r>
            <a:r>
              <a:rPr dirty="0" spc="-20"/>
              <a:t> </a:t>
            </a:r>
            <a:r>
              <a:rPr dirty="0"/>
              <a:t>de</a:t>
            </a:r>
            <a:r>
              <a:rPr dirty="0" spc="-35"/>
              <a:t> </a:t>
            </a:r>
            <a:r>
              <a:rPr dirty="0" spc="-10"/>
              <a:t>Vistas</a:t>
            </a:r>
          </a:p>
        </p:txBody>
      </p:sp>
      <p:sp>
        <p:nvSpPr>
          <p:cNvPr id="5" name="object 5"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7</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8159115" cy="3344545"/>
          </a:xfrm>
          <a:prstGeom prst="rect">
            <a:avLst/>
          </a:prstGeom>
        </p:spPr>
        <p:txBody>
          <a:bodyPr wrap="square" lIns="0" tIns="59690" rIns="0" bIns="0" rtlCol="0" vert="horz">
            <a:spAutoFit/>
          </a:bodyPr>
          <a:lstStyle/>
          <a:p>
            <a:pPr marL="182880" marR="58419"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Las</a:t>
            </a:r>
            <a:r>
              <a:rPr dirty="0" sz="2800" spc="-70">
                <a:solidFill>
                  <a:srgbClr val="4E3629"/>
                </a:solidFill>
                <a:latin typeface="Calibri"/>
                <a:cs typeface="Calibri"/>
              </a:rPr>
              <a:t> </a:t>
            </a:r>
            <a:r>
              <a:rPr dirty="0" sz="2800">
                <a:solidFill>
                  <a:srgbClr val="4E3629"/>
                </a:solidFill>
                <a:latin typeface="Calibri"/>
                <a:cs typeface="Calibri"/>
              </a:rPr>
              <a:t>vistas</a:t>
            </a:r>
            <a:r>
              <a:rPr dirty="0" sz="2800" spc="-40">
                <a:solidFill>
                  <a:srgbClr val="4E3629"/>
                </a:solidFill>
                <a:latin typeface="Calibri"/>
                <a:cs typeface="Calibri"/>
              </a:rPr>
              <a:t> </a:t>
            </a:r>
            <a:r>
              <a:rPr dirty="0" sz="2800">
                <a:solidFill>
                  <a:srgbClr val="4E3629"/>
                </a:solidFill>
                <a:latin typeface="Calibri"/>
                <a:cs typeface="Calibri"/>
              </a:rPr>
              <a:t>en</a:t>
            </a:r>
            <a:r>
              <a:rPr dirty="0" sz="2800" spc="-60">
                <a:solidFill>
                  <a:srgbClr val="4E3629"/>
                </a:solidFill>
                <a:latin typeface="Calibri"/>
                <a:cs typeface="Calibri"/>
              </a:rPr>
              <a:t> </a:t>
            </a:r>
            <a:r>
              <a:rPr dirty="0" sz="2800">
                <a:solidFill>
                  <a:srgbClr val="4E3629"/>
                </a:solidFill>
                <a:latin typeface="Calibri"/>
                <a:cs typeface="Calibri"/>
              </a:rPr>
              <a:t>línea</a:t>
            </a:r>
            <a:r>
              <a:rPr dirty="0" sz="2800" spc="-60">
                <a:solidFill>
                  <a:srgbClr val="4E3629"/>
                </a:solidFill>
                <a:latin typeface="Calibri"/>
                <a:cs typeface="Calibri"/>
              </a:rPr>
              <a:t> </a:t>
            </a:r>
            <a:r>
              <a:rPr dirty="0" sz="2800">
                <a:solidFill>
                  <a:srgbClr val="4E3629"/>
                </a:solidFill>
                <a:latin typeface="Calibri"/>
                <a:cs typeface="Calibri"/>
              </a:rPr>
              <a:t>también</a:t>
            </a:r>
            <a:r>
              <a:rPr dirty="0" sz="2800" spc="-45">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a:solidFill>
                  <a:srgbClr val="4E3629"/>
                </a:solidFill>
                <a:latin typeface="Calibri"/>
                <a:cs typeface="Calibri"/>
              </a:rPr>
              <a:t>denominan</a:t>
            </a:r>
            <a:r>
              <a:rPr dirty="0" sz="2800" spc="-25">
                <a:solidFill>
                  <a:srgbClr val="4E3629"/>
                </a:solidFill>
                <a:latin typeface="Calibri"/>
                <a:cs typeface="Calibri"/>
              </a:rPr>
              <a:t> </a:t>
            </a:r>
            <a:r>
              <a:rPr dirty="0" sz="2800" spc="-10">
                <a:solidFill>
                  <a:srgbClr val="4E3629"/>
                </a:solidFill>
                <a:latin typeface="Calibri"/>
                <a:cs typeface="Calibri"/>
              </a:rPr>
              <a:t>subconsultas </a:t>
            </a:r>
            <a:r>
              <a:rPr dirty="0" sz="2800" spc="-10">
                <a:solidFill>
                  <a:srgbClr val="4E3629"/>
                </a:solidFill>
                <a:latin typeface="Calibri"/>
                <a:cs typeface="Calibri"/>
              </a:rPr>
              <a:t>	</a:t>
            </a:r>
            <a:r>
              <a:rPr dirty="0" sz="2800">
                <a:solidFill>
                  <a:srgbClr val="4E3629"/>
                </a:solidFill>
                <a:latin typeface="Calibri"/>
                <a:cs typeface="Calibri"/>
              </a:rPr>
              <a:t>en</a:t>
            </a:r>
            <a:r>
              <a:rPr dirty="0" sz="2800" spc="-35">
                <a:solidFill>
                  <a:srgbClr val="4E3629"/>
                </a:solidFill>
                <a:latin typeface="Calibri"/>
                <a:cs typeface="Calibri"/>
              </a:rPr>
              <a:t> </a:t>
            </a:r>
            <a:r>
              <a:rPr dirty="0" sz="2800">
                <a:solidFill>
                  <a:srgbClr val="4E3629"/>
                </a:solidFill>
                <a:latin typeface="Calibri"/>
                <a:cs typeface="Calibri"/>
              </a:rPr>
              <a:t>la</a:t>
            </a:r>
            <a:r>
              <a:rPr dirty="0" sz="2800" spc="-40">
                <a:solidFill>
                  <a:srgbClr val="4E3629"/>
                </a:solidFill>
                <a:latin typeface="Calibri"/>
                <a:cs typeface="Calibri"/>
              </a:rPr>
              <a:t> </a:t>
            </a:r>
            <a:r>
              <a:rPr dirty="0" sz="2800">
                <a:solidFill>
                  <a:srgbClr val="4E3629"/>
                </a:solidFill>
                <a:latin typeface="Calibri"/>
                <a:cs typeface="Calibri"/>
              </a:rPr>
              <a:t>cláusula</a:t>
            </a:r>
            <a:r>
              <a:rPr dirty="0" sz="2800" spc="-15">
                <a:solidFill>
                  <a:srgbClr val="4E3629"/>
                </a:solidFill>
                <a:latin typeface="Calibri"/>
                <a:cs typeface="Calibri"/>
              </a:rPr>
              <a:t> </a:t>
            </a:r>
            <a:r>
              <a:rPr dirty="0" sz="2800" spc="-20">
                <a:solidFill>
                  <a:srgbClr val="4E3629"/>
                </a:solidFill>
                <a:latin typeface="Calibri"/>
                <a:cs typeface="Calibri"/>
              </a:rPr>
              <a:t>FROM</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Inserte</a:t>
            </a:r>
            <a:r>
              <a:rPr dirty="0" sz="2800" spc="-65">
                <a:solidFill>
                  <a:srgbClr val="4E3629"/>
                </a:solidFill>
                <a:latin typeface="Calibri"/>
                <a:cs typeface="Calibri"/>
              </a:rPr>
              <a:t> </a:t>
            </a:r>
            <a:r>
              <a:rPr dirty="0" sz="2800">
                <a:solidFill>
                  <a:srgbClr val="4E3629"/>
                </a:solidFill>
                <a:latin typeface="Calibri"/>
                <a:cs typeface="Calibri"/>
              </a:rPr>
              <a:t>una</a:t>
            </a:r>
            <a:r>
              <a:rPr dirty="0" sz="2800" spc="-35">
                <a:solidFill>
                  <a:srgbClr val="4E3629"/>
                </a:solidFill>
                <a:latin typeface="Calibri"/>
                <a:cs typeface="Calibri"/>
              </a:rPr>
              <a:t> </a:t>
            </a:r>
            <a:r>
              <a:rPr dirty="0" sz="2800" spc="-10">
                <a:solidFill>
                  <a:srgbClr val="4E3629"/>
                </a:solidFill>
                <a:latin typeface="Calibri"/>
                <a:cs typeface="Calibri"/>
              </a:rPr>
              <a:t>subconsulta</a:t>
            </a:r>
            <a:r>
              <a:rPr dirty="0" sz="2800" spc="-5">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cláusula</a:t>
            </a:r>
            <a:r>
              <a:rPr dirty="0" sz="2800" spc="-35">
                <a:solidFill>
                  <a:srgbClr val="4E3629"/>
                </a:solidFill>
                <a:latin typeface="Calibri"/>
                <a:cs typeface="Calibri"/>
              </a:rPr>
              <a:t> </a:t>
            </a:r>
            <a:r>
              <a:rPr dirty="0" sz="2800">
                <a:solidFill>
                  <a:srgbClr val="4E3629"/>
                </a:solidFill>
                <a:latin typeface="Calibri"/>
                <a:cs typeface="Calibri"/>
              </a:rPr>
              <a:t>FROM</a:t>
            </a:r>
            <a:r>
              <a:rPr dirty="0" sz="2800" spc="-55">
                <a:solidFill>
                  <a:srgbClr val="4E3629"/>
                </a:solidFill>
                <a:latin typeface="Calibri"/>
                <a:cs typeface="Calibri"/>
              </a:rPr>
              <a:t> </a:t>
            </a:r>
            <a:r>
              <a:rPr dirty="0" sz="2800">
                <a:solidFill>
                  <a:srgbClr val="4E3629"/>
                </a:solidFill>
                <a:latin typeface="Calibri"/>
                <a:cs typeface="Calibri"/>
              </a:rPr>
              <a:t>como</a:t>
            </a:r>
            <a:r>
              <a:rPr dirty="0" sz="2800" spc="-50">
                <a:solidFill>
                  <a:srgbClr val="4E3629"/>
                </a:solidFill>
                <a:latin typeface="Calibri"/>
                <a:cs typeface="Calibri"/>
              </a:rPr>
              <a:t> </a:t>
            </a:r>
            <a:r>
              <a:rPr dirty="0" sz="2800">
                <a:solidFill>
                  <a:srgbClr val="4E3629"/>
                </a:solidFill>
                <a:latin typeface="Calibri"/>
                <a:cs typeface="Calibri"/>
              </a:rPr>
              <a:t>si</a:t>
            </a:r>
            <a:r>
              <a:rPr dirty="0" sz="2800" spc="-65">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subconsulta</a:t>
            </a:r>
            <a:r>
              <a:rPr dirty="0" sz="2800" spc="-45">
                <a:solidFill>
                  <a:srgbClr val="4E3629"/>
                </a:solidFill>
                <a:latin typeface="Calibri"/>
                <a:cs typeface="Calibri"/>
              </a:rPr>
              <a:t> </a:t>
            </a:r>
            <a:r>
              <a:rPr dirty="0" sz="2800">
                <a:solidFill>
                  <a:srgbClr val="4E3629"/>
                </a:solidFill>
                <a:latin typeface="Calibri"/>
                <a:cs typeface="Calibri"/>
              </a:rPr>
              <a:t>fuera</a:t>
            </a:r>
            <a:r>
              <a:rPr dirty="0" sz="2800" spc="-95">
                <a:solidFill>
                  <a:srgbClr val="4E3629"/>
                </a:solidFill>
                <a:latin typeface="Calibri"/>
                <a:cs typeface="Calibri"/>
              </a:rPr>
              <a:t> </a:t>
            </a:r>
            <a:r>
              <a:rPr dirty="0" sz="2800">
                <a:solidFill>
                  <a:srgbClr val="4E3629"/>
                </a:solidFill>
                <a:latin typeface="Calibri"/>
                <a:cs typeface="Calibri"/>
              </a:rPr>
              <a:t>un</a:t>
            </a:r>
            <a:r>
              <a:rPr dirty="0" sz="2800" spc="-80">
                <a:solidFill>
                  <a:srgbClr val="4E3629"/>
                </a:solidFill>
                <a:latin typeface="Calibri"/>
                <a:cs typeface="Calibri"/>
              </a:rPr>
              <a:t> </a:t>
            </a:r>
            <a:r>
              <a:rPr dirty="0" sz="2800">
                <a:solidFill>
                  <a:srgbClr val="4E3629"/>
                </a:solidFill>
                <a:latin typeface="Calibri"/>
                <a:cs typeface="Calibri"/>
              </a:rPr>
              <a:t>nombre</a:t>
            </a:r>
            <a:r>
              <a:rPr dirty="0" sz="2800" spc="-75">
                <a:solidFill>
                  <a:srgbClr val="4E3629"/>
                </a:solidFill>
                <a:latin typeface="Calibri"/>
                <a:cs typeface="Calibri"/>
              </a:rPr>
              <a:t> </a:t>
            </a:r>
            <a:r>
              <a:rPr dirty="0" sz="2800">
                <a:solidFill>
                  <a:srgbClr val="4E3629"/>
                </a:solidFill>
                <a:latin typeface="Calibri"/>
                <a:cs typeface="Calibri"/>
              </a:rPr>
              <a:t>de</a:t>
            </a:r>
            <a:r>
              <a:rPr dirty="0" sz="2800" spc="-90">
                <a:solidFill>
                  <a:srgbClr val="4E3629"/>
                </a:solidFill>
                <a:latin typeface="Calibri"/>
                <a:cs typeface="Calibri"/>
              </a:rPr>
              <a:t> </a:t>
            </a:r>
            <a:r>
              <a:rPr dirty="0" sz="2800" spc="-10">
                <a:solidFill>
                  <a:srgbClr val="4E3629"/>
                </a:solidFill>
                <a:latin typeface="Calibri"/>
                <a:cs typeface="Calibri"/>
              </a:rPr>
              <a:t>tabla</a:t>
            </a:r>
            <a:endParaRPr sz="2800">
              <a:latin typeface="Calibri"/>
              <a:cs typeface="Calibri"/>
            </a:endParaRPr>
          </a:p>
          <a:p>
            <a:pPr marL="182880" marR="19685"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Las</a:t>
            </a:r>
            <a:r>
              <a:rPr dirty="0" sz="2800" spc="-65">
                <a:solidFill>
                  <a:srgbClr val="4E3629"/>
                </a:solidFill>
                <a:latin typeface="Calibri"/>
                <a:cs typeface="Calibri"/>
              </a:rPr>
              <a:t> </a:t>
            </a:r>
            <a:r>
              <a:rPr dirty="0" sz="2800">
                <a:solidFill>
                  <a:srgbClr val="4E3629"/>
                </a:solidFill>
                <a:latin typeface="Calibri"/>
                <a:cs typeface="Calibri"/>
              </a:rPr>
              <a:t>vistas</a:t>
            </a:r>
            <a:r>
              <a:rPr dirty="0" sz="2800" spc="-35">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línea</a:t>
            </a:r>
            <a:r>
              <a:rPr dirty="0" sz="2800" spc="-55">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a:solidFill>
                  <a:srgbClr val="4E3629"/>
                </a:solidFill>
                <a:latin typeface="Calibri"/>
                <a:cs typeface="Calibri"/>
              </a:rPr>
              <a:t>utilizan</a:t>
            </a:r>
            <a:r>
              <a:rPr dirty="0" sz="2800" spc="-55">
                <a:solidFill>
                  <a:srgbClr val="4E3629"/>
                </a:solidFill>
                <a:latin typeface="Calibri"/>
                <a:cs typeface="Calibri"/>
              </a:rPr>
              <a:t> </a:t>
            </a:r>
            <a:r>
              <a:rPr dirty="0" sz="2800" spc="-10">
                <a:solidFill>
                  <a:srgbClr val="4E3629"/>
                </a:solidFill>
                <a:latin typeface="Calibri"/>
                <a:cs typeface="Calibri"/>
              </a:rPr>
              <a:t>normalmente</a:t>
            </a:r>
            <a:r>
              <a:rPr dirty="0" sz="2800" spc="-35">
                <a:solidFill>
                  <a:srgbClr val="4E3629"/>
                </a:solidFill>
                <a:latin typeface="Calibri"/>
                <a:cs typeface="Calibri"/>
              </a:rPr>
              <a:t> </a:t>
            </a:r>
            <a:r>
              <a:rPr dirty="0" sz="2800" spc="-20">
                <a:solidFill>
                  <a:srgbClr val="4E3629"/>
                </a:solidFill>
                <a:latin typeface="Calibri"/>
                <a:cs typeface="Calibri"/>
              </a:rPr>
              <a:t>para </a:t>
            </a:r>
            <a:r>
              <a:rPr dirty="0" sz="2800" spc="-20">
                <a:solidFill>
                  <a:srgbClr val="4E3629"/>
                </a:solidFill>
                <a:latin typeface="Calibri"/>
                <a:cs typeface="Calibri"/>
              </a:rPr>
              <a:t>	</a:t>
            </a:r>
            <a:r>
              <a:rPr dirty="0" sz="2800">
                <a:solidFill>
                  <a:srgbClr val="4E3629"/>
                </a:solidFill>
                <a:latin typeface="Calibri"/>
                <a:cs typeface="Calibri"/>
              </a:rPr>
              <a:t>simplificar</a:t>
            </a:r>
            <a:r>
              <a:rPr dirty="0" sz="2800" spc="-114">
                <a:solidFill>
                  <a:srgbClr val="4E3629"/>
                </a:solidFill>
                <a:latin typeface="Calibri"/>
                <a:cs typeface="Calibri"/>
              </a:rPr>
              <a:t> </a:t>
            </a:r>
            <a:r>
              <a:rPr dirty="0" sz="2800">
                <a:solidFill>
                  <a:srgbClr val="4E3629"/>
                </a:solidFill>
                <a:latin typeface="Calibri"/>
                <a:cs typeface="Calibri"/>
              </a:rPr>
              <a:t>las</a:t>
            </a:r>
            <a:r>
              <a:rPr dirty="0" sz="2800" spc="-120">
                <a:solidFill>
                  <a:srgbClr val="4E3629"/>
                </a:solidFill>
                <a:latin typeface="Calibri"/>
                <a:cs typeface="Calibri"/>
              </a:rPr>
              <a:t> </a:t>
            </a:r>
            <a:r>
              <a:rPr dirty="0" sz="2800">
                <a:solidFill>
                  <a:srgbClr val="4E3629"/>
                </a:solidFill>
                <a:latin typeface="Calibri"/>
                <a:cs typeface="Calibri"/>
              </a:rPr>
              <a:t>complejas</a:t>
            </a:r>
            <a:r>
              <a:rPr dirty="0" sz="2800" spc="-120">
                <a:solidFill>
                  <a:srgbClr val="4E3629"/>
                </a:solidFill>
                <a:latin typeface="Calibri"/>
                <a:cs typeface="Calibri"/>
              </a:rPr>
              <a:t> </a:t>
            </a:r>
            <a:r>
              <a:rPr dirty="0" sz="2800">
                <a:solidFill>
                  <a:srgbClr val="4E3629"/>
                </a:solidFill>
                <a:latin typeface="Calibri"/>
                <a:cs typeface="Calibri"/>
              </a:rPr>
              <a:t>consultas</a:t>
            </a:r>
            <a:r>
              <a:rPr dirty="0" sz="2800" spc="-100">
                <a:solidFill>
                  <a:srgbClr val="4E3629"/>
                </a:solidFill>
                <a:latin typeface="Calibri"/>
                <a:cs typeface="Calibri"/>
              </a:rPr>
              <a:t> </a:t>
            </a:r>
            <a:r>
              <a:rPr dirty="0" sz="2800">
                <a:solidFill>
                  <a:srgbClr val="4E3629"/>
                </a:solidFill>
                <a:latin typeface="Calibri"/>
                <a:cs typeface="Calibri"/>
              </a:rPr>
              <a:t>mediante</a:t>
            </a:r>
            <a:r>
              <a:rPr dirty="0" sz="2800" spc="-12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eliminación</a:t>
            </a:r>
            <a:r>
              <a:rPr dirty="0" sz="2800" spc="-30">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spc="-10">
                <a:solidFill>
                  <a:srgbClr val="4E3629"/>
                </a:solidFill>
                <a:latin typeface="Calibri"/>
                <a:cs typeface="Calibri"/>
              </a:rPr>
              <a:t>operaciones</a:t>
            </a:r>
            <a:r>
              <a:rPr dirty="0" sz="2800" spc="-35">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a:solidFill>
                  <a:srgbClr val="4E3629"/>
                </a:solidFill>
                <a:latin typeface="Calibri"/>
                <a:cs typeface="Calibri"/>
              </a:rPr>
              <a:t>unión</a:t>
            </a:r>
            <a:r>
              <a:rPr dirty="0" sz="2800" spc="-10">
                <a:solidFill>
                  <a:srgbClr val="4E3629"/>
                </a:solidFill>
                <a:latin typeface="Calibri"/>
                <a:cs typeface="Calibri"/>
              </a:rPr>
              <a:t> </a:t>
            </a:r>
            <a:r>
              <a:rPr dirty="0" sz="2800">
                <a:solidFill>
                  <a:srgbClr val="4E3629"/>
                </a:solidFill>
                <a:latin typeface="Calibri"/>
                <a:cs typeface="Calibri"/>
              </a:rPr>
              <a:t>y</a:t>
            </a:r>
            <a:r>
              <a:rPr dirty="0" sz="2800" spc="-50">
                <a:solidFill>
                  <a:srgbClr val="4E3629"/>
                </a:solidFill>
                <a:latin typeface="Calibri"/>
                <a:cs typeface="Calibri"/>
              </a:rPr>
              <a:t> </a:t>
            </a:r>
            <a:r>
              <a:rPr dirty="0" sz="2800">
                <a:solidFill>
                  <a:srgbClr val="4E3629"/>
                </a:solidFill>
                <a:latin typeface="Calibri"/>
                <a:cs typeface="Calibri"/>
              </a:rPr>
              <a:t>la</a:t>
            </a:r>
            <a:r>
              <a:rPr dirty="0" sz="2800" spc="-40">
                <a:solidFill>
                  <a:srgbClr val="4E3629"/>
                </a:solidFill>
                <a:latin typeface="Calibri"/>
                <a:cs typeface="Calibri"/>
              </a:rPr>
              <a:t> </a:t>
            </a:r>
            <a:r>
              <a:rPr dirty="0" sz="2800" spc="-10">
                <a:solidFill>
                  <a:srgbClr val="4E3629"/>
                </a:solidFill>
                <a:latin typeface="Calibri"/>
                <a:cs typeface="Calibri"/>
              </a:rPr>
              <a:t>condensación </a:t>
            </a:r>
            <a:r>
              <a:rPr dirty="0" sz="2800" spc="-1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varias</a:t>
            </a:r>
            <a:r>
              <a:rPr dirty="0" sz="2800" spc="-75">
                <a:solidFill>
                  <a:srgbClr val="4E3629"/>
                </a:solidFill>
                <a:latin typeface="Calibri"/>
                <a:cs typeface="Calibri"/>
              </a:rPr>
              <a:t> </a:t>
            </a:r>
            <a:r>
              <a:rPr dirty="0" sz="2800">
                <a:solidFill>
                  <a:srgbClr val="4E3629"/>
                </a:solidFill>
                <a:latin typeface="Calibri"/>
                <a:cs typeface="Calibri"/>
              </a:rPr>
              <a:t>consultas</a:t>
            </a:r>
            <a:r>
              <a:rPr dirty="0" sz="2800" spc="-35">
                <a:solidFill>
                  <a:srgbClr val="4E3629"/>
                </a:solidFill>
                <a:latin typeface="Calibri"/>
                <a:cs typeface="Calibri"/>
              </a:rPr>
              <a:t> </a:t>
            </a:r>
            <a:r>
              <a:rPr dirty="0" sz="2800">
                <a:solidFill>
                  <a:srgbClr val="4E3629"/>
                </a:solidFill>
                <a:latin typeface="Calibri"/>
                <a:cs typeface="Calibri"/>
              </a:rPr>
              <a:t>en</a:t>
            </a:r>
            <a:r>
              <a:rPr dirty="0" sz="2800" spc="-75">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spc="-20">
                <a:solidFill>
                  <a:srgbClr val="4E3629"/>
                </a:solidFill>
                <a:latin typeface="Calibri"/>
                <a:cs typeface="Calibri"/>
              </a:rPr>
              <a:t>sola</a:t>
            </a:r>
            <a:endParaRPr sz="28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Vistas</a:t>
            </a:r>
            <a:r>
              <a:rPr dirty="0" spc="-95"/>
              <a:t> </a:t>
            </a:r>
            <a:r>
              <a:rPr dirty="0"/>
              <a:t>en</a:t>
            </a:r>
            <a:r>
              <a:rPr dirty="0" spc="-75"/>
              <a:t> </a:t>
            </a:r>
            <a:r>
              <a:rPr dirty="0" spc="-10"/>
              <a:t>Línea</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15-</a:t>
            </a:r>
            <a:r>
              <a:rPr dirty="0" spc="-50"/>
              <a:t>3</a:t>
            </a:r>
          </a:p>
          <a:p>
            <a:pPr marL="12700">
              <a:lnSpc>
                <a:spcPts val="965"/>
              </a:lnSpc>
            </a:pPr>
            <a:r>
              <a:rPr dirty="0"/>
              <a:t>Gestión</a:t>
            </a:r>
            <a:r>
              <a:rPr dirty="0" spc="-20"/>
              <a:t> </a:t>
            </a:r>
            <a:r>
              <a:rPr dirty="0"/>
              <a:t>de</a:t>
            </a:r>
            <a:r>
              <a:rPr dirty="0" spc="-35"/>
              <a:t> </a:t>
            </a:r>
            <a:r>
              <a:rPr dirty="0" spc="-10"/>
              <a:t>Vistas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8</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984490" cy="2858770"/>
          </a:xfrm>
          <a:prstGeom prst="rect">
            <a:avLst/>
          </a:prstGeom>
        </p:spPr>
        <p:txBody>
          <a:bodyPr wrap="square" lIns="0" tIns="59690" rIns="0" bIns="0" rtlCol="0" vert="horz">
            <a:spAutoFit/>
          </a:bodyPr>
          <a:lstStyle/>
          <a:p>
            <a:pPr marL="182880" marR="18923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Como</a:t>
            </a:r>
            <a:r>
              <a:rPr dirty="0" sz="2800" spc="-75">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a:solidFill>
                  <a:srgbClr val="4E3629"/>
                </a:solidFill>
                <a:latin typeface="Calibri"/>
                <a:cs typeface="Calibri"/>
              </a:rPr>
              <a:t>muestra</a:t>
            </a:r>
            <a:r>
              <a:rPr dirty="0" sz="2800" spc="-45">
                <a:solidFill>
                  <a:srgbClr val="4E3629"/>
                </a:solidFill>
                <a:latin typeface="Calibri"/>
                <a:cs typeface="Calibri"/>
              </a:rPr>
              <a:t> </a:t>
            </a:r>
            <a:r>
              <a:rPr dirty="0" sz="2800">
                <a:solidFill>
                  <a:srgbClr val="4E3629"/>
                </a:solidFill>
                <a:latin typeface="Calibri"/>
                <a:cs typeface="Calibri"/>
              </a:rPr>
              <a:t>en</a:t>
            </a:r>
            <a:r>
              <a:rPr dirty="0" sz="2800" spc="-60">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siguiente</a:t>
            </a:r>
            <a:r>
              <a:rPr dirty="0" sz="2800" spc="-55">
                <a:solidFill>
                  <a:srgbClr val="4E3629"/>
                </a:solidFill>
                <a:latin typeface="Calibri"/>
                <a:cs typeface="Calibri"/>
              </a:rPr>
              <a:t> </a:t>
            </a:r>
            <a:r>
              <a:rPr dirty="0" sz="2800">
                <a:solidFill>
                  <a:srgbClr val="4E3629"/>
                </a:solidFill>
                <a:latin typeface="Calibri"/>
                <a:cs typeface="Calibri"/>
              </a:rPr>
              <a:t>ejemplo,</a:t>
            </a:r>
            <a:r>
              <a:rPr dirty="0" sz="2800" spc="-60">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spc="-10">
                <a:solidFill>
                  <a:srgbClr val="4E3629"/>
                </a:solidFill>
                <a:latin typeface="Calibri"/>
                <a:cs typeface="Calibri"/>
              </a:rPr>
              <a:t>cláusula </a:t>
            </a:r>
            <a:r>
              <a:rPr dirty="0" sz="2800" spc="-10">
                <a:solidFill>
                  <a:srgbClr val="4E3629"/>
                </a:solidFill>
                <a:latin typeface="Calibri"/>
                <a:cs typeface="Calibri"/>
              </a:rPr>
              <a:t>	</a:t>
            </a:r>
            <a:r>
              <a:rPr dirty="0" sz="2800">
                <a:solidFill>
                  <a:srgbClr val="4E3629"/>
                </a:solidFill>
                <a:latin typeface="Calibri"/>
                <a:cs typeface="Calibri"/>
              </a:rPr>
              <a:t>FROM</a:t>
            </a:r>
            <a:r>
              <a:rPr dirty="0" sz="2800" spc="-75">
                <a:solidFill>
                  <a:srgbClr val="4E3629"/>
                </a:solidFill>
                <a:latin typeface="Calibri"/>
                <a:cs typeface="Calibri"/>
              </a:rPr>
              <a:t> </a:t>
            </a:r>
            <a:r>
              <a:rPr dirty="0" sz="2800">
                <a:solidFill>
                  <a:srgbClr val="4E3629"/>
                </a:solidFill>
                <a:latin typeface="Calibri"/>
                <a:cs typeface="Calibri"/>
              </a:rPr>
              <a:t>contiene</a:t>
            </a:r>
            <a:r>
              <a:rPr dirty="0" sz="2800" spc="-65">
                <a:solidFill>
                  <a:srgbClr val="4E3629"/>
                </a:solidFill>
                <a:latin typeface="Calibri"/>
                <a:cs typeface="Calibri"/>
              </a:rPr>
              <a:t> </a:t>
            </a:r>
            <a:r>
              <a:rPr dirty="0" sz="2800">
                <a:solidFill>
                  <a:srgbClr val="4E3629"/>
                </a:solidFill>
                <a:latin typeface="Calibri"/>
                <a:cs typeface="Calibri"/>
              </a:rPr>
              <a:t>una</a:t>
            </a:r>
            <a:r>
              <a:rPr dirty="0" sz="2800" spc="-65">
                <a:solidFill>
                  <a:srgbClr val="4E3629"/>
                </a:solidFill>
                <a:latin typeface="Calibri"/>
                <a:cs typeface="Calibri"/>
              </a:rPr>
              <a:t> </a:t>
            </a:r>
            <a:r>
              <a:rPr dirty="0" sz="2800">
                <a:solidFill>
                  <a:srgbClr val="4E3629"/>
                </a:solidFill>
                <a:latin typeface="Calibri"/>
                <a:cs typeface="Calibri"/>
              </a:rPr>
              <a:t>sentencia</a:t>
            </a:r>
            <a:r>
              <a:rPr dirty="0" sz="2800" spc="-65">
                <a:solidFill>
                  <a:srgbClr val="4E3629"/>
                </a:solidFill>
                <a:latin typeface="Calibri"/>
                <a:cs typeface="Calibri"/>
              </a:rPr>
              <a:t> </a:t>
            </a:r>
            <a:r>
              <a:rPr dirty="0" sz="2800">
                <a:solidFill>
                  <a:srgbClr val="4E3629"/>
                </a:solidFill>
                <a:latin typeface="Calibri"/>
                <a:cs typeface="Calibri"/>
              </a:rPr>
              <a:t>SELECT</a:t>
            </a:r>
            <a:r>
              <a:rPr dirty="0" sz="2800" spc="-85">
                <a:solidFill>
                  <a:srgbClr val="4E3629"/>
                </a:solidFill>
                <a:latin typeface="Calibri"/>
                <a:cs typeface="Calibri"/>
              </a:rPr>
              <a:t> </a:t>
            </a:r>
            <a:r>
              <a:rPr dirty="0" sz="2800">
                <a:solidFill>
                  <a:srgbClr val="4E3629"/>
                </a:solidFill>
                <a:latin typeface="Calibri"/>
                <a:cs typeface="Calibri"/>
              </a:rPr>
              <a:t>que</a:t>
            </a:r>
            <a:r>
              <a:rPr dirty="0" sz="2800" spc="-65">
                <a:solidFill>
                  <a:srgbClr val="4E3629"/>
                </a:solidFill>
                <a:latin typeface="Calibri"/>
                <a:cs typeface="Calibri"/>
              </a:rPr>
              <a:t> </a:t>
            </a:r>
            <a:r>
              <a:rPr dirty="0" sz="2800" spc="-10">
                <a:solidFill>
                  <a:srgbClr val="4E3629"/>
                </a:solidFill>
                <a:latin typeface="Calibri"/>
                <a:cs typeface="Calibri"/>
              </a:rPr>
              <a:t>recupera </a:t>
            </a:r>
            <a:r>
              <a:rPr dirty="0" sz="2800" spc="-10">
                <a:solidFill>
                  <a:srgbClr val="4E3629"/>
                </a:solidFill>
                <a:latin typeface="Calibri"/>
                <a:cs typeface="Calibri"/>
              </a:rPr>
              <a:t>	</a:t>
            </a:r>
            <a:r>
              <a:rPr dirty="0" sz="2800">
                <a:solidFill>
                  <a:srgbClr val="4E3629"/>
                </a:solidFill>
                <a:latin typeface="Calibri"/>
                <a:cs typeface="Calibri"/>
              </a:rPr>
              <a:t>datos</a:t>
            </a:r>
            <a:r>
              <a:rPr dirty="0" sz="2800" spc="-114">
                <a:solidFill>
                  <a:srgbClr val="4E3629"/>
                </a:solidFill>
                <a:latin typeface="Calibri"/>
                <a:cs typeface="Calibri"/>
              </a:rPr>
              <a:t> </a:t>
            </a:r>
            <a:r>
              <a:rPr dirty="0" sz="2800">
                <a:solidFill>
                  <a:srgbClr val="4E3629"/>
                </a:solidFill>
                <a:latin typeface="Calibri"/>
                <a:cs typeface="Calibri"/>
              </a:rPr>
              <a:t>como</a:t>
            </a:r>
            <a:r>
              <a:rPr dirty="0" sz="2800" spc="-114">
                <a:solidFill>
                  <a:srgbClr val="4E3629"/>
                </a:solidFill>
                <a:latin typeface="Calibri"/>
                <a:cs typeface="Calibri"/>
              </a:rPr>
              <a:t> </a:t>
            </a:r>
            <a:r>
              <a:rPr dirty="0" sz="2800">
                <a:solidFill>
                  <a:srgbClr val="4E3629"/>
                </a:solidFill>
                <a:latin typeface="Calibri"/>
                <a:cs typeface="Calibri"/>
              </a:rPr>
              <a:t>cualquier</a:t>
            </a:r>
            <a:r>
              <a:rPr dirty="0" sz="2800" spc="-90">
                <a:solidFill>
                  <a:srgbClr val="4E3629"/>
                </a:solidFill>
                <a:latin typeface="Calibri"/>
                <a:cs typeface="Calibri"/>
              </a:rPr>
              <a:t> </a:t>
            </a:r>
            <a:r>
              <a:rPr dirty="0" sz="2800">
                <a:solidFill>
                  <a:srgbClr val="4E3629"/>
                </a:solidFill>
                <a:latin typeface="Calibri"/>
                <a:cs typeface="Calibri"/>
              </a:rPr>
              <a:t>sentencia</a:t>
            </a:r>
            <a:r>
              <a:rPr dirty="0" sz="2800" spc="-105">
                <a:solidFill>
                  <a:srgbClr val="4E3629"/>
                </a:solidFill>
                <a:latin typeface="Calibri"/>
                <a:cs typeface="Calibri"/>
              </a:rPr>
              <a:t> </a:t>
            </a:r>
            <a:r>
              <a:rPr dirty="0" sz="2800" spc="-10">
                <a:solidFill>
                  <a:srgbClr val="4E3629"/>
                </a:solidFill>
                <a:latin typeface="Calibri"/>
                <a:cs typeface="Calibri"/>
              </a:rPr>
              <a:t>SELECT</a:t>
            </a:r>
            <a:endParaRPr sz="2800">
              <a:latin typeface="Calibri"/>
              <a:cs typeface="Calibri"/>
            </a:endParaRPr>
          </a:p>
          <a:p>
            <a:pPr marL="182880" marR="5080"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A</a:t>
            </a:r>
            <a:r>
              <a:rPr dirty="0" sz="2800" spc="-45">
                <a:solidFill>
                  <a:srgbClr val="4E3629"/>
                </a:solidFill>
                <a:latin typeface="Calibri"/>
                <a:cs typeface="Calibri"/>
              </a:rPr>
              <a:t> </a:t>
            </a:r>
            <a:r>
              <a:rPr dirty="0" sz="2800">
                <a:solidFill>
                  <a:srgbClr val="4E3629"/>
                </a:solidFill>
                <a:latin typeface="Calibri"/>
                <a:cs typeface="Calibri"/>
              </a:rPr>
              <a:t>los</a:t>
            </a:r>
            <a:r>
              <a:rPr dirty="0" sz="2800" spc="-60">
                <a:solidFill>
                  <a:srgbClr val="4E3629"/>
                </a:solidFill>
                <a:latin typeface="Calibri"/>
                <a:cs typeface="Calibri"/>
              </a:rPr>
              <a:t> </a:t>
            </a:r>
            <a:r>
              <a:rPr dirty="0" sz="2800">
                <a:solidFill>
                  <a:srgbClr val="4E3629"/>
                </a:solidFill>
                <a:latin typeface="Calibri"/>
                <a:cs typeface="Calibri"/>
              </a:rPr>
              <a:t>datos</a:t>
            </a:r>
            <a:r>
              <a:rPr dirty="0" sz="2800" spc="-45">
                <a:solidFill>
                  <a:srgbClr val="4E3629"/>
                </a:solidFill>
                <a:latin typeface="Calibri"/>
                <a:cs typeface="Calibri"/>
              </a:rPr>
              <a:t> </a:t>
            </a:r>
            <a:r>
              <a:rPr dirty="0" sz="2800">
                <a:solidFill>
                  <a:srgbClr val="4E3629"/>
                </a:solidFill>
                <a:latin typeface="Calibri"/>
                <a:cs typeface="Calibri"/>
              </a:rPr>
              <a:t>devueltos</a:t>
            </a:r>
            <a:r>
              <a:rPr dirty="0" sz="2800" spc="-35">
                <a:solidFill>
                  <a:srgbClr val="4E3629"/>
                </a:solidFill>
                <a:latin typeface="Calibri"/>
                <a:cs typeface="Calibri"/>
              </a:rPr>
              <a:t> </a:t>
            </a:r>
            <a:r>
              <a:rPr dirty="0" sz="2800">
                <a:solidFill>
                  <a:srgbClr val="4E3629"/>
                </a:solidFill>
                <a:latin typeface="Calibri"/>
                <a:cs typeface="Calibri"/>
              </a:rPr>
              <a:t>por</a:t>
            </a:r>
            <a:r>
              <a:rPr dirty="0" sz="2800" spc="-5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subconsulta</a:t>
            </a:r>
            <a:r>
              <a:rPr dirty="0" sz="2800" spc="5">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les</a:t>
            </a:r>
            <a:r>
              <a:rPr dirty="0" sz="2800" spc="-45">
                <a:solidFill>
                  <a:srgbClr val="4E3629"/>
                </a:solidFill>
                <a:latin typeface="Calibri"/>
                <a:cs typeface="Calibri"/>
              </a:rPr>
              <a:t> </a:t>
            </a:r>
            <a:r>
              <a:rPr dirty="0" sz="2800" spc="-10">
                <a:solidFill>
                  <a:srgbClr val="4E3629"/>
                </a:solidFill>
                <a:latin typeface="Calibri"/>
                <a:cs typeface="Calibri"/>
              </a:rPr>
              <a:t>asigna </a:t>
            </a:r>
            <a:r>
              <a:rPr dirty="0" sz="2800" spc="-10">
                <a:solidFill>
                  <a:srgbClr val="4E3629"/>
                </a:solidFill>
                <a:latin typeface="Calibri"/>
                <a:cs typeface="Calibri"/>
              </a:rPr>
              <a:t>	</a:t>
            </a:r>
            <a:r>
              <a:rPr dirty="0" sz="2800">
                <a:solidFill>
                  <a:srgbClr val="4E3629"/>
                </a:solidFill>
                <a:latin typeface="Calibri"/>
                <a:cs typeface="Calibri"/>
              </a:rPr>
              <a:t>un</a:t>
            </a:r>
            <a:r>
              <a:rPr dirty="0" sz="2800" spc="-40">
                <a:solidFill>
                  <a:srgbClr val="4E3629"/>
                </a:solidFill>
                <a:latin typeface="Calibri"/>
                <a:cs typeface="Calibri"/>
              </a:rPr>
              <a:t> </a:t>
            </a:r>
            <a:r>
              <a:rPr dirty="0" sz="2800">
                <a:solidFill>
                  <a:srgbClr val="4E3629"/>
                </a:solidFill>
                <a:latin typeface="Calibri"/>
                <a:cs typeface="Calibri"/>
              </a:rPr>
              <a:t>alias</a:t>
            </a:r>
            <a:r>
              <a:rPr dirty="0" sz="2800" spc="-60">
                <a:solidFill>
                  <a:srgbClr val="4E3629"/>
                </a:solidFill>
                <a:latin typeface="Calibri"/>
                <a:cs typeface="Calibri"/>
              </a:rPr>
              <a:t> </a:t>
            </a:r>
            <a:r>
              <a:rPr dirty="0" sz="2800">
                <a:solidFill>
                  <a:srgbClr val="4E3629"/>
                </a:solidFill>
                <a:latin typeface="Calibri"/>
                <a:cs typeface="Calibri"/>
              </a:rPr>
              <a:t>(d),</a:t>
            </a:r>
            <a:r>
              <a:rPr dirty="0" sz="2800" spc="-50">
                <a:solidFill>
                  <a:srgbClr val="4E3629"/>
                </a:solidFill>
                <a:latin typeface="Calibri"/>
                <a:cs typeface="Calibri"/>
              </a:rPr>
              <a:t> </a:t>
            </a:r>
            <a:r>
              <a:rPr dirty="0" sz="2800">
                <a:solidFill>
                  <a:srgbClr val="4E3629"/>
                </a:solidFill>
                <a:latin typeface="Calibri"/>
                <a:cs typeface="Calibri"/>
              </a:rPr>
              <a:t>que,</a:t>
            </a:r>
            <a:r>
              <a:rPr dirty="0" sz="2800" spc="-35">
                <a:solidFill>
                  <a:srgbClr val="4E3629"/>
                </a:solidFill>
                <a:latin typeface="Calibri"/>
                <a:cs typeface="Calibri"/>
              </a:rPr>
              <a:t> </a:t>
            </a:r>
            <a:r>
              <a:rPr dirty="0" sz="2800">
                <a:solidFill>
                  <a:srgbClr val="4E3629"/>
                </a:solidFill>
                <a:latin typeface="Calibri"/>
                <a:cs typeface="Calibri"/>
              </a:rPr>
              <a:t>a</a:t>
            </a:r>
            <a:r>
              <a:rPr dirty="0" sz="2800" spc="-65">
                <a:solidFill>
                  <a:srgbClr val="4E3629"/>
                </a:solidFill>
                <a:latin typeface="Calibri"/>
                <a:cs typeface="Calibri"/>
              </a:rPr>
              <a:t> </a:t>
            </a:r>
            <a:r>
              <a:rPr dirty="0" sz="2800" spc="-10">
                <a:solidFill>
                  <a:srgbClr val="4E3629"/>
                </a:solidFill>
                <a:latin typeface="Calibri"/>
                <a:cs typeface="Calibri"/>
              </a:rPr>
              <a:t>continuación,</a:t>
            </a:r>
            <a:r>
              <a:rPr dirty="0" sz="2800" spc="-20">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a:solidFill>
                  <a:srgbClr val="4E3629"/>
                </a:solidFill>
                <a:latin typeface="Calibri"/>
                <a:cs typeface="Calibri"/>
              </a:rPr>
              <a:t>utiliza</a:t>
            </a:r>
            <a:r>
              <a:rPr dirty="0" sz="2800" spc="-50">
                <a:solidFill>
                  <a:srgbClr val="4E3629"/>
                </a:solidFill>
                <a:latin typeface="Calibri"/>
                <a:cs typeface="Calibri"/>
              </a:rPr>
              <a:t> </a:t>
            </a:r>
            <a:r>
              <a:rPr dirty="0" sz="2800">
                <a:solidFill>
                  <a:srgbClr val="4E3629"/>
                </a:solidFill>
                <a:latin typeface="Calibri"/>
                <a:cs typeface="Calibri"/>
              </a:rPr>
              <a:t>junto</a:t>
            </a:r>
            <a:r>
              <a:rPr dirty="0" sz="2800" spc="-35">
                <a:solidFill>
                  <a:srgbClr val="4E3629"/>
                </a:solidFill>
                <a:latin typeface="Calibri"/>
                <a:cs typeface="Calibri"/>
              </a:rPr>
              <a:t> </a:t>
            </a:r>
            <a:r>
              <a:rPr dirty="0" sz="2800">
                <a:solidFill>
                  <a:srgbClr val="4E3629"/>
                </a:solidFill>
                <a:latin typeface="Calibri"/>
                <a:cs typeface="Calibri"/>
              </a:rPr>
              <a:t>con</a:t>
            </a:r>
            <a:r>
              <a:rPr dirty="0" sz="2800" spc="-55">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consulta</a:t>
            </a:r>
            <a:r>
              <a:rPr dirty="0" sz="2800" spc="-105">
                <a:solidFill>
                  <a:srgbClr val="4E3629"/>
                </a:solidFill>
                <a:latin typeface="Calibri"/>
                <a:cs typeface="Calibri"/>
              </a:rPr>
              <a:t> </a:t>
            </a:r>
            <a:r>
              <a:rPr dirty="0" sz="2800">
                <a:solidFill>
                  <a:srgbClr val="4E3629"/>
                </a:solidFill>
                <a:latin typeface="Calibri"/>
                <a:cs typeface="Calibri"/>
              </a:rPr>
              <a:t>principal</a:t>
            </a:r>
            <a:r>
              <a:rPr dirty="0" sz="2800" spc="-105">
                <a:solidFill>
                  <a:srgbClr val="4E3629"/>
                </a:solidFill>
                <a:latin typeface="Calibri"/>
                <a:cs typeface="Calibri"/>
              </a:rPr>
              <a:t> </a:t>
            </a:r>
            <a:r>
              <a:rPr dirty="0" sz="2800">
                <a:solidFill>
                  <a:srgbClr val="4E3629"/>
                </a:solidFill>
                <a:latin typeface="Calibri"/>
                <a:cs typeface="Calibri"/>
              </a:rPr>
              <a:t>para</a:t>
            </a:r>
            <a:r>
              <a:rPr dirty="0" sz="2800" spc="-114">
                <a:solidFill>
                  <a:srgbClr val="4E3629"/>
                </a:solidFill>
                <a:latin typeface="Calibri"/>
                <a:cs typeface="Calibri"/>
              </a:rPr>
              <a:t> </a:t>
            </a:r>
            <a:r>
              <a:rPr dirty="0" sz="2800">
                <a:solidFill>
                  <a:srgbClr val="4E3629"/>
                </a:solidFill>
                <a:latin typeface="Calibri"/>
                <a:cs typeface="Calibri"/>
              </a:rPr>
              <a:t>devolver</a:t>
            </a:r>
            <a:r>
              <a:rPr dirty="0" sz="2800" spc="-130">
                <a:solidFill>
                  <a:srgbClr val="4E3629"/>
                </a:solidFill>
                <a:latin typeface="Calibri"/>
                <a:cs typeface="Calibri"/>
              </a:rPr>
              <a:t> </a:t>
            </a:r>
            <a:r>
              <a:rPr dirty="0" sz="2800" spc="-10">
                <a:solidFill>
                  <a:srgbClr val="4E3629"/>
                </a:solidFill>
                <a:latin typeface="Calibri"/>
                <a:cs typeface="Calibri"/>
              </a:rPr>
              <a:t>columnas </a:t>
            </a:r>
            <a:r>
              <a:rPr dirty="0" sz="2800" spc="-10">
                <a:solidFill>
                  <a:srgbClr val="4E3629"/>
                </a:solidFill>
                <a:latin typeface="Calibri"/>
                <a:cs typeface="Calibri"/>
              </a:rPr>
              <a:t>	</a:t>
            </a:r>
            <a:r>
              <a:rPr dirty="0" sz="2800">
                <a:solidFill>
                  <a:srgbClr val="4E3629"/>
                </a:solidFill>
                <a:latin typeface="Calibri"/>
                <a:cs typeface="Calibri"/>
              </a:rPr>
              <a:t>seleccionadas</a:t>
            </a:r>
            <a:r>
              <a:rPr dirty="0" sz="2800" spc="-55">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ambos</a:t>
            </a:r>
            <a:r>
              <a:rPr dirty="0" sz="2800" spc="-50">
                <a:solidFill>
                  <a:srgbClr val="4E3629"/>
                </a:solidFill>
                <a:latin typeface="Calibri"/>
                <a:cs typeface="Calibri"/>
              </a:rPr>
              <a:t> </a:t>
            </a:r>
            <a:r>
              <a:rPr dirty="0" sz="2800">
                <a:solidFill>
                  <a:srgbClr val="4E3629"/>
                </a:solidFill>
                <a:latin typeface="Calibri"/>
                <a:cs typeface="Calibri"/>
              </a:rPr>
              <a:t>orígenes</a:t>
            </a:r>
            <a:r>
              <a:rPr dirty="0" sz="2800" spc="-8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10">
                <a:solidFill>
                  <a:srgbClr val="4E3629"/>
                </a:solidFill>
                <a:latin typeface="Calibri"/>
                <a:cs typeface="Calibri"/>
              </a:rPr>
              <a:t>consulta</a:t>
            </a:r>
            <a:endParaRPr sz="2800">
              <a:latin typeface="Calibri"/>
              <a:cs typeface="Calibri"/>
            </a:endParaRPr>
          </a:p>
        </p:txBody>
      </p:sp>
      <p:sp>
        <p:nvSpPr>
          <p:cNvPr id="4" name="object 4" descr=""/>
          <p:cNvSpPr txBox="1"/>
          <p:nvPr/>
        </p:nvSpPr>
        <p:spPr>
          <a:xfrm>
            <a:off x="393191" y="4247388"/>
            <a:ext cx="8351520" cy="1836420"/>
          </a:xfrm>
          <a:prstGeom prst="rect">
            <a:avLst/>
          </a:prstGeom>
          <a:solidFill>
            <a:srgbClr val="9DBEC4">
              <a:alpha val="50199"/>
            </a:srgbClr>
          </a:solidFill>
        </p:spPr>
        <p:txBody>
          <a:bodyPr wrap="square" lIns="0" tIns="0" rIns="0" bIns="0" rtlCol="0" vert="horz">
            <a:spAutoFit/>
          </a:bodyPr>
          <a:lstStyle/>
          <a:p>
            <a:pPr>
              <a:lnSpc>
                <a:spcPts val="1614"/>
              </a:lnSpc>
            </a:pPr>
            <a:r>
              <a:rPr dirty="0" sz="1800" b="1">
                <a:solidFill>
                  <a:srgbClr val="4E3629"/>
                </a:solidFill>
                <a:latin typeface="Courier New"/>
                <a:cs typeface="Courier New"/>
              </a:rPr>
              <a:t>SELECT</a:t>
            </a:r>
            <a:r>
              <a:rPr dirty="0" sz="1800" spc="-110" b="1">
                <a:solidFill>
                  <a:srgbClr val="4E3629"/>
                </a:solidFill>
                <a:latin typeface="Courier New"/>
                <a:cs typeface="Courier New"/>
              </a:rPr>
              <a:t> </a:t>
            </a:r>
            <a:r>
              <a:rPr dirty="0" sz="1800" b="1">
                <a:solidFill>
                  <a:srgbClr val="4E3629"/>
                </a:solidFill>
                <a:latin typeface="Courier New"/>
                <a:cs typeface="Courier New"/>
              </a:rPr>
              <a:t>e.last_name,</a:t>
            </a:r>
            <a:r>
              <a:rPr dirty="0" sz="1800" spc="-105" b="1">
                <a:solidFill>
                  <a:srgbClr val="4E3629"/>
                </a:solidFill>
                <a:latin typeface="Courier New"/>
                <a:cs typeface="Courier New"/>
              </a:rPr>
              <a:t> </a:t>
            </a:r>
            <a:r>
              <a:rPr dirty="0" sz="1800" b="1">
                <a:solidFill>
                  <a:srgbClr val="4E3629"/>
                </a:solidFill>
                <a:latin typeface="Courier New"/>
                <a:cs typeface="Courier New"/>
              </a:rPr>
              <a:t>e.salary,</a:t>
            </a:r>
            <a:r>
              <a:rPr dirty="0" sz="1800" spc="-105" b="1">
                <a:solidFill>
                  <a:srgbClr val="4E3629"/>
                </a:solidFill>
                <a:latin typeface="Courier New"/>
                <a:cs typeface="Courier New"/>
              </a:rPr>
              <a:t> </a:t>
            </a:r>
            <a:r>
              <a:rPr dirty="0" sz="1800" b="1">
                <a:solidFill>
                  <a:srgbClr val="4E3629"/>
                </a:solidFill>
                <a:latin typeface="Courier New"/>
                <a:cs typeface="Courier New"/>
              </a:rPr>
              <a:t>e.department_id,</a:t>
            </a:r>
            <a:r>
              <a:rPr dirty="0" sz="1800" spc="-100" b="1">
                <a:solidFill>
                  <a:srgbClr val="4E3629"/>
                </a:solidFill>
                <a:latin typeface="Courier New"/>
                <a:cs typeface="Courier New"/>
              </a:rPr>
              <a:t> </a:t>
            </a:r>
            <a:r>
              <a:rPr dirty="0" sz="1800" spc="-10" b="1">
                <a:solidFill>
                  <a:srgbClr val="4E3629"/>
                </a:solidFill>
                <a:latin typeface="Courier New"/>
                <a:cs typeface="Courier New"/>
              </a:rPr>
              <a:t>d.maxsal</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65" b="1">
                <a:solidFill>
                  <a:srgbClr val="4E3629"/>
                </a:solidFill>
                <a:latin typeface="Courier New"/>
                <a:cs typeface="Courier New"/>
              </a:rPr>
              <a:t> </a:t>
            </a:r>
            <a:r>
              <a:rPr dirty="0" sz="1800" b="1">
                <a:solidFill>
                  <a:srgbClr val="4E3629"/>
                </a:solidFill>
                <a:latin typeface="Courier New"/>
                <a:cs typeface="Courier New"/>
              </a:rPr>
              <a:t>employees</a:t>
            </a:r>
            <a:r>
              <a:rPr dirty="0" sz="1800" spc="-60" b="1">
                <a:solidFill>
                  <a:srgbClr val="4E3629"/>
                </a:solidFill>
                <a:latin typeface="Courier New"/>
                <a:cs typeface="Courier New"/>
              </a:rPr>
              <a:t> </a:t>
            </a:r>
            <a:r>
              <a:rPr dirty="0" sz="1800" spc="-25" b="1">
                <a:solidFill>
                  <a:srgbClr val="4E3629"/>
                </a:solidFill>
                <a:latin typeface="Courier New"/>
                <a:cs typeface="Courier New"/>
              </a:rPr>
              <a:t>e,</a:t>
            </a:r>
            <a:endParaRPr sz="1800">
              <a:latin typeface="Courier New"/>
              <a:cs typeface="Courier New"/>
            </a:endParaRPr>
          </a:p>
          <a:p>
            <a:pPr marL="1092200" marR="1792605" indent="-135890">
              <a:lnSpc>
                <a:spcPct val="100000"/>
              </a:lnSpc>
            </a:pPr>
            <a:r>
              <a:rPr dirty="0" sz="1800" b="1">
                <a:solidFill>
                  <a:srgbClr val="D1350F"/>
                </a:solidFill>
                <a:latin typeface="Courier New"/>
                <a:cs typeface="Courier New"/>
              </a:rPr>
              <a:t>(SELECT</a:t>
            </a:r>
            <a:r>
              <a:rPr dirty="0" sz="1800" spc="-105" b="1">
                <a:solidFill>
                  <a:srgbClr val="D1350F"/>
                </a:solidFill>
                <a:latin typeface="Courier New"/>
                <a:cs typeface="Courier New"/>
              </a:rPr>
              <a:t> </a:t>
            </a:r>
            <a:r>
              <a:rPr dirty="0" sz="1800" b="1">
                <a:solidFill>
                  <a:srgbClr val="D1350F"/>
                </a:solidFill>
                <a:latin typeface="Courier New"/>
                <a:cs typeface="Courier New"/>
              </a:rPr>
              <a:t>department_id,</a:t>
            </a:r>
            <a:r>
              <a:rPr dirty="0" sz="1800" spc="-105" b="1">
                <a:solidFill>
                  <a:srgbClr val="D1350F"/>
                </a:solidFill>
                <a:latin typeface="Courier New"/>
                <a:cs typeface="Courier New"/>
              </a:rPr>
              <a:t> </a:t>
            </a:r>
            <a:r>
              <a:rPr dirty="0" sz="1800" b="1">
                <a:solidFill>
                  <a:srgbClr val="D1350F"/>
                </a:solidFill>
                <a:latin typeface="Courier New"/>
                <a:cs typeface="Courier New"/>
              </a:rPr>
              <a:t>max(salary)</a:t>
            </a:r>
            <a:r>
              <a:rPr dirty="0" sz="1800" spc="-100" b="1">
                <a:solidFill>
                  <a:srgbClr val="D1350F"/>
                </a:solidFill>
                <a:latin typeface="Courier New"/>
                <a:cs typeface="Courier New"/>
              </a:rPr>
              <a:t> </a:t>
            </a:r>
            <a:r>
              <a:rPr dirty="0" sz="1800" spc="-10" b="1">
                <a:solidFill>
                  <a:srgbClr val="D1350F"/>
                </a:solidFill>
                <a:latin typeface="Courier New"/>
                <a:cs typeface="Courier New"/>
              </a:rPr>
              <a:t>maxsal </a:t>
            </a:r>
            <a:r>
              <a:rPr dirty="0" sz="1800" b="1">
                <a:solidFill>
                  <a:srgbClr val="D1350F"/>
                </a:solidFill>
                <a:latin typeface="Courier New"/>
                <a:cs typeface="Courier New"/>
              </a:rPr>
              <a:t>FROM</a:t>
            </a:r>
            <a:r>
              <a:rPr dirty="0" sz="1800" spc="-40" b="1">
                <a:solidFill>
                  <a:srgbClr val="D1350F"/>
                </a:solidFill>
                <a:latin typeface="Courier New"/>
                <a:cs typeface="Courier New"/>
              </a:rPr>
              <a:t> </a:t>
            </a:r>
            <a:r>
              <a:rPr dirty="0" sz="1800" spc="-10" b="1">
                <a:solidFill>
                  <a:srgbClr val="D1350F"/>
                </a:solidFill>
                <a:latin typeface="Courier New"/>
                <a:cs typeface="Courier New"/>
              </a:rPr>
              <a:t>employees</a:t>
            </a:r>
            <a:endParaRPr sz="1800">
              <a:latin typeface="Courier New"/>
              <a:cs typeface="Courier New"/>
            </a:endParaRPr>
          </a:p>
          <a:p>
            <a:pPr marR="3021330" indent="1092200">
              <a:lnSpc>
                <a:spcPct val="100000"/>
              </a:lnSpc>
            </a:pPr>
            <a:r>
              <a:rPr dirty="0" sz="1800" b="1">
                <a:solidFill>
                  <a:srgbClr val="D1350F"/>
                </a:solidFill>
                <a:latin typeface="Courier New"/>
                <a:cs typeface="Courier New"/>
              </a:rPr>
              <a:t>GROUP</a:t>
            </a:r>
            <a:r>
              <a:rPr dirty="0" sz="1800" spc="-85" b="1">
                <a:solidFill>
                  <a:srgbClr val="D1350F"/>
                </a:solidFill>
                <a:latin typeface="Courier New"/>
                <a:cs typeface="Courier New"/>
              </a:rPr>
              <a:t> </a:t>
            </a:r>
            <a:r>
              <a:rPr dirty="0" sz="1800" b="1">
                <a:solidFill>
                  <a:srgbClr val="D1350F"/>
                </a:solidFill>
                <a:latin typeface="Courier New"/>
                <a:cs typeface="Courier New"/>
              </a:rPr>
              <a:t>BY</a:t>
            </a:r>
            <a:r>
              <a:rPr dirty="0" sz="1800" spc="-70" b="1">
                <a:solidFill>
                  <a:srgbClr val="D1350F"/>
                </a:solidFill>
                <a:latin typeface="Courier New"/>
                <a:cs typeface="Courier New"/>
              </a:rPr>
              <a:t> </a:t>
            </a:r>
            <a:r>
              <a:rPr dirty="0" sz="1800" b="1">
                <a:solidFill>
                  <a:srgbClr val="D1350F"/>
                </a:solidFill>
                <a:latin typeface="Courier New"/>
                <a:cs typeface="Courier New"/>
              </a:rPr>
              <a:t>department_id)</a:t>
            </a:r>
            <a:r>
              <a:rPr dirty="0" sz="1800" spc="-70" b="1">
                <a:solidFill>
                  <a:srgbClr val="D1350F"/>
                </a:solidFill>
                <a:latin typeface="Courier New"/>
                <a:cs typeface="Courier New"/>
              </a:rPr>
              <a:t> </a:t>
            </a:r>
            <a:r>
              <a:rPr dirty="0" sz="1800" spc="-50" b="1">
                <a:solidFill>
                  <a:srgbClr val="D1350F"/>
                </a:solidFill>
                <a:latin typeface="Courier New"/>
                <a:cs typeface="Courier New"/>
              </a:rPr>
              <a:t>d</a:t>
            </a:r>
            <a:r>
              <a:rPr dirty="0" sz="1800" spc="500" b="1">
                <a:solidFill>
                  <a:srgbClr val="D1350F"/>
                </a:solidFill>
                <a:latin typeface="Courier New"/>
                <a:cs typeface="Courier New"/>
              </a:rPr>
              <a:t> </a:t>
            </a:r>
            <a:r>
              <a:rPr dirty="0" sz="1800" b="1">
                <a:solidFill>
                  <a:srgbClr val="4E3629"/>
                </a:solidFill>
                <a:latin typeface="Courier New"/>
                <a:cs typeface="Courier New"/>
              </a:rPr>
              <a:t>WHERE</a:t>
            </a:r>
            <a:r>
              <a:rPr dirty="0" sz="1800" spc="-80" b="1">
                <a:solidFill>
                  <a:srgbClr val="4E3629"/>
                </a:solidFill>
                <a:latin typeface="Courier New"/>
                <a:cs typeface="Courier New"/>
              </a:rPr>
              <a:t> </a:t>
            </a:r>
            <a:r>
              <a:rPr dirty="0" sz="1800" b="1">
                <a:solidFill>
                  <a:srgbClr val="4E3629"/>
                </a:solidFill>
                <a:latin typeface="Courier New"/>
                <a:cs typeface="Courier New"/>
              </a:rPr>
              <a:t>e.department_id</a:t>
            </a:r>
            <a:r>
              <a:rPr dirty="0" sz="1800" spc="-80" b="1">
                <a:solidFill>
                  <a:srgbClr val="4E3629"/>
                </a:solidFill>
                <a:latin typeface="Courier New"/>
                <a:cs typeface="Courier New"/>
              </a:rPr>
              <a:t> </a:t>
            </a:r>
            <a:r>
              <a:rPr dirty="0" sz="1800" b="1">
                <a:solidFill>
                  <a:srgbClr val="4E3629"/>
                </a:solidFill>
                <a:latin typeface="Courier New"/>
                <a:cs typeface="Courier New"/>
              </a:rPr>
              <a:t>=</a:t>
            </a:r>
            <a:r>
              <a:rPr dirty="0" sz="1800" spc="-55" b="1">
                <a:solidFill>
                  <a:srgbClr val="4E3629"/>
                </a:solidFill>
                <a:latin typeface="Courier New"/>
                <a:cs typeface="Courier New"/>
              </a:rPr>
              <a:t> </a:t>
            </a:r>
            <a:r>
              <a:rPr dirty="0" sz="1800" spc="-10" b="1">
                <a:solidFill>
                  <a:srgbClr val="4E3629"/>
                </a:solidFill>
                <a:latin typeface="Courier New"/>
                <a:cs typeface="Courier New"/>
              </a:rPr>
              <a:t>d.department_id </a:t>
            </a:r>
            <a:r>
              <a:rPr dirty="0" sz="1800" b="1">
                <a:solidFill>
                  <a:srgbClr val="4E3629"/>
                </a:solidFill>
                <a:latin typeface="Courier New"/>
                <a:cs typeface="Courier New"/>
              </a:rPr>
              <a:t>AND</a:t>
            </a:r>
            <a:r>
              <a:rPr dirty="0" sz="1800" spc="-45" b="1">
                <a:solidFill>
                  <a:srgbClr val="4E3629"/>
                </a:solidFill>
                <a:latin typeface="Courier New"/>
                <a:cs typeface="Courier New"/>
              </a:rPr>
              <a:t> </a:t>
            </a:r>
            <a:r>
              <a:rPr dirty="0" sz="1800" b="1">
                <a:solidFill>
                  <a:srgbClr val="4E3629"/>
                </a:solidFill>
                <a:latin typeface="Courier New"/>
                <a:cs typeface="Courier New"/>
              </a:rPr>
              <a:t>e.salary</a:t>
            </a:r>
            <a:r>
              <a:rPr dirty="0" sz="1800" spc="-30" b="1">
                <a:solidFill>
                  <a:srgbClr val="4E3629"/>
                </a:solidFill>
                <a:latin typeface="Courier New"/>
                <a:cs typeface="Courier New"/>
              </a:rPr>
              <a:t> </a:t>
            </a:r>
            <a:r>
              <a:rPr dirty="0" sz="1800" b="1">
                <a:solidFill>
                  <a:srgbClr val="4E3629"/>
                </a:solidFill>
                <a:latin typeface="Courier New"/>
                <a:cs typeface="Courier New"/>
              </a:rPr>
              <a:t>=</a:t>
            </a:r>
            <a:r>
              <a:rPr dirty="0" sz="1800" spc="-40" b="1">
                <a:solidFill>
                  <a:srgbClr val="4E3629"/>
                </a:solidFill>
                <a:latin typeface="Courier New"/>
                <a:cs typeface="Courier New"/>
              </a:rPr>
              <a:t> </a:t>
            </a:r>
            <a:r>
              <a:rPr dirty="0" sz="1800" spc="-10" b="1">
                <a:solidFill>
                  <a:srgbClr val="4E3629"/>
                </a:solidFill>
                <a:latin typeface="Courier New"/>
                <a:cs typeface="Courier New"/>
              </a:rPr>
              <a:t>d.maxsal;</a:t>
            </a:r>
            <a:endParaRPr sz="1800">
              <a:latin typeface="Courier New"/>
              <a:cs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ANÁLISIS</a:t>
            </a:r>
            <a:r>
              <a:rPr dirty="0" spc="-30"/>
              <a:t> </a:t>
            </a:r>
            <a:r>
              <a:rPr dirty="0"/>
              <a:t>DE</a:t>
            </a:r>
            <a:r>
              <a:rPr dirty="0" spc="-50"/>
              <a:t> </a:t>
            </a:r>
            <a:r>
              <a:rPr dirty="0"/>
              <a:t>N</a:t>
            </a:r>
            <a:r>
              <a:rPr dirty="0" spc="-40"/>
              <a:t> </a:t>
            </a:r>
            <a:r>
              <a:rPr dirty="0" spc="-20"/>
              <a:t>PRINCIPALES</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15-</a:t>
            </a:r>
            <a:r>
              <a:rPr dirty="0" spc="-50"/>
              <a:t>3</a:t>
            </a:r>
          </a:p>
          <a:p>
            <a:pPr marL="12700">
              <a:lnSpc>
                <a:spcPts val="965"/>
              </a:lnSpc>
            </a:pPr>
            <a:r>
              <a:rPr dirty="0"/>
              <a:t>Gestión</a:t>
            </a:r>
            <a:r>
              <a:rPr dirty="0" spc="-20"/>
              <a:t> </a:t>
            </a:r>
            <a:r>
              <a:rPr dirty="0"/>
              <a:t>de</a:t>
            </a:r>
            <a:r>
              <a:rPr dirty="0" spc="-35"/>
              <a:t> </a:t>
            </a:r>
            <a:r>
              <a:rPr dirty="0" spc="-10"/>
              <a:t>Vistas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9</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868284" cy="2474595"/>
          </a:xfrm>
          <a:prstGeom prst="rect">
            <a:avLst/>
          </a:prstGeom>
        </p:spPr>
        <p:txBody>
          <a:bodyPr wrap="square" lIns="0" tIns="59690" rIns="0" bIns="0" rtlCol="0" vert="horz">
            <a:spAutoFit/>
          </a:bodyPr>
          <a:lstStyle/>
          <a:p>
            <a:pPr marL="182880" marR="71120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análisis</a:t>
            </a:r>
            <a:r>
              <a:rPr dirty="0" sz="2800" spc="-5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N</a:t>
            </a:r>
            <a:r>
              <a:rPr dirty="0" sz="2800" spc="-50">
                <a:solidFill>
                  <a:srgbClr val="4E3629"/>
                </a:solidFill>
                <a:latin typeface="Calibri"/>
                <a:cs typeface="Calibri"/>
              </a:rPr>
              <a:t> </a:t>
            </a:r>
            <a:r>
              <a:rPr dirty="0" sz="2800">
                <a:solidFill>
                  <a:srgbClr val="4E3629"/>
                </a:solidFill>
                <a:latin typeface="Calibri"/>
                <a:cs typeface="Calibri"/>
              </a:rPr>
              <a:t>principales</a:t>
            </a:r>
            <a:r>
              <a:rPr dirty="0" sz="2800" spc="-25">
                <a:solidFill>
                  <a:srgbClr val="4E3629"/>
                </a:solidFill>
                <a:latin typeface="Calibri"/>
                <a:cs typeface="Calibri"/>
              </a:rPr>
              <a:t> </a:t>
            </a:r>
            <a:r>
              <a:rPr dirty="0" sz="2800">
                <a:solidFill>
                  <a:srgbClr val="4E3629"/>
                </a:solidFill>
                <a:latin typeface="Calibri"/>
                <a:cs typeface="Calibri"/>
              </a:rPr>
              <a:t>es</a:t>
            </a:r>
            <a:r>
              <a:rPr dirty="0" sz="2800" spc="-60">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a:solidFill>
                  <a:srgbClr val="4E3629"/>
                </a:solidFill>
                <a:latin typeface="Calibri"/>
                <a:cs typeface="Calibri"/>
              </a:rPr>
              <a:t>operación</a:t>
            </a:r>
            <a:r>
              <a:rPr dirty="0" sz="2800" spc="-45">
                <a:solidFill>
                  <a:srgbClr val="4E3629"/>
                </a:solidFill>
                <a:latin typeface="Calibri"/>
                <a:cs typeface="Calibri"/>
              </a:rPr>
              <a:t> </a:t>
            </a:r>
            <a:r>
              <a:rPr dirty="0" sz="2800" spc="-25">
                <a:solidFill>
                  <a:srgbClr val="4E3629"/>
                </a:solidFill>
                <a:latin typeface="Calibri"/>
                <a:cs typeface="Calibri"/>
              </a:rPr>
              <a:t>SQL </a:t>
            </a:r>
            <a:r>
              <a:rPr dirty="0" sz="2800" spc="-25">
                <a:solidFill>
                  <a:srgbClr val="4E3629"/>
                </a:solidFill>
                <a:latin typeface="Calibri"/>
                <a:cs typeface="Calibri"/>
              </a:rPr>
              <a:t>	</a:t>
            </a:r>
            <a:r>
              <a:rPr dirty="0" sz="2800">
                <a:solidFill>
                  <a:srgbClr val="4E3629"/>
                </a:solidFill>
                <a:latin typeface="Calibri"/>
                <a:cs typeface="Calibri"/>
              </a:rPr>
              <a:t>utilizada</a:t>
            </a:r>
            <a:r>
              <a:rPr dirty="0" sz="2800" spc="-110">
                <a:solidFill>
                  <a:srgbClr val="4E3629"/>
                </a:solidFill>
                <a:latin typeface="Calibri"/>
                <a:cs typeface="Calibri"/>
              </a:rPr>
              <a:t> </a:t>
            </a:r>
            <a:r>
              <a:rPr dirty="0" sz="2800">
                <a:solidFill>
                  <a:srgbClr val="4E3629"/>
                </a:solidFill>
                <a:latin typeface="Calibri"/>
                <a:cs typeface="Calibri"/>
              </a:rPr>
              <a:t>para</a:t>
            </a:r>
            <a:r>
              <a:rPr dirty="0" sz="2800" spc="-105">
                <a:solidFill>
                  <a:srgbClr val="4E3629"/>
                </a:solidFill>
                <a:latin typeface="Calibri"/>
                <a:cs typeface="Calibri"/>
              </a:rPr>
              <a:t> </a:t>
            </a:r>
            <a:r>
              <a:rPr dirty="0" sz="2800">
                <a:solidFill>
                  <a:srgbClr val="4E3629"/>
                </a:solidFill>
                <a:latin typeface="Calibri"/>
                <a:cs typeface="Calibri"/>
              </a:rPr>
              <a:t>clasificar</a:t>
            </a:r>
            <a:r>
              <a:rPr dirty="0" sz="2800" spc="-114">
                <a:solidFill>
                  <a:srgbClr val="4E3629"/>
                </a:solidFill>
                <a:latin typeface="Calibri"/>
                <a:cs typeface="Calibri"/>
              </a:rPr>
              <a:t> </a:t>
            </a:r>
            <a:r>
              <a:rPr dirty="0" sz="2800" spc="-10">
                <a:solidFill>
                  <a:srgbClr val="4E3629"/>
                </a:solidFill>
                <a:latin typeface="Calibri"/>
                <a:cs typeface="Calibri"/>
              </a:rPr>
              <a:t>resultados</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uso</a:t>
            </a:r>
            <a:r>
              <a:rPr dirty="0" sz="2800" spc="-45">
                <a:solidFill>
                  <a:srgbClr val="4E3629"/>
                </a:solidFill>
                <a:latin typeface="Calibri"/>
                <a:cs typeface="Calibri"/>
              </a:rPr>
              <a:t> </a:t>
            </a:r>
            <a:r>
              <a:rPr dirty="0" sz="2800">
                <a:solidFill>
                  <a:srgbClr val="4E3629"/>
                </a:solidFill>
                <a:latin typeface="Calibri"/>
                <a:cs typeface="Calibri"/>
              </a:rPr>
              <a:t>del</a:t>
            </a:r>
            <a:r>
              <a:rPr dirty="0" sz="2800" spc="-55">
                <a:solidFill>
                  <a:srgbClr val="4E3629"/>
                </a:solidFill>
                <a:latin typeface="Calibri"/>
                <a:cs typeface="Calibri"/>
              </a:rPr>
              <a:t> </a:t>
            </a:r>
            <a:r>
              <a:rPr dirty="0" sz="2800">
                <a:solidFill>
                  <a:srgbClr val="4E3629"/>
                </a:solidFill>
                <a:latin typeface="Calibri"/>
                <a:cs typeface="Calibri"/>
              </a:rPr>
              <a:t>análisis</a:t>
            </a:r>
            <a:r>
              <a:rPr dirty="0" sz="2800" spc="-3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N</a:t>
            </a:r>
            <a:r>
              <a:rPr dirty="0" sz="2800" spc="-50">
                <a:solidFill>
                  <a:srgbClr val="4E3629"/>
                </a:solidFill>
                <a:latin typeface="Calibri"/>
                <a:cs typeface="Calibri"/>
              </a:rPr>
              <a:t> </a:t>
            </a:r>
            <a:r>
              <a:rPr dirty="0" sz="2800">
                <a:solidFill>
                  <a:srgbClr val="4E3629"/>
                </a:solidFill>
                <a:latin typeface="Calibri"/>
                <a:cs typeface="Calibri"/>
              </a:rPr>
              <a:t>principales</a:t>
            </a:r>
            <a:r>
              <a:rPr dirty="0" sz="2800" spc="-30">
                <a:solidFill>
                  <a:srgbClr val="4E3629"/>
                </a:solidFill>
                <a:latin typeface="Calibri"/>
                <a:cs typeface="Calibri"/>
              </a:rPr>
              <a:t> </a:t>
            </a:r>
            <a:r>
              <a:rPr dirty="0" sz="2800">
                <a:solidFill>
                  <a:srgbClr val="4E3629"/>
                </a:solidFill>
                <a:latin typeface="Calibri"/>
                <a:cs typeface="Calibri"/>
              </a:rPr>
              <a:t>resulta</a:t>
            </a:r>
            <a:r>
              <a:rPr dirty="0" sz="2800" spc="-45">
                <a:solidFill>
                  <a:srgbClr val="4E3629"/>
                </a:solidFill>
                <a:latin typeface="Calibri"/>
                <a:cs typeface="Calibri"/>
              </a:rPr>
              <a:t> </a:t>
            </a:r>
            <a:r>
              <a:rPr dirty="0" sz="2800">
                <a:solidFill>
                  <a:srgbClr val="4E3629"/>
                </a:solidFill>
                <a:latin typeface="Calibri"/>
                <a:cs typeface="Calibri"/>
              </a:rPr>
              <a:t>útil</a:t>
            </a:r>
            <a:r>
              <a:rPr dirty="0" sz="2800" spc="-40">
                <a:solidFill>
                  <a:srgbClr val="4E3629"/>
                </a:solidFill>
                <a:latin typeface="Calibri"/>
                <a:cs typeface="Calibri"/>
              </a:rPr>
              <a:t> </a:t>
            </a:r>
            <a:r>
              <a:rPr dirty="0" sz="2800" spc="-10">
                <a:solidFill>
                  <a:srgbClr val="4E3629"/>
                </a:solidFill>
                <a:latin typeface="Calibri"/>
                <a:cs typeface="Calibri"/>
              </a:rPr>
              <a:t>cuando </a:t>
            </a:r>
            <a:r>
              <a:rPr dirty="0" sz="2800" spc="-10">
                <a:solidFill>
                  <a:srgbClr val="4E3629"/>
                </a:solidFill>
                <a:latin typeface="Calibri"/>
                <a:cs typeface="Calibri"/>
              </a:rPr>
              <a:t>	</a:t>
            </a:r>
            <a:r>
              <a:rPr dirty="0" sz="2800">
                <a:solidFill>
                  <a:srgbClr val="4E3629"/>
                </a:solidFill>
                <a:latin typeface="Calibri"/>
                <a:cs typeface="Calibri"/>
              </a:rPr>
              <a:t>desea</a:t>
            </a:r>
            <a:r>
              <a:rPr dirty="0" sz="2800" spc="-65">
                <a:solidFill>
                  <a:srgbClr val="4E3629"/>
                </a:solidFill>
                <a:latin typeface="Calibri"/>
                <a:cs typeface="Calibri"/>
              </a:rPr>
              <a:t> </a:t>
            </a:r>
            <a:r>
              <a:rPr dirty="0" sz="2800" spc="-10">
                <a:solidFill>
                  <a:srgbClr val="4E3629"/>
                </a:solidFill>
                <a:latin typeface="Calibri"/>
                <a:cs typeface="Calibri"/>
              </a:rPr>
              <a:t>recuperar</a:t>
            </a:r>
            <a:r>
              <a:rPr dirty="0" sz="2800" spc="-45">
                <a:solidFill>
                  <a:srgbClr val="4E3629"/>
                </a:solidFill>
                <a:latin typeface="Calibri"/>
                <a:cs typeface="Calibri"/>
              </a:rPr>
              <a:t> </a:t>
            </a:r>
            <a:r>
              <a:rPr dirty="0" sz="2800">
                <a:solidFill>
                  <a:srgbClr val="4E3629"/>
                </a:solidFill>
                <a:latin typeface="Calibri"/>
                <a:cs typeface="Calibri"/>
              </a:rPr>
              <a:t>los</a:t>
            </a:r>
            <a:r>
              <a:rPr dirty="0" sz="2800" spc="-60">
                <a:solidFill>
                  <a:srgbClr val="4E3629"/>
                </a:solidFill>
                <a:latin typeface="Calibri"/>
                <a:cs typeface="Calibri"/>
              </a:rPr>
              <a:t> </a:t>
            </a:r>
            <a:r>
              <a:rPr dirty="0" sz="2800">
                <a:solidFill>
                  <a:srgbClr val="4E3629"/>
                </a:solidFill>
                <a:latin typeface="Calibri"/>
                <a:cs typeface="Calibri"/>
              </a:rPr>
              <a:t>5</a:t>
            </a:r>
            <a:r>
              <a:rPr dirty="0" sz="2800" spc="-55">
                <a:solidFill>
                  <a:srgbClr val="4E3629"/>
                </a:solidFill>
                <a:latin typeface="Calibri"/>
                <a:cs typeface="Calibri"/>
              </a:rPr>
              <a:t> </a:t>
            </a:r>
            <a:r>
              <a:rPr dirty="0" sz="2800" spc="-10">
                <a:solidFill>
                  <a:srgbClr val="4E3629"/>
                </a:solidFill>
                <a:latin typeface="Calibri"/>
                <a:cs typeface="Calibri"/>
              </a:rPr>
              <a:t>registros</a:t>
            </a:r>
            <a:r>
              <a:rPr dirty="0" sz="2800" spc="-60">
                <a:solidFill>
                  <a:srgbClr val="4E3629"/>
                </a:solidFill>
                <a:latin typeface="Calibri"/>
                <a:cs typeface="Calibri"/>
              </a:rPr>
              <a:t> </a:t>
            </a:r>
            <a:r>
              <a:rPr dirty="0" sz="2800">
                <a:solidFill>
                  <a:srgbClr val="4E3629"/>
                </a:solidFill>
                <a:latin typeface="Calibri"/>
                <a:cs typeface="Calibri"/>
              </a:rPr>
              <a:t>principales</a:t>
            </a:r>
            <a:r>
              <a:rPr dirty="0" sz="2800" spc="-25">
                <a:solidFill>
                  <a:srgbClr val="4E3629"/>
                </a:solidFill>
                <a:latin typeface="Calibri"/>
                <a:cs typeface="Calibri"/>
              </a:rPr>
              <a:t> </a:t>
            </a:r>
            <a:r>
              <a:rPr dirty="0" sz="2800">
                <a:solidFill>
                  <a:srgbClr val="4E3629"/>
                </a:solidFill>
                <a:latin typeface="Calibri"/>
                <a:cs typeface="Calibri"/>
              </a:rPr>
              <a:t>o</a:t>
            </a:r>
            <a:r>
              <a:rPr dirty="0" sz="2800" spc="-65">
                <a:solidFill>
                  <a:srgbClr val="4E3629"/>
                </a:solidFill>
                <a:latin typeface="Calibri"/>
                <a:cs typeface="Calibri"/>
              </a:rPr>
              <a:t> </a:t>
            </a:r>
            <a:r>
              <a:rPr dirty="0" sz="2800">
                <a:solidFill>
                  <a:srgbClr val="4E3629"/>
                </a:solidFill>
                <a:latin typeface="Calibri"/>
                <a:cs typeface="Calibri"/>
              </a:rPr>
              <a:t>los</a:t>
            </a:r>
            <a:r>
              <a:rPr dirty="0" sz="2800" spc="-70">
                <a:solidFill>
                  <a:srgbClr val="4E3629"/>
                </a:solidFill>
                <a:latin typeface="Calibri"/>
                <a:cs typeface="Calibri"/>
              </a:rPr>
              <a:t> </a:t>
            </a:r>
            <a:r>
              <a:rPr dirty="0" sz="2800" spc="-50">
                <a:solidFill>
                  <a:srgbClr val="4E3629"/>
                </a:solidFill>
                <a:latin typeface="Calibri"/>
                <a:cs typeface="Calibri"/>
              </a:rPr>
              <a:t>n </a:t>
            </a:r>
            <a:r>
              <a:rPr dirty="0" sz="2800" spc="-50">
                <a:solidFill>
                  <a:srgbClr val="4E3629"/>
                </a:solidFill>
                <a:latin typeface="Calibri"/>
                <a:cs typeface="Calibri"/>
              </a:rPr>
              <a:t>	</a:t>
            </a:r>
            <a:r>
              <a:rPr dirty="0" sz="2800" spc="-10">
                <a:solidFill>
                  <a:srgbClr val="4E3629"/>
                </a:solidFill>
                <a:latin typeface="Calibri"/>
                <a:cs typeface="Calibri"/>
              </a:rPr>
              <a:t>registros</a:t>
            </a:r>
            <a:r>
              <a:rPr dirty="0" sz="2800" spc="-40">
                <a:solidFill>
                  <a:srgbClr val="4E3629"/>
                </a:solidFill>
                <a:latin typeface="Calibri"/>
                <a:cs typeface="Calibri"/>
              </a:rPr>
              <a:t> </a:t>
            </a:r>
            <a:r>
              <a:rPr dirty="0" sz="2800">
                <a:solidFill>
                  <a:srgbClr val="4E3629"/>
                </a:solidFill>
                <a:latin typeface="Calibri"/>
                <a:cs typeface="Calibri"/>
              </a:rPr>
              <a:t>principales</a:t>
            </a:r>
            <a:r>
              <a:rPr dirty="0" sz="2800" spc="-2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un</a:t>
            </a:r>
            <a:r>
              <a:rPr dirty="0" sz="2800" spc="-40">
                <a:solidFill>
                  <a:srgbClr val="4E3629"/>
                </a:solidFill>
                <a:latin typeface="Calibri"/>
                <a:cs typeface="Calibri"/>
              </a:rPr>
              <a:t> </a:t>
            </a:r>
            <a:r>
              <a:rPr dirty="0" sz="2800">
                <a:solidFill>
                  <a:srgbClr val="4E3629"/>
                </a:solidFill>
                <a:latin typeface="Calibri"/>
                <a:cs typeface="Calibri"/>
              </a:rPr>
              <a:t>juego</a:t>
            </a:r>
            <a:r>
              <a:rPr dirty="0" sz="2800" spc="-5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spc="-10">
                <a:solidFill>
                  <a:srgbClr val="4E3629"/>
                </a:solidFill>
                <a:latin typeface="Calibri"/>
                <a:cs typeface="Calibri"/>
              </a:rPr>
              <a:t>resultados </a:t>
            </a:r>
            <a:r>
              <a:rPr dirty="0" sz="2800" spc="-10">
                <a:solidFill>
                  <a:srgbClr val="4E3629"/>
                </a:solidFill>
                <a:latin typeface="Calibri"/>
                <a:cs typeface="Calibri"/>
              </a:rPr>
              <a:t>	</a:t>
            </a:r>
            <a:r>
              <a:rPr dirty="0" sz="2800">
                <a:solidFill>
                  <a:srgbClr val="4E3629"/>
                </a:solidFill>
                <a:latin typeface="Calibri"/>
                <a:cs typeface="Calibri"/>
              </a:rPr>
              <a:t>devuelto</a:t>
            </a:r>
            <a:r>
              <a:rPr dirty="0" sz="2800" spc="-70">
                <a:solidFill>
                  <a:srgbClr val="4E3629"/>
                </a:solidFill>
                <a:latin typeface="Calibri"/>
                <a:cs typeface="Calibri"/>
              </a:rPr>
              <a:t> </a:t>
            </a:r>
            <a:r>
              <a:rPr dirty="0" sz="2800">
                <a:solidFill>
                  <a:srgbClr val="4E3629"/>
                </a:solidFill>
                <a:latin typeface="Calibri"/>
                <a:cs typeface="Calibri"/>
              </a:rPr>
              <a:t>por</a:t>
            </a:r>
            <a:r>
              <a:rPr dirty="0" sz="2800" spc="-75">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spc="-10">
                <a:solidFill>
                  <a:srgbClr val="4E3629"/>
                </a:solidFill>
                <a:latin typeface="Calibri"/>
                <a:cs typeface="Calibri"/>
              </a:rPr>
              <a:t>consulta</a:t>
            </a:r>
            <a:endParaRPr sz="2800">
              <a:latin typeface="Calibri"/>
              <a:cs typeface="Calibri"/>
            </a:endParaRPr>
          </a:p>
        </p:txBody>
      </p:sp>
      <p:graphicFrame>
        <p:nvGraphicFramePr>
          <p:cNvPr id="4" name="object 4" descr=""/>
          <p:cNvGraphicFramePr>
            <a:graphicFrameLocks noGrp="1"/>
          </p:cNvGraphicFramePr>
          <p:nvPr/>
        </p:nvGraphicFramePr>
        <p:xfrm>
          <a:off x="411225" y="3858514"/>
          <a:ext cx="8434705" cy="2652395"/>
        </p:xfrm>
        <a:graphic>
          <a:graphicData uri="http://schemas.openxmlformats.org/drawingml/2006/table">
            <a:tbl>
              <a:tblPr firstRow="1" bandRow="1">
                <a:tableStyleId>{2D5ABB26-0587-4C30-8999-92F81FD0307C}</a:tableStyleId>
              </a:tblPr>
              <a:tblGrid>
                <a:gridCol w="3049270"/>
                <a:gridCol w="1769745"/>
                <a:gridCol w="1763394"/>
                <a:gridCol w="1763395"/>
              </a:tblGrid>
              <a:tr h="1076960">
                <a:tc gridSpan="4">
                  <a:txBody>
                    <a:bodyPr/>
                    <a:lstStyle/>
                    <a:p>
                      <a:pPr>
                        <a:lnSpc>
                          <a:spcPts val="1725"/>
                        </a:lnSpc>
                      </a:pPr>
                      <a:r>
                        <a:rPr dirty="0" sz="1800" b="1">
                          <a:solidFill>
                            <a:srgbClr val="4E3629"/>
                          </a:solidFill>
                          <a:latin typeface="Courier New"/>
                          <a:cs typeface="Courier New"/>
                        </a:rPr>
                        <a:t>SELECT</a:t>
                      </a:r>
                      <a:r>
                        <a:rPr dirty="0" sz="1800" spc="-75" b="1">
                          <a:solidFill>
                            <a:srgbClr val="4E3629"/>
                          </a:solidFill>
                          <a:latin typeface="Courier New"/>
                          <a:cs typeface="Courier New"/>
                        </a:rPr>
                        <a:t> </a:t>
                      </a:r>
                      <a:r>
                        <a:rPr dirty="0" sz="1800" b="1">
                          <a:solidFill>
                            <a:srgbClr val="4E3629"/>
                          </a:solidFill>
                          <a:latin typeface="Courier New"/>
                          <a:cs typeface="Courier New"/>
                        </a:rPr>
                        <a:t>ROWNUM</a:t>
                      </a:r>
                      <a:r>
                        <a:rPr dirty="0" sz="1800" spc="-70" b="1">
                          <a:solidFill>
                            <a:srgbClr val="4E3629"/>
                          </a:solidFill>
                          <a:latin typeface="Courier New"/>
                          <a:cs typeface="Courier New"/>
                        </a:rPr>
                        <a:t> </a:t>
                      </a:r>
                      <a:r>
                        <a:rPr dirty="0" sz="1800" b="1">
                          <a:solidFill>
                            <a:srgbClr val="4E3629"/>
                          </a:solidFill>
                          <a:latin typeface="Courier New"/>
                          <a:cs typeface="Courier New"/>
                        </a:rPr>
                        <a:t>AS</a:t>
                      </a:r>
                      <a:r>
                        <a:rPr dirty="0" sz="1800" spc="-70" b="1">
                          <a:solidFill>
                            <a:srgbClr val="4E3629"/>
                          </a:solidFill>
                          <a:latin typeface="Courier New"/>
                          <a:cs typeface="Courier New"/>
                        </a:rPr>
                        <a:t> </a:t>
                      </a:r>
                      <a:r>
                        <a:rPr dirty="0" sz="1800" b="1">
                          <a:solidFill>
                            <a:srgbClr val="4E3629"/>
                          </a:solidFill>
                          <a:latin typeface="Courier New"/>
                          <a:cs typeface="Courier New"/>
                        </a:rPr>
                        <a:t>"Longest</a:t>
                      </a:r>
                      <a:r>
                        <a:rPr dirty="0" sz="1800" spc="-70" b="1">
                          <a:solidFill>
                            <a:srgbClr val="4E3629"/>
                          </a:solidFill>
                          <a:latin typeface="Courier New"/>
                          <a:cs typeface="Courier New"/>
                        </a:rPr>
                        <a:t> </a:t>
                      </a:r>
                      <a:r>
                        <a:rPr dirty="0" sz="1800" b="1">
                          <a:solidFill>
                            <a:srgbClr val="4E3629"/>
                          </a:solidFill>
                          <a:latin typeface="Courier New"/>
                          <a:cs typeface="Courier New"/>
                        </a:rPr>
                        <a:t>employed",</a:t>
                      </a:r>
                      <a:r>
                        <a:rPr dirty="0" sz="1800" spc="-70" b="1">
                          <a:solidFill>
                            <a:srgbClr val="4E3629"/>
                          </a:solidFill>
                          <a:latin typeface="Courier New"/>
                          <a:cs typeface="Courier New"/>
                        </a:rPr>
                        <a:t> </a:t>
                      </a:r>
                      <a:r>
                        <a:rPr dirty="0" sz="1800" b="1">
                          <a:solidFill>
                            <a:srgbClr val="4E3629"/>
                          </a:solidFill>
                          <a:latin typeface="Courier New"/>
                          <a:cs typeface="Courier New"/>
                        </a:rPr>
                        <a:t>last_name,</a:t>
                      </a:r>
                      <a:r>
                        <a:rPr dirty="0" sz="1800" spc="-70" b="1">
                          <a:solidFill>
                            <a:srgbClr val="4E3629"/>
                          </a:solidFill>
                          <a:latin typeface="Courier New"/>
                          <a:cs typeface="Courier New"/>
                        </a:rPr>
                        <a:t> </a:t>
                      </a:r>
                      <a:r>
                        <a:rPr dirty="0" sz="1800" spc="-10" b="1">
                          <a:solidFill>
                            <a:srgbClr val="4E3629"/>
                          </a:solidFill>
                          <a:latin typeface="Courier New"/>
                          <a:cs typeface="Courier New"/>
                        </a:rPr>
                        <a:t>hire_date</a:t>
                      </a:r>
                      <a:endParaRPr sz="1800">
                        <a:latin typeface="Courier New"/>
                        <a:cs typeface="Courier New"/>
                      </a:endParaRPr>
                    </a:p>
                    <a:p>
                      <a:pPr marR="6152515">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 </a:t>
                      </a:r>
                      <a:r>
                        <a:rPr dirty="0" sz="1800" b="1">
                          <a:solidFill>
                            <a:srgbClr val="4E3629"/>
                          </a:solidFill>
                          <a:latin typeface="Courier New"/>
                          <a:cs typeface="Courier New"/>
                        </a:rPr>
                        <a:t>WHERE</a:t>
                      </a:r>
                      <a:r>
                        <a:rPr dirty="0" sz="1800" spc="-70" b="1">
                          <a:solidFill>
                            <a:srgbClr val="4E3629"/>
                          </a:solidFill>
                          <a:latin typeface="Courier New"/>
                          <a:cs typeface="Courier New"/>
                        </a:rPr>
                        <a:t> </a:t>
                      </a:r>
                      <a:r>
                        <a:rPr dirty="0" sz="1800" b="1">
                          <a:solidFill>
                            <a:srgbClr val="4E3629"/>
                          </a:solidFill>
                          <a:latin typeface="Courier New"/>
                          <a:cs typeface="Courier New"/>
                        </a:rPr>
                        <a:t>ROWNUM</a:t>
                      </a:r>
                      <a:r>
                        <a:rPr dirty="0" sz="1800" spc="-45" b="1">
                          <a:solidFill>
                            <a:srgbClr val="4E3629"/>
                          </a:solidFill>
                          <a:latin typeface="Courier New"/>
                          <a:cs typeface="Courier New"/>
                        </a:rPr>
                        <a:t> </a:t>
                      </a:r>
                      <a:r>
                        <a:rPr dirty="0" sz="1800" spc="-25" b="1">
                          <a:solidFill>
                            <a:srgbClr val="4E3629"/>
                          </a:solidFill>
                          <a:latin typeface="Courier New"/>
                          <a:cs typeface="Courier New"/>
                        </a:rPr>
                        <a:t>&lt;=5</a:t>
                      </a:r>
                      <a:endParaRPr sz="1800">
                        <a:latin typeface="Courier New"/>
                        <a:cs typeface="Courier New"/>
                      </a:endParaRPr>
                    </a:p>
                    <a:p>
                      <a:pPr>
                        <a:lnSpc>
                          <a:spcPct val="100000"/>
                        </a:lnSpc>
                      </a:pPr>
                      <a:r>
                        <a:rPr dirty="0" sz="1800" b="1">
                          <a:solidFill>
                            <a:srgbClr val="4E3629"/>
                          </a:solidFill>
                          <a:latin typeface="Courier New"/>
                          <a:cs typeface="Courier New"/>
                        </a:rPr>
                        <a:t>ORDER</a:t>
                      </a:r>
                      <a:r>
                        <a:rPr dirty="0" sz="1800" spc="-35" b="1">
                          <a:solidFill>
                            <a:srgbClr val="4E3629"/>
                          </a:solidFill>
                          <a:latin typeface="Courier New"/>
                          <a:cs typeface="Courier New"/>
                        </a:rPr>
                        <a:t> </a:t>
                      </a:r>
                      <a:r>
                        <a:rPr dirty="0" sz="1800" b="1">
                          <a:solidFill>
                            <a:srgbClr val="4E3629"/>
                          </a:solidFill>
                          <a:latin typeface="Courier New"/>
                          <a:cs typeface="Courier New"/>
                        </a:rPr>
                        <a:t>BY</a:t>
                      </a:r>
                      <a:r>
                        <a:rPr dirty="0" sz="1800" spc="-30" b="1">
                          <a:solidFill>
                            <a:srgbClr val="4E3629"/>
                          </a:solidFill>
                          <a:latin typeface="Courier New"/>
                          <a:cs typeface="Courier New"/>
                        </a:rPr>
                        <a:t> </a:t>
                      </a:r>
                      <a:r>
                        <a:rPr dirty="0" sz="1800" spc="-10" b="1">
                          <a:solidFill>
                            <a:srgbClr val="4E3629"/>
                          </a:solidFill>
                          <a:latin typeface="Courier New"/>
                          <a:cs typeface="Courier New"/>
                        </a:rPr>
                        <a:t>hire_date;</a:t>
                      </a:r>
                      <a:endParaRPr sz="1800">
                        <a:latin typeface="Courier New"/>
                        <a:cs typeface="Courier New"/>
                      </a:endParaRPr>
                    </a:p>
                  </a:txBody>
                  <a:tcPr marL="0" marR="0" marB="0" marT="0">
                    <a:solidFill>
                      <a:srgbClr val="9DBEC4">
                        <a:alpha val="50199"/>
                      </a:srgbClr>
                    </a:solidFill>
                  </a:tcPr>
                </a:tc>
                <a:tc hMerge="1">
                  <a:txBody>
                    <a:bodyPr/>
                    <a:lstStyle/>
                    <a:p>
                      <a:pPr/>
                    </a:p>
                  </a:txBody>
                  <a:tcPr marL="0" marR="0" marB="0" marT="0"/>
                </a:tc>
                <a:tc hMerge="1">
                  <a:txBody>
                    <a:bodyPr/>
                    <a:lstStyle/>
                    <a:p>
                      <a:pPr/>
                    </a:p>
                  </a:txBody>
                  <a:tcPr marL="0" marR="0" marB="0" marT="0"/>
                </a:tc>
                <a:tc hMerge="1">
                  <a:txBody>
                    <a:bodyPr/>
                    <a:lstStyle/>
                    <a:p>
                      <a:pPr/>
                    </a:p>
                  </a:txBody>
                  <a:tcPr marL="0" marR="0" marB="0" marT="0"/>
                </a:tc>
              </a:tr>
              <a:tr h="289560">
                <a:tc rowSpan="6">
                  <a:txBody>
                    <a:bodyPr/>
                    <a:lstStyle/>
                    <a:p>
                      <a:pPr>
                        <a:lnSpc>
                          <a:spcPct val="100000"/>
                        </a:lnSpc>
                      </a:pPr>
                      <a:endParaRPr sz="2000">
                        <a:latin typeface="Times New Roman"/>
                        <a:cs typeface="Times New Roman"/>
                      </a:endParaRPr>
                    </a:p>
                  </a:txBody>
                  <a:tcPr marL="0" marR="0" marB="0" marT="0">
                    <a:lnR w="12700">
                      <a:solidFill>
                        <a:srgbClr val="D1350F"/>
                      </a:solidFill>
                      <a:prstDash val="solid"/>
                    </a:lnR>
                  </a:tcPr>
                </a:tc>
                <a:tc>
                  <a:txBody>
                    <a:bodyPr/>
                    <a:lstStyle/>
                    <a:p>
                      <a:pPr marL="71755">
                        <a:lnSpc>
                          <a:spcPct val="100000"/>
                        </a:lnSpc>
                        <a:spcBef>
                          <a:spcPts val="80"/>
                        </a:spcBef>
                      </a:pPr>
                      <a:r>
                        <a:rPr dirty="0" sz="1600" b="1">
                          <a:solidFill>
                            <a:srgbClr val="4E3629"/>
                          </a:solidFill>
                          <a:latin typeface="Calibri"/>
                          <a:cs typeface="Calibri"/>
                        </a:rPr>
                        <a:t>Longest</a:t>
                      </a:r>
                      <a:r>
                        <a:rPr dirty="0" sz="1600" spc="-80" b="1">
                          <a:solidFill>
                            <a:srgbClr val="4E3629"/>
                          </a:solidFill>
                          <a:latin typeface="Calibri"/>
                          <a:cs typeface="Calibri"/>
                        </a:rPr>
                        <a:t> </a:t>
                      </a:r>
                      <a:r>
                        <a:rPr dirty="0" sz="1600" spc="-10" b="1">
                          <a:solidFill>
                            <a:srgbClr val="4E3629"/>
                          </a:solidFill>
                          <a:latin typeface="Calibri"/>
                          <a:cs typeface="Calibri"/>
                        </a:rPr>
                        <a:t>employed</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80"/>
                        </a:spcBef>
                      </a:pPr>
                      <a:r>
                        <a:rPr dirty="0" sz="1600" spc="-10" b="1">
                          <a:solidFill>
                            <a:srgbClr val="4E3629"/>
                          </a:solidFill>
                          <a:latin typeface="Calibri"/>
                          <a:cs typeface="Calibri"/>
                        </a:rPr>
                        <a:t>LAST_NAME</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80"/>
                        </a:spcBef>
                      </a:pPr>
                      <a:r>
                        <a:rPr dirty="0" sz="1600" spc="-10" b="1">
                          <a:solidFill>
                            <a:srgbClr val="4E3629"/>
                          </a:solidFill>
                          <a:latin typeface="Calibri"/>
                          <a:cs typeface="Calibri"/>
                        </a:rPr>
                        <a:t>HIRE_DATE</a:t>
                      </a:r>
                      <a:endParaRPr sz="1600">
                        <a:latin typeface="Calibri"/>
                        <a:cs typeface="Calibri"/>
                      </a:endParaRPr>
                    </a:p>
                  </a:txBody>
                  <a:tcPr marL="0" marR="0" marB="0" marT="1016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57175">
                <a:tc vMerge="1">
                  <a:txBody>
                    <a:bodyPr/>
                    <a:lstStyle/>
                    <a:p>
                      <a:pPr/>
                    </a:p>
                  </a:txBody>
                  <a:tcPr marL="0" marR="0" marB="0" marT="0">
                    <a:lnR w="12700">
                      <a:solidFill>
                        <a:srgbClr val="D1350F"/>
                      </a:solidFill>
                      <a:prstDash val="solid"/>
                    </a:lnR>
                  </a:tcPr>
                </a:tc>
                <a:tc>
                  <a:txBody>
                    <a:bodyPr/>
                    <a:lstStyle/>
                    <a:p>
                      <a:pPr marL="71755">
                        <a:lnSpc>
                          <a:spcPts val="1875"/>
                        </a:lnSpc>
                      </a:pPr>
                      <a:r>
                        <a:rPr dirty="0" sz="1600" spc="-50">
                          <a:solidFill>
                            <a:srgbClr val="4E3629"/>
                          </a:solidFill>
                          <a:latin typeface="Calibri"/>
                          <a:cs typeface="Calibri"/>
                        </a:rPr>
                        <a:t>1</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75"/>
                        </a:lnSpc>
                      </a:pPr>
                      <a:r>
                        <a:rPr dirty="0" sz="1600" spc="-20">
                          <a:solidFill>
                            <a:srgbClr val="4E3629"/>
                          </a:solidFill>
                          <a:latin typeface="Calibri"/>
                          <a:cs typeface="Calibri"/>
                        </a:rPr>
                        <a:t>King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875"/>
                        </a:lnSpc>
                      </a:pPr>
                      <a:r>
                        <a:rPr dirty="0" sz="1600" spc="-10">
                          <a:solidFill>
                            <a:srgbClr val="4E3629"/>
                          </a:solidFill>
                          <a:latin typeface="Calibri"/>
                          <a:cs typeface="Calibri"/>
                        </a:rPr>
                        <a:t>17-Jun-</a:t>
                      </a:r>
                      <a:r>
                        <a:rPr dirty="0" sz="1600" spc="-20">
                          <a:solidFill>
                            <a:srgbClr val="4E3629"/>
                          </a:solidFill>
                          <a:latin typeface="Calibri"/>
                          <a:cs typeface="Calibri"/>
                        </a:rPr>
                        <a:t>1987</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57175">
                <a:tc vMerge="1">
                  <a:txBody>
                    <a:bodyPr/>
                    <a:lstStyle/>
                    <a:p>
                      <a:pPr/>
                    </a:p>
                  </a:txBody>
                  <a:tcPr marL="0" marR="0" marB="0" marT="0">
                    <a:lnR w="12700">
                      <a:solidFill>
                        <a:srgbClr val="D1350F"/>
                      </a:solidFill>
                      <a:prstDash val="solid"/>
                    </a:lnR>
                  </a:tcPr>
                </a:tc>
                <a:tc>
                  <a:txBody>
                    <a:bodyPr/>
                    <a:lstStyle/>
                    <a:p>
                      <a:pPr marL="71755">
                        <a:lnSpc>
                          <a:spcPts val="1875"/>
                        </a:lnSpc>
                      </a:pPr>
                      <a:r>
                        <a:rPr dirty="0" sz="1600" spc="-50">
                          <a:solidFill>
                            <a:srgbClr val="4E3629"/>
                          </a:solidFill>
                          <a:latin typeface="Calibri"/>
                          <a:cs typeface="Calibri"/>
                        </a:rPr>
                        <a:t>4</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875"/>
                        </a:lnSpc>
                      </a:pPr>
                      <a:r>
                        <a:rPr dirty="0" sz="1600" spc="-10">
                          <a:solidFill>
                            <a:srgbClr val="4E3629"/>
                          </a:solidFill>
                          <a:latin typeface="Calibri"/>
                          <a:cs typeface="Calibri"/>
                        </a:rPr>
                        <a:t>Whalen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875"/>
                        </a:lnSpc>
                      </a:pPr>
                      <a:r>
                        <a:rPr dirty="0" sz="1600" spc="-10">
                          <a:solidFill>
                            <a:srgbClr val="4E3629"/>
                          </a:solidFill>
                          <a:latin typeface="Calibri"/>
                          <a:cs typeface="Calibri"/>
                        </a:rPr>
                        <a:t>17-Sep-</a:t>
                      </a:r>
                      <a:r>
                        <a:rPr dirty="0" sz="1600" spc="-20">
                          <a:solidFill>
                            <a:srgbClr val="4E3629"/>
                          </a:solidFill>
                          <a:latin typeface="Calibri"/>
                          <a:cs typeface="Calibri"/>
                        </a:rPr>
                        <a:t>1987</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57175">
                <a:tc vMerge="1">
                  <a:txBody>
                    <a:bodyPr/>
                    <a:lstStyle/>
                    <a:p>
                      <a:pPr/>
                    </a:p>
                  </a:txBody>
                  <a:tcPr marL="0" marR="0" marB="0" marT="0">
                    <a:lnR w="12700">
                      <a:solidFill>
                        <a:srgbClr val="D1350F"/>
                      </a:solidFill>
                      <a:prstDash val="solid"/>
                    </a:lnR>
                  </a:tcPr>
                </a:tc>
                <a:tc>
                  <a:txBody>
                    <a:bodyPr/>
                    <a:lstStyle/>
                    <a:p>
                      <a:pPr marL="71120">
                        <a:lnSpc>
                          <a:spcPts val="1875"/>
                        </a:lnSpc>
                      </a:pPr>
                      <a:r>
                        <a:rPr dirty="0" sz="1600" spc="-50">
                          <a:solidFill>
                            <a:srgbClr val="4E3629"/>
                          </a:solidFill>
                          <a:latin typeface="Calibri"/>
                          <a:cs typeface="Calibri"/>
                        </a:rPr>
                        <a:t>2</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875"/>
                        </a:lnSpc>
                      </a:pPr>
                      <a:r>
                        <a:rPr dirty="0" sz="1600" spc="-10">
                          <a:solidFill>
                            <a:srgbClr val="4E3629"/>
                          </a:solidFill>
                          <a:latin typeface="Calibri"/>
                          <a:cs typeface="Calibri"/>
                        </a:rPr>
                        <a:t>Kochhar</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875"/>
                        </a:lnSpc>
                      </a:pPr>
                      <a:r>
                        <a:rPr dirty="0" sz="1600" spc="-10">
                          <a:solidFill>
                            <a:srgbClr val="4E3629"/>
                          </a:solidFill>
                          <a:latin typeface="Calibri"/>
                          <a:cs typeface="Calibri"/>
                        </a:rPr>
                        <a:t>21-Sep-</a:t>
                      </a:r>
                      <a:r>
                        <a:rPr dirty="0" sz="1600" spc="-20">
                          <a:solidFill>
                            <a:srgbClr val="4E3629"/>
                          </a:solidFill>
                          <a:latin typeface="Calibri"/>
                          <a:cs typeface="Calibri"/>
                        </a:rPr>
                        <a:t>1989</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57175">
                <a:tc vMerge="1">
                  <a:txBody>
                    <a:bodyPr/>
                    <a:lstStyle/>
                    <a:p>
                      <a:pPr/>
                    </a:p>
                  </a:txBody>
                  <a:tcPr marL="0" marR="0" marB="0" marT="0">
                    <a:lnR w="12700">
                      <a:solidFill>
                        <a:srgbClr val="D1350F"/>
                      </a:solidFill>
                      <a:prstDash val="solid"/>
                    </a:lnR>
                  </a:tcPr>
                </a:tc>
                <a:tc>
                  <a:txBody>
                    <a:bodyPr/>
                    <a:lstStyle/>
                    <a:p>
                      <a:pPr marL="71120">
                        <a:lnSpc>
                          <a:spcPts val="1875"/>
                        </a:lnSpc>
                      </a:pPr>
                      <a:r>
                        <a:rPr dirty="0" sz="1600" spc="-50">
                          <a:solidFill>
                            <a:srgbClr val="4E3629"/>
                          </a:solidFill>
                          <a:latin typeface="Calibri"/>
                          <a:cs typeface="Calibri"/>
                        </a:rPr>
                        <a:t>3</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875"/>
                        </a:lnSpc>
                      </a:pPr>
                      <a:r>
                        <a:rPr dirty="0" sz="1600">
                          <a:solidFill>
                            <a:srgbClr val="4E3629"/>
                          </a:solidFill>
                          <a:latin typeface="Calibri"/>
                          <a:cs typeface="Calibri"/>
                        </a:rPr>
                        <a:t>De</a:t>
                      </a:r>
                      <a:r>
                        <a:rPr dirty="0" sz="1600" spc="-15">
                          <a:solidFill>
                            <a:srgbClr val="4E3629"/>
                          </a:solidFill>
                          <a:latin typeface="Calibri"/>
                          <a:cs typeface="Calibri"/>
                        </a:rPr>
                        <a:t> </a:t>
                      </a:r>
                      <a:r>
                        <a:rPr dirty="0" sz="1600" spc="-20">
                          <a:solidFill>
                            <a:srgbClr val="4E3629"/>
                          </a:solidFill>
                          <a:latin typeface="Calibri"/>
                          <a:cs typeface="Calibri"/>
                        </a:rPr>
                        <a:t>Haan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875"/>
                        </a:lnSpc>
                      </a:pPr>
                      <a:r>
                        <a:rPr dirty="0" sz="1600" spc="-10">
                          <a:solidFill>
                            <a:srgbClr val="4E3629"/>
                          </a:solidFill>
                          <a:latin typeface="Calibri"/>
                          <a:cs typeface="Calibri"/>
                        </a:rPr>
                        <a:t>13-Jan-</a:t>
                      </a:r>
                      <a:r>
                        <a:rPr dirty="0" sz="1600" spc="-20">
                          <a:solidFill>
                            <a:srgbClr val="4E3629"/>
                          </a:solidFill>
                          <a:latin typeface="Calibri"/>
                          <a:cs typeface="Calibri"/>
                        </a:rPr>
                        <a:t>1993</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57175">
                <a:tc vMerge="1">
                  <a:txBody>
                    <a:bodyPr/>
                    <a:lstStyle/>
                    <a:p>
                      <a:pPr/>
                    </a:p>
                  </a:txBody>
                  <a:tcPr marL="0" marR="0" marB="0" marT="0">
                    <a:lnR w="12700">
                      <a:solidFill>
                        <a:srgbClr val="D1350F"/>
                      </a:solidFill>
                      <a:prstDash val="solid"/>
                    </a:lnR>
                  </a:tcPr>
                </a:tc>
                <a:tc>
                  <a:txBody>
                    <a:bodyPr/>
                    <a:lstStyle/>
                    <a:p>
                      <a:pPr marL="71120">
                        <a:lnSpc>
                          <a:spcPts val="1875"/>
                        </a:lnSpc>
                      </a:pPr>
                      <a:r>
                        <a:rPr dirty="0" sz="1600" spc="-50">
                          <a:solidFill>
                            <a:srgbClr val="4E3629"/>
                          </a:solidFill>
                          <a:latin typeface="Calibri"/>
                          <a:cs typeface="Calibri"/>
                        </a:rPr>
                        <a:t>5</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875"/>
                        </a:lnSpc>
                      </a:pPr>
                      <a:r>
                        <a:rPr dirty="0" sz="1600" spc="-10">
                          <a:solidFill>
                            <a:srgbClr val="4E3629"/>
                          </a:solidFill>
                          <a:latin typeface="Calibri"/>
                          <a:cs typeface="Calibri"/>
                        </a:rPr>
                        <a:t>Higgins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0485">
                        <a:lnSpc>
                          <a:spcPts val="1875"/>
                        </a:lnSpc>
                      </a:pPr>
                      <a:r>
                        <a:rPr dirty="0" sz="1600" spc="-10">
                          <a:solidFill>
                            <a:srgbClr val="4E3629"/>
                          </a:solidFill>
                          <a:latin typeface="Calibri"/>
                          <a:cs typeface="Calibri"/>
                        </a:rPr>
                        <a:t>07-Jun-</a:t>
                      </a:r>
                      <a:r>
                        <a:rPr dirty="0" sz="1600" spc="-20">
                          <a:solidFill>
                            <a:srgbClr val="4E3629"/>
                          </a:solidFill>
                          <a:latin typeface="Calibri"/>
                          <a:cs typeface="Calibri"/>
                        </a:rPr>
                        <a:t>1994</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ANÁLISIS</a:t>
            </a:r>
            <a:r>
              <a:rPr dirty="0" spc="-30"/>
              <a:t> </a:t>
            </a:r>
            <a:r>
              <a:rPr dirty="0"/>
              <a:t>DE</a:t>
            </a:r>
            <a:r>
              <a:rPr dirty="0" spc="-50"/>
              <a:t> </a:t>
            </a:r>
            <a:r>
              <a:rPr dirty="0"/>
              <a:t>N</a:t>
            </a:r>
            <a:r>
              <a:rPr dirty="0" spc="-40"/>
              <a:t> </a:t>
            </a:r>
            <a:r>
              <a:rPr dirty="0" spc="-20"/>
              <a:t>PRINCIPALES</a:t>
            </a:r>
          </a:p>
        </p:txBody>
      </p:sp>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15-</a:t>
            </a:r>
            <a:r>
              <a:rPr dirty="0" spc="-50"/>
              <a:t>3</a:t>
            </a:r>
          </a:p>
          <a:p>
            <a:pPr marL="12700">
              <a:lnSpc>
                <a:spcPts val="965"/>
              </a:lnSpc>
            </a:pPr>
            <a:r>
              <a:rPr dirty="0"/>
              <a:t>Gestión</a:t>
            </a:r>
            <a:r>
              <a:rPr dirty="0" spc="-20"/>
              <a:t> </a:t>
            </a:r>
            <a:r>
              <a:rPr dirty="0"/>
              <a:t>de</a:t>
            </a:r>
            <a:r>
              <a:rPr dirty="0" spc="-35"/>
              <a:t> </a:t>
            </a:r>
            <a:r>
              <a:rPr dirty="0" spc="-10"/>
              <a:t>Vistas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10</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a:spLocks noGrp="1"/>
          </p:cNvSpPr>
          <p:nvPr>
            <p:ph type="body" idx="1"/>
          </p:nvPr>
        </p:nvSpPr>
        <p:spPr>
          <a:prstGeom prst="rect"/>
        </p:spPr>
        <p:txBody>
          <a:bodyPr wrap="square" lIns="0" tIns="59690" rIns="0" bIns="0" rtlCol="0" vert="horz">
            <a:spAutoFit/>
          </a:bodyPr>
          <a:lstStyle/>
          <a:p>
            <a:pPr marL="182880" marR="421640" indent="-170815">
              <a:lnSpc>
                <a:spcPts val="3030"/>
              </a:lnSpc>
              <a:spcBef>
                <a:spcPts val="470"/>
              </a:spcBef>
              <a:buClr>
                <a:srgbClr val="D1350F"/>
              </a:buClr>
              <a:buFont typeface="Arial MT"/>
              <a:buChar char="•"/>
              <a:tabLst>
                <a:tab pos="184785" algn="l"/>
              </a:tabLst>
            </a:pPr>
            <a:r>
              <a:rPr dirty="0"/>
              <a:t>El</a:t>
            </a:r>
            <a:r>
              <a:rPr dirty="0" spc="-70"/>
              <a:t> </a:t>
            </a:r>
            <a:r>
              <a:rPr dirty="0"/>
              <a:t>análisis</a:t>
            </a:r>
            <a:r>
              <a:rPr dirty="0" spc="-55"/>
              <a:t> </a:t>
            </a:r>
            <a:r>
              <a:rPr dirty="0"/>
              <a:t>de</a:t>
            </a:r>
            <a:r>
              <a:rPr dirty="0" spc="-50"/>
              <a:t> </a:t>
            </a:r>
            <a:r>
              <a:rPr dirty="0"/>
              <a:t>N</a:t>
            </a:r>
            <a:r>
              <a:rPr dirty="0" spc="-55"/>
              <a:t> </a:t>
            </a:r>
            <a:r>
              <a:rPr dirty="0"/>
              <a:t>principales</a:t>
            </a:r>
            <a:r>
              <a:rPr dirty="0" spc="-20"/>
              <a:t> </a:t>
            </a:r>
            <a:r>
              <a:rPr dirty="0"/>
              <a:t>utiliza</a:t>
            </a:r>
            <a:r>
              <a:rPr dirty="0" spc="-60"/>
              <a:t> </a:t>
            </a:r>
            <a:r>
              <a:rPr dirty="0"/>
              <a:t>una</a:t>
            </a:r>
            <a:r>
              <a:rPr dirty="0" spc="-35"/>
              <a:t> </a:t>
            </a:r>
            <a:r>
              <a:rPr dirty="0"/>
              <a:t>vista</a:t>
            </a:r>
            <a:r>
              <a:rPr dirty="0" spc="-45"/>
              <a:t> </a:t>
            </a:r>
            <a:r>
              <a:rPr dirty="0"/>
              <a:t>en</a:t>
            </a:r>
            <a:r>
              <a:rPr dirty="0" spc="-55"/>
              <a:t> </a:t>
            </a:r>
            <a:r>
              <a:rPr dirty="0" spc="-10"/>
              <a:t>línea 	(subconsulta)</a:t>
            </a:r>
            <a:r>
              <a:rPr dirty="0" spc="-15"/>
              <a:t> </a:t>
            </a:r>
            <a:r>
              <a:rPr dirty="0"/>
              <a:t>para</a:t>
            </a:r>
            <a:r>
              <a:rPr dirty="0" spc="-70"/>
              <a:t> </a:t>
            </a:r>
            <a:r>
              <a:rPr dirty="0"/>
              <a:t>devolver</a:t>
            </a:r>
            <a:r>
              <a:rPr dirty="0" spc="-75"/>
              <a:t> </a:t>
            </a:r>
            <a:r>
              <a:rPr dirty="0"/>
              <a:t>un</a:t>
            </a:r>
            <a:r>
              <a:rPr dirty="0" spc="-55"/>
              <a:t> </a:t>
            </a:r>
            <a:r>
              <a:rPr dirty="0"/>
              <a:t>juego</a:t>
            </a:r>
            <a:r>
              <a:rPr dirty="0" spc="-55"/>
              <a:t> </a:t>
            </a:r>
            <a:r>
              <a:rPr dirty="0"/>
              <a:t>de</a:t>
            </a:r>
            <a:r>
              <a:rPr dirty="0" spc="-60"/>
              <a:t> </a:t>
            </a:r>
            <a:r>
              <a:rPr dirty="0" spc="-10"/>
              <a:t>resultados</a:t>
            </a:r>
          </a:p>
          <a:p>
            <a:pPr marL="182880" marR="231140" indent="-170815">
              <a:lnSpc>
                <a:spcPts val="3030"/>
              </a:lnSpc>
              <a:spcBef>
                <a:spcPts val="795"/>
              </a:spcBef>
              <a:buClr>
                <a:srgbClr val="D1350F"/>
              </a:buClr>
              <a:buFont typeface="Arial MT"/>
              <a:buChar char="•"/>
              <a:tabLst>
                <a:tab pos="184785" algn="l"/>
              </a:tabLst>
            </a:pPr>
            <a:r>
              <a:rPr dirty="0"/>
              <a:t>Puede</a:t>
            </a:r>
            <a:r>
              <a:rPr dirty="0" spc="-65"/>
              <a:t> </a:t>
            </a:r>
            <a:r>
              <a:rPr dirty="0"/>
              <a:t>utilizar</a:t>
            </a:r>
            <a:r>
              <a:rPr dirty="0" spc="-80"/>
              <a:t> </a:t>
            </a:r>
            <a:r>
              <a:rPr dirty="0"/>
              <a:t>ROWNUM</a:t>
            </a:r>
            <a:r>
              <a:rPr dirty="0" spc="-70"/>
              <a:t> </a:t>
            </a:r>
            <a:r>
              <a:rPr dirty="0"/>
              <a:t>en</a:t>
            </a:r>
            <a:r>
              <a:rPr dirty="0" spc="-75"/>
              <a:t> </a:t>
            </a:r>
            <a:r>
              <a:rPr dirty="0"/>
              <a:t>su</a:t>
            </a:r>
            <a:r>
              <a:rPr dirty="0" spc="-80"/>
              <a:t> </a:t>
            </a:r>
            <a:r>
              <a:rPr dirty="0"/>
              <a:t>consulta</a:t>
            </a:r>
            <a:r>
              <a:rPr dirty="0" spc="-50"/>
              <a:t> </a:t>
            </a:r>
            <a:r>
              <a:rPr dirty="0"/>
              <a:t>para</a:t>
            </a:r>
            <a:r>
              <a:rPr dirty="0" spc="-80"/>
              <a:t> </a:t>
            </a:r>
            <a:r>
              <a:rPr dirty="0" spc="-10"/>
              <a:t>asignar </a:t>
            </a:r>
            <a:r>
              <a:rPr dirty="0" spc="-10"/>
              <a:t>	</a:t>
            </a:r>
            <a:r>
              <a:rPr dirty="0"/>
              <a:t>un</a:t>
            </a:r>
            <a:r>
              <a:rPr dirty="0" spc="-35"/>
              <a:t> </a:t>
            </a:r>
            <a:r>
              <a:rPr dirty="0"/>
              <a:t>número</a:t>
            </a:r>
            <a:r>
              <a:rPr dirty="0" spc="-25"/>
              <a:t> </a:t>
            </a:r>
            <a:r>
              <a:rPr dirty="0"/>
              <a:t>de</a:t>
            </a:r>
            <a:r>
              <a:rPr dirty="0" spc="-40"/>
              <a:t> </a:t>
            </a:r>
            <a:r>
              <a:rPr dirty="0"/>
              <a:t>fila</a:t>
            </a:r>
            <a:r>
              <a:rPr dirty="0" spc="-45"/>
              <a:t> </a:t>
            </a:r>
            <a:r>
              <a:rPr dirty="0"/>
              <a:t>al</a:t>
            </a:r>
            <a:r>
              <a:rPr dirty="0" spc="-65"/>
              <a:t> </a:t>
            </a:r>
            <a:r>
              <a:rPr dirty="0"/>
              <a:t>juego</a:t>
            </a:r>
            <a:r>
              <a:rPr dirty="0" spc="-35"/>
              <a:t> </a:t>
            </a:r>
            <a:r>
              <a:rPr dirty="0"/>
              <a:t>de</a:t>
            </a:r>
            <a:r>
              <a:rPr dirty="0" spc="-40"/>
              <a:t> </a:t>
            </a:r>
            <a:r>
              <a:rPr dirty="0" spc="-10"/>
              <a:t>resultados</a:t>
            </a:r>
          </a:p>
          <a:p>
            <a:pPr marL="182880" marR="5080" indent="-170815">
              <a:lnSpc>
                <a:spcPts val="3030"/>
              </a:lnSpc>
              <a:spcBef>
                <a:spcPts val="790"/>
              </a:spcBef>
              <a:buClr>
                <a:srgbClr val="D1350F"/>
              </a:buClr>
              <a:buFont typeface="Arial MT"/>
              <a:buChar char="•"/>
              <a:tabLst>
                <a:tab pos="184785" algn="l"/>
              </a:tabLst>
            </a:pPr>
            <a:r>
              <a:rPr dirty="0"/>
              <a:t>A</a:t>
            </a:r>
            <a:r>
              <a:rPr dirty="0" spc="-75"/>
              <a:t> </a:t>
            </a:r>
            <a:r>
              <a:rPr dirty="0" spc="-10"/>
              <a:t>continuación,</a:t>
            </a:r>
            <a:r>
              <a:rPr dirty="0" spc="-55"/>
              <a:t> </a:t>
            </a:r>
            <a:r>
              <a:rPr dirty="0"/>
              <a:t>la</a:t>
            </a:r>
            <a:r>
              <a:rPr dirty="0" spc="-80"/>
              <a:t> </a:t>
            </a:r>
            <a:r>
              <a:rPr dirty="0"/>
              <a:t>consulta</a:t>
            </a:r>
            <a:r>
              <a:rPr dirty="0" spc="-60"/>
              <a:t> </a:t>
            </a:r>
            <a:r>
              <a:rPr dirty="0"/>
              <a:t>principal</a:t>
            </a:r>
            <a:r>
              <a:rPr dirty="0" spc="-60"/>
              <a:t> </a:t>
            </a:r>
            <a:r>
              <a:rPr dirty="0"/>
              <a:t>utiliza</a:t>
            </a:r>
            <a:r>
              <a:rPr dirty="0" spc="-70"/>
              <a:t> </a:t>
            </a:r>
            <a:r>
              <a:rPr dirty="0" spc="-10"/>
              <a:t>ROWNUM </a:t>
            </a:r>
            <a:r>
              <a:rPr dirty="0" spc="-10"/>
              <a:t>	</a:t>
            </a:r>
            <a:r>
              <a:rPr dirty="0"/>
              <a:t>para</a:t>
            </a:r>
            <a:r>
              <a:rPr dirty="0" spc="-90"/>
              <a:t> </a:t>
            </a:r>
            <a:r>
              <a:rPr dirty="0"/>
              <a:t>ordenar</a:t>
            </a:r>
            <a:r>
              <a:rPr dirty="0" spc="-65"/>
              <a:t> </a:t>
            </a:r>
            <a:r>
              <a:rPr dirty="0"/>
              <a:t>los</a:t>
            </a:r>
            <a:r>
              <a:rPr dirty="0" spc="-75"/>
              <a:t> </a:t>
            </a:r>
            <a:r>
              <a:rPr dirty="0"/>
              <a:t>datos</a:t>
            </a:r>
            <a:r>
              <a:rPr dirty="0" spc="-85"/>
              <a:t> </a:t>
            </a:r>
            <a:r>
              <a:rPr dirty="0"/>
              <a:t>y</a:t>
            </a:r>
            <a:r>
              <a:rPr dirty="0" spc="-75"/>
              <a:t> </a:t>
            </a:r>
            <a:r>
              <a:rPr dirty="0"/>
              <a:t>devolver</a:t>
            </a:r>
            <a:r>
              <a:rPr dirty="0" spc="-85"/>
              <a:t> </a:t>
            </a:r>
            <a:r>
              <a:rPr dirty="0"/>
              <a:t>los</a:t>
            </a:r>
            <a:r>
              <a:rPr dirty="0" spc="-75"/>
              <a:t> </a:t>
            </a:r>
            <a:r>
              <a:rPr dirty="0"/>
              <a:t>cinco</a:t>
            </a:r>
            <a:r>
              <a:rPr dirty="0" spc="-65"/>
              <a:t> </a:t>
            </a:r>
            <a:r>
              <a:rPr dirty="0" spc="-10"/>
              <a:t>principales</a:t>
            </a:r>
          </a:p>
        </p:txBody>
      </p:sp>
      <p:sp>
        <p:nvSpPr>
          <p:cNvPr id="4" name="object 4" descr=""/>
          <p:cNvSpPr txBox="1"/>
          <p:nvPr/>
        </p:nvSpPr>
        <p:spPr>
          <a:xfrm>
            <a:off x="405384" y="4133088"/>
            <a:ext cx="8345805" cy="1452880"/>
          </a:xfrm>
          <a:prstGeom prst="rect">
            <a:avLst/>
          </a:prstGeom>
          <a:solidFill>
            <a:srgbClr val="9DBEC4">
              <a:alpha val="50199"/>
            </a:srgbClr>
          </a:solidFill>
        </p:spPr>
        <p:txBody>
          <a:bodyPr wrap="square" lIns="0" tIns="13335" rIns="0" bIns="0" rtlCol="0" vert="horz">
            <a:spAutoFit/>
          </a:bodyPr>
          <a:lstStyle/>
          <a:p>
            <a:pPr marR="558165">
              <a:lnSpc>
                <a:spcPct val="100000"/>
              </a:lnSpc>
              <a:spcBef>
                <a:spcPts val="105"/>
              </a:spcBef>
            </a:pPr>
            <a:r>
              <a:rPr dirty="0" sz="1800" b="1">
                <a:solidFill>
                  <a:srgbClr val="4E3629"/>
                </a:solidFill>
                <a:latin typeface="Courier New"/>
                <a:cs typeface="Courier New"/>
              </a:rPr>
              <a:t>SELECT</a:t>
            </a:r>
            <a:r>
              <a:rPr dirty="0" sz="1800" spc="-75" b="1">
                <a:solidFill>
                  <a:srgbClr val="4E3629"/>
                </a:solidFill>
                <a:latin typeface="Courier New"/>
                <a:cs typeface="Courier New"/>
              </a:rPr>
              <a:t> </a:t>
            </a:r>
            <a:r>
              <a:rPr dirty="0" sz="1800" b="1">
                <a:solidFill>
                  <a:srgbClr val="4E3629"/>
                </a:solidFill>
                <a:latin typeface="Courier New"/>
                <a:cs typeface="Courier New"/>
              </a:rPr>
              <a:t>ROWNUM</a:t>
            </a:r>
            <a:r>
              <a:rPr dirty="0" sz="1800" spc="-70" b="1">
                <a:solidFill>
                  <a:srgbClr val="4E3629"/>
                </a:solidFill>
                <a:latin typeface="Courier New"/>
                <a:cs typeface="Courier New"/>
              </a:rPr>
              <a:t> </a:t>
            </a:r>
            <a:r>
              <a:rPr dirty="0" sz="1800" b="1">
                <a:solidFill>
                  <a:srgbClr val="4E3629"/>
                </a:solidFill>
                <a:latin typeface="Courier New"/>
                <a:cs typeface="Courier New"/>
              </a:rPr>
              <a:t>AS</a:t>
            </a:r>
            <a:r>
              <a:rPr dirty="0" sz="1800" spc="-70" b="1">
                <a:solidFill>
                  <a:srgbClr val="4E3629"/>
                </a:solidFill>
                <a:latin typeface="Courier New"/>
                <a:cs typeface="Courier New"/>
              </a:rPr>
              <a:t> </a:t>
            </a:r>
            <a:r>
              <a:rPr dirty="0" sz="1800" b="1">
                <a:solidFill>
                  <a:srgbClr val="4E3629"/>
                </a:solidFill>
                <a:latin typeface="Courier New"/>
                <a:cs typeface="Courier New"/>
              </a:rPr>
              <a:t>"Longest</a:t>
            </a:r>
            <a:r>
              <a:rPr dirty="0" sz="1800" spc="-70" b="1">
                <a:solidFill>
                  <a:srgbClr val="4E3629"/>
                </a:solidFill>
                <a:latin typeface="Courier New"/>
                <a:cs typeface="Courier New"/>
              </a:rPr>
              <a:t> </a:t>
            </a:r>
            <a:r>
              <a:rPr dirty="0" sz="1800" b="1">
                <a:solidFill>
                  <a:srgbClr val="4E3629"/>
                </a:solidFill>
                <a:latin typeface="Courier New"/>
                <a:cs typeface="Courier New"/>
              </a:rPr>
              <a:t>employed",</a:t>
            </a:r>
            <a:r>
              <a:rPr dirty="0" sz="1800" spc="-70" b="1">
                <a:solidFill>
                  <a:srgbClr val="4E3629"/>
                </a:solidFill>
                <a:latin typeface="Courier New"/>
                <a:cs typeface="Courier New"/>
              </a:rPr>
              <a:t> </a:t>
            </a:r>
            <a:r>
              <a:rPr dirty="0" sz="1800" b="1">
                <a:solidFill>
                  <a:srgbClr val="4E3629"/>
                </a:solidFill>
                <a:latin typeface="Courier New"/>
                <a:cs typeface="Courier New"/>
              </a:rPr>
              <a:t>last_name,</a:t>
            </a:r>
            <a:r>
              <a:rPr dirty="0" sz="1800" spc="-70" b="1">
                <a:solidFill>
                  <a:srgbClr val="4E3629"/>
                </a:solidFill>
                <a:latin typeface="Courier New"/>
                <a:cs typeface="Courier New"/>
              </a:rPr>
              <a:t> </a:t>
            </a:r>
            <a:r>
              <a:rPr dirty="0" sz="1800" spc="-10" b="1">
                <a:solidFill>
                  <a:srgbClr val="4E3629"/>
                </a:solidFill>
                <a:latin typeface="Courier New"/>
                <a:cs typeface="Courier New"/>
              </a:rPr>
              <a:t>hire_date </a:t>
            </a:r>
            <a:r>
              <a:rPr dirty="0" sz="1800" b="1">
                <a:solidFill>
                  <a:srgbClr val="4E3629"/>
                </a:solidFill>
                <a:latin typeface="Courier New"/>
                <a:cs typeface="Courier New"/>
              </a:rPr>
              <a:t>FROM</a:t>
            </a:r>
            <a:r>
              <a:rPr dirty="0" sz="1800" spc="-85" b="1">
                <a:solidFill>
                  <a:srgbClr val="4E3629"/>
                </a:solidFill>
                <a:latin typeface="Courier New"/>
                <a:cs typeface="Courier New"/>
              </a:rPr>
              <a:t> </a:t>
            </a:r>
            <a:r>
              <a:rPr dirty="0" sz="1800" b="1">
                <a:solidFill>
                  <a:srgbClr val="4E3629"/>
                </a:solidFill>
                <a:latin typeface="Courier New"/>
                <a:cs typeface="Courier New"/>
              </a:rPr>
              <a:t>(SELECT</a:t>
            </a:r>
            <a:r>
              <a:rPr dirty="0" sz="1800" spc="-60" b="1">
                <a:solidFill>
                  <a:srgbClr val="4E3629"/>
                </a:solidFill>
                <a:latin typeface="Courier New"/>
                <a:cs typeface="Courier New"/>
              </a:rPr>
              <a:t> </a:t>
            </a:r>
            <a:r>
              <a:rPr dirty="0" sz="1800" b="1">
                <a:solidFill>
                  <a:srgbClr val="4E3629"/>
                </a:solidFill>
                <a:latin typeface="Courier New"/>
                <a:cs typeface="Courier New"/>
              </a:rPr>
              <a:t>last_name,</a:t>
            </a:r>
            <a:r>
              <a:rPr dirty="0" sz="1800" spc="-65" b="1">
                <a:solidFill>
                  <a:srgbClr val="4E3629"/>
                </a:solidFill>
                <a:latin typeface="Courier New"/>
                <a:cs typeface="Courier New"/>
              </a:rPr>
              <a:t> </a:t>
            </a:r>
            <a:r>
              <a:rPr dirty="0" sz="1800" spc="-10" b="1">
                <a:solidFill>
                  <a:srgbClr val="4E3629"/>
                </a:solidFill>
                <a:latin typeface="Courier New"/>
                <a:cs typeface="Courier New"/>
              </a:rPr>
              <a:t>hire_date</a:t>
            </a:r>
            <a:endParaRPr sz="1800">
              <a:latin typeface="Courier New"/>
              <a:cs typeface="Courier New"/>
            </a:endParaRPr>
          </a:p>
          <a:p>
            <a:pPr marL="819150" marR="4924425">
              <a:lnSpc>
                <a:spcPct val="100000"/>
              </a:lnSpc>
            </a:pPr>
            <a:r>
              <a:rPr dirty="0" sz="1800" b="1">
                <a:solidFill>
                  <a:srgbClr val="4E3629"/>
                </a:solidFill>
                <a:latin typeface="Courier New"/>
                <a:cs typeface="Courier New"/>
              </a:rPr>
              <a:t>FROM</a:t>
            </a:r>
            <a:r>
              <a:rPr dirty="0" sz="1800" spc="-50" b="1">
                <a:solidFill>
                  <a:srgbClr val="4E3629"/>
                </a:solidFill>
                <a:latin typeface="Courier New"/>
                <a:cs typeface="Courier New"/>
              </a:rPr>
              <a:t> </a:t>
            </a:r>
            <a:r>
              <a:rPr dirty="0" sz="1800" spc="-10" b="1">
                <a:solidFill>
                  <a:srgbClr val="4E3629"/>
                </a:solidFill>
                <a:latin typeface="Courier New"/>
                <a:cs typeface="Courier New"/>
              </a:rPr>
              <a:t>employees </a:t>
            </a:r>
            <a:r>
              <a:rPr dirty="0" sz="1800" b="1">
                <a:solidFill>
                  <a:srgbClr val="4E3629"/>
                </a:solidFill>
                <a:latin typeface="Courier New"/>
                <a:cs typeface="Courier New"/>
              </a:rPr>
              <a:t>ORDER</a:t>
            </a:r>
            <a:r>
              <a:rPr dirty="0" sz="1800" spc="-40" b="1">
                <a:solidFill>
                  <a:srgbClr val="4E3629"/>
                </a:solidFill>
                <a:latin typeface="Courier New"/>
                <a:cs typeface="Courier New"/>
              </a:rPr>
              <a:t> </a:t>
            </a:r>
            <a:r>
              <a:rPr dirty="0" sz="1800" b="1">
                <a:solidFill>
                  <a:srgbClr val="4E3629"/>
                </a:solidFill>
                <a:latin typeface="Courier New"/>
                <a:cs typeface="Courier New"/>
              </a:rPr>
              <a:t>BY</a:t>
            </a:r>
            <a:r>
              <a:rPr dirty="0" sz="1800" spc="-35" b="1">
                <a:solidFill>
                  <a:srgbClr val="4E3629"/>
                </a:solidFill>
                <a:latin typeface="Courier New"/>
                <a:cs typeface="Courier New"/>
              </a:rPr>
              <a:t> </a:t>
            </a:r>
            <a:r>
              <a:rPr dirty="0" sz="1800" spc="-10" b="1">
                <a:solidFill>
                  <a:srgbClr val="4E3629"/>
                </a:solidFill>
                <a:latin typeface="Courier New"/>
                <a:cs typeface="Courier New"/>
              </a:rPr>
              <a:t>hire_date)</a:t>
            </a:r>
            <a:endParaRPr sz="1800">
              <a:latin typeface="Courier New"/>
              <a:cs typeface="Courier New"/>
            </a:endParaRPr>
          </a:p>
          <a:p>
            <a:pPr>
              <a:lnSpc>
                <a:spcPct val="100000"/>
              </a:lnSpc>
            </a:pPr>
            <a:r>
              <a:rPr dirty="0" sz="1800" b="1">
                <a:solidFill>
                  <a:srgbClr val="4E3629"/>
                </a:solidFill>
                <a:latin typeface="Courier New"/>
                <a:cs typeface="Courier New"/>
              </a:rPr>
              <a:t>WHERE</a:t>
            </a:r>
            <a:r>
              <a:rPr dirty="0" sz="1800" spc="-55" b="1">
                <a:solidFill>
                  <a:srgbClr val="4E3629"/>
                </a:solidFill>
                <a:latin typeface="Courier New"/>
                <a:cs typeface="Courier New"/>
              </a:rPr>
              <a:t> </a:t>
            </a:r>
            <a:r>
              <a:rPr dirty="0" sz="1800" b="1">
                <a:solidFill>
                  <a:srgbClr val="4E3629"/>
                </a:solidFill>
                <a:latin typeface="Courier New"/>
                <a:cs typeface="Courier New"/>
              </a:rPr>
              <a:t>ROWNUM</a:t>
            </a:r>
            <a:r>
              <a:rPr dirty="0" sz="1800" spc="-45" b="1">
                <a:solidFill>
                  <a:srgbClr val="4E3629"/>
                </a:solidFill>
                <a:latin typeface="Courier New"/>
                <a:cs typeface="Courier New"/>
              </a:rPr>
              <a:t> </a:t>
            </a:r>
            <a:r>
              <a:rPr dirty="0" sz="1800" spc="-20" b="1">
                <a:solidFill>
                  <a:srgbClr val="4E3629"/>
                </a:solidFill>
                <a:latin typeface="Courier New"/>
                <a:cs typeface="Courier New"/>
              </a:rPr>
              <a:t>&lt;=5;</a:t>
            </a:r>
            <a:endParaRPr sz="1800">
              <a:latin typeface="Courier New"/>
              <a:cs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ANÁLISIS</a:t>
            </a:r>
            <a:r>
              <a:rPr dirty="0" spc="-30"/>
              <a:t> </a:t>
            </a:r>
            <a:r>
              <a:rPr dirty="0"/>
              <a:t>DE</a:t>
            </a:r>
            <a:r>
              <a:rPr dirty="0" spc="-50"/>
              <a:t> </a:t>
            </a:r>
            <a:r>
              <a:rPr dirty="0"/>
              <a:t>N</a:t>
            </a:r>
            <a:r>
              <a:rPr dirty="0" spc="-40"/>
              <a:t> </a:t>
            </a:r>
            <a:r>
              <a:rPr dirty="0" spc="-20"/>
              <a:t>PRINCIPALES</a:t>
            </a:r>
          </a:p>
        </p:txBody>
      </p:sp>
      <p:sp>
        <p:nvSpPr>
          <p:cNvPr id="8" name="object 8"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15-</a:t>
            </a:r>
            <a:r>
              <a:rPr dirty="0" spc="-50"/>
              <a:t>3</a:t>
            </a:r>
          </a:p>
          <a:p>
            <a:pPr marL="12700">
              <a:lnSpc>
                <a:spcPts val="965"/>
              </a:lnSpc>
            </a:pPr>
            <a:r>
              <a:rPr dirty="0"/>
              <a:t>Gestión</a:t>
            </a:r>
            <a:r>
              <a:rPr dirty="0" spc="-20"/>
              <a:t> </a:t>
            </a:r>
            <a:r>
              <a:rPr dirty="0"/>
              <a:t>de</a:t>
            </a:r>
            <a:r>
              <a:rPr dirty="0" spc="-35"/>
              <a:t> </a:t>
            </a:r>
            <a:r>
              <a:rPr dirty="0" spc="-10"/>
              <a:t>Vistas</a:t>
            </a: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11</a:t>
            </a: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2872361"/>
            <a:ext cx="7331075" cy="1220470"/>
          </a:xfrm>
          <a:prstGeom prst="rect">
            <a:avLst/>
          </a:prstGeom>
        </p:spPr>
        <p:txBody>
          <a:bodyPr wrap="square" lIns="0" tIns="59690" rIns="0" bIns="0" rtlCol="0" vert="horz">
            <a:spAutoFit/>
          </a:bodyPr>
          <a:lstStyle/>
          <a:p>
            <a:pPr algn="just"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ejemplo</a:t>
            </a:r>
            <a:r>
              <a:rPr dirty="0" sz="2800" spc="-20">
                <a:solidFill>
                  <a:srgbClr val="4E3629"/>
                </a:solidFill>
                <a:latin typeface="Calibri"/>
                <a:cs typeface="Calibri"/>
              </a:rPr>
              <a:t> </a:t>
            </a:r>
            <a:r>
              <a:rPr dirty="0" sz="2800" spc="-35">
                <a:solidFill>
                  <a:srgbClr val="4E3629"/>
                </a:solidFill>
                <a:latin typeface="Calibri"/>
                <a:cs typeface="Calibri"/>
              </a:rPr>
              <a:t>anterior,</a:t>
            </a:r>
            <a:r>
              <a:rPr dirty="0" sz="2800" spc="-50">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a:solidFill>
                  <a:srgbClr val="4E3629"/>
                </a:solidFill>
                <a:latin typeface="Calibri"/>
                <a:cs typeface="Calibri"/>
              </a:rPr>
              <a:t>vista</a:t>
            </a:r>
            <a:r>
              <a:rPr dirty="0" sz="2800" spc="-3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línea</a:t>
            </a:r>
            <a:r>
              <a:rPr dirty="0" sz="2800" spc="-40">
                <a:solidFill>
                  <a:srgbClr val="4E3629"/>
                </a:solidFill>
                <a:latin typeface="Calibri"/>
                <a:cs typeface="Calibri"/>
              </a:rPr>
              <a:t> </a:t>
            </a:r>
            <a:r>
              <a:rPr dirty="0" sz="2800" spc="-10">
                <a:solidFill>
                  <a:srgbClr val="4E3629"/>
                </a:solidFill>
                <a:latin typeface="Calibri"/>
                <a:cs typeface="Calibri"/>
              </a:rPr>
              <a:t>selecciona </a:t>
            </a:r>
            <a:r>
              <a:rPr dirty="0" sz="2800" spc="-10">
                <a:solidFill>
                  <a:srgbClr val="4E3629"/>
                </a:solidFill>
                <a:latin typeface="Calibri"/>
                <a:cs typeface="Calibri"/>
              </a:rPr>
              <a:t>	</a:t>
            </a:r>
            <a:r>
              <a:rPr dirty="0" sz="2800">
                <a:solidFill>
                  <a:srgbClr val="4E3629"/>
                </a:solidFill>
                <a:latin typeface="Calibri"/>
                <a:cs typeface="Calibri"/>
              </a:rPr>
              <a:t>primero</a:t>
            </a:r>
            <a:r>
              <a:rPr dirty="0" sz="2800" spc="-60">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lista</a:t>
            </a:r>
            <a:r>
              <a:rPr dirty="0" sz="2800" spc="-65">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last_names</a:t>
            </a:r>
            <a:r>
              <a:rPr dirty="0" sz="2800" spc="-40">
                <a:solidFill>
                  <a:srgbClr val="4E3629"/>
                </a:solidFill>
                <a:latin typeface="Calibri"/>
                <a:cs typeface="Calibri"/>
              </a:rPr>
              <a:t> </a:t>
            </a:r>
            <a:r>
              <a:rPr dirty="0" sz="2800">
                <a:solidFill>
                  <a:srgbClr val="4E3629"/>
                </a:solidFill>
                <a:latin typeface="Calibri"/>
                <a:cs typeface="Calibri"/>
              </a:rPr>
              <a:t>y</a:t>
            </a:r>
            <a:r>
              <a:rPr dirty="0" sz="2800" spc="-85">
                <a:solidFill>
                  <a:srgbClr val="4E3629"/>
                </a:solidFill>
                <a:latin typeface="Calibri"/>
                <a:cs typeface="Calibri"/>
              </a:rPr>
              <a:t> </a:t>
            </a:r>
            <a:r>
              <a:rPr dirty="0" sz="2800" spc="-10">
                <a:solidFill>
                  <a:srgbClr val="4E3629"/>
                </a:solidFill>
                <a:latin typeface="Calibri"/>
                <a:cs typeface="Calibri"/>
              </a:rPr>
              <a:t>hire_dates</a:t>
            </a:r>
            <a:r>
              <a:rPr dirty="0" sz="2800" spc="-5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spc="-25">
                <a:solidFill>
                  <a:srgbClr val="4E3629"/>
                </a:solidFill>
                <a:latin typeface="Calibri"/>
                <a:cs typeface="Calibri"/>
              </a:rPr>
              <a:t>los </a:t>
            </a:r>
            <a:r>
              <a:rPr dirty="0" sz="2800" spc="-25">
                <a:solidFill>
                  <a:srgbClr val="4E3629"/>
                </a:solidFill>
                <a:latin typeface="Calibri"/>
                <a:cs typeface="Calibri"/>
              </a:rPr>
              <a:t>	</a:t>
            </a:r>
            <a:r>
              <a:rPr dirty="0" sz="2800" spc="-10">
                <a:solidFill>
                  <a:srgbClr val="4E3629"/>
                </a:solidFill>
                <a:latin typeface="Calibri"/>
                <a:cs typeface="Calibri"/>
              </a:rPr>
              <a:t>empleados:</a:t>
            </a:r>
            <a:endParaRPr sz="2800">
              <a:latin typeface="Calibri"/>
              <a:cs typeface="Calibri"/>
            </a:endParaRPr>
          </a:p>
        </p:txBody>
      </p:sp>
      <p:sp>
        <p:nvSpPr>
          <p:cNvPr id="4" name="object 4" descr=""/>
          <p:cNvSpPr txBox="1"/>
          <p:nvPr/>
        </p:nvSpPr>
        <p:spPr>
          <a:xfrm>
            <a:off x="483552" y="4612769"/>
            <a:ext cx="7626350" cy="83629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A</a:t>
            </a:r>
            <a:r>
              <a:rPr dirty="0" sz="2800" spc="-45">
                <a:solidFill>
                  <a:srgbClr val="4E3629"/>
                </a:solidFill>
                <a:latin typeface="Calibri"/>
                <a:cs typeface="Calibri"/>
              </a:rPr>
              <a:t> </a:t>
            </a:r>
            <a:r>
              <a:rPr dirty="0" sz="2800" spc="-10">
                <a:solidFill>
                  <a:srgbClr val="4E3629"/>
                </a:solidFill>
                <a:latin typeface="Calibri"/>
                <a:cs typeface="Calibri"/>
              </a:rPr>
              <a:t>continuación,</a:t>
            </a:r>
            <a:r>
              <a:rPr dirty="0" sz="2800" spc="-2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vista</a:t>
            </a:r>
            <a:r>
              <a:rPr dirty="0" sz="2800" spc="-4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línea</a:t>
            </a:r>
            <a:r>
              <a:rPr dirty="0" sz="2800" spc="-50">
                <a:solidFill>
                  <a:srgbClr val="4E3629"/>
                </a:solidFill>
                <a:latin typeface="Calibri"/>
                <a:cs typeface="Calibri"/>
              </a:rPr>
              <a:t> </a:t>
            </a:r>
            <a:r>
              <a:rPr dirty="0" sz="2800">
                <a:solidFill>
                  <a:srgbClr val="4E3629"/>
                </a:solidFill>
                <a:latin typeface="Calibri"/>
                <a:cs typeface="Calibri"/>
              </a:rPr>
              <a:t>ordena</a:t>
            </a:r>
            <a:r>
              <a:rPr dirty="0" sz="2800" spc="-40">
                <a:solidFill>
                  <a:srgbClr val="4E3629"/>
                </a:solidFill>
                <a:latin typeface="Calibri"/>
                <a:cs typeface="Calibri"/>
              </a:rPr>
              <a:t> </a:t>
            </a:r>
            <a:r>
              <a:rPr dirty="0" sz="2800">
                <a:solidFill>
                  <a:srgbClr val="4E3629"/>
                </a:solidFill>
                <a:latin typeface="Calibri"/>
                <a:cs typeface="Calibri"/>
              </a:rPr>
              <a:t>los</a:t>
            </a:r>
            <a:r>
              <a:rPr dirty="0" sz="2800" spc="-45">
                <a:solidFill>
                  <a:srgbClr val="4E3629"/>
                </a:solidFill>
                <a:latin typeface="Calibri"/>
                <a:cs typeface="Calibri"/>
              </a:rPr>
              <a:t> </a:t>
            </a:r>
            <a:r>
              <a:rPr dirty="0" sz="2800">
                <a:solidFill>
                  <a:srgbClr val="4E3629"/>
                </a:solidFill>
                <a:latin typeface="Calibri"/>
                <a:cs typeface="Calibri"/>
              </a:rPr>
              <a:t>años</a:t>
            </a:r>
            <a:r>
              <a:rPr dirty="0" sz="2800" spc="-45">
                <a:solidFill>
                  <a:srgbClr val="4E3629"/>
                </a:solidFill>
                <a:latin typeface="Calibri"/>
                <a:cs typeface="Calibri"/>
              </a:rPr>
              <a:t> </a:t>
            </a:r>
            <a:r>
              <a:rPr dirty="0" sz="2800" spc="-25">
                <a:solidFill>
                  <a:srgbClr val="4E3629"/>
                </a:solidFill>
                <a:latin typeface="Calibri"/>
                <a:cs typeface="Calibri"/>
              </a:rPr>
              <a:t>del </a:t>
            </a:r>
            <a:r>
              <a:rPr dirty="0" sz="2800" spc="-25">
                <a:solidFill>
                  <a:srgbClr val="4E3629"/>
                </a:solidFill>
                <a:latin typeface="Calibri"/>
                <a:cs typeface="Calibri"/>
              </a:rPr>
              <a:t>	</a:t>
            </a:r>
            <a:r>
              <a:rPr dirty="0" sz="2800">
                <a:solidFill>
                  <a:srgbClr val="4E3629"/>
                </a:solidFill>
                <a:latin typeface="Calibri"/>
                <a:cs typeface="Calibri"/>
              </a:rPr>
              <a:t>más</a:t>
            </a:r>
            <a:r>
              <a:rPr dirty="0" sz="2800" spc="-35">
                <a:solidFill>
                  <a:srgbClr val="4E3629"/>
                </a:solidFill>
                <a:latin typeface="Calibri"/>
                <a:cs typeface="Calibri"/>
              </a:rPr>
              <a:t> </a:t>
            </a:r>
            <a:r>
              <a:rPr dirty="0" sz="2800">
                <a:solidFill>
                  <a:srgbClr val="4E3629"/>
                </a:solidFill>
                <a:latin typeface="Calibri"/>
                <a:cs typeface="Calibri"/>
              </a:rPr>
              <a:t>antiguo</a:t>
            </a:r>
            <a:r>
              <a:rPr dirty="0" sz="2800" spc="-30">
                <a:solidFill>
                  <a:srgbClr val="4E3629"/>
                </a:solidFill>
                <a:latin typeface="Calibri"/>
                <a:cs typeface="Calibri"/>
              </a:rPr>
              <a:t> </a:t>
            </a:r>
            <a:r>
              <a:rPr dirty="0" sz="2800">
                <a:solidFill>
                  <a:srgbClr val="4E3629"/>
                </a:solidFill>
                <a:latin typeface="Calibri"/>
                <a:cs typeface="Calibri"/>
              </a:rPr>
              <a:t>al</a:t>
            </a:r>
            <a:r>
              <a:rPr dirty="0" sz="2800" spc="-55">
                <a:solidFill>
                  <a:srgbClr val="4E3629"/>
                </a:solidFill>
                <a:latin typeface="Calibri"/>
                <a:cs typeface="Calibri"/>
              </a:rPr>
              <a:t> </a:t>
            </a:r>
            <a:r>
              <a:rPr dirty="0" sz="2800">
                <a:solidFill>
                  <a:srgbClr val="4E3629"/>
                </a:solidFill>
                <a:latin typeface="Calibri"/>
                <a:cs typeface="Calibri"/>
              </a:rPr>
              <a:t>más</a:t>
            </a:r>
            <a:r>
              <a:rPr dirty="0" sz="2800" spc="-30">
                <a:solidFill>
                  <a:srgbClr val="4E3629"/>
                </a:solidFill>
                <a:latin typeface="Calibri"/>
                <a:cs typeface="Calibri"/>
              </a:rPr>
              <a:t> </a:t>
            </a:r>
            <a:r>
              <a:rPr dirty="0" sz="2800" spc="-10">
                <a:solidFill>
                  <a:srgbClr val="4E3629"/>
                </a:solidFill>
                <a:latin typeface="Calibri"/>
                <a:cs typeface="Calibri"/>
              </a:rPr>
              <a:t>reciente</a:t>
            </a:r>
            <a:endParaRPr sz="2800">
              <a:latin typeface="Calibri"/>
              <a:cs typeface="Calibri"/>
            </a:endParaRPr>
          </a:p>
        </p:txBody>
      </p:sp>
      <p:graphicFrame>
        <p:nvGraphicFramePr>
          <p:cNvPr id="5" name="object 5" descr=""/>
          <p:cNvGraphicFramePr>
            <a:graphicFrameLocks noGrp="1"/>
          </p:cNvGraphicFramePr>
          <p:nvPr/>
        </p:nvGraphicFramePr>
        <p:xfrm>
          <a:off x="559361" y="1291810"/>
          <a:ext cx="7778115" cy="1644650"/>
        </p:xfrm>
        <a:graphic>
          <a:graphicData uri="http://schemas.openxmlformats.org/drawingml/2006/table">
            <a:tbl>
              <a:tblPr firstRow="1" bandRow="1">
                <a:tableStyleId>{2D5ABB26-0587-4C30-8999-92F81FD0307C}</a:tableStyleId>
              </a:tblPr>
              <a:tblGrid>
                <a:gridCol w="2562860"/>
                <a:gridCol w="2562860"/>
                <a:gridCol w="2562860"/>
              </a:tblGrid>
              <a:tr h="274320">
                <a:tc>
                  <a:txBody>
                    <a:bodyPr/>
                    <a:lstStyle/>
                    <a:p>
                      <a:pPr marL="71755">
                        <a:lnSpc>
                          <a:spcPts val="2039"/>
                        </a:lnSpc>
                      </a:pPr>
                      <a:r>
                        <a:rPr dirty="0" sz="1800" b="1">
                          <a:solidFill>
                            <a:srgbClr val="4E3629"/>
                          </a:solidFill>
                          <a:latin typeface="Calibri"/>
                          <a:cs typeface="Calibri"/>
                        </a:rPr>
                        <a:t>Longest</a:t>
                      </a:r>
                      <a:r>
                        <a:rPr dirty="0" sz="1800" spc="-85" b="1">
                          <a:solidFill>
                            <a:srgbClr val="4E3629"/>
                          </a:solidFill>
                          <a:latin typeface="Calibri"/>
                          <a:cs typeface="Calibri"/>
                        </a:rPr>
                        <a:t> </a:t>
                      </a:r>
                      <a:r>
                        <a:rPr dirty="0" sz="1800" spc="-10" b="1">
                          <a:solidFill>
                            <a:srgbClr val="4E3629"/>
                          </a:solidFill>
                          <a:latin typeface="Calibri"/>
                          <a:cs typeface="Calibri"/>
                        </a:rPr>
                        <a:t>employed</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2039"/>
                        </a:lnSpc>
                      </a:pPr>
                      <a:r>
                        <a:rPr dirty="0" sz="1800" spc="-10" b="1">
                          <a:solidFill>
                            <a:srgbClr val="4E3629"/>
                          </a:solidFill>
                          <a:latin typeface="Calibri"/>
                          <a:cs typeface="Calibri"/>
                        </a:rPr>
                        <a:t>LAST_NAME</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2039"/>
                        </a:lnSpc>
                      </a:pPr>
                      <a:r>
                        <a:rPr dirty="0" sz="1800" spc="-10" b="1">
                          <a:solidFill>
                            <a:srgbClr val="4E3629"/>
                          </a:solidFill>
                          <a:latin typeface="Calibri"/>
                          <a:cs typeface="Calibri"/>
                        </a:rPr>
                        <a:t>HIRE_DATE</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73685">
                <a:tc>
                  <a:txBody>
                    <a:bodyPr/>
                    <a:lstStyle/>
                    <a:p>
                      <a:pPr marL="71755">
                        <a:lnSpc>
                          <a:spcPts val="2039"/>
                        </a:lnSpc>
                      </a:pPr>
                      <a:r>
                        <a:rPr dirty="0" sz="1800" spc="-50">
                          <a:solidFill>
                            <a:srgbClr val="4E3629"/>
                          </a:solidFill>
                          <a:latin typeface="Calibri"/>
                          <a:cs typeface="Calibri"/>
                        </a:rPr>
                        <a:t>1</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120">
                        <a:lnSpc>
                          <a:spcPts val="2039"/>
                        </a:lnSpc>
                      </a:pPr>
                      <a:r>
                        <a:rPr dirty="0" sz="1800" spc="-20">
                          <a:solidFill>
                            <a:srgbClr val="4E3629"/>
                          </a:solidFill>
                          <a:latin typeface="Calibri"/>
                          <a:cs typeface="Calibri"/>
                        </a:rPr>
                        <a:t>King</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120">
                        <a:lnSpc>
                          <a:spcPts val="2039"/>
                        </a:lnSpc>
                      </a:pPr>
                      <a:r>
                        <a:rPr dirty="0" sz="1800" spc="-10">
                          <a:solidFill>
                            <a:srgbClr val="4E3629"/>
                          </a:solidFill>
                          <a:latin typeface="Calibri"/>
                          <a:cs typeface="Calibri"/>
                        </a:rPr>
                        <a:t>17-Jun-</a:t>
                      </a:r>
                      <a:r>
                        <a:rPr dirty="0" sz="1800" spc="-20">
                          <a:solidFill>
                            <a:srgbClr val="4E3629"/>
                          </a:solidFill>
                          <a:latin typeface="Calibri"/>
                          <a:cs typeface="Calibri"/>
                        </a:rPr>
                        <a:t>1987</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74320">
                <a:tc>
                  <a:txBody>
                    <a:bodyPr/>
                    <a:lstStyle/>
                    <a:p>
                      <a:pPr marL="71120">
                        <a:lnSpc>
                          <a:spcPts val="2039"/>
                        </a:lnSpc>
                      </a:pPr>
                      <a:r>
                        <a:rPr dirty="0" sz="1800" spc="-50">
                          <a:solidFill>
                            <a:srgbClr val="4E3629"/>
                          </a:solidFill>
                          <a:latin typeface="Calibri"/>
                          <a:cs typeface="Calibri"/>
                        </a:rPr>
                        <a:t>2</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2039"/>
                        </a:lnSpc>
                      </a:pPr>
                      <a:r>
                        <a:rPr dirty="0" sz="1800" spc="-10">
                          <a:solidFill>
                            <a:srgbClr val="4E3629"/>
                          </a:solidFill>
                          <a:latin typeface="Calibri"/>
                          <a:cs typeface="Calibri"/>
                        </a:rPr>
                        <a:t>Whalen</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2039"/>
                        </a:lnSpc>
                      </a:pPr>
                      <a:r>
                        <a:rPr dirty="0" sz="1800" spc="-10">
                          <a:solidFill>
                            <a:srgbClr val="4E3629"/>
                          </a:solidFill>
                          <a:latin typeface="Calibri"/>
                          <a:cs typeface="Calibri"/>
                        </a:rPr>
                        <a:t>17-Sep-</a:t>
                      </a:r>
                      <a:r>
                        <a:rPr dirty="0" sz="1800" spc="-20">
                          <a:solidFill>
                            <a:srgbClr val="4E3629"/>
                          </a:solidFill>
                          <a:latin typeface="Calibri"/>
                          <a:cs typeface="Calibri"/>
                        </a:rPr>
                        <a:t>1987</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73685">
                <a:tc>
                  <a:txBody>
                    <a:bodyPr/>
                    <a:lstStyle/>
                    <a:p>
                      <a:pPr marL="71120">
                        <a:lnSpc>
                          <a:spcPts val="2039"/>
                        </a:lnSpc>
                      </a:pPr>
                      <a:r>
                        <a:rPr dirty="0" sz="1800" spc="-50">
                          <a:solidFill>
                            <a:srgbClr val="4E3629"/>
                          </a:solidFill>
                          <a:latin typeface="Calibri"/>
                          <a:cs typeface="Calibri"/>
                        </a:rPr>
                        <a:t>3</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2039"/>
                        </a:lnSpc>
                      </a:pPr>
                      <a:r>
                        <a:rPr dirty="0" sz="1800" spc="-10">
                          <a:solidFill>
                            <a:srgbClr val="4E3629"/>
                          </a:solidFill>
                          <a:latin typeface="Calibri"/>
                          <a:cs typeface="Calibri"/>
                        </a:rPr>
                        <a:t>Kochhar</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2039"/>
                        </a:lnSpc>
                      </a:pPr>
                      <a:r>
                        <a:rPr dirty="0" sz="1800" spc="-10">
                          <a:solidFill>
                            <a:srgbClr val="4E3629"/>
                          </a:solidFill>
                          <a:latin typeface="Calibri"/>
                          <a:cs typeface="Calibri"/>
                        </a:rPr>
                        <a:t>21-Sep-</a:t>
                      </a:r>
                      <a:r>
                        <a:rPr dirty="0" sz="1800" spc="-20">
                          <a:solidFill>
                            <a:srgbClr val="4E3629"/>
                          </a:solidFill>
                          <a:latin typeface="Calibri"/>
                          <a:cs typeface="Calibri"/>
                        </a:rPr>
                        <a:t>1989</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74320">
                <a:tc>
                  <a:txBody>
                    <a:bodyPr/>
                    <a:lstStyle/>
                    <a:p>
                      <a:pPr marL="71120">
                        <a:lnSpc>
                          <a:spcPts val="2039"/>
                        </a:lnSpc>
                      </a:pPr>
                      <a:r>
                        <a:rPr dirty="0" sz="1800" spc="-50">
                          <a:solidFill>
                            <a:srgbClr val="4E3629"/>
                          </a:solidFill>
                          <a:latin typeface="Calibri"/>
                          <a:cs typeface="Calibri"/>
                        </a:rPr>
                        <a:t>4</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2039"/>
                        </a:lnSpc>
                      </a:pPr>
                      <a:r>
                        <a:rPr dirty="0" sz="1800" spc="-10">
                          <a:solidFill>
                            <a:srgbClr val="4E3629"/>
                          </a:solidFill>
                          <a:latin typeface="Calibri"/>
                          <a:cs typeface="Calibri"/>
                        </a:rPr>
                        <a:t>Hunold</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2039"/>
                        </a:lnSpc>
                      </a:pPr>
                      <a:r>
                        <a:rPr dirty="0" sz="1800" spc="-10">
                          <a:solidFill>
                            <a:srgbClr val="4E3629"/>
                          </a:solidFill>
                          <a:latin typeface="Calibri"/>
                          <a:cs typeface="Calibri"/>
                        </a:rPr>
                        <a:t>03-Jan-</a:t>
                      </a:r>
                      <a:r>
                        <a:rPr dirty="0" sz="1800" spc="-20">
                          <a:solidFill>
                            <a:srgbClr val="4E3629"/>
                          </a:solidFill>
                          <a:latin typeface="Calibri"/>
                          <a:cs typeface="Calibri"/>
                        </a:rPr>
                        <a:t>1990</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74320">
                <a:tc>
                  <a:txBody>
                    <a:bodyPr/>
                    <a:lstStyle/>
                    <a:p>
                      <a:pPr marL="71120">
                        <a:lnSpc>
                          <a:spcPts val="2039"/>
                        </a:lnSpc>
                      </a:pPr>
                      <a:r>
                        <a:rPr dirty="0" sz="1800" spc="-50">
                          <a:solidFill>
                            <a:srgbClr val="4E3629"/>
                          </a:solidFill>
                          <a:latin typeface="Calibri"/>
                          <a:cs typeface="Calibri"/>
                        </a:rPr>
                        <a:t>5</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2039"/>
                        </a:lnSpc>
                      </a:pPr>
                      <a:r>
                        <a:rPr dirty="0" sz="1800" spc="-10">
                          <a:solidFill>
                            <a:srgbClr val="4E3629"/>
                          </a:solidFill>
                          <a:latin typeface="Calibri"/>
                          <a:cs typeface="Calibri"/>
                        </a:rPr>
                        <a:t>Ernst</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2039"/>
                        </a:lnSpc>
                      </a:pPr>
                      <a:r>
                        <a:rPr dirty="0" sz="1800" spc="-10">
                          <a:solidFill>
                            <a:srgbClr val="4E3629"/>
                          </a:solidFill>
                          <a:latin typeface="Calibri"/>
                          <a:cs typeface="Calibri"/>
                        </a:rPr>
                        <a:t>21-May-</a:t>
                      </a:r>
                      <a:r>
                        <a:rPr dirty="0" sz="1800" spc="-20">
                          <a:solidFill>
                            <a:srgbClr val="4E3629"/>
                          </a:solidFill>
                          <a:latin typeface="Calibri"/>
                          <a:cs typeface="Calibri"/>
                        </a:rPr>
                        <a:t>1991</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6" name="object 6" descr=""/>
          <p:cNvSpPr txBox="1"/>
          <p:nvPr/>
        </p:nvSpPr>
        <p:spPr>
          <a:xfrm>
            <a:off x="405384" y="4177284"/>
            <a:ext cx="8345805" cy="307975"/>
          </a:xfrm>
          <a:prstGeom prst="rect">
            <a:avLst/>
          </a:prstGeom>
          <a:solidFill>
            <a:srgbClr val="9DBEC4">
              <a:alpha val="50199"/>
            </a:srgbClr>
          </a:solidFill>
        </p:spPr>
        <p:txBody>
          <a:bodyPr wrap="square" lIns="0" tIns="0" rIns="0" bIns="0" rtlCol="0" vert="horz">
            <a:spAutoFit/>
          </a:bodyPr>
          <a:lstStyle/>
          <a:p>
            <a:pPr>
              <a:lnSpc>
                <a:spcPts val="2075"/>
              </a:lnSpc>
            </a:pPr>
            <a:r>
              <a:rPr dirty="0" sz="1800" b="1">
                <a:solidFill>
                  <a:srgbClr val="4E3629"/>
                </a:solidFill>
                <a:latin typeface="Courier New"/>
                <a:cs typeface="Courier New"/>
              </a:rPr>
              <a:t>(SELECT</a:t>
            </a:r>
            <a:r>
              <a:rPr dirty="0" sz="1800" spc="-90" b="1">
                <a:solidFill>
                  <a:srgbClr val="4E3629"/>
                </a:solidFill>
                <a:latin typeface="Courier New"/>
                <a:cs typeface="Courier New"/>
              </a:rPr>
              <a:t> </a:t>
            </a:r>
            <a:r>
              <a:rPr dirty="0" sz="1800" b="1">
                <a:solidFill>
                  <a:srgbClr val="4E3629"/>
                </a:solidFill>
                <a:latin typeface="Courier New"/>
                <a:cs typeface="Courier New"/>
              </a:rPr>
              <a:t>last_name,</a:t>
            </a:r>
            <a:r>
              <a:rPr dirty="0" sz="1800" spc="-75" b="1">
                <a:solidFill>
                  <a:srgbClr val="4E3629"/>
                </a:solidFill>
                <a:latin typeface="Courier New"/>
                <a:cs typeface="Courier New"/>
              </a:rPr>
              <a:t> </a:t>
            </a:r>
            <a:r>
              <a:rPr dirty="0" sz="1800" b="1">
                <a:solidFill>
                  <a:srgbClr val="4E3629"/>
                </a:solidFill>
                <a:latin typeface="Courier New"/>
                <a:cs typeface="Courier New"/>
              </a:rPr>
              <a:t>hire_date</a:t>
            </a:r>
            <a:r>
              <a:rPr dirty="0" sz="1800" spc="-60" b="1">
                <a:solidFill>
                  <a:srgbClr val="4E3629"/>
                </a:solidFill>
                <a:latin typeface="Courier New"/>
                <a:cs typeface="Courier New"/>
              </a:rPr>
              <a:t> </a:t>
            </a:r>
            <a:r>
              <a:rPr dirty="0" sz="1800" b="1">
                <a:solidFill>
                  <a:srgbClr val="4E3629"/>
                </a:solidFill>
                <a:latin typeface="Courier New"/>
                <a:cs typeface="Courier New"/>
              </a:rPr>
              <a:t>FROM</a:t>
            </a:r>
            <a:r>
              <a:rPr dirty="0" sz="1800" spc="-75"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p:txBody>
      </p:sp>
      <p:sp>
        <p:nvSpPr>
          <p:cNvPr id="7" name="object 7" descr=""/>
          <p:cNvSpPr txBox="1"/>
          <p:nvPr/>
        </p:nvSpPr>
        <p:spPr>
          <a:xfrm>
            <a:off x="417576" y="5519928"/>
            <a:ext cx="8345805" cy="306705"/>
          </a:xfrm>
          <a:prstGeom prst="rect">
            <a:avLst/>
          </a:prstGeom>
          <a:solidFill>
            <a:srgbClr val="9DBEC4">
              <a:alpha val="50199"/>
            </a:srgbClr>
          </a:solidFill>
        </p:spPr>
        <p:txBody>
          <a:bodyPr wrap="square" lIns="0" tIns="0" rIns="0" bIns="0" rtlCol="0" vert="horz">
            <a:spAutoFit/>
          </a:bodyPr>
          <a:lstStyle/>
          <a:p>
            <a:pPr>
              <a:lnSpc>
                <a:spcPts val="2070"/>
              </a:lnSpc>
            </a:pPr>
            <a:r>
              <a:rPr dirty="0" sz="1800" b="1">
                <a:solidFill>
                  <a:srgbClr val="4E3629"/>
                </a:solidFill>
                <a:latin typeface="Courier New"/>
                <a:cs typeface="Courier New"/>
              </a:rPr>
              <a:t>...ORDER</a:t>
            </a:r>
            <a:r>
              <a:rPr dirty="0" sz="1800" spc="-50" b="1">
                <a:solidFill>
                  <a:srgbClr val="4E3629"/>
                </a:solidFill>
                <a:latin typeface="Courier New"/>
                <a:cs typeface="Courier New"/>
              </a:rPr>
              <a:t> </a:t>
            </a:r>
            <a:r>
              <a:rPr dirty="0" sz="1800" b="1">
                <a:solidFill>
                  <a:srgbClr val="4E3629"/>
                </a:solidFill>
                <a:latin typeface="Courier New"/>
                <a:cs typeface="Courier New"/>
              </a:rPr>
              <a:t>BY</a:t>
            </a:r>
            <a:r>
              <a:rPr dirty="0" sz="1800" spc="-45" b="1">
                <a:solidFill>
                  <a:srgbClr val="4E3629"/>
                </a:solidFill>
                <a:latin typeface="Courier New"/>
                <a:cs typeface="Courier New"/>
              </a:rPr>
              <a:t> </a:t>
            </a:r>
            <a:r>
              <a:rPr dirty="0" sz="1800" spc="-10" b="1">
                <a:solidFill>
                  <a:srgbClr val="4E3629"/>
                </a:solidFill>
                <a:latin typeface="Courier New"/>
                <a:cs typeface="Courier New"/>
              </a:rPr>
              <a:t>hire_date)</a:t>
            </a:r>
            <a:endParaRPr sz="1800">
              <a:latin typeface="Courier New"/>
              <a:cs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ANÁLISIS</a:t>
            </a:r>
            <a:r>
              <a:rPr dirty="0" spc="-30"/>
              <a:t> </a:t>
            </a:r>
            <a:r>
              <a:rPr dirty="0"/>
              <a:t>DE</a:t>
            </a:r>
            <a:r>
              <a:rPr dirty="0" spc="-50"/>
              <a:t> </a:t>
            </a:r>
            <a:r>
              <a:rPr dirty="0"/>
              <a:t>N</a:t>
            </a:r>
            <a:r>
              <a:rPr dirty="0" spc="-40"/>
              <a:t> </a:t>
            </a:r>
            <a:r>
              <a:rPr dirty="0" spc="-20"/>
              <a:t>PRINCIPALES</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10"/>
              <a:t> </a:t>
            </a:r>
            <a:r>
              <a:rPr dirty="0"/>
              <a:t>15-</a:t>
            </a:r>
            <a:r>
              <a:rPr dirty="0" spc="-50"/>
              <a:t>3</a:t>
            </a:r>
          </a:p>
          <a:p>
            <a:pPr marL="12700">
              <a:lnSpc>
                <a:spcPts val="965"/>
              </a:lnSpc>
            </a:pPr>
            <a:r>
              <a:rPr dirty="0"/>
              <a:t>Gestión</a:t>
            </a:r>
            <a:r>
              <a:rPr dirty="0" spc="-20"/>
              <a:t> </a:t>
            </a:r>
            <a:r>
              <a:rPr dirty="0"/>
              <a:t>de</a:t>
            </a:r>
            <a:r>
              <a:rPr dirty="0" spc="-35"/>
              <a:t> </a:t>
            </a:r>
            <a:r>
              <a:rPr dirty="0" spc="-10"/>
              <a:t>Vistas</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38100">
              <a:lnSpc>
                <a:spcPts val="1045"/>
              </a:lnSpc>
            </a:pPr>
            <a:r>
              <a:rPr dirty="0" spc="-25"/>
              <a:t>12</a:t>
            </a: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object 3" descr=""/>
          <p:cNvSpPr txBox="1"/>
          <p:nvPr/>
        </p:nvSpPr>
        <p:spPr>
          <a:xfrm>
            <a:off x="483552" y="1415417"/>
            <a:ext cx="7501890" cy="1220470"/>
          </a:xfrm>
          <a:prstGeom prst="rect">
            <a:avLst/>
          </a:prstGeom>
        </p:spPr>
        <p:txBody>
          <a:bodyPr wrap="square" lIns="0" tIns="59690" rIns="0" bIns="0" rtlCol="0" vert="horz">
            <a:spAutoFit/>
          </a:bodyPr>
          <a:lstStyle/>
          <a:p>
            <a:pPr algn="just"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cláusula</a:t>
            </a:r>
            <a:r>
              <a:rPr dirty="0" sz="2800" spc="-30">
                <a:solidFill>
                  <a:srgbClr val="4E3629"/>
                </a:solidFill>
                <a:latin typeface="Calibri"/>
                <a:cs typeface="Calibri"/>
              </a:rPr>
              <a:t> </a:t>
            </a:r>
            <a:r>
              <a:rPr dirty="0" sz="2800">
                <a:solidFill>
                  <a:srgbClr val="4E3629"/>
                </a:solidFill>
                <a:latin typeface="Calibri"/>
                <a:cs typeface="Calibri"/>
              </a:rPr>
              <a:t>WHERE</a:t>
            </a:r>
            <a:r>
              <a:rPr dirty="0" sz="2800" spc="-4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consulta</a:t>
            </a:r>
            <a:r>
              <a:rPr dirty="0" sz="2800" spc="-20">
                <a:solidFill>
                  <a:srgbClr val="4E3629"/>
                </a:solidFill>
                <a:latin typeface="Calibri"/>
                <a:cs typeface="Calibri"/>
              </a:rPr>
              <a:t> </a:t>
            </a:r>
            <a:r>
              <a:rPr dirty="0" sz="2800">
                <a:solidFill>
                  <a:srgbClr val="4E3629"/>
                </a:solidFill>
                <a:latin typeface="Calibri"/>
                <a:cs typeface="Calibri"/>
              </a:rPr>
              <a:t>externa</a:t>
            </a:r>
            <a:r>
              <a:rPr dirty="0" sz="2800" spc="-70">
                <a:solidFill>
                  <a:srgbClr val="4E3629"/>
                </a:solidFill>
                <a:latin typeface="Calibri"/>
                <a:cs typeface="Calibri"/>
              </a:rPr>
              <a:t> </a:t>
            </a:r>
            <a:r>
              <a:rPr dirty="0" sz="2800">
                <a:solidFill>
                  <a:srgbClr val="4E3629"/>
                </a:solidFill>
                <a:latin typeface="Calibri"/>
                <a:cs typeface="Calibri"/>
              </a:rPr>
              <a:t>se</a:t>
            </a:r>
            <a:r>
              <a:rPr dirty="0" sz="2800" spc="-45">
                <a:solidFill>
                  <a:srgbClr val="4E3629"/>
                </a:solidFill>
                <a:latin typeface="Calibri"/>
                <a:cs typeface="Calibri"/>
              </a:rPr>
              <a:t> </a:t>
            </a:r>
            <a:r>
              <a:rPr dirty="0" sz="2800" spc="-10">
                <a:solidFill>
                  <a:srgbClr val="4E3629"/>
                </a:solidFill>
                <a:latin typeface="Calibri"/>
                <a:cs typeface="Calibri"/>
              </a:rPr>
              <a:t>utiliza </a:t>
            </a:r>
            <a:r>
              <a:rPr dirty="0" sz="2800" spc="-10">
                <a:solidFill>
                  <a:srgbClr val="4E3629"/>
                </a:solidFill>
                <a:latin typeface="Calibri"/>
                <a:cs typeface="Calibri"/>
              </a:rPr>
              <a:t>	</a:t>
            </a:r>
            <a:r>
              <a:rPr dirty="0" sz="2800">
                <a:solidFill>
                  <a:srgbClr val="4E3629"/>
                </a:solidFill>
                <a:latin typeface="Calibri"/>
                <a:cs typeface="Calibri"/>
              </a:rPr>
              <a:t>para</a:t>
            </a:r>
            <a:r>
              <a:rPr dirty="0" sz="2800" spc="-80">
                <a:solidFill>
                  <a:srgbClr val="4E3629"/>
                </a:solidFill>
                <a:latin typeface="Calibri"/>
                <a:cs typeface="Calibri"/>
              </a:rPr>
              <a:t> </a:t>
            </a:r>
            <a:r>
              <a:rPr dirty="0" sz="2800">
                <a:solidFill>
                  <a:srgbClr val="4E3629"/>
                </a:solidFill>
                <a:latin typeface="Calibri"/>
                <a:cs typeface="Calibri"/>
              </a:rPr>
              <a:t>restringir</a:t>
            </a:r>
            <a:r>
              <a:rPr dirty="0" sz="2800" spc="-55">
                <a:solidFill>
                  <a:srgbClr val="4E3629"/>
                </a:solidFill>
                <a:latin typeface="Calibri"/>
                <a:cs typeface="Calibri"/>
              </a:rPr>
              <a:t> </a:t>
            </a:r>
            <a:r>
              <a:rPr dirty="0" sz="2800">
                <a:solidFill>
                  <a:srgbClr val="4E3629"/>
                </a:solidFill>
                <a:latin typeface="Calibri"/>
                <a:cs typeface="Calibri"/>
              </a:rPr>
              <a:t>el</a:t>
            </a:r>
            <a:r>
              <a:rPr dirty="0" sz="2800" spc="-100">
                <a:solidFill>
                  <a:srgbClr val="4E3629"/>
                </a:solidFill>
                <a:latin typeface="Calibri"/>
                <a:cs typeface="Calibri"/>
              </a:rPr>
              <a:t> </a:t>
            </a:r>
            <a:r>
              <a:rPr dirty="0" sz="2800">
                <a:solidFill>
                  <a:srgbClr val="4E3629"/>
                </a:solidFill>
                <a:latin typeface="Calibri"/>
                <a:cs typeface="Calibri"/>
              </a:rPr>
              <a:t>número</a:t>
            </a:r>
            <a:r>
              <a:rPr dirty="0" sz="2800" spc="-5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filas</a:t>
            </a:r>
            <a:r>
              <a:rPr dirty="0" sz="2800" spc="-85">
                <a:solidFill>
                  <a:srgbClr val="4E3629"/>
                </a:solidFill>
                <a:latin typeface="Calibri"/>
                <a:cs typeface="Calibri"/>
              </a:rPr>
              <a:t> </a:t>
            </a:r>
            <a:r>
              <a:rPr dirty="0" sz="2800">
                <a:solidFill>
                  <a:srgbClr val="4E3629"/>
                </a:solidFill>
                <a:latin typeface="Calibri"/>
                <a:cs typeface="Calibri"/>
              </a:rPr>
              <a:t>devueltas</a:t>
            </a:r>
            <a:r>
              <a:rPr dirty="0" sz="2800" spc="-65">
                <a:solidFill>
                  <a:srgbClr val="4E3629"/>
                </a:solidFill>
                <a:latin typeface="Calibri"/>
                <a:cs typeface="Calibri"/>
              </a:rPr>
              <a:t> </a:t>
            </a:r>
            <a:r>
              <a:rPr dirty="0" sz="2800">
                <a:solidFill>
                  <a:srgbClr val="4E3629"/>
                </a:solidFill>
                <a:latin typeface="Calibri"/>
                <a:cs typeface="Calibri"/>
              </a:rPr>
              <a:t>y</a:t>
            </a:r>
            <a:r>
              <a:rPr dirty="0" sz="2800" spc="-95">
                <a:solidFill>
                  <a:srgbClr val="4E3629"/>
                </a:solidFill>
                <a:latin typeface="Calibri"/>
                <a:cs typeface="Calibri"/>
              </a:rPr>
              <a:t> </a:t>
            </a:r>
            <a:r>
              <a:rPr dirty="0" sz="2800" spc="-20">
                <a:solidFill>
                  <a:srgbClr val="4E3629"/>
                </a:solidFill>
                <a:latin typeface="Calibri"/>
                <a:cs typeface="Calibri"/>
              </a:rPr>
              <a:t>debe </a:t>
            </a:r>
            <a:r>
              <a:rPr dirty="0" sz="2800" spc="-20">
                <a:solidFill>
                  <a:srgbClr val="4E3629"/>
                </a:solidFill>
                <a:latin typeface="Calibri"/>
                <a:cs typeface="Calibri"/>
              </a:rPr>
              <a:t>	</a:t>
            </a:r>
            <a:r>
              <a:rPr dirty="0" sz="2800">
                <a:solidFill>
                  <a:srgbClr val="4E3629"/>
                </a:solidFill>
                <a:latin typeface="Calibri"/>
                <a:cs typeface="Calibri"/>
              </a:rPr>
              <a:t>utilizar</a:t>
            </a:r>
            <a:r>
              <a:rPr dirty="0" sz="2800" spc="-65">
                <a:solidFill>
                  <a:srgbClr val="4E3629"/>
                </a:solidFill>
                <a:latin typeface="Calibri"/>
                <a:cs typeface="Calibri"/>
              </a:rPr>
              <a:t> </a:t>
            </a:r>
            <a:r>
              <a:rPr dirty="0" sz="2800">
                <a:solidFill>
                  <a:srgbClr val="4E3629"/>
                </a:solidFill>
                <a:latin typeface="Calibri"/>
                <a:cs typeface="Calibri"/>
              </a:rPr>
              <a:t>un</a:t>
            </a:r>
            <a:r>
              <a:rPr dirty="0" sz="2800" spc="-50">
                <a:solidFill>
                  <a:srgbClr val="4E3629"/>
                </a:solidFill>
                <a:latin typeface="Calibri"/>
                <a:cs typeface="Calibri"/>
              </a:rPr>
              <a:t> </a:t>
            </a:r>
            <a:r>
              <a:rPr dirty="0" sz="2800">
                <a:solidFill>
                  <a:srgbClr val="4E3629"/>
                </a:solidFill>
                <a:latin typeface="Calibri"/>
                <a:cs typeface="Calibri"/>
              </a:rPr>
              <a:t>operador</a:t>
            </a:r>
            <a:r>
              <a:rPr dirty="0" sz="2800" spc="-50">
                <a:solidFill>
                  <a:srgbClr val="4E3629"/>
                </a:solidFill>
                <a:latin typeface="Calibri"/>
                <a:cs typeface="Calibri"/>
              </a:rPr>
              <a:t> </a:t>
            </a:r>
            <a:r>
              <a:rPr dirty="0" sz="2800">
                <a:solidFill>
                  <a:srgbClr val="4E3629"/>
                </a:solidFill>
                <a:latin typeface="Calibri"/>
                <a:cs typeface="Calibri"/>
              </a:rPr>
              <a:t>&lt;</a:t>
            </a:r>
            <a:r>
              <a:rPr dirty="0" sz="2800" spc="-70">
                <a:solidFill>
                  <a:srgbClr val="4E3629"/>
                </a:solidFill>
                <a:latin typeface="Calibri"/>
                <a:cs typeface="Calibri"/>
              </a:rPr>
              <a:t> </a:t>
            </a:r>
            <a:r>
              <a:rPr dirty="0" sz="2800">
                <a:solidFill>
                  <a:srgbClr val="4E3629"/>
                </a:solidFill>
                <a:latin typeface="Calibri"/>
                <a:cs typeface="Calibri"/>
              </a:rPr>
              <a:t>o</a:t>
            </a:r>
            <a:r>
              <a:rPr dirty="0" sz="2800" spc="-70">
                <a:solidFill>
                  <a:srgbClr val="4E3629"/>
                </a:solidFill>
                <a:latin typeface="Calibri"/>
                <a:cs typeface="Calibri"/>
              </a:rPr>
              <a:t> </a:t>
            </a:r>
            <a:r>
              <a:rPr dirty="0" sz="2800" spc="-25">
                <a:solidFill>
                  <a:srgbClr val="4E3629"/>
                </a:solidFill>
                <a:latin typeface="Calibri"/>
                <a:cs typeface="Calibri"/>
              </a:rPr>
              <a:t>&lt;=</a:t>
            </a:r>
            <a:endParaRPr sz="2800">
              <a:latin typeface="Calibri"/>
              <a:cs typeface="Calibri"/>
            </a:endParaRPr>
          </a:p>
        </p:txBody>
      </p:sp>
      <p:graphicFrame>
        <p:nvGraphicFramePr>
          <p:cNvPr id="4" name="object 4" descr=""/>
          <p:cNvGraphicFramePr>
            <a:graphicFrameLocks noGrp="1"/>
          </p:cNvGraphicFramePr>
          <p:nvPr/>
        </p:nvGraphicFramePr>
        <p:xfrm>
          <a:off x="804669" y="4351208"/>
          <a:ext cx="7599680" cy="1643380"/>
        </p:xfrm>
        <a:graphic>
          <a:graphicData uri="http://schemas.openxmlformats.org/drawingml/2006/table">
            <a:tbl>
              <a:tblPr firstRow="1" bandRow="1">
                <a:tableStyleId>{2D5ABB26-0587-4C30-8999-92F81FD0307C}</a:tableStyleId>
              </a:tblPr>
              <a:tblGrid>
                <a:gridCol w="2503170"/>
                <a:gridCol w="2503170"/>
                <a:gridCol w="2503169"/>
              </a:tblGrid>
              <a:tr h="273685">
                <a:tc>
                  <a:txBody>
                    <a:bodyPr/>
                    <a:lstStyle/>
                    <a:p>
                      <a:pPr marL="71755">
                        <a:lnSpc>
                          <a:spcPts val="2039"/>
                        </a:lnSpc>
                      </a:pPr>
                      <a:r>
                        <a:rPr dirty="0" sz="1800" b="1">
                          <a:solidFill>
                            <a:srgbClr val="4E3629"/>
                          </a:solidFill>
                          <a:latin typeface="Calibri"/>
                          <a:cs typeface="Calibri"/>
                        </a:rPr>
                        <a:t>Longest</a:t>
                      </a:r>
                      <a:r>
                        <a:rPr dirty="0" sz="1800" spc="-85" b="1">
                          <a:solidFill>
                            <a:srgbClr val="4E3629"/>
                          </a:solidFill>
                          <a:latin typeface="Calibri"/>
                          <a:cs typeface="Calibri"/>
                        </a:rPr>
                        <a:t> </a:t>
                      </a:r>
                      <a:r>
                        <a:rPr dirty="0" sz="1800" spc="-10" b="1">
                          <a:solidFill>
                            <a:srgbClr val="4E3629"/>
                          </a:solidFill>
                          <a:latin typeface="Calibri"/>
                          <a:cs typeface="Calibri"/>
                        </a:rPr>
                        <a:t>employed</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2039"/>
                        </a:lnSpc>
                      </a:pPr>
                      <a:r>
                        <a:rPr dirty="0" sz="1800" spc="-10" b="1">
                          <a:solidFill>
                            <a:srgbClr val="4E3629"/>
                          </a:solidFill>
                          <a:latin typeface="Calibri"/>
                          <a:cs typeface="Calibri"/>
                        </a:rPr>
                        <a:t>LAST_NAME</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2039"/>
                        </a:lnSpc>
                      </a:pPr>
                      <a:r>
                        <a:rPr dirty="0" sz="1800" spc="-10" b="1">
                          <a:solidFill>
                            <a:srgbClr val="4E3629"/>
                          </a:solidFill>
                          <a:latin typeface="Calibri"/>
                          <a:cs typeface="Calibri"/>
                        </a:rPr>
                        <a:t>HIRE_DATE</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73685">
                <a:tc>
                  <a:txBody>
                    <a:bodyPr/>
                    <a:lstStyle/>
                    <a:p>
                      <a:pPr marL="71755">
                        <a:lnSpc>
                          <a:spcPts val="2039"/>
                        </a:lnSpc>
                      </a:pPr>
                      <a:r>
                        <a:rPr dirty="0" sz="1800" spc="-50">
                          <a:solidFill>
                            <a:srgbClr val="4E3629"/>
                          </a:solidFill>
                          <a:latin typeface="Calibri"/>
                          <a:cs typeface="Calibri"/>
                        </a:rPr>
                        <a:t>1</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2039"/>
                        </a:lnSpc>
                      </a:pPr>
                      <a:r>
                        <a:rPr dirty="0" sz="1800" spc="-20">
                          <a:solidFill>
                            <a:srgbClr val="4E3629"/>
                          </a:solidFill>
                          <a:latin typeface="Calibri"/>
                          <a:cs typeface="Calibri"/>
                        </a:rPr>
                        <a:t>King</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2039"/>
                        </a:lnSpc>
                      </a:pPr>
                      <a:r>
                        <a:rPr dirty="0" sz="1800" spc="-10">
                          <a:solidFill>
                            <a:srgbClr val="4E3629"/>
                          </a:solidFill>
                          <a:latin typeface="Calibri"/>
                          <a:cs typeface="Calibri"/>
                        </a:rPr>
                        <a:t>17-Jun-</a:t>
                      </a:r>
                      <a:r>
                        <a:rPr dirty="0" sz="1800" spc="-20">
                          <a:solidFill>
                            <a:srgbClr val="4E3629"/>
                          </a:solidFill>
                          <a:latin typeface="Calibri"/>
                          <a:cs typeface="Calibri"/>
                        </a:rPr>
                        <a:t>1987</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74320">
                <a:tc>
                  <a:txBody>
                    <a:bodyPr/>
                    <a:lstStyle/>
                    <a:p>
                      <a:pPr marL="71755">
                        <a:lnSpc>
                          <a:spcPts val="2039"/>
                        </a:lnSpc>
                      </a:pPr>
                      <a:r>
                        <a:rPr dirty="0" sz="1800" spc="-50">
                          <a:solidFill>
                            <a:srgbClr val="4E3629"/>
                          </a:solidFill>
                          <a:latin typeface="Calibri"/>
                          <a:cs typeface="Calibri"/>
                        </a:rPr>
                        <a:t>2</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2039"/>
                        </a:lnSpc>
                      </a:pPr>
                      <a:r>
                        <a:rPr dirty="0" sz="1800" spc="-10">
                          <a:solidFill>
                            <a:srgbClr val="4E3629"/>
                          </a:solidFill>
                          <a:latin typeface="Calibri"/>
                          <a:cs typeface="Calibri"/>
                        </a:rPr>
                        <a:t>Whalen</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2039"/>
                        </a:lnSpc>
                      </a:pPr>
                      <a:r>
                        <a:rPr dirty="0" sz="1800" spc="-10">
                          <a:solidFill>
                            <a:srgbClr val="4E3629"/>
                          </a:solidFill>
                          <a:latin typeface="Calibri"/>
                          <a:cs typeface="Calibri"/>
                        </a:rPr>
                        <a:t>17-Sep-</a:t>
                      </a:r>
                      <a:r>
                        <a:rPr dirty="0" sz="1800" spc="-20">
                          <a:solidFill>
                            <a:srgbClr val="4E3629"/>
                          </a:solidFill>
                          <a:latin typeface="Calibri"/>
                          <a:cs typeface="Calibri"/>
                        </a:rPr>
                        <a:t>1987</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73685">
                <a:tc>
                  <a:txBody>
                    <a:bodyPr/>
                    <a:lstStyle/>
                    <a:p>
                      <a:pPr marL="71755">
                        <a:lnSpc>
                          <a:spcPts val="2039"/>
                        </a:lnSpc>
                      </a:pPr>
                      <a:r>
                        <a:rPr dirty="0" sz="1800" spc="-50">
                          <a:solidFill>
                            <a:srgbClr val="4E3629"/>
                          </a:solidFill>
                          <a:latin typeface="Calibri"/>
                          <a:cs typeface="Calibri"/>
                        </a:rPr>
                        <a:t>3</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2039"/>
                        </a:lnSpc>
                      </a:pPr>
                      <a:r>
                        <a:rPr dirty="0" sz="1800" spc="-10">
                          <a:solidFill>
                            <a:srgbClr val="4E3629"/>
                          </a:solidFill>
                          <a:latin typeface="Calibri"/>
                          <a:cs typeface="Calibri"/>
                        </a:rPr>
                        <a:t>Kochhar</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2039"/>
                        </a:lnSpc>
                      </a:pPr>
                      <a:r>
                        <a:rPr dirty="0" sz="1800" spc="-10">
                          <a:solidFill>
                            <a:srgbClr val="4E3629"/>
                          </a:solidFill>
                          <a:latin typeface="Calibri"/>
                          <a:cs typeface="Calibri"/>
                        </a:rPr>
                        <a:t>21-Sep-</a:t>
                      </a:r>
                      <a:r>
                        <a:rPr dirty="0" sz="1800" spc="-20">
                          <a:solidFill>
                            <a:srgbClr val="4E3629"/>
                          </a:solidFill>
                          <a:latin typeface="Calibri"/>
                          <a:cs typeface="Calibri"/>
                        </a:rPr>
                        <a:t>1989</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74320">
                <a:tc>
                  <a:txBody>
                    <a:bodyPr/>
                    <a:lstStyle/>
                    <a:p>
                      <a:pPr marL="71755">
                        <a:lnSpc>
                          <a:spcPts val="2039"/>
                        </a:lnSpc>
                      </a:pPr>
                      <a:r>
                        <a:rPr dirty="0" sz="1800" spc="-50">
                          <a:solidFill>
                            <a:srgbClr val="4E3629"/>
                          </a:solidFill>
                          <a:latin typeface="Calibri"/>
                          <a:cs typeface="Calibri"/>
                        </a:rPr>
                        <a:t>4</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2039"/>
                        </a:lnSpc>
                      </a:pPr>
                      <a:r>
                        <a:rPr dirty="0" sz="1800" spc="-10">
                          <a:solidFill>
                            <a:srgbClr val="4E3629"/>
                          </a:solidFill>
                          <a:latin typeface="Calibri"/>
                          <a:cs typeface="Calibri"/>
                        </a:rPr>
                        <a:t>Hunold</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2039"/>
                        </a:lnSpc>
                      </a:pPr>
                      <a:r>
                        <a:rPr dirty="0" sz="1800" spc="-10">
                          <a:solidFill>
                            <a:srgbClr val="4E3629"/>
                          </a:solidFill>
                          <a:latin typeface="Calibri"/>
                          <a:cs typeface="Calibri"/>
                        </a:rPr>
                        <a:t>03-Jan-</a:t>
                      </a:r>
                      <a:r>
                        <a:rPr dirty="0" sz="1800" spc="-20">
                          <a:solidFill>
                            <a:srgbClr val="4E3629"/>
                          </a:solidFill>
                          <a:latin typeface="Calibri"/>
                          <a:cs typeface="Calibri"/>
                        </a:rPr>
                        <a:t>1990</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73685">
                <a:tc>
                  <a:txBody>
                    <a:bodyPr/>
                    <a:lstStyle/>
                    <a:p>
                      <a:pPr marL="71755">
                        <a:lnSpc>
                          <a:spcPts val="2039"/>
                        </a:lnSpc>
                      </a:pPr>
                      <a:r>
                        <a:rPr dirty="0" sz="1800" spc="-50">
                          <a:solidFill>
                            <a:srgbClr val="4E3629"/>
                          </a:solidFill>
                          <a:latin typeface="Calibri"/>
                          <a:cs typeface="Calibri"/>
                        </a:rPr>
                        <a:t>5</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2039"/>
                        </a:lnSpc>
                      </a:pPr>
                      <a:r>
                        <a:rPr dirty="0" sz="1800" spc="-10">
                          <a:solidFill>
                            <a:srgbClr val="4E3629"/>
                          </a:solidFill>
                          <a:latin typeface="Calibri"/>
                          <a:cs typeface="Calibri"/>
                        </a:rPr>
                        <a:t>Ernst</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ts val="2039"/>
                        </a:lnSpc>
                      </a:pPr>
                      <a:r>
                        <a:rPr dirty="0" sz="1800" spc="-10">
                          <a:solidFill>
                            <a:srgbClr val="4E3629"/>
                          </a:solidFill>
                          <a:latin typeface="Calibri"/>
                          <a:cs typeface="Calibri"/>
                        </a:rPr>
                        <a:t>21-May-</a:t>
                      </a:r>
                      <a:r>
                        <a:rPr dirty="0" sz="1800" spc="-20">
                          <a:solidFill>
                            <a:srgbClr val="4E3629"/>
                          </a:solidFill>
                          <a:latin typeface="Calibri"/>
                          <a:cs typeface="Calibri"/>
                        </a:rPr>
                        <a:t>1991</a:t>
                      </a:r>
                      <a:endParaRPr sz="18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5" name="object 5" descr=""/>
          <p:cNvSpPr txBox="1"/>
          <p:nvPr/>
        </p:nvSpPr>
        <p:spPr>
          <a:xfrm>
            <a:off x="393191" y="2671572"/>
            <a:ext cx="8345805" cy="1442085"/>
          </a:xfrm>
          <a:prstGeom prst="rect">
            <a:avLst/>
          </a:prstGeom>
          <a:solidFill>
            <a:srgbClr val="9DBEC4">
              <a:alpha val="50199"/>
            </a:srgbClr>
          </a:solidFill>
        </p:spPr>
        <p:txBody>
          <a:bodyPr wrap="square" lIns="0" tIns="6985" rIns="0" bIns="0" rtlCol="0" vert="horz">
            <a:spAutoFit/>
          </a:bodyPr>
          <a:lstStyle/>
          <a:p>
            <a:pPr marR="557530">
              <a:lnSpc>
                <a:spcPct val="100000"/>
              </a:lnSpc>
              <a:spcBef>
                <a:spcPts val="55"/>
              </a:spcBef>
            </a:pPr>
            <a:r>
              <a:rPr dirty="0" sz="1800" b="1">
                <a:solidFill>
                  <a:srgbClr val="4E3629"/>
                </a:solidFill>
                <a:latin typeface="Courier New"/>
                <a:cs typeface="Courier New"/>
              </a:rPr>
              <a:t>SELECT</a:t>
            </a:r>
            <a:r>
              <a:rPr dirty="0" sz="1800" spc="-75" b="1">
                <a:solidFill>
                  <a:srgbClr val="4E3629"/>
                </a:solidFill>
                <a:latin typeface="Courier New"/>
                <a:cs typeface="Courier New"/>
              </a:rPr>
              <a:t> </a:t>
            </a:r>
            <a:r>
              <a:rPr dirty="0" sz="1800" b="1">
                <a:solidFill>
                  <a:srgbClr val="4E3629"/>
                </a:solidFill>
                <a:latin typeface="Courier New"/>
                <a:cs typeface="Courier New"/>
              </a:rPr>
              <a:t>ROWNUM</a:t>
            </a:r>
            <a:r>
              <a:rPr dirty="0" sz="1800" spc="-70" b="1">
                <a:solidFill>
                  <a:srgbClr val="4E3629"/>
                </a:solidFill>
                <a:latin typeface="Courier New"/>
                <a:cs typeface="Courier New"/>
              </a:rPr>
              <a:t> </a:t>
            </a:r>
            <a:r>
              <a:rPr dirty="0" sz="1800" b="1">
                <a:solidFill>
                  <a:srgbClr val="4E3629"/>
                </a:solidFill>
                <a:latin typeface="Courier New"/>
                <a:cs typeface="Courier New"/>
              </a:rPr>
              <a:t>AS</a:t>
            </a:r>
            <a:r>
              <a:rPr dirty="0" sz="1800" spc="-70" b="1">
                <a:solidFill>
                  <a:srgbClr val="4E3629"/>
                </a:solidFill>
                <a:latin typeface="Courier New"/>
                <a:cs typeface="Courier New"/>
              </a:rPr>
              <a:t> </a:t>
            </a:r>
            <a:r>
              <a:rPr dirty="0" sz="1800" b="1">
                <a:solidFill>
                  <a:srgbClr val="4E3629"/>
                </a:solidFill>
                <a:latin typeface="Courier New"/>
                <a:cs typeface="Courier New"/>
              </a:rPr>
              <a:t>"Longest</a:t>
            </a:r>
            <a:r>
              <a:rPr dirty="0" sz="1800" spc="-70" b="1">
                <a:solidFill>
                  <a:srgbClr val="4E3629"/>
                </a:solidFill>
                <a:latin typeface="Courier New"/>
                <a:cs typeface="Courier New"/>
              </a:rPr>
              <a:t> </a:t>
            </a:r>
            <a:r>
              <a:rPr dirty="0" sz="1800" b="1">
                <a:solidFill>
                  <a:srgbClr val="4E3629"/>
                </a:solidFill>
                <a:latin typeface="Courier New"/>
                <a:cs typeface="Courier New"/>
              </a:rPr>
              <a:t>employed",</a:t>
            </a:r>
            <a:r>
              <a:rPr dirty="0" sz="1800" spc="-70" b="1">
                <a:solidFill>
                  <a:srgbClr val="4E3629"/>
                </a:solidFill>
                <a:latin typeface="Courier New"/>
                <a:cs typeface="Courier New"/>
              </a:rPr>
              <a:t> </a:t>
            </a:r>
            <a:r>
              <a:rPr dirty="0" sz="1800" b="1">
                <a:solidFill>
                  <a:srgbClr val="4E3629"/>
                </a:solidFill>
                <a:latin typeface="Courier New"/>
                <a:cs typeface="Courier New"/>
              </a:rPr>
              <a:t>last_name,</a:t>
            </a:r>
            <a:r>
              <a:rPr dirty="0" sz="1800" spc="-70" b="1">
                <a:solidFill>
                  <a:srgbClr val="4E3629"/>
                </a:solidFill>
                <a:latin typeface="Courier New"/>
                <a:cs typeface="Courier New"/>
              </a:rPr>
              <a:t> </a:t>
            </a:r>
            <a:r>
              <a:rPr dirty="0" sz="1800" spc="-10" b="1">
                <a:solidFill>
                  <a:srgbClr val="4E3629"/>
                </a:solidFill>
                <a:latin typeface="Courier New"/>
                <a:cs typeface="Courier New"/>
              </a:rPr>
              <a:t>hire_date </a:t>
            </a:r>
            <a:r>
              <a:rPr dirty="0" sz="1800" b="1">
                <a:solidFill>
                  <a:srgbClr val="4E3629"/>
                </a:solidFill>
                <a:latin typeface="Courier New"/>
                <a:cs typeface="Courier New"/>
              </a:rPr>
              <a:t>FROM</a:t>
            </a:r>
            <a:r>
              <a:rPr dirty="0" sz="1800" spc="-85" b="1">
                <a:solidFill>
                  <a:srgbClr val="4E3629"/>
                </a:solidFill>
                <a:latin typeface="Courier New"/>
                <a:cs typeface="Courier New"/>
              </a:rPr>
              <a:t> </a:t>
            </a:r>
            <a:r>
              <a:rPr dirty="0" sz="1800" b="1">
                <a:solidFill>
                  <a:srgbClr val="4E3629"/>
                </a:solidFill>
                <a:latin typeface="Courier New"/>
                <a:cs typeface="Courier New"/>
              </a:rPr>
              <a:t>(SELECT</a:t>
            </a:r>
            <a:r>
              <a:rPr dirty="0" sz="1800" spc="-60" b="1">
                <a:solidFill>
                  <a:srgbClr val="4E3629"/>
                </a:solidFill>
                <a:latin typeface="Courier New"/>
                <a:cs typeface="Courier New"/>
              </a:rPr>
              <a:t> </a:t>
            </a:r>
            <a:r>
              <a:rPr dirty="0" sz="1800" b="1">
                <a:solidFill>
                  <a:srgbClr val="4E3629"/>
                </a:solidFill>
                <a:latin typeface="Courier New"/>
                <a:cs typeface="Courier New"/>
              </a:rPr>
              <a:t>last_name,</a:t>
            </a:r>
            <a:r>
              <a:rPr dirty="0" sz="1800" spc="-65" b="1">
                <a:solidFill>
                  <a:srgbClr val="4E3629"/>
                </a:solidFill>
                <a:latin typeface="Courier New"/>
                <a:cs typeface="Courier New"/>
              </a:rPr>
              <a:t> </a:t>
            </a:r>
            <a:r>
              <a:rPr dirty="0" sz="1800" spc="-10" b="1">
                <a:solidFill>
                  <a:srgbClr val="4E3629"/>
                </a:solidFill>
                <a:latin typeface="Courier New"/>
                <a:cs typeface="Courier New"/>
              </a:rPr>
              <a:t>hire_date</a:t>
            </a:r>
            <a:endParaRPr sz="1800">
              <a:latin typeface="Courier New"/>
              <a:cs typeface="Courier New"/>
            </a:endParaRPr>
          </a:p>
          <a:p>
            <a:pPr marL="819785" marR="4923790">
              <a:lnSpc>
                <a:spcPct val="100000"/>
              </a:lnSpc>
            </a:pPr>
            <a:r>
              <a:rPr dirty="0" sz="1800" b="1">
                <a:solidFill>
                  <a:srgbClr val="4E3629"/>
                </a:solidFill>
                <a:latin typeface="Courier New"/>
                <a:cs typeface="Courier New"/>
              </a:rPr>
              <a:t>FROM</a:t>
            </a:r>
            <a:r>
              <a:rPr dirty="0" sz="1800" spc="-50" b="1">
                <a:solidFill>
                  <a:srgbClr val="4E3629"/>
                </a:solidFill>
                <a:latin typeface="Courier New"/>
                <a:cs typeface="Courier New"/>
              </a:rPr>
              <a:t> </a:t>
            </a:r>
            <a:r>
              <a:rPr dirty="0" sz="1800" spc="-10" b="1">
                <a:solidFill>
                  <a:srgbClr val="4E3629"/>
                </a:solidFill>
                <a:latin typeface="Courier New"/>
                <a:cs typeface="Courier New"/>
              </a:rPr>
              <a:t>employees </a:t>
            </a:r>
            <a:r>
              <a:rPr dirty="0" sz="1800" b="1">
                <a:solidFill>
                  <a:srgbClr val="4E3629"/>
                </a:solidFill>
                <a:latin typeface="Courier New"/>
                <a:cs typeface="Courier New"/>
              </a:rPr>
              <a:t>ORDER</a:t>
            </a:r>
            <a:r>
              <a:rPr dirty="0" sz="1800" spc="-40" b="1">
                <a:solidFill>
                  <a:srgbClr val="4E3629"/>
                </a:solidFill>
                <a:latin typeface="Courier New"/>
                <a:cs typeface="Courier New"/>
              </a:rPr>
              <a:t> </a:t>
            </a:r>
            <a:r>
              <a:rPr dirty="0" sz="1800" b="1">
                <a:solidFill>
                  <a:srgbClr val="4E3629"/>
                </a:solidFill>
                <a:latin typeface="Courier New"/>
                <a:cs typeface="Courier New"/>
              </a:rPr>
              <a:t>BY</a:t>
            </a:r>
            <a:r>
              <a:rPr dirty="0" sz="1800" spc="-35" b="1">
                <a:solidFill>
                  <a:srgbClr val="4E3629"/>
                </a:solidFill>
                <a:latin typeface="Courier New"/>
                <a:cs typeface="Courier New"/>
              </a:rPr>
              <a:t> </a:t>
            </a:r>
            <a:r>
              <a:rPr dirty="0" sz="1800" spc="-10" b="1">
                <a:solidFill>
                  <a:srgbClr val="4E3629"/>
                </a:solidFill>
                <a:latin typeface="Courier New"/>
                <a:cs typeface="Courier New"/>
              </a:rPr>
              <a:t>hire_date)</a:t>
            </a:r>
            <a:endParaRPr sz="1800">
              <a:latin typeface="Courier New"/>
              <a:cs typeface="Courier New"/>
            </a:endParaRPr>
          </a:p>
          <a:p>
            <a:pPr>
              <a:lnSpc>
                <a:spcPct val="100000"/>
              </a:lnSpc>
            </a:pPr>
            <a:r>
              <a:rPr dirty="0" sz="1800" b="1">
                <a:solidFill>
                  <a:srgbClr val="D1350F"/>
                </a:solidFill>
                <a:latin typeface="Courier New"/>
                <a:cs typeface="Courier New"/>
              </a:rPr>
              <a:t>WHERE</a:t>
            </a:r>
            <a:r>
              <a:rPr dirty="0" sz="1800" spc="-60" b="1">
                <a:solidFill>
                  <a:srgbClr val="D1350F"/>
                </a:solidFill>
                <a:latin typeface="Courier New"/>
                <a:cs typeface="Courier New"/>
              </a:rPr>
              <a:t> </a:t>
            </a:r>
            <a:r>
              <a:rPr dirty="0" sz="1800" b="1">
                <a:solidFill>
                  <a:srgbClr val="D1350F"/>
                </a:solidFill>
                <a:latin typeface="Courier New"/>
                <a:cs typeface="Courier New"/>
              </a:rPr>
              <a:t>ROWNUM</a:t>
            </a:r>
            <a:r>
              <a:rPr dirty="0" sz="1800" spc="-45" b="1">
                <a:solidFill>
                  <a:srgbClr val="D1350F"/>
                </a:solidFill>
                <a:latin typeface="Courier New"/>
                <a:cs typeface="Courier New"/>
              </a:rPr>
              <a:t> </a:t>
            </a:r>
            <a:r>
              <a:rPr dirty="0" sz="1800" spc="-20" b="1">
                <a:solidFill>
                  <a:srgbClr val="D1350F"/>
                </a:solidFill>
                <a:latin typeface="Courier New"/>
                <a:cs typeface="Courier New"/>
              </a:rPr>
              <a:t>&lt;=5</a:t>
            </a:r>
            <a:r>
              <a:rPr dirty="0" sz="1800" spc="-20" b="1">
                <a:solidFill>
                  <a:srgbClr val="4E3629"/>
                </a:solidFill>
                <a:latin typeface="Courier New"/>
                <a:cs typeface="Courier New"/>
              </a:rPr>
              <a:t>;</a:t>
            </a:r>
            <a:endParaRPr sz="1800">
              <a:latin typeface="Courier New"/>
              <a:cs typeface="Courier New"/>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Oracle Academy</dc:creator>
  <dc:title>PowerPoint Presentation</dc:title>
  <dcterms:created xsi:type="dcterms:W3CDTF">2025-06-01T18:32:03Z</dcterms:created>
  <dcterms:modified xsi:type="dcterms:W3CDTF">2025-06-01T18:32:03Z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2025-04-28T00:00:00Z</vt:filetime>
  </property>
  <property fmtid="{D5CDD505-2E9C-101B-9397-08002B2CF9AE}" pid="3" name="Creator">
    <vt:lpwstr>Acrobat PDFMaker 20 for PowerPoint</vt:lpwstr>
  </property>
  <property fmtid="{D5CDD505-2E9C-101B-9397-08002B2CF9AE}" pid="4" name="LastSaved">
    <vt:filetime>2025-06-01T00:00:00Z</vt:filetime>
  </property>
  <property fmtid="{D5CDD505-2E9C-101B-9397-08002B2CF9AE}" pid="5" name="Producer">
    <vt:lpwstr>macOS Version 15.3.1 (Build 24D70) Quartz PDFContext</vt:lpwstr>
  </property>
</Properties>
</file>