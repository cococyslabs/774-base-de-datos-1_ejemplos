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jpg" ContentType="image/jpg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9144000" cy="6858000"/>
  <p:notesSz cx="9144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0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-10"/>
              <a:t> </a:t>
            </a:r>
            <a:r>
              <a:rPr dirty="0"/>
              <a:t>15-</a:t>
            </a:r>
            <a:r>
              <a:rPr dirty="0" spc="-50"/>
              <a:t>2</a:t>
            </a:r>
          </a:p>
          <a:p>
            <a:pPr marL="12700">
              <a:lnSpc>
                <a:spcPts val="965"/>
              </a:lnSpc>
            </a:pPr>
            <a:r>
              <a:rPr dirty="0" spc="-10"/>
              <a:t>Operaciones</a:t>
            </a:r>
            <a:r>
              <a:rPr dirty="0" spc="30"/>
              <a:t> </a:t>
            </a:r>
            <a:r>
              <a:rPr dirty="0"/>
              <a:t>DML</a:t>
            </a:r>
            <a:r>
              <a:rPr dirty="0" spc="-20"/>
              <a:t> </a:t>
            </a:r>
            <a:r>
              <a:rPr dirty="0"/>
              <a:t>y</a:t>
            </a:r>
            <a:r>
              <a:rPr dirty="0" spc="-10"/>
              <a:t> Vistas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045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0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-10"/>
              <a:t> </a:t>
            </a:r>
            <a:r>
              <a:rPr dirty="0"/>
              <a:t>15-</a:t>
            </a:r>
            <a:r>
              <a:rPr dirty="0" spc="-50"/>
              <a:t>2</a:t>
            </a:r>
          </a:p>
          <a:p>
            <a:pPr marL="12700">
              <a:lnSpc>
                <a:spcPts val="965"/>
              </a:lnSpc>
            </a:pPr>
            <a:r>
              <a:rPr dirty="0" spc="-10"/>
              <a:t>Operaciones</a:t>
            </a:r>
            <a:r>
              <a:rPr dirty="0" spc="30"/>
              <a:t> </a:t>
            </a:r>
            <a:r>
              <a:rPr dirty="0"/>
              <a:t>DML</a:t>
            </a:r>
            <a:r>
              <a:rPr dirty="0" spc="-20"/>
              <a:t> </a:t>
            </a:r>
            <a:r>
              <a:rPr dirty="0"/>
              <a:t>y</a:t>
            </a:r>
            <a:r>
              <a:rPr dirty="0" spc="-10"/>
              <a:t> Vistas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045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0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-10"/>
              <a:t> </a:t>
            </a:r>
            <a:r>
              <a:rPr dirty="0"/>
              <a:t>15-</a:t>
            </a:r>
            <a:r>
              <a:rPr dirty="0" spc="-50"/>
              <a:t>2</a:t>
            </a:r>
          </a:p>
          <a:p>
            <a:pPr marL="12700">
              <a:lnSpc>
                <a:spcPts val="965"/>
              </a:lnSpc>
            </a:pPr>
            <a:r>
              <a:rPr dirty="0" spc="-10"/>
              <a:t>Operaciones</a:t>
            </a:r>
            <a:r>
              <a:rPr dirty="0" spc="30"/>
              <a:t> </a:t>
            </a:r>
            <a:r>
              <a:rPr dirty="0"/>
              <a:t>DML</a:t>
            </a:r>
            <a:r>
              <a:rPr dirty="0" spc="-20"/>
              <a:t> </a:t>
            </a:r>
            <a:r>
              <a:rPr dirty="0"/>
              <a:t>y</a:t>
            </a:r>
            <a:r>
              <a:rPr dirty="0" spc="-10"/>
              <a:t> Vistas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045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0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-10"/>
              <a:t> </a:t>
            </a:r>
            <a:r>
              <a:rPr dirty="0"/>
              <a:t>15-</a:t>
            </a:r>
            <a:r>
              <a:rPr dirty="0" spc="-50"/>
              <a:t>2</a:t>
            </a:r>
          </a:p>
          <a:p>
            <a:pPr marL="12700">
              <a:lnSpc>
                <a:spcPts val="965"/>
              </a:lnSpc>
            </a:pPr>
            <a:r>
              <a:rPr dirty="0" spc="-10"/>
              <a:t>Operaciones</a:t>
            </a:r>
            <a:r>
              <a:rPr dirty="0" spc="30"/>
              <a:t> </a:t>
            </a:r>
            <a:r>
              <a:rPr dirty="0"/>
              <a:t>DML</a:t>
            </a:r>
            <a:r>
              <a:rPr dirty="0" spc="-20"/>
              <a:t> </a:t>
            </a:r>
            <a:r>
              <a:rPr dirty="0"/>
              <a:t>y</a:t>
            </a:r>
            <a:r>
              <a:rPr dirty="0" spc="-10"/>
              <a:t> Vistas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045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-10"/>
              <a:t> </a:t>
            </a:r>
            <a:r>
              <a:rPr dirty="0"/>
              <a:t>15-</a:t>
            </a:r>
            <a:r>
              <a:rPr dirty="0" spc="-50"/>
              <a:t>2</a:t>
            </a:r>
          </a:p>
          <a:p>
            <a:pPr marL="12700">
              <a:lnSpc>
                <a:spcPts val="965"/>
              </a:lnSpc>
            </a:pPr>
            <a:r>
              <a:rPr dirty="0" spc="-10"/>
              <a:t>Operaciones</a:t>
            </a:r>
            <a:r>
              <a:rPr dirty="0" spc="30"/>
              <a:t> </a:t>
            </a:r>
            <a:r>
              <a:rPr dirty="0"/>
              <a:t>DML</a:t>
            </a:r>
            <a:r>
              <a:rPr dirty="0" spc="-20"/>
              <a:t> </a:t>
            </a:r>
            <a:r>
              <a:rPr dirty="0"/>
              <a:t>y</a:t>
            </a:r>
            <a:r>
              <a:rPr dirty="0" spc="-10"/>
              <a:t> Vistas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045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jpg"/><Relationship Id="rId8" Type="http://schemas.openxmlformats.org/officeDocument/2006/relationships/image" Target="../media/image2.pn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E0E2E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7" name="bg 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9144000" cy="254507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05384" y="6178295"/>
            <a:ext cx="1258824" cy="42062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92112" y="748031"/>
            <a:ext cx="4650740" cy="5283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0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83552" y="1415417"/>
            <a:ext cx="8077834" cy="41071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5172119" y="6589648"/>
            <a:ext cx="3222625" cy="1339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5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2874191" y="6516395"/>
            <a:ext cx="1165225" cy="2495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5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-10"/>
              <a:t> </a:t>
            </a:r>
            <a:r>
              <a:rPr dirty="0"/>
              <a:t>15-</a:t>
            </a:r>
            <a:r>
              <a:rPr dirty="0" spc="-50"/>
              <a:t>2</a:t>
            </a:r>
          </a:p>
          <a:p>
            <a:pPr marL="12700">
              <a:lnSpc>
                <a:spcPts val="965"/>
              </a:lnSpc>
            </a:pPr>
            <a:r>
              <a:rPr dirty="0" spc="-10"/>
              <a:t>Operaciones</a:t>
            </a:r>
            <a:r>
              <a:rPr dirty="0" spc="30"/>
              <a:t> </a:t>
            </a:r>
            <a:r>
              <a:rPr dirty="0"/>
              <a:t>DML</a:t>
            </a:r>
            <a:r>
              <a:rPr dirty="0" spc="-20"/>
              <a:t> </a:t>
            </a:r>
            <a:r>
              <a:rPr dirty="0"/>
              <a:t>y</a:t>
            </a:r>
            <a:r>
              <a:rPr dirty="0" spc="-10"/>
              <a:t> Vistas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25090" y="6567768"/>
            <a:ext cx="217170" cy="152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1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045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4" name="object 4" descr=""/>
            <p:cNvSpPr/>
            <p:nvPr/>
          </p:nvSpPr>
          <p:spPr>
            <a:xfrm>
              <a:off x="560831" y="702563"/>
              <a:ext cx="8022590" cy="5453380"/>
            </a:xfrm>
            <a:custGeom>
              <a:avLst/>
              <a:gdLst/>
              <a:ahLst/>
              <a:cxnLst/>
              <a:rect l="l" t="t" r="r" b="b"/>
              <a:pathLst>
                <a:path w="8022590" h="5453380">
                  <a:moveTo>
                    <a:pt x="8022335" y="0"/>
                  </a:moveTo>
                  <a:lnTo>
                    <a:pt x="0" y="0"/>
                  </a:lnTo>
                  <a:lnTo>
                    <a:pt x="0" y="5452872"/>
                  </a:lnTo>
                  <a:lnTo>
                    <a:pt x="8022335" y="5452872"/>
                  </a:lnTo>
                  <a:lnTo>
                    <a:pt x="8022335" y="0"/>
                  </a:lnTo>
                  <a:close/>
                </a:path>
              </a:pathLst>
            </a:custGeom>
            <a:solidFill>
              <a:srgbClr val="E0E2E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70787" y="5570219"/>
              <a:ext cx="1258824" cy="420623"/>
            </a:xfrm>
            <a:prstGeom prst="rect">
              <a:avLst/>
            </a:prstGeom>
          </p:spPr>
        </p:pic>
      </p:grpSp>
      <p:sp>
        <p:nvSpPr>
          <p:cNvPr id="6" name="object 6" descr=""/>
          <p:cNvSpPr txBox="1"/>
          <p:nvPr/>
        </p:nvSpPr>
        <p:spPr>
          <a:xfrm>
            <a:off x="5057819" y="6562597"/>
            <a:ext cx="3222625" cy="1555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50">
                <a:solidFill>
                  <a:srgbClr val="FDF0D9"/>
                </a:solidFill>
                <a:latin typeface="Calibri"/>
                <a:cs typeface="Calibri"/>
              </a:rPr>
              <a:t>Copyright</a:t>
            </a:r>
            <a:r>
              <a:rPr dirty="0" sz="850" spc="-35">
                <a:solidFill>
                  <a:srgbClr val="FDF0D9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FDF0D9"/>
                </a:solidFill>
                <a:latin typeface="Calibri"/>
                <a:cs typeface="Calibri"/>
              </a:rPr>
              <a:t>©</a:t>
            </a:r>
            <a:r>
              <a:rPr dirty="0" sz="850" spc="-40">
                <a:solidFill>
                  <a:srgbClr val="FDF0D9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FDF0D9"/>
                </a:solidFill>
                <a:latin typeface="Calibri"/>
                <a:cs typeface="Calibri"/>
              </a:rPr>
              <a:t>2020,</a:t>
            </a:r>
            <a:r>
              <a:rPr dirty="0" sz="850" spc="-45">
                <a:solidFill>
                  <a:srgbClr val="FDF0D9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FDF0D9"/>
                </a:solidFill>
                <a:latin typeface="Calibri"/>
                <a:cs typeface="Calibri"/>
              </a:rPr>
              <a:t>Oracle</a:t>
            </a:r>
            <a:r>
              <a:rPr dirty="0" sz="850" spc="-30">
                <a:solidFill>
                  <a:srgbClr val="FDF0D9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FDF0D9"/>
                </a:solidFill>
                <a:latin typeface="Calibri"/>
                <a:cs typeface="Calibri"/>
              </a:rPr>
              <a:t>y/o</a:t>
            </a:r>
            <a:r>
              <a:rPr dirty="0" sz="850" spc="-30">
                <a:solidFill>
                  <a:srgbClr val="FDF0D9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FDF0D9"/>
                </a:solidFill>
                <a:latin typeface="Calibri"/>
                <a:cs typeface="Calibri"/>
              </a:rPr>
              <a:t>sus</a:t>
            </a:r>
            <a:r>
              <a:rPr dirty="0" sz="850" spc="-35">
                <a:solidFill>
                  <a:srgbClr val="FDF0D9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FDF0D9"/>
                </a:solidFill>
                <a:latin typeface="Calibri"/>
                <a:cs typeface="Calibri"/>
              </a:rPr>
              <a:t>filiales.</a:t>
            </a:r>
            <a:r>
              <a:rPr dirty="0" sz="850" spc="-10">
                <a:solidFill>
                  <a:srgbClr val="FDF0D9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FDF0D9"/>
                </a:solidFill>
                <a:latin typeface="Calibri"/>
                <a:cs typeface="Calibri"/>
              </a:rPr>
              <a:t>Todos</a:t>
            </a:r>
            <a:r>
              <a:rPr dirty="0" sz="850" spc="-35">
                <a:solidFill>
                  <a:srgbClr val="FDF0D9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FDF0D9"/>
                </a:solidFill>
                <a:latin typeface="Calibri"/>
                <a:cs typeface="Calibri"/>
              </a:rPr>
              <a:t>los</a:t>
            </a:r>
            <a:r>
              <a:rPr dirty="0" sz="850" spc="-25">
                <a:solidFill>
                  <a:srgbClr val="FDF0D9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FDF0D9"/>
                </a:solidFill>
                <a:latin typeface="Calibri"/>
                <a:cs typeface="Calibri"/>
              </a:rPr>
              <a:t>derechos</a:t>
            </a:r>
            <a:r>
              <a:rPr dirty="0" sz="850" spc="-5">
                <a:solidFill>
                  <a:srgbClr val="FDF0D9"/>
                </a:solidFill>
                <a:latin typeface="Calibri"/>
                <a:cs typeface="Calibri"/>
              </a:rPr>
              <a:t> </a:t>
            </a:r>
            <a:r>
              <a:rPr dirty="0" sz="850" spc="-10">
                <a:solidFill>
                  <a:srgbClr val="FDF0D9"/>
                </a:solidFill>
                <a:latin typeface="Calibri"/>
                <a:cs typeface="Calibri"/>
              </a:rPr>
              <a:t>reservados.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958315" y="862895"/>
            <a:ext cx="7047865" cy="1342390"/>
          </a:xfrm>
          <a:prstGeom prst="rect"/>
        </p:spPr>
        <p:txBody>
          <a:bodyPr wrap="square" lIns="0" tIns="153670" rIns="0" bIns="0" rtlCol="0" vert="horz">
            <a:spAutoFit/>
          </a:bodyPr>
          <a:lstStyle/>
          <a:p>
            <a:pPr marL="12700" marR="5080">
              <a:lnSpc>
                <a:spcPts val="4610"/>
              </a:lnSpc>
              <a:spcBef>
                <a:spcPts val="1210"/>
              </a:spcBef>
            </a:pPr>
            <a:r>
              <a:rPr dirty="0" sz="4800"/>
              <a:t>Database</a:t>
            </a:r>
            <a:r>
              <a:rPr dirty="0" sz="4800" spc="-190"/>
              <a:t> </a:t>
            </a:r>
            <a:r>
              <a:rPr dirty="0" sz="4800" spc="-20"/>
              <a:t>Programming</a:t>
            </a:r>
            <a:r>
              <a:rPr dirty="0" sz="4800" spc="-185"/>
              <a:t> </a:t>
            </a:r>
            <a:r>
              <a:rPr dirty="0" sz="4800" spc="-20"/>
              <a:t>with </a:t>
            </a:r>
            <a:r>
              <a:rPr dirty="0" sz="4800" spc="-25"/>
              <a:t>SQL</a:t>
            </a:r>
            <a:endParaRPr sz="4800"/>
          </a:p>
        </p:txBody>
      </p:sp>
      <p:sp>
        <p:nvSpPr>
          <p:cNvPr id="8" name="object 8" descr=""/>
          <p:cNvSpPr txBox="1"/>
          <p:nvPr/>
        </p:nvSpPr>
        <p:spPr>
          <a:xfrm>
            <a:off x="962879" y="2400950"/>
            <a:ext cx="3291204" cy="888365"/>
          </a:xfrm>
          <a:prstGeom prst="rect">
            <a:avLst/>
          </a:prstGeom>
        </p:spPr>
        <p:txBody>
          <a:bodyPr wrap="square" lIns="0" tIns="781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15"/>
              </a:spcBef>
            </a:pPr>
            <a:r>
              <a:rPr dirty="0" sz="2400" spc="-10" b="1">
                <a:solidFill>
                  <a:srgbClr val="4E3629"/>
                </a:solidFill>
                <a:latin typeface="Calibri"/>
                <a:cs typeface="Calibri"/>
              </a:rPr>
              <a:t>15-</a:t>
            </a:r>
            <a:r>
              <a:rPr dirty="0" sz="2400" spc="-50" b="1">
                <a:solidFill>
                  <a:srgbClr val="4E3629"/>
                </a:solidFill>
                <a:latin typeface="Calibri"/>
                <a:cs typeface="Calibri"/>
              </a:rPr>
              <a:t>2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dirty="0" sz="2400" spc="-10" b="1">
                <a:solidFill>
                  <a:srgbClr val="4E3629"/>
                </a:solidFill>
                <a:latin typeface="Calibri"/>
                <a:cs typeface="Calibri"/>
              </a:rPr>
              <a:t>Operaciones</a:t>
            </a:r>
            <a:r>
              <a:rPr dirty="0" sz="2400" spc="-40" b="1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4E3629"/>
                </a:solidFill>
                <a:latin typeface="Calibri"/>
                <a:cs typeface="Calibri"/>
              </a:rPr>
              <a:t>DML</a:t>
            </a:r>
            <a:r>
              <a:rPr dirty="0" sz="2400" spc="-35" b="1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4E3629"/>
                </a:solidFill>
                <a:latin typeface="Calibri"/>
                <a:cs typeface="Calibri"/>
              </a:rPr>
              <a:t>y</a:t>
            </a:r>
            <a:r>
              <a:rPr dirty="0" sz="2400" spc="-20" b="1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4E3629"/>
                </a:solidFill>
                <a:latin typeface="Calibri"/>
                <a:cs typeface="Calibri"/>
              </a:rPr>
              <a:t>Vistas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9" name="object 9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698747" y="3485388"/>
            <a:ext cx="5050536" cy="296570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Sentencias</a:t>
            </a:r>
            <a:r>
              <a:rPr dirty="0" spc="-45"/>
              <a:t> </a:t>
            </a:r>
            <a:r>
              <a:rPr dirty="0"/>
              <a:t>DML</a:t>
            </a:r>
            <a:r>
              <a:rPr dirty="0" spc="-60"/>
              <a:t> </a:t>
            </a:r>
            <a:r>
              <a:rPr dirty="0"/>
              <a:t>y</a:t>
            </a:r>
            <a:r>
              <a:rPr dirty="0" spc="-55"/>
              <a:t> </a:t>
            </a:r>
            <a:r>
              <a:rPr dirty="0" spc="-10"/>
              <a:t>Vistas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-10"/>
              <a:t> </a:t>
            </a:r>
            <a:r>
              <a:rPr dirty="0"/>
              <a:t>15-</a:t>
            </a:r>
            <a:r>
              <a:rPr dirty="0" spc="-50"/>
              <a:t>2</a:t>
            </a:r>
          </a:p>
          <a:p>
            <a:pPr marL="12700">
              <a:lnSpc>
                <a:spcPts val="965"/>
              </a:lnSpc>
            </a:pPr>
            <a:r>
              <a:rPr dirty="0" spc="-10"/>
              <a:t>Operaciones</a:t>
            </a:r>
            <a:r>
              <a:rPr dirty="0" spc="30"/>
              <a:t> </a:t>
            </a:r>
            <a:r>
              <a:rPr dirty="0"/>
              <a:t>DML</a:t>
            </a:r>
            <a:r>
              <a:rPr dirty="0" spc="-20"/>
              <a:t> </a:t>
            </a:r>
            <a:r>
              <a:rPr dirty="0"/>
              <a:t>y</a:t>
            </a:r>
            <a:r>
              <a:rPr dirty="0" spc="-10"/>
              <a:t> Vistas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045"/>
              </a:lnSpc>
            </a:pPr>
            <a:r>
              <a:rPr dirty="0" spc="-25"/>
              <a:t>6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83552" y="1415417"/>
            <a:ext cx="7865745" cy="3344545"/>
          </a:xfrm>
          <a:prstGeom prst="rect">
            <a:avLst/>
          </a:prstGeom>
        </p:spPr>
        <p:txBody>
          <a:bodyPr wrap="square" lIns="0" tIns="59690" rIns="0" bIns="0" rtlCol="0" vert="horz">
            <a:spAutoFit/>
          </a:bodyPr>
          <a:lstStyle/>
          <a:p>
            <a:pPr marL="182880" marR="455930" indent="-170815">
              <a:lnSpc>
                <a:spcPts val="3030"/>
              </a:lnSpc>
              <a:spcBef>
                <a:spcPts val="47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Las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operaciones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DML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INSERT,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UPDATE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y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DELETE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se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pueden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realizar</a:t>
            </a:r>
            <a:r>
              <a:rPr dirty="0" sz="2800" spc="-10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en</a:t>
            </a:r>
            <a:r>
              <a:rPr dirty="0" sz="2800" spc="-9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vistas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simples</a:t>
            </a:r>
            <a:endParaRPr sz="2800">
              <a:latin typeface="Calibri"/>
              <a:cs typeface="Calibri"/>
            </a:endParaRPr>
          </a:p>
          <a:p>
            <a:pPr marL="182880" marR="5080" indent="-170815">
              <a:lnSpc>
                <a:spcPts val="3030"/>
              </a:lnSpc>
              <a:spcBef>
                <a:spcPts val="795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Estas</a:t>
            </a:r>
            <a:r>
              <a:rPr dirty="0" sz="2800" spc="-8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operaciones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se</a:t>
            </a:r>
            <a:r>
              <a:rPr dirty="0" sz="2800" spc="-9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pueden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utilizar</a:t>
            </a:r>
            <a:r>
              <a:rPr dirty="0" sz="2800" spc="-8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para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cambiar</a:t>
            </a:r>
            <a:r>
              <a:rPr dirty="0" sz="2800" spc="-8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los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datos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en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las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tablas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base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subyacentes</a:t>
            </a:r>
            <a:endParaRPr sz="2800">
              <a:latin typeface="Calibri"/>
              <a:cs typeface="Calibri"/>
            </a:endParaRPr>
          </a:p>
          <a:p>
            <a:pPr marL="182880" marR="25400" indent="-170815">
              <a:lnSpc>
                <a:spcPts val="3030"/>
              </a:lnSpc>
              <a:spcBef>
                <a:spcPts val="79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Si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crea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una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vista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que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permita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a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los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usuarios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 ver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información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restringida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mediante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800" spc="-9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cláusula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WHERE,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los</a:t>
            </a:r>
            <a:r>
              <a:rPr dirty="0" sz="2800" spc="-9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usuarios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seguirán</a:t>
            </a:r>
            <a:r>
              <a:rPr dirty="0" sz="2800" spc="-8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pudiendo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realizar</a:t>
            </a:r>
            <a:r>
              <a:rPr dirty="0" sz="2800" spc="-114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operaciones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DML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en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todas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las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columnas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vista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Sentencias</a:t>
            </a:r>
            <a:r>
              <a:rPr dirty="0" spc="-45"/>
              <a:t> </a:t>
            </a:r>
            <a:r>
              <a:rPr dirty="0"/>
              <a:t>DML</a:t>
            </a:r>
            <a:r>
              <a:rPr dirty="0" spc="-60"/>
              <a:t> </a:t>
            </a:r>
            <a:r>
              <a:rPr dirty="0"/>
              <a:t>y</a:t>
            </a:r>
            <a:r>
              <a:rPr dirty="0" spc="-55"/>
              <a:t> </a:t>
            </a:r>
            <a:r>
              <a:rPr dirty="0" spc="-10"/>
              <a:t>Vistas</a:t>
            </a:r>
          </a:p>
        </p:txBody>
      </p:sp>
      <p:sp>
        <p:nvSpPr>
          <p:cNvPr id="7" name="object 7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-10"/>
              <a:t> </a:t>
            </a:r>
            <a:r>
              <a:rPr dirty="0"/>
              <a:t>15-</a:t>
            </a:r>
            <a:r>
              <a:rPr dirty="0" spc="-50"/>
              <a:t>2</a:t>
            </a:r>
          </a:p>
          <a:p>
            <a:pPr marL="12700">
              <a:lnSpc>
                <a:spcPts val="965"/>
              </a:lnSpc>
            </a:pPr>
            <a:r>
              <a:rPr dirty="0" spc="-10"/>
              <a:t>Operaciones</a:t>
            </a:r>
            <a:r>
              <a:rPr dirty="0" spc="30"/>
              <a:t> </a:t>
            </a:r>
            <a:r>
              <a:rPr dirty="0"/>
              <a:t>DML</a:t>
            </a:r>
            <a:r>
              <a:rPr dirty="0" spc="-20"/>
              <a:t> </a:t>
            </a:r>
            <a:r>
              <a:rPr dirty="0"/>
              <a:t>y</a:t>
            </a:r>
            <a:r>
              <a:rPr dirty="0" spc="-10"/>
              <a:t> Vistas</a:t>
            </a:r>
          </a:p>
        </p:txBody>
      </p:sp>
      <p:sp>
        <p:nvSpPr>
          <p:cNvPr id="8" name="object 8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045"/>
              </a:lnSpc>
            </a:pPr>
            <a:r>
              <a:rPr dirty="0" spc="-25"/>
              <a:t>7</a:t>
            </a:r>
          </a:p>
        </p:txBody>
      </p:sp>
      <p:sp>
        <p:nvSpPr>
          <p:cNvPr id="9" name="object 9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83552" y="1424561"/>
            <a:ext cx="7858125" cy="1784350"/>
          </a:xfrm>
          <a:prstGeom prst="rect">
            <a:avLst/>
          </a:prstGeom>
        </p:spPr>
        <p:txBody>
          <a:bodyPr wrap="square" lIns="0" tIns="53975" rIns="0" bIns="0" rtlCol="0" vert="horz">
            <a:spAutoFit/>
          </a:bodyPr>
          <a:lstStyle/>
          <a:p>
            <a:pPr marL="182880" marR="5080" indent="-170815">
              <a:lnSpc>
                <a:spcPts val="2590"/>
              </a:lnSpc>
              <a:spcBef>
                <a:spcPts val="425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Por</a:t>
            </a:r>
            <a:r>
              <a:rPr dirty="0" sz="24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ejemplo,</a:t>
            </a:r>
            <a:r>
              <a:rPr dirty="0" sz="24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4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vista</a:t>
            </a:r>
            <a:r>
              <a:rPr dirty="0" sz="24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que</a:t>
            </a:r>
            <a:r>
              <a:rPr dirty="0" sz="24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se</a:t>
            </a:r>
            <a:r>
              <a:rPr dirty="0" sz="24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4E3629"/>
                </a:solidFill>
                <a:latin typeface="Calibri"/>
                <a:cs typeface="Calibri"/>
              </a:rPr>
              <a:t>muestra</a:t>
            </a:r>
            <a:r>
              <a:rPr dirty="0" sz="24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a</a:t>
            </a:r>
            <a:r>
              <a:rPr dirty="0" sz="24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4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derecha</a:t>
            </a:r>
            <a:r>
              <a:rPr dirty="0" sz="24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se</a:t>
            </a:r>
            <a:r>
              <a:rPr dirty="0" sz="24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ha</a:t>
            </a:r>
            <a:r>
              <a:rPr dirty="0" sz="24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4E3629"/>
                </a:solidFill>
                <a:latin typeface="Calibri"/>
                <a:cs typeface="Calibri"/>
              </a:rPr>
              <a:t>creado </a:t>
            </a:r>
            <a:r>
              <a:rPr dirty="0" sz="2400" spc="-1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para</a:t>
            </a:r>
            <a:r>
              <a:rPr dirty="0" sz="24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que</a:t>
            </a:r>
            <a:r>
              <a:rPr dirty="0" sz="24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los</a:t>
            </a:r>
            <a:r>
              <a:rPr dirty="0" sz="24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jefes</a:t>
            </a:r>
            <a:r>
              <a:rPr dirty="0" sz="24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del</a:t>
            </a:r>
            <a:r>
              <a:rPr dirty="0" sz="24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4E3629"/>
                </a:solidFill>
                <a:latin typeface="Calibri"/>
                <a:cs typeface="Calibri"/>
              </a:rPr>
              <a:t>departamento</a:t>
            </a:r>
            <a:r>
              <a:rPr dirty="0" sz="24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50</a:t>
            </a:r>
            <a:r>
              <a:rPr dirty="0" sz="24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4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base</a:t>
            </a:r>
            <a:r>
              <a:rPr dirty="0" sz="24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4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datos</a:t>
            </a:r>
            <a:r>
              <a:rPr dirty="0" sz="24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 spc="-25">
                <a:solidFill>
                  <a:srgbClr val="4E3629"/>
                </a:solidFill>
                <a:latin typeface="Calibri"/>
                <a:cs typeface="Calibri"/>
              </a:rPr>
              <a:t>de </a:t>
            </a:r>
            <a:r>
              <a:rPr dirty="0" sz="2400" spc="-2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400" spc="-10">
                <a:solidFill>
                  <a:srgbClr val="4E3629"/>
                </a:solidFill>
                <a:latin typeface="Calibri"/>
                <a:cs typeface="Calibri"/>
              </a:rPr>
              <a:t>empleados</a:t>
            </a:r>
            <a:endParaRPr sz="2400">
              <a:latin typeface="Calibri"/>
              <a:cs typeface="Calibri"/>
            </a:endParaRPr>
          </a:p>
          <a:p>
            <a:pPr marL="182880" marR="539115" indent="-170815">
              <a:lnSpc>
                <a:spcPts val="2590"/>
              </a:lnSpc>
              <a:spcBef>
                <a:spcPts val="61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4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intención</a:t>
            </a:r>
            <a:r>
              <a:rPr dirty="0" sz="24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4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esta</a:t>
            </a:r>
            <a:r>
              <a:rPr dirty="0" sz="24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vista</a:t>
            </a:r>
            <a:r>
              <a:rPr dirty="0" sz="24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es</a:t>
            </a:r>
            <a:r>
              <a:rPr dirty="0" sz="24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permitir</a:t>
            </a:r>
            <a:r>
              <a:rPr dirty="0" sz="24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a</a:t>
            </a:r>
            <a:r>
              <a:rPr dirty="0" sz="24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los</a:t>
            </a:r>
            <a:r>
              <a:rPr dirty="0" sz="24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jefes</a:t>
            </a:r>
            <a:r>
              <a:rPr dirty="0" sz="24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 spc="-25">
                <a:solidFill>
                  <a:srgbClr val="4E3629"/>
                </a:solidFill>
                <a:latin typeface="Calibri"/>
                <a:cs typeface="Calibri"/>
              </a:rPr>
              <a:t>del </a:t>
            </a:r>
            <a:r>
              <a:rPr dirty="0" sz="2400" spc="-2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400" spc="-10">
                <a:solidFill>
                  <a:srgbClr val="4E3629"/>
                </a:solidFill>
                <a:latin typeface="Calibri"/>
                <a:cs typeface="Calibri"/>
              </a:rPr>
              <a:t>departamento</a:t>
            </a:r>
            <a:r>
              <a:rPr dirty="0" sz="24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50</a:t>
            </a:r>
            <a:r>
              <a:rPr dirty="0" sz="24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ver</a:t>
            </a:r>
            <a:r>
              <a:rPr dirty="0" sz="240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4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4E3629"/>
                </a:solidFill>
                <a:latin typeface="Calibri"/>
                <a:cs typeface="Calibri"/>
              </a:rPr>
              <a:t>información</a:t>
            </a:r>
            <a:r>
              <a:rPr dirty="0" sz="24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sobre</a:t>
            </a:r>
            <a:r>
              <a:rPr dirty="0" sz="24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sus</a:t>
            </a:r>
            <a:r>
              <a:rPr dirty="0" sz="240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4E3629"/>
                </a:solidFill>
                <a:latin typeface="Calibri"/>
                <a:cs typeface="Calibri"/>
              </a:rPr>
              <a:t>empleados</a:t>
            </a:r>
            <a:endParaRPr sz="2400">
              <a:latin typeface="Calibri"/>
              <a:cs typeface="Calibri"/>
            </a:endParaRPr>
          </a:p>
        </p:txBody>
      </p:sp>
      <p:graphicFrame>
        <p:nvGraphicFramePr>
          <p:cNvPr id="4" name="object 4" descr=""/>
          <p:cNvGraphicFramePr>
            <a:graphicFrameLocks noGrp="1"/>
          </p:cNvGraphicFramePr>
          <p:nvPr/>
        </p:nvGraphicFramePr>
        <p:xfrm>
          <a:off x="3174780" y="5053962"/>
          <a:ext cx="5671185" cy="12484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90650"/>
                <a:gridCol w="1071245"/>
                <a:gridCol w="1113790"/>
                <a:gridCol w="1113789"/>
                <a:gridCol w="890270"/>
              </a:tblGrid>
              <a:tr h="207645"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1200" spc="-1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DEPARTMENT_ID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317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28575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1200" spc="-1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EMPLOYEE_ID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317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28575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1200" spc="-1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FIRST_NAME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317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28575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1200" spc="-1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LAST_NAME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317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28575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1200" spc="-1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SALARY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317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28575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207645"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12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50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317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28575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12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124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317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28575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12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Kevin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317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28575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12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Mourgos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317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28575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12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5800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317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28575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208279">
                <a:tc>
                  <a:txBody>
                    <a:bodyPr/>
                    <a:lstStyle/>
                    <a:p>
                      <a:pPr marL="7112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12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50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317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12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141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317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12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Trenna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317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12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Rajs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317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12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3500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317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208279">
                <a:tc>
                  <a:txBody>
                    <a:bodyPr/>
                    <a:lstStyle/>
                    <a:p>
                      <a:pPr marL="71120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dirty="0" sz="12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50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dirty="0" sz="12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142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dirty="0" sz="12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Curtis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0485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dirty="0" sz="12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Davies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0485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dirty="0" sz="12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3100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208279">
                <a:tc>
                  <a:txBody>
                    <a:bodyPr/>
                    <a:lstStyle/>
                    <a:p>
                      <a:pPr marL="70485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dirty="0" sz="12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50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0485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dirty="0" sz="12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143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0485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dirty="0" sz="12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Randall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0485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dirty="0" sz="12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Matos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0485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dirty="0" sz="12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2600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208279">
                <a:tc>
                  <a:txBody>
                    <a:bodyPr/>
                    <a:lstStyle/>
                    <a:p>
                      <a:pPr marL="70485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dirty="0" sz="12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50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0485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dirty="0" sz="12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144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0485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dirty="0" sz="12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Peter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dirty="0" sz="12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Vargas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dirty="0" sz="12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2500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object 5" descr=""/>
          <p:cNvSpPr txBox="1"/>
          <p:nvPr/>
        </p:nvSpPr>
        <p:spPr>
          <a:xfrm>
            <a:off x="650748" y="3189732"/>
            <a:ext cx="4721860" cy="1705610"/>
          </a:xfrm>
          <a:prstGeom prst="rect">
            <a:avLst/>
          </a:prstGeom>
          <a:solidFill>
            <a:srgbClr val="9DBEC4">
              <a:alpha val="50199"/>
            </a:srgbClr>
          </a:solidFill>
        </p:spPr>
        <p:txBody>
          <a:bodyPr wrap="square" lIns="0" tIns="1905" rIns="0" bIns="0" rtlCol="0" vert="horz">
            <a:spAutoFit/>
          </a:bodyPr>
          <a:lstStyle/>
          <a:p>
            <a:pPr marR="1437005">
              <a:lnSpc>
                <a:spcPct val="100000"/>
              </a:lnSpc>
              <a:spcBef>
                <a:spcPts val="15"/>
              </a:spcBef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CREATE</a:t>
            </a:r>
            <a:r>
              <a:rPr dirty="0" sz="1800" spc="-5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VIEW</a:t>
            </a:r>
            <a:r>
              <a:rPr dirty="0" sz="1800" spc="-5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view_dept50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AS</a:t>
            </a:r>
            <a:r>
              <a:rPr dirty="0" sz="1800" spc="-4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SELECT</a:t>
            </a:r>
            <a:r>
              <a:rPr dirty="0" sz="1800" spc="-4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department_id,</a:t>
            </a:r>
            <a:endParaRPr sz="1800">
              <a:latin typeface="Courier New"/>
              <a:cs typeface="Courier New"/>
            </a:endParaRPr>
          </a:p>
          <a:p>
            <a:pPr marR="73660">
              <a:lnSpc>
                <a:spcPct val="100000"/>
              </a:lnSpc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employee_id,first_name,</a:t>
            </a:r>
            <a:r>
              <a:rPr dirty="0" sz="1800" spc="-22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last_name, salary</a:t>
            </a:r>
            <a:endParaRPr sz="1800">
              <a:latin typeface="Courier New"/>
              <a:cs typeface="Courier New"/>
            </a:endParaRPr>
          </a:p>
          <a:p>
            <a:pPr marL="136525" marR="1164590">
              <a:lnSpc>
                <a:spcPct val="100000"/>
              </a:lnSpc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FROM</a:t>
            </a:r>
            <a:r>
              <a:rPr dirty="0" sz="1800" spc="-4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copy_employees</a:t>
            </a:r>
            <a:r>
              <a:rPr dirty="0" sz="1800" spc="50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WHERE</a:t>
            </a:r>
            <a:r>
              <a:rPr dirty="0" sz="1800" spc="-6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department_id</a:t>
            </a:r>
            <a:r>
              <a:rPr dirty="0" sz="1800" spc="-6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=</a:t>
            </a:r>
            <a:r>
              <a:rPr dirty="0" sz="1800" spc="-6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25" b="1">
                <a:solidFill>
                  <a:srgbClr val="4E3629"/>
                </a:solidFill>
                <a:latin typeface="Courier New"/>
                <a:cs typeface="Courier New"/>
              </a:rPr>
              <a:t>50;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650748" y="5023103"/>
            <a:ext cx="2284730" cy="570230"/>
          </a:xfrm>
          <a:prstGeom prst="rect">
            <a:avLst/>
          </a:prstGeom>
          <a:solidFill>
            <a:srgbClr val="9DBEC4">
              <a:alpha val="50199"/>
            </a:srgbClr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2025"/>
              </a:lnSpc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SELECT</a:t>
            </a:r>
            <a:r>
              <a:rPr dirty="0" sz="1800" spc="-3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*</a:t>
            </a:r>
            <a:r>
              <a:rPr dirty="0" sz="1800" spc="-3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20" b="1">
                <a:solidFill>
                  <a:srgbClr val="4E3629"/>
                </a:solidFill>
                <a:latin typeface="Courier New"/>
                <a:cs typeface="Courier New"/>
              </a:rPr>
              <a:t>FROM</a:t>
            </a:r>
            <a:endParaRPr sz="1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view_dept50;</a:t>
            </a:r>
            <a:endParaRPr sz="18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Control</a:t>
            </a:r>
            <a:r>
              <a:rPr dirty="0" spc="-100"/>
              <a:t> </a:t>
            </a:r>
            <a:r>
              <a:rPr dirty="0"/>
              <a:t>de</a:t>
            </a:r>
            <a:r>
              <a:rPr dirty="0" spc="-95"/>
              <a:t> </a:t>
            </a:r>
            <a:r>
              <a:rPr dirty="0" spc="-10"/>
              <a:t>Vistas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-10"/>
              <a:t> </a:t>
            </a:r>
            <a:r>
              <a:rPr dirty="0"/>
              <a:t>15-</a:t>
            </a:r>
            <a:r>
              <a:rPr dirty="0" spc="-50"/>
              <a:t>2</a:t>
            </a:r>
          </a:p>
          <a:p>
            <a:pPr marL="12700">
              <a:lnSpc>
                <a:spcPts val="965"/>
              </a:lnSpc>
            </a:pPr>
            <a:r>
              <a:rPr dirty="0" spc="-10"/>
              <a:t>Operaciones</a:t>
            </a:r>
            <a:r>
              <a:rPr dirty="0" spc="30"/>
              <a:t> </a:t>
            </a:r>
            <a:r>
              <a:rPr dirty="0"/>
              <a:t>DML</a:t>
            </a:r>
            <a:r>
              <a:rPr dirty="0" spc="-20"/>
              <a:t> </a:t>
            </a:r>
            <a:r>
              <a:rPr dirty="0"/>
              <a:t>y</a:t>
            </a:r>
            <a:r>
              <a:rPr dirty="0" spc="-10"/>
              <a:t> Vistas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045"/>
              </a:lnSpc>
            </a:pPr>
            <a:r>
              <a:rPr dirty="0" spc="-25"/>
              <a:t>8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3" name="object 3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59690" rIns="0" bIns="0" rtlCol="0" vert="horz">
            <a:spAutoFit/>
          </a:bodyPr>
          <a:lstStyle/>
          <a:p>
            <a:pPr marL="182880" marR="295910" indent="-170815">
              <a:lnSpc>
                <a:spcPts val="3030"/>
              </a:lnSpc>
              <a:spcBef>
                <a:spcPts val="47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/>
              <a:t>Mediante</a:t>
            </a:r>
            <a:r>
              <a:rPr dirty="0" spc="-65"/>
              <a:t> </a:t>
            </a:r>
            <a:r>
              <a:rPr dirty="0"/>
              <a:t>la</a:t>
            </a:r>
            <a:r>
              <a:rPr dirty="0" spc="-75"/>
              <a:t> </a:t>
            </a:r>
            <a:r>
              <a:rPr dirty="0"/>
              <a:t>vista</a:t>
            </a:r>
            <a:r>
              <a:rPr dirty="0" spc="-55"/>
              <a:t> </a:t>
            </a:r>
            <a:r>
              <a:rPr dirty="0"/>
              <a:t>como</a:t>
            </a:r>
            <a:r>
              <a:rPr dirty="0" spc="-65"/>
              <a:t> </a:t>
            </a:r>
            <a:r>
              <a:rPr dirty="0"/>
              <a:t>se</a:t>
            </a:r>
            <a:r>
              <a:rPr dirty="0" spc="-75"/>
              <a:t> </a:t>
            </a:r>
            <a:r>
              <a:rPr dirty="0"/>
              <a:t>ha</a:t>
            </a:r>
            <a:r>
              <a:rPr dirty="0" spc="-60"/>
              <a:t> </a:t>
            </a:r>
            <a:r>
              <a:rPr dirty="0"/>
              <a:t>indicado,</a:t>
            </a:r>
            <a:r>
              <a:rPr dirty="0" spc="-55"/>
              <a:t> </a:t>
            </a:r>
            <a:r>
              <a:rPr dirty="0"/>
              <a:t>es</a:t>
            </a:r>
            <a:r>
              <a:rPr dirty="0" spc="-65"/>
              <a:t> </a:t>
            </a:r>
            <a:r>
              <a:rPr dirty="0" spc="-10"/>
              <a:t>posible </a:t>
            </a:r>
            <a:r>
              <a:rPr dirty="0" spc="-10"/>
              <a:t>	</a:t>
            </a:r>
            <a:r>
              <a:rPr dirty="0" spc="-25"/>
              <a:t>INSERTAR,</a:t>
            </a:r>
            <a:r>
              <a:rPr dirty="0" spc="-85"/>
              <a:t> </a:t>
            </a:r>
            <a:r>
              <a:rPr dirty="0" spc="-10"/>
              <a:t>ACTUALIZAR</a:t>
            </a:r>
            <a:r>
              <a:rPr dirty="0" spc="-60"/>
              <a:t> </a:t>
            </a:r>
            <a:r>
              <a:rPr dirty="0"/>
              <a:t>y</a:t>
            </a:r>
            <a:r>
              <a:rPr dirty="0" spc="-85"/>
              <a:t> </a:t>
            </a:r>
            <a:r>
              <a:rPr dirty="0"/>
              <a:t>SUPRIMIR</a:t>
            </a:r>
            <a:r>
              <a:rPr dirty="0" spc="-65"/>
              <a:t> </a:t>
            </a:r>
            <a:r>
              <a:rPr dirty="0" spc="-10"/>
              <a:t>información</a:t>
            </a:r>
            <a:r>
              <a:rPr dirty="0" spc="-60"/>
              <a:t> </a:t>
            </a:r>
            <a:r>
              <a:rPr dirty="0" spc="-25"/>
              <a:t>de </a:t>
            </a:r>
            <a:r>
              <a:rPr dirty="0" spc="-25"/>
              <a:t>	</a:t>
            </a:r>
            <a:r>
              <a:rPr dirty="0"/>
              <a:t>todas</a:t>
            </a:r>
            <a:r>
              <a:rPr dirty="0" spc="-45"/>
              <a:t> </a:t>
            </a:r>
            <a:r>
              <a:rPr dirty="0"/>
              <a:t>las</a:t>
            </a:r>
            <a:r>
              <a:rPr dirty="0" spc="-60"/>
              <a:t> </a:t>
            </a:r>
            <a:r>
              <a:rPr dirty="0"/>
              <a:t>filas</a:t>
            </a:r>
            <a:r>
              <a:rPr dirty="0" spc="-40"/>
              <a:t> </a:t>
            </a:r>
            <a:r>
              <a:rPr dirty="0"/>
              <a:t>de</a:t>
            </a:r>
            <a:r>
              <a:rPr dirty="0" spc="-55"/>
              <a:t> </a:t>
            </a:r>
            <a:r>
              <a:rPr dirty="0"/>
              <a:t>la</a:t>
            </a:r>
            <a:r>
              <a:rPr dirty="0" spc="-45"/>
              <a:t> </a:t>
            </a:r>
            <a:r>
              <a:rPr dirty="0"/>
              <a:t>vista,</a:t>
            </a:r>
            <a:r>
              <a:rPr dirty="0" spc="-30"/>
              <a:t> </a:t>
            </a:r>
            <a:r>
              <a:rPr dirty="0"/>
              <a:t>incluso</a:t>
            </a:r>
            <a:r>
              <a:rPr dirty="0" spc="-30"/>
              <a:t> </a:t>
            </a:r>
            <a:r>
              <a:rPr dirty="0"/>
              <a:t>aunque</a:t>
            </a:r>
            <a:r>
              <a:rPr dirty="0" spc="-15"/>
              <a:t> </a:t>
            </a:r>
            <a:r>
              <a:rPr dirty="0"/>
              <a:t>el</a:t>
            </a:r>
            <a:r>
              <a:rPr dirty="0" spc="-60"/>
              <a:t> </a:t>
            </a:r>
            <a:r>
              <a:rPr dirty="0" spc="-10"/>
              <a:t>resultado </a:t>
            </a:r>
            <a:r>
              <a:rPr dirty="0" spc="-10"/>
              <a:t>	</a:t>
            </a:r>
            <a:r>
              <a:rPr dirty="0"/>
              <a:t>sea</a:t>
            </a:r>
            <a:r>
              <a:rPr dirty="0" spc="-45"/>
              <a:t> </a:t>
            </a:r>
            <a:r>
              <a:rPr dirty="0"/>
              <a:t>que</a:t>
            </a:r>
            <a:r>
              <a:rPr dirty="0" spc="-35"/>
              <a:t> </a:t>
            </a:r>
            <a:r>
              <a:rPr dirty="0"/>
              <a:t>una</a:t>
            </a:r>
            <a:r>
              <a:rPr dirty="0" spc="-20"/>
              <a:t> </a:t>
            </a:r>
            <a:r>
              <a:rPr dirty="0"/>
              <a:t>fila</a:t>
            </a:r>
            <a:r>
              <a:rPr dirty="0" spc="-40"/>
              <a:t> </a:t>
            </a:r>
            <a:r>
              <a:rPr dirty="0"/>
              <a:t>ya</a:t>
            </a:r>
            <a:r>
              <a:rPr dirty="0" spc="-45"/>
              <a:t> </a:t>
            </a:r>
            <a:r>
              <a:rPr dirty="0"/>
              <a:t>no</a:t>
            </a:r>
            <a:r>
              <a:rPr dirty="0" spc="-30"/>
              <a:t> </a:t>
            </a:r>
            <a:r>
              <a:rPr dirty="0"/>
              <a:t>forme</a:t>
            </a:r>
            <a:r>
              <a:rPr dirty="0" spc="-55"/>
              <a:t> </a:t>
            </a:r>
            <a:r>
              <a:rPr dirty="0"/>
              <a:t>parte</a:t>
            </a:r>
            <a:r>
              <a:rPr dirty="0" spc="-45"/>
              <a:t> </a:t>
            </a:r>
            <a:r>
              <a:rPr dirty="0"/>
              <a:t>de</a:t>
            </a:r>
            <a:r>
              <a:rPr dirty="0" spc="-40"/>
              <a:t> </a:t>
            </a:r>
            <a:r>
              <a:rPr dirty="0"/>
              <a:t>la</a:t>
            </a:r>
            <a:r>
              <a:rPr dirty="0" spc="-55"/>
              <a:t> </a:t>
            </a:r>
            <a:r>
              <a:rPr dirty="0" spc="-10"/>
              <a:t>vista</a:t>
            </a:r>
          </a:p>
          <a:p>
            <a:pPr marL="182880" marR="170180" indent="-170815">
              <a:lnSpc>
                <a:spcPts val="3030"/>
              </a:lnSpc>
              <a:spcBef>
                <a:spcPts val="78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/>
              <a:t>Puede</a:t>
            </a:r>
            <a:r>
              <a:rPr dirty="0" spc="-30"/>
              <a:t> </a:t>
            </a:r>
            <a:r>
              <a:rPr dirty="0"/>
              <a:t>que</a:t>
            </a:r>
            <a:r>
              <a:rPr dirty="0" spc="-25"/>
              <a:t> </a:t>
            </a:r>
            <a:r>
              <a:rPr dirty="0"/>
              <a:t>esto</a:t>
            </a:r>
            <a:r>
              <a:rPr dirty="0" spc="-45"/>
              <a:t> </a:t>
            </a:r>
            <a:r>
              <a:rPr dirty="0"/>
              <a:t>no</a:t>
            </a:r>
            <a:r>
              <a:rPr dirty="0" spc="-30"/>
              <a:t> </a:t>
            </a:r>
            <a:r>
              <a:rPr dirty="0"/>
              <a:t>sea</a:t>
            </a:r>
            <a:r>
              <a:rPr dirty="0" spc="-45"/>
              <a:t> </a:t>
            </a:r>
            <a:r>
              <a:rPr dirty="0"/>
              <a:t>lo</a:t>
            </a:r>
            <a:r>
              <a:rPr dirty="0" spc="-45"/>
              <a:t> </a:t>
            </a:r>
            <a:r>
              <a:rPr dirty="0"/>
              <a:t>que</a:t>
            </a:r>
            <a:r>
              <a:rPr dirty="0" spc="-25"/>
              <a:t> </a:t>
            </a:r>
            <a:r>
              <a:rPr dirty="0"/>
              <a:t>deseaba</a:t>
            </a:r>
            <a:r>
              <a:rPr dirty="0" spc="-30"/>
              <a:t> </a:t>
            </a:r>
            <a:r>
              <a:rPr dirty="0"/>
              <a:t>el</a:t>
            </a:r>
            <a:r>
              <a:rPr dirty="0" spc="-70"/>
              <a:t> </a:t>
            </a:r>
            <a:r>
              <a:rPr dirty="0"/>
              <a:t>DBA</a:t>
            </a:r>
            <a:r>
              <a:rPr dirty="0" spc="-25"/>
              <a:t> </a:t>
            </a:r>
            <a:r>
              <a:rPr dirty="0" spc="-10"/>
              <a:t>cuando </a:t>
            </a:r>
            <a:r>
              <a:rPr dirty="0" spc="-10"/>
              <a:t>	</a:t>
            </a:r>
            <a:r>
              <a:rPr dirty="0"/>
              <a:t>se</a:t>
            </a:r>
            <a:r>
              <a:rPr dirty="0" spc="-35"/>
              <a:t> </a:t>
            </a:r>
            <a:r>
              <a:rPr dirty="0"/>
              <a:t>creó</a:t>
            </a:r>
            <a:r>
              <a:rPr dirty="0" spc="-35"/>
              <a:t> </a:t>
            </a:r>
            <a:r>
              <a:rPr dirty="0"/>
              <a:t>la</a:t>
            </a:r>
            <a:r>
              <a:rPr dirty="0" spc="-30"/>
              <a:t> </a:t>
            </a:r>
            <a:r>
              <a:rPr dirty="0" spc="-10"/>
              <a:t>vista</a:t>
            </a:r>
          </a:p>
          <a:p>
            <a:pPr marL="182880" marR="5080" indent="-170815">
              <a:lnSpc>
                <a:spcPts val="3030"/>
              </a:lnSpc>
              <a:spcBef>
                <a:spcPts val="795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pc="-10"/>
              <a:t>Para</a:t>
            </a:r>
            <a:r>
              <a:rPr dirty="0" spc="-60"/>
              <a:t> </a:t>
            </a:r>
            <a:r>
              <a:rPr dirty="0" spc="-10"/>
              <a:t>controlar</a:t>
            </a:r>
            <a:r>
              <a:rPr dirty="0" spc="-40"/>
              <a:t> </a:t>
            </a:r>
            <a:r>
              <a:rPr dirty="0"/>
              <a:t>el</a:t>
            </a:r>
            <a:r>
              <a:rPr dirty="0" spc="-75"/>
              <a:t> </a:t>
            </a:r>
            <a:r>
              <a:rPr dirty="0"/>
              <a:t>acceso</a:t>
            </a:r>
            <a:r>
              <a:rPr dirty="0" spc="-60"/>
              <a:t> </a:t>
            </a:r>
            <a:r>
              <a:rPr dirty="0"/>
              <a:t>a</a:t>
            </a:r>
            <a:r>
              <a:rPr dirty="0" spc="-55"/>
              <a:t> </a:t>
            </a:r>
            <a:r>
              <a:rPr dirty="0"/>
              <a:t>los</a:t>
            </a:r>
            <a:r>
              <a:rPr dirty="0" spc="-50"/>
              <a:t> </a:t>
            </a:r>
            <a:r>
              <a:rPr dirty="0"/>
              <a:t>datos,</a:t>
            </a:r>
            <a:r>
              <a:rPr dirty="0" spc="-55"/>
              <a:t> </a:t>
            </a:r>
            <a:r>
              <a:rPr dirty="0"/>
              <a:t>se</a:t>
            </a:r>
            <a:r>
              <a:rPr dirty="0" spc="-60"/>
              <a:t> </a:t>
            </a:r>
            <a:r>
              <a:rPr dirty="0"/>
              <a:t>pueden</a:t>
            </a:r>
            <a:r>
              <a:rPr dirty="0" spc="-30"/>
              <a:t> </a:t>
            </a:r>
            <a:r>
              <a:rPr dirty="0" spc="-10"/>
              <a:t>agregar </a:t>
            </a:r>
            <a:r>
              <a:rPr dirty="0" spc="-10"/>
              <a:t>	</a:t>
            </a:r>
            <a:r>
              <a:rPr dirty="0"/>
              <a:t>dos</a:t>
            </a:r>
            <a:r>
              <a:rPr dirty="0" spc="-50"/>
              <a:t> </a:t>
            </a:r>
            <a:r>
              <a:rPr dirty="0"/>
              <a:t>opciones</a:t>
            </a:r>
            <a:r>
              <a:rPr dirty="0" spc="-50"/>
              <a:t> </a:t>
            </a:r>
            <a:r>
              <a:rPr dirty="0"/>
              <a:t>a</a:t>
            </a:r>
            <a:r>
              <a:rPr dirty="0" spc="-75"/>
              <a:t> </a:t>
            </a:r>
            <a:r>
              <a:rPr dirty="0"/>
              <a:t>la</a:t>
            </a:r>
            <a:r>
              <a:rPr dirty="0" spc="-60"/>
              <a:t> </a:t>
            </a:r>
            <a:r>
              <a:rPr dirty="0"/>
              <a:t>sentencia</a:t>
            </a:r>
            <a:r>
              <a:rPr dirty="0" spc="-55"/>
              <a:t> </a:t>
            </a:r>
            <a:r>
              <a:rPr dirty="0" spc="-30"/>
              <a:t>CREATE</a:t>
            </a:r>
            <a:r>
              <a:rPr dirty="0" spc="-85"/>
              <a:t> </a:t>
            </a:r>
            <a:r>
              <a:rPr dirty="0" spc="-10"/>
              <a:t>VIEW:</a:t>
            </a:r>
          </a:p>
          <a:p>
            <a:pPr marL="355600">
              <a:lnSpc>
                <a:spcPct val="100000"/>
              </a:lnSpc>
              <a:spcBef>
                <a:spcPts val="80"/>
              </a:spcBef>
            </a:pPr>
            <a:r>
              <a:rPr dirty="0" sz="2400">
                <a:solidFill>
                  <a:srgbClr val="D1350F"/>
                </a:solidFill>
              </a:rPr>
              <a:t>−</a:t>
            </a:r>
            <a:r>
              <a:rPr dirty="0" sz="2400"/>
              <a:t>WITH</a:t>
            </a:r>
            <a:r>
              <a:rPr dirty="0" sz="2400" spc="40"/>
              <a:t> </a:t>
            </a:r>
            <a:r>
              <a:rPr dirty="0" sz="2400"/>
              <a:t>CHECK</a:t>
            </a:r>
            <a:r>
              <a:rPr dirty="0" sz="2400" spc="5"/>
              <a:t> </a:t>
            </a:r>
            <a:r>
              <a:rPr dirty="0" sz="2400" spc="-10"/>
              <a:t>OPTION</a:t>
            </a:r>
            <a:endParaRPr sz="2400"/>
          </a:p>
          <a:p>
            <a:pPr marL="355600">
              <a:lnSpc>
                <a:spcPct val="100000"/>
              </a:lnSpc>
              <a:spcBef>
                <a:spcPts val="110"/>
              </a:spcBef>
            </a:pPr>
            <a:r>
              <a:rPr dirty="0" sz="2400">
                <a:solidFill>
                  <a:srgbClr val="D1350F"/>
                </a:solidFill>
              </a:rPr>
              <a:t>−</a:t>
            </a:r>
            <a:r>
              <a:rPr dirty="0" sz="2400"/>
              <a:t>WITH</a:t>
            </a:r>
            <a:r>
              <a:rPr dirty="0" sz="2400" spc="55"/>
              <a:t> </a:t>
            </a:r>
            <a:r>
              <a:rPr dirty="0" sz="2400"/>
              <a:t>READ</a:t>
            </a:r>
            <a:r>
              <a:rPr dirty="0" sz="2400" spc="15"/>
              <a:t> </a:t>
            </a:r>
            <a:r>
              <a:rPr dirty="0" sz="2400" spc="-20"/>
              <a:t>ONLY</a:t>
            </a:r>
            <a:endParaRPr sz="24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Vistas</a:t>
            </a:r>
            <a:r>
              <a:rPr dirty="0" spc="-110"/>
              <a:t> </a:t>
            </a:r>
            <a:r>
              <a:rPr dirty="0"/>
              <a:t>con</a:t>
            </a:r>
            <a:r>
              <a:rPr dirty="0" spc="-65"/>
              <a:t> </a:t>
            </a:r>
            <a:r>
              <a:rPr dirty="0"/>
              <a:t>la</a:t>
            </a:r>
            <a:r>
              <a:rPr dirty="0" spc="-85"/>
              <a:t> </a:t>
            </a:r>
            <a:r>
              <a:rPr dirty="0"/>
              <a:t>Opción</a:t>
            </a:r>
            <a:r>
              <a:rPr dirty="0" spc="-60"/>
              <a:t> </a:t>
            </a:r>
            <a:r>
              <a:rPr dirty="0" spc="-10"/>
              <a:t>CHECK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83552" y="1387985"/>
            <a:ext cx="5394960" cy="4222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84785" indent="-172085">
              <a:lnSpc>
                <a:spcPct val="100000"/>
              </a:lnSpc>
              <a:spcBef>
                <a:spcPts val="105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6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vista</a:t>
            </a:r>
            <a:r>
              <a:rPr dirty="0" sz="26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se</a:t>
            </a:r>
            <a:r>
              <a:rPr dirty="0" sz="26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define</a:t>
            </a:r>
            <a:r>
              <a:rPr dirty="0" sz="26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WITH</a:t>
            </a:r>
            <a:r>
              <a:rPr dirty="0" sz="26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CHECK</a:t>
            </a:r>
            <a:r>
              <a:rPr dirty="0" sz="26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 spc="-10">
                <a:solidFill>
                  <a:srgbClr val="4E3629"/>
                </a:solidFill>
                <a:latin typeface="Calibri"/>
                <a:cs typeface="Calibri"/>
              </a:rPr>
              <a:t>OPTION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483552" y="3062861"/>
            <a:ext cx="7469505" cy="739775"/>
          </a:xfrm>
          <a:prstGeom prst="rect">
            <a:avLst/>
          </a:prstGeom>
        </p:spPr>
        <p:txBody>
          <a:bodyPr wrap="square" lIns="0" tIns="89535" rIns="0" bIns="0" rtlCol="0" vert="horz">
            <a:spAutoFit/>
          </a:bodyPr>
          <a:lstStyle/>
          <a:p>
            <a:pPr marL="184785" marR="5080" indent="-172720">
              <a:lnSpc>
                <a:spcPts val="2500"/>
              </a:lnSpc>
              <a:spcBef>
                <a:spcPts val="705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Mediante</a:t>
            </a:r>
            <a:r>
              <a:rPr dirty="0" sz="26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60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vista,</a:t>
            </a:r>
            <a:r>
              <a:rPr dirty="0" sz="26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se</a:t>
            </a:r>
            <a:r>
              <a:rPr dirty="0" sz="26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ha</a:t>
            </a:r>
            <a:r>
              <a:rPr dirty="0" sz="260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cambiado</a:t>
            </a:r>
            <a:r>
              <a:rPr dirty="0" sz="26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el</a:t>
            </a:r>
            <a:r>
              <a:rPr dirty="0" sz="260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 spc="-10">
                <a:solidFill>
                  <a:srgbClr val="4E3629"/>
                </a:solidFill>
                <a:latin typeface="Calibri"/>
                <a:cs typeface="Calibri"/>
              </a:rPr>
              <a:t>departamento</a:t>
            </a:r>
            <a:r>
              <a:rPr dirty="0" sz="26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 spc="-25">
                <a:solidFill>
                  <a:srgbClr val="4E3629"/>
                </a:solidFill>
                <a:latin typeface="Calibri"/>
                <a:cs typeface="Calibri"/>
              </a:rPr>
              <a:t>de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employee_id</a:t>
            </a:r>
            <a:r>
              <a:rPr dirty="0" sz="26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124</a:t>
            </a:r>
            <a:r>
              <a:rPr dirty="0" sz="26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a</a:t>
            </a:r>
            <a:r>
              <a:rPr dirty="0" sz="26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dept_id</a:t>
            </a:r>
            <a:r>
              <a:rPr dirty="0" sz="26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 spc="-25">
                <a:solidFill>
                  <a:srgbClr val="4E3629"/>
                </a:solidFill>
                <a:latin typeface="Calibri"/>
                <a:cs typeface="Calibri"/>
              </a:rPr>
              <a:t>90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483552" y="5053205"/>
            <a:ext cx="7482205" cy="739775"/>
          </a:xfrm>
          <a:prstGeom prst="rect">
            <a:avLst/>
          </a:prstGeom>
        </p:spPr>
        <p:txBody>
          <a:bodyPr wrap="square" lIns="0" tIns="88900" rIns="0" bIns="0" rtlCol="0" vert="horz">
            <a:spAutoFit/>
          </a:bodyPr>
          <a:lstStyle/>
          <a:p>
            <a:pPr marL="184785" marR="5080" indent="-172720">
              <a:lnSpc>
                <a:spcPts val="2500"/>
              </a:lnSpc>
              <a:spcBef>
                <a:spcPts val="70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6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 spc="-10">
                <a:solidFill>
                  <a:srgbClr val="4E3629"/>
                </a:solidFill>
                <a:latin typeface="Calibri"/>
                <a:cs typeface="Calibri"/>
              </a:rPr>
              <a:t>actualización</a:t>
            </a:r>
            <a:r>
              <a:rPr dirty="0" sz="26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se</a:t>
            </a:r>
            <a:r>
              <a:rPr dirty="0" sz="26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realiza</a:t>
            </a:r>
            <a:r>
              <a:rPr dirty="0" sz="26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 spc="-10">
                <a:solidFill>
                  <a:srgbClr val="4E3629"/>
                </a:solidFill>
                <a:latin typeface="Calibri"/>
                <a:cs typeface="Calibri"/>
              </a:rPr>
              <a:t>correctamente,</a:t>
            </a:r>
            <a:r>
              <a:rPr dirty="0" sz="26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aunque</a:t>
            </a:r>
            <a:r>
              <a:rPr dirty="0" sz="26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 spc="-20">
                <a:solidFill>
                  <a:srgbClr val="4E3629"/>
                </a:solidFill>
                <a:latin typeface="Calibri"/>
                <a:cs typeface="Calibri"/>
              </a:rPr>
              <a:t>este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empleado</a:t>
            </a:r>
            <a:r>
              <a:rPr dirty="0" sz="26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ahora</a:t>
            </a:r>
            <a:r>
              <a:rPr dirty="0" sz="26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no</a:t>
            </a:r>
            <a:r>
              <a:rPr dirty="0" sz="26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forma</a:t>
            </a:r>
            <a:r>
              <a:rPr dirty="0" sz="26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parte</a:t>
            </a:r>
            <a:r>
              <a:rPr dirty="0" sz="26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6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6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 spc="-10">
                <a:solidFill>
                  <a:srgbClr val="4E3629"/>
                </a:solidFill>
                <a:latin typeface="Calibri"/>
                <a:cs typeface="Calibri"/>
              </a:rPr>
              <a:t>vista</a:t>
            </a:r>
            <a:endParaRPr sz="2600">
              <a:latin typeface="Calibri"/>
              <a:cs typeface="Calibri"/>
            </a:endParaRPr>
          </a:p>
        </p:txBody>
      </p:sp>
      <p:pic>
        <p:nvPicPr>
          <p:cNvPr id="6" name="object 6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46447" y="4494276"/>
            <a:ext cx="2028444" cy="304800"/>
          </a:xfrm>
          <a:prstGeom prst="rect">
            <a:avLst/>
          </a:prstGeom>
        </p:spPr>
      </p:pic>
      <p:sp>
        <p:nvSpPr>
          <p:cNvPr id="7" name="object 7" descr=""/>
          <p:cNvSpPr txBox="1"/>
          <p:nvPr/>
        </p:nvSpPr>
        <p:spPr>
          <a:xfrm>
            <a:off x="399288" y="1818132"/>
            <a:ext cx="8345805" cy="1356360"/>
          </a:xfrm>
          <a:prstGeom prst="rect">
            <a:avLst/>
          </a:prstGeom>
          <a:solidFill>
            <a:srgbClr val="9DBEC4">
              <a:alpha val="50199"/>
            </a:srgbClr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885"/>
              </a:lnSpc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CREATE</a:t>
            </a:r>
            <a:r>
              <a:rPr dirty="0" sz="1800" spc="-5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VIEW</a:t>
            </a:r>
            <a:r>
              <a:rPr dirty="0" sz="1800" spc="-5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view_dept50</a:t>
            </a:r>
            <a:endParaRPr sz="1800">
              <a:latin typeface="Courier New"/>
              <a:cs typeface="Courier New"/>
            </a:endParaRPr>
          </a:p>
          <a:p>
            <a:pPr marR="147955">
              <a:lnSpc>
                <a:spcPct val="100000"/>
              </a:lnSpc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AS</a:t>
            </a:r>
            <a:r>
              <a:rPr dirty="0" sz="1800" spc="-10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SELECT</a:t>
            </a:r>
            <a:r>
              <a:rPr dirty="0" sz="1800" spc="-9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department_id,</a:t>
            </a:r>
            <a:r>
              <a:rPr dirty="0" sz="1800" spc="-8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employee_id,</a:t>
            </a:r>
            <a:r>
              <a:rPr dirty="0" sz="1800" spc="-9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first_name,</a:t>
            </a:r>
            <a:r>
              <a:rPr dirty="0" sz="1800" spc="-8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last_name, salary</a:t>
            </a:r>
            <a:endParaRPr sz="1800">
              <a:latin typeface="Courier New"/>
              <a:cs typeface="Courier New"/>
            </a:endParaRPr>
          </a:p>
          <a:p>
            <a:pPr marL="408940" marR="4516120">
              <a:lnSpc>
                <a:spcPct val="100000"/>
              </a:lnSpc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FROM</a:t>
            </a:r>
            <a:r>
              <a:rPr dirty="0" sz="1800" spc="-4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copy_employees</a:t>
            </a:r>
            <a:r>
              <a:rPr dirty="0" sz="1800" spc="50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WHERE</a:t>
            </a:r>
            <a:r>
              <a:rPr dirty="0" sz="1800" spc="-6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department_id</a:t>
            </a:r>
            <a:r>
              <a:rPr dirty="0" sz="1800" spc="-6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=</a:t>
            </a:r>
            <a:r>
              <a:rPr dirty="0" sz="1800" spc="-6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25" b="1">
                <a:solidFill>
                  <a:srgbClr val="4E3629"/>
                </a:solidFill>
                <a:latin typeface="Courier New"/>
                <a:cs typeface="Courier New"/>
              </a:rPr>
              <a:t>50;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9" name="object 9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-10"/>
              <a:t> </a:t>
            </a:r>
            <a:r>
              <a:rPr dirty="0"/>
              <a:t>15-</a:t>
            </a:r>
            <a:r>
              <a:rPr dirty="0" spc="-50"/>
              <a:t>2</a:t>
            </a:r>
          </a:p>
          <a:p>
            <a:pPr marL="12700">
              <a:lnSpc>
                <a:spcPts val="965"/>
              </a:lnSpc>
            </a:pPr>
            <a:r>
              <a:rPr dirty="0" spc="-10"/>
              <a:t>Operaciones</a:t>
            </a:r>
            <a:r>
              <a:rPr dirty="0" spc="30"/>
              <a:t> </a:t>
            </a:r>
            <a:r>
              <a:rPr dirty="0"/>
              <a:t>DML</a:t>
            </a:r>
            <a:r>
              <a:rPr dirty="0" spc="-20"/>
              <a:t> </a:t>
            </a:r>
            <a:r>
              <a:rPr dirty="0"/>
              <a:t>y</a:t>
            </a:r>
            <a:r>
              <a:rPr dirty="0" spc="-10"/>
              <a:t> Vistas</a:t>
            </a:r>
          </a:p>
        </p:txBody>
      </p:sp>
      <p:sp>
        <p:nvSpPr>
          <p:cNvPr id="10" name="object 10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045"/>
              </a:lnSpc>
            </a:pPr>
            <a:r>
              <a:rPr dirty="0" spc="-25"/>
              <a:t>9</a:t>
            </a:r>
          </a:p>
        </p:txBody>
      </p:sp>
      <p:sp>
        <p:nvSpPr>
          <p:cNvPr id="11" name="object 11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8" name="object 8" descr=""/>
          <p:cNvSpPr txBox="1"/>
          <p:nvPr/>
        </p:nvSpPr>
        <p:spPr>
          <a:xfrm>
            <a:off x="393191" y="3910584"/>
            <a:ext cx="3823970" cy="889000"/>
          </a:xfrm>
          <a:prstGeom prst="rect">
            <a:avLst/>
          </a:prstGeom>
          <a:solidFill>
            <a:srgbClr val="9DBEC4">
              <a:alpha val="50199"/>
            </a:srgbClr>
          </a:solidFill>
        </p:spPr>
        <p:txBody>
          <a:bodyPr wrap="square" lIns="0" tIns="5080" rIns="0" bIns="0" rtlCol="0" vert="horz">
            <a:spAutoFit/>
          </a:bodyPr>
          <a:lstStyle/>
          <a:p>
            <a:pPr marR="812165">
              <a:lnSpc>
                <a:spcPct val="100000"/>
              </a:lnSpc>
              <a:spcBef>
                <a:spcPts val="40"/>
              </a:spcBef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UPDATE</a:t>
            </a:r>
            <a:r>
              <a:rPr dirty="0" sz="1800" spc="-5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view_dept50</a:t>
            </a:r>
            <a:r>
              <a:rPr dirty="0" sz="1800" spc="50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SET</a:t>
            </a:r>
            <a:r>
              <a:rPr dirty="0" sz="1800" spc="-7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department_id</a:t>
            </a:r>
            <a:r>
              <a:rPr dirty="0" sz="1800" spc="-4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=</a:t>
            </a:r>
            <a:r>
              <a:rPr dirty="0" sz="1800" spc="-5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25" b="1">
                <a:solidFill>
                  <a:srgbClr val="4E3629"/>
                </a:solidFill>
                <a:latin typeface="Courier New"/>
                <a:cs typeface="Courier New"/>
              </a:rPr>
              <a:t>90</a:t>
            </a:r>
            <a:endParaRPr sz="1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WHERE</a:t>
            </a:r>
            <a:r>
              <a:rPr dirty="0" sz="1800" spc="-7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employee_id</a:t>
            </a:r>
            <a:r>
              <a:rPr dirty="0" sz="1800" spc="-4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=</a:t>
            </a:r>
            <a:r>
              <a:rPr dirty="0" sz="1800" spc="-5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20" b="1">
                <a:solidFill>
                  <a:srgbClr val="4E3629"/>
                </a:solidFill>
                <a:latin typeface="Courier New"/>
                <a:cs typeface="Courier New"/>
              </a:rPr>
              <a:t>124;</a:t>
            </a:r>
            <a:endParaRPr sz="18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Vistas</a:t>
            </a:r>
            <a:r>
              <a:rPr dirty="0" spc="-110"/>
              <a:t> </a:t>
            </a:r>
            <a:r>
              <a:rPr dirty="0"/>
              <a:t>con</a:t>
            </a:r>
            <a:r>
              <a:rPr dirty="0" spc="-65"/>
              <a:t> </a:t>
            </a:r>
            <a:r>
              <a:rPr dirty="0"/>
              <a:t>la</a:t>
            </a:r>
            <a:r>
              <a:rPr dirty="0" spc="-85"/>
              <a:t> </a:t>
            </a:r>
            <a:r>
              <a:rPr dirty="0"/>
              <a:t>Opción</a:t>
            </a:r>
            <a:r>
              <a:rPr dirty="0" spc="-60"/>
              <a:t> </a:t>
            </a:r>
            <a:r>
              <a:rPr dirty="0" spc="-10"/>
              <a:t>CHECK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-10"/>
              <a:t> </a:t>
            </a:r>
            <a:r>
              <a:rPr dirty="0"/>
              <a:t>15-</a:t>
            </a:r>
            <a:r>
              <a:rPr dirty="0" spc="-50"/>
              <a:t>2</a:t>
            </a:r>
          </a:p>
          <a:p>
            <a:pPr marL="12700">
              <a:lnSpc>
                <a:spcPts val="965"/>
              </a:lnSpc>
            </a:pPr>
            <a:r>
              <a:rPr dirty="0" spc="-10"/>
              <a:t>Operaciones</a:t>
            </a:r>
            <a:r>
              <a:rPr dirty="0" spc="30"/>
              <a:t> </a:t>
            </a:r>
            <a:r>
              <a:rPr dirty="0"/>
              <a:t>DML</a:t>
            </a:r>
            <a:r>
              <a:rPr dirty="0" spc="-20"/>
              <a:t> </a:t>
            </a:r>
            <a:r>
              <a:rPr dirty="0"/>
              <a:t>y</a:t>
            </a:r>
            <a:r>
              <a:rPr dirty="0" spc="-10"/>
              <a:t> Vistas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045"/>
              </a:lnSpc>
            </a:pPr>
            <a:r>
              <a:rPr dirty="0" spc="-25"/>
              <a:t>10</a:t>
            </a:r>
          </a:p>
        </p:txBody>
      </p:sp>
      <p:sp>
        <p:nvSpPr>
          <p:cNvPr id="7" name="object 7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390123" y="1494537"/>
            <a:ext cx="8340725" cy="3181985"/>
          </a:xfrm>
          <a:prstGeom prst="rect">
            <a:avLst/>
          </a:prstGeom>
        </p:spPr>
        <p:txBody>
          <a:bodyPr wrap="square" lIns="0" tIns="58419" rIns="0" bIns="0" rtlCol="0" vert="horz">
            <a:spAutoFit/>
          </a:bodyPr>
          <a:lstStyle/>
          <a:p>
            <a:pPr marL="184785" marR="306705" indent="-172720">
              <a:lnSpc>
                <a:spcPts val="2920"/>
              </a:lnSpc>
              <a:spcBef>
                <a:spcPts val="459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700">
                <a:solidFill>
                  <a:srgbClr val="4E3629"/>
                </a:solidFill>
                <a:latin typeface="Calibri"/>
                <a:cs typeface="Calibri"/>
              </a:rPr>
              <a:t>WITH</a:t>
            </a:r>
            <a:r>
              <a:rPr dirty="0" sz="27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700">
                <a:solidFill>
                  <a:srgbClr val="4E3629"/>
                </a:solidFill>
                <a:latin typeface="Calibri"/>
                <a:cs typeface="Calibri"/>
              </a:rPr>
              <a:t>CHECK</a:t>
            </a:r>
            <a:r>
              <a:rPr dirty="0" sz="2700" spc="-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700">
                <a:solidFill>
                  <a:srgbClr val="4E3629"/>
                </a:solidFill>
                <a:latin typeface="Calibri"/>
                <a:cs typeface="Calibri"/>
              </a:rPr>
              <a:t>OPTION</a:t>
            </a:r>
            <a:r>
              <a:rPr dirty="0" sz="27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700" spc="-20">
                <a:solidFill>
                  <a:srgbClr val="4E3629"/>
                </a:solidFill>
                <a:latin typeface="Calibri"/>
                <a:cs typeface="Calibri"/>
              </a:rPr>
              <a:t>garantiza</a:t>
            </a:r>
            <a:r>
              <a:rPr dirty="0" sz="27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700">
                <a:solidFill>
                  <a:srgbClr val="4E3629"/>
                </a:solidFill>
                <a:latin typeface="Calibri"/>
                <a:cs typeface="Calibri"/>
              </a:rPr>
              <a:t>que</a:t>
            </a:r>
            <a:r>
              <a:rPr dirty="0" sz="27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700">
                <a:solidFill>
                  <a:srgbClr val="4E3629"/>
                </a:solidFill>
                <a:latin typeface="Calibri"/>
                <a:cs typeface="Calibri"/>
              </a:rPr>
              <a:t>las</a:t>
            </a:r>
            <a:r>
              <a:rPr dirty="0" sz="27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700" spc="-10">
                <a:solidFill>
                  <a:srgbClr val="4E3629"/>
                </a:solidFill>
                <a:latin typeface="Calibri"/>
                <a:cs typeface="Calibri"/>
              </a:rPr>
              <a:t>operaciones</a:t>
            </a:r>
            <a:r>
              <a:rPr dirty="0" sz="27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700" spc="-25">
                <a:solidFill>
                  <a:srgbClr val="4E3629"/>
                </a:solidFill>
                <a:latin typeface="Calibri"/>
                <a:cs typeface="Calibri"/>
              </a:rPr>
              <a:t>DML </a:t>
            </a:r>
            <a:r>
              <a:rPr dirty="0" sz="2700">
                <a:solidFill>
                  <a:srgbClr val="4E3629"/>
                </a:solidFill>
                <a:latin typeface="Calibri"/>
                <a:cs typeface="Calibri"/>
              </a:rPr>
              <a:t>realizadas</a:t>
            </a:r>
            <a:r>
              <a:rPr dirty="0" sz="27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700">
                <a:solidFill>
                  <a:srgbClr val="4E3629"/>
                </a:solidFill>
                <a:latin typeface="Calibri"/>
                <a:cs typeface="Calibri"/>
              </a:rPr>
              <a:t>en</a:t>
            </a:r>
            <a:r>
              <a:rPr dirty="0" sz="27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7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7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700">
                <a:solidFill>
                  <a:srgbClr val="4E3629"/>
                </a:solidFill>
                <a:latin typeface="Calibri"/>
                <a:cs typeface="Calibri"/>
              </a:rPr>
              <a:t>vista</a:t>
            </a:r>
            <a:r>
              <a:rPr dirty="0" sz="27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700">
                <a:solidFill>
                  <a:srgbClr val="4E3629"/>
                </a:solidFill>
                <a:latin typeface="Calibri"/>
                <a:cs typeface="Calibri"/>
              </a:rPr>
              <a:t>se</a:t>
            </a:r>
            <a:r>
              <a:rPr dirty="0" sz="27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700" spc="-10">
                <a:solidFill>
                  <a:srgbClr val="4E3629"/>
                </a:solidFill>
                <a:latin typeface="Calibri"/>
                <a:cs typeface="Calibri"/>
              </a:rPr>
              <a:t>mantengan</a:t>
            </a:r>
            <a:r>
              <a:rPr dirty="0" sz="27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700">
                <a:solidFill>
                  <a:srgbClr val="4E3629"/>
                </a:solidFill>
                <a:latin typeface="Calibri"/>
                <a:cs typeface="Calibri"/>
              </a:rPr>
              <a:t>en</a:t>
            </a:r>
            <a:r>
              <a:rPr dirty="0" sz="27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700">
                <a:solidFill>
                  <a:srgbClr val="4E3629"/>
                </a:solidFill>
                <a:latin typeface="Calibri"/>
                <a:cs typeface="Calibri"/>
              </a:rPr>
              <a:t>el</a:t>
            </a:r>
            <a:r>
              <a:rPr dirty="0" sz="270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700">
                <a:solidFill>
                  <a:srgbClr val="4E3629"/>
                </a:solidFill>
                <a:latin typeface="Calibri"/>
                <a:cs typeface="Calibri"/>
              </a:rPr>
              <a:t>dominio</a:t>
            </a:r>
            <a:r>
              <a:rPr dirty="0" sz="27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7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7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700" spc="-25">
                <a:solidFill>
                  <a:srgbClr val="4E3629"/>
                </a:solidFill>
                <a:latin typeface="Calibri"/>
                <a:cs typeface="Calibri"/>
              </a:rPr>
              <a:t>la </a:t>
            </a:r>
            <a:r>
              <a:rPr dirty="0" sz="2700" spc="-10">
                <a:solidFill>
                  <a:srgbClr val="4E3629"/>
                </a:solidFill>
                <a:latin typeface="Calibri"/>
                <a:cs typeface="Calibri"/>
              </a:rPr>
              <a:t>vista</a:t>
            </a:r>
            <a:endParaRPr sz="2700">
              <a:latin typeface="Calibri"/>
              <a:cs typeface="Calibri"/>
            </a:endParaRPr>
          </a:p>
          <a:p>
            <a:pPr marL="184785" marR="99695" indent="-172720">
              <a:lnSpc>
                <a:spcPts val="2920"/>
              </a:lnSpc>
              <a:spcBef>
                <a:spcPts val="59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700">
                <a:solidFill>
                  <a:srgbClr val="4E3629"/>
                </a:solidFill>
                <a:latin typeface="Calibri"/>
                <a:cs typeface="Calibri"/>
              </a:rPr>
              <a:t>Cualquier</a:t>
            </a:r>
            <a:r>
              <a:rPr dirty="0" sz="27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700" spc="-10">
                <a:solidFill>
                  <a:srgbClr val="4E3629"/>
                </a:solidFill>
                <a:latin typeface="Calibri"/>
                <a:cs typeface="Calibri"/>
              </a:rPr>
              <a:t>intento</a:t>
            </a:r>
            <a:r>
              <a:rPr dirty="0" sz="27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7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7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700">
                <a:solidFill>
                  <a:srgbClr val="4E3629"/>
                </a:solidFill>
                <a:latin typeface="Calibri"/>
                <a:cs typeface="Calibri"/>
              </a:rPr>
              <a:t>cambiar</a:t>
            </a:r>
            <a:r>
              <a:rPr dirty="0" sz="27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700">
                <a:solidFill>
                  <a:srgbClr val="4E3629"/>
                </a:solidFill>
                <a:latin typeface="Calibri"/>
                <a:cs typeface="Calibri"/>
              </a:rPr>
              <a:t>el</a:t>
            </a:r>
            <a:r>
              <a:rPr dirty="0" sz="27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700">
                <a:solidFill>
                  <a:srgbClr val="4E3629"/>
                </a:solidFill>
                <a:latin typeface="Calibri"/>
                <a:cs typeface="Calibri"/>
              </a:rPr>
              <a:t>número</a:t>
            </a:r>
            <a:r>
              <a:rPr dirty="0" sz="27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7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7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700" spc="-10">
                <a:solidFill>
                  <a:srgbClr val="4E3629"/>
                </a:solidFill>
                <a:latin typeface="Calibri"/>
                <a:cs typeface="Calibri"/>
              </a:rPr>
              <a:t>departamento </a:t>
            </a:r>
            <a:r>
              <a:rPr dirty="0" sz="27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7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700">
                <a:solidFill>
                  <a:srgbClr val="4E3629"/>
                </a:solidFill>
                <a:latin typeface="Calibri"/>
                <a:cs typeface="Calibri"/>
              </a:rPr>
              <a:t>una</a:t>
            </a:r>
            <a:r>
              <a:rPr dirty="0" sz="27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700">
                <a:solidFill>
                  <a:srgbClr val="4E3629"/>
                </a:solidFill>
                <a:latin typeface="Calibri"/>
                <a:cs typeface="Calibri"/>
              </a:rPr>
              <a:t>fila</a:t>
            </a:r>
            <a:r>
              <a:rPr dirty="0" sz="27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7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7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7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7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700">
                <a:solidFill>
                  <a:srgbClr val="4E3629"/>
                </a:solidFill>
                <a:latin typeface="Calibri"/>
                <a:cs typeface="Calibri"/>
              </a:rPr>
              <a:t>vista</a:t>
            </a:r>
            <a:r>
              <a:rPr dirty="0" sz="270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700">
                <a:solidFill>
                  <a:srgbClr val="4E3629"/>
                </a:solidFill>
                <a:latin typeface="Calibri"/>
                <a:cs typeface="Calibri"/>
              </a:rPr>
              <a:t>fallará</a:t>
            </a:r>
            <a:r>
              <a:rPr dirty="0" sz="27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700">
                <a:solidFill>
                  <a:srgbClr val="4E3629"/>
                </a:solidFill>
                <a:latin typeface="Calibri"/>
                <a:cs typeface="Calibri"/>
              </a:rPr>
              <a:t>porque</a:t>
            </a:r>
            <a:r>
              <a:rPr dirty="0" sz="27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700">
                <a:solidFill>
                  <a:srgbClr val="4E3629"/>
                </a:solidFill>
                <a:latin typeface="Calibri"/>
                <a:cs typeface="Calibri"/>
              </a:rPr>
              <a:t>viola</a:t>
            </a:r>
            <a:r>
              <a:rPr dirty="0" sz="27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7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7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700" spc="-10">
                <a:solidFill>
                  <a:srgbClr val="4E3629"/>
                </a:solidFill>
                <a:latin typeface="Calibri"/>
                <a:cs typeface="Calibri"/>
              </a:rPr>
              <a:t>restricción </a:t>
            </a:r>
            <a:r>
              <a:rPr dirty="0" sz="2700">
                <a:solidFill>
                  <a:srgbClr val="4E3629"/>
                </a:solidFill>
                <a:latin typeface="Calibri"/>
                <a:cs typeface="Calibri"/>
              </a:rPr>
              <a:t>WITH</a:t>
            </a:r>
            <a:r>
              <a:rPr dirty="0" sz="27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700">
                <a:solidFill>
                  <a:srgbClr val="4E3629"/>
                </a:solidFill>
                <a:latin typeface="Calibri"/>
                <a:cs typeface="Calibri"/>
              </a:rPr>
              <a:t>CHECK</a:t>
            </a:r>
            <a:r>
              <a:rPr dirty="0" sz="27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700" spc="-10">
                <a:solidFill>
                  <a:srgbClr val="4E3629"/>
                </a:solidFill>
                <a:latin typeface="Calibri"/>
                <a:cs typeface="Calibri"/>
              </a:rPr>
              <a:t>OPTION</a:t>
            </a:r>
            <a:endParaRPr sz="2700">
              <a:latin typeface="Calibri"/>
              <a:cs typeface="Calibri"/>
            </a:endParaRPr>
          </a:p>
          <a:p>
            <a:pPr marL="184785" marR="5080" indent="-172720">
              <a:lnSpc>
                <a:spcPts val="2920"/>
              </a:lnSpc>
              <a:spcBef>
                <a:spcPts val="59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700">
                <a:solidFill>
                  <a:srgbClr val="4E3629"/>
                </a:solidFill>
                <a:latin typeface="Calibri"/>
                <a:cs typeface="Calibri"/>
              </a:rPr>
              <a:t>Observe</a:t>
            </a:r>
            <a:r>
              <a:rPr dirty="0" sz="27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700">
                <a:solidFill>
                  <a:srgbClr val="4E3629"/>
                </a:solidFill>
                <a:latin typeface="Calibri"/>
                <a:cs typeface="Calibri"/>
              </a:rPr>
              <a:t>en</a:t>
            </a:r>
            <a:r>
              <a:rPr dirty="0" sz="27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700">
                <a:solidFill>
                  <a:srgbClr val="4E3629"/>
                </a:solidFill>
                <a:latin typeface="Calibri"/>
                <a:cs typeface="Calibri"/>
              </a:rPr>
              <a:t>el</a:t>
            </a:r>
            <a:r>
              <a:rPr dirty="0" sz="2700" spc="-2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700">
                <a:solidFill>
                  <a:srgbClr val="4E3629"/>
                </a:solidFill>
                <a:latin typeface="Calibri"/>
                <a:cs typeface="Calibri"/>
              </a:rPr>
              <a:t>ejemplo</a:t>
            </a:r>
            <a:r>
              <a:rPr dirty="0" sz="270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700">
                <a:solidFill>
                  <a:srgbClr val="4E3629"/>
                </a:solidFill>
                <a:latin typeface="Calibri"/>
                <a:cs typeface="Calibri"/>
              </a:rPr>
              <a:t>siguiente</a:t>
            </a:r>
            <a:r>
              <a:rPr dirty="0" sz="27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700">
                <a:solidFill>
                  <a:srgbClr val="4E3629"/>
                </a:solidFill>
                <a:latin typeface="Calibri"/>
                <a:cs typeface="Calibri"/>
              </a:rPr>
              <a:t>que</a:t>
            </a:r>
            <a:r>
              <a:rPr dirty="0" sz="27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700">
                <a:solidFill>
                  <a:srgbClr val="4E3629"/>
                </a:solidFill>
                <a:latin typeface="Calibri"/>
                <a:cs typeface="Calibri"/>
              </a:rPr>
              <a:t>a</a:t>
            </a:r>
            <a:r>
              <a:rPr dirty="0" sz="270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7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7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700" spc="-10">
                <a:solidFill>
                  <a:srgbClr val="4E3629"/>
                </a:solidFill>
                <a:latin typeface="Calibri"/>
                <a:cs typeface="Calibri"/>
              </a:rPr>
              <a:t>restricción</a:t>
            </a:r>
            <a:r>
              <a:rPr dirty="0" sz="27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700" spc="-20">
                <a:solidFill>
                  <a:srgbClr val="4E3629"/>
                </a:solidFill>
                <a:latin typeface="Calibri"/>
                <a:cs typeface="Calibri"/>
              </a:rPr>
              <a:t>WITH </a:t>
            </a:r>
            <a:r>
              <a:rPr dirty="0" sz="2700">
                <a:solidFill>
                  <a:srgbClr val="4E3629"/>
                </a:solidFill>
                <a:latin typeface="Calibri"/>
                <a:cs typeface="Calibri"/>
              </a:rPr>
              <a:t>CHECK</a:t>
            </a:r>
            <a:r>
              <a:rPr dirty="0" sz="27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700">
                <a:solidFill>
                  <a:srgbClr val="4E3629"/>
                </a:solidFill>
                <a:latin typeface="Calibri"/>
                <a:cs typeface="Calibri"/>
              </a:rPr>
              <a:t>OPTION</a:t>
            </a:r>
            <a:r>
              <a:rPr dirty="0" sz="27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700">
                <a:solidFill>
                  <a:srgbClr val="4E3629"/>
                </a:solidFill>
                <a:latin typeface="Calibri"/>
                <a:cs typeface="Calibri"/>
              </a:rPr>
              <a:t>se</a:t>
            </a:r>
            <a:r>
              <a:rPr dirty="0" sz="27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700">
                <a:solidFill>
                  <a:srgbClr val="4E3629"/>
                </a:solidFill>
                <a:latin typeface="Calibri"/>
                <a:cs typeface="Calibri"/>
              </a:rPr>
              <a:t>le</a:t>
            </a:r>
            <a:r>
              <a:rPr dirty="0" sz="27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700">
                <a:solidFill>
                  <a:srgbClr val="4E3629"/>
                </a:solidFill>
                <a:latin typeface="Calibri"/>
                <a:cs typeface="Calibri"/>
              </a:rPr>
              <a:t>asignó</a:t>
            </a:r>
            <a:r>
              <a:rPr dirty="0" sz="27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700">
                <a:solidFill>
                  <a:srgbClr val="4E3629"/>
                </a:solidFill>
                <a:latin typeface="Calibri"/>
                <a:cs typeface="Calibri"/>
              </a:rPr>
              <a:t>el</a:t>
            </a:r>
            <a:r>
              <a:rPr dirty="0" sz="270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700">
                <a:solidFill>
                  <a:srgbClr val="4E3629"/>
                </a:solidFill>
                <a:latin typeface="Calibri"/>
                <a:cs typeface="Calibri"/>
              </a:rPr>
              <a:t>nombre</a:t>
            </a:r>
            <a:r>
              <a:rPr dirty="0" sz="27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700" spc="-10">
                <a:solidFill>
                  <a:srgbClr val="4E3629"/>
                </a:solidFill>
                <a:latin typeface="Calibri"/>
                <a:cs typeface="Calibri"/>
              </a:rPr>
              <a:t>view_dept50_check</a:t>
            </a:r>
            <a:endParaRPr sz="27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399288" y="4715255"/>
            <a:ext cx="8345805" cy="1228725"/>
          </a:xfrm>
          <a:prstGeom prst="rect">
            <a:avLst/>
          </a:prstGeom>
          <a:solidFill>
            <a:srgbClr val="9DBEC4">
              <a:alpha val="50199"/>
            </a:srgbClr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770"/>
              </a:lnSpc>
            </a:pPr>
            <a:r>
              <a:rPr dirty="0" sz="1600" b="1">
                <a:solidFill>
                  <a:srgbClr val="4E3629"/>
                </a:solidFill>
                <a:latin typeface="Courier New"/>
                <a:cs typeface="Courier New"/>
              </a:rPr>
              <a:t>CREATE</a:t>
            </a:r>
            <a:r>
              <a:rPr dirty="0" sz="1600" spc="-3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600" b="1">
                <a:solidFill>
                  <a:srgbClr val="4E3629"/>
                </a:solidFill>
                <a:latin typeface="Courier New"/>
                <a:cs typeface="Courier New"/>
              </a:rPr>
              <a:t>OR</a:t>
            </a:r>
            <a:r>
              <a:rPr dirty="0" sz="1600" spc="-4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600" b="1">
                <a:solidFill>
                  <a:srgbClr val="4E3629"/>
                </a:solidFill>
                <a:latin typeface="Courier New"/>
                <a:cs typeface="Courier New"/>
              </a:rPr>
              <a:t>REPLACE</a:t>
            </a:r>
            <a:r>
              <a:rPr dirty="0" sz="1600" spc="-4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600" b="1">
                <a:solidFill>
                  <a:srgbClr val="4E3629"/>
                </a:solidFill>
                <a:latin typeface="Courier New"/>
                <a:cs typeface="Courier New"/>
              </a:rPr>
              <a:t>VIEW</a:t>
            </a:r>
            <a:r>
              <a:rPr dirty="0" sz="1600" spc="-4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600" spc="-10" b="1">
                <a:solidFill>
                  <a:srgbClr val="4E3629"/>
                </a:solidFill>
                <a:latin typeface="Courier New"/>
                <a:cs typeface="Courier New"/>
              </a:rPr>
              <a:t>view_dept50</a:t>
            </a:r>
            <a:endParaRPr sz="1600">
              <a:latin typeface="Courier New"/>
              <a:cs typeface="Courier New"/>
            </a:endParaRPr>
          </a:p>
          <a:p>
            <a:pPr marL="365125" marR="155575" indent="-366395">
              <a:lnSpc>
                <a:spcPct val="100000"/>
              </a:lnSpc>
            </a:pPr>
            <a:r>
              <a:rPr dirty="0" sz="1600" b="1">
                <a:solidFill>
                  <a:srgbClr val="4E3629"/>
                </a:solidFill>
                <a:latin typeface="Courier New"/>
                <a:cs typeface="Courier New"/>
              </a:rPr>
              <a:t>AS</a:t>
            </a:r>
            <a:r>
              <a:rPr dirty="0" sz="1600" spc="-7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600" b="1">
                <a:solidFill>
                  <a:srgbClr val="4E3629"/>
                </a:solidFill>
                <a:latin typeface="Courier New"/>
                <a:cs typeface="Courier New"/>
              </a:rPr>
              <a:t>SELECT</a:t>
            </a:r>
            <a:r>
              <a:rPr dirty="0" sz="1600" spc="-7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600" b="1">
                <a:solidFill>
                  <a:srgbClr val="4E3629"/>
                </a:solidFill>
                <a:latin typeface="Courier New"/>
                <a:cs typeface="Courier New"/>
              </a:rPr>
              <a:t>department_id,</a:t>
            </a:r>
            <a:r>
              <a:rPr dirty="0" sz="1600" spc="-4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600" b="1">
                <a:solidFill>
                  <a:srgbClr val="4E3629"/>
                </a:solidFill>
                <a:latin typeface="Courier New"/>
                <a:cs typeface="Courier New"/>
              </a:rPr>
              <a:t>employee_id,</a:t>
            </a:r>
            <a:r>
              <a:rPr dirty="0" sz="1600" spc="-7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600" b="1">
                <a:solidFill>
                  <a:srgbClr val="4E3629"/>
                </a:solidFill>
                <a:latin typeface="Courier New"/>
                <a:cs typeface="Courier New"/>
              </a:rPr>
              <a:t>first_name,</a:t>
            </a:r>
            <a:r>
              <a:rPr dirty="0" sz="1600" spc="-7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600" b="1">
                <a:solidFill>
                  <a:srgbClr val="4E3629"/>
                </a:solidFill>
                <a:latin typeface="Courier New"/>
                <a:cs typeface="Courier New"/>
              </a:rPr>
              <a:t>last_name,</a:t>
            </a:r>
            <a:r>
              <a:rPr dirty="0" sz="1600" spc="-6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600" spc="-10" b="1">
                <a:solidFill>
                  <a:srgbClr val="4E3629"/>
                </a:solidFill>
                <a:latin typeface="Courier New"/>
                <a:cs typeface="Courier New"/>
              </a:rPr>
              <a:t>salary </a:t>
            </a:r>
            <a:r>
              <a:rPr dirty="0" sz="1600" b="1">
                <a:solidFill>
                  <a:srgbClr val="4E3629"/>
                </a:solidFill>
                <a:latin typeface="Courier New"/>
                <a:cs typeface="Courier New"/>
              </a:rPr>
              <a:t>FROM</a:t>
            </a:r>
            <a:r>
              <a:rPr dirty="0" sz="1600" spc="-3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600" spc="-10" b="1">
                <a:solidFill>
                  <a:srgbClr val="4E3629"/>
                </a:solidFill>
                <a:latin typeface="Courier New"/>
                <a:cs typeface="Courier New"/>
              </a:rPr>
              <a:t>employees</a:t>
            </a:r>
            <a:endParaRPr sz="1600">
              <a:latin typeface="Courier New"/>
              <a:cs typeface="Courier New"/>
            </a:endParaRPr>
          </a:p>
          <a:p>
            <a:pPr marL="365125">
              <a:lnSpc>
                <a:spcPct val="100000"/>
              </a:lnSpc>
            </a:pPr>
            <a:r>
              <a:rPr dirty="0" sz="1600" b="1">
                <a:solidFill>
                  <a:srgbClr val="4E3629"/>
                </a:solidFill>
                <a:latin typeface="Courier New"/>
                <a:cs typeface="Courier New"/>
              </a:rPr>
              <a:t>WHERE</a:t>
            </a:r>
            <a:r>
              <a:rPr dirty="0" sz="1600" spc="-5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600" b="1">
                <a:solidFill>
                  <a:srgbClr val="4E3629"/>
                </a:solidFill>
                <a:latin typeface="Courier New"/>
                <a:cs typeface="Courier New"/>
              </a:rPr>
              <a:t>department_id</a:t>
            </a:r>
            <a:r>
              <a:rPr dirty="0" sz="1600" spc="-4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600" b="1">
                <a:solidFill>
                  <a:srgbClr val="4E3629"/>
                </a:solidFill>
                <a:latin typeface="Courier New"/>
                <a:cs typeface="Courier New"/>
              </a:rPr>
              <a:t>=</a:t>
            </a:r>
            <a:r>
              <a:rPr dirty="0" sz="1600" spc="-4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600" spc="-25" b="1">
                <a:solidFill>
                  <a:srgbClr val="4E3629"/>
                </a:solidFill>
                <a:latin typeface="Courier New"/>
                <a:cs typeface="Courier New"/>
              </a:rPr>
              <a:t>50</a:t>
            </a:r>
            <a:endParaRPr sz="16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r>
              <a:rPr dirty="0" sz="1600" b="1">
                <a:solidFill>
                  <a:srgbClr val="4E3629"/>
                </a:solidFill>
                <a:latin typeface="Courier New"/>
                <a:cs typeface="Courier New"/>
              </a:rPr>
              <a:t>WITH</a:t>
            </a:r>
            <a:r>
              <a:rPr dirty="0" sz="1600" spc="-5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600" b="1">
                <a:solidFill>
                  <a:srgbClr val="4E3629"/>
                </a:solidFill>
                <a:latin typeface="Courier New"/>
                <a:cs typeface="Courier New"/>
              </a:rPr>
              <a:t>CHECK</a:t>
            </a:r>
            <a:r>
              <a:rPr dirty="0" sz="1600" spc="-5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600" b="1">
                <a:solidFill>
                  <a:srgbClr val="4E3629"/>
                </a:solidFill>
                <a:latin typeface="Courier New"/>
                <a:cs typeface="Courier New"/>
              </a:rPr>
              <a:t>OPTION</a:t>
            </a:r>
            <a:r>
              <a:rPr dirty="0" sz="1600" spc="-5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600" b="1">
                <a:solidFill>
                  <a:srgbClr val="4E3629"/>
                </a:solidFill>
                <a:latin typeface="Courier New"/>
                <a:cs typeface="Courier New"/>
              </a:rPr>
              <a:t>CONSTRAINT</a:t>
            </a:r>
            <a:r>
              <a:rPr dirty="0" sz="1600" spc="-5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600" spc="-10" b="1">
                <a:solidFill>
                  <a:srgbClr val="4E3629"/>
                </a:solidFill>
                <a:latin typeface="Courier New"/>
                <a:cs typeface="Courier New"/>
              </a:rPr>
              <a:t>view_dept50_check;</a:t>
            </a:r>
            <a:endParaRPr sz="16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Vistas</a:t>
            </a:r>
            <a:r>
              <a:rPr dirty="0" spc="-110"/>
              <a:t> </a:t>
            </a:r>
            <a:r>
              <a:rPr dirty="0"/>
              <a:t>con</a:t>
            </a:r>
            <a:r>
              <a:rPr dirty="0" spc="-65"/>
              <a:t> </a:t>
            </a:r>
            <a:r>
              <a:rPr dirty="0"/>
              <a:t>la</a:t>
            </a:r>
            <a:r>
              <a:rPr dirty="0" spc="-85"/>
              <a:t> </a:t>
            </a:r>
            <a:r>
              <a:rPr dirty="0"/>
              <a:t>Opción</a:t>
            </a:r>
            <a:r>
              <a:rPr dirty="0" spc="-60"/>
              <a:t> </a:t>
            </a:r>
            <a:r>
              <a:rPr dirty="0" spc="-10"/>
              <a:t>CHECK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83552" y="1415417"/>
            <a:ext cx="7639684" cy="836294"/>
          </a:xfrm>
          <a:prstGeom prst="rect">
            <a:avLst/>
          </a:prstGeom>
        </p:spPr>
        <p:txBody>
          <a:bodyPr wrap="square" lIns="0" tIns="59690" rIns="0" bIns="0" rtlCol="0" vert="horz">
            <a:spAutoFit/>
          </a:bodyPr>
          <a:lstStyle/>
          <a:p>
            <a:pPr marL="182880" marR="5080" indent="-170815">
              <a:lnSpc>
                <a:spcPts val="3030"/>
              </a:lnSpc>
              <a:spcBef>
                <a:spcPts val="47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Ahora,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si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intenta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modificar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una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fila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en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vista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que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la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sacará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del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dominio</a:t>
            </a:r>
            <a:r>
              <a:rPr dirty="0" sz="280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vista,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se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devuelve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un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error</a:t>
            </a:r>
            <a:endParaRPr sz="2800">
              <a:latin typeface="Calibri"/>
              <a:cs typeface="Calibri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4672" y="3654552"/>
            <a:ext cx="5925311" cy="448056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393191" y="2558795"/>
            <a:ext cx="8345805" cy="870585"/>
          </a:xfrm>
          <a:prstGeom prst="rect">
            <a:avLst/>
          </a:prstGeom>
          <a:solidFill>
            <a:srgbClr val="9DBEC4">
              <a:alpha val="50199"/>
            </a:srgbClr>
          </a:solidFill>
        </p:spPr>
        <p:txBody>
          <a:bodyPr wrap="square" lIns="0" tIns="4572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360"/>
              </a:spcBef>
            </a:pPr>
            <a:r>
              <a:rPr dirty="0" sz="1600" b="1">
                <a:solidFill>
                  <a:srgbClr val="4E3629"/>
                </a:solidFill>
                <a:latin typeface="Courier New"/>
                <a:cs typeface="Courier New"/>
              </a:rPr>
              <a:t>UPDATE</a:t>
            </a:r>
            <a:r>
              <a:rPr dirty="0" sz="1600" spc="-5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600" spc="-10" b="1">
                <a:solidFill>
                  <a:srgbClr val="4E3629"/>
                </a:solidFill>
                <a:latin typeface="Courier New"/>
                <a:cs typeface="Courier New"/>
              </a:rPr>
              <a:t>view_dept50</a:t>
            </a:r>
            <a:endParaRPr sz="1600">
              <a:latin typeface="Courier New"/>
              <a:cs typeface="Courier New"/>
            </a:endParaRPr>
          </a:p>
          <a:p>
            <a:pPr marR="5407660">
              <a:lnSpc>
                <a:spcPct val="100000"/>
              </a:lnSpc>
            </a:pPr>
            <a:r>
              <a:rPr dirty="0" sz="1600" b="1">
                <a:solidFill>
                  <a:srgbClr val="4E3629"/>
                </a:solidFill>
                <a:latin typeface="Courier New"/>
                <a:cs typeface="Courier New"/>
              </a:rPr>
              <a:t>SET</a:t>
            </a:r>
            <a:r>
              <a:rPr dirty="0" sz="1600" spc="-5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600" b="1">
                <a:solidFill>
                  <a:srgbClr val="4E3629"/>
                </a:solidFill>
                <a:latin typeface="Courier New"/>
                <a:cs typeface="Courier New"/>
              </a:rPr>
              <a:t>department_id</a:t>
            </a:r>
            <a:r>
              <a:rPr dirty="0" sz="1600" spc="-4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600" b="1">
                <a:solidFill>
                  <a:srgbClr val="4E3629"/>
                </a:solidFill>
                <a:latin typeface="Courier New"/>
                <a:cs typeface="Courier New"/>
              </a:rPr>
              <a:t>=</a:t>
            </a:r>
            <a:r>
              <a:rPr dirty="0" sz="1600" spc="-3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600" spc="-25" b="1">
                <a:solidFill>
                  <a:srgbClr val="4E3629"/>
                </a:solidFill>
                <a:latin typeface="Courier New"/>
                <a:cs typeface="Courier New"/>
              </a:rPr>
              <a:t>90 </a:t>
            </a:r>
            <a:r>
              <a:rPr dirty="0" sz="1600" b="1">
                <a:solidFill>
                  <a:srgbClr val="4E3629"/>
                </a:solidFill>
                <a:latin typeface="Courier New"/>
                <a:cs typeface="Courier New"/>
              </a:rPr>
              <a:t>WHERE</a:t>
            </a:r>
            <a:r>
              <a:rPr dirty="0" sz="1600" spc="-4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600" b="1">
                <a:solidFill>
                  <a:srgbClr val="4E3629"/>
                </a:solidFill>
                <a:latin typeface="Courier New"/>
                <a:cs typeface="Courier New"/>
              </a:rPr>
              <a:t>employee_id</a:t>
            </a:r>
            <a:r>
              <a:rPr dirty="0" sz="1600" spc="-4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600" b="1">
                <a:solidFill>
                  <a:srgbClr val="4E3629"/>
                </a:solidFill>
                <a:latin typeface="Courier New"/>
                <a:cs typeface="Courier New"/>
              </a:rPr>
              <a:t>=</a:t>
            </a:r>
            <a:r>
              <a:rPr dirty="0" sz="1600" spc="-3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600" spc="-20" b="1">
                <a:solidFill>
                  <a:srgbClr val="4E3629"/>
                </a:solidFill>
                <a:latin typeface="Courier New"/>
                <a:cs typeface="Courier New"/>
              </a:rPr>
              <a:t>124;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6" name="object 6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-10"/>
              <a:t> </a:t>
            </a:r>
            <a:r>
              <a:rPr dirty="0"/>
              <a:t>15-</a:t>
            </a:r>
            <a:r>
              <a:rPr dirty="0" spc="-50"/>
              <a:t>2</a:t>
            </a:r>
          </a:p>
          <a:p>
            <a:pPr marL="12700">
              <a:lnSpc>
                <a:spcPts val="965"/>
              </a:lnSpc>
            </a:pPr>
            <a:r>
              <a:rPr dirty="0" spc="-10"/>
              <a:t>Operaciones</a:t>
            </a:r>
            <a:r>
              <a:rPr dirty="0" spc="30"/>
              <a:t> </a:t>
            </a:r>
            <a:r>
              <a:rPr dirty="0"/>
              <a:t>DML</a:t>
            </a:r>
            <a:r>
              <a:rPr dirty="0" spc="-20"/>
              <a:t> </a:t>
            </a:r>
            <a:r>
              <a:rPr dirty="0"/>
              <a:t>y</a:t>
            </a:r>
            <a:r>
              <a:rPr dirty="0" spc="-10"/>
              <a:t> Vistas</a:t>
            </a:r>
          </a:p>
        </p:txBody>
      </p:sp>
      <p:sp>
        <p:nvSpPr>
          <p:cNvPr id="7" name="object 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045"/>
              </a:lnSpc>
            </a:pPr>
            <a:r>
              <a:rPr dirty="0" spc="-25"/>
              <a:t>11</a:t>
            </a:r>
          </a:p>
        </p:txBody>
      </p:sp>
      <p:sp>
        <p:nvSpPr>
          <p:cNvPr id="8" name="object 8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2112" y="748031"/>
            <a:ext cx="3743325" cy="5283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Vistas</a:t>
            </a:r>
            <a:r>
              <a:rPr dirty="0" spc="-120"/>
              <a:t> </a:t>
            </a:r>
            <a:r>
              <a:rPr dirty="0"/>
              <a:t>con</a:t>
            </a:r>
            <a:r>
              <a:rPr dirty="0" spc="-85"/>
              <a:t> </a:t>
            </a:r>
            <a:r>
              <a:rPr dirty="0"/>
              <a:t>READ</a:t>
            </a:r>
            <a:r>
              <a:rPr dirty="0" spc="-95"/>
              <a:t> </a:t>
            </a:r>
            <a:r>
              <a:rPr dirty="0" spc="-20"/>
              <a:t>ONLY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-10"/>
              <a:t> </a:t>
            </a:r>
            <a:r>
              <a:rPr dirty="0"/>
              <a:t>15-</a:t>
            </a:r>
            <a:r>
              <a:rPr dirty="0" spc="-50"/>
              <a:t>2</a:t>
            </a:r>
          </a:p>
          <a:p>
            <a:pPr marL="12700">
              <a:lnSpc>
                <a:spcPts val="965"/>
              </a:lnSpc>
            </a:pPr>
            <a:r>
              <a:rPr dirty="0" spc="-10"/>
              <a:t>Operaciones</a:t>
            </a:r>
            <a:r>
              <a:rPr dirty="0" spc="30"/>
              <a:t> </a:t>
            </a:r>
            <a:r>
              <a:rPr dirty="0"/>
              <a:t>DML</a:t>
            </a:r>
            <a:r>
              <a:rPr dirty="0" spc="-20"/>
              <a:t> </a:t>
            </a:r>
            <a:r>
              <a:rPr dirty="0"/>
              <a:t>y</a:t>
            </a:r>
            <a:r>
              <a:rPr dirty="0" spc="-10"/>
              <a:t> Vistas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045"/>
              </a:lnSpc>
            </a:pPr>
            <a:r>
              <a:rPr dirty="0" spc="-25"/>
              <a:t>12</a:t>
            </a:r>
          </a:p>
        </p:txBody>
      </p:sp>
      <p:sp>
        <p:nvSpPr>
          <p:cNvPr id="7" name="object 7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83552" y="1415417"/>
            <a:ext cx="7948295" cy="1706245"/>
          </a:xfrm>
          <a:prstGeom prst="rect">
            <a:avLst/>
          </a:prstGeom>
        </p:spPr>
        <p:txBody>
          <a:bodyPr wrap="square" lIns="0" tIns="59690" rIns="0" bIns="0" rtlCol="0" vert="horz">
            <a:spAutoFit/>
          </a:bodyPr>
          <a:lstStyle/>
          <a:p>
            <a:pPr marL="182880" marR="917575" indent="-170815">
              <a:lnSpc>
                <a:spcPts val="3030"/>
              </a:lnSpc>
              <a:spcBef>
                <a:spcPts val="47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opción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WITH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READ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30">
                <a:solidFill>
                  <a:srgbClr val="4E3629"/>
                </a:solidFill>
                <a:latin typeface="Calibri"/>
                <a:cs typeface="Calibri"/>
              </a:rPr>
              <a:t>ONLY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4E3629"/>
                </a:solidFill>
                <a:latin typeface="Calibri"/>
                <a:cs typeface="Calibri"/>
              </a:rPr>
              <a:t>garantiza</a:t>
            </a:r>
            <a:r>
              <a:rPr dirty="0" sz="2800" spc="-8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que</a:t>
            </a:r>
            <a:r>
              <a:rPr dirty="0" sz="280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no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se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produce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ninguna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operación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DML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en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800" spc="-8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vista</a:t>
            </a:r>
            <a:endParaRPr sz="2800">
              <a:latin typeface="Calibri"/>
              <a:cs typeface="Calibri"/>
            </a:endParaRPr>
          </a:p>
          <a:p>
            <a:pPr marL="182880" marR="5080" indent="-170815">
              <a:lnSpc>
                <a:spcPts val="3030"/>
              </a:lnSpc>
              <a:spcBef>
                <a:spcPts val="795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Cualquier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intento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8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ejecutar</a:t>
            </a:r>
            <a:r>
              <a:rPr dirty="0" sz="2800" spc="-9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una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sentencia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INSERT,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UPDATE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o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DELETE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producirá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un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error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Oracle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Server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405384" y="3709415"/>
            <a:ext cx="8345805" cy="1701164"/>
          </a:xfrm>
          <a:prstGeom prst="rect">
            <a:avLst/>
          </a:prstGeom>
          <a:solidFill>
            <a:srgbClr val="9DBEC4">
              <a:alpha val="50199"/>
            </a:srgbClr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CREATE</a:t>
            </a:r>
            <a:r>
              <a:rPr dirty="0" sz="1800" spc="-5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OR</a:t>
            </a:r>
            <a:r>
              <a:rPr dirty="0" sz="1800" spc="-5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REPLACE</a:t>
            </a:r>
            <a:r>
              <a:rPr dirty="0" sz="1800" spc="-4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VIEW</a:t>
            </a:r>
            <a:r>
              <a:rPr dirty="0" sz="1800" spc="-5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view_dept50</a:t>
            </a:r>
            <a:endParaRPr sz="1800">
              <a:latin typeface="Courier New"/>
              <a:cs typeface="Courier New"/>
            </a:endParaRPr>
          </a:p>
          <a:p>
            <a:pPr marR="147955">
              <a:lnSpc>
                <a:spcPct val="100000"/>
              </a:lnSpc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AS</a:t>
            </a:r>
            <a:r>
              <a:rPr dirty="0" sz="1800" spc="-10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SELECT</a:t>
            </a:r>
            <a:r>
              <a:rPr dirty="0" sz="1800" spc="-9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department_id,</a:t>
            </a:r>
            <a:r>
              <a:rPr dirty="0" sz="1800" spc="-8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employee_id,</a:t>
            </a:r>
            <a:r>
              <a:rPr dirty="0" sz="1800" spc="-9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first_name,</a:t>
            </a:r>
            <a:r>
              <a:rPr dirty="0" sz="1800" spc="-8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last_name, salary</a:t>
            </a:r>
            <a:endParaRPr sz="1800">
              <a:latin typeface="Courier New"/>
              <a:cs typeface="Courier New"/>
            </a:endParaRPr>
          </a:p>
          <a:p>
            <a:pPr marL="135890">
              <a:lnSpc>
                <a:spcPct val="100000"/>
              </a:lnSpc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FROM</a:t>
            </a:r>
            <a:r>
              <a:rPr dirty="0" sz="1800" spc="-5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employees</a:t>
            </a:r>
            <a:endParaRPr sz="1800">
              <a:latin typeface="Courier New"/>
              <a:cs typeface="Courier New"/>
            </a:endParaRPr>
          </a:p>
          <a:p>
            <a:pPr marR="4924425" indent="137160">
              <a:lnSpc>
                <a:spcPct val="100000"/>
              </a:lnSpc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WHERE</a:t>
            </a:r>
            <a:r>
              <a:rPr dirty="0" sz="1800" spc="-7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department_id</a:t>
            </a:r>
            <a:r>
              <a:rPr dirty="0" sz="1800" spc="-6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=</a:t>
            </a:r>
            <a:r>
              <a:rPr dirty="0" sz="1800" spc="-6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25" b="1">
                <a:solidFill>
                  <a:srgbClr val="4E3629"/>
                </a:solidFill>
                <a:latin typeface="Courier New"/>
                <a:cs typeface="Courier New"/>
              </a:rPr>
              <a:t>50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WITH</a:t>
            </a:r>
            <a:r>
              <a:rPr dirty="0" sz="1800" spc="-4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READ</a:t>
            </a:r>
            <a:r>
              <a:rPr dirty="0" sz="1800" spc="-4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20" b="1">
                <a:solidFill>
                  <a:srgbClr val="4E3629"/>
                </a:solidFill>
                <a:latin typeface="Courier New"/>
                <a:cs typeface="Courier New"/>
              </a:rPr>
              <a:t>ONLY;</a:t>
            </a:r>
            <a:endParaRPr sz="18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Restricciones</a:t>
            </a:r>
            <a:r>
              <a:rPr dirty="0" spc="-55"/>
              <a:t> </a:t>
            </a:r>
            <a:r>
              <a:rPr dirty="0"/>
              <a:t>de</a:t>
            </a:r>
            <a:r>
              <a:rPr dirty="0" spc="-75"/>
              <a:t> </a:t>
            </a:r>
            <a:r>
              <a:rPr dirty="0" spc="-25"/>
              <a:t>DML</a:t>
            </a:r>
          </a:p>
        </p:txBody>
      </p:sp>
      <p:sp>
        <p:nvSpPr>
          <p:cNvPr id="3" name="object 3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59690" rIns="0" bIns="0" rtlCol="0" vert="horz">
            <a:spAutoFit/>
          </a:bodyPr>
          <a:lstStyle/>
          <a:p>
            <a:pPr marL="182880" marR="5080" indent="-170815">
              <a:lnSpc>
                <a:spcPts val="3030"/>
              </a:lnSpc>
              <a:spcBef>
                <a:spcPts val="47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/>
              <a:t>Las</a:t>
            </a:r>
            <a:r>
              <a:rPr dirty="0" spc="-65"/>
              <a:t> </a:t>
            </a:r>
            <a:r>
              <a:rPr dirty="0"/>
              <a:t>vistas</a:t>
            </a:r>
            <a:r>
              <a:rPr dirty="0" spc="-45"/>
              <a:t> </a:t>
            </a:r>
            <a:r>
              <a:rPr dirty="0"/>
              <a:t>simples</a:t>
            </a:r>
            <a:r>
              <a:rPr dirty="0" spc="-35"/>
              <a:t> </a:t>
            </a:r>
            <a:r>
              <a:rPr dirty="0"/>
              <a:t>y</a:t>
            </a:r>
            <a:r>
              <a:rPr dirty="0" spc="-70"/>
              <a:t> </a:t>
            </a:r>
            <a:r>
              <a:rPr dirty="0"/>
              <a:t>complejos</a:t>
            </a:r>
            <a:r>
              <a:rPr dirty="0" spc="-45"/>
              <a:t> </a:t>
            </a:r>
            <a:r>
              <a:rPr dirty="0"/>
              <a:t>difieren</a:t>
            </a:r>
            <a:r>
              <a:rPr dirty="0" spc="-45"/>
              <a:t> </a:t>
            </a:r>
            <a:r>
              <a:rPr dirty="0"/>
              <a:t>en</a:t>
            </a:r>
            <a:r>
              <a:rPr dirty="0" spc="-70"/>
              <a:t> </a:t>
            </a:r>
            <a:r>
              <a:rPr dirty="0"/>
              <a:t>su</a:t>
            </a:r>
            <a:r>
              <a:rPr dirty="0" spc="-45"/>
              <a:t> </a:t>
            </a:r>
            <a:r>
              <a:rPr dirty="0" spc="-10"/>
              <a:t>capacidad </a:t>
            </a:r>
            <a:r>
              <a:rPr dirty="0" spc="-10"/>
              <a:t>	</a:t>
            </a:r>
            <a:r>
              <a:rPr dirty="0"/>
              <a:t>para</a:t>
            </a:r>
            <a:r>
              <a:rPr dirty="0" spc="-75"/>
              <a:t> </a:t>
            </a:r>
            <a:r>
              <a:rPr dirty="0"/>
              <a:t>permitir</a:t>
            </a:r>
            <a:r>
              <a:rPr dirty="0" spc="-55"/>
              <a:t> </a:t>
            </a:r>
            <a:r>
              <a:rPr dirty="0" spc="-10"/>
              <a:t>operaciones</a:t>
            </a:r>
            <a:r>
              <a:rPr dirty="0" spc="-60"/>
              <a:t> </a:t>
            </a:r>
            <a:r>
              <a:rPr dirty="0"/>
              <a:t>DML</a:t>
            </a:r>
            <a:r>
              <a:rPr dirty="0" spc="-50"/>
              <a:t> </a:t>
            </a:r>
            <a:r>
              <a:rPr dirty="0"/>
              <a:t>en</a:t>
            </a:r>
            <a:r>
              <a:rPr dirty="0" spc="-75"/>
              <a:t> </a:t>
            </a:r>
            <a:r>
              <a:rPr dirty="0"/>
              <a:t>una</a:t>
            </a:r>
            <a:r>
              <a:rPr dirty="0" spc="-60"/>
              <a:t> </a:t>
            </a:r>
            <a:r>
              <a:rPr dirty="0" spc="-10"/>
              <a:t>vista</a:t>
            </a:r>
          </a:p>
          <a:p>
            <a:pPr marL="182880" marR="8255" indent="-170815">
              <a:lnSpc>
                <a:spcPts val="3030"/>
              </a:lnSpc>
              <a:spcBef>
                <a:spcPts val="795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pc="-10"/>
              <a:t>Para</a:t>
            </a:r>
            <a:r>
              <a:rPr dirty="0" spc="-80"/>
              <a:t> </a:t>
            </a:r>
            <a:r>
              <a:rPr dirty="0"/>
              <a:t>las</a:t>
            </a:r>
            <a:r>
              <a:rPr dirty="0" spc="-70"/>
              <a:t> </a:t>
            </a:r>
            <a:r>
              <a:rPr dirty="0"/>
              <a:t>vistas</a:t>
            </a:r>
            <a:r>
              <a:rPr dirty="0" spc="-55"/>
              <a:t> </a:t>
            </a:r>
            <a:r>
              <a:rPr dirty="0"/>
              <a:t>simples,</a:t>
            </a:r>
            <a:r>
              <a:rPr dirty="0" spc="-50"/>
              <a:t> </a:t>
            </a:r>
            <a:r>
              <a:rPr dirty="0"/>
              <a:t>las</a:t>
            </a:r>
            <a:r>
              <a:rPr dirty="0" spc="-85"/>
              <a:t> </a:t>
            </a:r>
            <a:r>
              <a:rPr dirty="0"/>
              <a:t>operaciones</a:t>
            </a:r>
            <a:r>
              <a:rPr dirty="0" spc="-55"/>
              <a:t> </a:t>
            </a:r>
            <a:r>
              <a:rPr dirty="0"/>
              <a:t>DML</a:t>
            </a:r>
            <a:r>
              <a:rPr dirty="0" spc="-60"/>
              <a:t> </a:t>
            </a:r>
            <a:r>
              <a:rPr dirty="0"/>
              <a:t>se</a:t>
            </a:r>
            <a:r>
              <a:rPr dirty="0" spc="-80"/>
              <a:t> </a:t>
            </a:r>
            <a:r>
              <a:rPr dirty="0" spc="-10"/>
              <a:t>pueden </a:t>
            </a:r>
            <a:r>
              <a:rPr dirty="0" spc="-10"/>
              <a:t>	</a:t>
            </a:r>
            <a:r>
              <a:rPr dirty="0"/>
              <a:t>realizar</a:t>
            </a:r>
            <a:r>
              <a:rPr dirty="0" spc="-60"/>
              <a:t> </a:t>
            </a:r>
            <a:r>
              <a:rPr dirty="0"/>
              <a:t>en</a:t>
            </a:r>
            <a:r>
              <a:rPr dirty="0" spc="-35"/>
              <a:t> </a:t>
            </a:r>
            <a:r>
              <a:rPr dirty="0"/>
              <a:t>la</a:t>
            </a:r>
            <a:r>
              <a:rPr dirty="0" spc="-40"/>
              <a:t> </a:t>
            </a:r>
            <a:r>
              <a:rPr dirty="0" spc="-20"/>
              <a:t>vista</a:t>
            </a:r>
          </a:p>
          <a:p>
            <a:pPr marL="182880" marR="760095" indent="-170815">
              <a:lnSpc>
                <a:spcPts val="3030"/>
              </a:lnSpc>
              <a:spcBef>
                <a:spcPts val="79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pc="-10"/>
              <a:t>Para</a:t>
            </a:r>
            <a:r>
              <a:rPr dirty="0" spc="-90"/>
              <a:t> </a:t>
            </a:r>
            <a:r>
              <a:rPr dirty="0"/>
              <a:t>las</a:t>
            </a:r>
            <a:r>
              <a:rPr dirty="0" spc="-85"/>
              <a:t> </a:t>
            </a:r>
            <a:r>
              <a:rPr dirty="0"/>
              <a:t>vistas</a:t>
            </a:r>
            <a:r>
              <a:rPr dirty="0" spc="-75"/>
              <a:t> </a:t>
            </a:r>
            <a:r>
              <a:rPr dirty="0"/>
              <a:t>complejas,</a:t>
            </a:r>
            <a:r>
              <a:rPr dirty="0" spc="-75"/>
              <a:t> </a:t>
            </a:r>
            <a:r>
              <a:rPr dirty="0"/>
              <a:t>las</a:t>
            </a:r>
            <a:r>
              <a:rPr dirty="0" spc="-95"/>
              <a:t> </a:t>
            </a:r>
            <a:r>
              <a:rPr dirty="0"/>
              <a:t>operaciones</a:t>
            </a:r>
            <a:r>
              <a:rPr dirty="0" spc="-75"/>
              <a:t> </a:t>
            </a:r>
            <a:r>
              <a:rPr dirty="0"/>
              <a:t>DML</a:t>
            </a:r>
            <a:r>
              <a:rPr dirty="0" spc="-80"/>
              <a:t> </a:t>
            </a:r>
            <a:r>
              <a:rPr dirty="0" spc="-25"/>
              <a:t>no </a:t>
            </a:r>
            <a:r>
              <a:rPr dirty="0" spc="-25"/>
              <a:t>	</a:t>
            </a:r>
            <a:r>
              <a:rPr dirty="0"/>
              <a:t>siempre</a:t>
            </a:r>
            <a:r>
              <a:rPr dirty="0" spc="-120"/>
              <a:t> </a:t>
            </a:r>
            <a:r>
              <a:rPr dirty="0"/>
              <a:t>están</a:t>
            </a:r>
            <a:r>
              <a:rPr dirty="0" spc="-135"/>
              <a:t> </a:t>
            </a:r>
            <a:r>
              <a:rPr dirty="0" spc="-10"/>
              <a:t>permitidas</a:t>
            </a:r>
          </a:p>
          <a:p>
            <a:pPr marL="182880" marR="244475" indent="-170815">
              <a:lnSpc>
                <a:spcPts val="3030"/>
              </a:lnSpc>
              <a:spcBef>
                <a:spcPts val="78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/>
              <a:t>Las</a:t>
            </a:r>
            <a:r>
              <a:rPr dirty="0" spc="-70"/>
              <a:t> </a:t>
            </a:r>
            <a:r>
              <a:rPr dirty="0"/>
              <a:t>tres</a:t>
            </a:r>
            <a:r>
              <a:rPr dirty="0" spc="-60"/>
              <a:t> </a:t>
            </a:r>
            <a:r>
              <a:rPr dirty="0"/>
              <a:t>reglas</a:t>
            </a:r>
            <a:r>
              <a:rPr dirty="0" spc="-80"/>
              <a:t> </a:t>
            </a:r>
            <a:r>
              <a:rPr dirty="0" spc="-10"/>
              <a:t>siguientes</a:t>
            </a:r>
            <a:r>
              <a:rPr dirty="0" spc="-50"/>
              <a:t> </a:t>
            </a:r>
            <a:r>
              <a:rPr dirty="0"/>
              <a:t>se</a:t>
            </a:r>
            <a:r>
              <a:rPr dirty="0" spc="-65"/>
              <a:t> </a:t>
            </a:r>
            <a:r>
              <a:rPr dirty="0"/>
              <a:t>deben</a:t>
            </a:r>
            <a:r>
              <a:rPr dirty="0" spc="-45"/>
              <a:t> </a:t>
            </a:r>
            <a:r>
              <a:rPr dirty="0"/>
              <a:t>tener</a:t>
            </a:r>
            <a:r>
              <a:rPr dirty="0" spc="-70"/>
              <a:t> </a:t>
            </a:r>
            <a:r>
              <a:rPr dirty="0"/>
              <a:t>en</a:t>
            </a:r>
            <a:r>
              <a:rPr dirty="0" spc="-75"/>
              <a:t> </a:t>
            </a:r>
            <a:r>
              <a:rPr dirty="0"/>
              <a:t>cuenta</a:t>
            </a:r>
            <a:r>
              <a:rPr dirty="0" spc="-40"/>
              <a:t> </a:t>
            </a:r>
            <a:r>
              <a:rPr dirty="0" spc="-25"/>
              <a:t>al </a:t>
            </a:r>
            <a:r>
              <a:rPr dirty="0" spc="-25"/>
              <a:t>	</a:t>
            </a:r>
            <a:r>
              <a:rPr dirty="0"/>
              <a:t>realizar</a:t>
            </a:r>
            <a:r>
              <a:rPr dirty="0" spc="-85"/>
              <a:t> </a:t>
            </a:r>
            <a:r>
              <a:rPr dirty="0"/>
              <a:t>operaciones</a:t>
            </a:r>
            <a:r>
              <a:rPr dirty="0" spc="-50"/>
              <a:t> </a:t>
            </a:r>
            <a:r>
              <a:rPr dirty="0"/>
              <a:t>DML</a:t>
            </a:r>
            <a:r>
              <a:rPr dirty="0" spc="-50"/>
              <a:t> </a:t>
            </a:r>
            <a:r>
              <a:rPr dirty="0"/>
              <a:t>en</a:t>
            </a:r>
            <a:r>
              <a:rPr dirty="0" spc="-75"/>
              <a:t> </a:t>
            </a:r>
            <a:r>
              <a:rPr dirty="0"/>
              <a:t>las</a:t>
            </a:r>
            <a:r>
              <a:rPr dirty="0" spc="-60"/>
              <a:t> </a:t>
            </a:r>
            <a:r>
              <a:rPr dirty="0" spc="-10"/>
              <a:t>vistas</a:t>
            </a: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54952" y="4649723"/>
            <a:ext cx="1889759" cy="1729739"/>
          </a:xfrm>
          <a:prstGeom prst="rect">
            <a:avLst/>
          </a:prstGeom>
        </p:spPr>
      </p:pic>
      <p:sp>
        <p:nvSpPr>
          <p:cNvPr id="5" name="object 5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-10"/>
              <a:t> </a:t>
            </a:r>
            <a:r>
              <a:rPr dirty="0"/>
              <a:t>15-</a:t>
            </a:r>
            <a:r>
              <a:rPr dirty="0" spc="-50"/>
              <a:t>2</a:t>
            </a:r>
          </a:p>
          <a:p>
            <a:pPr marL="12700">
              <a:lnSpc>
                <a:spcPts val="965"/>
              </a:lnSpc>
            </a:pPr>
            <a:r>
              <a:rPr dirty="0" spc="-10"/>
              <a:t>Operaciones</a:t>
            </a:r>
            <a:r>
              <a:rPr dirty="0" spc="30"/>
              <a:t> </a:t>
            </a:r>
            <a:r>
              <a:rPr dirty="0"/>
              <a:t>DML</a:t>
            </a:r>
            <a:r>
              <a:rPr dirty="0" spc="-20"/>
              <a:t> </a:t>
            </a:r>
            <a:r>
              <a:rPr dirty="0"/>
              <a:t>y</a:t>
            </a:r>
            <a:r>
              <a:rPr dirty="0" spc="-10"/>
              <a:t> Vistas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045"/>
              </a:lnSpc>
            </a:pPr>
            <a:r>
              <a:rPr dirty="0" spc="-25"/>
              <a:t>13</a:t>
            </a:r>
          </a:p>
        </p:txBody>
      </p:sp>
      <p:sp>
        <p:nvSpPr>
          <p:cNvPr id="7" name="object 7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Restricciones</a:t>
            </a:r>
            <a:r>
              <a:rPr dirty="0" spc="-55"/>
              <a:t> </a:t>
            </a:r>
            <a:r>
              <a:rPr dirty="0"/>
              <a:t>de</a:t>
            </a:r>
            <a:r>
              <a:rPr dirty="0" spc="-75"/>
              <a:t> </a:t>
            </a:r>
            <a:r>
              <a:rPr dirty="0" spc="-25"/>
              <a:t>DML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83552" y="1415417"/>
            <a:ext cx="7127240" cy="2740025"/>
          </a:xfrm>
          <a:prstGeom prst="rect">
            <a:avLst/>
          </a:prstGeom>
        </p:spPr>
        <p:txBody>
          <a:bodyPr wrap="square" lIns="0" tIns="59690" rIns="0" bIns="0" rtlCol="0" vert="horz">
            <a:spAutoFit/>
          </a:bodyPr>
          <a:lstStyle/>
          <a:p>
            <a:pPr marL="182880" marR="5080" indent="-170815">
              <a:lnSpc>
                <a:spcPts val="3030"/>
              </a:lnSpc>
              <a:spcBef>
                <a:spcPts val="47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No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puede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modificar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datos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una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vista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si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vista 	contiene:</a:t>
            </a:r>
            <a:endParaRPr sz="28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95"/>
              </a:spcBef>
            </a:pPr>
            <a:r>
              <a:rPr dirty="0" sz="2400">
                <a:solidFill>
                  <a:srgbClr val="D1350F"/>
                </a:solidFill>
                <a:latin typeface="Calibri"/>
                <a:cs typeface="Calibri"/>
              </a:rPr>
              <a:t>−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Funciones</a:t>
            </a:r>
            <a:r>
              <a:rPr dirty="0" sz="2400" spc="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400" spc="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4E3629"/>
                </a:solidFill>
                <a:latin typeface="Calibri"/>
                <a:cs typeface="Calibri"/>
              </a:rPr>
              <a:t>grupo</a:t>
            </a:r>
            <a:endParaRPr sz="24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110"/>
              </a:spcBef>
            </a:pPr>
            <a:r>
              <a:rPr dirty="0" sz="2400">
                <a:solidFill>
                  <a:srgbClr val="D1350F"/>
                </a:solidFill>
                <a:latin typeface="Calibri"/>
                <a:cs typeface="Calibri"/>
              </a:rPr>
              <a:t>−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Una cláusula</a:t>
            </a:r>
            <a:r>
              <a:rPr dirty="0" sz="2400" spc="-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GROUP </a:t>
            </a:r>
            <a:r>
              <a:rPr dirty="0" sz="2400" spc="-25">
                <a:solidFill>
                  <a:srgbClr val="4E3629"/>
                </a:solidFill>
                <a:latin typeface="Calibri"/>
                <a:cs typeface="Calibri"/>
              </a:rPr>
              <a:t>BY</a:t>
            </a:r>
            <a:endParaRPr sz="24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110"/>
              </a:spcBef>
            </a:pPr>
            <a:r>
              <a:rPr dirty="0" sz="2400">
                <a:solidFill>
                  <a:srgbClr val="D1350F"/>
                </a:solidFill>
                <a:latin typeface="Calibri"/>
                <a:cs typeface="Calibri"/>
              </a:rPr>
              <a:t>−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40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palabra</a:t>
            </a:r>
            <a:r>
              <a:rPr dirty="0" sz="24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clave</a:t>
            </a:r>
            <a:r>
              <a:rPr dirty="0" sz="240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4E3629"/>
                </a:solidFill>
                <a:latin typeface="Calibri"/>
                <a:cs typeface="Calibri"/>
              </a:rPr>
              <a:t>DISTINCT</a:t>
            </a:r>
            <a:endParaRPr sz="24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120"/>
              </a:spcBef>
            </a:pPr>
            <a:r>
              <a:rPr dirty="0" sz="2400">
                <a:solidFill>
                  <a:srgbClr val="D1350F"/>
                </a:solidFill>
                <a:latin typeface="Calibri"/>
                <a:cs typeface="Calibri"/>
              </a:rPr>
              <a:t>−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4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palabra</a:t>
            </a:r>
            <a:r>
              <a:rPr dirty="0" sz="24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clave</a:t>
            </a:r>
            <a:r>
              <a:rPr dirty="0" sz="24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ROWNUM</a:t>
            </a:r>
            <a:r>
              <a:rPr dirty="0" sz="24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4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4E3629"/>
                </a:solidFill>
                <a:latin typeface="Calibri"/>
                <a:cs typeface="Calibri"/>
              </a:rPr>
              <a:t>pseudocolumna</a:t>
            </a:r>
            <a:endParaRPr sz="24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105"/>
              </a:spcBef>
            </a:pPr>
            <a:r>
              <a:rPr dirty="0" sz="2400">
                <a:solidFill>
                  <a:srgbClr val="D1350F"/>
                </a:solidFill>
                <a:latin typeface="Calibri"/>
                <a:cs typeface="Calibri"/>
              </a:rPr>
              <a:t>−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Columnas</a:t>
            </a:r>
            <a:r>
              <a:rPr dirty="0" sz="2400" spc="-2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definidas</a:t>
            </a:r>
            <a:r>
              <a:rPr dirty="0" sz="2400" spc="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por </a:t>
            </a:r>
            <a:r>
              <a:rPr dirty="0" sz="2400" spc="-10">
                <a:solidFill>
                  <a:srgbClr val="4E3629"/>
                </a:solidFill>
                <a:latin typeface="Calibri"/>
                <a:cs typeface="Calibri"/>
              </a:rPr>
              <a:t>expresiones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54952" y="4649723"/>
            <a:ext cx="1889759" cy="1729739"/>
          </a:xfrm>
          <a:prstGeom prst="rect">
            <a:avLst/>
          </a:prstGeom>
        </p:spPr>
      </p:pic>
      <p:sp>
        <p:nvSpPr>
          <p:cNvPr id="5" name="object 5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-10"/>
              <a:t> </a:t>
            </a:r>
            <a:r>
              <a:rPr dirty="0"/>
              <a:t>15-</a:t>
            </a:r>
            <a:r>
              <a:rPr dirty="0" spc="-50"/>
              <a:t>2</a:t>
            </a:r>
          </a:p>
          <a:p>
            <a:pPr marL="12700">
              <a:lnSpc>
                <a:spcPts val="965"/>
              </a:lnSpc>
            </a:pPr>
            <a:r>
              <a:rPr dirty="0" spc="-10"/>
              <a:t>Operaciones</a:t>
            </a:r>
            <a:r>
              <a:rPr dirty="0" spc="30"/>
              <a:t> </a:t>
            </a:r>
            <a:r>
              <a:rPr dirty="0"/>
              <a:t>DML</a:t>
            </a:r>
            <a:r>
              <a:rPr dirty="0" spc="-20"/>
              <a:t> </a:t>
            </a:r>
            <a:r>
              <a:rPr dirty="0"/>
              <a:t>y</a:t>
            </a:r>
            <a:r>
              <a:rPr dirty="0" spc="-10"/>
              <a:t> Vistas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045"/>
              </a:lnSpc>
            </a:pPr>
            <a:r>
              <a:rPr dirty="0" spc="-25"/>
              <a:t>15</a:t>
            </a:r>
          </a:p>
        </p:txBody>
      </p:sp>
      <p:sp>
        <p:nvSpPr>
          <p:cNvPr id="7" name="object 7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Restricciones</a:t>
            </a:r>
            <a:r>
              <a:rPr dirty="0" spc="-55"/>
              <a:t> </a:t>
            </a:r>
            <a:r>
              <a:rPr dirty="0"/>
              <a:t>de</a:t>
            </a:r>
            <a:r>
              <a:rPr dirty="0" spc="-75"/>
              <a:t> </a:t>
            </a:r>
            <a:r>
              <a:rPr dirty="0" spc="-25"/>
              <a:t>DML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83552" y="1393401"/>
            <a:ext cx="6891020" cy="2757170"/>
          </a:xfrm>
          <a:prstGeom prst="rect">
            <a:avLst/>
          </a:prstGeom>
        </p:spPr>
        <p:txBody>
          <a:bodyPr wrap="square" lIns="0" tIns="34290" rIns="0" bIns="0" rtlCol="0" vert="horz">
            <a:spAutoFit/>
          </a:bodyPr>
          <a:lstStyle/>
          <a:p>
            <a:pPr marL="183515" indent="-170815">
              <a:lnSpc>
                <a:spcPct val="100000"/>
              </a:lnSpc>
              <a:spcBef>
                <a:spcPts val="270"/>
              </a:spcBef>
              <a:buClr>
                <a:srgbClr val="D1350F"/>
              </a:buClr>
              <a:buFont typeface="Arial MT"/>
              <a:buChar char="•"/>
              <a:tabLst>
                <a:tab pos="18351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No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puede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agregar</a:t>
            </a:r>
            <a:r>
              <a:rPr dirty="0" sz="2800" spc="-9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datos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en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una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vista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si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esta:</a:t>
            </a:r>
            <a:endParaRPr sz="28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145"/>
              </a:spcBef>
            </a:pPr>
            <a:r>
              <a:rPr dirty="0" sz="2400">
                <a:solidFill>
                  <a:srgbClr val="D1350F"/>
                </a:solidFill>
                <a:latin typeface="Calibri"/>
                <a:cs typeface="Calibri"/>
              </a:rPr>
              <a:t>−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incluye</a:t>
            </a:r>
            <a:r>
              <a:rPr dirty="0" sz="2400" spc="-2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funciones</a:t>
            </a:r>
            <a:r>
              <a:rPr dirty="0" sz="2400" spc="1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400" spc="1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 spc="-20">
                <a:solidFill>
                  <a:srgbClr val="4E3629"/>
                </a:solidFill>
                <a:latin typeface="Calibri"/>
                <a:cs typeface="Calibri"/>
              </a:rPr>
              <a:t>grupo</a:t>
            </a:r>
            <a:endParaRPr sz="24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110"/>
              </a:spcBef>
            </a:pPr>
            <a:r>
              <a:rPr dirty="0" sz="2400">
                <a:solidFill>
                  <a:srgbClr val="D1350F"/>
                </a:solidFill>
                <a:latin typeface="Calibri"/>
                <a:cs typeface="Calibri"/>
              </a:rPr>
              <a:t>−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incluye</a:t>
            </a:r>
            <a:r>
              <a:rPr dirty="0" sz="24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una</a:t>
            </a:r>
            <a:r>
              <a:rPr dirty="0" sz="2400" spc="-1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cláusula</a:t>
            </a:r>
            <a:r>
              <a:rPr dirty="0" sz="2400" spc="-1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GROUP</a:t>
            </a:r>
            <a:r>
              <a:rPr dirty="0" sz="240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 spc="-25">
                <a:solidFill>
                  <a:srgbClr val="4E3629"/>
                </a:solidFill>
                <a:latin typeface="Calibri"/>
                <a:cs typeface="Calibri"/>
              </a:rPr>
              <a:t>BY</a:t>
            </a:r>
            <a:endParaRPr sz="24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105"/>
              </a:spcBef>
            </a:pPr>
            <a:r>
              <a:rPr dirty="0" sz="2400">
                <a:solidFill>
                  <a:srgbClr val="D1350F"/>
                </a:solidFill>
                <a:latin typeface="Calibri"/>
                <a:cs typeface="Calibri"/>
              </a:rPr>
              <a:t>−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incluye</a:t>
            </a:r>
            <a:r>
              <a:rPr dirty="0" sz="24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4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palabra</a:t>
            </a:r>
            <a:r>
              <a:rPr dirty="0" sz="24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clave</a:t>
            </a:r>
            <a:r>
              <a:rPr dirty="0" sz="24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4E3629"/>
                </a:solidFill>
                <a:latin typeface="Calibri"/>
                <a:cs typeface="Calibri"/>
              </a:rPr>
              <a:t>DISTINCT</a:t>
            </a:r>
            <a:endParaRPr sz="24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120"/>
              </a:spcBef>
            </a:pPr>
            <a:r>
              <a:rPr dirty="0" sz="2400">
                <a:solidFill>
                  <a:srgbClr val="D1350F"/>
                </a:solidFill>
                <a:latin typeface="Calibri"/>
                <a:cs typeface="Calibri"/>
              </a:rPr>
              <a:t>−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incluye</a:t>
            </a:r>
            <a:r>
              <a:rPr dirty="0" sz="24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palabra</a:t>
            </a:r>
            <a:r>
              <a:rPr dirty="0" sz="24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clave</a:t>
            </a:r>
            <a:r>
              <a:rPr dirty="0" sz="24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ROWNUM</a:t>
            </a:r>
            <a:r>
              <a:rPr dirty="0" sz="24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4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4E3629"/>
                </a:solidFill>
                <a:latin typeface="Calibri"/>
                <a:cs typeface="Calibri"/>
              </a:rPr>
              <a:t>pseudocolumna</a:t>
            </a:r>
            <a:endParaRPr sz="24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110"/>
              </a:spcBef>
            </a:pPr>
            <a:r>
              <a:rPr dirty="0" sz="2400">
                <a:solidFill>
                  <a:srgbClr val="D1350F"/>
                </a:solidFill>
                <a:latin typeface="Calibri"/>
                <a:cs typeface="Calibri"/>
              </a:rPr>
              <a:t>−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incluye</a:t>
            </a:r>
            <a:r>
              <a:rPr dirty="0" sz="24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columnas</a:t>
            </a:r>
            <a:r>
              <a:rPr dirty="0" sz="2400" spc="-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definidas</a:t>
            </a:r>
            <a:r>
              <a:rPr dirty="0" sz="240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por</a:t>
            </a:r>
            <a:r>
              <a:rPr dirty="0" sz="2400" spc="-1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4E3629"/>
                </a:solidFill>
                <a:latin typeface="Calibri"/>
                <a:cs typeface="Calibri"/>
              </a:rPr>
              <a:t>expresiones</a:t>
            </a:r>
            <a:endParaRPr sz="24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110"/>
              </a:spcBef>
            </a:pPr>
            <a:r>
              <a:rPr dirty="0" sz="2400" spc="50">
                <a:solidFill>
                  <a:srgbClr val="D1350F"/>
                </a:solidFill>
                <a:latin typeface="Calibri"/>
                <a:cs typeface="Calibri"/>
              </a:rPr>
              <a:t>−</a:t>
            </a:r>
            <a:r>
              <a:rPr dirty="0" sz="2400" spc="50">
                <a:solidFill>
                  <a:srgbClr val="4E3629"/>
                </a:solidFill>
                <a:latin typeface="Calibri"/>
                <a:cs typeface="Calibri"/>
              </a:rPr>
              <a:t>no</a:t>
            </a:r>
            <a:r>
              <a:rPr dirty="0" sz="24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incluye</a:t>
            </a:r>
            <a:r>
              <a:rPr dirty="0" sz="24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columnas</a:t>
            </a:r>
            <a:r>
              <a:rPr dirty="0" sz="24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NOT</a:t>
            </a:r>
            <a:r>
              <a:rPr dirty="0" sz="24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NULL</a:t>
            </a:r>
            <a:r>
              <a:rPr dirty="0" sz="24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en</a:t>
            </a:r>
            <a:r>
              <a:rPr dirty="0" sz="24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las</a:t>
            </a:r>
            <a:r>
              <a:rPr dirty="0" sz="24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tablas</a:t>
            </a:r>
            <a:r>
              <a:rPr dirty="0" sz="24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 spc="-20">
                <a:solidFill>
                  <a:srgbClr val="4E3629"/>
                </a:solidFill>
                <a:latin typeface="Calibri"/>
                <a:cs typeface="Calibri"/>
              </a:rPr>
              <a:t>base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54952" y="4649723"/>
            <a:ext cx="1889759" cy="1729739"/>
          </a:xfrm>
          <a:prstGeom prst="rect">
            <a:avLst/>
          </a:prstGeom>
        </p:spPr>
      </p:pic>
      <p:sp>
        <p:nvSpPr>
          <p:cNvPr id="5" name="object 5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-10"/>
              <a:t> </a:t>
            </a:r>
            <a:r>
              <a:rPr dirty="0"/>
              <a:t>15-</a:t>
            </a:r>
            <a:r>
              <a:rPr dirty="0" spc="-50"/>
              <a:t>2</a:t>
            </a:r>
          </a:p>
          <a:p>
            <a:pPr marL="12700">
              <a:lnSpc>
                <a:spcPts val="965"/>
              </a:lnSpc>
            </a:pPr>
            <a:r>
              <a:rPr dirty="0" spc="-10"/>
              <a:t>Operaciones</a:t>
            </a:r>
            <a:r>
              <a:rPr dirty="0" spc="30"/>
              <a:t> </a:t>
            </a:r>
            <a:r>
              <a:rPr dirty="0"/>
              <a:t>DML</a:t>
            </a:r>
            <a:r>
              <a:rPr dirty="0" spc="-20"/>
              <a:t> </a:t>
            </a:r>
            <a:r>
              <a:rPr dirty="0"/>
              <a:t>y</a:t>
            </a:r>
            <a:r>
              <a:rPr dirty="0" spc="-10"/>
              <a:t> Vistas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045"/>
              </a:lnSpc>
            </a:pPr>
            <a:r>
              <a:rPr dirty="0" spc="-25"/>
              <a:t>16</a:t>
            </a:r>
          </a:p>
        </p:txBody>
      </p:sp>
      <p:sp>
        <p:nvSpPr>
          <p:cNvPr id="7" name="object 7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Oracle Academy</dc:creator>
  <dc:title>PowerPoint Presentation</dc:title>
  <dcterms:created xsi:type="dcterms:W3CDTF">2025-06-01T18:32:23Z</dcterms:created>
  <dcterms:modified xsi:type="dcterms:W3CDTF">2025-06-01T18:32:23Z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2025-04-28T00:00:00Z</vt:filetime>
  </property>
  <property fmtid="{D5CDD505-2E9C-101B-9397-08002B2CF9AE}" pid="3" name="Creator">
    <vt:lpwstr>Acrobat PDFMaker 20 for PowerPoint</vt:lpwstr>
  </property>
  <property fmtid="{D5CDD505-2E9C-101B-9397-08002B2CF9AE}" pid="4" name="LastSaved">
    <vt:filetime>2025-06-01T00:00:00Z</vt:filetime>
  </property>
  <property fmtid="{D5CDD505-2E9C-101B-9397-08002B2CF9AE}" pid="5" name="Producer">
    <vt:lpwstr>macOS Version 15.3.1 (Build 24D70) Quartz PDFContext</vt:lpwstr>
  </property>
</Properties>
</file>