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/Relationships>
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/Relationships>
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/Relationships>
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/Relationships>
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19:10:13</a:t>
            </a:r>
          </a:p>
          <a:p>
            <a:r>
              <a:t>--------------------------------------------</a:t>
            </a:r>
          </a:p>
          <a:p>
            <a:r>
              <a:t>Una vez que el administrador de base de datos crea una VISTA, el usuario simplemente consulta la VISTA como si se tratase de una tabla.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6725920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0412" y="1921741"/>
            <a:ext cx="7467600" cy="3882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829945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slide1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slide1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slide1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slide" Target="slide1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slide1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232791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15-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Creación</a:t>
            </a:r>
            <a:r>
              <a:rPr dirty="0" sz="2400" spc="-7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46576" y="3485388"/>
            <a:ext cx="5058156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59690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Ver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13395" cy="354711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8293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embargo,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"reales"</a:t>
            </a:r>
            <a:endParaRPr sz="2800">
              <a:latin typeface="Calibri"/>
              <a:cs typeface="Calibri"/>
            </a:endParaRPr>
          </a:p>
          <a:p>
            <a:pPr marL="159385" marR="848360" indent="-147320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Son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representaciones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lógicas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existentes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otra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vista</a:t>
            </a:r>
            <a:endParaRPr sz="28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spcBef>
                <a:spcPts val="405"/>
              </a:spcBef>
              <a:buClr>
                <a:srgbClr val="D1350F"/>
              </a:buClr>
              <a:buFont typeface="Arial MT"/>
              <a:buChar char="•"/>
              <a:tabLst>
                <a:tab pos="160020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1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vistas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contienen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propios</a:t>
            </a:r>
            <a:endParaRPr sz="2800">
              <a:latin typeface="Calibri"/>
              <a:cs typeface="Calibri"/>
            </a:endParaRPr>
          </a:p>
          <a:p>
            <a:pPr marL="159385" marR="5080" indent="-147320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Funcionan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ventana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por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ver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cambiar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59690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Ver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484109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denominan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"base"</a:t>
            </a:r>
            <a:endParaRPr sz="2800">
              <a:latin typeface="Calibri"/>
              <a:cs typeface="Calibri"/>
            </a:endParaRPr>
          </a:p>
          <a:p>
            <a:pPr marL="182880" marR="57531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almacenada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diccionario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341204" y="4456976"/>
          <a:ext cx="4480560" cy="1889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2850"/>
                <a:gridCol w="1120775"/>
                <a:gridCol w="1033779"/>
                <a:gridCol w="1022985"/>
              </a:tblGrid>
              <a:tr h="2362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Steven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marL="71755">
                        <a:lnSpc>
                          <a:spcPts val="1680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8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Neena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8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8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NKOCHHAR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marL="71755">
                        <a:lnSpc>
                          <a:spcPts val="1680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80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Lex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80"/>
                        </a:lnSpc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4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8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LDEHAAN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marL="71755">
                        <a:lnSpc>
                          <a:spcPts val="1680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8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Kevin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8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8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KMOURGOS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marL="71755">
                        <a:lnSpc>
                          <a:spcPts val="1675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75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Alexander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75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Hunold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75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AHUNOLD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marL="71755">
                        <a:lnSpc>
                          <a:spcPts val="1675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75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Bruce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75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Ernst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75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BERNST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marL="71755">
                        <a:lnSpc>
                          <a:spcPts val="1675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75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Diana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75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Lorentz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75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DLORENTZ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393191" y="3182111"/>
            <a:ext cx="8345805" cy="115252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view_employees</a:t>
            </a:r>
            <a:endParaRPr sz="1800">
              <a:latin typeface="Courier New"/>
              <a:cs typeface="Courier New"/>
            </a:endParaRPr>
          </a:p>
          <a:p>
            <a:pPr marL="409575" marR="1513205" indent="-410209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employee_id,first_name,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email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40957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BETWEEN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100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and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124;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3191" y="4460747"/>
            <a:ext cx="3436620" cy="57658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4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*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view_employees;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¿Por</a:t>
            </a:r>
            <a:r>
              <a:rPr dirty="0" spc="-105"/>
              <a:t> </a:t>
            </a:r>
            <a:r>
              <a:rPr dirty="0"/>
              <a:t>Qué</a:t>
            </a:r>
            <a:r>
              <a:rPr dirty="0" spc="-70"/>
              <a:t> </a:t>
            </a:r>
            <a:r>
              <a:rPr dirty="0"/>
              <a:t>Utilizar</a:t>
            </a:r>
            <a:r>
              <a:rPr dirty="0" spc="-95"/>
              <a:t> </a:t>
            </a:r>
            <a:r>
              <a:rPr dirty="0" spc="-10"/>
              <a:t>Vistas?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9989"/>
            <a:ext cx="8173720" cy="439547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84785" marR="661035" indent="-172720">
              <a:lnSpc>
                <a:spcPts val="2810"/>
              </a:lnSpc>
              <a:spcBef>
                <a:spcPts val="45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6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vistas</a:t>
            </a:r>
            <a:r>
              <a:rPr dirty="0" u="heavy" sz="26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restringen</a:t>
            </a:r>
            <a:r>
              <a:rPr dirty="0" u="heavy" sz="26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6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acceso</a:t>
            </a:r>
            <a:r>
              <a:rPr dirty="0" u="heavy" sz="26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6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6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</a:t>
            </a:r>
            <a:r>
              <a:rPr dirty="0" u="heavy" sz="26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</a:t>
            </a:r>
            <a:r>
              <a:rPr dirty="0" u="heavy" sz="26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porque</a:t>
            </a:r>
            <a:r>
              <a:rPr dirty="0" u="heavy" sz="26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vista</a:t>
            </a:r>
            <a:r>
              <a:rPr dirty="0" u="heavy" sz="26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</a:t>
            </a:r>
            <a:r>
              <a:rPr dirty="0" u="heavy" sz="26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mostrar</a:t>
            </a:r>
            <a:r>
              <a:rPr dirty="0" u="heavy" sz="26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6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columnas</a:t>
            </a:r>
            <a:r>
              <a:rPr dirty="0" u="heavy" sz="26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selectivas</a:t>
            </a:r>
            <a:r>
              <a:rPr dirty="0" u="heavy" sz="26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6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6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</a:t>
            </a:r>
            <a:endParaRPr sz="2600">
              <a:latin typeface="Calibri"/>
              <a:cs typeface="Calibri"/>
            </a:endParaRPr>
          </a:p>
          <a:p>
            <a:pPr marL="184150" marR="554355" indent="-172085">
              <a:lnSpc>
                <a:spcPts val="2810"/>
              </a:lnSpc>
              <a:spcBef>
                <a:spcPts val="800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6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vistas</a:t>
            </a:r>
            <a:r>
              <a:rPr dirty="0" u="heavy" sz="26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6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pueden</a:t>
            </a:r>
            <a:r>
              <a:rPr dirty="0" u="heavy" sz="26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utilizar</a:t>
            </a:r>
            <a:r>
              <a:rPr dirty="0" u="heavy" sz="26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6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reducir</a:t>
            </a:r>
            <a:r>
              <a:rPr dirty="0" u="heavy" sz="26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6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complejidad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6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ejecución</a:t>
            </a:r>
            <a:r>
              <a:rPr dirty="0" u="heavy" sz="26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6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6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consultas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basadas</a:t>
            </a:r>
            <a:r>
              <a:rPr dirty="0" u="heavy" sz="26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sentencias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SELECT</a:t>
            </a:r>
            <a:r>
              <a:rPr dirty="0" u="heavy" sz="26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complicada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  <a:p>
            <a:pPr marL="184785" marR="324485" indent="-172720">
              <a:lnSpc>
                <a:spcPts val="281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creador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construir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sentencias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recuperen</a:t>
            </a:r>
            <a:r>
              <a:rPr dirty="0" sz="26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varias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endParaRPr sz="2600">
              <a:latin typeface="Calibri"/>
              <a:cs typeface="Calibri"/>
            </a:endParaRPr>
          </a:p>
          <a:p>
            <a:pPr marL="184785" marR="1252855" indent="-172720">
              <a:lnSpc>
                <a:spcPts val="2810"/>
              </a:lnSpc>
              <a:spcBef>
                <a:spcPts val="8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6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6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vista</a:t>
            </a:r>
            <a:r>
              <a:rPr dirty="0" u="heavy" sz="26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ve</a:t>
            </a:r>
            <a:r>
              <a:rPr dirty="0" u="heavy" sz="26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6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código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subyacente</a:t>
            </a:r>
            <a:r>
              <a:rPr dirty="0" u="heavy" sz="26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ni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cómo</a:t>
            </a:r>
            <a:r>
              <a:rPr dirty="0" u="heavy" sz="26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crearlo</a:t>
            </a:r>
            <a:endParaRPr sz="2600">
              <a:latin typeface="Calibri"/>
              <a:cs typeface="Calibri"/>
            </a:endParaRPr>
          </a:p>
          <a:p>
            <a:pPr marL="184785" marR="5080" indent="-172720">
              <a:lnSpc>
                <a:spcPts val="2810"/>
              </a:lnSpc>
              <a:spcBef>
                <a:spcPts val="8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usuario,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interactúa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datos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6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consultas</a:t>
            </a:r>
            <a:r>
              <a:rPr dirty="0" sz="26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simples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¿Por</a:t>
            </a:r>
            <a:r>
              <a:rPr dirty="0" spc="-105"/>
              <a:t> </a:t>
            </a:r>
            <a:r>
              <a:rPr dirty="0"/>
              <a:t>Qué</a:t>
            </a:r>
            <a:r>
              <a:rPr dirty="0" spc="-70"/>
              <a:t> </a:t>
            </a:r>
            <a:r>
              <a:rPr dirty="0"/>
              <a:t>Utilizar</a:t>
            </a:r>
            <a:r>
              <a:rPr dirty="0" spc="-95"/>
              <a:t> </a:t>
            </a:r>
            <a:r>
              <a:rPr dirty="0" spc="-10"/>
              <a:t>Vistas?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78800" cy="29603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7145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recuperar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varias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tablas,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proporcionando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independencia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endParaRPr sz="2800">
              <a:latin typeface="Calibri"/>
              <a:cs typeface="Calibri"/>
            </a:endParaRPr>
          </a:p>
          <a:p>
            <a:pPr marL="182880" marR="148653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distintas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formas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proporcionan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acceso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según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permisos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criterios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concretos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Creación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Vistas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580630" cy="13220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embeba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subconsulta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CREATE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VIEW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view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05384" y="3182111"/>
            <a:ext cx="8345805" cy="1152525"/>
          </a:xfrm>
          <a:custGeom>
            <a:avLst/>
            <a:gdLst/>
            <a:ahLst/>
            <a:cxnLst/>
            <a:rect l="l" t="t" r="r" b="b"/>
            <a:pathLst>
              <a:path w="8345805" h="1152525">
                <a:moveTo>
                  <a:pt x="8345424" y="0"/>
                </a:moveTo>
                <a:lnTo>
                  <a:pt x="0" y="0"/>
                </a:lnTo>
                <a:lnTo>
                  <a:pt x="0" y="1152144"/>
                </a:lnTo>
                <a:lnTo>
                  <a:pt x="8345424" y="1152144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956488" y="3168903"/>
            <a:ext cx="1377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[(alias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[,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12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404812" y="3168903"/>
            <a:ext cx="629158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[OR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REPLACE]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[FORCE|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NOFORCE]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endParaRPr sz="1800">
              <a:latin typeface="Courier New"/>
              <a:cs typeface="Courier New"/>
            </a:endParaRPr>
          </a:p>
          <a:p>
            <a:pPr marL="40957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alias]...)]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subquery</a:t>
            </a:r>
            <a:endParaRPr sz="1800">
              <a:latin typeface="Courier New"/>
              <a:cs typeface="Courier New"/>
            </a:endParaRPr>
          </a:p>
          <a:p>
            <a:pPr marR="41275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[WITH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CHECK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OPTION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[CONSTRAINT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constraint]]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[WITH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READ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ONLY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[CONSTRAINT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constraint]];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Creación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Vistas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13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98512" y="1921741"/>
          <a:ext cx="7467600" cy="3882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5170"/>
                <a:gridCol w="4113529"/>
              </a:tblGrid>
              <a:tr h="5403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REPLACE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7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Vuelve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crear la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ya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existe.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7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FORCE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88595">
                        <a:lnSpc>
                          <a:spcPct val="100699"/>
                        </a:lnSpc>
                        <a:spcBef>
                          <a:spcPts val="24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independientemente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existen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tablas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base.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NOFORCE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201295">
                        <a:lnSpc>
                          <a:spcPct val="100699"/>
                        </a:lnSpc>
                        <a:spcBef>
                          <a:spcPts val="24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solo si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existe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(opción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por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defecto).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view_name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7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Especifica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nombre de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71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alias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560070">
                        <a:lnSpc>
                          <a:spcPct val="100699"/>
                        </a:lnSpc>
                        <a:spcBef>
                          <a:spcPts val="24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Especifica</a:t>
                      </a:r>
                      <a:r>
                        <a:rPr dirty="0" sz="16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nombre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cada</a:t>
                      </a:r>
                      <a:r>
                        <a:rPr dirty="0" sz="16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expresión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seleccionada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por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consulta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066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subconsulta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63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582295">
                        <a:lnSpc>
                          <a:spcPct val="100200"/>
                        </a:lnSpc>
                        <a:spcBef>
                          <a:spcPts val="254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6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sentencia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completa.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utilizar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alias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columnas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lista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SELECT.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subconsulta</a:t>
                      </a:r>
                      <a:r>
                        <a:rPr dirty="0" sz="16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contener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sintaxis</a:t>
                      </a:r>
                      <a:r>
                        <a:rPr dirty="0" sz="1600" spc="-9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compleja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Creación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Vistas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98512" y="1921741"/>
          <a:ext cx="7467600" cy="3882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5170"/>
                <a:gridCol w="4113529"/>
              </a:tblGrid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637540">
                        <a:lnSpc>
                          <a:spcPct val="100299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Especifica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filas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siguen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estando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accesibles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después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operaciones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inserción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actualización.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CONSTRAINT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327660">
                        <a:lnSpc>
                          <a:spcPct val="100699"/>
                        </a:lnSpc>
                        <a:spcBef>
                          <a:spcPts val="24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nombre</a:t>
                      </a:r>
                      <a:r>
                        <a:rPr dirty="0" sz="16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asignado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restricción</a:t>
                      </a:r>
                      <a:r>
                        <a:rPr dirty="0" sz="1600" spc="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CHECK OPTION.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456565">
                        <a:lnSpc>
                          <a:spcPct val="100699"/>
                        </a:lnSpc>
                        <a:spcBef>
                          <a:spcPts val="24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Garantiza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pueda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realizar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ninguna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operación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DML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esta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Creación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Vistas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15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14674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95539" y="3870589"/>
          <a:ext cx="7644765" cy="2199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7655"/>
                <a:gridCol w="1393825"/>
                <a:gridCol w="2716530"/>
                <a:gridCol w="1889760"/>
              </a:tblGrid>
              <a:tr h="250825">
                <a:tc>
                  <a:txBody>
                    <a:bodyPr/>
                    <a:lstStyle/>
                    <a:p>
                      <a:pPr marL="71755">
                        <a:lnSpc>
                          <a:spcPts val="185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COUNTRY_ID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5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REGION_ID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5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COUNTRY_NAME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50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CAPITOL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155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Bailiwick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Guernsey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Saint</a:t>
                      </a:r>
                      <a:r>
                        <a:rPr dirty="0" sz="16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Peter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Port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155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Bailiwick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Jersey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Saint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Helier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387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Bosnia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Herzegovina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Sarajevo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151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Czech</a:t>
                      </a:r>
                      <a:r>
                        <a:rPr dirty="0" sz="16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Prague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048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298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154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Faroe</a:t>
                      </a:r>
                      <a:r>
                        <a:rPr dirty="0" sz="1600" spc="-9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Islands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Torshavn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048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155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Federal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600" spc="-7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Germany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Berlin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048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155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French</a:t>
                      </a:r>
                      <a:r>
                        <a:rPr dirty="0" sz="16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Paris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6985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1825751"/>
            <a:ext cx="8345805" cy="115252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REPLACE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view_euro_countries</a:t>
            </a:r>
            <a:endParaRPr sz="1800">
              <a:latin typeface="Courier New"/>
              <a:cs typeface="Courier New"/>
            </a:endParaRPr>
          </a:p>
          <a:p>
            <a:pPr marL="408940" marR="966469" indent="-410209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country_id,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region_id,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country_name,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capitol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wf_countries</a:t>
            </a:r>
            <a:endParaRPr sz="1800">
              <a:latin typeface="Courier New"/>
              <a:cs typeface="Courier New"/>
            </a:endParaRPr>
          </a:p>
          <a:p>
            <a:pPr marL="40894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location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LIKE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'%Europe';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3191" y="3122676"/>
            <a:ext cx="8345805" cy="6096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3175" rIns="0" bIns="0" rtlCol="0" vert="horz">
            <a:spAutoFit/>
          </a:bodyPr>
          <a:lstStyle/>
          <a:p>
            <a:pPr marR="3832225">
              <a:lnSpc>
                <a:spcPct val="100000"/>
              </a:lnSpc>
              <a:spcBef>
                <a:spcPts val="2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*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view_euro_countries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ORDER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country_name;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Instrucciones</a:t>
            </a:r>
            <a:r>
              <a:rPr dirty="0" spc="-65"/>
              <a:t> </a:t>
            </a:r>
            <a:r>
              <a:rPr dirty="0"/>
              <a:t>para</a:t>
            </a:r>
            <a:r>
              <a:rPr dirty="0" spc="-100"/>
              <a:t> </a:t>
            </a:r>
            <a:r>
              <a:rPr dirty="0"/>
              <a:t>la</a:t>
            </a:r>
            <a:r>
              <a:rPr dirty="0" spc="-95"/>
              <a:t> </a:t>
            </a:r>
            <a:r>
              <a:rPr dirty="0"/>
              <a:t>Creación</a:t>
            </a:r>
            <a:r>
              <a:rPr dirty="0" spc="-95"/>
              <a:t> </a:t>
            </a:r>
            <a:r>
              <a:rPr dirty="0"/>
              <a:t>de</a:t>
            </a:r>
            <a:r>
              <a:rPr dirty="0" spc="-85"/>
              <a:t> </a:t>
            </a:r>
            <a:r>
              <a:rPr dirty="0" spc="-10"/>
              <a:t>Vistas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8027670" cy="451167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178435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subconsulta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define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contener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compleja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ct val="8000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razones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rendimiento,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subconsulta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define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vista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debe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contener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ninguna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cláusula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ORDER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BY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.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ORDER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mejor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recuperar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endParaRPr sz="2800">
              <a:latin typeface="Calibri"/>
              <a:cs typeface="Calibri"/>
            </a:endParaRPr>
          </a:p>
          <a:p>
            <a:pPr marL="182880" marR="313690" indent="-170815">
              <a:lnSpc>
                <a:spcPct val="8000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opción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REPLACE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definición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tener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borrarla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sin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necesidad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volver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otorgarle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r>
              <a:rPr dirty="0" sz="2800" spc="-1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otorgados</a:t>
            </a:r>
            <a:r>
              <a:rPr dirty="0" sz="2800" spc="-114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previamente</a:t>
            </a:r>
            <a:endParaRPr sz="2800">
              <a:latin typeface="Calibri"/>
              <a:cs typeface="Calibri"/>
            </a:endParaRPr>
          </a:p>
          <a:p>
            <a:pPr marL="182880" marR="191135" indent="-170815">
              <a:lnSpc>
                <a:spcPct val="80000"/>
              </a:lnSpc>
              <a:spcBef>
                <a:spcPts val="81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alias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subconsulta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721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74191" y="6489343"/>
            <a:ext cx="829944" cy="271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65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DP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15-</a:t>
            </a:r>
            <a:r>
              <a:rPr dirty="0" sz="850" spc="-5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ts val="965"/>
              </a:lnSpc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Creación</a:t>
            </a:r>
            <a:r>
              <a:rPr dirty="0" sz="85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Funciones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105"/>
              <a:t> </a:t>
            </a:r>
            <a:r>
              <a:rPr dirty="0" spc="-35"/>
              <a:t>CREATE</a:t>
            </a:r>
            <a:r>
              <a:rPr dirty="0" spc="-90"/>
              <a:t> </a:t>
            </a:r>
            <a:r>
              <a:rPr dirty="0" spc="-20"/>
              <a:t>VIEW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83552" y="1415417"/>
            <a:ext cx="7336155" cy="13220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2255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clasificaciones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vistas: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simples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complejas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resumen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626856" y="6562597"/>
            <a:ext cx="13525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17</a:t>
            </a:r>
            <a:endParaRPr sz="850">
              <a:latin typeface="Calibri"/>
              <a:cs typeface="Calibri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384290" y="3326009"/>
          <a:ext cx="8437880" cy="2592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6570"/>
                <a:gridCol w="2491739"/>
                <a:gridCol w="2819400"/>
              </a:tblGrid>
              <a:tr h="299085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Función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Vistas</a:t>
                      </a:r>
                      <a:r>
                        <a:rPr dirty="0" sz="1800" spc="-8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Simples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Vistas</a:t>
                      </a:r>
                      <a:r>
                        <a:rPr dirty="0" sz="1800" spc="-7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Complejas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marL="19685" marR="371475">
                        <a:lnSpc>
                          <a:spcPts val="2180"/>
                        </a:lnSpc>
                        <a:spcBef>
                          <a:spcPts val="35"/>
                        </a:spcBef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Número</a:t>
                      </a:r>
                      <a:r>
                        <a:rPr dirty="0" sz="1800" spc="-4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800" spc="-3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tablas</a:t>
                      </a:r>
                      <a:r>
                        <a:rPr dirty="0" sz="1800" spc="-4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utilizadas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800" spc="-5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derivar</a:t>
                      </a:r>
                      <a:r>
                        <a:rPr dirty="0" sz="1800" spc="-6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datos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8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más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9085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1800" spc="-7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contener</a:t>
                      </a:r>
                      <a:r>
                        <a:rPr dirty="0" sz="1800" spc="-6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funciones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Sí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marL="19685" marR="404495">
                        <a:lnSpc>
                          <a:spcPts val="2180"/>
                        </a:lnSpc>
                        <a:spcBef>
                          <a:spcPts val="35"/>
                        </a:spcBef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Pueden</a:t>
                      </a:r>
                      <a:r>
                        <a:rPr dirty="0" sz="1800" spc="-6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contener</a:t>
                      </a:r>
                      <a:r>
                        <a:rPr dirty="0" sz="1800" spc="-5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grupos</a:t>
                      </a:r>
                      <a:r>
                        <a:rPr dirty="0" sz="1800" spc="-6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datos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Sí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847725">
                <a:tc>
                  <a:txBody>
                    <a:bodyPr/>
                    <a:lstStyle/>
                    <a:p>
                      <a:pPr marL="19685" marR="59055">
                        <a:lnSpc>
                          <a:spcPts val="2160"/>
                        </a:lnSpc>
                        <a:spcBef>
                          <a:spcPts val="50"/>
                        </a:spcBef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1800" spc="-6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realizar</a:t>
                      </a:r>
                      <a:r>
                        <a:rPr dirty="0" sz="1800" spc="-6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operaciones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DML</a:t>
                      </a:r>
                      <a:r>
                        <a:rPr dirty="0" sz="1800" spc="-3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(INSERT,</a:t>
                      </a:r>
                      <a:r>
                        <a:rPr dirty="0" sz="1800" spc="-3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UPDATE,</a:t>
                      </a:r>
                      <a:r>
                        <a:rPr dirty="0" sz="1800" spc="-4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DELETE)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9685">
                        <a:lnSpc>
                          <a:spcPts val="2110"/>
                        </a:lnSpc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800" spc="-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800" spc="-1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Sí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siempre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Vista</a:t>
            </a:r>
            <a:r>
              <a:rPr dirty="0" spc="-140"/>
              <a:t> </a:t>
            </a:r>
            <a:r>
              <a:rPr dirty="0" spc="-10"/>
              <a:t>Simple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18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66100" cy="33445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30416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simple</a:t>
            </a:r>
            <a:endParaRPr sz="2800">
              <a:latin typeface="Calibri"/>
              <a:cs typeface="Calibri"/>
            </a:endParaRPr>
          </a:p>
          <a:p>
            <a:pPr marL="182880" marR="13017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subconsulta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deriva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partir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única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contiene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ninguna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Puesto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simple,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operaciones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INSERT,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UPDATE,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DELETE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MERGE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afectan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base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podrían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3191" y="4835652"/>
            <a:ext cx="8345805" cy="114935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6985" rIns="0" bIns="0" rtlCol="0" vert="horz">
            <a:spAutoFit/>
          </a:bodyPr>
          <a:lstStyle/>
          <a:p>
            <a:pPr marR="2466975">
              <a:lnSpc>
                <a:spcPts val="2160"/>
              </a:lnSpc>
              <a:spcBef>
                <a:spcPts val="5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REPLACE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view_euro_countries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country_id,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country_name,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capitol</a:t>
            </a:r>
            <a:endParaRPr sz="1800">
              <a:latin typeface="Courier New"/>
              <a:cs typeface="Courier New"/>
            </a:endParaRPr>
          </a:p>
          <a:p>
            <a:pPr marL="409575">
              <a:lnSpc>
                <a:spcPts val="209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wf_countries</a:t>
            </a:r>
            <a:endParaRPr sz="1800">
              <a:latin typeface="Courier New"/>
              <a:cs typeface="Courier New"/>
            </a:endParaRPr>
          </a:p>
          <a:p>
            <a:pPr marL="40957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location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LIKE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'%Europe';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Vista</a:t>
            </a:r>
            <a:r>
              <a:rPr dirty="0" spc="-140"/>
              <a:t> </a:t>
            </a:r>
            <a:r>
              <a:rPr dirty="0" spc="-10"/>
              <a:t>Simple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19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32700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SELECT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tener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alias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</a:t>
            </a:r>
            <a:endParaRPr sz="2800">
              <a:latin typeface="Calibri"/>
              <a:cs typeface="Calibri"/>
            </a:endParaRPr>
          </a:p>
          <a:p>
            <a:pPr marL="182880" marR="24701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Tenga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alias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pueden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enumerar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después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CREATE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VIEW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antes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subconsulta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3541776"/>
            <a:ext cx="8345805" cy="11963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6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OR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REPLACE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view_euro_countries</a:t>
            </a:r>
            <a:endParaRPr sz="1600">
              <a:latin typeface="Courier New"/>
              <a:cs typeface="Courier New"/>
            </a:endParaRPr>
          </a:p>
          <a:p>
            <a:pPr marL="730885" marR="1497330" indent="-731520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country_id</a:t>
            </a:r>
            <a:r>
              <a:rPr dirty="0" sz="16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AS</a:t>
            </a:r>
            <a:r>
              <a:rPr dirty="0" sz="1600" spc="-4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"ID"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,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country_name</a:t>
            </a:r>
            <a:r>
              <a:rPr dirty="0" sz="1600" spc="-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AS</a:t>
            </a:r>
            <a:r>
              <a:rPr dirty="0" sz="1600" spc="-5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D1350F"/>
                </a:solidFill>
                <a:latin typeface="Courier New"/>
                <a:cs typeface="Courier New"/>
              </a:rPr>
              <a:t>"Country"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,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capitol</a:t>
            </a:r>
            <a:r>
              <a:rPr dirty="0" sz="16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AS</a:t>
            </a:r>
            <a:r>
              <a:rPr dirty="0" sz="1600" spc="-4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"Capitol</a:t>
            </a:r>
            <a:r>
              <a:rPr dirty="0" sz="1600" spc="-4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D1350F"/>
                </a:solidFill>
                <a:latin typeface="Courier New"/>
                <a:cs typeface="Courier New"/>
              </a:rPr>
              <a:t>City"</a:t>
            </a:r>
            <a:endParaRPr sz="16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600" spc="-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wf_countries</a:t>
            </a:r>
            <a:endParaRPr sz="160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location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LIKE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'%Europe';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4853940"/>
            <a:ext cx="8345805" cy="121348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4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6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OR</a:t>
            </a:r>
            <a:r>
              <a:rPr dirty="0" sz="16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REPLACE</a:t>
            </a:r>
            <a:r>
              <a:rPr dirty="0" sz="16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6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view_euro_countries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("ID",</a:t>
            </a:r>
            <a:r>
              <a:rPr dirty="0" sz="16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D1350F"/>
                </a:solidFill>
                <a:latin typeface="Courier New"/>
                <a:cs typeface="Courier New"/>
              </a:rPr>
              <a:t>"Country",</a:t>
            </a:r>
            <a:endParaRPr sz="1600">
              <a:latin typeface="Courier New"/>
              <a:cs typeface="Courier New"/>
            </a:endParaRPr>
          </a:p>
          <a:p>
            <a:pPr marL="487045">
              <a:lnSpc>
                <a:spcPct val="100000"/>
              </a:lnSpc>
            </a:pP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"Capitol</a:t>
            </a:r>
            <a:r>
              <a:rPr dirty="0" sz="16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D1350F"/>
                </a:solidFill>
                <a:latin typeface="Courier New"/>
                <a:cs typeface="Courier New"/>
              </a:rPr>
              <a:t>City")</a:t>
            </a:r>
            <a:endParaRPr sz="1600">
              <a:latin typeface="Courier New"/>
              <a:cs typeface="Courier New"/>
            </a:endParaRPr>
          </a:p>
          <a:p>
            <a:pPr marL="365125" marR="3088005" indent="-366395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6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6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country_id,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country_name,</a:t>
            </a:r>
            <a:r>
              <a:rPr dirty="0" sz="16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capitol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600" spc="-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wf_countries</a:t>
            </a:r>
            <a:endParaRPr sz="1600">
              <a:latin typeface="Courier New"/>
              <a:cs typeface="Courier New"/>
            </a:endParaRPr>
          </a:p>
          <a:p>
            <a:pPr marL="365125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location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LIKE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'%Europe';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Vista</a:t>
            </a:r>
            <a:r>
              <a:rPr dirty="0" spc="-140"/>
              <a:t> </a:t>
            </a:r>
            <a:r>
              <a:rPr dirty="0" spc="-10"/>
              <a:t>Compleja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21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8926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34671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complejas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contener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deriva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3191" y="3157727"/>
            <a:ext cx="8345805" cy="191579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2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REPLACE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view_euro_countries</a:t>
            </a:r>
            <a:endParaRPr sz="1800">
              <a:latin typeface="Courier New"/>
              <a:cs typeface="Courier New"/>
            </a:endParaRPr>
          </a:p>
          <a:p>
            <a:pPr marL="40957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("ID",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"Country",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"Capitol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City",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"Region")</a:t>
            </a:r>
            <a:endParaRPr sz="1800">
              <a:latin typeface="Courier New"/>
              <a:cs typeface="Courier New"/>
            </a:endParaRPr>
          </a:p>
          <a:p>
            <a:pPr marR="151384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c.country_id,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c.country_name,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c.capitol, r.region_name</a:t>
            </a:r>
            <a:endParaRPr sz="1800">
              <a:latin typeface="Courier New"/>
              <a:cs typeface="Courier New"/>
            </a:endParaRPr>
          </a:p>
          <a:p>
            <a:pPr marL="409575" marR="2058670" indent="-63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wf_countries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wf_world_regions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r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USING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(region_id)</a:t>
            </a:r>
            <a:endParaRPr sz="1800">
              <a:latin typeface="Courier New"/>
              <a:cs typeface="Courier New"/>
            </a:endParaRPr>
          </a:p>
          <a:p>
            <a:pPr marL="40957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location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LIKE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'%Europe';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6051" y="5279135"/>
            <a:ext cx="8347075" cy="58229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*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view_euro_countries;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Vista</a:t>
            </a:r>
            <a:r>
              <a:rPr dirty="0" spc="-140"/>
              <a:t> </a:t>
            </a:r>
            <a:r>
              <a:rPr dirty="0" spc="-10"/>
              <a:t>Compleja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22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69912" y="1551171"/>
          <a:ext cx="8044180" cy="4254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2780"/>
                <a:gridCol w="3717290"/>
                <a:gridCol w="1714500"/>
                <a:gridCol w="1871344"/>
              </a:tblGrid>
              <a:tr h="3473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4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4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Capitol</a:t>
                      </a:r>
                      <a:r>
                        <a:rPr dirty="0" sz="1400" spc="-6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375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Belarus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Minsk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Eastern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Europe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Poland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Warsaw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Eastern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Europe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Slovak</a:t>
                      </a:r>
                      <a:r>
                        <a:rPr dirty="0" sz="1400" spc="-7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Bratislava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Eastern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Europe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Hungary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Budapest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Eastern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Europe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Turkey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Ankara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Eastern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Europe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Romania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Bucharest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Eastern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Europe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373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Moldova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Chisinau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Eastern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Europe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370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Lithuania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Vilnius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Eastern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Europe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371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Latvia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Riga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Eastern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Europe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372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Estonia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Tallinn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Eastern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Europe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marL="93345">
                        <a:lnSpc>
                          <a:spcPts val="1585"/>
                        </a:lnSpc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585"/>
                        </a:lnSpc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585"/>
                        </a:lnSpc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585"/>
                        </a:lnSpc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Vista</a:t>
            </a:r>
            <a:r>
              <a:rPr dirty="0" spc="-140"/>
              <a:t> </a:t>
            </a:r>
            <a:r>
              <a:rPr dirty="0" spc="-10"/>
              <a:t>Compleja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15-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Vistas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23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79780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agregar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complejas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003978" y="2321298"/>
          <a:ext cx="2829560" cy="3429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/>
                <a:gridCol w="1724025"/>
              </a:tblGrid>
              <a:tr h="3117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Region</a:t>
                      </a:r>
                      <a:r>
                        <a:rPr dirty="0" sz="1600" spc="-6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Highest</a:t>
                      </a:r>
                      <a:r>
                        <a:rPr dirty="0" sz="1600" spc="-6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population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188078227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20264082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131859731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107449525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74777981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78887007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62660551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44187637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298444215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2327148"/>
            <a:ext cx="5169535" cy="1739264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9050" rIns="0" bIns="0" rtlCol="0" vert="horz">
            <a:spAutoFit/>
          </a:bodyPr>
          <a:lstStyle/>
          <a:p>
            <a:pPr marL="408940" marR="247015" indent="-410209">
              <a:lnSpc>
                <a:spcPct val="100000"/>
              </a:lnSpc>
              <a:spcBef>
                <a:spcPts val="15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REPLACE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view_high_pop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("Region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ID",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"Highest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population")</a:t>
            </a:r>
            <a:endParaRPr sz="1800">
              <a:latin typeface="Courier New"/>
              <a:cs typeface="Courier New"/>
            </a:endParaRPr>
          </a:p>
          <a:p>
            <a:pPr marL="408940" marR="247015" indent="-410209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region_id,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MAX(population)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wf_countries</a:t>
            </a:r>
            <a:endParaRPr sz="1800">
              <a:latin typeface="Courier New"/>
              <a:cs typeface="Courier New"/>
            </a:endParaRPr>
          </a:p>
          <a:p>
            <a:pPr marL="40894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GROUP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region_id;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3191" y="4536947"/>
            <a:ext cx="5171440" cy="4089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393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*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view_high_pop;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2025-06-01T18:31:46Z</dcterms:created>
  <dcterms:modified xsi:type="dcterms:W3CDTF">2025-06-01T18:31:46Z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2025-04-28T00:00:00Z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