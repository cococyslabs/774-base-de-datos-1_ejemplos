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15:11:19</a:t>
            </a:r>
          </a:p>
          <a:p>
            <a:r>
              <a:t>--------------------------------------------</a:t>
            </a:r>
          </a:p>
          <a:p>
            <a:r>
              <a:t>La función de grupo COUNT se examinará con más detalle en la siguiente lección.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15:11:20</a:t>
            </a:r>
          </a:p>
          <a:p>
            <a:r>
              <a:t>--------------------------------------------</a:t>
            </a:r>
          </a:p>
          <a:p>
            <a:r>
              <a:t>La desviación estándar y la varianza miden la difusión de los datos alrededor de la media. Para este curso, es importante poderlas reconocer y utilizar como funciones de grupo. Describir su funcionamiento no se aborda en este curso.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15:11:20</a:t>
            </a:r>
          </a:p>
          <a:p>
            <a:r>
              <a:t>--------------------------------------------</a:t>
            </a:r>
          </a:p>
          <a:p>
            <a:r>
              <a:t>La cláusula WHERE se puede incluir para realizar una función de grupo en un subjuego de la tabla, por ejemplo WHERE department_id = 90. La cláusula GROUP BY se tratará en una lección posterior.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15:11:20</a:t>
            </a:r>
          </a:p>
          <a:p>
            <a:r>
              <a:t>--------------------------------------------</a:t>
            </a:r>
          </a:p>
          <a:p>
            <a:r>
              <a:t>Trataremos cómo resolver este problema en una lección posterior.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15:11:20</a:t>
            </a:r>
          </a:p>
          <a:p>
            <a:r>
              <a:t>--------------------------------------------</a:t>
            </a:r>
          </a:p>
          <a:p>
            <a:r>
              <a:t>El ejemplo 1 devuelve el número más bajo en la columna life_expect_at_birth.</a:t>
            </a:r>
          </a:p>
          <a:p>
            <a:r>
              <a:t>El ejemplo 2 utiliza una columna de datos de caracteres y devuelve el condado cuyo nombre sea el primero en la lista alfabética de nombres de países. El ejemplo 3 utiliza una columna de tipo de dato de fecha y devuelve la primera fecha de contratación.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15:11:20</a:t>
            </a:r>
          </a:p>
          <a:p>
            <a:r>
              <a:t>--------------------------------------------</a:t>
            </a:r>
          </a:p>
          <a:p>
            <a:r>
              <a:t>El ejemplo 1 devuelve el número más alto en la columna life_expect_at_birth.</a:t>
            </a:r>
          </a:p>
          <a:p>
            <a:r>
              <a:t>El ejemplo 2 utiliza una columna de datos de caracteres y devuelve el condado cuyo nombre sea el último en la lista alfabética de nombres de países. El ejemplo 3 utiliza una columna de tipo de dato de fecha y devuelve la última fecha de contratación.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15:11:21</a:t>
            </a:r>
          </a:p>
          <a:p>
            <a:r>
              <a:t>--------------------------------------------</a:t>
            </a:r>
          </a:p>
          <a:p>
            <a:r>
              <a:t>Puede restringir la función de grupo a un subjuego de la tabla utilizando una cláusula WHERE. El ejemplo 1 devuelve el total (suma) de todas las áreas de los países de la región 29 (Caribe). El ejemplo 2 devuelve el salario total para los empleados del departamento 90.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15:11:21</a:t>
            </a:r>
          </a:p>
          <a:p>
            <a:r>
              <a:t>--------------------------------------------</a:t>
            </a:r>
          </a:p>
          <a:p>
            <a:r>
              <a:t>El ejemplo 1 devuelve la media de todas las áreas de los países de la región 29 (Caribe).</a:t>
            </a:r>
          </a:p>
          <a:p>
            <a:r>
              <a:t>El ejemplo 2 devuelve el salario medio para los empleados del departamento 90, redondeado a dos decimales.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15:11:21</a:t>
            </a:r>
          </a:p>
          <a:p>
            <a:r>
              <a:t>--------------------------------------------</a:t>
            </a:r>
          </a:p>
          <a:p>
            <a:r>
              <a:t>La tabla employees tiene 20 filas. Solo 4 empleados tienen un valor commission_pct, las otras 16 filas contienen NULL. La media se calcula buscando el valor SUM de las filas no nulas y dividiendo por el valor COUNT de las filas no nulas. Este tema se tratará en mayor profundidad en la siguiente lección.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32333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6250" y="1416027"/>
            <a:ext cx="3757929" cy="414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90677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6856" y="6589648"/>
            <a:ext cx="173354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Relationship Id="rId4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5.xml"/><Relationship Id="rId7" Type="http://schemas.openxmlformats.org/officeDocument/2006/relationships/slide" Target="slide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54317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8-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6576" y="3485388"/>
            <a:ext cx="5050535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10"/>
              <a:t>Grupo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8630" cy="43688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siguientes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funciones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grupo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completa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grupo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específico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.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sz="2400" spc="-2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AVG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COUNT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2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MIN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2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MAX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-2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SUM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VARIANCE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STDDEV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7003" y="3172967"/>
            <a:ext cx="2993136" cy="28956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52" y="1491489"/>
            <a:ext cx="3679825" cy="47790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76835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MIN: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devolver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mínimo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03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MAX: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devolver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máximo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Lista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Grupo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562855" y="1524761"/>
          <a:ext cx="1656714" cy="4413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/>
                <a:gridCol w="770254"/>
              </a:tblGrid>
              <a:tr h="1892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11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6118859" y="2002535"/>
            <a:ext cx="486409" cy="3610610"/>
            <a:chOff x="6118859" y="2002535"/>
            <a:chExt cx="486409" cy="3610610"/>
          </a:xfrm>
        </p:grpSpPr>
        <p:sp>
          <p:nvSpPr>
            <p:cNvPr id="6" name="object 6" descr=""/>
            <p:cNvSpPr/>
            <p:nvPr/>
          </p:nvSpPr>
          <p:spPr>
            <a:xfrm>
              <a:off x="6137909" y="2021585"/>
              <a:ext cx="445134" cy="1539240"/>
            </a:xfrm>
            <a:custGeom>
              <a:avLst/>
              <a:gdLst/>
              <a:ahLst/>
              <a:cxnLst/>
              <a:rect l="l" t="t" r="r" b="b"/>
              <a:pathLst>
                <a:path w="445134" h="1539239">
                  <a:moveTo>
                    <a:pt x="0" y="0"/>
                  </a:moveTo>
                  <a:lnTo>
                    <a:pt x="445008" y="153924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39433" y="3560825"/>
              <a:ext cx="447040" cy="2033270"/>
            </a:xfrm>
            <a:custGeom>
              <a:avLst/>
              <a:gdLst/>
              <a:ahLst/>
              <a:cxnLst/>
              <a:rect l="l" t="t" r="r" b="b"/>
              <a:pathLst>
                <a:path w="447040" h="2033270">
                  <a:moveTo>
                    <a:pt x="446531" y="0"/>
                  </a:moveTo>
                  <a:lnTo>
                    <a:pt x="0" y="2033016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42888" y="1670304"/>
            <a:ext cx="2472055" cy="6343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4604" rIns="0" bIns="0" rtlCol="0" vert="horz">
            <a:spAutoFit/>
          </a:bodyPr>
          <a:lstStyle/>
          <a:p>
            <a:pPr marR="5715">
              <a:lnSpc>
                <a:spcPct val="100000"/>
              </a:lnSpc>
              <a:spcBef>
                <a:spcPts val="114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7</a:t>
            </a: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6804500" y="3271710"/>
          <a:ext cx="1625600" cy="56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/>
              </a:tblGrid>
              <a:tr h="2952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52" y="1491489"/>
            <a:ext cx="3755390" cy="43948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469900" marR="5080" indent="-45720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SUM: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buscar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total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suma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endParaRPr sz="2800">
              <a:latin typeface="Calibri"/>
              <a:cs typeface="Calibri"/>
            </a:endParaRPr>
          </a:p>
          <a:p>
            <a:pPr marL="469900" marR="165100" indent="-457200">
              <a:lnSpc>
                <a:spcPts val="3030"/>
              </a:lnSpc>
              <a:spcBef>
                <a:spcPts val="7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AVG: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calcular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media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Lista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Grupo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562855" y="1524761"/>
          <a:ext cx="1656714" cy="4413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/>
                <a:gridCol w="770254"/>
              </a:tblGrid>
              <a:tr h="1892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28575">
                      <a:solidFill>
                        <a:srgbClr val="E0E2E1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11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0E2E1"/>
                      </a:solidFill>
                      <a:prstDash val="solid"/>
                    </a:lnL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6118859" y="2002535"/>
            <a:ext cx="486409" cy="3610610"/>
            <a:chOff x="6118859" y="2002535"/>
            <a:chExt cx="486409" cy="3610610"/>
          </a:xfrm>
        </p:grpSpPr>
        <p:sp>
          <p:nvSpPr>
            <p:cNvPr id="6" name="object 6" descr=""/>
            <p:cNvSpPr/>
            <p:nvPr/>
          </p:nvSpPr>
          <p:spPr>
            <a:xfrm>
              <a:off x="6137909" y="2021585"/>
              <a:ext cx="445134" cy="1539240"/>
            </a:xfrm>
            <a:custGeom>
              <a:avLst/>
              <a:gdLst/>
              <a:ahLst/>
              <a:cxnLst/>
              <a:rect l="l" t="t" r="r" b="b"/>
              <a:pathLst>
                <a:path w="445134" h="1539239">
                  <a:moveTo>
                    <a:pt x="0" y="0"/>
                  </a:moveTo>
                  <a:lnTo>
                    <a:pt x="445008" y="153924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39433" y="3560825"/>
              <a:ext cx="447040" cy="2033270"/>
            </a:xfrm>
            <a:custGeom>
              <a:avLst/>
              <a:gdLst/>
              <a:ahLst/>
              <a:cxnLst/>
              <a:rect l="l" t="t" r="r" b="b"/>
              <a:pathLst>
                <a:path w="447040" h="2033270">
                  <a:moveTo>
                    <a:pt x="446531" y="0"/>
                  </a:moveTo>
                  <a:lnTo>
                    <a:pt x="0" y="2033016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342888" y="1670304"/>
            <a:ext cx="2472055" cy="63436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4604" rIns="0" bIns="0" rtlCol="0" vert="horz">
            <a:spAutoFit/>
          </a:bodyPr>
          <a:lstStyle/>
          <a:p>
            <a:pPr marR="5715">
              <a:lnSpc>
                <a:spcPct val="100000"/>
              </a:lnSpc>
              <a:spcBef>
                <a:spcPts val="114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MAX(salary)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8</a:t>
            </a: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6804500" y="3271710"/>
          <a:ext cx="1625600" cy="56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/>
              </a:tblGrid>
              <a:tr h="2952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Lista</a:t>
            </a:r>
            <a:r>
              <a:rPr dirty="0" spc="-10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Funciones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Grupo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58114"/>
            <a:ext cx="7915275" cy="460946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5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COUNT: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endParaRPr sz="2600">
              <a:latin typeface="Calibri"/>
              <a:cs typeface="Calibri"/>
            </a:endParaRPr>
          </a:p>
          <a:p>
            <a:pPr marL="184785" marR="55880" indent="-172720">
              <a:lnSpc>
                <a:spcPts val="281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VARIANCE: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almacenan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numéricos</a:t>
            </a:r>
            <a:r>
              <a:rPr dirty="0" u="heavy" sz="26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calcular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difusión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6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torno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6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media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.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nota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clase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última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prueba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fue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82%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puntuaciones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alumno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oscilaron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40%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100%,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varianza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puntuaciones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sería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puntuaciones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alumno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oscilaron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78%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88%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ts val="281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STDDEV: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similar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varianza,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desviación</a:t>
            </a:r>
            <a:r>
              <a:rPr dirty="0" u="heavy" sz="26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estándar</a:t>
            </a:r>
            <a:r>
              <a:rPr dirty="0" u="heavy" sz="26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mide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difusión</a:t>
            </a:r>
            <a:r>
              <a:rPr dirty="0" u="heavy" sz="26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6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.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aproximadamente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media,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cuanto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sea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difusión,</a:t>
            </a:r>
            <a:r>
              <a:rPr dirty="0" sz="26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será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desviación</a:t>
            </a:r>
            <a:r>
              <a:rPr dirty="0" sz="26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estándar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73323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60"/>
              <a:t> </a:t>
            </a:r>
            <a:r>
              <a:rPr dirty="0"/>
              <a:t>SELECT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las</a:t>
            </a:r>
            <a:r>
              <a:rPr dirty="0" spc="-75"/>
              <a:t> </a:t>
            </a:r>
            <a:r>
              <a:rPr dirty="0"/>
              <a:t>Funciones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10"/>
              <a:t>Grupo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461645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escriben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SELECT: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682520"/>
            <a:ext cx="5193030" cy="215074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Grupo?</a:t>
            </a:r>
            <a:endParaRPr sz="2800">
              <a:latin typeface="Calibri"/>
              <a:cs typeface="Calibri"/>
            </a:endParaRPr>
          </a:p>
          <a:p>
            <a:pPr marL="182880" marR="155575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funcionan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743452" y="1675052"/>
          <a:ext cx="1887855" cy="406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/>
                <a:gridCol w="887730"/>
              </a:tblGrid>
              <a:tr h="23812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820469" y="3519731"/>
          <a:ext cx="1271905" cy="553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2370"/>
              </a:tblGrid>
              <a:tr h="29464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</a:t>
                      </a: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(SALARY)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7881122" y="2034379"/>
            <a:ext cx="1001394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3189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D1350F"/>
                </a:solidFill>
                <a:latin typeface="Calibri"/>
                <a:cs typeface="Calibri"/>
              </a:rPr>
              <a:t>El</a:t>
            </a:r>
            <a:r>
              <a:rPr dirty="0" sz="1600" spc="-10">
                <a:solidFill>
                  <a:srgbClr val="D1350F"/>
                </a:solidFill>
                <a:latin typeface="Calibri"/>
                <a:cs typeface="Calibri"/>
              </a:rPr>
              <a:t> salario mínimo</a:t>
            </a:r>
            <a:r>
              <a:rPr dirty="0" sz="1600" spc="500">
                <a:solidFill>
                  <a:srgbClr val="D1350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D1350F"/>
                </a:solidFill>
                <a:latin typeface="Calibri"/>
                <a:cs typeface="Calibri"/>
              </a:rPr>
              <a:t>en la</a:t>
            </a:r>
            <a:r>
              <a:rPr dirty="0" sz="1600" spc="-15">
                <a:solidFill>
                  <a:srgbClr val="D1350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D1350F"/>
                </a:solidFill>
                <a:latin typeface="Calibri"/>
                <a:cs typeface="Calibri"/>
              </a:rPr>
              <a:t>tabla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solidFill>
                  <a:srgbClr val="D1350F"/>
                </a:solidFill>
                <a:latin typeface="Calibri"/>
                <a:cs typeface="Calibri"/>
              </a:rPr>
              <a:t>EMPLOYEES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555230" y="1824989"/>
            <a:ext cx="452755" cy="1702435"/>
          </a:xfrm>
          <a:custGeom>
            <a:avLst/>
            <a:gdLst/>
            <a:ahLst/>
            <a:cxnLst/>
            <a:rect l="l" t="t" r="r" b="b"/>
            <a:pathLst>
              <a:path w="452754" h="1702435">
                <a:moveTo>
                  <a:pt x="0" y="0"/>
                </a:moveTo>
                <a:lnTo>
                  <a:pt x="452628" y="1702308"/>
                </a:lnTo>
              </a:path>
            </a:pathLst>
          </a:custGeom>
          <a:ln w="28955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549133" y="4104894"/>
            <a:ext cx="459105" cy="1584960"/>
          </a:xfrm>
          <a:custGeom>
            <a:avLst/>
            <a:gdLst/>
            <a:ahLst/>
            <a:cxnLst/>
            <a:rect l="l" t="t" r="r" b="b"/>
            <a:pathLst>
              <a:path w="459104" h="1584960">
                <a:moveTo>
                  <a:pt x="458724" y="0"/>
                </a:moveTo>
                <a:lnTo>
                  <a:pt x="0" y="1584959"/>
                </a:lnTo>
              </a:path>
            </a:pathLst>
          </a:custGeom>
          <a:ln w="28956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93191" y="2272283"/>
            <a:ext cx="4802505" cy="1574800"/>
          </a:xfrm>
          <a:custGeom>
            <a:avLst/>
            <a:gdLst/>
            <a:ahLst/>
            <a:cxnLst/>
            <a:rect l="l" t="t" r="r" b="b"/>
            <a:pathLst>
              <a:path w="4802505" h="1574800">
                <a:moveTo>
                  <a:pt x="4802124" y="0"/>
                </a:moveTo>
                <a:lnTo>
                  <a:pt x="0" y="0"/>
                </a:lnTo>
                <a:lnTo>
                  <a:pt x="0" y="1574291"/>
                </a:lnTo>
                <a:lnTo>
                  <a:pt x="4802124" y="1574291"/>
                </a:lnTo>
                <a:lnTo>
                  <a:pt x="48021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93191" y="2195745"/>
            <a:ext cx="20612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2200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column,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10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393191" y="2470064"/>
            <a:ext cx="315214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group_function(column),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..</a:t>
            </a:r>
            <a:endParaRPr sz="1800">
              <a:latin typeface="Courier New"/>
              <a:cs typeface="Courier New"/>
            </a:endParaRPr>
          </a:p>
          <a:p>
            <a:pPr marR="9594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</a:t>
            </a:r>
            <a:r>
              <a:rPr dirty="0" sz="18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condition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GROUP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column;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Precauciones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la</a:t>
            </a:r>
            <a:r>
              <a:rPr dirty="0" spc="-65"/>
              <a:t> </a:t>
            </a:r>
            <a:r>
              <a:rPr dirty="0"/>
              <a:t>Función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10"/>
              <a:t>Grupo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0845" cy="15494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Cosas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importantes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grupo:</a:t>
            </a:r>
            <a:endParaRPr sz="2800">
              <a:latin typeface="Calibri"/>
              <a:cs typeface="Calibri"/>
            </a:endParaRPr>
          </a:p>
          <a:p>
            <a:pPr marL="530860" marR="1328420" indent="-17526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4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WHERE: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087" y="4351020"/>
            <a:ext cx="827531" cy="6858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32164" y="4613437"/>
            <a:ext cx="34899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3300"/>
                </a:solidFill>
                <a:latin typeface="Calibri"/>
                <a:cs typeface="Calibri"/>
              </a:rPr>
              <a:t>ORA-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00934: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group</a:t>
            </a:r>
            <a:r>
              <a:rPr dirty="0" sz="1400" spc="-5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function</a:t>
            </a:r>
            <a:r>
              <a:rPr dirty="0" sz="1400" spc="-45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is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not</a:t>
            </a:r>
            <a:r>
              <a:rPr dirty="0" sz="1400" spc="-40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3300"/>
                </a:solidFill>
                <a:latin typeface="Calibri"/>
                <a:cs typeface="Calibri"/>
              </a:rPr>
              <a:t>allowed</a:t>
            </a:r>
            <a:r>
              <a:rPr dirty="0" sz="1400" spc="-45" b="1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3300"/>
                </a:solidFill>
                <a:latin typeface="Calibri"/>
                <a:cs typeface="Calibri"/>
              </a:rPr>
              <a:t>here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3028188"/>
            <a:ext cx="8345805" cy="97409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7625" rIns="0" bIns="0" rtlCol="0" vert="horz">
            <a:spAutoFit/>
          </a:bodyPr>
          <a:lstStyle/>
          <a:p>
            <a:pPr marR="4516120">
              <a:lnSpc>
                <a:spcPct val="100000"/>
              </a:lnSpc>
              <a:spcBef>
                <a:spcPts val="37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first_name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D1350F"/>
                </a:solidFill>
                <a:latin typeface="Courier New"/>
                <a:cs typeface="Courier New"/>
              </a:rPr>
              <a:t>MIN(salary)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Funciones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4700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MIN: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devolver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mínimo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8462" y="2698750"/>
          <a:ext cx="8435975" cy="2808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7875"/>
                <a:gridCol w="2489200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MIN(life_expect_at_birth)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 marR="3846195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"Lowest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Life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32,62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104139" marR="3141345">
                        <a:lnSpc>
                          <a:spcPts val="252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MIN(country_name)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Anguilla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104139" marR="3604895">
                        <a:lnSpc>
                          <a:spcPts val="252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MIN(hire_date)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17-Jun-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1987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Funciones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0160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MAX: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devolver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máximo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8462" y="2713038"/>
          <a:ext cx="8435975" cy="2808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7875"/>
                <a:gridCol w="2489200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MAX(life_expect_at_birth)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 marR="3808095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"Highest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Life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83,51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104139" marR="3095625">
                        <a:lnSpc>
                          <a:spcPts val="252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MAX(country_name)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Sáhara</a:t>
                      </a:r>
                      <a:r>
                        <a:rPr dirty="0" sz="2000" spc="-8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Occidental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104139" marR="3559175">
                        <a:lnSpc>
                          <a:spcPts val="252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MAX(hire_date)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29-Jan-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Funciones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6318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SUM: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buscar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total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8462" y="2921392"/>
          <a:ext cx="8435975" cy="2442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7875"/>
                <a:gridCol w="2489200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SUM(area)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 marR="3608070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region_id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241424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SUM(salary)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r>
                        <a:rPr dirty="0" sz="18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Funciones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5459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AVG: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calcular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2255" y="2410330"/>
          <a:ext cx="8435975" cy="2235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7875"/>
                <a:gridCol w="2489200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SUM(area)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241424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212850">
                <a:tc>
                  <a:txBody>
                    <a:bodyPr/>
                    <a:lstStyle/>
                    <a:p>
                      <a:pPr marL="104139" marR="4065270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(salary)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Funciones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42250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VARIANCE: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calcular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difusión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torno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media</a:t>
            </a:r>
            <a:endParaRPr sz="2800">
              <a:latin typeface="Calibri"/>
              <a:cs typeface="Calibri"/>
            </a:endParaRPr>
          </a:p>
          <a:p>
            <a:pPr marL="182880" marR="16827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STDDEV: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similar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varianza,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desviación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estándar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difusión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97671" y="3751326"/>
          <a:ext cx="8435975" cy="2235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7875"/>
                <a:gridCol w="2489200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SUM(area)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wf_countries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241424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212850">
                <a:tc>
                  <a:txBody>
                    <a:bodyPr/>
                    <a:lstStyle/>
                    <a:p>
                      <a:pPr marL="104139" marR="4065270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(salary)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6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552" y="1491489"/>
            <a:ext cx="1659889" cy="36271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467995" marR="5080" indent="-45529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func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ignoran</a:t>
            </a:r>
            <a:r>
              <a:rPr dirty="0" u="heavy" sz="2800" spc="-1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sz="2800" spc="-1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6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NULL</a:t>
            </a:r>
            <a:endParaRPr sz="2800">
              <a:latin typeface="Calibri"/>
              <a:cs typeface="Calibri"/>
            </a:endParaRPr>
          </a:p>
          <a:p>
            <a:pPr marL="469900" marR="6350" indent="-457200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sig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utilizad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co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medio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Función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Grupo</a:t>
            </a:r>
            <a:r>
              <a:rPr dirty="0" spc="-45"/>
              <a:t> </a:t>
            </a:r>
            <a:r>
              <a:rPr dirty="0"/>
              <a:t>y</a:t>
            </a:r>
            <a:r>
              <a:rPr dirty="0" spc="-65"/>
              <a:t> </a:t>
            </a:r>
            <a:r>
              <a:rPr dirty="0" spc="-20"/>
              <a:t>NULL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064350" y="1416027"/>
          <a:ext cx="3757929" cy="4145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710"/>
                <a:gridCol w="2051685"/>
              </a:tblGrid>
              <a:tr h="3587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COMMISSION_PCT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.15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405384" y="5126735"/>
            <a:ext cx="4196080" cy="466725"/>
          </a:xfrm>
          <a:custGeom>
            <a:avLst/>
            <a:gdLst/>
            <a:ahLst/>
            <a:cxnLst/>
            <a:rect l="l" t="t" r="r" b="b"/>
            <a:pathLst>
              <a:path w="4196080" h="466725">
                <a:moveTo>
                  <a:pt x="4195572" y="0"/>
                </a:moveTo>
                <a:lnTo>
                  <a:pt x="0" y="0"/>
                </a:lnTo>
                <a:lnTo>
                  <a:pt x="0" y="466344"/>
                </a:lnTo>
                <a:lnTo>
                  <a:pt x="4195572" y="466344"/>
                </a:lnTo>
                <a:lnTo>
                  <a:pt x="4195572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92112" y="5045592"/>
            <a:ext cx="16643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AVG(c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17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057700" y="1518411"/>
          <a:ext cx="2601595" cy="496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5075"/>
              </a:tblGrid>
              <a:tr h="4223385">
                <a:tc>
                  <a:txBody>
                    <a:bodyPr/>
                    <a:lstStyle/>
                    <a:p>
                      <a:pPr marL="62865" marR="291465" indent="-6985">
                        <a:lnSpc>
                          <a:spcPts val="3030"/>
                        </a:lnSpc>
                        <a:spcBef>
                          <a:spcPts val="210"/>
                        </a:spcBef>
                      </a:pPr>
                      <a:r>
                        <a:rPr dirty="0" u="heavy" sz="280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iones</a:t>
                      </a:r>
                      <a:r>
                        <a:rPr dirty="0" u="heavy" sz="2800" spc="-5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280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u="heavy" sz="2800" spc="-3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2800" spc="-1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grupo</a:t>
                      </a:r>
                      <a:r>
                        <a:rPr dirty="0" sz="2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heavy" sz="280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u="heavy" sz="2800" spc="-10">
                          <a:solidFill>
                            <a:srgbClr val="4E3629"/>
                          </a:solidFill>
                          <a:uFill>
                            <a:solidFill>
                              <a:srgbClr val="EC2814"/>
                            </a:solidFill>
                          </a:uFill>
                          <a:latin typeface="Calibri"/>
                          <a:cs typeface="Calibri"/>
                        </a:rPr>
                        <a:t> valores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ts val="3195"/>
                        </a:lnSpc>
                      </a:pPr>
                      <a:r>
                        <a:rPr dirty="0" sz="2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uiente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55244">
                        <a:lnSpc>
                          <a:spcPts val="3025"/>
                        </a:lnSpc>
                      </a:pP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2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valores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ts val="3025"/>
                        </a:lnSpc>
                      </a:pP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28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2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han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9685" marR="284480" indent="-97155">
                        <a:lnSpc>
                          <a:spcPts val="3030"/>
                        </a:lnSpc>
                        <a:spcBef>
                          <a:spcPts val="204"/>
                        </a:spcBef>
                      </a:pP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2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8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buscar</a:t>
                      </a:r>
                      <a:r>
                        <a:rPr dirty="0" sz="2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 </a:t>
                      </a:r>
                      <a:r>
                        <a:rPr dirty="0" sz="2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mmission_pct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610235">
                        <a:lnSpc>
                          <a:spcPct val="100000"/>
                        </a:lnSpc>
                        <a:spcBef>
                          <a:spcPts val="2605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ommission_pct)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es;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670">
                    <a:lnR w="28575">
                      <a:solidFill>
                        <a:srgbClr val="E0E2E1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AVG(COMMISSION_PCT)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9054">
                    <a:lnL w="12700">
                      <a:solidFill>
                        <a:srgbClr val="D1350F"/>
                      </a:solidFill>
                      <a:prstDash val="solid"/>
                    </a:lnL>
                    <a:lnR w="28575">
                      <a:solidFill>
                        <a:srgbClr val="E0E2E1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.2125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Más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/>
              <a:t>una</a:t>
            </a:r>
            <a:r>
              <a:rPr dirty="0" spc="-20"/>
              <a:t> </a:t>
            </a:r>
            <a:r>
              <a:rPr dirty="0"/>
              <a:t>Función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Grupo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33359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SELECT,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columnas 	diferentes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279159" y="4244336"/>
          <a:ext cx="6320155" cy="783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7085"/>
                <a:gridCol w="2077085"/>
                <a:gridCol w="2077085"/>
              </a:tblGrid>
              <a:tr h="4248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MAX(SALARY)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MIN(SALARY)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MIN(EMPLOYEE_ID)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76427" y="2942844"/>
            <a:ext cx="8374380" cy="9728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990" rIns="0" bIns="0" rtlCol="0" vert="horz">
            <a:spAutoFit/>
          </a:bodyPr>
          <a:lstStyle/>
          <a:p>
            <a:pPr marR="1678305">
              <a:lnSpc>
                <a:spcPct val="100000"/>
              </a:lnSpc>
              <a:spcBef>
                <a:spcPts val="3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MAX(salary),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MIN(salary),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MIN(employee_id)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60;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44499" y="2818744"/>
            <a:ext cx="7551420" cy="1152525"/>
            <a:chOff x="644499" y="2818744"/>
            <a:chExt cx="7551420" cy="1152525"/>
          </a:xfrm>
        </p:grpSpPr>
        <p:sp>
          <p:nvSpPr>
            <p:cNvPr id="4" name="object 4" descr=""/>
            <p:cNvSpPr/>
            <p:nvPr/>
          </p:nvSpPr>
          <p:spPr>
            <a:xfrm>
              <a:off x="644499" y="2818752"/>
              <a:ext cx="7551420" cy="768350"/>
            </a:xfrm>
            <a:custGeom>
              <a:avLst/>
              <a:gdLst/>
              <a:ahLst/>
              <a:cxnLst/>
              <a:rect l="l" t="t" r="r" b="b"/>
              <a:pathLst>
                <a:path w="7551420" h="768350">
                  <a:moveTo>
                    <a:pt x="1876894" y="578269"/>
                  </a:moveTo>
                  <a:lnTo>
                    <a:pt x="1871573" y="522008"/>
                  </a:lnTo>
                  <a:lnTo>
                    <a:pt x="1857133" y="470319"/>
                  </a:lnTo>
                  <a:lnTo>
                    <a:pt x="1835848" y="427748"/>
                  </a:lnTo>
                  <a:lnTo>
                    <a:pt x="1810004" y="398856"/>
                  </a:lnTo>
                  <a:lnTo>
                    <a:pt x="1781873" y="388213"/>
                  </a:lnTo>
                  <a:lnTo>
                    <a:pt x="118986" y="388213"/>
                  </a:lnTo>
                  <a:lnTo>
                    <a:pt x="65011" y="427748"/>
                  </a:lnTo>
                  <a:lnTo>
                    <a:pt x="43726" y="470319"/>
                  </a:lnTo>
                  <a:lnTo>
                    <a:pt x="29273" y="522008"/>
                  </a:lnTo>
                  <a:lnTo>
                    <a:pt x="23964" y="578269"/>
                  </a:lnTo>
                  <a:lnTo>
                    <a:pt x="29273" y="634517"/>
                  </a:lnTo>
                  <a:lnTo>
                    <a:pt x="43726" y="686206"/>
                  </a:lnTo>
                  <a:lnTo>
                    <a:pt x="65011" y="728776"/>
                  </a:lnTo>
                  <a:lnTo>
                    <a:pt x="90855" y="757669"/>
                  </a:lnTo>
                  <a:lnTo>
                    <a:pt x="118986" y="768311"/>
                  </a:lnTo>
                  <a:lnTo>
                    <a:pt x="1781873" y="768311"/>
                  </a:lnTo>
                  <a:lnTo>
                    <a:pt x="1835848" y="728776"/>
                  </a:lnTo>
                  <a:lnTo>
                    <a:pt x="1857133" y="686206"/>
                  </a:lnTo>
                  <a:lnTo>
                    <a:pt x="1871573" y="634517"/>
                  </a:lnTo>
                  <a:lnTo>
                    <a:pt x="1876894" y="578269"/>
                  </a:lnTo>
                  <a:close/>
                </a:path>
                <a:path w="7551420" h="768350">
                  <a:moveTo>
                    <a:pt x="7551204" y="193878"/>
                  </a:moveTo>
                  <a:lnTo>
                    <a:pt x="7545768" y="136486"/>
                  </a:lnTo>
                  <a:lnTo>
                    <a:pt x="7531036" y="83756"/>
                  </a:lnTo>
                  <a:lnTo>
                    <a:pt x="7509319" y="40322"/>
                  </a:lnTo>
                  <a:lnTo>
                    <a:pt x="7482954" y="10858"/>
                  </a:lnTo>
                  <a:lnTo>
                    <a:pt x="7454265" y="0"/>
                  </a:lnTo>
                  <a:lnTo>
                    <a:pt x="96939" y="0"/>
                  </a:lnTo>
                  <a:lnTo>
                    <a:pt x="41871" y="40322"/>
                  </a:lnTo>
                  <a:lnTo>
                    <a:pt x="20154" y="83756"/>
                  </a:lnTo>
                  <a:lnTo>
                    <a:pt x="5422" y="136486"/>
                  </a:lnTo>
                  <a:lnTo>
                    <a:pt x="0" y="193878"/>
                  </a:lnTo>
                  <a:lnTo>
                    <a:pt x="5422" y="251269"/>
                  </a:lnTo>
                  <a:lnTo>
                    <a:pt x="20154" y="303999"/>
                  </a:lnTo>
                  <a:lnTo>
                    <a:pt x="41871" y="347433"/>
                  </a:lnTo>
                  <a:lnTo>
                    <a:pt x="68237" y="376897"/>
                  </a:lnTo>
                  <a:lnTo>
                    <a:pt x="96939" y="387756"/>
                  </a:lnTo>
                  <a:lnTo>
                    <a:pt x="7454265" y="387756"/>
                  </a:lnTo>
                  <a:lnTo>
                    <a:pt x="7509319" y="347433"/>
                  </a:lnTo>
                  <a:lnTo>
                    <a:pt x="7531036" y="303999"/>
                  </a:lnTo>
                  <a:lnTo>
                    <a:pt x="7545768" y="251269"/>
                  </a:lnTo>
                  <a:lnTo>
                    <a:pt x="7551204" y="193878"/>
                  </a:lnTo>
                  <a:close/>
                </a:path>
              </a:pathLst>
            </a:custGeom>
            <a:solidFill>
              <a:srgbClr val="FB5C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8451" y="3206978"/>
              <a:ext cx="7007225" cy="764540"/>
            </a:xfrm>
            <a:custGeom>
              <a:avLst/>
              <a:gdLst/>
              <a:ahLst/>
              <a:cxnLst/>
              <a:rect l="l" t="t" r="r" b="b"/>
              <a:pathLst>
                <a:path w="7007225" h="764539">
                  <a:moveTo>
                    <a:pt x="6921246" y="190042"/>
                  </a:moveTo>
                  <a:lnTo>
                    <a:pt x="6915925" y="133781"/>
                  </a:lnTo>
                  <a:lnTo>
                    <a:pt x="6901485" y="82092"/>
                  </a:lnTo>
                  <a:lnTo>
                    <a:pt x="6880199" y="39522"/>
                  </a:lnTo>
                  <a:lnTo>
                    <a:pt x="6854355" y="10642"/>
                  </a:lnTo>
                  <a:lnTo>
                    <a:pt x="6826224" y="0"/>
                  </a:lnTo>
                  <a:lnTo>
                    <a:pt x="2028037" y="0"/>
                  </a:lnTo>
                  <a:lnTo>
                    <a:pt x="1974075" y="39522"/>
                  </a:lnTo>
                  <a:lnTo>
                    <a:pt x="1952790" y="82092"/>
                  </a:lnTo>
                  <a:lnTo>
                    <a:pt x="1938337" y="133781"/>
                  </a:lnTo>
                  <a:lnTo>
                    <a:pt x="1933016" y="190042"/>
                  </a:lnTo>
                  <a:lnTo>
                    <a:pt x="1938337" y="246291"/>
                  </a:lnTo>
                  <a:lnTo>
                    <a:pt x="1952790" y="297980"/>
                  </a:lnTo>
                  <a:lnTo>
                    <a:pt x="1974075" y="340550"/>
                  </a:lnTo>
                  <a:lnTo>
                    <a:pt x="1999919" y="369443"/>
                  </a:lnTo>
                  <a:lnTo>
                    <a:pt x="2028037" y="380085"/>
                  </a:lnTo>
                  <a:lnTo>
                    <a:pt x="6826224" y="380085"/>
                  </a:lnTo>
                  <a:lnTo>
                    <a:pt x="6880199" y="340550"/>
                  </a:lnTo>
                  <a:lnTo>
                    <a:pt x="6901485" y="297980"/>
                  </a:lnTo>
                  <a:lnTo>
                    <a:pt x="6915925" y="246291"/>
                  </a:lnTo>
                  <a:lnTo>
                    <a:pt x="6921246" y="190042"/>
                  </a:lnTo>
                  <a:close/>
                </a:path>
                <a:path w="7007225" h="764539">
                  <a:moveTo>
                    <a:pt x="7006755" y="574243"/>
                  </a:moveTo>
                  <a:lnTo>
                    <a:pt x="7001434" y="517994"/>
                  </a:lnTo>
                  <a:lnTo>
                    <a:pt x="6986994" y="466305"/>
                  </a:lnTo>
                  <a:lnTo>
                    <a:pt x="6965709" y="423735"/>
                  </a:lnTo>
                  <a:lnTo>
                    <a:pt x="6939851" y="394843"/>
                  </a:lnTo>
                  <a:lnTo>
                    <a:pt x="6911734" y="384200"/>
                  </a:lnTo>
                  <a:lnTo>
                    <a:pt x="95034" y="384200"/>
                  </a:lnTo>
                  <a:lnTo>
                    <a:pt x="41059" y="423735"/>
                  </a:lnTo>
                  <a:lnTo>
                    <a:pt x="19773" y="466305"/>
                  </a:lnTo>
                  <a:lnTo>
                    <a:pt x="5321" y="517994"/>
                  </a:lnTo>
                  <a:lnTo>
                    <a:pt x="0" y="574243"/>
                  </a:lnTo>
                  <a:lnTo>
                    <a:pt x="5321" y="630504"/>
                  </a:lnTo>
                  <a:lnTo>
                    <a:pt x="19773" y="682193"/>
                  </a:lnTo>
                  <a:lnTo>
                    <a:pt x="41059" y="724763"/>
                  </a:lnTo>
                  <a:lnTo>
                    <a:pt x="66903" y="753656"/>
                  </a:lnTo>
                  <a:lnTo>
                    <a:pt x="95034" y="764298"/>
                  </a:lnTo>
                  <a:lnTo>
                    <a:pt x="6911734" y="764298"/>
                  </a:lnTo>
                  <a:lnTo>
                    <a:pt x="6965709" y="724763"/>
                  </a:lnTo>
                  <a:lnTo>
                    <a:pt x="6986994" y="682193"/>
                  </a:lnTo>
                  <a:lnTo>
                    <a:pt x="7001434" y="630504"/>
                  </a:lnTo>
                  <a:lnTo>
                    <a:pt x="7006755" y="574243"/>
                  </a:lnTo>
                  <a:close/>
                </a:path>
              </a:pathLst>
            </a:custGeom>
            <a:solidFill>
              <a:srgbClr val="7CC86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Reglas</a:t>
            </a:r>
            <a:r>
              <a:rPr dirty="0" spc="-90"/>
              <a:t> </a:t>
            </a:r>
            <a:r>
              <a:rPr dirty="0"/>
              <a:t>para</a:t>
            </a:r>
            <a:r>
              <a:rPr dirty="0" spc="-80"/>
              <a:t> </a:t>
            </a:r>
            <a:r>
              <a:rPr dirty="0"/>
              <a:t>Funciones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Grupo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83552" y="1355371"/>
            <a:ext cx="7729220" cy="263652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60020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funciones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grupo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ignoran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nulos</a:t>
            </a:r>
            <a:endParaRPr sz="2800">
              <a:latin typeface="Calibri"/>
              <a:cs typeface="Calibri"/>
            </a:endParaRPr>
          </a:p>
          <a:p>
            <a:pPr marL="182880" marR="347345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grupo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MIN,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MAX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COUNT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dato;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SUM,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AVG,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STDDEV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VARIANCE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numéricos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21908" y="4125467"/>
            <a:ext cx="2432685" cy="1821180"/>
            <a:chOff x="6121908" y="4125467"/>
            <a:chExt cx="2432685" cy="182118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1908" y="5390387"/>
              <a:ext cx="2432304" cy="55626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3616" y="4125467"/>
              <a:ext cx="1642872" cy="174345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Grupo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2025-06-01T18:28:26Z</dcterms:created>
  <dcterms:modified xsi:type="dcterms:W3CDTF">2025-06-01T18:28:26Z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2025-04-20T00:00:00Z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