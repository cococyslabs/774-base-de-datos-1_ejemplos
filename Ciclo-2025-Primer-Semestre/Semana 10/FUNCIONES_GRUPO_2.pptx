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18:57:38</a:t>
            </a:r>
          </a:p>
          <a:p>
            <a:r>
              <a:t>--------------------------------------------</a:t>
            </a:r>
          </a:p>
          <a:p>
            <a:r>
              <a:t>Si se incluye una cláusula WHERE en la sentencia SELECT, COUNT(*) devuelve el número de filas que cumpla con la condición de la cláusula WHERE.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18:57:38</a:t>
            </a:r>
          </a:p>
          <a:p>
            <a:r>
              <a:t>--------------------------------------------</a:t>
            </a:r>
          </a:p>
          <a:p>
            <a:r>
              <a:t>Tenemos que utilizar (*) porque las reglas de sintaxis exigen que cada función tenga al menos un argumento de entrada, entre paréntesis.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539178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4883150" cy="3242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1026795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285115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8-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COUNT,</a:t>
            </a:r>
            <a:r>
              <a:rPr dirty="0" sz="2400" spc="-7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4E3629"/>
                </a:solidFill>
                <a:latin typeface="Calibri"/>
                <a:cs typeface="Calibri"/>
              </a:rPr>
              <a:t>DISTINCT,</a:t>
            </a:r>
            <a:r>
              <a:rPr dirty="0" sz="2400" spc="-6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4E3629"/>
                </a:solidFill>
                <a:latin typeface="Calibri"/>
                <a:cs typeface="Calibri"/>
              </a:rPr>
              <a:t>NVL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7091" y="2557272"/>
            <a:ext cx="3849623" cy="38953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721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74191" y="6489343"/>
            <a:ext cx="1026794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5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DP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8-</a:t>
            </a: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COUNT,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DISTINCT,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NVL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COUNT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1415417"/>
            <a:ext cx="789559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COUNT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(expresión)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número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nulos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expresión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681719" y="6562597"/>
            <a:ext cx="8064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5384" y="2484120"/>
            <a:ext cx="8345805" cy="55181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5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COUNT(job_id)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2595562" y="3369932"/>
          <a:ext cx="3634104" cy="782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5204"/>
              </a:tblGrid>
              <a:tr h="405765"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COUNT(JOB_ID)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COUNT</a:t>
            </a:r>
            <a:r>
              <a:rPr dirty="0" spc="-6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 spc="-20"/>
              <a:t>Rows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55371"/>
            <a:ext cx="8171180" cy="302069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56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COUNT(*)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nulos)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contar;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devueltas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resultados</a:t>
            </a:r>
            <a:endParaRPr sz="2800">
              <a:latin typeface="Calibri"/>
              <a:cs typeface="Calibri"/>
            </a:endParaRPr>
          </a:p>
          <a:p>
            <a:pPr marL="182880" marR="6794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averiguar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cuántos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fueron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contratados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antes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01/Ene/1996,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utilizar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COUNT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012948" y="4500237"/>
          <a:ext cx="1820545" cy="663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1645"/>
              </a:tblGrid>
              <a:tr h="351155"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r>
                        <a:rPr dirty="0" sz="16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(*)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4506467"/>
            <a:ext cx="5270500" cy="9042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COUNT(*)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hire_date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&lt;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'01-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Jan-1996';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COUNT</a:t>
            </a:r>
            <a:r>
              <a:rPr dirty="0" spc="-6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 spc="-20"/>
              <a:t>Rows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56220" cy="16046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9842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Utilizamos</a:t>
            </a:r>
            <a:r>
              <a:rPr dirty="0" sz="2800" spc="-1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COUNT(*)</a:t>
            </a:r>
            <a:r>
              <a:rPr dirty="0" u="heavy" sz="2800" spc="-114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cuando</a:t>
            </a:r>
            <a:r>
              <a:rPr dirty="0" u="heavy" sz="2800" spc="-1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queremos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asegurarnos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contar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(incluidos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duplicados),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2805"/>
              </a:lnSpc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así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aquellos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tener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nulos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3195"/>
              </a:lnSpc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287712" y="4573492"/>
          <a:ext cx="1820545" cy="663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1645"/>
              </a:tblGrid>
              <a:tr h="351155"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r>
                        <a:rPr dirty="0" sz="16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(*)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3183635"/>
            <a:ext cx="8345805" cy="9042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COUNT(*)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hire_date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&lt;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'01-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Jan-1996';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DISTINCT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46390" cy="372935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palabra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clave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DISTINCT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devolver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solo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duplicados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combinaciones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duplicados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consulta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Examine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endParaRPr sz="2800">
              <a:latin typeface="Calibri"/>
              <a:cs typeface="Calibri"/>
            </a:endParaRPr>
          </a:p>
          <a:p>
            <a:pPr marL="182880" marR="2503805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DISTINCT,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devuelto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job_id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employees,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incluidos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valores 	duplicados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47755" y="5646205"/>
            <a:ext cx="29375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20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1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devueltas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0,01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segundos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000337" y="2562260"/>
          <a:ext cx="2696210" cy="2895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6675"/>
              </a:tblGrid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AC_ACCOUNT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AC_MGR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AD_ASST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AD_PRES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IT_PROG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05384" y="5215128"/>
            <a:ext cx="4895215" cy="65849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27305" rIns="0" bIns="0" rtlCol="0" vert="horz">
            <a:spAutoFit/>
          </a:bodyPr>
          <a:lstStyle/>
          <a:p>
            <a:pPr marR="2839720">
              <a:lnSpc>
                <a:spcPct val="100000"/>
              </a:lnSpc>
              <a:spcBef>
                <a:spcPts val="21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DISTINCT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380605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duplicadas,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palabra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DISTINCT,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aquí</a:t>
            </a:r>
            <a:endParaRPr sz="2800">
              <a:latin typeface="Calibri"/>
              <a:cs typeface="Calibri"/>
            </a:endParaRPr>
          </a:p>
          <a:p>
            <a:pPr marL="182880" marR="202374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Utilizando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DISTINCT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devuelto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trabajo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exactamente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vez,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sin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114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duplicados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91212" y="5717679"/>
            <a:ext cx="29375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12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1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devueltas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0,01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segundos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137494" y="2514806"/>
          <a:ext cx="2696210" cy="2894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6675"/>
              </a:tblGrid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AC_ACCOUNT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AC_MGR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AD_ASST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AD_PRES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IT_PROG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MK_MAN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05384" y="4192523"/>
            <a:ext cx="4636135" cy="65849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26670" rIns="0" bIns="0" rtlCol="0" vert="horz">
            <a:spAutoFit/>
          </a:bodyPr>
          <a:lstStyle/>
          <a:p>
            <a:pPr marR="1624965">
              <a:lnSpc>
                <a:spcPct val="100000"/>
              </a:lnSpc>
              <a:spcBef>
                <a:spcPts val="21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DISTINCT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Valores</a:t>
            </a:r>
            <a:r>
              <a:rPr dirty="0" spc="-90"/>
              <a:t> </a:t>
            </a:r>
            <a:r>
              <a:rPr dirty="0"/>
              <a:t>DISTINCT</a:t>
            </a:r>
            <a:r>
              <a:rPr dirty="0" spc="-60"/>
              <a:t> </a:t>
            </a:r>
            <a:r>
              <a:rPr dirty="0"/>
              <a:t>no</a:t>
            </a:r>
            <a:r>
              <a:rPr dirty="0" spc="-75"/>
              <a:t> </a:t>
            </a:r>
            <a:r>
              <a:rPr dirty="0" spc="-10"/>
              <a:t>duplicados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La</a:t>
            </a:r>
            <a:r>
              <a:rPr dirty="0" spc="-85"/>
              <a:t> </a:t>
            </a:r>
            <a:r>
              <a:rPr dirty="0"/>
              <a:t>palabra</a:t>
            </a:r>
            <a:r>
              <a:rPr dirty="0" spc="-60"/>
              <a:t> </a:t>
            </a:r>
            <a:r>
              <a:rPr dirty="0"/>
              <a:t>clave</a:t>
            </a:r>
            <a:r>
              <a:rPr dirty="0" spc="-75"/>
              <a:t> </a:t>
            </a:r>
            <a:r>
              <a:rPr dirty="0" spc="-10"/>
              <a:t>DISTINCT, </a:t>
            </a:r>
            <a:r>
              <a:rPr dirty="0" spc="-10"/>
              <a:t>	</a:t>
            </a:r>
            <a:r>
              <a:rPr dirty="0"/>
              <a:t>cuando</a:t>
            </a:r>
            <a:r>
              <a:rPr dirty="0" spc="-40"/>
              <a:t> </a:t>
            </a:r>
            <a:r>
              <a:rPr dirty="0"/>
              <a:t>se</a:t>
            </a:r>
            <a:r>
              <a:rPr dirty="0" spc="-45"/>
              <a:t> </a:t>
            </a:r>
            <a:r>
              <a:rPr dirty="0"/>
              <a:t>utiliza</a:t>
            </a:r>
            <a:r>
              <a:rPr dirty="0" spc="-55"/>
              <a:t> </a:t>
            </a:r>
            <a:r>
              <a:rPr dirty="0"/>
              <a:t>en</a:t>
            </a:r>
            <a:r>
              <a:rPr dirty="0" spc="-50"/>
              <a:t> </a:t>
            </a:r>
            <a:r>
              <a:rPr dirty="0" spc="-25"/>
              <a:t>una </a:t>
            </a:r>
            <a:r>
              <a:rPr dirty="0" spc="-25"/>
              <a:t>	</a:t>
            </a:r>
            <a:r>
              <a:rPr dirty="0"/>
              <a:t>consulta</a:t>
            </a:r>
            <a:r>
              <a:rPr dirty="0" spc="-35"/>
              <a:t> </a:t>
            </a:r>
            <a:r>
              <a:rPr dirty="0"/>
              <a:t>en</a:t>
            </a:r>
            <a:r>
              <a:rPr dirty="0" spc="-55"/>
              <a:t> </a:t>
            </a:r>
            <a:r>
              <a:rPr dirty="0"/>
              <a:t>que</a:t>
            </a:r>
            <a:r>
              <a:rPr dirty="0" spc="-40"/>
              <a:t> </a:t>
            </a:r>
            <a:r>
              <a:rPr dirty="0"/>
              <a:t>se</a:t>
            </a:r>
            <a:r>
              <a:rPr dirty="0" spc="-60"/>
              <a:t> </a:t>
            </a:r>
            <a:r>
              <a:rPr dirty="0" spc="-10"/>
              <a:t>seleccione </a:t>
            </a:r>
            <a:r>
              <a:rPr dirty="0" spc="-10"/>
              <a:t>	</a:t>
            </a:r>
            <a:r>
              <a:rPr dirty="0"/>
              <a:t>más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una</a:t>
            </a:r>
            <a:r>
              <a:rPr dirty="0" spc="-35"/>
              <a:t> </a:t>
            </a:r>
            <a:r>
              <a:rPr dirty="0"/>
              <a:t>columna,</a:t>
            </a:r>
            <a:r>
              <a:rPr dirty="0" spc="-45"/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devolverá</a:t>
            </a:r>
            <a:r>
              <a:rPr dirty="0" spc="-10"/>
              <a:t> </a:t>
            </a:r>
            <a:r>
              <a:rPr dirty="0" spc="-10"/>
              <a:t>	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combinaciones</a:t>
            </a:r>
            <a:r>
              <a:rPr dirty="0" u="heavy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no</a:t>
            </a:r>
            <a:r>
              <a:rPr dirty="0" u="heavy" spc="-7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duplicadas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spc="-25"/>
              <a:t> </a:t>
            </a:r>
            <a:r>
              <a:rPr dirty="0" spc="-25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las</a:t>
            </a:r>
            <a:r>
              <a:rPr dirty="0" u="heavy" spc="-7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columnas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seleccionadas</a:t>
            </a:r>
          </a:p>
          <a:p>
            <a:pPr marL="182880" marR="227329" indent="-170815">
              <a:lnSpc>
                <a:spcPts val="3030"/>
              </a:lnSpc>
              <a:spcBef>
                <a:spcPts val="7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Examine</a:t>
            </a:r>
            <a:r>
              <a:rPr dirty="0" spc="-60"/>
              <a:t> </a:t>
            </a:r>
            <a:r>
              <a:rPr dirty="0"/>
              <a:t>el</a:t>
            </a:r>
            <a:r>
              <a:rPr dirty="0" spc="-55"/>
              <a:t> </a:t>
            </a:r>
            <a:r>
              <a:rPr dirty="0"/>
              <a:t>juego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 spc="-10"/>
              <a:t>resultados </a:t>
            </a:r>
            <a:r>
              <a:rPr dirty="0" spc="-10"/>
              <a:t>	</a:t>
            </a:r>
            <a:r>
              <a:rPr dirty="0"/>
              <a:t>que</a:t>
            </a:r>
            <a:r>
              <a:rPr dirty="0" spc="-45"/>
              <a:t> </a:t>
            </a:r>
            <a:r>
              <a:rPr dirty="0"/>
              <a:t>se</a:t>
            </a:r>
            <a:r>
              <a:rPr dirty="0" spc="-65"/>
              <a:t> </a:t>
            </a:r>
            <a:r>
              <a:rPr dirty="0" spc="-10"/>
              <a:t>muestra</a:t>
            </a:r>
            <a:r>
              <a:rPr dirty="0" spc="-40"/>
              <a:t> </a:t>
            </a:r>
            <a:r>
              <a:rPr dirty="0" spc="-20"/>
              <a:t>aquí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559573" y="5659432"/>
            <a:ext cx="29375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13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1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devueltas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0,01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segundos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565923" y="2562679"/>
          <a:ext cx="3376295" cy="2926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3380"/>
                <a:gridCol w="1643380"/>
              </a:tblGrid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IT_PROG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ST_MAN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AD_ASST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MK_MAN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MK_REP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SA_MAN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5571744" y="1456944"/>
            <a:ext cx="3287395" cy="9906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65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DISTINCT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job_id,</a:t>
            </a:r>
            <a:endParaRPr sz="1800">
              <a:latin typeface="Courier New"/>
              <a:cs typeface="Courier New"/>
            </a:endParaRPr>
          </a:p>
          <a:p>
            <a:pPr marR="1230630" indent="274320"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285813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Uso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DISTINCT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4290695" cy="113411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35255" marR="5080" indent="-133350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SzPct val="96428"/>
              <a:buFont typeface="Arial MT"/>
              <a:buChar char="•"/>
              <a:tabLst>
                <a:tab pos="184785" algn="l"/>
              </a:tabLst>
            </a:pPr>
            <a:r>
              <a:rPr dirty="0" u="heavy" sz="2800" spc="-3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1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palabra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clave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DISTINCT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utilizar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todas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funciones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grupo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2508126"/>
            <a:ext cx="4497070" cy="113411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algn="just"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DISTINCT,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solo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duplicados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3632837"/>
            <a:ext cx="4276725" cy="215773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75565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derecha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producen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resultados</a:t>
            </a:r>
            <a:r>
              <a:rPr dirty="0" sz="2800" spc="-1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diferentes,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2350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segunda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endParaRPr sz="2800">
              <a:latin typeface="Calibri"/>
              <a:cs typeface="Calibri"/>
            </a:endParaRPr>
          </a:p>
          <a:p>
            <a:pPr marL="184785" marR="54610">
              <a:lnSpc>
                <a:spcPct val="80000"/>
              </a:lnSpc>
              <a:spcBef>
                <a:spcPts val="335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incidencia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17000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954993" y="2261791"/>
          <a:ext cx="1273175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275"/>
              </a:tblGrid>
              <a:tr h="27432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7140702" y="2379726"/>
            <a:ext cx="355600" cy="421005"/>
          </a:xfrm>
          <a:custGeom>
            <a:avLst/>
            <a:gdLst/>
            <a:ahLst/>
            <a:cxnLst/>
            <a:rect l="l" t="t" r="r" b="b"/>
            <a:pathLst>
              <a:path w="355600" h="421005">
                <a:moveTo>
                  <a:pt x="0" y="0"/>
                </a:moveTo>
                <a:lnTo>
                  <a:pt x="355092" y="420623"/>
                </a:lnTo>
              </a:path>
            </a:pathLst>
          </a:custGeom>
          <a:ln w="38100">
            <a:solidFill>
              <a:srgbClr val="D135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140702" y="3143250"/>
            <a:ext cx="355600" cy="391795"/>
          </a:xfrm>
          <a:custGeom>
            <a:avLst/>
            <a:gdLst/>
            <a:ahLst/>
            <a:cxnLst/>
            <a:rect l="l" t="t" r="r" b="b"/>
            <a:pathLst>
              <a:path w="355600" h="391795">
                <a:moveTo>
                  <a:pt x="355092" y="0"/>
                </a:moveTo>
                <a:lnTo>
                  <a:pt x="0" y="391668"/>
                </a:lnTo>
              </a:path>
            </a:pathLst>
          </a:custGeom>
          <a:ln w="38099">
            <a:solidFill>
              <a:srgbClr val="D1350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239736" y="4886938"/>
          <a:ext cx="1273175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275"/>
              </a:tblGrid>
              <a:tr h="27432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/>
          <p:nvPr/>
        </p:nvSpPr>
        <p:spPr>
          <a:xfrm>
            <a:off x="6424421" y="5022341"/>
            <a:ext cx="408940" cy="553720"/>
          </a:xfrm>
          <a:custGeom>
            <a:avLst/>
            <a:gdLst/>
            <a:ahLst/>
            <a:cxnLst/>
            <a:rect l="l" t="t" r="r" b="b"/>
            <a:pathLst>
              <a:path w="408940" h="553720">
                <a:moveTo>
                  <a:pt x="0" y="0"/>
                </a:moveTo>
                <a:lnTo>
                  <a:pt x="408431" y="553211"/>
                </a:lnTo>
              </a:path>
            </a:pathLst>
          </a:custGeom>
          <a:ln w="38100">
            <a:solidFill>
              <a:srgbClr val="D135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424421" y="5849873"/>
            <a:ext cx="408940" cy="315595"/>
          </a:xfrm>
          <a:custGeom>
            <a:avLst/>
            <a:gdLst/>
            <a:ahLst/>
            <a:cxnLst/>
            <a:rect l="l" t="t" r="r" b="b"/>
            <a:pathLst>
              <a:path w="408940" h="315595">
                <a:moveTo>
                  <a:pt x="408431" y="0"/>
                </a:moveTo>
                <a:lnTo>
                  <a:pt x="0" y="315468"/>
                </a:lnTo>
              </a:path>
            </a:pathLst>
          </a:custGeom>
          <a:ln w="38100">
            <a:solidFill>
              <a:srgbClr val="D1350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6826250" y="5376007"/>
          <a:ext cx="2144395" cy="626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4860"/>
              </a:tblGrid>
              <a:tr h="31305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SUM(DISTINCT</a:t>
                      </a:r>
                      <a:r>
                        <a:rPr dirty="0" sz="1600" spc="-8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3055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41000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7488153" y="2596526"/>
          <a:ext cx="1482090" cy="621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190"/>
              </a:tblGrid>
              <a:tr h="31051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SUM(SALARY)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 descr=""/>
          <p:cNvSpPr txBox="1"/>
          <p:nvPr/>
        </p:nvSpPr>
        <p:spPr>
          <a:xfrm>
            <a:off x="4927091" y="1036319"/>
            <a:ext cx="3961129" cy="9906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5880" rIns="0" bIns="0" rtlCol="0" vert="horz">
            <a:spAutoFit/>
          </a:bodyPr>
          <a:lstStyle/>
          <a:p>
            <a:pPr marR="1495425">
              <a:lnSpc>
                <a:spcPct val="100000"/>
              </a:lnSpc>
              <a:spcBef>
                <a:spcPts val="44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SUM(salary)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90;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927091" y="3829811"/>
            <a:ext cx="3961129" cy="9906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58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SUM(DISTINCT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90;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DISTINCT</a:t>
            </a:r>
            <a:r>
              <a:rPr dirty="0" spc="-40"/>
              <a:t> </a:t>
            </a:r>
            <a:r>
              <a:rPr dirty="0"/>
              <a:t>y</a:t>
            </a:r>
            <a:r>
              <a:rPr dirty="0" spc="-55"/>
              <a:t> </a:t>
            </a:r>
            <a:r>
              <a:rPr dirty="0" spc="-20"/>
              <a:t>COUNT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4037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DISTINCT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como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COUNT,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devolverá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duplicados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92162" y="4623578"/>
            <a:ext cx="302577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¿Cuántos</a:t>
            </a:r>
            <a:r>
              <a:rPr dirty="0" sz="1600" spc="-7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trabajos</a:t>
            </a:r>
            <a:r>
              <a:rPr dirty="0" sz="1600" spc="-6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0000"/>
                </a:solidFill>
                <a:latin typeface="Calibri"/>
                <a:cs typeface="Calibri"/>
              </a:rPr>
              <a:t>diferentes</a:t>
            </a:r>
            <a:r>
              <a:rPr dirty="0" sz="1600" spc="-7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0000"/>
                </a:solidFill>
                <a:latin typeface="Calibri"/>
                <a:cs typeface="Calibri"/>
              </a:rPr>
              <a:t>tienen </a:t>
            </a: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asignados</a:t>
            </a:r>
            <a:r>
              <a:rPr dirty="0" sz="16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los</a:t>
            </a:r>
            <a:r>
              <a:rPr dirty="0" sz="16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0000"/>
                </a:solidFill>
                <a:latin typeface="Calibri"/>
                <a:cs typeface="Calibri"/>
              </a:rPr>
              <a:t>empleados?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51013" y="4692493"/>
            <a:ext cx="316293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¿Cuántos</a:t>
            </a:r>
            <a:r>
              <a:rPr dirty="0" sz="1600" spc="-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importes</a:t>
            </a:r>
            <a:r>
              <a:rPr dirty="0" sz="16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dirty="0" sz="1600" spc="-6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0000"/>
                </a:solidFill>
                <a:latin typeface="Calibri"/>
                <a:cs typeface="Calibri"/>
              </a:rPr>
              <a:t>salarios diferentes</a:t>
            </a:r>
            <a:r>
              <a:rPr dirty="0" sz="1600" spc="-2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se</a:t>
            </a:r>
            <a:r>
              <a:rPr dirty="0" sz="1600" spc="-3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pagan</a:t>
            </a:r>
            <a:r>
              <a:rPr dirty="0" sz="1600" spc="-1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16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0000"/>
                </a:solidFill>
                <a:latin typeface="Calibri"/>
                <a:cs typeface="Calibri"/>
              </a:rPr>
              <a:t>los</a:t>
            </a:r>
            <a:r>
              <a:rPr dirty="0" sz="16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0000"/>
                </a:solidFill>
                <a:latin typeface="Calibri"/>
                <a:cs typeface="Calibri"/>
              </a:rPr>
              <a:t>empleados?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398462" y="3873585"/>
          <a:ext cx="3097530" cy="72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8630"/>
              </a:tblGrid>
              <a:tr h="364490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r>
                        <a:rPr dirty="0" sz="1600" spc="-5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(DISTINCT</a:t>
                      </a:r>
                      <a:r>
                        <a:rPr dirty="0" sz="16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4565650" y="3871032"/>
          <a:ext cx="3097530" cy="72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8630"/>
              </a:tblGrid>
              <a:tr h="364490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r>
                        <a:rPr dirty="0" sz="1600" spc="-5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(DISTINCT</a:t>
                      </a:r>
                      <a:r>
                        <a:rPr dirty="0" sz="1600" spc="-4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405384" y="2729483"/>
            <a:ext cx="3325495" cy="9906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52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(DISTINCT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job_id)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72000" y="2729483"/>
            <a:ext cx="4178935" cy="9906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924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1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(DISTINCT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NVL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72755" cy="41128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4000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veces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preferible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funciones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endParaRPr sz="2800">
              <a:latin typeface="Calibri"/>
              <a:cs typeface="Calibri"/>
            </a:endParaRPr>
          </a:p>
          <a:p>
            <a:pPr marL="182880" marR="50292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saber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pedidos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clientes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servidos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día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podría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determinar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cuánta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comida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pedir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mes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Algunos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días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restaurante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cerrado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sirve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clientes,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propietario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descubierto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calcular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inclusión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días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cerrado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indicador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fiable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solamente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contar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días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clientes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NVL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COUNT,</a:t>
            </a:r>
            <a:r>
              <a:rPr dirty="0" spc="5"/>
              <a:t> </a:t>
            </a:r>
            <a:r>
              <a:rPr dirty="0" spc="-10"/>
              <a:t>DISTINCT,</a:t>
            </a:r>
            <a:r>
              <a:rPr dirty="0"/>
              <a:t> </a:t>
            </a:r>
            <a:r>
              <a:rPr dirty="0" spc="-25"/>
              <a:t>NVL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16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3079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podría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escribir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empezando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por: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256409"/>
            <a:ext cx="54336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employees: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562126" y="3781678"/>
          <a:ext cx="3249930" cy="703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1030"/>
              </a:tblGrid>
              <a:tr h="3517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AVG(COMMISSION_PCT)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.2125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572020" y="4897959"/>
          <a:ext cx="3249930" cy="703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1030"/>
              </a:tblGrid>
              <a:tr h="3517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AVG(NVL(COMMISSION_PCT,0))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.0425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405384" y="2452116"/>
            <a:ext cx="8345805" cy="4438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71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AVG(NVL(customer_orders,</a:t>
            </a:r>
            <a:r>
              <a:rPr dirty="0" sz="1800" spc="-1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0))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5384" y="3788664"/>
            <a:ext cx="4791710" cy="71818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7150" rIns="0" bIns="0" rtlCol="0" vert="horz">
            <a:spAutoFit/>
          </a:bodyPr>
          <a:lstStyle/>
          <a:p>
            <a:pPr marR="123444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AVG(commission_pct)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3004" y="4873752"/>
            <a:ext cx="4784090" cy="8305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13030" rIns="0" bIns="0" rtlCol="0" vert="horz">
            <a:spAutoFit/>
          </a:bodyPr>
          <a:lstStyle/>
          <a:p>
            <a:pPr marR="135255">
              <a:lnSpc>
                <a:spcPct val="100000"/>
              </a:lnSpc>
              <a:spcBef>
                <a:spcPts val="89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AVG(NVL(commission_pct,</a:t>
            </a:r>
            <a:r>
              <a:rPr dirty="0" sz="1800" spc="-1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0))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2025-06-01T18:27:06Z</dcterms:created>
  <dcterms:modified xsi:type="dcterms:W3CDTF">2025-06-01T18:27:06Z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2025-04-20T00:00:00Z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