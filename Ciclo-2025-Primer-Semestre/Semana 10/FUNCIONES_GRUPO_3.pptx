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/Relationships>
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/Relationships>
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/Relationships>
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/Relationships>
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/Relationships>
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/Relationships>
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18:58:09</a:t>
            </a:r>
          </a:p>
          <a:p>
            <a:r>
              <a:t>--------------------------------------------</a:t>
            </a:r>
          </a:p>
          <a:p>
            <a:r>
              <a:t>Se puede utilizar una cláusula WHERE solo para incluir/excluir algunas filas, no grupos de filas. Por lo tanto, no podemos utilizar las funciones de grupo en una cláusula WHERE.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18:58:10</a:t>
            </a:r>
          </a:p>
          <a:p>
            <a:r>
              <a:t>--------------------------------------------</a:t>
            </a:r>
          </a:p>
          <a:p>
            <a:r>
              <a:t>La consulta encuentra primero el salario MAX de cada departamento en la tabla employees. A continuación, la cláusula HAVING restringe los grupos devueltos a los departamentos que tengan   más de 1 empleado.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18:58:10</a:t>
            </a:r>
          </a:p>
          <a:p>
            <a:r>
              <a:t>--------------------------------------------</a:t>
            </a:r>
          </a:p>
          <a:p>
            <a:r>
              <a:t>Las cláusulas HAVING y GROUP BY pueden utilizar diferentes columnas. En el ejemplo de la diapositiva se realizan GROUP BY en los valores region_id, pero la cláusula HAVING restringe los grupos según la población.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9-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las</a:t>
            </a:r>
            <a:r>
              <a:rPr dirty="0" spc="-15"/>
              <a:t> </a:t>
            </a:r>
            <a:r>
              <a:rPr dirty="0" spc="-10"/>
              <a:t>Cláusulas</a:t>
            </a:r>
            <a:r>
              <a:rPr dirty="0" spc="25"/>
              <a:t> </a:t>
            </a:r>
            <a:r>
              <a:rPr dirty="0"/>
              <a:t>Group</a:t>
            </a:r>
            <a:r>
              <a:rPr dirty="0" spc="-5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/>
              <a:t>y</a:t>
            </a:r>
            <a:r>
              <a:rPr dirty="0" spc="-20"/>
              <a:t> </a:t>
            </a:r>
            <a:r>
              <a:rPr dirty="0" spc="-10"/>
              <a:t>Having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9-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las</a:t>
            </a:r>
            <a:r>
              <a:rPr dirty="0" spc="-15"/>
              <a:t> </a:t>
            </a:r>
            <a:r>
              <a:rPr dirty="0" spc="-10"/>
              <a:t>Cláusulas</a:t>
            </a:r>
            <a:r>
              <a:rPr dirty="0" spc="25"/>
              <a:t> </a:t>
            </a:r>
            <a:r>
              <a:rPr dirty="0"/>
              <a:t>Group</a:t>
            </a:r>
            <a:r>
              <a:rPr dirty="0" spc="-5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/>
              <a:t>y</a:t>
            </a:r>
            <a:r>
              <a:rPr dirty="0" spc="-20"/>
              <a:t> </a:t>
            </a:r>
            <a:r>
              <a:rPr dirty="0" spc="-10"/>
              <a:t>Having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9-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las</a:t>
            </a:r>
            <a:r>
              <a:rPr dirty="0" spc="-15"/>
              <a:t> </a:t>
            </a:r>
            <a:r>
              <a:rPr dirty="0" spc="-10"/>
              <a:t>Cláusulas</a:t>
            </a:r>
            <a:r>
              <a:rPr dirty="0" spc="25"/>
              <a:t> </a:t>
            </a:r>
            <a:r>
              <a:rPr dirty="0"/>
              <a:t>Group</a:t>
            </a:r>
            <a:r>
              <a:rPr dirty="0" spc="-5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/>
              <a:t>y</a:t>
            </a:r>
            <a:r>
              <a:rPr dirty="0" spc="-20"/>
              <a:t> </a:t>
            </a:r>
            <a:r>
              <a:rPr dirty="0" spc="-10"/>
              <a:t>Having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9-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las</a:t>
            </a:r>
            <a:r>
              <a:rPr dirty="0" spc="-15"/>
              <a:t> </a:t>
            </a:r>
            <a:r>
              <a:rPr dirty="0" spc="-10"/>
              <a:t>Cláusulas</a:t>
            </a:r>
            <a:r>
              <a:rPr dirty="0" spc="25"/>
              <a:t> </a:t>
            </a:r>
            <a:r>
              <a:rPr dirty="0"/>
              <a:t>Group</a:t>
            </a:r>
            <a:r>
              <a:rPr dirty="0" spc="-5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/>
              <a:t>y</a:t>
            </a:r>
            <a:r>
              <a:rPr dirty="0" spc="-20"/>
              <a:t> </a:t>
            </a:r>
            <a:r>
              <a:rPr dirty="0" spc="-10"/>
              <a:t>Having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9-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las</a:t>
            </a:r>
            <a:r>
              <a:rPr dirty="0" spc="-15"/>
              <a:t> </a:t>
            </a:r>
            <a:r>
              <a:rPr dirty="0" spc="-10"/>
              <a:t>Cláusulas</a:t>
            </a:r>
            <a:r>
              <a:rPr dirty="0" spc="25"/>
              <a:t> </a:t>
            </a:r>
            <a:r>
              <a:rPr dirty="0"/>
              <a:t>Group</a:t>
            </a:r>
            <a:r>
              <a:rPr dirty="0" spc="-5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/>
              <a:t>y</a:t>
            </a:r>
            <a:r>
              <a:rPr dirty="0" spc="-20"/>
              <a:t> </a:t>
            </a:r>
            <a:r>
              <a:rPr dirty="0" spc="-10"/>
              <a:t>Having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112" y="748031"/>
            <a:ext cx="6245859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552" y="1415417"/>
            <a:ext cx="8134350" cy="2090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119" y="6589648"/>
            <a:ext cx="322262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74191" y="6516395"/>
            <a:ext cx="1740535" cy="24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9-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las</a:t>
            </a:r>
            <a:r>
              <a:rPr dirty="0" spc="-15"/>
              <a:t> </a:t>
            </a:r>
            <a:r>
              <a:rPr dirty="0" spc="-10"/>
              <a:t>Cláusulas</a:t>
            </a:r>
            <a:r>
              <a:rPr dirty="0" spc="25"/>
              <a:t> </a:t>
            </a:r>
            <a:r>
              <a:rPr dirty="0"/>
              <a:t>Group</a:t>
            </a:r>
            <a:r>
              <a:rPr dirty="0" spc="-5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/>
              <a:t>y</a:t>
            </a:r>
            <a:r>
              <a:rPr dirty="0" spc="-20"/>
              <a:t> </a:t>
            </a:r>
            <a:r>
              <a:rPr dirty="0" spc="-10"/>
              <a:t>Having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25090" y="6567768"/>
            <a:ext cx="2171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Relationship Id="rId6" Type="http://schemas.openxmlformats.org/officeDocument/2006/relationships/slide" Target="slide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slide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6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slide" Target="slide7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Relationship Id="rId4" Type="http://schemas.openxmlformats.org/officeDocument/2006/relationships/slide" Target="slide8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9.xml"/><Relationship Id="rId5" Type="http://schemas.openxmlformats.org/officeDocument/2006/relationships/slide" Target="slide9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slide" Target="slide10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slide" Target="slide1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slide" Target="slide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" y="5570219"/>
              <a:ext cx="1258824" cy="42062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78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15" y="862895"/>
            <a:ext cx="7047865" cy="1342390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</a:pPr>
            <a:r>
              <a:rPr dirty="0" sz="4800"/>
              <a:t>Database</a:t>
            </a:r>
            <a:r>
              <a:rPr dirty="0" sz="4800" spc="-190"/>
              <a:t> </a:t>
            </a:r>
            <a:r>
              <a:rPr dirty="0" sz="4800" spc="-20"/>
              <a:t>Programming</a:t>
            </a:r>
            <a:r>
              <a:rPr dirty="0" sz="4800" spc="-185"/>
              <a:t> </a:t>
            </a:r>
            <a:r>
              <a:rPr dirty="0" sz="4800" spc="-20"/>
              <a:t>with </a:t>
            </a:r>
            <a:r>
              <a:rPr dirty="0" sz="4800" spc="-25"/>
              <a:t>SQL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879" y="2400950"/>
            <a:ext cx="4947920" cy="8883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9-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Uso</a:t>
            </a:r>
            <a:r>
              <a:rPr dirty="0" sz="2400" spc="-6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2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400" spc="-4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Cláusulas</a:t>
            </a:r>
            <a:r>
              <a:rPr dirty="0" sz="2400" spc="-3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Group</a:t>
            </a:r>
            <a:r>
              <a:rPr dirty="0" sz="2400" spc="-4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By</a:t>
            </a:r>
            <a:r>
              <a:rPr dirty="0" sz="2400" spc="-3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Having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98747" y="3485388"/>
            <a:ext cx="5058156" cy="2965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572761" y="1524761"/>
            <a:ext cx="0" cy="4419600"/>
          </a:xfrm>
          <a:custGeom>
            <a:avLst/>
            <a:gdLst/>
            <a:ahLst/>
            <a:cxnLst/>
            <a:rect l="l" t="t" r="r" b="b"/>
            <a:pathLst>
              <a:path w="0" h="4419600">
                <a:moveTo>
                  <a:pt x="0" y="0"/>
                </a:moveTo>
                <a:lnTo>
                  <a:pt x="0" y="4419600"/>
                </a:lnTo>
              </a:path>
            </a:pathLst>
          </a:custGeom>
          <a:ln w="19812">
            <a:solidFill>
              <a:srgbClr val="E0E2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83552" y="1491489"/>
            <a:ext cx="3883660" cy="401129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469900" marR="203200" indent="-45720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469900" algn="l"/>
              </a:tabLst>
            </a:pP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Utilice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cláusula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GROUP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BY</a:t>
            </a:r>
            <a:r>
              <a:rPr dirty="0" u="heavy" sz="2800" spc="-1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para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dividir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filas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grupos</a:t>
            </a:r>
            <a:endParaRPr sz="2800">
              <a:latin typeface="Calibri"/>
              <a:cs typeface="Calibri"/>
            </a:endParaRPr>
          </a:p>
          <a:p>
            <a:pPr marL="469900">
              <a:lnSpc>
                <a:spcPts val="2965"/>
              </a:lnSpc>
            </a:pP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más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pequeños</a:t>
            </a:r>
            <a:endParaRPr sz="2800">
              <a:latin typeface="Calibri"/>
              <a:cs typeface="Calibri"/>
            </a:endParaRPr>
          </a:p>
          <a:p>
            <a:pPr marL="469900" marR="5080" indent="-457200">
              <a:lnSpc>
                <a:spcPts val="3030"/>
              </a:lnSpc>
              <a:spcBef>
                <a:spcPts val="840"/>
              </a:spcBef>
              <a:buClr>
                <a:srgbClr val="D1350F"/>
              </a:buClr>
              <a:buFont typeface="Arial MT"/>
              <a:buChar char="•"/>
              <a:tabLst>
                <a:tab pos="46990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continuación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puede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funciones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grupo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devolver información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resumen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grupo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Uso</a:t>
            </a:r>
            <a:r>
              <a:rPr dirty="0" spc="-45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/>
              <a:t>GROUP</a:t>
            </a:r>
            <a:r>
              <a:rPr dirty="0" spc="-15"/>
              <a:t> </a:t>
            </a:r>
            <a:r>
              <a:rPr dirty="0" spc="-25"/>
              <a:t>BY</a:t>
            </a: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4968610" y="3016368"/>
          <a:ext cx="4018915" cy="2640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6550"/>
                <a:gridCol w="2323465"/>
              </a:tblGrid>
              <a:tr h="29337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AVG(SALARY)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4400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9500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3500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6400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80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10033.3333333333333333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19333.3333333333333333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10150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7000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/>
          <p:nvPr/>
        </p:nvSpPr>
        <p:spPr>
          <a:xfrm>
            <a:off x="4378452" y="1427988"/>
            <a:ext cx="4526280" cy="1315720"/>
          </a:xfrm>
          <a:custGeom>
            <a:avLst/>
            <a:gdLst/>
            <a:ahLst/>
            <a:cxnLst/>
            <a:rect l="l" t="t" r="r" b="b"/>
            <a:pathLst>
              <a:path w="4526280" h="1315720">
                <a:moveTo>
                  <a:pt x="4526280" y="0"/>
                </a:moveTo>
                <a:lnTo>
                  <a:pt x="0" y="0"/>
                </a:lnTo>
                <a:lnTo>
                  <a:pt x="0" y="1315212"/>
                </a:lnTo>
                <a:lnTo>
                  <a:pt x="4526280" y="1315212"/>
                </a:lnTo>
                <a:lnTo>
                  <a:pt x="4526280" y="0"/>
                </a:lnTo>
                <a:close/>
              </a:path>
            </a:pathLst>
          </a:custGeom>
          <a:solidFill>
            <a:srgbClr val="9DBEC4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365806" y="1496685"/>
            <a:ext cx="453072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1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department_id,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AVG(salary)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12700" marR="137096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GROUP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BY</a:t>
            </a:r>
            <a:r>
              <a:rPr dirty="0" sz="18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department_id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ORDER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BY</a:t>
            </a:r>
            <a:r>
              <a:rPr dirty="0" sz="18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department_id;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9-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las</a:t>
            </a:r>
            <a:r>
              <a:rPr dirty="0" spc="-15"/>
              <a:t> </a:t>
            </a:r>
            <a:r>
              <a:rPr dirty="0" spc="-10"/>
              <a:t>Cláusulas</a:t>
            </a:r>
            <a:r>
              <a:rPr dirty="0" spc="25"/>
              <a:t> </a:t>
            </a:r>
            <a:r>
              <a:rPr dirty="0"/>
              <a:t>Group</a:t>
            </a:r>
            <a:r>
              <a:rPr dirty="0" spc="-5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/>
              <a:t>y</a:t>
            </a:r>
            <a:r>
              <a:rPr dirty="0" spc="-20"/>
              <a:t> </a:t>
            </a:r>
            <a:r>
              <a:rPr dirty="0" spc="-10"/>
              <a:t>Having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8750490" y="6567768"/>
            <a:ext cx="89535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z="1000" spc="-50" b="1">
                <a:solidFill>
                  <a:srgbClr val="4E3629"/>
                </a:solidFill>
                <a:latin typeface="Calibri"/>
                <a:cs typeface="Calibri"/>
              </a:rPr>
              <a:t>6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GROUP</a:t>
            </a:r>
            <a:r>
              <a:rPr dirty="0" spc="-55"/>
              <a:t> </a:t>
            </a:r>
            <a:r>
              <a:rPr dirty="0"/>
              <a:t>BY</a:t>
            </a:r>
            <a:r>
              <a:rPr dirty="0" spc="-65"/>
              <a:t> </a:t>
            </a:r>
            <a:r>
              <a:rPr dirty="0"/>
              <a:t>en</a:t>
            </a:r>
            <a:r>
              <a:rPr dirty="0" spc="-65"/>
              <a:t> </a:t>
            </a:r>
            <a:r>
              <a:rPr dirty="0" spc="-10"/>
              <a:t>SELECT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963534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Normalmente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deseamos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incluir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GROUP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BY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lista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SELECT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26000" y="3643193"/>
          <a:ext cx="1887855" cy="2152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1225"/>
                <a:gridCol w="887730"/>
              </a:tblGrid>
              <a:tr h="26860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24000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17000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17000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4200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/>
          <p:nvPr/>
        </p:nvSpPr>
        <p:spPr>
          <a:xfrm>
            <a:off x="2631185" y="3923538"/>
            <a:ext cx="1537970" cy="509270"/>
          </a:xfrm>
          <a:custGeom>
            <a:avLst/>
            <a:gdLst/>
            <a:ahLst/>
            <a:cxnLst/>
            <a:rect l="l" t="t" r="r" b="b"/>
            <a:pathLst>
              <a:path w="1537970" h="509270">
                <a:moveTo>
                  <a:pt x="0" y="0"/>
                </a:moveTo>
                <a:lnTo>
                  <a:pt x="1537716" y="509016"/>
                </a:lnTo>
              </a:path>
            </a:pathLst>
          </a:custGeom>
          <a:ln w="28956">
            <a:solidFill>
              <a:srgbClr val="D135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631185" y="4860797"/>
            <a:ext cx="1537970" cy="574675"/>
          </a:xfrm>
          <a:custGeom>
            <a:avLst/>
            <a:gdLst/>
            <a:ahLst/>
            <a:cxnLst/>
            <a:rect l="l" t="t" r="r" b="b"/>
            <a:pathLst>
              <a:path w="1537970" h="574675">
                <a:moveTo>
                  <a:pt x="1537715" y="0"/>
                </a:moveTo>
                <a:lnTo>
                  <a:pt x="0" y="574548"/>
                </a:lnTo>
              </a:path>
            </a:pathLst>
          </a:custGeom>
          <a:ln w="28956">
            <a:solidFill>
              <a:srgbClr val="D1350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4161339" y="3981100"/>
          <a:ext cx="3453765" cy="1344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4339"/>
                <a:gridCol w="1659889"/>
              </a:tblGrid>
              <a:tr h="26924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MAX(SALARY)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7000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24000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13000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9-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las</a:t>
            </a:r>
            <a:r>
              <a:rPr dirty="0" spc="-15"/>
              <a:t> </a:t>
            </a:r>
            <a:r>
              <a:rPr dirty="0" spc="-10"/>
              <a:t>Cláusulas</a:t>
            </a:r>
            <a:r>
              <a:rPr dirty="0" spc="25"/>
              <a:t> </a:t>
            </a:r>
            <a:r>
              <a:rPr dirty="0"/>
              <a:t>Group</a:t>
            </a:r>
            <a:r>
              <a:rPr dirty="0" spc="-5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/>
              <a:t>y</a:t>
            </a:r>
            <a:r>
              <a:rPr dirty="0" spc="-20"/>
              <a:t> </a:t>
            </a:r>
            <a:r>
              <a:rPr dirty="0" spc="-10"/>
              <a:t>Having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8750490" y="6567768"/>
            <a:ext cx="15367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z="1000" spc="-25" b="1">
                <a:solidFill>
                  <a:srgbClr val="4E3629"/>
                </a:solidFill>
                <a:latin typeface="Calibri"/>
                <a:cs typeface="Calibri"/>
              </a:rPr>
              <a:t>10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391668" y="2293620"/>
            <a:ext cx="8347075" cy="99568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57785" rIns="0" bIns="0" rtlCol="0" vert="horz">
            <a:spAutoFit/>
          </a:bodyPr>
          <a:lstStyle/>
          <a:p>
            <a:pPr marR="3833495">
              <a:lnSpc>
                <a:spcPct val="100000"/>
              </a:lnSpc>
              <a:spcBef>
                <a:spcPts val="45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1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department_id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,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MAX(salary)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GROUP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BY</a:t>
            </a:r>
            <a:r>
              <a:rPr dirty="0" sz="18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D1350F"/>
                </a:solidFill>
                <a:latin typeface="Courier New"/>
                <a:cs typeface="Courier New"/>
              </a:rPr>
              <a:t>department_id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Más</a:t>
            </a:r>
            <a:r>
              <a:rPr dirty="0" spc="-55"/>
              <a:t> </a:t>
            </a:r>
            <a:r>
              <a:rPr dirty="0"/>
              <a:t>Ejemplos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/>
              <a:t>GROUP</a:t>
            </a:r>
            <a:r>
              <a:rPr dirty="0" spc="-25"/>
              <a:t> BY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9-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las</a:t>
            </a:r>
            <a:r>
              <a:rPr dirty="0" spc="-15"/>
              <a:t> </a:t>
            </a:r>
            <a:r>
              <a:rPr dirty="0" spc="-10"/>
              <a:t>Cláusulas</a:t>
            </a:r>
            <a:r>
              <a:rPr dirty="0" spc="25"/>
              <a:t> </a:t>
            </a:r>
            <a:r>
              <a:rPr dirty="0"/>
              <a:t>Group</a:t>
            </a:r>
            <a:r>
              <a:rPr dirty="0" spc="-5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/>
              <a:t>y</a:t>
            </a:r>
            <a:r>
              <a:rPr dirty="0" spc="-20"/>
              <a:t> </a:t>
            </a:r>
            <a:r>
              <a:rPr dirty="0" spc="-10"/>
              <a:t>Having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15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481570" cy="13220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Muestre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población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media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países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región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1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Redondee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media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entero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3911729"/>
            <a:ext cx="7942580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Cuente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idiomas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hablados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países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5384" y="2767583"/>
            <a:ext cx="8345805" cy="112331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5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region_id,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ROUND(AVG(population))</a:t>
            </a:r>
            <a:r>
              <a:rPr dirty="0" sz="1800" spc="-1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11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population</a:t>
            </a:r>
            <a:endParaRPr sz="1800">
              <a:latin typeface="Courier New"/>
              <a:cs typeface="Courier New"/>
            </a:endParaRPr>
          </a:p>
          <a:p>
            <a:pPr marR="574294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wf_countries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GROUP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BY</a:t>
            </a:r>
            <a:r>
              <a:rPr dirty="0" sz="18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region_id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ORDER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BY</a:t>
            </a:r>
            <a:r>
              <a:rPr dirty="0" sz="18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region_id;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99288" y="4760976"/>
            <a:ext cx="8345805" cy="112204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39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country_id,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COUNT(language_id)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"Number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of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languages"</a:t>
            </a:r>
            <a:endParaRPr sz="1800">
              <a:latin typeface="Courier New"/>
              <a:cs typeface="Courier New"/>
            </a:endParaRPr>
          </a:p>
          <a:p>
            <a:pPr marR="506158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wf_spoken_languages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GROUP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BY</a:t>
            </a:r>
            <a:r>
              <a:rPr dirty="0" sz="18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country_id;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Directrices</a:t>
            </a:r>
            <a:r>
              <a:rPr dirty="0" spc="-70"/>
              <a:t> </a:t>
            </a:r>
            <a:r>
              <a:rPr dirty="0"/>
              <a:t>de</a:t>
            </a:r>
            <a:r>
              <a:rPr dirty="0" spc="-85"/>
              <a:t> </a:t>
            </a:r>
            <a:r>
              <a:rPr dirty="0"/>
              <a:t>GROUP</a:t>
            </a:r>
            <a:r>
              <a:rPr dirty="0" spc="-60"/>
              <a:t> </a:t>
            </a:r>
            <a:r>
              <a:rPr dirty="0" spc="-25"/>
              <a:t>BY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9-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las</a:t>
            </a:r>
            <a:r>
              <a:rPr dirty="0" spc="-15"/>
              <a:t> </a:t>
            </a:r>
            <a:r>
              <a:rPr dirty="0" spc="-10"/>
              <a:t>Cláusulas</a:t>
            </a:r>
            <a:r>
              <a:rPr dirty="0" spc="25"/>
              <a:t> </a:t>
            </a:r>
            <a:r>
              <a:rPr dirty="0"/>
              <a:t>Group</a:t>
            </a:r>
            <a:r>
              <a:rPr dirty="0" spc="-5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/>
              <a:t>y</a:t>
            </a:r>
            <a:r>
              <a:rPr dirty="0" spc="-20"/>
              <a:t> </a:t>
            </a:r>
            <a:r>
              <a:rPr dirty="0" spc="-10"/>
              <a:t>Having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16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967980" cy="362521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directrices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importantes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deben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olvidar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al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GROUP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BY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son:</a:t>
            </a:r>
            <a:endParaRPr sz="2800">
              <a:latin typeface="Calibri"/>
              <a:cs typeface="Calibri"/>
            </a:endParaRPr>
          </a:p>
          <a:p>
            <a:pPr marL="530860" marR="132715" indent="-175260">
              <a:lnSpc>
                <a:spcPts val="2590"/>
              </a:lnSpc>
              <a:spcBef>
                <a:spcPts val="425"/>
              </a:spcBef>
            </a:pPr>
            <a:r>
              <a:rPr dirty="0" sz="2400" spc="55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55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incluye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función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grupo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(AVG,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SUM,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COUNT,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MAX,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MIN,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STDDEV,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VARIANCE)</a:t>
            </a:r>
            <a:r>
              <a:rPr dirty="0" sz="24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4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SELECT</a:t>
            </a:r>
            <a:r>
              <a:rPr dirty="0" sz="24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junto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con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cualquier</a:t>
            </a:r>
            <a:r>
              <a:rPr dirty="0" sz="24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otra</a:t>
            </a:r>
            <a:r>
              <a:rPr dirty="0" sz="24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4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individual,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cada</a:t>
            </a:r>
            <a:r>
              <a:rPr dirty="0" sz="24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4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individual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también</a:t>
            </a:r>
            <a:r>
              <a:rPr dirty="0" sz="24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debe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aparecer</a:t>
            </a:r>
            <a:r>
              <a:rPr dirty="0" sz="24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GROUP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BY</a:t>
            </a:r>
            <a:endParaRPr sz="2400">
              <a:latin typeface="Calibri"/>
              <a:cs typeface="Calibri"/>
            </a:endParaRPr>
          </a:p>
          <a:p>
            <a:pPr marL="530860" marR="75565" indent="-175260">
              <a:lnSpc>
                <a:spcPts val="2590"/>
              </a:lnSpc>
              <a:spcBef>
                <a:spcPts val="40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alias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GROUP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BY</a:t>
            </a:r>
            <a:endParaRPr sz="2400">
              <a:latin typeface="Calibri"/>
              <a:cs typeface="Calibri"/>
            </a:endParaRPr>
          </a:p>
          <a:p>
            <a:pPr marL="530860" marR="158115" indent="-175260">
              <a:lnSpc>
                <a:spcPts val="2590"/>
              </a:lnSpc>
              <a:spcBef>
                <a:spcPts val="40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WHERE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excluye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antes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dividan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grupos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83552" y="1491489"/>
            <a:ext cx="3840479" cy="401129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469900" marR="190500" indent="-45720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46990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veces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que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dividir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grupos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en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grupos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más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pequeños</a:t>
            </a:r>
            <a:endParaRPr sz="2800">
              <a:latin typeface="Calibri"/>
              <a:cs typeface="Calibri"/>
            </a:endParaRPr>
          </a:p>
          <a:p>
            <a:pPr marL="469900" marR="5080" indent="-457200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46990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114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puede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desee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agrupar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empleados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departamento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y,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continuación,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dentro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departamento,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agruparlos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trabajo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9-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las</a:t>
            </a:r>
            <a:r>
              <a:rPr dirty="0" spc="-15"/>
              <a:t> </a:t>
            </a:r>
            <a:r>
              <a:rPr dirty="0" spc="-10"/>
              <a:t>Cláusulas</a:t>
            </a:r>
            <a:r>
              <a:rPr dirty="0" spc="25"/>
              <a:t> </a:t>
            </a:r>
            <a:r>
              <a:rPr dirty="0"/>
              <a:t>Group</a:t>
            </a:r>
            <a:r>
              <a:rPr dirty="0" spc="-5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/>
              <a:t>y</a:t>
            </a:r>
            <a:r>
              <a:rPr dirty="0" spc="-20"/>
              <a:t> </a:t>
            </a:r>
            <a:r>
              <a:rPr dirty="0" spc="-10"/>
              <a:t>Having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17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Grupos</a:t>
            </a:r>
            <a:r>
              <a:rPr dirty="0" spc="-60"/>
              <a:t> </a:t>
            </a:r>
            <a:r>
              <a:rPr dirty="0"/>
              <a:t>dentro</a:t>
            </a:r>
            <a:r>
              <a:rPr dirty="0" spc="-70"/>
              <a:t> </a:t>
            </a:r>
            <a:r>
              <a:rPr dirty="0"/>
              <a:t>de</a:t>
            </a:r>
            <a:r>
              <a:rPr dirty="0" spc="-70"/>
              <a:t> </a:t>
            </a:r>
            <a:r>
              <a:rPr dirty="0" spc="-10"/>
              <a:t>GRUPOS</a:t>
            </a: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4263897" y="1524000"/>
          <a:ext cx="4692015" cy="4418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7195"/>
                <a:gridCol w="1344930"/>
                <a:gridCol w="1413509"/>
                <a:gridCol w="1424939"/>
              </a:tblGrid>
              <a:tr h="148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800" spc="-2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SEL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dirty="0" sz="1800" spc="-2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cou FRO WHE GRO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27940">
                    <a:lnR w="28575">
                      <a:solidFill>
                        <a:srgbClr val="E0E2E1"/>
                      </a:solidFill>
                      <a:prstDash val="solid"/>
                    </a:lnR>
                    <a:solidFill>
                      <a:srgbClr val="9DBEC4">
                        <a:alpha val="50199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07950" marR="522605" indent="-6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ECT</a:t>
                      </a:r>
                      <a:r>
                        <a:rPr dirty="0" sz="1800" spc="-8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department_id,</a:t>
                      </a:r>
                      <a:r>
                        <a:rPr dirty="0" sz="1800" spc="-9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job_id, </a:t>
                      </a:r>
                      <a:r>
                        <a:rPr dirty="0" sz="1800" spc="-2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nt(*)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</a:pP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M</a:t>
                      </a:r>
                      <a:r>
                        <a:rPr dirty="0" sz="1800" spc="-1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employees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</a:pP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RE</a:t>
                      </a:r>
                      <a:r>
                        <a:rPr dirty="0" sz="1800" spc="-5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department_id</a:t>
                      </a:r>
                      <a:r>
                        <a:rPr dirty="0" sz="1800" spc="-5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&gt;</a:t>
                      </a:r>
                      <a:r>
                        <a:rPr dirty="0" sz="1800" spc="-6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2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40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</a:pP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UP</a:t>
                      </a:r>
                      <a:r>
                        <a:rPr dirty="0" sz="1800" spc="-7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BY</a:t>
                      </a:r>
                      <a:r>
                        <a:rPr dirty="0" sz="1800" spc="-6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department_id,</a:t>
                      </a:r>
                      <a:r>
                        <a:rPr dirty="0" sz="1800" spc="-5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job_id;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27940">
                    <a:lnL w="28575">
                      <a:solidFill>
                        <a:srgbClr val="E0E2E1"/>
                      </a:solidFill>
                      <a:prstDash val="solid"/>
                    </a:lnL>
                    <a:solidFill>
                      <a:srgbClr val="9DBEC4">
                        <a:alpha val="5019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44805">
                <a:tc rowSpan="9"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E0E2E1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0E2E1"/>
                      </a:solidFill>
                      <a:prstDash val="solid"/>
                    </a:lnL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432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28575">
                      <a:solidFill>
                        <a:srgbClr val="E0E2E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8265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JOB_ID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COUNT(*)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003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28575">
                      <a:solidFill>
                        <a:srgbClr val="E0E2E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AC_ACCOUNT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003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28575">
                      <a:solidFill>
                        <a:srgbClr val="E0E2E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ST_CLERK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003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28575">
                      <a:solidFill>
                        <a:srgbClr val="E0E2E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80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SA_REP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003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28575">
                      <a:solidFill>
                        <a:srgbClr val="E0E2E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AD_VP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003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28575">
                      <a:solidFill>
                        <a:srgbClr val="E0E2E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ST_MAN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003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28575">
                      <a:solidFill>
                        <a:srgbClr val="E0E2E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454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28575">
                      <a:solidFill>
                        <a:srgbClr val="E0E2E1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0E2E1"/>
                      </a:solidFill>
                      <a:prstDash val="solid"/>
                    </a:lnL>
                    <a:lnT w="12700">
                      <a:solidFill>
                        <a:srgbClr val="D1350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Anidamiento</a:t>
            </a:r>
            <a:r>
              <a:rPr dirty="0" spc="-45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/>
              <a:t>Funciones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70"/>
              <a:t> </a:t>
            </a:r>
            <a:r>
              <a:rPr dirty="0" spc="-10"/>
              <a:t>Grupo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9-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las</a:t>
            </a:r>
            <a:r>
              <a:rPr dirty="0" spc="-15"/>
              <a:t> </a:t>
            </a:r>
            <a:r>
              <a:rPr dirty="0" spc="-10"/>
              <a:t>Cláusulas</a:t>
            </a:r>
            <a:r>
              <a:rPr dirty="0" spc="25"/>
              <a:t> </a:t>
            </a:r>
            <a:r>
              <a:rPr dirty="0"/>
              <a:t>Group</a:t>
            </a:r>
            <a:r>
              <a:rPr dirty="0" spc="-5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/>
              <a:t>y</a:t>
            </a:r>
            <a:r>
              <a:rPr dirty="0" spc="-20"/>
              <a:t> </a:t>
            </a:r>
            <a:r>
              <a:rPr dirty="0" spc="-10"/>
              <a:t>Having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19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166609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funciones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grupo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pueden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anidar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profundidad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cuando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utilice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GROUP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BY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3196363"/>
            <a:ext cx="8075295" cy="1766570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56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¿Cuántos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valores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devuelven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consulta?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844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respuesta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uno: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buscará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salario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medio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departamento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y,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continuación,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esa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lista,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seleccionará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único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mayor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5384" y="2322576"/>
            <a:ext cx="8345805" cy="82931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7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max(avg(salary))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GROUP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by</a:t>
            </a:r>
            <a:r>
              <a:rPr dirty="0" sz="18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department_id;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HAVING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91805" cy="17062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Suponga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desea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buscar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salario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máximo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cada 	departamento,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aquellos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departamentos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tengan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más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empleado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09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¿Qué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incorrecto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ejemplo?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59" y="4777740"/>
            <a:ext cx="829056" cy="68580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499506" y="5040184"/>
            <a:ext cx="34899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3300"/>
                </a:solidFill>
                <a:latin typeface="Calibri"/>
                <a:cs typeface="Calibri"/>
              </a:rPr>
              <a:t>ORA-</a:t>
            </a:r>
            <a:r>
              <a:rPr dirty="0" sz="1400" b="1">
                <a:solidFill>
                  <a:srgbClr val="FF3300"/>
                </a:solidFill>
                <a:latin typeface="Calibri"/>
                <a:cs typeface="Calibri"/>
              </a:rPr>
              <a:t>00934:</a:t>
            </a:r>
            <a:r>
              <a:rPr dirty="0" sz="1400" spc="-20" b="1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3300"/>
                </a:solidFill>
                <a:latin typeface="Calibri"/>
                <a:cs typeface="Calibri"/>
              </a:rPr>
              <a:t>group</a:t>
            </a:r>
            <a:r>
              <a:rPr dirty="0" sz="1400" spc="-50" b="1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3300"/>
                </a:solidFill>
                <a:latin typeface="Calibri"/>
                <a:cs typeface="Calibri"/>
              </a:rPr>
              <a:t>function</a:t>
            </a:r>
            <a:r>
              <a:rPr dirty="0" sz="1400" spc="-45" b="1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3300"/>
                </a:solidFill>
                <a:latin typeface="Calibri"/>
                <a:cs typeface="Calibri"/>
              </a:rPr>
              <a:t>is</a:t>
            </a:r>
            <a:r>
              <a:rPr dirty="0" sz="1400" spc="-20" b="1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3300"/>
                </a:solidFill>
                <a:latin typeface="Calibri"/>
                <a:cs typeface="Calibri"/>
              </a:rPr>
              <a:t>not</a:t>
            </a:r>
            <a:r>
              <a:rPr dirty="0" sz="1400" spc="-40" b="1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3300"/>
                </a:solidFill>
                <a:latin typeface="Calibri"/>
                <a:cs typeface="Calibri"/>
              </a:rPr>
              <a:t>allowed</a:t>
            </a:r>
            <a:r>
              <a:rPr dirty="0" sz="1400" spc="-45" b="1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3300"/>
                </a:solidFill>
                <a:latin typeface="Calibri"/>
                <a:cs typeface="Calibri"/>
              </a:rPr>
              <a:t>here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9-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las</a:t>
            </a:r>
            <a:r>
              <a:rPr dirty="0" spc="-15"/>
              <a:t> </a:t>
            </a:r>
            <a:r>
              <a:rPr dirty="0" spc="-10"/>
              <a:t>Cláusulas</a:t>
            </a:r>
            <a:r>
              <a:rPr dirty="0" spc="25"/>
              <a:t> </a:t>
            </a:r>
            <a:r>
              <a:rPr dirty="0"/>
              <a:t>Group</a:t>
            </a:r>
            <a:r>
              <a:rPr dirty="0" spc="-5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/>
              <a:t>y</a:t>
            </a:r>
            <a:r>
              <a:rPr dirty="0" spc="-20"/>
              <a:t> </a:t>
            </a:r>
            <a:r>
              <a:rPr dirty="0" spc="-10"/>
              <a:t>Having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20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405384" y="3285744"/>
            <a:ext cx="8345805" cy="124841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46990" rIns="0" bIns="0" rtlCol="0" vert="horz">
            <a:spAutoFit/>
          </a:bodyPr>
          <a:lstStyle/>
          <a:p>
            <a:pPr marR="3832860">
              <a:lnSpc>
                <a:spcPct val="100000"/>
              </a:lnSpc>
              <a:spcBef>
                <a:spcPts val="37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1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department_id,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MAX(salary)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COUNT(*)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&gt;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GROUP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BY</a:t>
            </a:r>
            <a:r>
              <a:rPr dirty="0" sz="18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department_id;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HAVING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46415" cy="28587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just" marL="182880" marR="8890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misma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forma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utilizado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WHERE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restringir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seleccionó,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HAVING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restringir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grupos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GROUP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BY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HAVING,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primero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agrupan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aplican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funciones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grupo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y,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continuación,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muestran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grupos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coincidan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HAVING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364991" y="4677155"/>
            <a:ext cx="1849120" cy="1801495"/>
            <a:chOff x="3364991" y="4677155"/>
            <a:chExt cx="1849120" cy="180149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4991" y="4677155"/>
              <a:ext cx="1848612" cy="180136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7287" y="4759451"/>
              <a:ext cx="1684019" cy="1636775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9-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las</a:t>
            </a:r>
            <a:r>
              <a:rPr dirty="0" spc="-15"/>
              <a:t> </a:t>
            </a:r>
            <a:r>
              <a:rPr dirty="0" spc="-10"/>
              <a:t>Cláusulas</a:t>
            </a:r>
            <a:r>
              <a:rPr dirty="0" spc="25"/>
              <a:t> </a:t>
            </a:r>
            <a:r>
              <a:rPr dirty="0"/>
              <a:t>Group</a:t>
            </a:r>
            <a:r>
              <a:rPr dirty="0" spc="-5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/>
              <a:t>y</a:t>
            </a:r>
            <a:r>
              <a:rPr dirty="0" spc="-20"/>
              <a:t> </a:t>
            </a:r>
            <a:r>
              <a:rPr dirty="0" spc="-10"/>
              <a:t>Having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21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HAVING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951470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WHERE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restringir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filas;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HAVING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restringir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grupos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devueltos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GROUP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BY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5658027" y="2730474"/>
          <a:ext cx="3169920" cy="1976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9425"/>
                <a:gridCol w="1330960"/>
              </a:tblGrid>
              <a:tr h="3683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MAX(SALARY)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13000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5800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80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11000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24000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marL="71755">
                        <a:lnSpc>
                          <a:spcPts val="191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1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12000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 descr=""/>
          <p:cNvGrpSpPr/>
          <p:nvPr/>
        </p:nvGrpSpPr>
        <p:grpSpPr>
          <a:xfrm>
            <a:off x="4901184" y="3176016"/>
            <a:ext cx="662940" cy="647700"/>
            <a:chOff x="4901184" y="3176016"/>
            <a:chExt cx="662940" cy="647700"/>
          </a:xfrm>
        </p:grpSpPr>
        <p:sp>
          <p:nvSpPr>
            <p:cNvPr id="6" name="object 6" descr=""/>
            <p:cNvSpPr/>
            <p:nvPr/>
          </p:nvSpPr>
          <p:spPr>
            <a:xfrm>
              <a:off x="4905756" y="3180588"/>
              <a:ext cx="654050" cy="638810"/>
            </a:xfrm>
            <a:custGeom>
              <a:avLst/>
              <a:gdLst/>
              <a:ahLst/>
              <a:cxnLst/>
              <a:rect l="l" t="t" r="r" b="b"/>
              <a:pathLst>
                <a:path w="654050" h="638810">
                  <a:moveTo>
                    <a:pt x="438962" y="0"/>
                  </a:moveTo>
                  <a:lnTo>
                    <a:pt x="438962" y="159638"/>
                  </a:lnTo>
                  <a:lnTo>
                    <a:pt x="0" y="159638"/>
                  </a:lnTo>
                  <a:lnTo>
                    <a:pt x="0" y="478917"/>
                  </a:lnTo>
                  <a:lnTo>
                    <a:pt x="438962" y="478917"/>
                  </a:lnTo>
                  <a:lnTo>
                    <a:pt x="438962" y="638556"/>
                  </a:lnTo>
                  <a:lnTo>
                    <a:pt x="653796" y="319277"/>
                  </a:lnTo>
                  <a:lnTo>
                    <a:pt x="438962" y="0"/>
                  </a:lnTo>
                  <a:close/>
                </a:path>
              </a:pathLst>
            </a:custGeom>
            <a:solidFill>
              <a:srgbClr val="D135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905756" y="3180588"/>
              <a:ext cx="654050" cy="638810"/>
            </a:xfrm>
            <a:custGeom>
              <a:avLst/>
              <a:gdLst/>
              <a:ahLst/>
              <a:cxnLst/>
              <a:rect l="l" t="t" r="r" b="b"/>
              <a:pathLst>
                <a:path w="654050" h="638810">
                  <a:moveTo>
                    <a:pt x="0" y="159638"/>
                  </a:moveTo>
                  <a:lnTo>
                    <a:pt x="438962" y="159638"/>
                  </a:lnTo>
                  <a:lnTo>
                    <a:pt x="438962" y="0"/>
                  </a:lnTo>
                  <a:lnTo>
                    <a:pt x="653796" y="319277"/>
                  </a:lnTo>
                  <a:lnTo>
                    <a:pt x="438962" y="638555"/>
                  </a:lnTo>
                  <a:lnTo>
                    <a:pt x="438962" y="478916"/>
                  </a:lnTo>
                  <a:lnTo>
                    <a:pt x="0" y="478916"/>
                  </a:lnTo>
                  <a:lnTo>
                    <a:pt x="0" y="159638"/>
                  </a:lnTo>
                  <a:close/>
                </a:path>
              </a:pathLst>
            </a:custGeom>
            <a:ln w="9144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397763" y="2737104"/>
            <a:ext cx="4392295" cy="152590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48895" rIns="0" bIns="0" rtlCol="0" vert="horz">
            <a:spAutoFit/>
          </a:bodyPr>
          <a:lstStyle/>
          <a:p>
            <a:pPr marL="635" marR="14604">
              <a:lnSpc>
                <a:spcPct val="100000"/>
              </a:lnSpc>
              <a:spcBef>
                <a:spcPts val="38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department_id,MAX(salary)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635" marR="137985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GROUP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BY</a:t>
            </a:r>
            <a:r>
              <a:rPr dirty="0" sz="18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department_id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HAVING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COUNT(*)&gt;1</a:t>
            </a:r>
            <a:endParaRPr sz="1800">
              <a:latin typeface="Courier New"/>
              <a:cs typeface="Courier New"/>
            </a:endParaRPr>
          </a:p>
          <a:p>
            <a:pPr marL="63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ORDER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BY</a:t>
            </a:r>
            <a:r>
              <a:rPr dirty="0" sz="18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department_id;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9-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las</a:t>
            </a:r>
            <a:r>
              <a:rPr dirty="0" spc="-15"/>
              <a:t> </a:t>
            </a:r>
            <a:r>
              <a:rPr dirty="0" spc="-10"/>
              <a:t>Cláusulas</a:t>
            </a:r>
            <a:r>
              <a:rPr dirty="0" spc="25"/>
              <a:t> </a:t>
            </a:r>
            <a:r>
              <a:rPr dirty="0"/>
              <a:t>Group</a:t>
            </a:r>
            <a:r>
              <a:rPr dirty="0" spc="-5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/>
              <a:t>y</a:t>
            </a:r>
            <a:r>
              <a:rPr dirty="0" spc="-20"/>
              <a:t> </a:t>
            </a:r>
            <a:r>
              <a:rPr dirty="0" spc="-10"/>
              <a:t>Having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22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HAVING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Esta</a:t>
            </a:r>
            <a:r>
              <a:rPr dirty="0" spc="-75"/>
              <a:t> </a:t>
            </a:r>
            <a:r>
              <a:rPr dirty="0"/>
              <a:t>consulta</a:t>
            </a:r>
            <a:r>
              <a:rPr dirty="0" spc="-45"/>
              <a:t> </a:t>
            </a:r>
            <a:r>
              <a:rPr dirty="0"/>
              <a:t>busca</a:t>
            </a:r>
            <a:r>
              <a:rPr dirty="0" spc="-50"/>
              <a:t> </a:t>
            </a:r>
            <a:r>
              <a:rPr dirty="0"/>
              <a:t>la</a:t>
            </a:r>
            <a:r>
              <a:rPr dirty="0" spc="-70"/>
              <a:t> </a:t>
            </a:r>
            <a:r>
              <a:rPr dirty="0"/>
              <a:t>población</a:t>
            </a:r>
            <a:r>
              <a:rPr dirty="0" spc="-60"/>
              <a:t> </a:t>
            </a:r>
            <a:r>
              <a:rPr dirty="0"/>
              <a:t>media</a:t>
            </a:r>
            <a:r>
              <a:rPr dirty="0" spc="-60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/>
              <a:t>los</a:t>
            </a:r>
            <a:r>
              <a:rPr dirty="0" spc="-80"/>
              <a:t> </a:t>
            </a:r>
            <a:r>
              <a:rPr dirty="0"/>
              <a:t>países</a:t>
            </a:r>
            <a:r>
              <a:rPr dirty="0" spc="-55"/>
              <a:t> </a:t>
            </a:r>
            <a:r>
              <a:rPr dirty="0" spc="-25"/>
              <a:t>de </a:t>
            </a:r>
            <a:r>
              <a:rPr dirty="0" spc="-25"/>
              <a:t>	</a:t>
            </a:r>
            <a:r>
              <a:rPr dirty="0"/>
              <a:t>cada</a:t>
            </a:r>
            <a:r>
              <a:rPr dirty="0" spc="-60"/>
              <a:t> </a:t>
            </a:r>
            <a:r>
              <a:rPr dirty="0" spc="-10"/>
              <a:t>región</a:t>
            </a:r>
          </a:p>
          <a:p>
            <a:pPr marL="182880" marR="34290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A</a:t>
            </a:r>
            <a:r>
              <a:rPr dirty="0" spc="-50"/>
              <a:t> </a:t>
            </a:r>
            <a:r>
              <a:rPr dirty="0" spc="-10"/>
              <a:t>continuación,</a:t>
            </a:r>
            <a:r>
              <a:rPr dirty="0" spc="-30"/>
              <a:t> </a:t>
            </a:r>
            <a:r>
              <a:rPr dirty="0"/>
              <a:t>solo</a:t>
            </a:r>
            <a:r>
              <a:rPr dirty="0" spc="-45"/>
              <a:t> </a:t>
            </a:r>
            <a:r>
              <a:rPr dirty="0"/>
              <a:t>devuelve</a:t>
            </a:r>
            <a:r>
              <a:rPr dirty="0" spc="-45"/>
              <a:t> </a:t>
            </a:r>
            <a:r>
              <a:rPr dirty="0"/>
              <a:t>los</a:t>
            </a:r>
            <a:r>
              <a:rPr dirty="0" spc="-55"/>
              <a:t> </a:t>
            </a:r>
            <a:r>
              <a:rPr dirty="0"/>
              <a:t>grupos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50"/>
              <a:t> </a:t>
            </a:r>
            <a:r>
              <a:rPr dirty="0" spc="-10"/>
              <a:t>regiones </a:t>
            </a:r>
            <a:r>
              <a:rPr dirty="0" spc="-10"/>
              <a:t>	</a:t>
            </a:r>
            <a:r>
              <a:rPr dirty="0"/>
              <a:t>con</a:t>
            </a:r>
            <a:r>
              <a:rPr dirty="0" spc="-80"/>
              <a:t> </a:t>
            </a:r>
            <a:r>
              <a:rPr dirty="0"/>
              <a:t>una</a:t>
            </a:r>
            <a:r>
              <a:rPr dirty="0" spc="-70"/>
              <a:t> </a:t>
            </a:r>
            <a:r>
              <a:rPr dirty="0"/>
              <a:t>población</a:t>
            </a:r>
            <a:r>
              <a:rPr dirty="0" spc="-60"/>
              <a:t> </a:t>
            </a:r>
            <a:r>
              <a:rPr dirty="0"/>
              <a:t>inferior</a:t>
            </a:r>
            <a:r>
              <a:rPr dirty="0" spc="-80"/>
              <a:t> </a:t>
            </a:r>
            <a:r>
              <a:rPr dirty="0"/>
              <a:t>superior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90"/>
              <a:t> </a:t>
            </a:r>
            <a:r>
              <a:rPr dirty="0" spc="-10"/>
              <a:t>trescientos</a:t>
            </a:r>
            <a:r>
              <a:rPr dirty="0" spc="-70"/>
              <a:t> </a:t>
            </a:r>
            <a:r>
              <a:rPr dirty="0" spc="-25"/>
              <a:t>mil</a:t>
            </a: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5187917" y="3540638"/>
          <a:ext cx="3639820" cy="2312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770"/>
                <a:gridCol w="2470150"/>
              </a:tblGrid>
              <a:tr h="36512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REGION_ID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ROUND(AVG(POPULATION))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7813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27037687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7813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18729285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7813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193332379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7813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173268273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7813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143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12023602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7813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145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8522790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7813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151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28343051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 descr=""/>
          <p:cNvGrpSpPr/>
          <p:nvPr/>
        </p:nvGrpSpPr>
        <p:grpSpPr>
          <a:xfrm>
            <a:off x="4623815" y="4172711"/>
            <a:ext cx="518159" cy="647700"/>
            <a:chOff x="4623815" y="4172711"/>
            <a:chExt cx="518159" cy="647700"/>
          </a:xfrm>
        </p:grpSpPr>
        <p:sp>
          <p:nvSpPr>
            <p:cNvPr id="6" name="object 6" descr=""/>
            <p:cNvSpPr/>
            <p:nvPr/>
          </p:nvSpPr>
          <p:spPr>
            <a:xfrm>
              <a:off x="4628387" y="4177283"/>
              <a:ext cx="509270" cy="638810"/>
            </a:xfrm>
            <a:custGeom>
              <a:avLst/>
              <a:gdLst/>
              <a:ahLst/>
              <a:cxnLst/>
              <a:rect l="l" t="t" r="r" b="b"/>
              <a:pathLst>
                <a:path w="509270" h="638810">
                  <a:moveTo>
                    <a:pt x="337769" y="0"/>
                  </a:moveTo>
                  <a:lnTo>
                    <a:pt x="337769" y="159639"/>
                  </a:lnTo>
                  <a:lnTo>
                    <a:pt x="0" y="159639"/>
                  </a:lnTo>
                  <a:lnTo>
                    <a:pt x="0" y="478917"/>
                  </a:lnTo>
                  <a:lnTo>
                    <a:pt x="337769" y="478917"/>
                  </a:lnTo>
                  <a:lnTo>
                    <a:pt x="337769" y="638556"/>
                  </a:lnTo>
                  <a:lnTo>
                    <a:pt x="509015" y="319278"/>
                  </a:lnTo>
                  <a:lnTo>
                    <a:pt x="337769" y="0"/>
                  </a:lnTo>
                  <a:close/>
                </a:path>
              </a:pathLst>
            </a:custGeom>
            <a:solidFill>
              <a:srgbClr val="D135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628387" y="4177283"/>
              <a:ext cx="509270" cy="638810"/>
            </a:xfrm>
            <a:custGeom>
              <a:avLst/>
              <a:gdLst/>
              <a:ahLst/>
              <a:cxnLst/>
              <a:rect l="l" t="t" r="r" b="b"/>
              <a:pathLst>
                <a:path w="509270" h="638810">
                  <a:moveTo>
                    <a:pt x="0" y="159638"/>
                  </a:moveTo>
                  <a:lnTo>
                    <a:pt x="337769" y="159638"/>
                  </a:lnTo>
                  <a:lnTo>
                    <a:pt x="337769" y="0"/>
                  </a:lnTo>
                  <a:lnTo>
                    <a:pt x="509016" y="319277"/>
                  </a:lnTo>
                  <a:lnTo>
                    <a:pt x="337769" y="638555"/>
                  </a:lnTo>
                  <a:lnTo>
                    <a:pt x="337769" y="478916"/>
                  </a:lnTo>
                  <a:lnTo>
                    <a:pt x="0" y="478916"/>
                  </a:lnTo>
                  <a:lnTo>
                    <a:pt x="0" y="159638"/>
                  </a:lnTo>
                  <a:close/>
                </a:path>
              </a:pathLst>
            </a:custGeom>
            <a:ln w="9144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397763" y="3592067"/>
            <a:ext cx="4174490" cy="181102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53975" rIns="0" bIns="0" rtlCol="0" vert="horz">
            <a:spAutoFit/>
          </a:bodyPr>
          <a:lstStyle/>
          <a:p>
            <a:pPr marL="274955" marR="889000" indent="-274320">
              <a:lnSpc>
                <a:spcPct val="100000"/>
              </a:lnSpc>
              <a:spcBef>
                <a:spcPts val="42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region_id, ROUND(AVG(population))</a:t>
            </a:r>
            <a:endParaRPr sz="1800">
              <a:latin typeface="Courier New"/>
              <a:cs typeface="Courier New"/>
            </a:endParaRPr>
          </a:p>
          <a:p>
            <a:pPr marL="635" marR="1707514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wf_countries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GROUP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BY</a:t>
            </a:r>
            <a:r>
              <a:rPr dirty="0" sz="18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region_id</a:t>
            </a:r>
            <a:endParaRPr sz="1800">
              <a:latin typeface="Courier New"/>
              <a:cs typeface="Courier New"/>
            </a:endParaRPr>
          </a:p>
          <a:p>
            <a:pPr marL="635" marR="20637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HAVING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MIN(population)&gt;300000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ORDER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BY</a:t>
            </a:r>
            <a:r>
              <a:rPr dirty="0" sz="18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region_id;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9-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las</a:t>
            </a:r>
            <a:r>
              <a:rPr dirty="0" spc="-15"/>
              <a:t> </a:t>
            </a:r>
            <a:r>
              <a:rPr dirty="0" spc="-10"/>
              <a:t>Cláusulas</a:t>
            </a:r>
            <a:r>
              <a:rPr dirty="0" spc="25"/>
              <a:t> </a:t>
            </a:r>
            <a:r>
              <a:rPr dirty="0"/>
              <a:t>Group</a:t>
            </a:r>
            <a:r>
              <a:rPr dirty="0" spc="-5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/>
              <a:t>y</a:t>
            </a:r>
            <a:r>
              <a:rPr dirty="0" spc="-20"/>
              <a:t> </a:t>
            </a:r>
            <a:r>
              <a:rPr dirty="0" spc="-10"/>
              <a:t>Having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23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HAVING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9-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las</a:t>
            </a:r>
            <a:r>
              <a:rPr dirty="0" spc="-15"/>
              <a:t> </a:t>
            </a:r>
            <a:r>
              <a:rPr dirty="0" spc="-10"/>
              <a:t>Cláusulas</a:t>
            </a:r>
            <a:r>
              <a:rPr dirty="0" spc="25"/>
              <a:t> </a:t>
            </a:r>
            <a:r>
              <a:rPr dirty="0"/>
              <a:t>Group</a:t>
            </a:r>
            <a:r>
              <a:rPr dirty="0" spc="-5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/>
              <a:t>y</a:t>
            </a:r>
            <a:r>
              <a:rPr dirty="0" spc="-20"/>
              <a:t> </a:t>
            </a:r>
            <a:r>
              <a:rPr dirty="0" spc="-10"/>
              <a:t>Having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24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Aunque</a:t>
            </a:r>
            <a:r>
              <a:rPr dirty="0" spc="-45"/>
              <a:t> </a:t>
            </a:r>
            <a:r>
              <a:rPr dirty="0"/>
              <a:t>la</a:t>
            </a:r>
            <a:r>
              <a:rPr dirty="0" spc="-75"/>
              <a:t> </a:t>
            </a:r>
            <a:r>
              <a:rPr dirty="0"/>
              <a:t>cláusula</a:t>
            </a:r>
            <a:r>
              <a:rPr dirty="0" spc="-65"/>
              <a:t> </a:t>
            </a:r>
            <a:r>
              <a:rPr dirty="0" spc="-10"/>
              <a:t>HAVING</a:t>
            </a:r>
            <a:r>
              <a:rPr dirty="0" spc="-60"/>
              <a:t> </a:t>
            </a:r>
            <a:r>
              <a:rPr dirty="0"/>
              <a:t>puede</a:t>
            </a:r>
            <a:r>
              <a:rPr dirty="0" spc="-55"/>
              <a:t> </a:t>
            </a:r>
            <a:r>
              <a:rPr dirty="0"/>
              <a:t>preceder</a:t>
            </a:r>
            <a:r>
              <a:rPr dirty="0" spc="-70"/>
              <a:t> </a:t>
            </a:r>
            <a:r>
              <a:rPr dirty="0"/>
              <a:t>a</a:t>
            </a:r>
            <a:r>
              <a:rPr dirty="0" spc="-80"/>
              <a:t> </a:t>
            </a:r>
            <a:r>
              <a:rPr dirty="0" spc="-25"/>
              <a:t>la </a:t>
            </a:r>
            <a:r>
              <a:rPr dirty="0" spc="-25"/>
              <a:t>	</a:t>
            </a:r>
            <a:r>
              <a:rPr dirty="0"/>
              <a:t>cláusula</a:t>
            </a:r>
            <a:r>
              <a:rPr dirty="0" spc="-55"/>
              <a:t> </a:t>
            </a:r>
            <a:r>
              <a:rPr dirty="0"/>
              <a:t>GROUP</a:t>
            </a:r>
            <a:r>
              <a:rPr dirty="0" spc="-70"/>
              <a:t> </a:t>
            </a:r>
            <a:r>
              <a:rPr dirty="0"/>
              <a:t>BY</a:t>
            </a:r>
            <a:r>
              <a:rPr dirty="0" spc="-85"/>
              <a:t> </a:t>
            </a:r>
            <a:r>
              <a:rPr dirty="0"/>
              <a:t>en</a:t>
            </a:r>
            <a:r>
              <a:rPr dirty="0" spc="-75"/>
              <a:t> </a:t>
            </a:r>
            <a:r>
              <a:rPr dirty="0"/>
              <a:t>una</a:t>
            </a:r>
            <a:r>
              <a:rPr dirty="0" spc="-55"/>
              <a:t> </a:t>
            </a:r>
            <a:r>
              <a:rPr dirty="0"/>
              <a:t>sentencia</a:t>
            </a:r>
            <a:r>
              <a:rPr dirty="0" spc="-60"/>
              <a:t> </a:t>
            </a:r>
            <a:r>
              <a:rPr dirty="0" spc="-35"/>
              <a:t>SELECT,</a:t>
            </a:r>
            <a:r>
              <a:rPr dirty="0" spc="-90"/>
              <a:t> </a:t>
            </a:r>
            <a:r>
              <a:rPr dirty="0" spc="-25"/>
              <a:t>se </a:t>
            </a:r>
            <a:r>
              <a:rPr dirty="0" spc="-25"/>
              <a:t>	</a:t>
            </a:r>
            <a:r>
              <a:rPr dirty="0"/>
              <a:t>recomienda</a:t>
            </a:r>
            <a:r>
              <a:rPr dirty="0" spc="-55"/>
              <a:t> </a:t>
            </a:r>
            <a:r>
              <a:rPr dirty="0"/>
              <a:t>que</a:t>
            </a:r>
            <a:r>
              <a:rPr dirty="0" spc="-45"/>
              <a:t> </a:t>
            </a:r>
            <a:r>
              <a:rPr dirty="0"/>
              <a:t>coloque</a:t>
            </a:r>
            <a:r>
              <a:rPr dirty="0" spc="-45"/>
              <a:t> </a:t>
            </a:r>
            <a:r>
              <a:rPr dirty="0"/>
              <a:t>cada</a:t>
            </a:r>
            <a:r>
              <a:rPr dirty="0" spc="-65"/>
              <a:t> </a:t>
            </a:r>
            <a:r>
              <a:rPr dirty="0"/>
              <a:t>cláusula</a:t>
            </a:r>
            <a:r>
              <a:rPr dirty="0" spc="-50"/>
              <a:t> </a:t>
            </a:r>
            <a:r>
              <a:rPr dirty="0"/>
              <a:t>en</a:t>
            </a:r>
            <a:r>
              <a:rPr dirty="0" spc="-55"/>
              <a:t> </a:t>
            </a:r>
            <a:r>
              <a:rPr dirty="0"/>
              <a:t>el</a:t>
            </a:r>
            <a:r>
              <a:rPr dirty="0" spc="-75"/>
              <a:t> </a:t>
            </a:r>
            <a:r>
              <a:rPr dirty="0"/>
              <a:t>orden</a:t>
            </a:r>
            <a:r>
              <a:rPr dirty="0" spc="-60"/>
              <a:t> </a:t>
            </a:r>
            <a:r>
              <a:rPr dirty="0" spc="-25"/>
              <a:t>que </a:t>
            </a:r>
            <a:r>
              <a:rPr dirty="0" spc="-25"/>
              <a:t>	</a:t>
            </a:r>
            <a:r>
              <a:rPr dirty="0"/>
              <a:t>se</a:t>
            </a:r>
            <a:r>
              <a:rPr dirty="0" spc="-25"/>
              <a:t> </a:t>
            </a:r>
            <a:r>
              <a:rPr dirty="0" spc="-10"/>
              <a:t>muestra</a:t>
            </a:r>
          </a:p>
          <a:p>
            <a:pPr marL="183515" indent="-170815">
              <a:lnSpc>
                <a:spcPct val="100000"/>
              </a:lnSpc>
              <a:spcBef>
                <a:spcPts val="40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/>
              <a:t>La</a:t>
            </a:r>
            <a:r>
              <a:rPr dirty="0" spc="-60"/>
              <a:t> </a:t>
            </a:r>
            <a:r>
              <a:rPr dirty="0"/>
              <a:t>cláusula</a:t>
            </a:r>
            <a:r>
              <a:rPr dirty="0" spc="-25"/>
              <a:t> </a:t>
            </a:r>
            <a:r>
              <a:rPr dirty="0"/>
              <a:t>ORDER</a:t>
            </a:r>
            <a:r>
              <a:rPr dirty="0" spc="-40"/>
              <a:t> </a:t>
            </a:r>
            <a:r>
              <a:rPr dirty="0"/>
              <a:t>BY</a:t>
            </a:r>
            <a:r>
              <a:rPr dirty="0" spc="-55"/>
              <a:t> </a:t>
            </a:r>
            <a:r>
              <a:rPr dirty="0"/>
              <a:t>(si</a:t>
            </a:r>
            <a:r>
              <a:rPr dirty="0" spc="-50"/>
              <a:t> </a:t>
            </a:r>
            <a:r>
              <a:rPr dirty="0"/>
              <a:t>se</a:t>
            </a:r>
            <a:r>
              <a:rPr dirty="0" spc="-50"/>
              <a:t> </a:t>
            </a:r>
            <a:r>
              <a:rPr dirty="0"/>
              <a:t>utiliza)</a:t>
            </a:r>
            <a:r>
              <a:rPr dirty="0" spc="-40"/>
              <a:t> </a:t>
            </a:r>
            <a:r>
              <a:rPr dirty="0"/>
              <a:t>es</a:t>
            </a:r>
            <a:r>
              <a:rPr dirty="0" spc="-55"/>
              <a:t> </a:t>
            </a:r>
            <a:r>
              <a:rPr dirty="0"/>
              <a:t>siempre</a:t>
            </a:r>
            <a:r>
              <a:rPr dirty="0" spc="-30"/>
              <a:t> </a:t>
            </a:r>
            <a:r>
              <a:rPr dirty="0"/>
              <a:t>la</a:t>
            </a:r>
            <a:r>
              <a:rPr dirty="0" spc="-50"/>
              <a:t> </a:t>
            </a:r>
            <a:r>
              <a:rPr dirty="0" spc="-10"/>
              <a:t>última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655064" y="3678935"/>
            <a:ext cx="6174105" cy="181102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55244" rIns="0" bIns="0" rtlCol="0" vert="horz">
            <a:spAutoFit/>
          </a:bodyPr>
          <a:lstStyle/>
          <a:p>
            <a:pPr marR="2206625">
              <a:lnSpc>
                <a:spcPct val="100000"/>
              </a:lnSpc>
              <a:spcBef>
                <a:spcPts val="434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column,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group_function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endParaRPr sz="1800">
              <a:latin typeface="Courier New"/>
              <a:cs typeface="Courier New"/>
            </a:endParaRPr>
          </a:p>
          <a:p>
            <a:pPr marR="5071745">
              <a:lnSpc>
                <a:spcPct val="100000"/>
              </a:lnSpc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WHERE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GROUP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BY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HAVING 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ORDER</a:t>
            </a:r>
            <a:r>
              <a:rPr dirty="0" sz="1800" spc="-45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D1350F"/>
                </a:solidFill>
                <a:latin typeface="Courier New"/>
                <a:cs typeface="Courier New"/>
              </a:rPr>
              <a:t>BY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Oracle Academy</dc:creator>
  <dc:title>PowerPoint Presentation</dc:title>
  <dcterms:created xsi:type="dcterms:W3CDTF">2025-06-01T18:26:50Z</dcterms:created>
  <dcterms:modified xsi:type="dcterms:W3CDTF">2025-06-01T18:26:50Z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2025-04-20T00:00:00Z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15.3.1 (Build 24D70) Quartz PDFContext</vt:lpwstr>
  </property>
</Properties>
</file>