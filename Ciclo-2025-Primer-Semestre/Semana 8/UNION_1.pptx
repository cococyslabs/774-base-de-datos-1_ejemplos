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 u="heavy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 u="heavy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6192520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552" y="1419989"/>
            <a:ext cx="8165465" cy="4395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 u="heavy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645555" y="6516395"/>
            <a:ext cx="2201545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5090" y="6567768"/>
            <a:ext cx="2171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62895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3865879" cy="121729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7-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  <a:spcBef>
                <a:spcPts val="515"/>
              </a:spcBef>
            </a:pP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400" spc="-7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Igualitaria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 y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</a:pP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Producto</a:t>
            </a:r>
            <a:r>
              <a:rPr dirty="0" sz="2400" spc="-8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Cartesiano</a:t>
            </a:r>
            <a:r>
              <a:rPr dirty="0" sz="2400" spc="-8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7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99659" y="2601467"/>
            <a:ext cx="3934967" cy="38801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Comandos</a:t>
            </a:r>
            <a:r>
              <a:rPr dirty="0" spc="-80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 spc="-10"/>
              <a:t>Unión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68945" cy="1983739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juegos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comandos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pueden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realizar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conexiones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entre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datos: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9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Uniones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propiedad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Uniones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estándar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compatibles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ANSI/ISO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SQL: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99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9004" y="3755135"/>
            <a:ext cx="3745992" cy="2497835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5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Comparación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 spc="-10"/>
              <a:t>Unión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6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910195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Comparación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Uniones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Propiedad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con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Uniones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ANSI/ISO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SQL: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1999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798512" y="2636633"/>
          <a:ext cx="7633970" cy="3258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8829"/>
                <a:gridCol w="4206239"/>
              </a:tblGrid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Unión</a:t>
                      </a:r>
                      <a:r>
                        <a:rPr dirty="0" sz="1800" spc="-4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Propiedad</a:t>
                      </a:r>
                      <a:r>
                        <a:rPr dirty="0" sz="18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800" spc="-4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Oracle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Equivalente</a:t>
                      </a:r>
                      <a:r>
                        <a:rPr dirty="0" sz="1800" spc="-5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800" spc="-2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ANSI/ISO</a:t>
                      </a:r>
                      <a:r>
                        <a:rPr dirty="0" sz="1800" spc="-3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SQL:</a:t>
                      </a:r>
                      <a:r>
                        <a:rPr dirty="0" sz="1800" spc="5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1999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Producto</a:t>
                      </a:r>
                      <a:r>
                        <a:rPr dirty="0" sz="14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cartesiano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77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Unión</a:t>
                      </a:r>
                      <a:r>
                        <a:rPr dirty="0" sz="14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cruzada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77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0339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Unión</a:t>
                      </a:r>
                      <a:r>
                        <a:rPr dirty="0" sz="14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igualitaria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UNIÓN</a:t>
                      </a:r>
                      <a:r>
                        <a:rPr dirty="0" sz="14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NATURAL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Cláusula</a:t>
                      </a:r>
                      <a:r>
                        <a:rPr dirty="0" sz="14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JOIN</a:t>
                      </a:r>
                      <a:r>
                        <a:rPr dirty="0" sz="14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USING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Cláusula</a:t>
                      </a: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JOIN</a:t>
                      </a:r>
                      <a:r>
                        <a:rPr dirty="0" sz="14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4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(si</a:t>
                      </a:r>
                      <a:r>
                        <a:rPr dirty="0" sz="14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14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utiliza</a:t>
                      </a: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4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operador</a:t>
                      </a:r>
                      <a:r>
                        <a:rPr dirty="0" sz="14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400" spc="-3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igualdad)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8161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Unión</a:t>
                      </a:r>
                      <a:r>
                        <a:rPr dirty="0" sz="14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igualitaria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77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Cláusula</a:t>
                      </a: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779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Uniones</a:t>
            </a:r>
            <a:r>
              <a:rPr dirty="0" spc="-85"/>
              <a:t> </a:t>
            </a:r>
            <a:r>
              <a:rPr dirty="0"/>
              <a:t>Propiedad</a:t>
            </a:r>
            <a:r>
              <a:rPr dirty="0" spc="-90"/>
              <a:t> </a:t>
            </a:r>
            <a:r>
              <a:rPr dirty="0"/>
              <a:t>de</a:t>
            </a:r>
            <a:r>
              <a:rPr dirty="0" spc="-90"/>
              <a:t> </a:t>
            </a:r>
            <a:r>
              <a:rPr dirty="0" spc="-10"/>
              <a:t>ORACLE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7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864475" cy="17062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propiedad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Oracle,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utilice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condición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09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formato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básico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5384" y="3307079"/>
            <a:ext cx="8345805" cy="102108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71120" rIns="0" bIns="0" rtlCol="0" vert="horz">
            <a:spAutoFit/>
          </a:bodyPr>
          <a:lstStyle/>
          <a:p>
            <a:pPr marR="3560445">
              <a:lnSpc>
                <a:spcPct val="100000"/>
              </a:lnSpc>
              <a:spcBef>
                <a:spcPts val="56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table1.column,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table2.column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table1,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table2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table1.column1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table2.column2;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Uniones</a:t>
            </a:r>
            <a:r>
              <a:rPr dirty="0" spc="-85"/>
              <a:t> </a:t>
            </a:r>
            <a:r>
              <a:rPr dirty="0"/>
              <a:t>Propiedad</a:t>
            </a:r>
            <a:r>
              <a:rPr dirty="0" spc="-90"/>
              <a:t> </a:t>
            </a:r>
            <a:r>
              <a:rPr dirty="0"/>
              <a:t>de</a:t>
            </a:r>
            <a:r>
              <a:rPr dirty="0" spc="-90"/>
              <a:t> </a:t>
            </a:r>
            <a:r>
              <a:rPr dirty="0" spc="-10"/>
              <a:t>ORACLE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8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47684" cy="37287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28702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Imagine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problema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supondría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alumnos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misma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clase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tuvieran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mismo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apellido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Cuando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necesario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hablar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"Jackson",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profesor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aclara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qué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"Jackson"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trata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agregando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apellido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antes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endParaRPr sz="2800">
              <a:latin typeface="Calibri"/>
              <a:cs typeface="Calibri"/>
            </a:endParaRPr>
          </a:p>
          <a:p>
            <a:pPr marL="182880" marR="644525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fácil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leer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Join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y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acelerar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acceso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datos,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buena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práctica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agregar</a:t>
            </a:r>
            <a:r>
              <a:rPr dirty="0" sz="2800" spc="-1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delante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5384" y="5225796"/>
            <a:ext cx="8345805" cy="84137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14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table1.column,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table2.column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table1,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table2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table1.column1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table2.column2;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Uniones</a:t>
            </a:r>
            <a:r>
              <a:rPr dirty="0" spc="-85"/>
              <a:t> </a:t>
            </a:r>
            <a:r>
              <a:rPr dirty="0"/>
              <a:t>Propiedad</a:t>
            </a:r>
            <a:r>
              <a:rPr dirty="0" spc="-90"/>
              <a:t> </a:t>
            </a:r>
            <a:r>
              <a:rPr dirty="0"/>
              <a:t>de</a:t>
            </a:r>
            <a:r>
              <a:rPr dirty="0" spc="-90"/>
              <a:t> </a:t>
            </a:r>
            <a:r>
              <a:rPr dirty="0" spc="-10"/>
              <a:t>ORACLE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55371"/>
            <a:ext cx="7900034" cy="3404870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56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denomina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"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cualificar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sus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columnas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"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844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combinación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del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nombre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nombre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columna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ayuda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u="heavy" sz="2800" spc="-1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eliminar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nombres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ambiguos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cuando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dos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contienen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columna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mismo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nombre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columna</a:t>
            </a:r>
            <a:endParaRPr sz="2800">
              <a:latin typeface="Calibri"/>
              <a:cs typeface="Calibri"/>
            </a:endParaRPr>
          </a:p>
          <a:p>
            <a:pPr algn="just" marL="182880" marR="271780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aparece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mismo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ambas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debe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precedido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/>
              <a:t>Sintaxis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80"/>
              <a:t> </a:t>
            </a:r>
            <a:r>
              <a:rPr dirty="0" spc="-10"/>
              <a:t>Unión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10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962900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cualificar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utilice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sintaxis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nombretabla.nombrecolumna,</a:t>
            </a:r>
            <a:r>
              <a:rPr dirty="0" sz="2800" spc="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muestra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siguiente</a:t>
            </a:r>
            <a:r>
              <a:rPr dirty="0" sz="2800" spc="-1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5384" y="2743200"/>
            <a:ext cx="8345805" cy="84137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2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table1.column,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table2.column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table1,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table2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table1.column1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table2.column2;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UNIÓN</a:t>
            </a:r>
            <a:r>
              <a:rPr dirty="0" spc="-25"/>
              <a:t> </a:t>
            </a:r>
            <a:r>
              <a:rPr dirty="0" spc="-35"/>
              <a:t>IGUALITARIA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11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14604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none" sz="2800"/>
              <a:t>Algunas</a:t>
            </a:r>
            <a:r>
              <a:rPr dirty="0" u="none" sz="2800" spc="-65"/>
              <a:t> </a:t>
            </a:r>
            <a:r>
              <a:rPr dirty="0" u="none" sz="2800"/>
              <a:t>veces</a:t>
            </a:r>
            <a:r>
              <a:rPr dirty="0" u="none" sz="2800" spc="-90"/>
              <a:t> </a:t>
            </a:r>
            <a:r>
              <a:rPr dirty="0" u="none" sz="2800"/>
              <a:t>denominada</a:t>
            </a:r>
            <a:r>
              <a:rPr dirty="0" u="none" sz="2800" spc="-50"/>
              <a:t> </a:t>
            </a:r>
            <a:r>
              <a:rPr dirty="0" u="none" sz="2800"/>
              <a:t>unión</a:t>
            </a:r>
            <a:r>
              <a:rPr dirty="0" u="none" sz="2800" spc="-60"/>
              <a:t> </a:t>
            </a:r>
            <a:r>
              <a:rPr dirty="0" u="none" sz="2800"/>
              <a:t>"simple"</a:t>
            </a:r>
            <a:r>
              <a:rPr dirty="0" u="none" sz="2800" spc="-55"/>
              <a:t> </a:t>
            </a:r>
            <a:r>
              <a:rPr dirty="0" u="none" sz="2800"/>
              <a:t>o</a:t>
            </a:r>
            <a:r>
              <a:rPr dirty="0" u="none" sz="2800" spc="-85"/>
              <a:t> </a:t>
            </a:r>
            <a:r>
              <a:rPr dirty="0" u="none" sz="2800" spc="-10"/>
              <a:t>"interna", </a:t>
            </a:r>
            <a:r>
              <a:rPr dirty="0" u="none" sz="2800" spc="-10"/>
              <a:t>	</a:t>
            </a:r>
            <a:r>
              <a:rPr dirty="0" sz="2800"/>
              <a:t>una</a:t>
            </a:r>
            <a:r>
              <a:rPr dirty="0" sz="2800" spc="-50"/>
              <a:t> </a:t>
            </a:r>
            <a:r>
              <a:rPr dirty="0" sz="2800"/>
              <a:t>unión</a:t>
            </a:r>
            <a:r>
              <a:rPr dirty="0" sz="2800" spc="-40"/>
              <a:t> </a:t>
            </a:r>
            <a:r>
              <a:rPr dirty="0" sz="2800"/>
              <a:t>igualitaria</a:t>
            </a:r>
            <a:r>
              <a:rPr dirty="0" sz="2800" spc="-55"/>
              <a:t> </a:t>
            </a:r>
            <a:r>
              <a:rPr dirty="0" sz="2800"/>
              <a:t>es</a:t>
            </a:r>
            <a:r>
              <a:rPr dirty="0" sz="2800" spc="-55"/>
              <a:t> </a:t>
            </a:r>
            <a:r>
              <a:rPr dirty="0" sz="2800"/>
              <a:t>una</a:t>
            </a:r>
            <a:r>
              <a:rPr dirty="0" sz="2800" spc="-50"/>
              <a:t> </a:t>
            </a:r>
            <a:r>
              <a:rPr dirty="0" sz="2800"/>
              <a:t>unión</a:t>
            </a:r>
            <a:r>
              <a:rPr dirty="0" sz="2800" spc="-40"/>
              <a:t> </a:t>
            </a:r>
            <a:r>
              <a:rPr dirty="0" sz="2800"/>
              <a:t>de</a:t>
            </a:r>
            <a:r>
              <a:rPr dirty="0" sz="2800" spc="-50"/>
              <a:t> </a:t>
            </a:r>
            <a:r>
              <a:rPr dirty="0" sz="2800"/>
              <a:t>tabla</a:t>
            </a:r>
            <a:r>
              <a:rPr dirty="0" sz="2800" spc="-60"/>
              <a:t> </a:t>
            </a:r>
            <a:r>
              <a:rPr dirty="0" sz="2800" spc="-25"/>
              <a:t>que</a:t>
            </a:r>
            <a:r>
              <a:rPr dirty="0" u="none" sz="2800" spc="-25"/>
              <a:t> </a:t>
            </a:r>
            <a:r>
              <a:rPr dirty="0" u="none" sz="2800" spc="-25"/>
              <a:t>	</a:t>
            </a:r>
            <a:r>
              <a:rPr dirty="0" sz="2800"/>
              <a:t>combina</a:t>
            </a:r>
            <a:r>
              <a:rPr dirty="0" sz="2800" spc="-50"/>
              <a:t> </a:t>
            </a:r>
            <a:r>
              <a:rPr dirty="0" sz="2800"/>
              <a:t>filas</a:t>
            </a:r>
            <a:r>
              <a:rPr dirty="0" sz="2800" spc="-80"/>
              <a:t> </a:t>
            </a:r>
            <a:r>
              <a:rPr dirty="0" sz="2800"/>
              <a:t>con</a:t>
            </a:r>
            <a:r>
              <a:rPr dirty="0" sz="2800" spc="-65"/>
              <a:t> </a:t>
            </a:r>
            <a:r>
              <a:rPr dirty="0" sz="2800"/>
              <a:t>los</a:t>
            </a:r>
            <a:r>
              <a:rPr dirty="0" sz="2800" spc="-70"/>
              <a:t> </a:t>
            </a:r>
            <a:r>
              <a:rPr dirty="0" sz="2800"/>
              <a:t>mismos</a:t>
            </a:r>
            <a:r>
              <a:rPr dirty="0" sz="2800" spc="-45"/>
              <a:t> </a:t>
            </a:r>
            <a:r>
              <a:rPr dirty="0" sz="2800"/>
              <a:t>valores</a:t>
            </a:r>
            <a:r>
              <a:rPr dirty="0" sz="2800" spc="-85"/>
              <a:t> </a:t>
            </a:r>
            <a:r>
              <a:rPr dirty="0" sz="2800"/>
              <a:t>para</a:t>
            </a:r>
            <a:r>
              <a:rPr dirty="0" sz="2800" spc="-60"/>
              <a:t> </a:t>
            </a:r>
            <a:r>
              <a:rPr dirty="0" sz="2800"/>
              <a:t>las</a:t>
            </a:r>
            <a:r>
              <a:rPr dirty="0" sz="2800" spc="-75"/>
              <a:t> </a:t>
            </a:r>
            <a:r>
              <a:rPr dirty="0" sz="2800" spc="-10"/>
              <a:t>columnas</a:t>
            </a:r>
            <a:r>
              <a:rPr dirty="0" u="none" sz="2800" spc="-10"/>
              <a:t> </a:t>
            </a:r>
            <a:r>
              <a:rPr dirty="0" u="none" sz="2800" spc="-10"/>
              <a:t>	</a:t>
            </a:r>
            <a:r>
              <a:rPr dirty="0" sz="2800" spc="-10"/>
              <a:t>especificadas</a:t>
            </a:r>
            <a:endParaRPr sz="2800"/>
          </a:p>
          <a:p>
            <a:pPr marL="183515" indent="-170815">
              <a:lnSpc>
                <a:spcPct val="100000"/>
              </a:lnSpc>
              <a:spcBef>
                <a:spcPts val="40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u="none" sz="2800"/>
              <a:t>Una</a:t>
            </a:r>
            <a:r>
              <a:rPr dirty="0" u="none" sz="2800" spc="-50"/>
              <a:t> </a:t>
            </a:r>
            <a:r>
              <a:rPr dirty="0" u="none" sz="2800"/>
              <a:t>unión</a:t>
            </a:r>
            <a:r>
              <a:rPr dirty="0" u="none" sz="2800" spc="-20"/>
              <a:t> </a:t>
            </a:r>
            <a:r>
              <a:rPr dirty="0" u="none" sz="2800"/>
              <a:t>igualitaria</a:t>
            </a:r>
            <a:r>
              <a:rPr dirty="0" u="none" sz="2800" spc="-45"/>
              <a:t> </a:t>
            </a:r>
            <a:r>
              <a:rPr dirty="0" u="none" sz="2800"/>
              <a:t>es</a:t>
            </a:r>
            <a:r>
              <a:rPr dirty="0" u="none" sz="2800" spc="-40"/>
              <a:t> </a:t>
            </a:r>
            <a:r>
              <a:rPr dirty="0" u="none" sz="2800" spc="-10"/>
              <a:t>equivalente</a:t>
            </a:r>
            <a:r>
              <a:rPr dirty="0" u="none" sz="2800" spc="-50"/>
              <a:t> </a:t>
            </a:r>
            <a:r>
              <a:rPr dirty="0" u="none" sz="2800"/>
              <a:t>a</a:t>
            </a:r>
            <a:r>
              <a:rPr dirty="0" u="none" sz="2800" spc="-50"/>
              <a:t> </a:t>
            </a:r>
            <a:r>
              <a:rPr dirty="0" u="none" sz="2800" spc="-10"/>
              <a:t>ANSI:</a:t>
            </a:r>
            <a:endParaRPr sz="2800"/>
          </a:p>
          <a:p>
            <a:pPr marL="355600">
              <a:lnSpc>
                <a:spcPct val="100000"/>
              </a:lnSpc>
              <a:spcBef>
                <a:spcPts val="135"/>
              </a:spcBef>
            </a:pPr>
            <a:r>
              <a:rPr dirty="0" u="none" sz="2400">
                <a:solidFill>
                  <a:srgbClr val="D1350F"/>
                </a:solidFill>
              </a:rPr>
              <a:t>−</a:t>
            </a:r>
            <a:r>
              <a:rPr dirty="0" u="none" sz="2400"/>
              <a:t>NATURAL</a:t>
            </a:r>
            <a:r>
              <a:rPr dirty="0" u="none" sz="2400" spc="-85"/>
              <a:t> </a:t>
            </a:r>
            <a:r>
              <a:rPr dirty="0" u="none" sz="2400" spc="-20"/>
              <a:t>JOIN</a:t>
            </a:r>
            <a:endParaRPr sz="2400"/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dirty="0" u="none" sz="2400">
                <a:solidFill>
                  <a:srgbClr val="D1350F"/>
                </a:solidFill>
              </a:rPr>
              <a:t>−</a:t>
            </a:r>
            <a:r>
              <a:rPr dirty="0" u="none" sz="2400"/>
              <a:t>JOIN</a:t>
            </a:r>
            <a:r>
              <a:rPr dirty="0" u="none" sz="2400" spc="130"/>
              <a:t> </a:t>
            </a:r>
            <a:r>
              <a:rPr dirty="0" u="none" sz="2400" spc="-20"/>
              <a:t>USING</a:t>
            </a:r>
            <a:endParaRPr sz="2400"/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u="none" sz="2400">
                <a:solidFill>
                  <a:srgbClr val="D1350F"/>
                </a:solidFill>
              </a:rPr>
              <a:t>−</a:t>
            </a:r>
            <a:r>
              <a:rPr dirty="0" u="none" sz="2400"/>
              <a:t>JOIN</a:t>
            </a:r>
            <a:r>
              <a:rPr dirty="0" u="none" sz="2400" spc="-30"/>
              <a:t> </a:t>
            </a:r>
            <a:r>
              <a:rPr dirty="0" u="none" sz="2400"/>
              <a:t>ON</a:t>
            </a:r>
            <a:r>
              <a:rPr dirty="0" u="none" sz="2400" spc="-25"/>
              <a:t> </a:t>
            </a:r>
            <a:r>
              <a:rPr dirty="0" u="none" sz="2400"/>
              <a:t>(cuando</a:t>
            </a:r>
            <a:r>
              <a:rPr dirty="0" u="none" sz="2400" spc="-50"/>
              <a:t> </a:t>
            </a:r>
            <a:r>
              <a:rPr dirty="0" u="none" sz="2400"/>
              <a:t>la</a:t>
            </a:r>
            <a:r>
              <a:rPr dirty="0" u="none" sz="2400" spc="-25"/>
              <a:t> </a:t>
            </a:r>
            <a:r>
              <a:rPr dirty="0" u="none" sz="2400"/>
              <a:t>condición</a:t>
            </a:r>
            <a:r>
              <a:rPr dirty="0" u="none" sz="2400" spc="-40"/>
              <a:t> </a:t>
            </a:r>
            <a:r>
              <a:rPr dirty="0" u="none" sz="2400"/>
              <a:t>de</a:t>
            </a:r>
            <a:r>
              <a:rPr dirty="0" u="none" sz="2400" spc="-25"/>
              <a:t> </a:t>
            </a:r>
            <a:r>
              <a:rPr dirty="0" u="none" sz="2400"/>
              <a:t>unión</a:t>
            </a:r>
            <a:r>
              <a:rPr dirty="0" u="none" sz="2400" spc="-15"/>
              <a:t> </a:t>
            </a:r>
            <a:r>
              <a:rPr dirty="0" u="none" sz="2400"/>
              <a:t>utiliza</a:t>
            </a:r>
            <a:r>
              <a:rPr dirty="0" u="none" sz="2400" spc="-40"/>
              <a:t> </a:t>
            </a:r>
            <a:r>
              <a:rPr dirty="0" u="none" sz="2400" spc="-20"/>
              <a:t>"=")</a:t>
            </a:r>
            <a:endParaRPr sz="2400"/>
          </a:p>
          <a:p>
            <a:pPr marL="182880" marR="5080" indent="-170815">
              <a:lnSpc>
                <a:spcPts val="3030"/>
              </a:lnSpc>
              <a:spcBef>
                <a:spcPts val="81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none" sz="2800"/>
              <a:t>En</a:t>
            </a:r>
            <a:r>
              <a:rPr dirty="0" u="none" sz="2800" spc="-65"/>
              <a:t> </a:t>
            </a:r>
            <a:r>
              <a:rPr dirty="0" u="none" sz="2800"/>
              <a:t>la</a:t>
            </a:r>
            <a:r>
              <a:rPr dirty="0" u="none" sz="2800" spc="-70"/>
              <a:t> </a:t>
            </a:r>
            <a:r>
              <a:rPr dirty="0" u="none" sz="2800"/>
              <a:t>siguiente</a:t>
            </a:r>
            <a:r>
              <a:rPr dirty="0" u="none" sz="2800" spc="-50"/>
              <a:t> </a:t>
            </a:r>
            <a:r>
              <a:rPr dirty="0" u="none" sz="2800"/>
              <a:t>diapositiva</a:t>
            </a:r>
            <a:r>
              <a:rPr dirty="0" u="none" sz="2800" spc="-40"/>
              <a:t> </a:t>
            </a:r>
            <a:r>
              <a:rPr dirty="0" u="none" sz="2800"/>
              <a:t>se</a:t>
            </a:r>
            <a:r>
              <a:rPr dirty="0" u="none" sz="2800" spc="-65"/>
              <a:t> </a:t>
            </a:r>
            <a:r>
              <a:rPr dirty="0" u="none" sz="2800" spc="-10"/>
              <a:t>muestran</a:t>
            </a:r>
            <a:r>
              <a:rPr dirty="0" u="none" sz="2800" spc="-30"/>
              <a:t> </a:t>
            </a:r>
            <a:r>
              <a:rPr dirty="0" u="none" sz="2800"/>
              <a:t>el</a:t>
            </a:r>
            <a:r>
              <a:rPr dirty="0" u="none" sz="2800" spc="-80"/>
              <a:t> </a:t>
            </a:r>
            <a:r>
              <a:rPr dirty="0" u="none" sz="2800"/>
              <a:t>qué,</a:t>
            </a:r>
            <a:r>
              <a:rPr dirty="0" u="none" sz="2800" spc="-45"/>
              <a:t> </a:t>
            </a:r>
            <a:r>
              <a:rPr dirty="0" u="none" sz="2800"/>
              <a:t>el</a:t>
            </a:r>
            <a:r>
              <a:rPr dirty="0" u="none" sz="2800" spc="-70"/>
              <a:t> </a:t>
            </a:r>
            <a:r>
              <a:rPr dirty="0" u="none" sz="2800" spc="-10"/>
              <a:t>dónde </a:t>
            </a:r>
            <a:r>
              <a:rPr dirty="0" u="none" sz="2800" spc="-10"/>
              <a:t>	</a:t>
            </a:r>
            <a:r>
              <a:rPr dirty="0" u="none" sz="2800"/>
              <a:t>y</a:t>
            </a:r>
            <a:r>
              <a:rPr dirty="0" u="none" sz="2800" spc="-60"/>
              <a:t> </a:t>
            </a:r>
            <a:r>
              <a:rPr dirty="0" u="none" sz="2800"/>
              <a:t>el</a:t>
            </a:r>
            <a:r>
              <a:rPr dirty="0" u="none" sz="2800" spc="-65"/>
              <a:t> </a:t>
            </a:r>
            <a:r>
              <a:rPr dirty="0" u="none" sz="2800"/>
              <a:t>cómo</a:t>
            </a:r>
            <a:r>
              <a:rPr dirty="0" u="none" sz="2800" spc="-40"/>
              <a:t> </a:t>
            </a:r>
            <a:r>
              <a:rPr dirty="0" u="none" sz="2800"/>
              <a:t>necesarios</a:t>
            </a:r>
            <a:r>
              <a:rPr dirty="0" u="none" sz="2800" spc="-40"/>
              <a:t> </a:t>
            </a:r>
            <a:r>
              <a:rPr dirty="0" u="none" sz="2800"/>
              <a:t>para</a:t>
            </a:r>
            <a:r>
              <a:rPr dirty="0" u="none" sz="2800" spc="-50"/>
              <a:t> </a:t>
            </a:r>
            <a:r>
              <a:rPr dirty="0" u="none" sz="2800"/>
              <a:t>unir</a:t>
            </a:r>
            <a:r>
              <a:rPr dirty="0" u="none" sz="2800" spc="-20"/>
              <a:t> </a:t>
            </a:r>
            <a:r>
              <a:rPr dirty="0" u="none" sz="2800"/>
              <a:t>las</a:t>
            </a:r>
            <a:r>
              <a:rPr dirty="0" u="none" sz="2800" spc="-55"/>
              <a:t> </a:t>
            </a:r>
            <a:r>
              <a:rPr dirty="0" u="none" sz="2800" spc="-10"/>
              <a:t>tablas</a:t>
            </a:r>
            <a:endParaRPr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68464" y="4061065"/>
            <a:ext cx="1992630" cy="284480"/>
          </a:xfrm>
          <a:custGeom>
            <a:avLst/>
            <a:gdLst/>
            <a:ahLst/>
            <a:cxnLst/>
            <a:rect l="l" t="t" r="r" b="b"/>
            <a:pathLst>
              <a:path w="1992630" h="284479">
                <a:moveTo>
                  <a:pt x="1921544" y="0"/>
                </a:moveTo>
                <a:lnTo>
                  <a:pt x="71018" y="0"/>
                </a:lnTo>
                <a:lnTo>
                  <a:pt x="44941" y="12206"/>
                </a:lnTo>
                <a:lnTo>
                  <a:pt x="22193" y="44386"/>
                </a:lnTo>
                <a:lnTo>
                  <a:pt x="6103" y="89882"/>
                </a:lnTo>
                <a:lnTo>
                  <a:pt x="0" y="142036"/>
                </a:lnTo>
                <a:lnTo>
                  <a:pt x="6103" y="194190"/>
                </a:lnTo>
                <a:lnTo>
                  <a:pt x="22193" y="239687"/>
                </a:lnTo>
                <a:lnTo>
                  <a:pt x="44941" y="271867"/>
                </a:lnTo>
                <a:lnTo>
                  <a:pt x="71018" y="284073"/>
                </a:lnTo>
                <a:lnTo>
                  <a:pt x="1921544" y="284073"/>
                </a:lnTo>
                <a:lnTo>
                  <a:pt x="1947621" y="271867"/>
                </a:lnTo>
                <a:lnTo>
                  <a:pt x="1970369" y="239687"/>
                </a:lnTo>
                <a:lnTo>
                  <a:pt x="1986459" y="194190"/>
                </a:lnTo>
                <a:lnTo>
                  <a:pt x="1992562" y="142036"/>
                </a:lnTo>
                <a:lnTo>
                  <a:pt x="1986459" y="89882"/>
                </a:lnTo>
                <a:lnTo>
                  <a:pt x="1970369" y="44386"/>
                </a:lnTo>
                <a:lnTo>
                  <a:pt x="1947621" y="12206"/>
                </a:lnTo>
                <a:lnTo>
                  <a:pt x="1921544" y="0"/>
                </a:lnTo>
                <a:close/>
              </a:path>
            </a:pathLst>
          </a:custGeom>
          <a:solidFill>
            <a:srgbClr val="C885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926945" y="3627320"/>
            <a:ext cx="6353175" cy="328295"/>
          </a:xfrm>
          <a:custGeom>
            <a:avLst/>
            <a:gdLst/>
            <a:ahLst/>
            <a:cxnLst/>
            <a:rect l="l" t="t" r="r" b="b"/>
            <a:pathLst>
              <a:path w="6353175" h="328295">
                <a:moveTo>
                  <a:pt x="6270569" y="0"/>
                </a:moveTo>
                <a:lnTo>
                  <a:pt x="82026" y="0"/>
                </a:lnTo>
                <a:lnTo>
                  <a:pt x="51907" y="14098"/>
                </a:lnTo>
                <a:lnTo>
                  <a:pt x="25633" y="51266"/>
                </a:lnTo>
                <a:lnTo>
                  <a:pt x="7049" y="103814"/>
                </a:lnTo>
                <a:lnTo>
                  <a:pt x="0" y="164052"/>
                </a:lnTo>
                <a:lnTo>
                  <a:pt x="7049" y="224290"/>
                </a:lnTo>
                <a:lnTo>
                  <a:pt x="25633" y="276838"/>
                </a:lnTo>
                <a:lnTo>
                  <a:pt x="51907" y="314006"/>
                </a:lnTo>
                <a:lnTo>
                  <a:pt x="82026" y="328104"/>
                </a:lnTo>
                <a:lnTo>
                  <a:pt x="6270569" y="328104"/>
                </a:lnTo>
                <a:lnTo>
                  <a:pt x="6300688" y="314006"/>
                </a:lnTo>
                <a:lnTo>
                  <a:pt x="6326962" y="276838"/>
                </a:lnTo>
                <a:lnTo>
                  <a:pt x="6345546" y="224290"/>
                </a:lnTo>
                <a:lnTo>
                  <a:pt x="6352594" y="164052"/>
                </a:lnTo>
                <a:lnTo>
                  <a:pt x="6345546" y="103814"/>
                </a:lnTo>
                <a:lnTo>
                  <a:pt x="6326962" y="51266"/>
                </a:lnTo>
                <a:lnTo>
                  <a:pt x="6300688" y="14098"/>
                </a:lnTo>
                <a:lnTo>
                  <a:pt x="6270569" y="0"/>
                </a:lnTo>
                <a:close/>
              </a:path>
            </a:pathLst>
          </a:custGeom>
          <a:solidFill>
            <a:srgbClr val="C885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668464" y="3191022"/>
            <a:ext cx="928369" cy="284480"/>
          </a:xfrm>
          <a:custGeom>
            <a:avLst/>
            <a:gdLst/>
            <a:ahLst/>
            <a:cxnLst/>
            <a:rect l="l" t="t" r="r" b="b"/>
            <a:pathLst>
              <a:path w="928369" h="284479">
                <a:moveTo>
                  <a:pt x="857263" y="0"/>
                </a:moveTo>
                <a:lnTo>
                  <a:pt x="71018" y="0"/>
                </a:lnTo>
                <a:lnTo>
                  <a:pt x="44941" y="12206"/>
                </a:lnTo>
                <a:lnTo>
                  <a:pt x="22193" y="44386"/>
                </a:lnTo>
                <a:lnTo>
                  <a:pt x="6103" y="89882"/>
                </a:lnTo>
                <a:lnTo>
                  <a:pt x="0" y="142036"/>
                </a:lnTo>
                <a:lnTo>
                  <a:pt x="6103" y="194190"/>
                </a:lnTo>
                <a:lnTo>
                  <a:pt x="22193" y="239687"/>
                </a:lnTo>
                <a:lnTo>
                  <a:pt x="44941" y="271867"/>
                </a:lnTo>
                <a:lnTo>
                  <a:pt x="71018" y="284073"/>
                </a:lnTo>
                <a:lnTo>
                  <a:pt x="857263" y="284073"/>
                </a:lnTo>
                <a:lnTo>
                  <a:pt x="883340" y="271867"/>
                </a:lnTo>
                <a:lnTo>
                  <a:pt x="906088" y="239687"/>
                </a:lnTo>
                <a:lnTo>
                  <a:pt x="922178" y="194190"/>
                </a:lnTo>
                <a:lnTo>
                  <a:pt x="928281" y="142036"/>
                </a:lnTo>
                <a:lnTo>
                  <a:pt x="922178" y="89882"/>
                </a:lnTo>
                <a:lnTo>
                  <a:pt x="906088" y="44386"/>
                </a:lnTo>
                <a:lnTo>
                  <a:pt x="883340" y="12206"/>
                </a:lnTo>
                <a:lnTo>
                  <a:pt x="857263" y="0"/>
                </a:lnTo>
                <a:close/>
              </a:path>
            </a:pathLst>
          </a:custGeom>
          <a:solidFill>
            <a:srgbClr val="69B0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68464" y="2806812"/>
            <a:ext cx="7186295" cy="284480"/>
          </a:xfrm>
          <a:custGeom>
            <a:avLst/>
            <a:gdLst/>
            <a:ahLst/>
            <a:cxnLst/>
            <a:rect l="l" t="t" r="r" b="b"/>
            <a:pathLst>
              <a:path w="7186295" h="284480">
                <a:moveTo>
                  <a:pt x="7115049" y="0"/>
                </a:moveTo>
                <a:lnTo>
                  <a:pt x="71018" y="0"/>
                </a:lnTo>
                <a:lnTo>
                  <a:pt x="44941" y="12206"/>
                </a:lnTo>
                <a:lnTo>
                  <a:pt x="22193" y="44386"/>
                </a:lnTo>
                <a:lnTo>
                  <a:pt x="6103" y="89882"/>
                </a:lnTo>
                <a:lnTo>
                  <a:pt x="0" y="142036"/>
                </a:lnTo>
                <a:lnTo>
                  <a:pt x="6103" y="194190"/>
                </a:lnTo>
                <a:lnTo>
                  <a:pt x="22193" y="239687"/>
                </a:lnTo>
                <a:lnTo>
                  <a:pt x="44941" y="271867"/>
                </a:lnTo>
                <a:lnTo>
                  <a:pt x="71018" y="284073"/>
                </a:lnTo>
                <a:lnTo>
                  <a:pt x="7115049" y="284073"/>
                </a:lnTo>
                <a:lnTo>
                  <a:pt x="7141126" y="271867"/>
                </a:lnTo>
                <a:lnTo>
                  <a:pt x="7163874" y="239687"/>
                </a:lnTo>
                <a:lnTo>
                  <a:pt x="7179964" y="194190"/>
                </a:lnTo>
                <a:lnTo>
                  <a:pt x="7186067" y="142036"/>
                </a:lnTo>
                <a:lnTo>
                  <a:pt x="7179964" y="89882"/>
                </a:lnTo>
                <a:lnTo>
                  <a:pt x="7163874" y="44386"/>
                </a:lnTo>
                <a:lnTo>
                  <a:pt x="7141126" y="12206"/>
                </a:lnTo>
                <a:lnTo>
                  <a:pt x="7115049" y="0"/>
                </a:lnTo>
                <a:close/>
              </a:path>
            </a:pathLst>
          </a:custGeom>
          <a:solidFill>
            <a:srgbClr val="69B0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036634" y="2373068"/>
            <a:ext cx="6173470" cy="328295"/>
          </a:xfrm>
          <a:custGeom>
            <a:avLst/>
            <a:gdLst/>
            <a:ahLst/>
            <a:cxnLst/>
            <a:rect l="l" t="t" r="r" b="b"/>
            <a:pathLst>
              <a:path w="6173470" h="328294">
                <a:moveTo>
                  <a:pt x="6091069" y="0"/>
                </a:moveTo>
                <a:lnTo>
                  <a:pt x="82025" y="0"/>
                </a:lnTo>
                <a:lnTo>
                  <a:pt x="51907" y="14098"/>
                </a:lnTo>
                <a:lnTo>
                  <a:pt x="25633" y="51266"/>
                </a:lnTo>
                <a:lnTo>
                  <a:pt x="7049" y="103814"/>
                </a:lnTo>
                <a:lnTo>
                  <a:pt x="0" y="164052"/>
                </a:lnTo>
                <a:lnTo>
                  <a:pt x="7049" y="224290"/>
                </a:lnTo>
                <a:lnTo>
                  <a:pt x="25633" y="276838"/>
                </a:lnTo>
                <a:lnTo>
                  <a:pt x="51907" y="314006"/>
                </a:lnTo>
                <a:lnTo>
                  <a:pt x="82025" y="328104"/>
                </a:lnTo>
                <a:lnTo>
                  <a:pt x="6091069" y="328104"/>
                </a:lnTo>
                <a:lnTo>
                  <a:pt x="6121189" y="314006"/>
                </a:lnTo>
                <a:lnTo>
                  <a:pt x="6147463" y="276838"/>
                </a:lnTo>
                <a:lnTo>
                  <a:pt x="6166047" y="224290"/>
                </a:lnTo>
                <a:lnTo>
                  <a:pt x="6173096" y="164052"/>
                </a:lnTo>
                <a:lnTo>
                  <a:pt x="6166047" y="103814"/>
                </a:lnTo>
                <a:lnTo>
                  <a:pt x="6147463" y="51266"/>
                </a:lnTo>
                <a:lnTo>
                  <a:pt x="6121189" y="14098"/>
                </a:lnTo>
                <a:lnTo>
                  <a:pt x="6091069" y="0"/>
                </a:lnTo>
                <a:close/>
              </a:path>
            </a:pathLst>
          </a:custGeom>
          <a:solidFill>
            <a:srgbClr val="69B0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68464" y="1936609"/>
            <a:ext cx="4332605" cy="284480"/>
          </a:xfrm>
          <a:custGeom>
            <a:avLst/>
            <a:gdLst/>
            <a:ahLst/>
            <a:cxnLst/>
            <a:rect l="l" t="t" r="r" b="b"/>
            <a:pathLst>
              <a:path w="4332605" h="284480">
                <a:moveTo>
                  <a:pt x="4261139" y="0"/>
                </a:moveTo>
                <a:lnTo>
                  <a:pt x="71018" y="0"/>
                </a:lnTo>
                <a:lnTo>
                  <a:pt x="44941" y="12206"/>
                </a:lnTo>
                <a:lnTo>
                  <a:pt x="22193" y="44386"/>
                </a:lnTo>
                <a:lnTo>
                  <a:pt x="6103" y="89882"/>
                </a:lnTo>
                <a:lnTo>
                  <a:pt x="0" y="142036"/>
                </a:lnTo>
                <a:lnTo>
                  <a:pt x="6103" y="194190"/>
                </a:lnTo>
                <a:lnTo>
                  <a:pt x="22193" y="239687"/>
                </a:lnTo>
                <a:lnTo>
                  <a:pt x="44941" y="271867"/>
                </a:lnTo>
                <a:lnTo>
                  <a:pt x="71018" y="284073"/>
                </a:lnTo>
                <a:lnTo>
                  <a:pt x="4261139" y="284073"/>
                </a:lnTo>
                <a:lnTo>
                  <a:pt x="4287216" y="271867"/>
                </a:lnTo>
                <a:lnTo>
                  <a:pt x="4309964" y="239687"/>
                </a:lnTo>
                <a:lnTo>
                  <a:pt x="4326054" y="194190"/>
                </a:lnTo>
                <a:lnTo>
                  <a:pt x="4332157" y="142036"/>
                </a:lnTo>
                <a:lnTo>
                  <a:pt x="4326054" y="89882"/>
                </a:lnTo>
                <a:lnTo>
                  <a:pt x="4309964" y="44386"/>
                </a:lnTo>
                <a:lnTo>
                  <a:pt x="4287216" y="12206"/>
                </a:lnTo>
                <a:lnTo>
                  <a:pt x="4261139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683317" y="1502864"/>
            <a:ext cx="6456680" cy="328295"/>
          </a:xfrm>
          <a:custGeom>
            <a:avLst/>
            <a:gdLst/>
            <a:ahLst/>
            <a:cxnLst/>
            <a:rect l="l" t="t" r="r" b="b"/>
            <a:pathLst>
              <a:path w="6456680" h="328294">
                <a:moveTo>
                  <a:pt x="6374079" y="0"/>
                </a:moveTo>
                <a:lnTo>
                  <a:pt x="82026" y="0"/>
                </a:lnTo>
                <a:lnTo>
                  <a:pt x="51907" y="14098"/>
                </a:lnTo>
                <a:lnTo>
                  <a:pt x="25633" y="51266"/>
                </a:lnTo>
                <a:lnTo>
                  <a:pt x="7049" y="103814"/>
                </a:lnTo>
                <a:lnTo>
                  <a:pt x="0" y="164052"/>
                </a:lnTo>
                <a:lnTo>
                  <a:pt x="7049" y="224290"/>
                </a:lnTo>
                <a:lnTo>
                  <a:pt x="25633" y="276838"/>
                </a:lnTo>
                <a:lnTo>
                  <a:pt x="51907" y="314006"/>
                </a:lnTo>
                <a:lnTo>
                  <a:pt x="82026" y="328104"/>
                </a:lnTo>
                <a:lnTo>
                  <a:pt x="6374079" y="328104"/>
                </a:lnTo>
                <a:lnTo>
                  <a:pt x="6404197" y="314006"/>
                </a:lnTo>
                <a:lnTo>
                  <a:pt x="6430471" y="276838"/>
                </a:lnTo>
                <a:lnTo>
                  <a:pt x="6449055" y="224290"/>
                </a:lnTo>
                <a:lnTo>
                  <a:pt x="6456104" y="164052"/>
                </a:lnTo>
                <a:lnTo>
                  <a:pt x="6449055" y="103814"/>
                </a:lnTo>
                <a:lnTo>
                  <a:pt x="6430471" y="51266"/>
                </a:lnTo>
                <a:lnTo>
                  <a:pt x="6404197" y="14098"/>
                </a:lnTo>
                <a:lnTo>
                  <a:pt x="6374079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UNIÓN</a:t>
            </a:r>
            <a:r>
              <a:rPr dirty="0" spc="-25"/>
              <a:t> </a:t>
            </a:r>
            <a:r>
              <a:rPr dirty="0" spc="-35"/>
              <a:t>IGUALITARIA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12</a:t>
            </a:r>
          </a:p>
        </p:txBody>
      </p: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483552" y="1415417"/>
            <a:ext cx="8016875" cy="382905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35242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¿Qué?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especifica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mostrar</a:t>
            </a:r>
            <a:endParaRPr sz="2800">
              <a:latin typeface="Calibri"/>
              <a:cs typeface="Calibri"/>
            </a:endParaRPr>
          </a:p>
          <a:p>
            <a:pPr marL="182880" marR="28194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¿Dónde?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FROM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especifica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debe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acceder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separadas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por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comas</a:t>
            </a:r>
            <a:endParaRPr sz="2800">
              <a:latin typeface="Calibri"/>
              <a:cs typeface="Calibri"/>
            </a:endParaRPr>
          </a:p>
          <a:p>
            <a:pPr marL="182880" marR="212725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¿Cómo?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especifica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cómo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a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unir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igualitaria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operador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Igual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para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especificar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condición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93191" y="1324355"/>
            <a:ext cx="8575675" cy="1164590"/>
          </a:xfrm>
          <a:custGeom>
            <a:avLst/>
            <a:gdLst/>
            <a:ahLst/>
            <a:cxnLst/>
            <a:rect l="l" t="t" r="r" b="b"/>
            <a:pathLst>
              <a:path w="8575675" h="1164589">
                <a:moveTo>
                  <a:pt x="8575548" y="0"/>
                </a:moveTo>
                <a:lnTo>
                  <a:pt x="0" y="0"/>
                </a:lnTo>
                <a:lnTo>
                  <a:pt x="0" y="1164336"/>
                </a:lnTo>
                <a:lnTo>
                  <a:pt x="8575548" y="1164336"/>
                </a:lnTo>
                <a:lnTo>
                  <a:pt x="8575548" y="0"/>
                </a:lnTo>
                <a:close/>
              </a:path>
            </a:pathLst>
          </a:custGeom>
          <a:solidFill>
            <a:srgbClr val="9DBEC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371093" y="1794510"/>
            <a:ext cx="3183890" cy="269875"/>
          </a:xfrm>
          <a:prstGeom prst="rect">
            <a:avLst/>
          </a:prstGeom>
          <a:solidFill>
            <a:srgbClr val="9DBEC4">
              <a:alpha val="50199"/>
            </a:srgbClr>
          </a:solidFill>
          <a:ln w="38100">
            <a:solidFill>
              <a:srgbClr val="0070C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1590">
              <a:lnSpc>
                <a:spcPts val="1960"/>
              </a:lnSpc>
            </a:pP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7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employees,</a:t>
            </a:r>
            <a:r>
              <a:rPr dirty="0" sz="17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spc="-20" b="1">
                <a:solidFill>
                  <a:srgbClr val="4E3629"/>
                </a:solidFill>
                <a:latin typeface="Courier New"/>
                <a:cs typeface="Courier New"/>
              </a:rPr>
              <a:t>jobs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UNIÓN</a:t>
            </a:r>
            <a:r>
              <a:rPr dirty="0" spc="-25"/>
              <a:t> </a:t>
            </a:r>
            <a:r>
              <a:rPr dirty="0" spc="-35"/>
              <a:t>IGUALITARIA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393191" y="1324355"/>
            <a:ext cx="8575675" cy="116459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700" spc="-114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employees.last_name,</a:t>
            </a:r>
            <a:r>
              <a:rPr dirty="0" sz="17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employees.job_id,</a:t>
            </a:r>
            <a:r>
              <a:rPr dirty="0" sz="17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spc="-20" b="1">
                <a:solidFill>
                  <a:srgbClr val="4E3629"/>
                </a:solidFill>
                <a:latin typeface="Courier New"/>
                <a:cs typeface="Courier New"/>
              </a:rPr>
              <a:t>jobs.job_title</a:t>
            </a:r>
            <a:r>
              <a:rPr dirty="0" sz="1700" spc="-7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baseline="-6944" sz="3000" spc="-15">
                <a:solidFill>
                  <a:srgbClr val="FF0000"/>
                </a:solidFill>
                <a:latin typeface="Calibri"/>
                <a:cs typeface="Calibri"/>
              </a:rPr>
              <a:t>¿Qué?</a:t>
            </a:r>
            <a:endParaRPr baseline="-6944" sz="3000">
              <a:latin typeface="Calibri"/>
              <a:cs typeface="Calibri"/>
            </a:endParaRPr>
          </a:p>
          <a:p>
            <a:pPr algn="ctr" marR="501650">
              <a:lnSpc>
                <a:spcPct val="100000"/>
              </a:lnSpc>
              <a:spcBef>
                <a:spcPts val="890"/>
              </a:spcBef>
            </a:pPr>
            <a:r>
              <a:rPr dirty="0" sz="2000" spc="-10">
                <a:solidFill>
                  <a:srgbClr val="0070C0"/>
                </a:solidFill>
                <a:latin typeface="Calibri"/>
                <a:cs typeface="Calibri"/>
              </a:rPr>
              <a:t>¿Dónde?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7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employees.job_id</a:t>
            </a:r>
            <a:r>
              <a:rPr dirty="0" sz="17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7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700" spc="-10" b="1">
                <a:solidFill>
                  <a:srgbClr val="4E3629"/>
                </a:solidFill>
                <a:latin typeface="Courier New"/>
                <a:cs typeface="Courier New"/>
              </a:rPr>
              <a:t>jobs.job_id;</a:t>
            </a:r>
            <a:r>
              <a:rPr dirty="0" sz="1700" spc="-3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baseline="-13888" sz="3000" spc="-15">
                <a:solidFill>
                  <a:srgbClr val="00B050"/>
                </a:solidFill>
                <a:latin typeface="Calibri"/>
                <a:cs typeface="Calibri"/>
              </a:rPr>
              <a:t>¿Cómo?</a:t>
            </a:r>
            <a:endParaRPr baseline="-13888" sz="3000">
              <a:latin typeface="Calibri"/>
              <a:cs typeface="Calibri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782941" y="2881044"/>
          <a:ext cx="7355840" cy="2959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7545"/>
                <a:gridCol w="2086609"/>
                <a:gridCol w="3232150"/>
              </a:tblGrid>
              <a:tr h="29591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JOB_TITLE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591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AD_PRES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Presiden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591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Kochhar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AD_VP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Vice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President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591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AD_VP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Vice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President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591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Whalen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AD_ASST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r>
                        <a:rPr dirty="0" sz="1600" spc="-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Assistant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591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Higgins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AC_MGR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Accounting</a:t>
                      </a:r>
                      <a:r>
                        <a:rPr dirty="0" sz="1600" spc="-7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591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Gietz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AC_ACCOUNT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Public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Accountant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591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Zlotkey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SA_MAN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591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Abel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SA_REP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Representative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591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7" name="object 7" descr=""/>
          <p:cNvGrpSpPr/>
          <p:nvPr/>
        </p:nvGrpSpPr>
        <p:grpSpPr>
          <a:xfrm>
            <a:off x="352043" y="1389888"/>
            <a:ext cx="7888605" cy="1118870"/>
            <a:chOff x="352043" y="1389888"/>
            <a:chExt cx="7888605" cy="1118870"/>
          </a:xfrm>
        </p:grpSpPr>
        <p:sp>
          <p:nvSpPr>
            <p:cNvPr id="8" name="object 8" descr=""/>
            <p:cNvSpPr/>
            <p:nvPr/>
          </p:nvSpPr>
          <p:spPr>
            <a:xfrm>
              <a:off x="371093" y="1408938"/>
              <a:ext cx="7850505" cy="294640"/>
            </a:xfrm>
            <a:custGeom>
              <a:avLst/>
              <a:gdLst/>
              <a:ahLst/>
              <a:cxnLst/>
              <a:rect l="l" t="t" r="r" b="b"/>
              <a:pathLst>
                <a:path w="7850505" h="294639">
                  <a:moveTo>
                    <a:pt x="0" y="294132"/>
                  </a:moveTo>
                  <a:lnTo>
                    <a:pt x="7850124" y="294132"/>
                  </a:lnTo>
                  <a:lnTo>
                    <a:pt x="7850124" y="0"/>
                  </a:lnTo>
                  <a:lnTo>
                    <a:pt x="0" y="0"/>
                  </a:lnTo>
                  <a:lnTo>
                    <a:pt x="0" y="294132"/>
                  </a:lnTo>
                  <a:close/>
                </a:path>
              </a:pathLst>
            </a:custGeom>
            <a:ln w="381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71093" y="2192274"/>
              <a:ext cx="4823460" cy="297180"/>
            </a:xfrm>
            <a:custGeom>
              <a:avLst/>
              <a:gdLst/>
              <a:ahLst/>
              <a:cxnLst/>
              <a:rect l="l" t="t" r="r" b="b"/>
              <a:pathLst>
                <a:path w="4823460" h="297180">
                  <a:moveTo>
                    <a:pt x="0" y="297179"/>
                  </a:moveTo>
                  <a:lnTo>
                    <a:pt x="4823459" y="297179"/>
                  </a:lnTo>
                  <a:lnTo>
                    <a:pt x="4823459" y="0"/>
                  </a:lnTo>
                  <a:lnTo>
                    <a:pt x="0" y="0"/>
                  </a:lnTo>
                  <a:lnTo>
                    <a:pt x="0" y="297179"/>
                  </a:lnTo>
                  <a:close/>
                </a:path>
              </a:pathLst>
            </a:custGeom>
            <a:ln w="3810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13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Alias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15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84785" marR="640080" indent="-172720">
              <a:lnSpc>
                <a:spcPts val="2810"/>
              </a:lnSpc>
              <a:spcBef>
                <a:spcPts val="45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pc="-30"/>
              <a:t>Trabajar</a:t>
            </a:r>
            <a:r>
              <a:rPr dirty="0" spc="-70"/>
              <a:t> </a:t>
            </a:r>
            <a:r>
              <a:rPr dirty="0"/>
              <a:t>con</a:t>
            </a:r>
            <a:r>
              <a:rPr dirty="0" spc="-55"/>
              <a:t> </a:t>
            </a:r>
            <a:r>
              <a:rPr dirty="0"/>
              <a:t>nombres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/>
              <a:t>tabla</a:t>
            </a:r>
            <a:r>
              <a:rPr dirty="0" spc="-50"/>
              <a:t> </a:t>
            </a:r>
            <a:r>
              <a:rPr dirty="0"/>
              <a:t>y</a:t>
            </a:r>
            <a:r>
              <a:rPr dirty="0" spc="-55"/>
              <a:t> </a:t>
            </a:r>
            <a:r>
              <a:rPr dirty="0"/>
              <a:t>columna</a:t>
            </a:r>
            <a:r>
              <a:rPr dirty="0" spc="-65"/>
              <a:t> </a:t>
            </a:r>
            <a:r>
              <a:rPr dirty="0"/>
              <a:t>largos</a:t>
            </a:r>
            <a:r>
              <a:rPr dirty="0" spc="-50"/>
              <a:t> </a:t>
            </a:r>
            <a:r>
              <a:rPr dirty="0" spc="-10"/>
              <a:t>puede</a:t>
            </a:r>
            <a:r>
              <a:rPr dirty="0" u="none" spc="-10"/>
              <a:t> </a:t>
            </a:r>
            <a:r>
              <a:rPr dirty="0"/>
              <a:t>ser</a:t>
            </a:r>
            <a:r>
              <a:rPr dirty="0" spc="-20"/>
              <a:t> </a:t>
            </a:r>
            <a:r>
              <a:rPr dirty="0" spc="-10"/>
              <a:t>complicado</a:t>
            </a:r>
          </a:p>
          <a:p>
            <a:pPr marL="184785" marR="664845" indent="-172720">
              <a:lnSpc>
                <a:spcPts val="2810"/>
              </a:lnSpc>
              <a:spcBef>
                <a:spcPts val="80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none" spc="-10"/>
              <a:t>Afortunadamente,</a:t>
            </a:r>
            <a:r>
              <a:rPr dirty="0" u="none" spc="-90"/>
              <a:t> </a:t>
            </a:r>
            <a:r>
              <a:rPr dirty="0" u="none"/>
              <a:t>hay</a:t>
            </a:r>
            <a:r>
              <a:rPr dirty="0" u="none" spc="-60"/>
              <a:t> </a:t>
            </a:r>
            <a:r>
              <a:rPr dirty="0" u="none"/>
              <a:t>una</a:t>
            </a:r>
            <a:r>
              <a:rPr dirty="0" u="none" spc="-65"/>
              <a:t> </a:t>
            </a:r>
            <a:r>
              <a:rPr dirty="0" u="none"/>
              <a:t>forma</a:t>
            </a:r>
            <a:r>
              <a:rPr dirty="0" u="none" spc="-45"/>
              <a:t> </a:t>
            </a:r>
            <a:r>
              <a:rPr dirty="0" u="none"/>
              <a:t>de</a:t>
            </a:r>
            <a:r>
              <a:rPr dirty="0" u="none" spc="-65"/>
              <a:t> </a:t>
            </a:r>
            <a:r>
              <a:rPr dirty="0" u="none"/>
              <a:t>acortar</a:t>
            </a:r>
            <a:r>
              <a:rPr dirty="0" u="none" spc="-40"/>
              <a:t> </a:t>
            </a:r>
            <a:r>
              <a:rPr dirty="0" u="none"/>
              <a:t>la</a:t>
            </a:r>
            <a:r>
              <a:rPr dirty="0" u="none" spc="-50"/>
              <a:t> </a:t>
            </a:r>
            <a:r>
              <a:rPr dirty="0" u="none" spc="-10"/>
              <a:t>sintaxis </a:t>
            </a:r>
            <a:r>
              <a:rPr dirty="0" u="none"/>
              <a:t>utilizando</a:t>
            </a:r>
            <a:r>
              <a:rPr dirty="0" u="none" spc="-100"/>
              <a:t> </a:t>
            </a:r>
            <a:r>
              <a:rPr dirty="0" u="none" spc="-20"/>
              <a:t>alias</a:t>
            </a:r>
          </a:p>
          <a:p>
            <a:pPr marL="184785" marR="104139" indent="-172720">
              <a:lnSpc>
                <a:spcPts val="281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none"/>
              <a:t>Para</a:t>
            </a:r>
            <a:r>
              <a:rPr dirty="0" u="none" spc="-60"/>
              <a:t> </a:t>
            </a:r>
            <a:r>
              <a:rPr dirty="0" u="none"/>
              <a:t>distinguir</a:t>
            </a:r>
            <a:r>
              <a:rPr dirty="0" u="none" spc="-85"/>
              <a:t> </a:t>
            </a:r>
            <a:r>
              <a:rPr dirty="0" u="none"/>
              <a:t>las</a:t>
            </a:r>
            <a:r>
              <a:rPr dirty="0" u="none" spc="-55"/>
              <a:t> </a:t>
            </a:r>
            <a:r>
              <a:rPr dirty="0" u="none"/>
              <a:t>columnas</a:t>
            </a:r>
            <a:r>
              <a:rPr dirty="0" u="none" spc="-70"/>
              <a:t> </a:t>
            </a:r>
            <a:r>
              <a:rPr dirty="0" u="none"/>
              <a:t>que</a:t>
            </a:r>
            <a:r>
              <a:rPr dirty="0" u="none" spc="-80"/>
              <a:t> </a:t>
            </a:r>
            <a:r>
              <a:rPr dirty="0" u="none"/>
              <a:t>tienen</a:t>
            </a:r>
            <a:r>
              <a:rPr dirty="0" u="none" spc="-80"/>
              <a:t> </a:t>
            </a:r>
            <a:r>
              <a:rPr dirty="0" u="none"/>
              <a:t>nombres</a:t>
            </a:r>
            <a:r>
              <a:rPr dirty="0" u="none" spc="-75"/>
              <a:t> </a:t>
            </a:r>
            <a:r>
              <a:rPr dirty="0" u="none" spc="-10"/>
              <a:t>idénticos, </a:t>
            </a:r>
            <a:r>
              <a:rPr dirty="0" u="none"/>
              <a:t>pero</a:t>
            </a:r>
            <a:r>
              <a:rPr dirty="0" u="none" spc="-60"/>
              <a:t> </a:t>
            </a:r>
            <a:r>
              <a:rPr dirty="0" u="none"/>
              <a:t>que</a:t>
            </a:r>
            <a:r>
              <a:rPr dirty="0" u="none" spc="-60"/>
              <a:t> </a:t>
            </a:r>
            <a:r>
              <a:rPr dirty="0" u="none"/>
              <a:t>residen</a:t>
            </a:r>
            <a:r>
              <a:rPr dirty="0" u="none" spc="-75"/>
              <a:t> </a:t>
            </a:r>
            <a:r>
              <a:rPr dirty="0" u="none"/>
              <a:t>en</a:t>
            </a:r>
            <a:r>
              <a:rPr dirty="0" u="none" spc="-50"/>
              <a:t> </a:t>
            </a:r>
            <a:r>
              <a:rPr dirty="0" u="none"/>
              <a:t>tablas</a:t>
            </a:r>
            <a:r>
              <a:rPr dirty="0" u="none" spc="-40"/>
              <a:t> </a:t>
            </a:r>
            <a:r>
              <a:rPr dirty="0" u="none" spc="-10"/>
              <a:t>diferentes,</a:t>
            </a:r>
            <a:r>
              <a:rPr dirty="0" u="none" spc="-75"/>
              <a:t> </a:t>
            </a:r>
            <a:r>
              <a:rPr dirty="0" u="none"/>
              <a:t>utilice</a:t>
            </a:r>
            <a:r>
              <a:rPr dirty="0" u="none" spc="-50"/>
              <a:t> </a:t>
            </a:r>
            <a:r>
              <a:rPr dirty="0" u="none"/>
              <a:t>alias</a:t>
            </a:r>
            <a:r>
              <a:rPr dirty="0" u="none" spc="-50"/>
              <a:t> </a:t>
            </a:r>
            <a:r>
              <a:rPr dirty="0" u="none"/>
              <a:t>de</a:t>
            </a:r>
            <a:r>
              <a:rPr dirty="0" u="none" spc="-55"/>
              <a:t> </a:t>
            </a:r>
            <a:r>
              <a:rPr dirty="0" u="none" spc="-10"/>
              <a:t>tabla</a:t>
            </a:r>
          </a:p>
          <a:p>
            <a:pPr marL="184785" marR="5080" indent="-172720">
              <a:lnSpc>
                <a:spcPts val="2810"/>
              </a:lnSpc>
              <a:spcBef>
                <a:spcPts val="8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none"/>
              <a:t>Un</a:t>
            </a:r>
            <a:r>
              <a:rPr dirty="0" u="none" spc="-45"/>
              <a:t> </a:t>
            </a:r>
            <a:r>
              <a:rPr dirty="0" u="none"/>
              <a:t>alias</a:t>
            </a:r>
            <a:r>
              <a:rPr dirty="0" u="none" spc="-30"/>
              <a:t> </a:t>
            </a:r>
            <a:r>
              <a:rPr dirty="0" u="none"/>
              <a:t>de</a:t>
            </a:r>
            <a:r>
              <a:rPr dirty="0" u="none" spc="-55"/>
              <a:t> </a:t>
            </a:r>
            <a:r>
              <a:rPr dirty="0" u="none"/>
              <a:t>tabla</a:t>
            </a:r>
            <a:r>
              <a:rPr dirty="0" u="none" spc="-15"/>
              <a:t> </a:t>
            </a:r>
            <a:r>
              <a:rPr dirty="0" u="none"/>
              <a:t>es</a:t>
            </a:r>
            <a:r>
              <a:rPr dirty="0" u="none" spc="-55"/>
              <a:t> </a:t>
            </a:r>
            <a:r>
              <a:rPr dirty="0" u="none"/>
              <a:t>similar</a:t>
            </a:r>
            <a:r>
              <a:rPr dirty="0" u="none" spc="-30"/>
              <a:t> </a:t>
            </a:r>
            <a:r>
              <a:rPr dirty="0" u="none"/>
              <a:t>a</a:t>
            </a:r>
            <a:r>
              <a:rPr dirty="0" u="none" spc="-30"/>
              <a:t> </a:t>
            </a:r>
            <a:r>
              <a:rPr dirty="0" u="none"/>
              <a:t>un</a:t>
            </a:r>
            <a:r>
              <a:rPr dirty="0" u="none" spc="-40"/>
              <a:t> </a:t>
            </a:r>
            <a:r>
              <a:rPr dirty="0" u="none"/>
              <a:t>alias</a:t>
            </a:r>
            <a:r>
              <a:rPr dirty="0" u="none" spc="-30"/>
              <a:t> </a:t>
            </a:r>
            <a:r>
              <a:rPr dirty="0" u="none"/>
              <a:t>de</a:t>
            </a:r>
            <a:r>
              <a:rPr dirty="0" u="none" spc="-55"/>
              <a:t> </a:t>
            </a:r>
            <a:r>
              <a:rPr dirty="0" u="none"/>
              <a:t>columna;</a:t>
            </a:r>
            <a:r>
              <a:rPr dirty="0" u="none" spc="-35"/>
              <a:t> </a:t>
            </a:r>
            <a:r>
              <a:rPr dirty="0" u="none"/>
              <a:t>cambia</a:t>
            </a:r>
            <a:r>
              <a:rPr dirty="0" u="none" spc="-30"/>
              <a:t> </a:t>
            </a:r>
            <a:r>
              <a:rPr dirty="0" u="none" spc="-25"/>
              <a:t>el </a:t>
            </a:r>
            <a:r>
              <a:rPr dirty="0" u="none"/>
              <a:t>nombre</a:t>
            </a:r>
            <a:r>
              <a:rPr dirty="0" u="none" spc="-55"/>
              <a:t> </a:t>
            </a:r>
            <a:r>
              <a:rPr dirty="0" u="none"/>
              <a:t>de</a:t>
            </a:r>
            <a:r>
              <a:rPr dirty="0" u="none" spc="-50"/>
              <a:t> </a:t>
            </a:r>
            <a:r>
              <a:rPr dirty="0" u="none"/>
              <a:t>un</a:t>
            </a:r>
            <a:r>
              <a:rPr dirty="0" u="none" spc="-50"/>
              <a:t> </a:t>
            </a:r>
            <a:r>
              <a:rPr dirty="0" u="none"/>
              <a:t>objeto</a:t>
            </a:r>
            <a:r>
              <a:rPr dirty="0" u="none" spc="-45"/>
              <a:t> </a:t>
            </a:r>
            <a:r>
              <a:rPr dirty="0" u="none"/>
              <a:t>dentro</a:t>
            </a:r>
            <a:r>
              <a:rPr dirty="0" u="none" spc="-65"/>
              <a:t> </a:t>
            </a:r>
            <a:r>
              <a:rPr dirty="0" u="none"/>
              <a:t>de</a:t>
            </a:r>
            <a:r>
              <a:rPr dirty="0" u="none" spc="-50"/>
              <a:t> </a:t>
            </a:r>
            <a:r>
              <a:rPr dirty="0" u="none"/>
              <a:t>una</a:t>
            </a:r>
            <a:r>
              <a:rPr dirty="0" u="none" spc="-50"/>
              <a:t> </a:t>
            </a:r>
            <a:r>
              <a:rPr dirty="0" u="none" spc="-10"/>
              <a:t>sentencia</a:t>
            </a:r>
          </a:p>
          <a:p>
            <a:pPr marL="184785" marR="74295" indent="-172720">
              <a:lnSpc>
                <a:spcPts val="2810"/>
              </a:lnSpc>
              <a:spcBef>
                <a:spcPts val="80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Se</a:t>
            </a:r>
            <a:r>
              <a:rPr dirty="0" spc="-60"/>
              <a:t> </a:t>
            </a:r>
            <a:r>
              <a:rPr dirty="0"/>
              <a:t>crea</a:t>
            </a:r>
            <a:r>
              <a:rPr dirty="0" spc="-60"/>
              <a:t> </a:t>
            </a:r>
            <a:r>
              <a:rPr dirty="0"/>
              <a:t>mediante</a:t>
            </a:r>
            <a:r>
              <a:rPr dirty="0" spc="-70"/>
              <a:t> </a:t>
            </a:r>
            <a:r>
              <a:rPr dirty="0"/>
              <a:t>la</a:t>
            </a:r>
            <a:r>
              <a:rPr dirty="0" spc="-45"/>
              <a:t> </a:t>
            </a:r>
            <a:r>
              <a:rPr dirty="0" spc="-10"/>
              <a:t>introducción</a:t>
            </a:r>
            <a:r>
              <a:rPr dirty="0" spc="-70"/>
              <a:t> </a:t>
            </a:r>
            <a:r>
              <a:rPr dirty="0"/>
              <a:t>del</a:t>
            </a:r>
            <a:r>
              <a:rPr dirty="0" spc="-55"/>
              <a:t> </a:t>
            </a:r>
            <a:r>
              <a:rPr dirty="0"/>
              <a:t>nuevo</a:t>
            </a:r>
            <a:r>
              <a:rPr dirty="0" spc="-65"/>
              <a:t> </a:t>
            </a:r>
            <a:r>
              <a:rPr dirty="0"/>
              <a:t>nombre</a:t>
            </a:r>
            <a:r>
              <a:rPr dirty="0" spc="-60"/>
              <a:t> </a:t>
            </a:r>
            <a:r>
              <a:rPr dirty="0"/>
              <a:t>para</a:t>
            </a:r>
            <a:r>
              <a:rPr dirty="0" spc="-60"/>
              <a:t> </a:t>
            </a:r>
            <a:r>
              <a:rPr dirty="0" spc="-25"/>
              <a:t>la</a:t>
            </a:r>
            <a:r>
              <a:rPr dirty="0" u="none" spc="-25"/>
              <a:t> </a:t>
            </a:r>
            <a:r>
              <a:rPr dirty="0"/>
              <a:t>tabla,</a:t>
            </a:r>
            <a:r>
              <a:rPr dirty="0" spc="-45"/>
              <a:t> </a:t>
            </a:r>
            <a:r>
              <a:rPr dirty="0"/>
              <a:t>justo</a:t>
            </a:r>
            <a:r>
              <a:rPr dirty="0" spc="-60"/>
              <a:t> </a:t>
            </a:r>
            <a:r>
              <a:rPr dirty="0"/>
              <a:t>después</a:t>
            </a:r>
            <a:r>
              <a:rPr dirty="0" spc="-85"/>
              <a:t> </a:t>
            </a:r>
            <a:r>
              <a:rPr dirty="0"/>
              <a:t>del</a:t>
            </a:r>
            <a:r>
              <a:rPr dirty="0" spc="-50"/>
              <a:t> </a:t>
            </a:r>
            <a:r>
              <a:rPr dirty="0"/>
              <a:t>nombre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/>
              <a:t>tabla</a:t>
            </a:r>
            <a:r>
              <a:rPr dirty="0" spc="-40"/>
              <a:t> </a:t>
            </a:r>
            <a:r>
              <a:rPr dirty="0"/>
              <a:t>en</a:t>
            </a:r>
            <a:r>
              <a:rPr dirty="0" spc="-50"/>
              <a:t> </a:t>
            </a:r>
            <a:r>
              <a:rPr dirty="0"/>
              <a:t>la</a:t>
            </a:r>
            <a:r>
              <a:rPr dirty="0" spc="-40"/>
              <a:t> </a:t>
            </a:r>
            <a:r>
              <a:rPr dirty="0" spc="-10"/>
              <a:t>cláusula</a:t>
            </a:r>
            <a:r>
              <a:rPr dirty="0" u="none" spc="-10"/>
              <a:t> </a:t>
            </a:r>
            <a:r>
              <a:rPr dirty="0" spc="-20"/>
              <a:t>from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233426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Alias</a:t>
            </a:r>
            <a:r>
              <a:rPr dirty="0" spc="-4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35"/>
              <a:t>Tabla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16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94765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alias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siguiente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4329305"/>
            <a:ext cx="7878445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just"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Cuando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duplicados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tablas,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agregar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alias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nombre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794130" y="3205190"/>
          <a:ext cx="7620634" cy="116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0155"/>
                <a:gridCol w="2510155"/>
                <a:gridCol w="2510155"/>
              </a:tblGrid>
              <a:tr h="2921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JOB_TITLE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Zlotkey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SA_MAN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Abel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SA_REP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Representative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Taylor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SA_REP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Representative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393191" y="1929383"/>
            <a:ext cx="8345805" cy="117094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9525" rIns="0" bIns="0" rtlCol="0" vert="horz">
            <a:spAutoFit/>
          </a:bodyPr>
          <a:lstStyle/>
          <a:p>
            <a:pPr marR="3287395">
              <a:lnSpc>
                <a:spcPct val="100000"/>
              </a:lnSpc>
              <a:spcBef>
                <a:spcPts val="7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e.job_id,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job_title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e,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jobs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j</a:t>
            </a:r>
            <a:endParaRPr sz="1800">
              <a:latin typeface="Courier New"/>
              <a:cs typeface="Courier New"/>
            </a:endParaRPr>
          </a:p>
          <a:p>
            <a:pPr marL="274320" marR="4923790" indent="-27432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e.job_id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j.job_id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AND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80;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Unión</a:t>
            </a:r>
            <a:r>
              <a:rPr dirty="0" spc="-80"/>
              <a:t> </a:t>
            </a:r>
            <a:r>
              <a:rPr dirty="0"/>
              <a:t>de</a:t>
            </a:r>
            <a:r>
              <a:rPr dirty="0" spc="-85"/>
              <a:t> </a:t>
            </a:r>
            <a:r>
              <a:rPr dirty="0"/>
              <a:t>Producto</a:t>
            </a:r>
            <a:r>
              <a:rPr dirty="0" spc="-75"/>
              <a:t> </a:t>
            </a:r>
            <a:r>
              <a:rPr dirty="0" spc="-10"/>
              <a:t>Cartesiano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8750490" y="6567768"/>
            <a:ext cx="15367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1000" spc="-25" b="1">
                <a:solidFill>
                  <a:srgbClr val="4E3629"/>
                </a:solidFill>
                <a:latin typeface="Calibri"/>
                <a:cs typeface="Calibri"/>
              </a:rPr>
              <a:t>18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81889"/>
            <a:ext cx="7974965" cy="417004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82880" marR="9525" indent="-170815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cláusula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WHERE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dos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tablas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consulta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unión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ha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especificado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ninguna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condición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unión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condición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unión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válida,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Oracle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Server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devuelve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producto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cartesiano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dos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tablas</a:t>
            </a:r>
            <a:endParaRPr sz="2800">
              <a:latin typeface="Calibri"/>
              <a:cs typeface="Calibri"/>
            </a:endParaRPr>
          </a:p>
          <a:p>
            <a:pPr marL="182880" marR="38735" indent="-170815">
              <a:lnSpc>
                <a:spcPct val="80000"/>
              </a:lnSpc>
              <a:spcBef>
                <a:spcPts val="81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combinación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con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otra</a:t>
            </a:r>
            <a:endParaRPr sz="2800">
              <a:latin typeface="Calibri"/>
              <a:cs typeface="Calibri"/>
            </a:endParaRPr>
          </a:p>
          <a:p>
            <a:pPr marL="182880" marR="744220" indent="-170815">
              <a:lnSpc>
                <a:spcPct val="8000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producto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cartesiano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equivalente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ANSI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CROSS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JOIN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ct val="80000"/>
              </a:lnSpc>
              <a:spcBef>
                <a:spcPts val="8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evitar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producto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cartesiano,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incluya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siempre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condición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válida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Restricción</a:t>
            </a:r>
            <a:r>
              <a:rPr dirty="0" spc="-3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/>
              <a:t>las</a:t>
            </a:r>
            <a:r>
              <a:rPr dirty="0" spc="-55"/>
              <a:t> </a:t>
            </a:r>
            <a:r>
              <a:rPr dirty="0"/>
              <a:t>Filas</a:t>
            </a:r>
            <a:r>
              <a:rPr dirty="0" spc="-40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/>
              <a:t>una</a:t>
            </a:r>
            <a:r>
              <a:rPr dirty="0" spc="-35"/>
              <a:t> </a:t>
            </a:r>
            <a:r>
              <a:rPr dirty="0" spc="-10"/>
              <a:t>Unión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20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81975" cy="20904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12827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igual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ocurre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restringir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tenidas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cuenta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más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mostrada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operador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AND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para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limitar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devueltas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888426" y="4880842"/>
          <a:ext cx="5671185" cy="116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0550"/>
                <a:gridCol w="1860550"/>
                <a:gridCol w="1860550"/>
              </a:tblGrid>
              <a:tr h="2921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JOB_TITLE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Zlotkey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SA_MAN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Abel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SA_REP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Perwakilan</a:t>
                      </a:r>
                      <a:r>
                        <a:rPr dirty="0" sz="1600" spc="-9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Penjualan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Taylor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SA_REP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Perwakilan</a:t>
                      </a:r>
                      <a:r>
                        <a:rPr dirty="0" sz="1600" spc="-9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Penjualan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393191" y="3537203"/>
            <a:ext cx="8345805" cy="110490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8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employees.last_name,</a:t>
            </a:r>
            <a:r>
              <a:rPr dirty="0" sz="1800" spc="-1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employees.job_id,</a:t>
            </a:r>
            <a:r>
              <a:rPr dirty="0" sz="1800" spc="-1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jobs.job_title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employees,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jobs</a:t>
            </a:r>
            <a:endParaRPr sz="1800">
              <a:latin typeface="Courier New"/>
              <a:cs typeface="Courier New"/>
            </a:endParaRPr>
          </a:p>
          <a:p>
            <a:pPr marL="273685" marR="3422650" indent="-27432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employees.job_id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jobs.job_id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AND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employees.department_id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80;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/>
              <a:t>Sintaxis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80"/>
              <a:t> </a:t>
            </a:r>
            <a:r>
              <a:rPr dirty="0" spc="-10"/>
              <a:t>Unión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21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34984" cy="257683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60579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deseara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unir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tres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tablas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juntas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¿cuántas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uniones 	necesitaría?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¿Cuántos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puentes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necesitan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tres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islas?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844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tres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tablas,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tendrá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agregar</a:t>
            </a:r>
            <a:r>
              <a:rPr dirty="0" sz="2800" spc="-1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otra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condición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utilizando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operador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AND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981961" y="4138421"/>
            <a:ext cx="1510665" cy="958850"/>
          </a:xfrm>
          <a:prstGeom prst="rect">
            <a:avLst/>
          </a:prstGeom>
          <a:ln w="38100">
            <a:solidFill>
              <a:srgbClr val="4E3629"/>
            </a:solidFill>
          </a:ln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endParaRPr sz="2000">
              <a:latin typeface="Times New Roman"/>
              <a:cs typeface="Times New Roman"/>
            </a:endParaRPr>
          </a:p>
          <a:p>
            <a:pPr marL="384810">
              <a:lnSpc>
                <a:spcPct val="100000"/>
              </a:lnSpc>
            </a:pPr>
            <a:r>
              <a:rPr dirty="0" sz="2000" spc="-25">
                <a:solidFill>
                  <a:srgbClr val="4E3629"/>
                </a:solidFill>
                <a:latin typeface="Calibri"/>
                <a:cs typeface="Calibri"/>
              </a:rPr>
              <a:t>Tabel</a:t>
            </a:r>
            <a:r>
              <a:rPr dirty="0" sz="20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 spc="-50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813809" y="4138421"/>
            <a:ext cx="1508760" cy="958850"/>
          </a:xfrm>
          <a:prstGeom prst="rect">
            <a:avLst/>
          </a:prstGeom>
          <a:ln w="38100">
            <a:solidFill>
              <a:srgbClr val="4E3629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Times New Roman"/>
              <a:cs typeface="Times New Roman"/>
            </a:endParaRPr>
          </a:p>
          <a:p>
            <a:pPr marL="383540">
              <a:lnSpc>
                <a:spcPct val="100000"/>
              </a:lnSpc>
            </a:pPr>
            <a:r>
              <a:rPr dirty="0" sz="2000" spc="-25">
                <a:solidFill>
                  <a:srgbClr val="4E3629"/>
                </a:solidFill>
                <a:latin typeface="Calibri"/>
                <a:cs typeface="Calibri"/>
              </a:rPr>
              <a:t>Tabel</a:t>
            </a:r>
            <a:r>
              <a:rPr dirty="0" sz="20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 spc="-50">
                <a:solidFill>
                  <a:srgbClr val="4E3629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653278" y="4138421"/>
            <a:ext cx="1510665" cy="958850"/>
          </a:xfrm>
          <a:prstGeom prst="rect">
            <a:avLst/>
          </a:prstGeom>
          <a:ln w="38100">
            <a:solidFill>
              <a:srgbClr val="4E3629"/>
            </a:solidFill>
          </a:ln>
        </p:spPr>
        <p:txBody>
          <a:bodyPr wrap="square" lIns="0" tIns="285115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2245"/>
              </a:spcBef>
            </a:pPr>
            <a:r>
              <a:rPr dirty="0" sz="2000" spc="-25">
                <a:solidFill>
                  <a:srgbClr val="4E3629"/>
                </a:solidFill>
                <a:latin typeface="Calibri"/>
                <a:cs typeface="Calibri"/>
              </a:rPr>
              <a:t>Tabel</a:t>
            </a:r>
            <a:r>
              <a:rPr dirty="0" sz="20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 spc="-50">
                <a:solidFill>
                  <a:srgbClr val="4E3629"/>
                </a:solidFill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/>
              <a:t>Sintaxis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80"/>
              <a:t> </a:t>
            </a:r>
            <a:r>
              <a:rPr dirty="0" spc="-10"/>
              <a:t>Unión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7-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/>
              <a:t>Unión</a:t>
            </a:r>
            <a:r>
              <a:rPr dirty="0" spc="5"/>
              <a:t> </a:t>
            </a:r>
            <a:r>
              <a:rPr dirty="0" spc="-10"/>
              <a:t>Igualitaria</a:t>
            </a:r>
            <a:r>
              <a:rPr dirty="0" spc="25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/>
              <a:t>Producto </a:t>
            </a:r>
            <a:r>
              <a:rPr dirty="0" spc="-10"/>
              <a:t>Cartesiano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 spc="-10"/>
              <a:t>Oracle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22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16875" cy="20904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Supongamos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necesitamos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informe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nuestros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empleados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ciudad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donde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ubicado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su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departamento</a:t>
            </a:r>
            <a:endParaRPr sz="2800">
              <a:latin typeface="Calibri"/>
              <a:cs typeface="Calibri"/>
            </a:endParaRPr>
          </a:p>
          <a:p>
            <a:pPr marL="182880" marR="190881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Necesitamos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unir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tres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tablas: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employees, 	departaments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locations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386841" y="3529530"/>
          <a:ext cx="8458200" cy="2199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59095"/>
                <a:gridCol w="47625"/>
                <a:gridCol w="1261745"/>
                <a:gridCol w="1601470"/>
              </a:tblGrid>
              <a:tr h="349885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SELECT</a:t>
                      </a:r>
                      <a:r>
                        <a:rPr dirty="0" sz="1800" spc="-7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last_name,</a:t>
                      </a:r>
                      <a:r>
                        <a:rPr dirty="0" sz="1800" spc="-7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2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city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914400" marR="1082040" indent="-914400">
                        <a:lnSpc>
                          <a:spcPct val="100000"/>
                        </a:lnSpc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1800" spc="-8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employees</a:t>
                      </a:r>
                      <a:r>
                        <a:rPr dirty="0" sz="1800" spc="-6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e,</a:t>
                      </a:r>
                      <a:r>
                        <a:rPr dirty="0" sz="1800" spc="-6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departments</a:t>
                      </a:r>
                      <a:r>
                        <a:rPr dirty="0" sz="1800" spc="-6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d,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locations</a:t>
                      </a:r>
                      <a:r>
                        <a:rPr dirty="0" sz="1800" spc="-9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09575" marR="128270" indent="-410209">
                        <a:lnSpc>
                          <a:spcPct val="100000"/>
                        </a:lnSpc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WHERE</a:t>
                      </a:r>
                      <a:r>
                        <a:rPr dirty="0" sz="1800" spc="-8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e.department_id</a:t>
                      </a:r>
                      <a:r>
                        <a:rPr dirty="0" sz="1800" spc="-8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800" spc="-5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d.department_id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AND</a:t>
                      </a:r>
                      <a:r>
                        <a:rPr dirty="0" sz="1800" spc="-6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d.location_id</a:t>
                      </a:r>
                      <a:r>
                        <a:rPr dirty="0" sz="1800" spc="-5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800" spc="-6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l.location_id;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83185">
                    <a:solidFill>
                      <a:srgbClr val="9DBEC4">
                        <a:alpha val="50199"/>
                      </a:srgbClr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D1350F"/>
                      </a:solidFill>
                      <a:prstDash val="solid"/>
                    </a:lnR>
                    <a:solidFill>
                      <a:srgbClr val="9DBEC4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4958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3185">
                    <a:solidFill>
                      <a:srgbClr val="9DBEC4">
                        <a:alpha val="501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D1350F"/>
                      </a:solidFill>
                      <a:prstDash val="solid"/>
                    </a:lnR>
                    <a:solidFill>
                      <a:srgbClr val="9DBEC4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Hartstein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Toronto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498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3185">
                    <a:solidFill>
                      <a:srgbClr val="9DBEC4">
                        <a:alpha val="501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D1350F"/>
                      </a:solidFill>
                      <a:prstDash val="solid"/>
                    </a:lnR>
                    <a:solidFill>
                      <a:srgbClr val="9DBEC4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Fay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Toronto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498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3185">
                    <a:solidFill>
                      <a:srgbClr val="9DBEC4">
                        <a:alpha val="501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D1350F"/>
                      </a:solidFill>
                      <a:prstDash val="solid"/>
                    </a:lnR>
                    <a:solidFill>
                      <a:srgbClr val="9DBEC4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Zlotkey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Oxford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9271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3185">
                    <a:solidFill>
                      <a:srgbClr val="9DBEC4">
                        <a:alpha val="50199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D1350F"/>
                      </a:solidFill>
                      <a:prstDash val="solid"/>
                    </a:lnR>
                    <a:solidFill>
                      <a:srgbClr val="9DBEC4">
                        <a:alpha val="50199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Abel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Oxford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7175"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D1350F"/>
                      </a:solidFill>
                      <a:prstDash val="solid"/>
                    </a:lnR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06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06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49885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D1350F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2025-06-01T18:21:07Z</dcterms:created>
  <dcterms:modified xsi:type="dcterms:W3CDTF">2025-06-01T18:21:07Z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2025-03-31T00:00:00Z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15.3.1 (Build 24D70) Quartz PDFContext</vt:lpwstr>
  </property>
</Properties>
</file>