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Default Extension="png" ContentType="image/png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9144000" cy="6858000"/>
  <p:notesSz cx="9144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
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/Relationships>
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/Relationships>
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/Relationships>
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/Relationships>
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/Relationships>
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slide" Target="../slides/slide6.xml"/></Relationships>
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slide" Target="../slides/slide7.xml"/></Relationships>
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slide" Target="../slides/slide8.xml"/></Relationships>
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slide" Target="../slides/slide9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Presenter</a:t>
            </a:r>
          </a:p>
          <a:p>
            <a:r>
              <a:t>2022-03-02 13:20:38</a:t>
            </a:r>
          </a:p>
          <a:p>
            <a:r>
              <a:t>--------------------------------------------</a:t>
            </a:r>
          </a:p>
          <a:p>
            <a:r>
              <a:t>Es posible realizar una unión externa completa mediante operadores SET. Estos se tratarán más adelante en este curso.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7-</a:t>
            </a:r>
            <a:r>
              <a:rPr dirty="0" spc="-50"/>
              <a:t>2</a:t>
            </a:r>
          </a:p>
          <a:p>
            <a:pPr marL="12700" marR="5080">
              <a:lnSpc>
                <a:spcPts val="919"/>
              </a:lnSpc>
              <a:spcBef>
                <a:spcPts val="60"/>
              </a:spcBef>
            </a:pPr>
            <a:r>
              <a:rPr dirty="0"/>
              <a:t>Uniones</a:t>
            </a:r>
            <a:r>
              <a:rPr dirty="0" spc="5"/>
              <a:t> </a:t>
            </a:r>
            <a:r>
              <a:rPr dirty="0"/>
              <a:t>No</a:t>
            </a:r>
            <a:r>
              <a:rPr dirty="0" spc="-25"/>
              <a:t> </a:t>
            </a:r>
            <a:r>
              <a:rPr dirty="0" spc="-10"/>
              <a:t>Igualitarias</a:t>
            </a:r>
            <a:r>
              <a:rPr dirty="0" spc="20"/>
              <a:t> </a:t>
            </a:r>
            <a:r>
              <a:rPr dirty="0" spc="-50"/>
              <a:t>y</a:t>
            </a:r>
            <a:r>
              <a:rPr dirty="0" spc="500"/>
              <a:t> </a:t>
            </a:r>
            <a:r>
              <a:rPr dirty="0"/>
              <a:t>Uniones</a:t>
            </a:r>
            <a:r>
              <a:rPr dirty="0" spc="-20"/>
              <a:t> </a:t>
            </a:r>
            <a:r>
              <a:rPr dirty="0"/>
              <a:t>Externas</a:t>
            </a:r>
            <a:r>
              <a:rPr dirty="0" spc="-35"/>
              <a:t> </a:t>
            </a:r>
            <a:r>
              <a:rPr dirty="0"/>
              <a:t>de</a:t>
            </a:r>
            <a:r>
              <a:rPr dirty="0" spc="-45"/>
              <a:t> </a:t>
            </a:r>
            <a:r>
              <a:rPr dirty="0" spc="-10"/>
              <a:t>Oracle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23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7-</a:t>
            </a:r>
            <a:r>
              <a:rPr dirty="0" spc="-50"/>
              <a:t>2</a:t>
            </a:r>
          </a:p>
          <a:p>
            <a:pPr marL="12700" marR="5080">
              <a:lnSpc>
                <a:spcPts val="919"/>
              </a:lnSpc>
              <a:spcBef>
                <a:spcPts val="60"/>
              </a:spcBef>
            </a:pPr>
            <a:r>
              <a:rPr dirty="0"/>
              <a:t>Uniones</a:t>
            </a:r>
            <a:r>
              <a:rPr dirty="0" spc="5"/>
              <a:t> </a:t>
            </a:r>
            <a:r>
              <a:rPr dirty="0"/>
              <a:t>No</a:t>
            </a:r>
            <a:r>
              <a:rPr dirty="0" spc="-25"/>
              <a:t> </a:t>
            </a:r>
            <a:r>
              <a:rPr dirty="0" spc="-10"/>
              <a:t>Igualitarias</a:t>
            </a:r>
            <a:r>
              <a:rPr dirty="0" spc="20"/>
              <a:t> </a:t>
            </a:r>
            <a:r>
              <a:rPr dirty="0" spc="-50"/>
              <a:t>y</a:t>
            </a:r>
            <a:r>
              <a:rPr dirty="0" spc="500"/>
              <a:t> </a:t>
            </a:r>
            <a:r>
              <a:rPr dirty="0"/>
              <a:t>Uniones</a:t>
            </a:r>
            <a:r>
              <a:rPr dirty="0" spc="-20"/>
              <a:t> </a:t>
            </a:r>
            <a:r>
              <a:rPr dirty="0"/>
              <a:t>Externas</a:t>
            </a:r>
            <a:r>
              <a:rPr dirty="0" spc="-35"/>
              <a:t> </a:t>
            </a:r>
            <a:r>
              <a:rPr dirty="0"/>
              <a:t>de</a:t>
            </a:r>
            <a:r>
              <a:rPr dirty="0" spc="-45"/>
              <a:t> </a:t>
            </a:r>
            <a:r>
              <a:rPr dirty="0" spc="-10"/>
              <a:t>Oracle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23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7-</a:t>
            </a:r>
            <a:r>
              <a:rPr dirty="0" spc="-50"/>
              <a:t>2</a:t>
            </a:r>
          </a:p>
          <a:p>
            <a:pPr marL="12700" marR="5080">
              <a:lnSpc>
                <a:spcPts val="919"/>
              </a:lnSpc>
              <a:spcBef>
                <a:spcPts val="60"/>
              </a:spcBef>
            </a:pPr>
            <a:r>
              <a:rPr dirty="0"/>
              <a:t>Uniones</a:t>
            </a:r>
            <a:r>
              <a:rPr dirty="0" spc="5"/>
              <a:t> </a:t>
            </a:r>
            <a:r>
              <a:rPr dirty="0"/>
              <a:t>No</a:t>
            </a:r>
            <a:r>
              <a:rPr dirty="0" spc="-25"/>
              <a:t> </a:t>
            </a:r>
            <a:r>
              <a:rPr dirty="0" spc="-10"/>
              <a:t>Igualitarias</a:t>
            </a:r>
            <a:r>
              <a:rPr dirty="0" spc="20"/>
              <a:t> </a:t>
            </a:r>
            <a:r>
              <a:rPr dirty="0" spc="-50"/>
              <a:t>y</a:t>
            </a:r>
            <a:r>
              <a:rPr dirty="0" spc="500"/>
              <a:t> </a:t>
            </a:r>
            <a:r>
              <a:rPr dirty="0"/>
              <a:t>Uniones</a:t>
            </a:r>
            <a:r>
              <a:rPr dirty="0" spc="-20"/>
              <a:t> </a:t>
            </a:r>
            <a:r>
              <a:rPr dirty="0"/>
              <a:t>Externas</a:t>
            </a:r>
            <a:r>
              <a:rPr dirty="0" spc="-35"/>
              <a:t> </a:t>
            </a:r>
            <a:r>
              <a:rPr dirty="0"/>
              <a:t>de</a:t>
            </a:r>
            <a:r>
              <a:rPr dirty="0" spc="-45"/>
              <a:t> </a:t>
            </a:r>
            <a:r>
              <a:rPr dirty="0" spc="-10"/>
              <a:t>Oracle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23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7-</a:t>
            </a:r>
            <a:r>
              <a:rPr dirty="0" spc="-50"/>
              <a:t>2</a:t>
            </a:r>
          </a:p>
          <a:p>
            <a:pPr marL="12700" marR="5080">
              <a:lnSpc>
                <a:spcPts val="919"/>
              </a:lnSpc>
              <a:spcBef>
                <a:spcPts val="60"/>
              </a:spcBef>
            </a:pPr>
            <a:r>
              <a:rPr dirty="0"/>
              <a:t>Uniones</a:t>
            </a:r>
            <a:r>
              <a:rPr dirty="0" spc="5"/>
              <a:t> </a:t>
            </a:r>
            <a:r>
              <a:rPr dirty="0"/>
              <a:t>No</a:t>
            </a:r>
            <a:r>
              <a:rPr dirty="0" spc="-25"/>
              <a:t> </a:t>
            </a:r>
            <a:r>
              <a:rPr dirty="0" spc="-10"/>
              <a:t>Igualitarias</a:t>
            </a:r>
            <a:r>
              <a:rPr dirty="0" spc="20"/>
              <a:t> </a:t>
            </a:r>
            <a:r>
              <a:rPr dirty="0" spc="-50"/>
              <a:t>y</a:t>
            </a:r>
            <a:r>
              <a:rPr dirty="0" spc="500"/>
              <a:t> </a:t>
            </a:r>
            <a:r>
              <a:rPr dirty="0"/>
              <a:t>Uniones</a:t>
            </a:r>
            <a:r>
              <a:rPr dirty="0" spc="-20"/>
              <a:t> </a:t>
            </a:r>
            <a:r>
              <a:rPr dirty="0"/>
              <a:t>Externas</a:t>
            </a:r>
            <a:r>
              <a:rPr dirty="0" spc="-35"/>
              <a:t> </a:t>
            </a:r>
            <a:r>
              <a:rPr dirty="0"/>
              <a:t>de</a:t>
            </a:r>
            <a:r>
              <a:rPr dirty="0" spc="-45"/>
              <a:t> </a:t>
            </a:r>
            <a:r>
              <a:rPr dirty="0" spc="-10"/>
              <a:t>Oracle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23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7-</a:t>
            </a:r>
            <a:r>
              <a:rPr dirty="0" spc="-50"/>
              <a:t>2</a:t>
            </a:r>
          </a:p>
          <a:p>
            <a:pPr marL="12700" marR="5080">
              <a:lnSpc>
                <a:spcPts val="919"/>
              </a:lnSpc>
              <a:spcBef>
                <a:spcPts val="60"/>
              </a:spcBef>
            </a:pPr>
            <a:r>
              <a:rPr dirty="0"/>
              <a:t>Uniones</a:t>
            </a:r>
            <a:r>
              <a:rPr dirty="0" spc="5"/>
              <a:t> </a:t>
            </a:r>
            <a:r>
              <a:rPr dirty="0"/>
              <a:t>No</a:t>
            </a:r>
            <a:r>
              <a:rPr dirty="0" spc="-25"/>
              <a:t> </a:t>
            </a:r>
            <a:r>
              <a:rPr dirty="0" spc="-10"/>
              <a:t>Igualitarias</a:t>
            </a:r>
            <a:r>
              <a:rPr dirty="0" spc="20"/>
              <a:t> </a:t>
            </a:r>
            <a:r>
              <a:rPr dirty="0" spc="-50"/>
              <a:t>y</a:t>
            </a:r>
            <a:r>
              <a:rPr dirty="0" spc="500"/>
              <a:t> </a:t>
            </a:r>
            <a:r>
              <a:rPr dirty="0"/>
              <a:t>Uniones</a:t>
            </a:r>
            <a:r>
              <a:rPr dirty="0" spc="-20"/>
              <a:t> </a:t>
            </a:r>
            <a:r>
              <a:rPr dirty="0"/>
              <a:t>Externas</a:t>
            </a:r>
            <a:r>
              <a:rPr dirty="0" spc="-35"/>
              <a:t> </a:t>
            </a:r>
            <a:r>
              <a:rPr dirty="0"/>
              <a:t>de</a:t>
            </a:r>
            <a:r>
              <a:rPr dirty="0" spc="-45"/>
              <a:t> </a:t>
            </a:r>
            <a:r>
              <a:rPr dirty="0" spc="-10"/>
              <a:t>Oracle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23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Relationship Id="rId8" Type="http://schemas.openxmlformats.org/officeDocument/2006/relationships/image" Target="../media/image2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E0E2E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254507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05384" y="6178295"/>
            <a:ext cx="1258824" cy="42062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2112" y="748031"/>
            <a:ext cx="6351905" cy="5283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1662" y="2807063"/>
            <a:ext cx="7590155" cy="30162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172119" y="6589648"/>
            <a:ext cx="3222625" cy="1339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2874191" y="6449092"/>
            <a:ext cx="1236345" cy="3670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7-</a:t>
            </a:r>
            <a:r>
              <a:rPr dirty="0" spc="-50"/>
              <a:t>2</a:t>
            </a:r>
          </a:p>
          <a:p>
            <a:pPr marL="12700" marR="5080">
              <a:lnSpc>
                <a:spcPts val="919"/>
              </a:lnSpc>
              <a:spcBef>
                <a:spcPts val="60"/>
              </a:spcBef>
            </a:pPr>
            <a:r>
              <a:rPr dirty="0"/>
              <a:t>Uniones</a:t>
            </a:r>
            <a:r>
              <a:rPr dirty="0" spc="5"/>
              <a:t> </a:t>
            </a:r>
            <a:r>
              <a:rPr dirty="0"/>
              <a:t>No</a:t>
            </a:r>
            <a:r>
              <a:rPr dirty="0" spc="-25"/>
              <a:t> </a:t>
            </a:r>
            <a:r>
              <a:rPr dirty="0" spc="-10"/>
              <a:t>Igualitarias</a:t>
            </a:r>
            <a:r>
              <a:rPr dirty="0" spc="20"/>
              <a:t> </a:t>
            </a:r>
            <a:r>
              <a:rPr dirty="0" spc="-50"/>
              <a:t>y</a:t>
            </a:r>
            <a:r>
              <a:rPr dirty="0" spc="500"/>
              <a:t> </a:t>
            </a:r>
            <a:r>
              <a:rPr dirty="0"/>
              <a:t>Uniones</a:t>
            </a:r>
            <a:r>
              <a:rPr dirty="0" spc="-20"/>
              <a:t> </a:t>
            </a:r>
            <a:r>
              <a:rPr dirty="0"/>
              <a:t>Externas</a:t>
            </a:r>
            <a:r>
              <a:rPr dirty="0" spc="-35"/>
              <a:t> </a:t>
            </a:r>
            <a:r>
              <a:rPr dirty="0"/>
              <a:t>de</a:t>
            </a:r>
            <a:r>
              <a:rPr dirty="0" spc="-45"/>
              <a:t> </a:t>
            </a:r>
            <a:r>
              <a:rPr dirty="0" spc="-10"/>
              <a:t>Oracle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626856" y="6589648"/>
            <a:ext cx="173354" cy="1784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23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1.xml"/><Relationship Id="rId6" Type="http://schemas.openxmlformats.org/officeDocument/2006/relationships/slide" Target="slide1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slide" Target="slide3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slide" Target="slide4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Relationship Id="rId4" Type="http://schemas.openxmlformats.org/officeDocument/2006/relationships/slide" Target="slide5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slide" Target="slide6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slide" Target="slide7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8.xml"/><Relationship Id="rId4" Type="http://schemas.openxmlformats.org/officeDocument/2006/relationships/slide" Target="slide8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slide" Target="slide9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560831" y="702563"/>
              <a:ext cx="8022590" cy="5453380"/>
            </a:xfrm>
            <a:custGeom>
              <a:avLst/>
              <a:gdLst/>
              <a:ahLst/>
              <a:cxnLst/>
              <a:rect l="l" t="t" r="r" b="b"/>
              <a:pathLst>
                <a:path w="8022590" h="5453380">
                  <a:moveTo>
                    <a:pt x="8022335" y="0"/>
                  </a:moveTo>
                  <a:lnTo>
                    <a:pt x="0" y="0"/>
                  </a:lnTo>
                  <a:lnTo>
                    <a:pt x="0" y="5452872"/>
                  </a:lnTo>
                  <a:lnTo>
                    <a:pt x="8022335" y="5452872"/>
                  </a:lnTo>
                  <a:lnTo>
                    <a:pt x="8022335" y="0"/>
                  </a:lnTo>
                  <a:close/>
                </a:path>
              </a:pathLst>
            </a:custGeom>
            <a:solidFill>
              <a:srgbClr val="E0E2E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0787" y="5570219"/>
              <a:ext cx="1258824" cy="420623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/>
          <p:nvPr/>
        </p:nvSpPr>
        <p:spPr>
          <a:xfrm>
            <a:off x="5057819" y="6562597"/>
            <a:ext cx="3222625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Copyright</a:t>
            </a:r>
            <a:r>
              <a:rPr dirty="0" sz="850" spc="-3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©</a:t>
            </a:r>
            <a:r>
              <a:rPr dirty="0" sz="850" spc="-40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2020,</a:t>
            </a:r>
            <a:r>
              <a:rPr dirty="0" sz="850" spc="-4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Oracle</a:t>
            </a:r>
            <a:r>
              <a:rPr dirty="0" sz="850" spc="-30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y/o</a:t>
            </a:r>
            <a:r>
              <a:rPr dirty="0" sz="850" spc="-30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sus</a:t>
            </a:r>
            <a:r>
              <a:rPr dirty="0" sz="850" spc="-3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filiales.</a:t>
            </a:r>
            <a:r>
              <a:rPr dirty="0" sz="850" spc="-10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Todos</a:t>
            </a:r>
            <a:r>
              <a:rPr dirty="0" sz="850" spc="-3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los</a:t>
            </a:r>
            <a:r>
              <a:rPr dirty="0" sz="850" spc="-2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derechos</a:t>
            </a:r>
            <a:r>
              <a:rPr dirty="0" sz="850" spc="-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 spc="-10">
                <a:solidFill>
                  <a:srgbClr val="FDF0D9"/>
                </a:solidFill>
                <a:latin typeface="Calibri"/>
                <a:cs typeface="Calibri"/>
              </a:rPr>
              <a:t>reservados.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958315" y="855591"/>
            <a:ext cx="7047865" cy="1342390"/>
          </a:xfrm>
          <a:prstGeom prst="rect"/>
        </p:spPr>
        <p:txBody>
          <a:bodyPr wrap="square" lIns="0" tIns="153670" rIns="0" bIns="0" rtlCol="0" vert="horz">
            <a:spAutoFit/>
          </a:bodyPr>
          <a:lstStyle/>
          <a:p>
            <a:pPr marL="12700" marR="5080">
              <a:lnSpc>
                <a:spcPts val="4610"/>
              </a:lnSpc>
              <a:spcBef>
                <a:spcPts val="1210"/>
              </a:spcBef>
            </a:pPr>
            <a:r>
              <a:rPr dirty="0" sz="4800"/>
              <a:t>Database</a:t>
            </a:r>
            <a:r>
              <a:rPr dirty="0" sz="4800" spc="-190"/>
              <a:t> </a:t>
            </a:r>
            <a:r>
              <a:rPr dirty="0" sz="4800" spc="-20"/>
              <a:t>Programming</a:t>
            </a:r>
            <a:r>
              <a:rPr dirty="0" sz="4800" spc="-185"/>
              <a:t> </a:t>
            </a:r>
            <a:r>
              <a:rPr dirty="0" sz="4800" spc="-20"/>
              <a:t>with </a:t>
            </a:r>
            <a:r>
              <a:rPr dirty="0" sz="4800" spc="-25"/>
              <a:t>SQL</a:t>
            </a:r>
            <a:endParaRPr sz="4800"/>
          </a:p>
        </p:txBody>
      </p:sp>
      <p:sp>
        <p:nvSpPr>
          <p:cNvPr id="8" name="object 8" descr=""/>
          <p:cNvSpPr txBox="1"/>
          <p:nvPr/>
        </p:nvSpPr>
        <p:spPr>
          <a:xfrm>
            <a:off x="962879" y="2400950"/>
            <a:ext cx="3492500" cy="1217295"/>
          </a:xfrm>
          <a:prstGeom prst="rect">
            <a:avLst/>
          </a:prstGeom>
        </p:spPr>
        <p:txBody>
          <a:bodyPr wrap="square" lIns="0" tIns="781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dirty="0" sz="2400" spc="-10" b="1">
                <a:solidFill>
                  <a:srgbClr val="4E3629"/>
                </a:solidFill>
                <a:latin typeface="Calibri"/>
                <a:cs typeface="Calibri"/>
              </a:rPr>
              <a:t>7-</a:t>
            </a:r>
            <a:r>
              <a:rPr dirty="0" sz="2400" spc="-50" b="1">
                <a:solidFill>
                  <a:srgbClr val="4E3629"/>
                </a:solidFill>
                <a:latin typeface="Calibri"/>
                <a:cs typeface="Calibri"/>
              </a:rPr>
              <a:t>2</a:t>
            </a:r>
            <a:endParaRPr sz="2400">
              <a:latin typeface="Calibri"/>
              <a:cs typeface="Calibri"/>
            </a:endParaRPr>
          </a:p>
          <a:p>
            <a:pPr marL="12700" marR="5080">
              <a:lnSpc>
                <a:spcPts val="2590"/>
              </a:lnSpc>
              <a:spcBef>
                <a:spcPts val="845"/>
              </a:spcBef>
            </a:pPr>
            <a:r>
              <a:rPr dirty="0" sz="2400" b="1">
                <a:solidFill>
                  <a:srgbClr val="4E3629"/>
                </a:solidFill>
                <a:latin typeface="Calibri"/>
                <a:cs typeface="Calibri"/>
              </a:rPr>
              <a:t>Uniones</a:t>
            </a:r>
            <a:r>
              <a:rPr dirty="0" sz="2400" spc="-60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4E3629"/>
                </a:solidFill>
                <a:latin typeface="Calibri"/>
                <a:cs typeface="Calibri"/>
              </a:rPr>
              <a:t>No</a:t>
            </a:r>
            <a:r>
              <a:rPr dirty="0" sz="2400" spc="-70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4E3629"/>
                </a:solidFill>
                <a:latin typeface="Calibri"/>
                <a:cs typeface="Calibri"/>
              </a:rPr>
              <a:t>Igualitarias</a:t>
            </a:r>
            <a:r>
              <a:rPr dirty="0" sz="2400" spc="-40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50" b="1">
                <a:solidFill>
                  <a:srgbClr val="4E3629"/>
                </a:solidFill>
                <a:latin typeface="Calibri"/>
                <a:cs typeface="Calibri"/>
              </a:rPr>
              <a:t>y </a:t>
            </a:r>
            <a:r>
              <a:rPr dirty="0" sz="2400" b="1">
                <a:solidFill>
                  <a:srgbClr val="4E3629"/>
                </a:solidFill>
                <a:latin typeface="Calibri"/>
                <a:cs typeface="Calibri"/>
              </a:rPr>
              <a:t>Uniones</a:t>
            </a:r>
            <a:r>
              <a:rPr dirty="0" sz="2400" spc="-60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4E3629"/>
                </a:solidFill>
                <a:latin typeface="Calibri"/>
                <a:cs typeface="Calibri"/>
              </a:rPr>
              <a:t>Externas</a:t>
            </a:r>
            <a:r>
              <a:rPr dirty="0" sz="2400" spc="-40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400" spc="-40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4E3629"/>
                </a:solidFill>
                <a:latin typeface="Calibri"/>
                <a:cs typeface="Calibri"/>
              </a:rPr>
              <a:t>Oracle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17008" y="2599943"/>
            <a:ext cx="3745991" cy="389534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Unión</a:t>
            </a:r>
            <a:r>
              <a:rPr dirty="0" spc="-45"/>
              <a:t> </a:t>
            </a:r>
            <a:r>
              <a:rPr dirty="0"/>
              <a:t>no</a:t>
            </a:r>
            <a:r>
              <a:rPr dirty="0" spc="-40"/>
              <a:t> </a:t>
            </a:r>
            <a:r>
              <a:rPr dirty="0" spc="-10"/>
              <a:t>igualitaria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7-</a:t>
            </a:r>
            <a:r>
              <a:rPr dirty="0" spc="-50"/>
              <a:t>2</a:t>
            </a:r>
          </a:p>
          <a:p>
            <a:pPr marL="12700" marR="5080">
              <a:lnSpc>
                <a:spcPts val="919"/>
              </a:lnSpc>
              <a:spcBef>
                <a:spcPts val="60"/>
              </a:spcBef>
            </a:pPr>
            <a:r>
              <a:rPr dirty="0"/>
              <a:t>Uniones</a:t>
            </a:r>
            <a:r>
              <a:rPr dirty="0" spc="5"/>
              <a:t> </a:t>
            </a:r>
            <a:r>
              <a:rPr dirty="0"/>
              <a:t>No</a:t>
            </a:r>
            <a:r>
              <a:rPr dirty="0" spc="-25"/>
              <a:t> </a:t>
            </a:r>
            <a:r>
              <a:rPr dirty="0" spc="-10"/>
              <a:t>Igualitarias</a:t>
            </a:r>
            <a:r>
              <a:rPr dirty="0" spc="20"/>
              <a:t> </a:t>
            </a:r>
            <a:r>
              <a:rPr dirty="0" spc="-50"/>
              <a:t>y</a:t>
            </a:r>
            <a:r>
              <a:rPr dirty="0" spc="500"/>
              <a:t> </a:t>
            </a:r>
            <a:r>
              <a:rPr dirty="0"/>
              <a:t>Uniones</a:t>
            </a:r>
            <a:r>
              <a:rPr dirty="0" spc="-20"/>
              <a:t> </a:t>
            </a:r>
            <a:r>
              <a:rPr dirty="0"/>
              <a:t>Externas</a:t>
            </a:r>
            <a:r>
              <a:rPr dirty="0" spc="-35"/>
              <a:t> </a:t>
            </a:r>
            <a:r>
              <a:rPr dirty="0"/>
              <a:t>de</a:t>
            </a:r>
            <a:r>
              <a:rPr dirty="0" spc="-45"/>
              <a:t> </a:t>
            </a:r>
            <a:r>
              <a:rPr dirty="0" spc="-10"/>
              <a:t>Oracle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98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 spc="-25"/>
              <a:t>6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393401"/>
            <a:ext cx="7423150" cy="2275840"/>
          </a:xfrm>
          <a:prstGeom prst="rect">
            <a:avLst/>
          </a:prstGeom>
        </p:spPr>
        <p:txBody>
          <a:bodyPr wrap="square" lIns="0" tIns="34290" rIns="0" bIns="0" rtlCol="0" vert="horz">
            <a:spAutoFit/>
          </a:bodyPr>
          <a:lstStyle/>
          <a:p>
            <a:pPr marL="183515" indent="-170815">
              <a:lnSpc>
                <a:spcPct val="100000"/>
              </a:lnSpc>
              <a:spcBef>
                <a:spcPts val="270"/>
              </a:spcBef>
              <a:buClr>
                <a:srgbClr val="D1350F"/>
              </a:buClr>
              <a:buFont typeface="Arial MT"/>
              <a:buChar char="•"/>
              <a:tabLst>
                <a:tab pos="183515" algn="l"/>
              </a:tabLst>
            </a:pP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Ejemplo:</a:t>
            </a:r>
            <a:endParaRPr sz="2800">
              <a:latin typeface="Calibri"/>
              <a:cs typeface="Calibri"/>
            </a:endParaRPr>
          </a:p>
          <a:p>
            <a:pPr marL="530860" marR="30480" indent="-175260">
              <a:lnSpc>
                <a:spcPts val="2590"/>
              </a:lnSpc>
              <a:spcBef>
                <a:spcPts val="475"/>
              </a:spcBef>
            </a:pPr>
            <a:r>
              <a:rPr dirty="0" sz="2400">
                <a:solidFill>
                  <a:srgbClr val="D1350F"/>
                </a:solidFill>
                <a:latin typeface="Calibri"/>
                <a:cs typeface="Calibri"/>
              </a:rPr>
              <a:t>−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Suponga</a:t>
            </a:r>
            <a:r>
              <a:rPr dirty="0" sz="24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4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desea</a:t>
            </a:r>
            <a:r>
              <a:rPr dirty="0" sz="24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conocer</a:t>
            </a:r>
            <a:r>
              <a:rPr dirty="0" sz="24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4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valor</a:t>
            </a:r>
            <a:r>
              <a:rPr dirty="0" sz="24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grade_level</a:t>
            </a:r>
            <a:r>
              <a:rPr dirty="0" sz="24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para</a:t>
            </a:r>
            <a:r>
              <a:rPr dirty="0" sz="24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4E3629"/>
                </a:solidFill>
                <a:latin typeface="Calibri"/>
                <a:cs typeface="Calibri"/>
              </a:rPr>
              <a:t>el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salario</a:t>
            </a:r>
            <a:r>
              <a:rPr dirty="0" sz="24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4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cada</a:t>
            </a:r>
            <a:r>
              <a:rPr dirty="0" sz="24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empleado</a:t>
            </a:r>
            <a:endParaRPr sz="2400">
              <a:latin typeface="Calibri"/>
              <a:cs typeface="Calibri"/>
            </a:endParaRPr>
          </a:p>
          <a:p>
            <a:pPr marL="530860" marR="5080" indent="-175260">
              <a:lnSpc>
                <a:spcPts val="2590"/>
              </a:lnSpc>
              <a:spcBef>
                <a:spcPts val="400"/>
              </a:spcBef>
            </a:pPr>
            <a:r>
              <a:rPr dirty="0" sz="2400">
                <a:solidFill>
                  <a:srgbClr val="D1350F"/>
                </a:solidFill>
                <a:latin typeface="Calibri"/>
                <a:cs typeface="Calibri"/>
              </a:rPr>
              <a:t>−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4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tabla</a:t>
            </a:r>
            <a:r>
              <a:rPr dirty="0" sz="24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job_grades</a:t>
            </a:r>
            <a:r>
              <a:rPr dirty="0" sz="24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no</a:t>
            </a:r>
            <a:r>
              <a:rPr dirty="0" sz="24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tiene</a:t>
            </a:r>
            <a:r>
              <a:rPr dirty="0" sz="24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4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columna</a:t>
            </a:r>
            <a:r>
              <a:rPr dirty="0" sz="24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común</a:t>
            </a:r>
            <a:r>
              <a:rPr dirty="0" sz="24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con</a:t>
            </a:r>
            <a:r>
              <a:rPr dirty="0" sz="2400" spc="-25">
                <a:solidFill>
                  <a:srgbClr val="4E3629"/>
                </a:solidFill>
                <a:latin typeface="Calibri"/>
                <a:cs typeface="Calibri"/>
              </a:rPr>
              <a:t> la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tabla</a:t>
            </a:r>
            <a:r>
              <a:rPr dirty="0" sz="24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employees</a:t>
            </a:r>
            <a:endParaRPr sz="24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70"/>
              </a:spcBef>
            </a:pPr>
            <a:r>
              <a:rPr dirty="0" sz="2400">
                <a:solidFill>
                  <a:srgbClr val="D1350F"/>
                </a:solidFill>
                <a:latin typeface="Calibri"/>
                <a:cs typeface="Calibri"/>
              </a:rPr>
              <a:t>−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4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unión</a:t>
            </a:r>
            <a:r>
              <a:rPr dirty="0" sz="24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igualitaria</a:t>
            </a:r>
            <a:r>
              <a:rPr dirty="0" sz="24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nos</a:t>
            </a:r>
            <a:r>
              <a:rPr dirty="0" sz="24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permite</a:t>
            </a:r>
            <a:r>
              <a:rPr dirty="0" sz="24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unir</a:t>
            </a:r>
            <a:r>
              <a:rPr dirty="0" sz="24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4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dos</a:t>
            </a:r>
            <a:r>
              <a:rPr dirty="0" sz="24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tablas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859815" y="4930585"/>
            <a:ext cx="142303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4E3629"/>
                </a:solidFill>
                <a:latin typeface="Calibri"/>
                <a:cs typeface="Calibri"/>
              </a:rPr>
              <a:t>tabla</a:t>
            </a:r>
            <a:r>
              <a:rPr dirty="0" sz="1600" spc="-40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600" spc="-10" b="1">
                <a:solidFill>
                  <a:srgbClr val="4E3629"/>
                </a:solidFill>
                <a:latin typeface="Calibri"/>
                <a:cs typeface="Calibri"/>
              </a:rPr>
              <a:t>job_grades</a:t>
            </a:r>
            <a:endParaRPr sz="1600">
              <a:latin typeface="Calibri"/>
              <a:cs typeface="Calibri"/>
            </a:endParaRPr>
          </a:p>
        </p:txBody>
      </p:sp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5411547" y="3751324"/>
          <a:ext cx="3410585" cy="26904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4270"/>
                <a:gridCol w="1077595"/>
                <a:gridCol w="1099185"/>
              </a:tblGrid>
              <a:tr h="54927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230"/>
                        </a:spcBef>
                      </a:pPr>
                      <a:r>
                        <a:rPr dirty="0" sz="14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GRADE_LEVEL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5621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230"/>
                        </a:spcBef>
                      </a:pPr>
                      <a:r>
                        <a:rPr dirty="0" sz="14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LOWEST_SAL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5621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230"/>
                        </a:spcBef>
                      </a:pPr>
                      <a:r>
                        <a:rPr dirty="0" sz="14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HIGHEST_SAL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5621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4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969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4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1000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969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4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2999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969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dirty="0" sz="14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B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032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dirty="0" sz="14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3000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032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dirty="0" sz="14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5999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032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dirty="0" sz="14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032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dirty="0" sz="14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6000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032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dirty="0" sz="14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9999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032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dirty="0" sz="14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032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10000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032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14999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032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dirty="0" sz="14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032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15000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032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24999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032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dirty="0" sz="14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F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032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25000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032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40000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032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Unión</a:t>
            </a:r>
            <a:r>
              <a:rPr dirty="0" spc="-45"/>
              <a:t> </a:t>
            </a:r>
            <a:r>
              <a:rPr dirty="0"/>
              <a:t>no</a:t>
            </a:r>
            <a:r>
              <a:rPr dirty="0" spc="-40"/>
              <a:t> </a:t>
            </a:r>
            <a:r>
              <a:rPr dirty="0" spc="-10"/>
              <a:t>igualitaria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7-</a:t>
            </a:r>
            <a:r>
              <a:rPr dirty="0" spc="-50"/>
              <a:t>2</a:t>
            </a:r>
          </a:p>
          <a:p>
            <a:pPr marL="12700" marR="5080">
              <a:lnSpc>
                <a:spcPts val="919"/>
              </a:lnSpc>
              <a:spcBef>
                <a:spcPts val="60"/>
              </a:spcBef>
            </a:pPr>
            <a:r>
              <a:rPr dirty="0"/>
              <a:t>Uniones</a:t>
            </a:r>
            <a:r>
              <a:rPr dirty="0" spc="5"/>
              <a:t> </a:t>
            </a:r>
            <a:r>
              <a:rPr dirty="0"/>
              <a:t>No</a:t>
            </a:r>
            <a:r>
              <a:rPr dirty="0" spc="-25"/>
              <a:t> </a:t>
            </a:r>
            <a:r>
              <a:rPr dirty="0" spc="-10"/>
              <a:t>Igualitarias</a:t>
            </a:r>
            <a:r>
              <a:rPr dirty="0" spc="20"/>
              <a:t> </a:t>
            </a:r>
            <a:r>
              <a:rPr dirty="0" spc="-50"/>
              <a:t>y</a:t>
            </a:r>
            <a:r>
              <a:rPr dirty="0" spc="500"/>
              <a:t> </a:t>
            </a:r>
            <a:r>
              <a:rPr dirty="0"/>
              <a:t>Uniones</a:t>
            </a:r>
            <a:r>
              <a:rPr dirty="0" spc="-20"/>
              <a:t> </a:t>
            </a:r>
            <a:r>
              <a:rPr dirty="0"/>
              <a:t>Externas</a:t>
            </a:r>
            <a:r>
              <a:rPr dirty="0" spc="-35"/>
              <a:t> </a:t>
            </a:r>
            <a:r>
              <a:rPr dirty="0"/>
              <a:t>de</a:t>
            </a:r>
            <a:r>
              <a:rPr dirty="0" spc="-45"/>
              <a:t> </a:t>
            </a:r>
            <a:r>
              <a:rPr dirty="0" spc="-10"/>
              <a:t>Oracle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98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 spc="-25"/>
              <a:t>7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8152765" cy="372872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1193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Ya</a:t>
            </a:r>
            <a:r>
              <a:rPr dirty="0" sz="2800" spc="-9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hay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ninguna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coincidencia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exacta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entre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las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dos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columnas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cada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tabla,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operador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igualdad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= 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puede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 utilizar</a:t>
            </a:r>
            <a:endParaRPr sz="2800">
              <a:latin typeface="Calibri"/>
              <a:cs typeface="Calibri"/>
            </a:endParaRPr>
          </a:p>
          <a:p>
            <a:pPr marL="182880" marR="5080" indent="-170815">
              <a:lnSpc>
                <a:spcPts val="3030"/>
              </a:lnSpc>
              <a:spcBef>
                <a:spcPts val="78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Aunque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pueden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utilizar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condiciones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de 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comparación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como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&lt;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=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y</a:t>
            </a:r>
            <a:r>
              <a:rPr dirty="0" u="heavy" sz="2800" spc="-4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&gt;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=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,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BETWEEN...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AND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una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forma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más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efectiva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ejecutar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unión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igualitaria</a:t>
            </a:r>
            <a:endParaRPr sz="2800">
              <a:latin typeface="Calibri"/>
              <a:cs typeface="Calibri"/>
            </a:endParaRPr>
          </a:p>
          <a:p>
            <a:pPr marL="182880" marR="21590" indent="-170815">
              <a:lnSpc>
                <a:spcPts val="3030"/>
              </a:lnSpc>
              <a:spcBef>
                <a:spcPts val="79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unión</a:t>
            </a:r>
            <a:r>
              <a:rPr dirty="0" sz="2800" spc="-1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igualitaria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equivalente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ANSI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JOIN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ON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(donde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condición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utilizada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algo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distinto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al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signo 	igual)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Unión</a:t>
            </a:r>
            <a:r>
              <a:rPr dirty="0" spc="-45"/>
              <a:t> </a:t>
            </a:r>
            <a:r>
              <a:rPr dirty="0"/>
              <a:t>no</a:t>
            </a:r>
            <a:r>
              <a:rPr dirty="0" spc="-40"/>
              <a:t> </a:t>
            </a:r>
            <a:r>
              <a:rPr dirty="0" spc="-10"/>
              <a:t>igualitaria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7-</a:t>
            </a:r>
            <a:r>
              <a:rPr dirty="0" spc="-50"/>
              <a:t>2</a:t>
            </a:r>
          </a:p>
          <a:p>
            <a:pPr marL="12700" marR="5080">
              <a:lnSpc>
                <a:spcPts val="919"/>
              </a:lnSpc>
              <a:spcBef>
                <a:spcPts val="60"/>
              </a:spcBef>
            </a:pPr>
            <a:r>
              <a:rPr dirty="0"/>
              <a:t>Uniones</a:t>
            </a:r>
            <a:r>
              <a:rPr dirty="0" spc="5"/>
              <a:t> </a:t>
            </a:r>
            <a:r>
              <a:rPr dirty="0"/>
              <a:t>No</a:t>
            </a:r>
            <a:r>
              <a:rPr dirty="0" spc="-25"/>
              <a:t> </a:t>
            </a:r>
            <a:r>
              <a:rPr dirty="0" spc="-10"/>
              <a:t>Igualitarias</a:t>
            </a:r>
            <a:r>
              <a:rPr dirty="0" spc="20"/>
              <a:t> </a:t>
            </a:r>
            <a:r>
              <a:rPr dirty="0" spc="-50"/>
              <a:t>y</a:t>
            </a:r>
            <a:r>
              <a:rPr dirty="0" spc="500"/>
              <a:t> </a:t>
            </a:r>
            <a:r>
              <a:rPr dirty="0"/>
              <a:t>Uniones</a:t>
            </a:r>
            <a:r>
              <a:rPr dirty="0" spc="-20"/>
              <a:t> </a:t>
            </a:r>
            <a:r>
              <a:rPr dirty="0"/>
              <a:t>Externas</a:t>
            </a:r>
            <a:r>
              <a:rPr dirty="0" spc="-35"/>
              <a:t> </a:t>
            </a:r>
            <a:r>
              <a:rPr dirty="0"/>
              <a:t>de</a:t>
            </a:r>
            <a:r>
              <a:rPr dirty="0" spc="-45"/>
              <a:t> </a:t>
            </a:r>
            <a:r>
              <a:rPr dirty="0" spc="-10"/>
              <a:t>Oracle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98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 spc="-25"/>
              <a:t>8</a:t>
            </a: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641352" y="2685143"/>
          <a:ext cx="7778750" cy="30016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37970"/>
                <a:gridCol w="1537970"/>
                <a:gridCol w="1537969"/>
                <a:gridCol w="1537970"/>
                <a:gridCol w="1537970"/>
              </a:tblGrid>
              <a:tr h="42989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LAST_NAME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8064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SALARY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8064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GRADE_LEVEL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8064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LOWEST_SAL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8064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HIGHEST_SAL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8064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Vargas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825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2500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825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825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1000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825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2999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825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Matos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825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2600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825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825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1000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825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2999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825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Davies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825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3100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825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B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825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3000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825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5999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825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Rajs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825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3500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825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B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825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3000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825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5999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825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Lorentz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762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4200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762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B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762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3000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762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5999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762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Whalen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762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4400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762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B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762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3000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762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5999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762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Mourgos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762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5800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762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B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762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3000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762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5999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762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Fay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762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6000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762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762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6000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762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9999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762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…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762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 descr=""/>
          <p:cNvSpPr txBox="1"/>
          <p:nvPr/>
        </p:nvSpPr>
        <p:spPr>
          <a:xfrm>
            <a:off x="405384" y="1447800"/>
            <a:ext cx="8345805" cy="1132840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85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SELECT</a:t>
            </a:r>
            <a:r>
              <a:rPr dirty="0" sz="1800" spc="-8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last_name,</a:t>
            </a:r>
            <a:r>
              <a:rPr dirty="0" sz="1800" spc="-8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salary,</a:t>
            </a:r>
            <a:r>
              <a:rPr dirty="0" sz="1800" spc="-9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grade_level,</a:t>
            </a:r>
            <a:r>
              <a:rPr dirty="0" sz="1800" spc="-8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lowest_sal,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highest_sal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FROM</a:t>
            </a:r>
            <a:r>
              <a:rPr dirty="0" sz="1800" spc="-7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employees,</a:t>
            </a:r>
            <a:r>
              <a:rPr dirty="0" sz="1800" spc="-7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job_grades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WHERE</a:t>
            </a:r>
            <a:r>
              <a:rPr dirty="0" sz="1800" spc="-7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(salary</a:t>
            </a:r>
            <a:r>
              <a:rPr dirty="0" sz="1800" spc="-6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BETWEEN</a:t>
            </a:r>
            <a:r>
              <a:rPr dirty="0" sz="1800" spc="-7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lowest_sal</a:t>
            </a:r>
            <a:r>
              <a:rPr dirty="0" sz="1800" spc="-6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AND</a:t>
            </a:r>
            <a:r>
              <a:rPr dirty="0" sz="1800" spc="-6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highest_sal);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Outer</a:t>
            </a:r>
            <a:r>
              <a:rPr dirty="0" spc="-85"/>
              <a:t> </a:t>
            </a:r>
            <a:r>
              <a:rPr dirty="0" spc="-20"/>
              <a:t>Join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7675245" cy="3242945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59385" marR="90170" indent="-147320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u="heavy" sz="2800" spc="-5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Una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unión</a:t>
            </a:r>
            <a:r>
              <a:rPr dirty="0" u="heavy" sz="2800" spc="-3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externa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se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utiliza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para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ver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las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filas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que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tengan</a:t>
            </a:r>
            <a:r>
              <a:rPr dirty="0" u="heavy" sz="2800" spc="-9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un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valor</a:t>
            </a:r>
            <a:r>
              <a:rPr dirty="0" u="heavy" sz="2800" spc="-9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correspondiente</a:t>
            </a:r>
            <a:r>
              <a:rPr dirty="0" u="heavy" sz="2800" spc="-3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en</a:t>
            </a:r>
            <a:r>
              <a:rPr dirty="0" u="heavy" sz="2800" spc="-8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otra</a:t>
            </a:r>
            <a:r>
              <a:rPr dirty="0" u="heavy" sz="2800" spc="-8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tabla,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más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aquellas</a:t>
            </a:r>
            <a:r>
              <a:rPr dirty="0" u="heavy" sz="2800" spc="-3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filas</a:t>
            </a:r>
            <a:r>
              <a:rPr dirty="0" u="heavy" sz="2800" spc="-3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una</a:t>
            </a:r>
            <a:r>
              <a:rPr dirty="0" u="heavy" sz="2800" spc="-1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u="heavy" sz="2800" spc="-3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las</a:t>
            </a:r>
            <a:r>
              <a:rPr dirty="0" u="heavy" sz="2800" spc="-4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tablas</a:t>
            </a:r>
            <a:r>
              <a:rPr dirty="0" u="heavy" sz="2800" spc="-3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que</a:t>
            </a:r>
            <a:r>
              <a:rPr dirty="0" u="heavy" sz="2800" spc="-2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no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tengan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ningún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valor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coincidente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otra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tabla</a:t>
            </a:r>
            <a:endParaRPr sz="2800">
              <a:latin typeface="Calibri"/>
              <a:cs typeface="Calibri"/>
            </a:endParaRPr>
          </a:p>
          <a:p>
            <a:pPr algn="just" marL="182880" marR="5080" indent="-170815">
              <a:lnSpc>
                <a:spcPts val="3030"/>
              </a:lnSpc>
              <a:spcBef>
                <a:spcPts val="78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Para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indicar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qué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puede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tener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datos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faltan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mediante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sintaxis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unión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Oracle,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agregue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un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signo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más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(+)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después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del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nombre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columna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la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cláusula</a:t>
            </a:r>
            <a:r>
              <a:rPr dirty="0" sz="2800" spc="-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WHERE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consulta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16852" y="4628388"/>
            <a:ext cx="1929383" cy="1545336"/>
          </a:xfrm>
          <a:prstGeom prst="rect">
            <a:avLst/>
          </a:prstGeom>
        </p:spPr>
      </p:pic>
      <p:sp>
        <p:nvSpPr>
          <p:cNvPr id="5" name="object 5" descr=""/>
          <p:cNvSpPr/>
          <p:nvPr/>
        </p:nvSpPr>
        <p:spPr>
          <a:xfrm>
            <a:off x="668464" y="3008617"/>
            <a:ext cx="5801360" cy="0"/>
          </a:xfrm>
          <a:custGeom>
            <a:avLst/>
            <a:gdLst/>
            <a:ahLst/>
            <a:cxnLst/>
            <a:rect l="l" t="t" r="r" b="b"/>
            <a:pathLst>
              <a:path w="5801360" h="0">
                <a:moveTo>
                  <a:pt x="0" y="0"/>
                </a:moveTo>
                <a:lnTo>
                  <a:pt x="5801137" y="0"/>
                </a:lnTo>
              </a:path>
            </a:pathLst>
          </a:custGeom>
          <a:ln w="38009">
            <a:solidFill>
              <a:srgbClr val="EC281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6495204" y="3878498"/>
            <a:ext cx="1616075" cy="0"/>
          </a:xfrm>
          <a:custGeom>
            <a:avLst/>
            <a:gdLst/>
            <a:ahLst/>
            <a:cxnLst/>
            <a:rect l="l" t="t" r="r" b="b"/>
            <a:pathLst>
              <a:path w="1616075" h="0">
                <a:moveTo>
                  <a:pt x="0" y="0"/>
                </a:moveTo>
                <a:lnTo>
                  <a:pt x="1615953" y="0"/>
                </a:lnTo>
              </a:path>
            </a:pathLst>
          </a:custGeom>
          <a:ln w="38009">
            <a:solidFill>
              <a:srgbClr val="EC281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7-</a:t>
            </a:r>
            <a:r>
              <a:rPr dirty="0" spc="-50"/>
              <a:t>2</a:t>
            </a:r>
          </a:p>
          <a:p>
            <a:pPr marL="12700" marR="5080">
              <a:lnSpc>
                <a:spcPts val="919"/>
              </a:lnSpc>
              <a:spcBef>
                <a:spcPts val="60"/>
              </a:spcBef>
            </a:pPr>
            <a:r>
              <a:rPr dirty="0"/>
              <a:t>Uniones</a:t>
            </a:r>
            <a:r>
              <a:rPr dirty="0" spc="5"/>
              <a:t> </a:t>
            </a:r>
            <a:r>
              <a:rPr dirty="0"/>
              <a:t>No</a:t>
            </a:r>
            <a:r>
              <a:rPr dirty="0" spc="-25"/>
              <a:t> </a:t>
            </a:r>
            <a:r>
              <a:rPr dirty="0" spc="-10"/>
              <a:t>Igualitarias</a:t>
            </a:r>
            <a:r>
              <a:rPr dirty="0" spc="20"/>
              <a:t> </a:t>
            </a:r>
            <a:r>
              <a:rPr dirty="0" spc="-50"/>
              <a:t>y</a:t>
            </a:r>
            <a:r>
              <a:rPr dirty="0" spc="500"/>
              <a:t> </a:t>
            </a:r>
            <a:r>
              <a:rPr dirty="0"/>
              <a:t>Uniones</a:t>
            </a:r>
            <a:r>
              <a:rPr dirty="0" spc="-20"/>
              <a:t> </a:t>
            </a:r>
            <a:r>
              <a:rPr dirty="0"/>
              <a:t>Externas</a:t>
            </a:r>
            <a:r>
              <a:rPr dirty="0" spc="-35"/>
              <a:t> </a:t>
            </a:r>
            <a:r>
              <a:rPr dirty="0"/>
              <a:t>de</a:t>
            </a:r>
            <a:r>
              <a:rPr dirty="0" spc="-45"/>
              <a:t> </a:t>
            </a:r>
            <a:r>
              <a:rPr dirty="0" spc="-10"/>
              <a:t>Oracle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98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 spc="-25"/>
              <a:t>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4413503" y="1515236"/>
            <a:ext cx="4337685" cy="4429760"/>
            <a:chOff x="4413503" y="1515236"/>
            <a:chExt cx="4337685" cy="4429760"/>
          </a:xfrm>
        </p:grpSpPr>
        <p:sp>
          <p:nvSpPr>
            <p:cNvPr id="3" name="object 3" descr=""/>
            <p:cNvSpPr/>
            <p:nvPr/>
          </p:nvSpPr>
          <p:spPr>
            <a:xfrm>
              <a:off x="4563236" y="5943980"/>
              <a:ext cx="19050" cy="0"/>
            </a:xfrm>
            <a:custGeom>
              <a:avLst/>
              <a:gdLst/>
              <a:ahLst/>
              <a:cxnLst/>
              <a:rect l="l" t="t" r="r" b="b"/>
              <a:pathLst>
                <a:path w="19050" h="0">
                  <a:moveTo>
                    <a:pt x="0" y="0"/>
                  </a:moveTo>
                  <a:lnTo>
                    <a:pt x="19050" y="0"/>
                  </a:lnTo>
                </a:path>
              </a:pathLst>
            </a:custGeom>
            <a:ln w="3175">
              <a:solidFill>
                <a:srgbClr val="E0E2E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4572761" y="1524761"/>
              <a:ext cx="0" cy="4156710"/>
            </a:xfrm>
            <a:custGeom>
              <a:avLst/>
              <a:gdLst/>
              <a:ahLst/>
              <a:cxnLst/>
              <a:rect l="l" t="t" r="r" b="b"/>
              <a:pathLst>
                <a:path w="0" h="4156710">
                  <a:moveTo>
                    <a:pt x="0" y="0"/>
                  </a:moveTo>
                  <a:lnTo>
                    <a:pt x="0" y="4156710"/>
                  </a:lnTo>
                </a:path>
              </a:pathLst>
            </a:custGeom>
            <a:ln w="19050">
              <a:solidFill>
                <a:srgbClr val="E0E2E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4413503" y="1530095"/>
              <a:ext cx="4337685" cy="1874520"/>
            </a:xfrm>
            <a:custGeom>
              <a:avLst/>
              <a:gdLst/>
              <a:ahLst/>
              <a:cxnLst/>
              <a:rect l="l" t="t" r="r" b="b"/>
              <a:pathLst>
                <a:path w="4337684" h="1874520">
                  <a:moveTo>
                    <a:pt x="4337304" y="0"/>
                  </a:moveTo>
                  <a:lnTo>
                    <a:pt x="0" y="0"/>
                  </a:lnTo>
                  <a:lnTo>
                    <a:pt x="0" y="1874519"/>
                  </a:lnTo>
                  <a:lnTo>
                    <a:pt x="4337304" y="1874519"/>
                  </a:lnTo>
                  <a:lnTo>
                    <a:pt x="4337304" y="0"/>
                  </a:lnTo>
                  <a:close/>
                </a:path>
              </a:pathLst>
            </a:custGeom>
            <a:solidFill>
              <a:srgbClr val="9DBEC4">
                <a:alpha val="501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4400283" y="1878413"/>
            <a:ext cx="22110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d.department_id,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537443" y="2152733"/>
            <a:ext cx="23469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d.department_name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400283" y="2427053"/>
            <a:ext cx="42576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FROM</a:t>
            </a:r>
            <a:r>
              <a:rPr dirty="0" sz="1800" spc="-8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employees</a:t>
            </a:r>
            <a:r>
              <a:rPr dirty="0" sz="1800" spc="-6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e,</a:t>
            </a:r>
            <a:r>
              <a:rPr dirty="0" sz="1800" spc="-6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departments</a:t>
            </a:r>
            <a:r>
              <a:rPr dirty="0" sz="1800" spc="-6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d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537443" y="2701373"/>
            <a:ext cx="31648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WHERE</a:t>
            </a:r>
            <a:r>
              <a:rPr dirty="0" sz="1800" spc="-11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e.department_id</a:t>
            </a:r>
            <a:r>
              <a:rPr dirty="0" sz="1800" spc="-9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=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947323" y="2975693"/>
            <a:ext cx="26181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d.department_id(+);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83552" y="1491489"/>
            <a:ext cx="6537959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95"/>
              </a:spcBef>
              <a:buClr>
                <a:srgbClr val="D1350F"/>
              </a:buClr>
              <a:buFont typeface="Arial MT"/>
              <a:buChar char="•"/>
              <a:tabLst>
                <a:tab pos="46926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Esta</a:t>
            </a:r>
            <a:r>
              <a:rPr dirty="0" sz="2800" spc="-10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consulta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devolverá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baseline="3086" sz="2700" b="1">
                <a:solidFill>
                  <a:srgbClr val="4E3629"/>
                </a:solidFill>
                <a:latin typeface="Courier New"/>
                <a:cs typeface="Courier New"/>
              </a:rPr>
              <a:t>SELECT</a:t>
            </a:r>
            <a:r>
              <a:rPr dirty="0" baseline="3086" sz="2700" spc="-232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baseline="3086" sz="2700" spc="-15" b="1">
                <a:solidFill>
                  <a:srgbClr val="4E3629"/>
                </a:solidFill>
                <a:latin typeface="Courier New"/>
                <a:cs typeface="Courier New"/>
              </a:rPr>
              <a:t>e.last_name,</a:t>
            </a:r>
            <a:endParaRPr baseline="3086" sz="2700">
              <a:latin typeface="Courier New"/>
              <a:cs typeface="Courier New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83393" y="1875698"/>
            <a:ext cx="3748404" cy="4011929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469900" marR="66040">
              <a:lnSpc>
                <a:spcPts val="3030"/>
              </a:lnSpc>
              <a:spcBef>
                <a:spcPts val="470"/>
              </a:spcBef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apellidos</a:t>
            </a:r>
            <a:r>
              <a:rPr dirty="0" sz="2800" spc="-1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todos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 empleados,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incluidos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aquellos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que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estén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asignados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un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departamento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y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los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no</a:t>
            </a:r>
            <a:endParaRPr sz="2800">
              <a:latin typeface="Calibri"/>
              <a:cs typeface="Calibri"/>
            </a:endParaRPr>
          </a:p>
          <a:p>
            <a:pPr marL="469900" marR="5080" indent="-457834">
              <a:lnSpc>
                <a:spcPts val="3030"/>
              </a:lnSpc>
              <a:spcBef>
                <a:spcPts val="775"/>
              </a:spcBef>
              <a:buClr>
                <a:srgbClr val="D1350F"/>
              </a:buClr>
              <a:buFont typeface="Arial MT"/>
              <a:buChar char="•"/>
              <a:tabLst>
                <a:tab pos="469900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podrían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obtener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los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mismos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resultados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mediante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ANSI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LEFT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OUTER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JOIN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Left</a:t>
            </a:r>
            <a:r>
              <a:rPr dirty="0" spc="-100"/>
              <a:t> </a:t>
            </a:r>
            <a:r>
              <a:rPr dirty="0"/>
              <a:t>Outer</a:t>
            </a:r>
            <a:r>
              <a:rPr dirty="0" spc="-70"/>
              <a:t> </a:t>
            </a:r>
            <a:r>
              <a:rPr dirty="0" spc="-20"/>
              <a:t>Join</a:t>
            </a:r>
          </a:p>
        </p:txBody>
      </p:sp>
      <p:grpSp>
        <p:nvGrpSpPr>
          <p:cNvPr id="14" name="object 14" descr=""/>
          <p:cNvGrpSpPr/>
          <p:nvPr/>
        </p:nvGrpSpPr>
        <p:grpSpPr>
          <a:xfrm>
            <a:off x="4401826" y="3784047"/>
            <a:ext cx="4362450" cy="2172335"/>
            <a:chOff x="4401826" y="3784047"/>
            <a:chExt cx="4362450" cy="2172335"/>
          </a:xfrm>
        </p:grpSpPr>
        <p:sp>
          <p:nvSpPr>
            <p:cNvPr id="15" name="object 15" descr=""/>
            <p:cNvSpPr/>
            <p:nvPr/>
          </p:nvSpPr>
          <p:spPr>
            <a:xfrm>
              <a:off x="4414520" y="5681472"/>
              <a:ext cx="4337050" cy="262255"/>
            </a:xfrm>
            <a:custGeom>
              <a:avLst/>
              <a:gdLst/>
              <a:ahLst/>
              <a:cxnLst/>
              <a:rect l="l" t="t" r="r" b="b"/>
              <a:pathLst>
                <a:path w="4337050" h="262254">
                  <a:moveTo>
                    <a:pt x="4336707" y="0"/>
                  </a:moveTo>
                  <a:lnTo>
                    <a:pt x="2891307" y="0"/>
                  </a:lnTo>
                  <a:lnTo>
                    <a:pt x="1501101" y="0"/>
                  </a:lnTo>
                  <a:lnTo>
                    <a:pt x="0" y="0"/>
                  </a:lnTo>
                  <a:lnTo>
                    <a:pt x="0" y="262128"/>
                  </a:lnTo>
                  <a:lnTo>
                    <a:pt x="1501101" y="262128"/>
                  </a:lnTo>
                  <a:lnTo>
                    <a:pt x="2891307" y="262128"/>
                  </a:lnTo>
                  <a:lnTo>
                    <a:pt x="4336707" y="262128"/>
                  </a:lnTo>
                  <a:lnTo>
                    <a:pt x="4336707" y="0"/>
                  </a:lnTo>
                  <a:close/>
                </a:path>
              </a:pathLst>
            </a:custGeom>
            <a:solidFill>
              <a:srgbClr val="D1350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5915621" y="3790397"/>
              <a:ext cx="0" cy="2159635"/>
            </a:xfrm>
            <a:custGeom>
              <a:avLst/>
              <a:gdLst/>
              <a:ahLst/>
              <a:cxnLst/>
              <a:rect l="l" t="t" r="r" b="b"/>
              <a:pathLst>
                <a:path w="0" h="2159635">
                  <a:moveTo>
                    <a:pt x="0" y="0"/>
                  </a:moveTo>
                  <a:lnTo>
                    <a:pt x="0" y="2159558"/>
                  </a:lnTo>
                </a:path>
              </a:pathLst>
            </a:custGeom>
            <a:ln w="12700">
              <a:solidFill>
                <a:srgbClr val="D135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7305833" y="3790397"/>
              <a:ext cx="0" cy="2159635"/>
            </a:xfrm>
            <a:custGeom>
              <a:avLst/>
              <a:gdLst/>
              <a:ahLst/>
              <a:cxnLst/>
              <a:rect l="l" t="t" r="r" b="b"/>
              <a:pathLst>
                <a:path w="0" h="2159635">
                  <a:moveTo>
                    <a:pt x="0" y="0"/>
                  </a:moveTo>
                  <a:lnTo>
                    <a:pt x="0" y="2159558"/>
                  </a:lnTo>
                </a:path>
              </a:pathLst>
            </a:custGeom>
            <a:ln w="12700">
              <a:solidFill>
                <a:srgbClr val="D135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4408176" y="4065992"/>
              <a:ext cx="4349750" cy="0"/>
            </a:xfrm>
            <a:custGeom>
              <a:avLst/>
              <a:gdLst/>
              <a:ahLst/>
              <a:cxnLst/>
              <a:rect l="l" t="t" r="r" b="b"/>
              <a:pathLst>
                <a:path w="4349750" h="0">
                  <a:moveTo>
                    <a:pt x="0" y="0"/>
                  </a:moveTo>
                  <a:lnTo>
                    <a:pt x="4349407" y="0"/>
                  </a:lnTo>
                </a:path>
              </a:pathLst>
            </a:custGeom>
            <a:ln w="12700">
              <a:solidFill>
                <a:srgbClr val="D135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4408176" y="4335239"/>
              <a:ext cx="4349750" cy="0"/>
            </a:xfrm>
            <a:custGeom>
              <a:avLst/>
              <a:gdLst/>
              <a:ahLst/>
              <a:cxnLst/>
              <a:rect l="l" t="t" r="r" b="b"/>
              <a:pathLst>
                <a:path w="4349750" h="0">
                  <a:moveTo>
                    <a:pt x="0" y="0"/>
                  </a:moveTo>
                  <a:lnTo>
                    <a:pt x="4349407" y="0"/>
                  </a:lnTo>
                </a:path>
              </a:pathLst>
            </a:custGeom>
            <a:ln w="12700">
              <a:solidFill>
                <a:srgbClr val="D135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4408176" y="4604485"/>
              <a:ext cx="4349750" cy="0"/>
            </a:xfrm>
            <a:custGeom>
              <a:avLst/>
              <a:gdLst/>
              <a:ahLst/>
              <a:cxnLst/>
              <a:rect l="l" t="t" r="r" b="b"/>
              <a:pathLst>
                <a:path w="4349750" h="0">
                  <a:moveTo>
                    <a:pt x="0" y="0"/>
                  </a:moveTo>
                  <a:lnTo>
                    <a:pt x="4349407" y="0"/>
                  </a:lnTo>
                </a:path>
              </a:pathLst>
            </a:custGeom>
            <a:ln w="12700">
              <a:solidFill>
                <a:srgbClr val="D135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4408176" y="4873730"/>
              <a:ext cx="4349750" cy="0"/>
            </a:xfrm>
            <a:custGeom>
              <a:avLst/>
              <a:gdLst/>
              <a:ahLst/>
              <a:cxnLst/>
              <a:rect l="l" t="t" r="r" b="b"/>
              <a:pathLst>
                <a:path w="4349750" h="0">
                  <a:moveTo>
                    <a:pt x="0" y="0"/>
                  </a:moveTo>
                  <a:lnTo>
                    <a:pt x="4349407" y="0"/>
                  </a:lnTo>
                </a:path>
              </a:pathLst>
            </a:custGeom>
            <a:ln w="12700">
              <a:solidFill>
                <a:srgbClr val="D135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4408176" y="5142976"/>
              <a:ext cx="4349750" cy="0"/>
            </a:xfrm>
            <a:custGeom>
              <a:avLst/>
              <a:gdLst/>
              <a:ahLst/>
              <a:cxnLst/>
              <a:rect l="l" t="t" r="r" b="b"/>
              <a:pathLst>
                <a:path w="4349750" h="0">
                  <a:moveTo>
                    <a:pt x="0" y="0"/>
                  </a:moveTo>
                  <a:lnTo>
                    <a:pt x="4349407" y="0"/>
                  </a:lnTo>
                </a:path>
              </a:pathLst>
            </a:custGeom>
            <a:ln w="12700">
              <a:solidFill>
                <a:srgbClr val="D135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4408176" y="5412223"/>
              <a:ext cx="4349750" cy="0"/>
            </a:xfrm>
            <a:custGeom>
              <a:avLst/>
              <a:gdLst/>
              <a:ahLst/>
              <a:cxnLst/>
              <a:rect l="l" t="t" r="r" b="b"/>
              <a:pathLst>
                <a:path w="4349750" h="0">
                  <a:moveTo>
                    <a:pt x="0" y="0"/>
                  </a:moveTo>
                  <a:lnTo>
                    <a:pt x="4349407" y="0"/>
                  </a:lnTo>
                </a:path>
              </a:pathLst>
            </a:custGeom>
            <a:ln w="12700">
              <a:solidFill>
                <a:srgbClr val="D135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4408176" y="5681469"/>
              <a:ext cx="4349750" cy="0"/>
            </a:xfrm>
            <a:custGeom>
              <a:avLst/>
              <a:gdLst/>
              <a:ahLst/>
              <a:cxnLst/>
              <a:rect l="l" t="t" r="r" b="b"/>
              <a:pathLst>
                <a:path w="4349750" h="0">
                  <a:moveTo>
                    <a:pt x="0" y="0"/>
                  </a:moveTo>
                  <a:lnTo>
                    <a:pt x="4349407" y="0"/>
                  </a:lnTo>
                </a:path>
              </a:pathLst>
            </a:custGeom>
            <a:ln w="12700">
              <a:solidFill>
                <a:srgbClr val="D135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4414526" y="3790397"/>
              <a:ext cx="0" cy="2159635"/>
            </a:xfrm>
            <a:custGeom>
              <a:avLst/>
              <a:gdLst/>
              <a:ahLst/>
              <a:cxnLst/>
              <a:rect l="l" t="t" r="r" b="b"/>
              <a:pathLst>
                <a:path w="0" h="2159635">
                  <a:moveTo>
                    <a:pt x="0" y="0"/>
                  </a:moveTo>
                  <a:lnTo>
                    <a:pt x="0" y="2159558"/>
                  </a:lnTo>
                </a:path>
              </a:pathLst>
            </a:custGeom>
            <a:ln w="12700">
              <a:solidFill>
                <a:srgbClr val="D135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8751233" y="3790397"/>
              <a:ext cx="0" cy="2159635"/>
            </a:xfrm>
            <a:custGeom>
              <a:avLst/>
              <a:gdLst/>
              <a:ahLst/>
              <a:cxnLst/>
              <a:rect l="l" t="t" r="r" b="b"/>
              <a:pathLst>
                <a:path w="0" h="2159635">
                  <a:moveTo>
                    <a:pt x="0" y="0"/>
                  </a:moveTo>
                  <a:lnTo>
                    <a:pt x="0" y="2159558"/>
                  </a:lnTo>
                </a:path>
              </a:pathLst>
            </a:custGeom>
            <a:ln w="12700">
              <a:solidFill>
                <a:srgbClr val="D135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4408176" y="3796747"/>
              <a:ext cx="4349750" cy="0"/>
            </a:xfrm>
            <a:custGeom>
              <a:avLst/>
              <a:gdLst/>
              <a:ahLst/>
              <a:cxnLst/>
              <a:rect l="l" t="t" r="r" b="b"/>
              <a:pathLst>
                <a:path w="4349750" h="0">
                  <a:moveTo>
                    <a:pt x="0" y="0"/>
                  </a:moveTo>
                  <a:lnTo>
                    <a:pt x="4349407" y="0"/>
                  </a:lnTo>
                </a:path>
              </a:pathLst>
            </a:custGeom>
            <a:ln w="12700">
              <a:solidFill>
                <a:srgbClr val="D135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4408176" y="5943601"/>
              <a:ext cx="4349750" cy="0"/>
            </a:xfrm>
            <a:custGeom>
              <a:avLst/>
              <a:gdLst/>
              <a:ahLst/>
              <a:cxnLst/>
              <a:rect l="l" t="t" r="r" b="b"/>
              <a:pathLst>
                <a:path w="4349750" h="0">
                  <a:moveTo>
                    <a:pt x="0" y="0"/>
                  </a:moveTo>
                  <a:lnTo>
                    <a:pt x="4349407" y="0"/>
                  </a:lnTo>
                </a:path>
              </a:pathLst>
            </a:custGeom>
            <a:ln w="12700">
              <a:solidFill>
                <a:srgbClr val="D1350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 descr=""/>
          <p:cNvSpPr txBox="1"/>
          <p:nvPr/>
        </p:nvSpPr>
        <p:spPr>
          <a:xfrm>
            <a:off x="4414526" y="3786082"/>
            <a:ext cx="106299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solidFill>
                  <a:srgbClr val="4E3629"/>
                </a:solidFill>
                <a:latin typeface="Calibri"/>
                <a:cs typeface="Calibri"/>
              </a:rPr>
              <a:t>LAST_NAME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5915663" y="3786082"/>
            <a:ext cx="74295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solidFill>
                  <a:srgbClr val="4E3629"/>
                </a:solidFill>
                <a:latin typeface="Calibri"/>
                <a:cs typeface="Calibri"/>
              </a:rPr>
              <a:t>DEPT_ID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7305927" y="3786082"/>
            <a:ext cx="109537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solidFill>
                  <a:srgbClr val="4E3629"/>
                </a:solidFill>
                <a:latin typeface="Calibri"/>
                <a:cs typeface="Calibri"/>
              </a:rPr>
              <a:t>DEPT_NAME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4414526" y="4055257"/>
            <a:ext cx="6642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4E3629"/>
                </a:solidFill>
                <a:latin typeface="Calibri"/>
                <a:cs typeface="Calibri"/>
              </a:rPr>
              <a:t>Whalen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5915663" y="4055257"/>
            <a:ext cx="22987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solidFill>
                  <a:srgbClr val="4E3629"/>
                </a:solidFill>
                <a:latin typeface="Calibri"/>
                <a:cs typeface="Calibri"/>
              </a:rPr>
              <a:t>10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7305927" y="4055257"/>
            <a:ext cx="124968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4E3629"/>
                </a:solidFill>
                <a:latin typeface="Calibri"/>
                <a:cs typeface="Calibri"/>
              </a:rPr>
              <a:t>Administration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4414526" y="4324432"/>
            <a:ext cx="29908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solidFill>
                  <a:srgbClr val="4E3629"/>
                </a:solidFill>
                <a:latin typeface="Calibri"/>
                <a:cs typeface="Calibri"/>
              </a:rPr>
              <a:t>Fay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5915663" y="4324432"/>
            <a:ext cx="22987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solidFill>
                  <a:srgbClr val="4E3629"/>
                </a:solidFill>
                <a:latin typeface="Calibri"/>
                <a:cs typeface="Calibri"/>
              </a:rPr>
              <a:t>20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7305927" y="4324432"/>
            <a:ext cx="86931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4E3629"/>
                </a:solidFill>
                <a:latin typeface="Calibri"/>
                <a:cs typeface="Calibri"/>
              </a:rPr>
              <a:t>Marketing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4414526" y="4593606"/>
            <a:ext cx="78740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4E3629"/>
                </a:solidFill>
                <a:latin typeface="Calibri"/>
                <a:cs typeface="Calibri"/>
              </a:rPr>
              <a:t>Hartstein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5915663" y="4593606"/>
            <a:ext cx="22987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solidFill>
                  <a:srgbClr val="4E3629"/>
                </a:solidFill>
                <a:latin typeface="Calibri"/>
                <a:cs typeface="Calibri"/>
              </a:rPr>
              <a:t>20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0" name="object 40" descr=""/>
          <p:cNvSpPr txBox="1"/>
          <p:nvPr/>
        </p:nvSpPr>
        <p:spPr>
          <a:xfrm>
            <a:off x="7305927" y="4593606"/>
            <a:ext cx="86931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4E3629"/>
                </a:solidFill>
                <a:latin typeface="Calibri"/>
                <a:cs typeface="Calibri"/>
              </a:rPr>
              <a:t>Marketing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1" name="object 41" descr=""/>
          <p:cNvSpPr txBox="1"/>
          <p:nvPr/>
        </p:nvSpPr>
        <p:spPr>
          <a:xfrm>
            <a:off x="4414526" y="4861363"/>
            <a:ext cx="56388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0">
                <a:solidFill>
                  <a:srgbClr val="4E3629"/>
                </a:solidFill>
                <a:latin typeface="Calibri"/>
                <a:cs typeface="Calibri"/>
              </a:rPr>
              <a:t>Vargas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2" name="object 42" descr=""/>
          <p:cNvSpPr txBox="1"/>
          <p:nvPr/>
        </p:nvSpPr>
        <p:spPr>
          <a:xfrm>
            <a:off x="5915663" y="4862984"/>
            <a:ext cx="22987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solidFill>
                  <a:srgbClr val="4E3629"/>
                </a:solidFill>
                <a:latin typeface="Calibri"/>
                <a:cs typeface="Calibri"/>
              </a:rPr>
              <a:t>50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3" name="object 43" descr=""/>
          <p:cNvSpPr txBox="1"/>
          <p:nvPr/>
        </p:nvSpPr>
        <p:spPr>
          <a:xfrm>
            <a:off x="7305927" y="4862984"/>
            <a:ext cx="73469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4E3629"/>
                </a:solidFill>
                <a:latin typeface="Calibri"/>
                <a:cs typeface="Calibri"/>
              </a:rPr>
              <a:t>Shipping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4" name="object 44" descr=""/>
          <p:cNvSpPr txBox="1"/>
          <p:nvPr/>
        </p:nvSpPr>
        <p:spPr>
          <a:xfrm>
            <a:off x="4460335" y="5132159"/>
            <a:ext cx="16573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solidFill>
                  <a:srgbClr val="4E3629"/>
                </a:solidFill>
                <a:latin typeface="Calibri"/>
                <a:cs typeface="Calibri"/>
              </a:rPr>
              <a:t>…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5" name="object 45" descr=""/>
          <p:cNvSpPr txBox="1"/>
          <p:nvPr/>
        </p:nvSpPr>
        <p:spPr>
          <a:xfrm>
            <a:off x="4414526" y="5401334"/>
            <a:ext cx="6261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4E3629"/>
                </a:solidFill>
                <a:latin typeface="Calibri"/>
                <a:cs typeface="Calibri"/>
              </a:rPr>
              <a:t>Higgins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6" name="object 46" descr=""/>
          <p:cNvSpPr txBox="1"/>
          <p:nvPr/>
        </p:nvSpPr>
        <p:spPr>
          <a:xfrm>
            <a:off x="5915663" y="5401334"/>
            <a:ext cx="33210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solidFill>
                  <a:srgbClr val="4E3629"/>
                </a:solidFill>
                <a:latin typeface="Calibri"/>
                <a:cs typeface="Calibri"/>
              </a:rPr>
              <a:t>110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7" name="object 47" descr=""/>
          <p:cNvSpPr txBox="1"/>
          <p:nvPr/>
        </p:nvSpPr>
        <p:spPr>
          <a:xfrm>
            <a:off x="7305927" y="5401334"/>
            <a:ext cx="94869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4E3629"/>
                </a:solidFill>
                <a:latin typeface="Calibri"/>
                <a:cs typeface="Calibri"/>
              </a:rPr>
              <a:t>Accounting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8" name="object 48" descr=""/>
          <p:cNvSpPr txBox="1"/>
          <p:nvPr/>
        </p:nvSpPr>
        <p:spPr>
          <a:xfrm>
            <a:off x="4411080" y="5667063"/>
            <a:ext cx="49022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Grant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9" name="object 49" descr=""/>
          <p:cNvSpPr txBox="1"/>
          <p:nvPr/>
        </p:nvSpPr>
        <p:spPr>
          <a:xfrm>
            <a:off x="5957822" y="5667063"/>
            <a:ext cx="876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0" name="object 50" descr=""/>
          <p:cNvSpPr txBox="1"/>
          <p:nvPr/>
        </p:nvSpPr>
        <p:spPr>
          <a:xfrm>
            <a:off x="7348087" y="5667063"/>
            <a:ext cx="876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1" name="object 51" descr=""/>
          <p:cNvSpPr/>
          <p:nvPr/>
        </p:nvSpPr>
        <p:spPr>
          <a:xfrm>
            <a:off x="4458461" y="2733294"/>
            <a:ext cx="3304540" cy="579120"/>
          </a:xfrm>
          <a:custGeom>
            <a:avLst/>
            <a:gdLst/>
            <a:ahLst/>
            <a:cxnLst/>
            <a:rect l="l" t="t" r="r" b="b"/>
            <a:pathLst>
              <a:path w="3304540" h="579120">
                <a:moveTo>
                  <a:pt x="0" y="579120"/>
                </a:moveTo>
                <a:lnTo>
                  <a:pt x="3304032" y="579120"/>
                </a:lnTo>
                <a:lnTo>
                  <a:pt x="3304032" y="0"/>
                </a:lnTo>
                <a:lnTo>
                  <a:pt x="0" y="0"/>
                </a:lnTo>
                <a:lnTo>
                  <a:pt x="0" y="579120"/>
                </a:lnTo>
                <a:close/>
              </a:path>
            </a:pathLst>
          </a:custGeom>
          <a:ln w="38100">
            <a:solidFill>
              <a:srgbClr val="D1350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7-</a:t>
            </a:r>
            <a:r>
              <a:rPr dirty="0" spc="-50"/>
              <a:t>2</a:t>
            </a:r>
          </a:p>
          <a:p>
            <a:pPr marL="12700" marR="5080">
              <a:lnSpc>
                <a:spcPts val="919"/>
              </a:lnSpc>
              <a:spcBef>
                <a:spcPts val="60"/>
              </a:spcBef>
            </a:pPr>
            <a:r>
              <a:rPr dirty="0"/>
              <a:t>Uniones</a:t>
            </a:r>
            <a:r>
              <a:rPr dirty="0" spc="5"/>
              <a:t> </a:t>
            </a:r>
            <a:r>
              <a:rPr dirty="0"/>
              <a:t>No</a:t>
            </a:r>
            <a:r>
              <a:rPr dirty="0" spc="-25"/>
              <a:t> </a:t>
            </a:r>
            <a:r>
              <a:rPr dirty="0" spc="-10"/>
              <a:t>Igualitarias</a:t>
            </a:r>
            <a:r>
              <a:rPr dirty="0" spc="20"/>
              <a:t> </a:t>
            </a:r>
            <a:r>
              <a:rPr dirty="0" spc="-50"/>
              <a:t>y</a:t>
            </a:r>
            <a:r>
              <a:rPr dirty="0" spc="500"/>
              <a:t> </a:t>
            </a:r>
            <a:r>
              <a:rPr dirty="0"/>
              <a:t>Uniones</a:t>
            </a:r>
            <a:r>
              <a:rPr dirty="0" spc="-20"/>
              <a:t> </a:t>
            </a:r>
            <a:r>
              <a:rPr dirty="0"/>
              <a:t>Externas</a:t>
            </a:r>
            <a:r>
              <a:rPr dirty="0" spc="-35"/>
              <a:t> </a:t>
            </a:r>
            <a:r>
              <a:rPr dirty="0"/>
              <a:t>de</a:t>
            </a:r>
            <a:r>
              <a:rPr dirty="0" spc="-45"/>
              <a:t> </a:t>
            </a:r>
            <a:r>
              <a:rPr dirty="0" spc="-10"/>
              <a:t>Oracle</a:t>
            </a:r>
          </a:p>
        </p:txBody>
      </p:sp>
      <p:sp>
        <p:nvSpPr>
          <p:cNvPr id="53" name="object 5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54" name="object 5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98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 spc="-25"/>
              <a:t>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83552" y="1323389"/>
            <a:ext cx="3752215" cy="477901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469900" marR="5080" indent="-457200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469900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Esta</a:t>
            </a:r>
            <a:r>
              <a:rPr dirty="0" sz="2800" spc="-9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unión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externa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devolvería</a:t>
            </a:r>
            <a:r>
              <a:rPr dirty="0" sz="2800" spc="-9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todos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ID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departamento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y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los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nombres</a:t>
            </a:r>
            <a:r>
              <a:rPr dirty="0" sz="2800" spc="-1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de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departamento,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tanto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aquellos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tengan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empleados</a:t>
            </a:r>
            <a:r>
              <a:rPr dirty="0" sz="2800" spc="-9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asignados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como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no</a:t>
            </a:r>
            <a:endParaRPr sz="2800">
              <a:latin typeface="Calibri"/>
              <a:cs typeface="Calibri"/>
            </a:endParaRPr>
          </a:p>
          <a:p>
            <a:pPr marL="469900" marR="8255" indent="-457200">
              <a:lnSpc>
                <a:spcPts val="3030"/>
              </a:lnSpc>
              <a:spcBef>
                <a:spcPts val="755"/>
              </a:spcBef>
              <a:buClr>
                <a:srgbClr val="D1350F"/>
              </a:buClr>
              <a:buFont typeface="Arial MT"/>
              <a:buChar char="•"/>
              <a:tabLst>
                <a:tab pos="469900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podrían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obtener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los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mismos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resultados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mediante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ANSI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RIGHT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OUTER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JOIN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7-</a:t>
            </a:r>
            <a:r>
              <a:rPr dirty="0" spc="-50"/>
              <a:t>2</a:t>
            </a:r>
          </a:p>
          <a:p>
            <a:pPr marL="12700" marR="5080">
              <a:lnSpc>
                <a:spcPts val="919"/>
              </a:lnSpc>
              <a:spcBef>
                <a:spcPts val="60"/>
              </a:spcBef>
            </a:pPr>
            <a:r>
              <a:rPr dirty="0"/>
              <a:t>Uniones</a:t>
            </a:r>
            <a:r>
              <a:rPr dirty="0" spc="5"/>
              <a:t> </a:t>
            </a:r>
            <a:r>
              <a:rPr dirty="0"/>
              <a:t>No</a:t>
            </a:r>
            <a:r>
              <a:rPr dirty="0" spc="-25"/>
              <a:t> </a:t>
            </a:r>
            <a:r>
              <a:rPr dirty="0" spc="-10"/>
              <a:t>Igualitarias</a:t>
            </a:r>
            <a:r>
              <a:rPr dirty="0" spc="20"/>
              <a:t> </a:t>
            </a:r>
            <a:r>
              <a:rPr dirty="0" spc="-50"/>
              <a:t>y</a:t>
            </a:r>
            <a:r>
              <a:rPr dirty="0" spc="500"/>
              <a:t> </a:t>
            </a:r>
            <a:r>
              <a:rPr dirty="0"/>
              <a:t>Uniones</a:t>
            </a:r>
            <a:r>
              <a:rPr dirty="0" spc="-20"/>
              <a:t> </a:t>
            </a:r>
            <a:r>
              <a:rPr dirty="0"/>
              <a:t>Externas</a:t>
            </a:r>
            <a:r>
              <a:rPr dirty="0" spc="-35"/>
              <a:t> </a:t>
            </a:r>
            <a:r>
              <a:rPr dirty="0"/>
              <a:t>de</a:t>
            </a:r>
            <a:r>
              <a:rPr dirty="0" spc="-45"/>
              <a:t> </a:t>
            </a:r>
            <a:r>
              <a:rPr dirty="0" spc="-10"/>
              <a:t>Oracle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98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 spc="-25"/>
              <a:t>11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Right</a:t>
            </a:r>
            <a:r>
              <a:rPr dirty="0" spc="-85"/>
              <a:t> </a:t>
            </a:r>
            <a:r>
              <a:rPr dirty="0"/>
              <a:t>Outer</a:t>
            </a:r>
            <a:r>
              <a:rPr dirty="0" spc="-85"/>
              <a:t> </a:t>
            </a:r>
            <a:r>
              <a:rPr dirty="0" spc="-20"/>
              <a:t>Join</a:t>
            </a: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4393933" y="1362455"/>
          <a:ext cx="4599305" cy="45777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1305"/>
                <a:gridCol w="1259205"/>
                <a:gridCol w="1453514"/>
                <a:gridCol w="981710"/>
                <a:gridCol w="487045"/>
              </a:tblGrid>
              <a:tr h="161925"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9DBEC4">
                        <a:alpha val="50199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038860">
                <a:tc>
                  <a:txBody>
                    <a:bodyPr/>
                    <a:lstStyle/>
                    <a:p>
                      <a:pPr>
                        <a:lnSpc>
                          <a:spcPts val="1560"/>
                        </a:lnSpc>
                      </a:pPr>
                      <a:r>
                        <a:rPr dirty="0" sz="1800" spc="-25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SE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dirty="0" sz="1800" spc="-25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d.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R="1308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dirty="0" sz="1800" spc="-25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FR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lnR w="19050">
                      <a:solidFill>
                        <a:srgbClr val="E0E2E1"/>
                      </a:solidFill>
                      <a:prstDash val="solid"/>
                    </a:lnR>
                    <a:lnB w="38100">
                      <a:solidFill>
                        <a:srgbClr val="D1350F"/>
                      </a:solidFill>
                      <a:prstDash val="solid"/>
                    </a:lnB>
                    <a:solidFill>
                      <a:srgbClr val="9DBEC4">
                        <a:alpha val="50199"/>
                      </a:srgb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129539">
                        <a:lnSpc>
                          <a:spcPts val="1560"/>
                        </a:lnSpc>
                      </a:pPr>
                      <a:r>
                        <a:rPr dirty="0" sz="1800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LECT</a:t>
                      </a:r>
                      <a:r>
                        <a:rPr dirty="0" sz="1800" spc="-50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800" spc="-10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e.last_name,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R="1850389" indent="137160">
                        <a:lnSpc>
                          <a:spcPct val="100000"/>
                        </a:lnSpc>
                      </a:pPr>
                      <a:r>
                        <a:rPr dirty="0" sz="1800" spc="-10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department_id, d.department_name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129539">
                        <a:lnSpc>
                          <a:spcPct val="100000"/>
                        </a:lnSpc>
                      </a:pPr>
                      <a:r>
                        <a:rPr dirty="0" sz="1800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OM</a:t>
                      </a:r>
                      <a:r>
                        <a:rPr dirty="0" sz="1800" spc="-75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800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employees</a:t>
                      </a:r>
                      <a:r>
                        <a:rPr dirty="0" sz="1800" spc="-65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800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e,</a:t>
                      </a:r>
                      <a:r>
                        <a:rPr dirty="0" sz="1800" spc="-60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800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departments</a:t>
                      </a:r>
                      <a:r>
                        <a:rPr dirty="0" sz="1800" spc="-60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800" spc="-50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d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lnL w="19050">
                      <a:solidFill>
                        <a:srgbClr val="E0E2E1"/>
                      </a:solidFill>
                      <a:prstDash val="solid"/>
                    </a:lnL>
                    <a:solidFill>
                      <a:srgbClr val="9DBEC4">
                        <a:alpha val="50199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580390">
                <a:tc>
                  <a:txBody>
                    <a:bodyPr/>
                    <a:lstStyle/>
                    <a:p>
                      <a:pPr marR="130810"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D1350F"/>
                      </a:solidFill>
                      <a:prstDash val="solid"/>
                    </a:lnL>
                    <a:lnR w="19050">
                      <a:solidFill>
                        <a:srgbClr val="E0E2E1"/>
                      </a:solidFill>
                      <a:prstDash val="solid"/>
                    </a:lnR>
                    <a:lnT w="38100">
                      <a:solidFill>
                        <a:srgbClr val="D1350F"/>
                      </a:solidFill>
                      <a:prstDash val="solid"/>
                    </a:lnT>
                    <a:lnB w="38100">
                      <a:solidFill>
                        <a:srgbClr val="D1350F"/>
                      </a:solidFill>
                      <a:prstDash val="solid"/>
                    </a:lnB>
                    <a:solidFill>
                      <a:srgbClr val="9DBEC4">
                        <a:alpha val="50199"/>
                      </a:srgb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R="3175">
                        <a:lnSpc>
                          <a:spcPts val="2014"/>
                        </a:lnSpc>
                      </a:pPr>
                      <a:r>
                        <a:rPr dirty="0" sz="1800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WHERE</a:t>
                      </a:r>
                      <a:r>
                        <a:rPr dirty="0" sz="1800" spc="-110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800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e.department_id(+)</a:t>
                      </a:r>
                      <a:r>
                        <a:rPr dirty="0" sz="1800" spc="-110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800" spc="-50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402590" marR="3175">
                        <a:lnSpc>
                          <a:spcPct val="100000"/>
                        </a:lnSpc>
                      </a:pPr>
                      <a:r>
                        <a:rPr dirty="0" sz="1800" spc="-10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d.department_id;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lnL w="19050">
                      <a:solidFill>
                        <a:srgbClr val="E0E2E1"/>
                      </a:solidFill>
                      <a:prstDash val="solid"/>
                    </a:lnL>
                    <a:lnR w="38100">
                      <a:solidFill>
                        <a:srgbClr val="D1350F"/>
                      </a:solidFill>
                      <a:prstDash val="solid"/>
                    </a:lnR>
                    <a:lnT w="38100">
                      <a:solidFill>
                        <a:srgbClr val="D1350F"/>
                      </a:solidFill>
                      <a:prstDash val="solid"/>
                    </a:lnT>
                    <a:lnB w="38100">
                      <a:solidFill>
                        <a:srgbClr val="D1350F"/>
                      </a:solidFill>
                      <a:prstDash val="solid"/>
                    </a:lnB>
                    <a:solidFill>
                      <a:srgbClr val="9DBEC4">
                        <a:alpha val="50199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D1350F"/>
                      </a:solidFill>
                      <a:prstDash val="solid"/>
                    </a:lnL>
                    <a:solidFill>
                      <a:srgbClr val="9DBEC4">
                        <a:alpha val="50199"/>
                      </a:srgbClr>
                    </a:solidFill>
                  </a:tcPr>
                </a:tc>
              </a:tr>
              <a:tr h="92075">
                <a:tc>
                  <a:txBody>
                    <a:bodyPr/>
                    <a:lstStyle/>
                    <a:p>
                      <a:pPr marR="130810"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9050">
                      <a:solidFill>
                        <a:srgbClr val="E0E2E1"/>
                      </a:solidFill>
                      <a:prstDash val="solid"/>
                    </a:lnR>
                    <a:lnT w="38100">
                      <a:solidFill>
                        <a:srgbClr val="D1350F"/>
                      </a:solidFill>
                      <a:prstDash val="solid"/>
                    </a:lnT>
                    <a:solidFill>
                      <a:srgbClr val="9DBEC4">
                        <a:alpha val="50199"/>
                      </a:srgbClr>
                    </a:solidFill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E0E2E1"/>
                      </a:solidFill>
                      <a:prstDash val="solid"/>
                    </a:lnL>
                    <a:solidFill>
                      <a:srgbClr val="9DBEC4">
                        <a:alpha val="50199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94945">
                <a:tc>
                  <a:txBody>
                    <a:bodyPr/>
                    <a:lstStyle/>
                    <a:p>
                      <a:pPr marR="13081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9050">
                      <a:solidFill>
                        <a:srgbClr val="E0E2E1"/>
                      </a:solidFill>
                      <a:prstDash val="solid"/>
                    </a:lnR>
                    <a:lnB w="12700">
                      <a:solidFill>
                        <a:srgbClr val="4E3629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E0E2E1"/>
                      </a:solidFill>
                      <a:prstDash val="solid"/>
                    </a:lnL>
                    <a:lnB w="12700">
                      <a:solidFill>
                        <a:srgbClr val="4E3629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69240">
                <a:tc gridSpan="2"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LAST_NAME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L w="12700">
                      <a:solidFill>
                        <a:srgbClr val="4E3629"/>
                      </a:solidFill>
                      <a:prstDash val="solid"/>
                    </a:lnL>
                    <a:lnR w="12700">
                      <a:solidFill>
                        <a:srgbClr val="4E3629"/>
                      </a:solidFill>
                      <a:prstDash val="solid"/>
                    </a:lnR>
                    <a:lnT w="12700">
                      <a:solidFill>
                        <a:srgbClr val="4E3629"/>
                      </a:solidFill>
                      <a:prstDash val="solid"/>
                    </a:lnT>
                    <a:lnB w="12700">
                      <a:solidFill>
                        <a:srgbClr val="4E3629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DEPT_ID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L w="12700">
                      <a:solidFill>
                        <a:srgbClr val="4E3629"/>
                      </a:solidFill>
                      <a:prstDash val="solid"/>
                    </a:lnL>
                    <a:lnR w="12700">
                      <a:solidFill>
                        <a:srgbClr val="4E3629"/>
                      </a:solidFill>
                      <a:prstDash val="solid"/>
                    </a:lnR>
                    <a:lnT w="12700">
                      <a:solidFill>
                        <a:srgbClr val="4E3629"/>
                      </a:solidFill>
                      <a:prstDash val="solid"/>
                    </a:lnT>
                    <a:lnB w="12700">
                      <a:solidFill>
                        <a:srgbClr val="4E3629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DEPT_NAME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L w="12700">
                      <a:solidFill>
                        <a:srgbClr val="4E3629"/>
                      </a:solidFill>
                      <a:prstDash val="solid"/>
                    </a:lnL>
                    <a:lnR w="12700">
                      <a:solidFill>
                        <a:srgbClr val="4E3629"/>
                      </a:solidFill>
                      <a:prstDash val="solid"/>
                    </a:lnR>
                    <a:lnT w="12700">
                      <a:solidFill>
                        <a:srgbClr val="4E3629"/>
                      </a:solidFill>
                      <a:prstDash val="solid"/>
                    </a:lnT>
                    <a:lnB w="12700">
                      <a:solidFill>
                        <a:srgbClr val="4E3629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69240">
                <a:tc gridSpan="2"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Whalen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L w="12700">
                      <a:solidFill>
                        <a:srgbClr val="4E3629"/>
                      </a:solidFill>
                      <a:prstDash val="solid"/>
                    </a:lnL>
                    <a:lnR w="12700">
                      <a:solidFill>
                        <a:srgbClr val="4E3629"/>
                      </a:solidFill>
                      <a:prstDash val="solid"/>
                    </a:lnR>
                    <a:lnT w="12700">
                      <a:solidFill>
                        <a:srgbClr val="4E3629"/>
                      </a:solidFill>
                      <a:prstDash val="solid"/>
                    </a:lnT>
                    <a:lnB w="12700">
                      <a:solidFill>
                        <a:srgbClr val="4E3629"/>
                      </a:solidFill>
                      <a:prstDash val="solid"/>
                    </a:lnB>
                    <a:solidFill>
                      <a:srgbClr val="E9E8E8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L w="12700">
                      <a:solidFill>
                        <a:srgbClr val="4E3629"/>
                      </a:solidFill>
                      <a:prstDash val="solid"/>
                    </a:lnL>
                    <a:lnR w="12700">
                      <a:solidFill>
                        <a:srgbClr val="4E3629"/>
                      </a:solidFill>
                      <a:prstDash val="solid"/>
                    </a:lnR>
                    <a:lnT w="12700">
                      <a:solidFill>
                        <a:srgbClr val="4E3629"/>
                      </a:solidFill>
                      <a:prstDash val="solid"/>
                    </a:lnT>
                    <a:lnB w="12700">
                      <a:solidFill>
                        <a:srgbClr val="4E3629"/>
                      </a:solidFill>
                      <a:prstDash val="solid"/>
                    </a:lnB>
                    <a:solidFill>
                      <a:srgbClr val="E9E8E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Administration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L w="12700">
                      <a:solidFill>
                        <a:srgbClr val="4E3629"/>
                      </a:solidFill>
                      <a:prstDash val="solid"/>
                    </a:lnL>
                    <a:lnR w="12700">
                      <a:solidFill>
                        <a:srgbClr val="4E3629"/>
                      </a:solidFill>
                      <a:prstDash val="solid"/>
                    </a:lnR>
                    <a:lnT w="12700">
                      <a:solidFill>
                        <a:srgbClr val="4E3629"/>
                      </a:solidFill>
                      <a:prstDash val="solid"/>
                    </a:lnT>
                    <a:lnB w="12700">
                      <a:solidFill>
                        <a:srgbClr val="4E3629"/>
                      </a:solidFill>
                      <a:prstDash val="solid"/>
                    </a:lnB>
                    <a:solidFill>
                      <a:srgbClr val="E9E8E8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69240">
                <a:tc gridSpan="2"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Hartstein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L w="12700">
                      <a:solidFill>
                        <a:srgbClr val="4E3629"/>
                      </a:solidFill>
                      <a:prstDash val="solid"/>
                    </a:lnL>
                    <a:lnR w="12700">
                      <a:solidFill>
                        <a:srgbClr val="4E3629"/>
                      </a:solidFill>
                      <a:prstDash val="solid"/>
                    </a:lnR>
                    <a:lnT w="12700">
                      <a:solidFill>
                        <a:srgbClr val="4E3629"/>
                      </a:solidFill>
                      <a:prstDash val="solid"/>
                    </a:lnT>
                    <a:lnB w="12700">
                      <a:solidFill>
                        <a:srgbClr val="4E3629"/>
                      </a:solidFill>
                      <a:prstDash val="solid"/>
                    </a:lnB>
                    <a:solidFill>
                      <a:srgbClr val="E9E8E8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20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L w="12700">
                      <a:solidFill>
                        <a:srgbClr val="4E3629"/>
                      </a:solidFill>
                      <a:prstDash val="solid"/>
                    </a:lnL>
                    <a:lnR w="12700">
                      <a:solidFill>
                        <a:srgbClr val="4E3629"/>
                      </a:solidFill>
                      <a:prstDash val="solid"/>
                    </a:lnR>
                    <a:lnT w="12700">
                      <a:solidFill>
                        <a:srgbClr val="4E3629"/>
                      </a:solidFill>
                      <a:prstDash val="solid"/>
                    </a:lnT>
                    <a:lnB w="12700">
                      <a:solidFill>
                        <a:srgbClr val="4E3629"/>
                      </a:solidFill>
                      <a:prstDash val="solid"/>
                    </a:lnB>
                    <a:solidFill>
                      <a:srgbClr val="E9E8E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Marketing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L w="12700">
                      <a:solidFill>
                        <a:srgbClr val="4E3629"/>
                      </a:solidFill>
                      <a:prstDash val="solid"/>
                    </a:lnL>
                    <a:lnR w="12700">
                      <a:solidFill>
                        <a:srgbClr val="4E3629"/>
                      </a:solidFill>
                      <a:prstDash val="solid"/>
                    </a:lnR>
                    <a:lnT w="12700">
                      <a:solidFill>
                        <a:srgbClr val="4E3629"/>
                      </a:solidFill>
                      <a:prstDash val="solid"/>
                    </a:lnT>
                    <a:lnB w="12700">
                      <a:solidFill>
                        <a:srgbClr val="4E3629"/>
                      </a:solidFill>
                      <a:prstDash val="solid"/>
                    </a:lnB>
                    <a:solidFill>
                      <a:srgbClr val="E9E8E8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69240">
                <a:tc gridSpan="2"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Fay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L w="12700">
                      <a:solidFill>
                        <a:srgbClr val="4E3629"/>
                      </a:solidFill>
                      <a:prstDash val="solid"/>
                    </a:lnL>
                    <a:lnR w="12700">
                      <a:solidFill>
                        <a:srgbClr val="4E3629"/>
                      </a:solidFill>
                      <a:prstDash val="solid"/>
                    </a:lnR>
                    <a:lnT w="12700">
                      <a:solidFill>
                        <a:srgbClr val="4E3629"/>
                      </a:solidFill>
                      <a:prstDash val="solid"/>
                    </a:lnT>
                    <a:lnB w="12700">
                      <a:solidFill>
                        <a:srgbClr val="4E3629"/>
                      </a:solidFill>
                      <a:prstDash val="solid"/>
                    </a:lnB>
                    <a:solidFill>
                      <a:srgbClr val="E9E8E8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20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L w="12700">
                      <a:solidFill>
                        <a:srgbClr val="4E3629"/>
                      </a:solidFill>
                      <a:prstDash val="solid"/>
                    </a:lnL>
                    <a:lnR w="12700">
                      <a:solidFill>
                        <a:srgbClr val="4E3629"/>
                      </a:solidFill>
                      <a:prstDash val="solid"/>
                    </a:lnR>
                    <a:lnT w="12700">
                      <a:solidFill>
                        <a:srgbClr val="4E3629"/>
                      </a:solidFill>
                      <a:prstDash val="solid"/>
                    </a:lnT>
                    <a:lnB w="12700">
                      <a:solidFill>
                        <a:srgbClr val="4E3629"/>
                      </a:solidFill>
                      <a:prstDash val="solid"/>
                    </a:lnB>
                    <a:solidFill>
                      <a:srgbClr val="E9E8E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Marketing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L w="12700">
                      <a:solidFill>
                        <a:srgbClr val="4E3629"/>
                      </a:solidFill>
                      <a:prstDash val="solid"/>
                    </a:lnL>
                    <a:lnR w="12700">
                      <a:solidFill>
                        <a:srgbClr val="4E3629"/>
                      </a:solidFill>
                      <a:prstDash val="solid"/>
                    </a:lnR>
                    <a:lnT w="12700">
                      <a:solidFill>
                        <a:srgbClr val="4E3629"/>
                      </a:solidFill>
                      <a:prstDash val="solid"/>
                    </a:lnT>
                    <a:lnB w="12700">
                      <a:solidFill>
                        <a:srgbClr val="4E3629"/>
                      </a:solidFill>
                      <a:prstDash val="solid"/>
                    </a:lnB>
                    <a:solidFill>
                      <a:srgbClr val="E9E8E8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68605">
                <a:tc gridSpan="2">
                  <a:txBody>
                    <a:bodyPr/>
                    <a:lstStyle/>
                    <a:p>
                      <a:pPr marL="12700">
                        <a:lnSpc>
                          <a:spcPts val="1920"/>
                        </a:lnSpc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Mourgos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4E3629"/>
                      </a:solidFill>
                      <a:prstDash val="solid"/>
                    </a:lnL>
                    <a:lnR w="12700">
                      <a:solidFill>
                        <a:srgbClr val="4E3629"/>
                      </a:solidFill>
                      <a:prstDash val="solid"/>
                    </a:lnR>
                    <a:lnT w="12700">
                      <a:solidFill>
                        <a:srgbClr val="4E3629"/>
                      </a:solidFill>
                      <a:prstDash val="solid"/>
                    </a:lnT>
                    <a:lnB w="12700">
                      <a:solidFill>
                        <a:srgbClr val="4E3629"/>
                      </a:solidFill>
                      <a:prstDash val="solid"/>
                    </a:lnB>
                    <a:solidFill>
                      <a:srgbClr val="E9E8E8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50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L w="12700">
                      <a:solidFill>
                        <a:srgbClr val="4E3629"/>
                      </a:solidFill>
                      <a:prstDash val="solid"/>
                    </a:lnL>
                    <a:lnR w="12700">
                      <a:solidFill>
                        <a:srgbClr val="4E3629"/>
                      </a:solidFill>
                      <a:prstDash val="solid"/>
                    </a:lnR>
                    <a:lnT w="12700">
                      <a:solidFill>
                        <a:srgbClr val="4E3629"/>
                      </a:solidFill>
                      <a:prstDash val="solid"/>
                    </a:lnT>
                    <a:lnB w="12700">
                      <a:solidFill>
                        <a:srgbClr val="4E3629"/>
                      </a:solidFill>
                      <a:prstDash val="solid"/>
                    </a:lnB>
                    <a:solidFill>
                      <a:srgbClr val="E9E8E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Shipping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L w="12700">
                      <a:solidFill>
                        <a:srgbClr val="4E3629"/>
                      </a:solidFill>
                      <a:prstDash val="solid"/>
                    </a:lnL>
                    <a:lnR w="12700">
                      <a:solidFill>
                        <a:srgbClr val="4E3629"/>
                      </a:solidFill>
                      <a:prstDash val="solid"/>
                    </a:lnR>
                    <a:lnT w="12700">
                      <a:solidFill>
                        <a:srgbClr val="4E3629"/>
                      </a:solidFill>
                      <a:prstDash val="solid"/>
                    </a:lnT>
                    <a:lnB w="12700">
                      <a:solidFill>
                        <a:srgbClr val="4E3629"/>
                      </a:solidFill>
                      <a:prstDash val="solid"/>
                    </a:lnB>
                    <a:solidFill>
                      <a:srgbClr val="E9E8E8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68605">
                <a:tc gridSpan="2"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6985">
                    <a:lnL w="12700">
                      <a:solidFill>
                        <a:srgbClr val="4E3629"/>
                      </a:solidFill>
                      <a:prstDash val="solid"/>
                    </a:lnL>
                    <a:lnR w="12700">
                      <a:solidFill>
                        <a:srgbClr val="4E3629"/>
                      </a:solidFill>
                      <a:prstDash val="solid"/>
                    </a:lnR>
                    <a:lnT w="12700">
                      <a:solidFill>
                        <a:srgbClr val="4E3629"/>
                      </a:solidFill>
                      <a:prstDash val="solid"/>
                    </a:lnT>
                    <a:lnB w="12700">
                      <a:solidFill>
                        <a:srgbClr val="4E3629"/>
                      </a:solidFill>
                      <a:prstDash val="solid"/>
                    </a:lnB>
                    <a:solidFill>
                      <a:srgbClr val="E9E8E8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4E3629"/>
                      </a:solidFill>
                      <a:prstDash val="solid"/>
                    </a:lnL>
                    <a:lnR w="12700">
                      <a:solidFill>
                        <a:srgbClr val="4E3629"/>
                      </a:solidFill>
                      <a:prstDash val="solid"/>
                    </a:lnR>
                    <a:lnT w="12700">
                      <a:solidFill>
                        <a:srgbClr val="4E3629"/>
                      </a:solidFill>
                      <a:prstDash val="solid"/>
                    </a:lnT>
                    <a:lnB w="12700">
                      <a:solidFill>
                        <a:srgbClr val="4E3629"/>
                      </a:solidFill>
                      <a:prstDash val="solid"/>
                    </a:lnB>
                    <a:solidFill>
                      <a:srgbClr val="E9E8E8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4E3629"/>
                      </a:solidFill>
                      <a:prstDash val="solid"/>
                    </a:lnL>
                    <a:lnR w="12700">
                      <a:solidFill>
                        <a:srgbClr val="4E3629"/>
                      </a:solidFill>
                      <a:prstDash val="solid"/>
                    </a:lnR>
                    <a:lnT w="12700">
                      <a:solidFill>
                        <a:srgbClr val="4E3629"/>
                      </a:solidFill>
                      <a:prstDash val="solid"/>
                    </a:lnT>
                    <a:lnB w="12700">
                      <a:solidFill>
                        <a:srgbClr val="4E3629"/>
                      </a:solidFill>
                      <a:prstDash val="solid"/>
                    </a:lnB>
                    <a:solidFill>
                      <a:srgbClr val="E9E8E8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69240">
                <a:tc gridSpan="2"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Gietz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L w="12700">
                      <a:solidFill>
                        <a:srgbClr val="4E3629"/>
                      </a:solidFill>
                      <a:prstDash val="solid"/>
                    </a:lnL>
                    <a:lnR w="12700">
                      <a:solidFill>
                        <a:srgbClr val="4E3629"/>
                      </a:solidFill>
                      <a:prstDash val="solid"/>
                    </a:lnR>
                    <a:lnT w="12700">
                      <a:solidFill>
                        <a:srgbClr val="4E3629"/>
                      </a:solidFill>
                      <a:prstDash val="solid"/>
                    </a:lnT>
                    <a:solidFill>
                      <a:srgbClr val="E9E8E8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110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L w="12700">
                      <a:solidFill>
                        <a:srgbClr val="4E3629"/>
                      </a:solidFill>
                      <a:prstDash val="solid"/>
                    </a:lnL>
                    <a:lnR w="12700">
                      <a:solidFill>
                        <a:srgbClr val="4E3629"/>
                      </a:solidFill>
                      <a:prstDash val="solid"/>
                    </a:lnR>
                    <a:lnT w="12700">
                      <a:solidFill>
                        <a:srgbClr val="4E3629"/>
                      </a:solidFill>
                      <a:prstDash val="solid"/>
                    </a:lnT>
                    <a:solidFill>
                      <a:srgbClr val="E9E8E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Accounting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L w="12700">
                      <a:solidFill>
                        <a:srgbClr val="4E3629"/>
                      </a:solidFill>
                      <a:prstDash val="solid"/>
                    </a:lnL>
                    <a:lnR w="12700">
                      <a:solidFill>
                        <a:srgbClr val="4E3629"/>
                      </a:solidFill>
                      <a:prstDash val="solid"/>
                    </a:lnR>
                    <a:lnT w="12700">
                      <a:solidFill>
                        <a:srgbClr val="4E3629"/>
                      </a:solidFill>
                      <a:prstDash val="solid"/>
                    </a:lnT>
                    <a:solidFill>
                      <a:srgbClr val="E9E8E8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71145">
                <a:tc>
                  <a:txBody>
                    <a:bodyPr/>
                    <a:lstStyle/>
                    <a:p>
                      <a:pPr marL="54610" marR="130810">
                        <a:lnSpc>
                          <a:spcPts val="1889"/>
                        </a:lnSpc>
                      </a:pPr>
                      <a:r>
                        <a:rPr dirty="0" sz="16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-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D1350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D1350F"/>
                    </a:solidFill>
                  </a:tcPr>
                </a:tc>
                <a:tc>
                  <a:txBody>
                    <a:bodyPr/>
                    <a:lstStyle/>
                    <a:p>
                      <a:pPr marL="24130">
                        <a:lnSpc>
                          <a:spcPts val="1889"/>
                        </a:lnSpc>
                      </a:pPr>
                      <a:r>
                        <a:rPr dirty="0" sz="16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190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D1350F"/>
                    </a:solidFill>
                  </a:tcPr>
                </a:tc>
                <a:tc>
                  <a:txBody>
                    <a:bodyPr/>
                    <a:lstStyle/>
                    <a:p>
                      <a:pPr marL="24130">
                        <a:lnSpc>
                          <a:spcPts val="1889"/>
                        </a:lnSpc>
                      </a:pPr>
                      <a:r>
                        <a:rPr dirty="0" sz="16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Contracting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D1350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D1350F"/>
                    </a:solidFill>
                  </a:tcPr>
                </a:tc>
              </a:tr>
              <a:tr h="354965">
                <a:tc>
                  <a:txBody>
                    <a:bodyPr/>
                    <a:lstStyle/>
                    <a:p>
                      <a:pPr marR="130810"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9050">
                      <a:solidFill>
                        <a:srgbClr val="E0E2E1"/>
                      </a:solidFill>
                      <a:prstDash val="solid"/>
                    </a:lnR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E0E2E1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Full</a:t>
            </a:r>
            <a:r>
              <a:rPr dirty="0" spc="-55"/>
              <a:t> </a:t>
            </a:r>
            <a:r>
              <a:rPr dirty="0"/>
              <a:t>Outer</a:t>
            </a:r>
            <a:r>
              <a:rPr dirty="0" spc="-65"/>
              <a:t> </a:t>
            </a:r>
            <a:r>
              <a:rPr dirty="0" spc="-20"/>
              <a:t>Join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8150859" cy="1706245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posible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tener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equivalente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FULL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OUTER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JOIN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mediante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adición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signo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(+)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ambas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columnas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condición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unión</a:t>
            </a:r>
            <a:endParaRPr sz="2800">
              <a:latin typeface="Calibri"/>
              <a:cs typeface="Calibri"/>
            </a:endParaRPr>
          </a:p>
          <a:p>
            <a:pPr marL="183515" indent="-170815">
              <a:lnSpc>
                <a:spcPct val="100000"/>
              </a:lnSpc>
              <a:spcBef>
                <a:spcPts val="409"/>
              </a:spcBef>
              <a:buClr>
                <a:srgbClr val="D1350F"/>
              </a:buClr>
              <a:buFont typeface="Arial MT"/>
              <a:buChar char="•"/>
              <a:tabLst>
                <a:tab pos="18351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intenta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realizar</a:t>
            </a:r>
            <a:r>
              <a:rPr dirty="0" sz="2800" spc="-9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esto,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produce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error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6572" y="4725923"/>
            <a:ext cx="4724400" cy="609600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405384" y="3195827"/>
            <a:ext cx="8345805" cy="970915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46355" rIns="0" bIns="0" rtlCol="0" vert="horz">
            <a:spAutoFit/>
          </a:bodyPr>
          <a:lstStyle/>
          <a:p>
            <a:pPr marR="966469">
              <a:lnSpc>
                <a:spcPct val="100000"/>
              </a:lnSpc>
              <a:spcBef>
                <a:spcPts val="365"/>
              </a:spcBef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SELECT</a:t>
            </a:r>
            <a:r>
              <a:rPr dirty="0" sz="1800" spc="-11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e.last_name,</a:t>
            </a:r>
            <a:r>
              <a:rPr dirty="0" sz="1800" spc="-11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d.department_id,</a:t>
            </a:r>
            <a:r>
              <a:rPr dirty="0" sz="1800" spc="-10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d.department_name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FROM</a:t>
            </a:r>
            <a:r>
              <a:rPr dirty="0" sz="1800" spc="-8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employees</a:t>
            </a:r>
            <a:r>
              <a:rPr dirty="0" sz="1800" spc="-6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e,</a:t>
            </a:r>
            <a:r>
              <a:rPr dirty="0" sz="1800" spc="-6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departments</a:t>
            </a:r>
            <a:r>
              <a:rPr dirty="0" sz="1800" spc="-6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d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7" name="object 7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7-</a:t>
            </a:r>
            <a:r>
              <a:rPr dirty="0" spc="-50"/>
              <a:t>2</a:t>
            </a:r>
          </a:p>
          <a:p>
            <a:pPr marL="12700" marR="5080">
              <a:lnSpc>
                <a:spcPts val="919"/>
              </a:lnSpc>
              <a:spcBef>
                <a:spcPts val="60"/>
              </a:spcBef>
            </a:pPr>
            <a:r>
              <a:rPr dirty="0"/>
              <a:t>Uniones</a:t>
            </a:r>
            <a:r>
              <a:rPr dirty="0" spc="5"/>
              <a:t> </a:t>
            </a:r>
            <a:r>
              <a:rPr dirty="0"/>
              <a:t>No</a:t>
            </a:r>
            <a:r>
              <a:rPr dirty="0" spc="-25"/>
              <a:t> </a:t>
            </a:r>
            <a:r>
              <a:rPr dirty="0" spc="-10"/>
              <a:t>Igualitarias</a:t>
            </a:r>
            <a:r>
              <a:rPr dirty="0" spc="20"/>
              <a:t> </a:t>
            </a:r>
            <a:r>
              <a:rPr dirty="0" spc="-50"/>
              <a:t>y</a:t>
            </a:r>
            <a:r>
              <a:rPr dirty="0" spc="500"/>
              <a:t> </a:t>
            </a:r>
            <a:r>
              <a:rPr dirty="0"/>
              <a:t>Uniones</a:t>
            </a:r>
            <a:r>
              <a:rPr dirty="0" spc="-20"/>
              <a:t> </a:t>
            </a:r>
            <a:r>
              <a:rPr dirty="0"/>
              <a:t>Externas</a:t>
            </a:r>
            <a:r>
              <a:rPr dirty="0" spc="-35"/>
              <a:t> </a:t>
            </a:r>
            <a:r>
              <a:rPr dirty="0"/>
              <a:t>de</a:t>
            </a:r>
            <a:r>
              <a:rPr dirty="0" spc="-45"/>
              <a:t> </a:t>
            </a:r>
            <a:r>
              <a:rPr dirty="0" spc="-10"/>
              <a:t>Oracle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98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 spc="-25"/>
              <a:t>12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393954" y="3807714"/>
            <a:ext cx="6431915" cy="360045"/>
          </a:xfrm>
          <a:prstGeom prst="rect">
            <a:avLst/>
          </a:prstGeom>
          <a:solidFill>
            <a:srgbClr val="9DBEC4">
              <a:alpha val="50199"/>
            </a:srgbClr>
          </a:solidFill>
          <a:ln w="38100">
            <a:solidFill>
              <a:srgbClr val="D1350F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0795">
              <a:lnSpc>
                <a:spcPts val="2025"/>
              </a:lnSpc>
              <a:tabLst>
                <a:tab pos="3832860" algn="l"/>
              </a:tabLst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WHERE</a:t>
            </a:r>
            <a:r>
              <a:rPr dirty="0" sz="1800" spc="-12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e.department_id(+)</a:t>
            </a:r>
            <a:r>
              <a:rPr dirty="0" sz="1800" spc="-11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=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	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d.department_id(+);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Equivalentes</a:t>
            </a:r>
            <a:r>
              <a:rPr dirty="0" spc="-65"/>
              <a:t> </a:t>
            </a:r>
            <a:r>
              <a:rPr dirty="0"/>
              <a:t>de</a:t>
            </a:r>
            <a:r>
              <a:rPr dirty="0" spc="-75"/>
              <a:t> </a:t>
            </a:r>
            <a:r>
              <a:rPr dirty="0"/>
              <a:t>unión</a:t>
            </a:r>
            <a:r>
              <a:rPr dirty="0" spc="-65"/>
              <a:t> </a:t>
            </a:r>
            <a:r>
              <a:rPr dirty="0"/>
              <a:t>externa</a:t>
            </a:r>
            <a:r>
              <a:rPr dirty="0" spc="-105"/>
              <a:t> </a:t>
            </a:r>
            <a:r>
              <a:rPr dirty="0"/>
              <a:t>y</a:t>
            </a:r>
            <a:r>
              <a:rPr dirty="0" spc="-85"/>
              <a:t> </a:t>
            </a:r>
            <a:r>
              <a:rPr dirty="0" spc="-20"/>
              <a:t>ANSI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7-</a:t>
            </a:r>
            <a:r>
              <a:rPr dirty="0" spc="-50"/>
              <a:t>2</a:t>
            </a:r>
          </a:p>
          <a:p>
            <a:pPr marL="12700" marR="5080">
              <a:lnSpc>
                <a:spcPts val="919"/>
              </a:lnSpc>
              <a:spcBef>
                <a:spcPts val="60"/>
              </a:spcBef>
            </a:pPr>
            <a:r>
              <a:rPr dirty="0"/>
              <a:t>Uniones</a:t>
            </a:r>
            <a:r>
              <a:rPr dirty="0" spc="5"/>
              <a:t> </a:t>
            </a:r>
            <a:r>
              <a:rPr dirty="0"/>
              <a:t>No</a:t>
            </a:r>
            <a:r>
              <a:rPr dirty="0" spc="-25"/>
              <a:t> </a:t>
            </a:r>
            <a:r>
              <a:rPr dirty="0" spc="-10"/>
              <a:t>Igualitarias</a:t>
            </a:r>
            <a:r>
              <a:rPr dirty="0" spc="20"/>
              <a:t> </a:t>
            </a:r>
            <a:r>
              <a:rPr dirty="0" spc="-50"/>
              <a:t>y</a:t>
            </a:r>
            <a:r>
              <a:rPr dirty="0" spc="500"/>
              <a:t> </a:t>
            </a:r>
            <a:r>
              <a:rPr dirty="0"/>
              <a:t>Uniones</a:t>
            </a:r>
            <a:r>
              <a:rPr dirty="0" spc="-20"/>
              <a:t> </a:t>
            </a:r>
            <a:r>
              <a:rPr dirty="0"/>
              <a:t>Externas</a:t>
            </a:r>
            <a:r>
              <a:rPr dirty="0" spc="-35"/>
              <a:t> </a:t>
            </a:r>
            <a:r>
              <a:rPr dirty="0"/>
              <a:t>de</a:t>
            </a:r>
            <a:r>
              <a:rPr dirty="0" spc="-45"/>
              <a:t> </a:t>
            </a:r>
            <a:r>
              <a:rPr dirty="0" spc="-10"/>
              <a:t>Oracle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8626856" y="6589648"/>
            <a:ext cx="135255" cy="1339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 sz="850" spc="-25">
                <a:solidFill>
                  <a:srgbClr val="4E3629"/>
                </a:solidFill>
                <a:latin typeface="Calibri"/>
                <a:cs typeface="Calibri"/>
              </a:rPr>
              <a:t>14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7689850" cy="122047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algn="just"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aparece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continuación</a:t>
            </a:r>
            <a:r>
              <a:rPr dirty="0" sz="2800" spc="-1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muestran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uniones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ANSI/ISO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SQL: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99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y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sus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uniones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externas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de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Oracle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equivalentes.</a:t>
            </a:r>
            <a:endParaRPr sz="2800">
              <a:latin typeface="Calibri"/>
              <a:cs typeface="Calibri"/>
            </a:endParaRP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639762" y="2807063"/>
          <a:ext cx="7590155" cy="30162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56990"/>
                <a:gridCol w="3644265"/>
              </a:tblGrid>
              <a:tr h="5486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dirty="0" sz="180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ANSI/ISO</a:t>
                      </a:r>
                      <a:r>
                        <a:rPr dirty="0" sz="1800" spc="-25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SQL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2192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dirty="0" sz="180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Sintaxis</a:t>
                      </a:r>
                      <a:r>
                        <a:rPr dirty="0" sz="1800" spc="-65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dirty="0" sz="1800" spc="-3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Oracle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2192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822325">
                <a:tc>
                  <a:txBody>
                    <a:bodyPr/>
                    <a:lstStyle/>
                    <a:p>
                      <a:pPr marL="168910" marR="1064260" indent="-78105">
                        <a:lnSpc>
                          <a:spcPct val="98100"/>
                        </a:lnSpc>
                        <a:spcBef>
                          <a:spcPts val="295"/>
                        </a:spcBef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LEFT</a:t>
                      </a:r>
                      <a:r>
                        <a:rPr dirty="0" sz="1600" spc="-4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OUTER</a:t>
                      </a:r>
                      <a:r>
                        <a:rPr dirty="0" sz="16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JOIN</a:t>
                      </a:r>
                      <a:r>
                        <a:rPr dirty="0" sz="16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departments</a:t>
                      </a:r>
                      <a:r>
                        <a:rPr dirty="0" sz="1600" spc="-4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ON</a:t>
                      </a:r>
                      <a:r>
                        <a:rPr dirty="0" sz="1600" spc="-4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(e.department_id</a:t>
                      </a:r>
                      <a:r>
                        <a:rPr dirty="0" sz="1600" spc="-4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= 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d.department_id);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8905" marR="1339850" indent="-38100">
                        <a:lnSpc>
                          <a:spcPts val="1850"/>
                        </a:lnSpc>
                        <a:spcBef>
                          <a:spcPts val="380"/>
                        </a:spcBef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WHERE</a:t>
                      </a:r>
                      <a:r>
                        <a:rPr dirty="0" sz="1600" spc="-4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e.department_id</a:t>
                      </a:r>
                      <a:r>
                        <a:rPr dirty="0" sz="1600" spc="-6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= 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d.department_id(+);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4826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822325">
                <a:tc>
                  <a:txBody>
                    <a:bodyPr/>
                    <a:lstStyle/>
                    <a:p>
                      <a:pPr marL="168275" marR="927735" indent="-78105">
                        <a:lnSpc>
                          <a:spcPct val="98100"/>
                        </a:lnSpc>
                        <a:spcBef>
                          <a:spcPts val="295"/>
                        </a:spcBef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RIGHT</a:t>
                      </a:r>
                      <a:r>
                        <a:rPr dirty="0" sz="1600" spc="-4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OUTER</a:t>
                      </a:r>
                      <a:r>
                        <a:rPr dirty="0" sz="16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JOIN</a:t>
                      </a:r>
                      <a:r>
                        <a:rPr dirty="0" sz="1600" spc="-4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departments</a:t>
                      </a:r>
                      <a:r>
                        <a:rPr dirty="0" sz="1600" spc="-4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ON</a:t>
                      </a:r>
                      <a:r>
                        <a:rPr dirty="0" sz="1600" spc="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(e.department_id</a:t>
                      </a:r>
                      <a:r>
                        <a:rPr dirty="0" sz="1600" spc="1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= 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d.department_id);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8905" marR="1113155" indent="-38100">
                        <a:lnSpc>
                          <a:spcPts val="1850"/>
                        </a:lnSpc>
                        <a:spcBef>
                          <a:spcPts val="380"/>
                        </a:spcBef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WHERE</a:t>
                      </a:r>
                      <a:r>
                        <a:rPr dirty="0" sz="1600" spc="-6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e.department_id(+)</a:t>
                      </a:r>
                      <a:r>
                        <a:rPr dirty="0" sz="1600" spc="-5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= 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d.department_id;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4826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marL="168275" marR="1049020" indent="-78105">
                        <a:lnSpc>
                          <a:spcPct val="98100"/>
                        </a:lnSpc>
                        <a:spcBef>
                          <a:spcPts val="295"/>
                        </a:spcBef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FULL</a:t>
                      </a:r>
                      <a:r>
                        <a:rPr dirty="0" sz="16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OUTER</a:t>
                      </a:r>
                      <a:r>
                        <a:rPr dirty="0" sz="16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JOIN</a:t>
                      </a:r>
                      <a:r>
                        <a:rPr dirty="0" sz="1600" spc="-4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departments</a:t>
                      </a:r>
                      <a:r>
                        <a:rPr dirty="0" sz="1600" spc="-4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ON</a:t>
                      </a:r>
                      <a:r>
                        <a:rPr dirty="0" sz="1600" spc="-4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(e.department_id</a:t>
                      </a:r>
                      <a:r>
                        <a:rPr dirty="0" sz="1600" spc="-4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= 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d.department_id);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No</a:t>
                      </a:r>
                      <a:r>
                        <a:rPr dirty="0" sz="1600" spc="-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hay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ningún</a:t>
                      </a:r>
                      <a:r>
                        <a:rPr dirty="0" sz="16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equivalente</a:t>
                      </a: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directo.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3019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Oracle Academy</dc:creator>
  <dc:title>PowerPoint Presentation</dc:title>
  <dcterms:created xsi:type="dcterms:W3CDTF">2025-06-01T18:21:25Z</dcterms:created>
  <dcterms:modified xsi:type="dcterms:W3CDTF">2025-06-01T18:21:25Z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2025-03-31T00:00:00Z</vt:filetime>
  </property>
  <property fmtid="{D5CDD505-2E9C-101B-9397-08002B2CF9AE}" pid="3" name="Creator">
    <vt:lpwstr>Acrobat PDFMaker 17 for PowerPoint</vt:lpwstr>
  </property>
  <property fmtid="{D5CDD505-2E9C-101B-9397-08002B2CF9AE}" pid="4" name="LastSaved">
    <vt:filetime>2025-06-01T00:00:00Z</vt:filetime>
  </property>
  <property fmtid="{D5CDD505-2E9C-101B-9397-08002B2CF9AE}" pid="5" name="Producer">
    <vt:lpwstr>macOS Version 15.3.1 (Build 24D70) Quartz PDFContext</vt:lpwstr>
  </property>
</Properties>
</file>