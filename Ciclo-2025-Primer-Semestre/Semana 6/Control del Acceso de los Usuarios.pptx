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/Relationships>
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/Relationships>
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/Relationships>
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/Relationships>
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/Relationships>
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/Relationships>
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/Relationships>
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/Relationships>
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/Relationships>
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/Relationships>
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/Relationships>
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/Relationships>
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slide" Target="../slides/slide12.xml"/></Relationships>
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slide" Target="../slides/slide13.xml"/></Relationships>
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slide" Target="../slides/slide14.xml"/></Relationships>
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slide" Target="../slides/slide15.xml"/></Relationships>
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slide" Target="../slides/slide16.xml"/></Relationships>
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slide" Target="../slides/slide17.xml"/></Relationships>
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slide" Target="../slides/slide18.xml"/></Relationships>
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slide" Target="../slides/slide19.xml"/></Relationships>
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slide" Target="../slides/slide20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Presenter</a:t>
            </a:r>
          </a:p>
          <a:p>
            <a:r>
              <a:t>2020-08-14 19:13:48</a:t>
            </a:r>
          </a:p>
          <a:p>
            <a:r>
              <a:t>--------------------------------------------</a:t>
            </a:r>
          </a:p>
          <a:p>
            <a:r>
              <a:t>Los alumnos no podrán probar estos privilegios en APEX, debido a privilegios insuficientes.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17-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Control</a:t>
            </a:r>
            <a:r>
              <a:rPr dirty="0" spc="-30"/>
              <a:t> </a:t>
            </a:r>
            <a:r>
              <a:rPr dirty="0"/>
              <a:t>del</a:t>
            </a:r>
            <a:r>
              <a:rPr dirty="0" spc="-25"/>
              <a:t> </a:t>
            </a:r>
            <a:r>
              <a:rPr dirty="0"/>
              <a:t>Acceso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25"/>
              <a:t> </a:t>
            </a:r>
            <a:r>
              <a:rPr dirty="0"/>
              <a:t>los</a:t>
            </a:r>
            <a:r>
              <a:rPr dirty="0" spc="-20"/>
              <a:t> </a:t>
            </a:r>
            <a:r>
              <a:rPr dirty="0" spc="-10"/>
              <a:t>Usuarios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17-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Control</a:t>
            </a:r>
            <a:r>
              <a:rPr dirty="0" spc="-30"/>
              <a:t> </a:t>
            </a:r>
            <a:r>
              <a:rPr dirty="0"/>
              <a:t>del</a:t>
            </a:r>
            <a:r>
              <a:rPr dirty="0" spc="-25"/>
              <a:t> </a:t>
            </a:r>
            <a:r>
              <a:rPr dirty="0"/>
              <a:t>Acceso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25"/>
              <a:t> </a:t>
            </a:r>
            <a:r>
              <a:rPr dirty="0"/>
              <a:t>los</a:t>
            </a:r>
            <a:r>
              <a:rPr dirty="0" spc="-20"/>
              <a:t> </a:t>
            </a:r>
            <a:r>
              <a:rPr dirty="0" spc="-10"/>
              <a:t>Usuarios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17-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Control</a:t>
            </a:r>
            <a:r>
              <a:rPr dirty="0" spc="-30"/>
              <a:t> </a:t>
            </a:r>
            <a:r>
              <a:rPr dirty="0"/>
              <a:t>del</a:t>
            </a:r>
            <a:r>
              <a:rPr dirty="0" spc="-25"/>
              <a:t> </a:t>
            </a:r>
            <a:r>
              <a:rPr dirty="0"/>
              <a:t>Acceso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25"/>
              <a:t> </a:t>
            </a:r>
            <a:r>
              <a:rPr dirty="0"/>
              <a:t>los</a:t>
            </a:r>
            <a:r>
              <a:rPr dirty="0" spc="-20"/>
              <a:t> </a:t>
            </a:r>
            <a:r>
              <a:rPr dirty="0" spc="-10"/>
              <a:t>Usuarios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17-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Control</a:t>
            </a:r>
            <a:r>
              <a:rPr dirty="0" spc="-30"/>
              <a:t> </a:t>
            </a:r>
            <a:r>
              <a:rPr dirty="0"/>
              <a:t>del</a:t>
            </a:r>
            <a:r>
              <a:rPr dirty="0" spc="-25"/>
              <a:t> </a:t>
            </a:r>
            <a:r>
              <a:rPr dirty="0"/>
              <a:t>Acceso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25"/>
              <a:t> </a:t>
            </a:r>
            <a:r>
              <a:rPr dirty="0"/>
              <a:t>los</a:t>
            </a:r>
            <a:r>
              <a:rPr dirty="0" spc="-20"/>
              <a:t> </a:t>
            </a:r>
            <a:r>
              <a:rPr dirty="0" spc="-10"/>
              <a:t>Usuarios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17-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Control</a:t>
            </a:r>
            <a:r>
              <a:rPr dirty="0" spc="-30"/>
              <a:t> </a:t>
            </a:r>
            <a:r>
              <a:rPr dirty="0"/>
              <a:t>del</a:t>
            </a:r>
            <a:r>
              <a:rPr dirty="0" spc="-25"/>
              <a:t> </a:t>
            </a:r>
            <a:r>
              <a:rPr dirty="0"/>
              <a:t>Acceso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25"/>
              <a:t> </a:t>
            </a:r>
            <a:r>
              <a:rPr dirty="0"/>
              <a:t>los</a:t>
            </a:r>
            <a:r>
              <a:rPr dirty="0" spc="-20"/>
              <a:t> </a:t>
            </a:r>
            <a:r>
              <a:rPr dirty="0" spc="-10"/>
              <a:t>Usuarios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0E2E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254507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5384" y="6178295"/>
            <a:ext cx="1258824" cy="4206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2112" y="748031"/>
            <a:ext cx="6522720" cy="528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3552" y="1415417"/>
            <a:ext cx="8113395" cy="39516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172119" y="6589648"/>
            <a:ext cx="3222625" cy="1339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874191" y="6516395"/>
            <a:ext cx="1537335" cy="249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17-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Control</a:t>
            </a:r>
            <a:r>
              <a:rPr dirty="0" spc="-30"/>
              <a:t> </a:t>
            </a:r>
            <a:r>
              <a:rPr dirty="0"/>
              <a:t>del</a:t>
            </a:r>
            <a:r>
              <a:rPr dirty="0" spc="-25"/>
              <a:t> </a:t>
            </a:r>
            <a:r>
              <a:rPr dirty="0"/>
              <a:t>Acceso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25"/>
              <a:t> </a:t>
            </a:r>
            <a:r>
              <a:rPr dirty="0"/>
              <a:t>los</a:t>
            </a:r>
            <a:r>
              <a:rPr dirty="0" spc="-20"/>
              <a:t> </a:t>
            </a:r>
            <a:r>
              <a:rPr dirty="0" spc="-10"/>
              <a:t>Usuarios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25090" y="6567768"/>
            <a:ext cx="217170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.xml"/><Relationship Id="rId6" Type="http://schemas.openxmlformats.org/officeDocument/2006/relationships/slide" Target="slide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slide" Target="slide3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4.xml"/><Relationship Id="rId5" Type="http://schemas.openxmlformats.org/officeDocument/2006/relationships/slide" Target="slide4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Relationship Id="rId5" Type="http://schemas.openxmlformats.org/officeDocument/2006/relationships/slide" Target="slide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slide" Target="slide6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7.xml"/><Relationship Id="rId5" Type="http://schemas.openxmlformats.org/officeDocument/2006/relationships/slide" Target="slide7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slide" Target="slide8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slide" Target="slide9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0.xml"/><Relationship Id="rId5" Type="http://schemas.openxmlformats.org/officeDocument/2006/relationships/slide" Target="slide10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slide" Target="slide11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slide" Target="slide1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3.xml"/><Relationship Id="rId5" Type="http://schemas.openxmlformats.org/officeDocument/2006/relationships/slide" Target="slide13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slide" Target="slide14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5.xml"/><Relationship Id="rId4" Type="http://schemas.openxmlformats.org/officeDocument/2006/relationships/slide" Target="slide15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slide" Target="slide16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slide" Target="slide17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8.xml"/><Relationship Id="rId4" Type="http://schemas.openxmlformats.org/officeDocument/2006/relationships/slide" Target="slide18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slide" Target="slide19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slide" Target="slide20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560831" y="702563"/>
              <a:ext cx="8022590" cy="5453380"/>
            </a:xfrm>
            <a:custGeom>
              <a:avLst/>
              <a:gdLst/>
              <a:ahLst/>
              <a:cxnLst/>
              <a:rect l="l" t="t" r="r" b="b"/>
              <a:pathLst>
                <a:path w="8022590" h="5453380">
                  <a:moveTo>
                    <a:pt x="8022335" y="0"/>
                  </a:moveTo>
                  <a:lnTo>
                    <a:pt x="0" y="0"/>
                  </a:lnTo>
                  <a:lnTo>
                    <a:pt x="0" y="5452872"/>
                  </a:lnTo>
                  <a:lnTo>
                    <a:pt x="8022335" y="5452872"/>
                  </a:lnTo>
                  <a:lnTo>
                    <a:pt x="8022335" y="0"/>
                  </a:lnTo>
                  <a:close/>
                </a:path>
              </a:pathLst>
            </a:custGeom>
            <a:solidFill>
              <a:srgbClr val="E0E2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0787" y="5570219"/>
              <a:ext cx="1258824" cy="420623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5057819" y="6562597"/>
            <a:ext cx="322262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Copyright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©</a:t>
            </a:r>
            <a:r>
              <a:rPr dirty="0" sz="850" spc="-4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2020,</a:t>
            </a:r>
            <a:r>
              <a:rPr dirty="0" sz="850" spc="-4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Oracle</a:t>
            </a:r>
            <a:r>
              <a:rPr dirty="0" sz="850" spc="-3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y/o</a:t>
            </a:r>
            <a:r>
              <a:rPr dirty="0" sz="850" spc="-3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sus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filiales.</a:t>
            </a:r>
            <a:r>
              <a:rPr dirty="0" sz="850" spc="-1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Todos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los</a:t>
            </a:r>
            <a:r>
              <a:rPr dirty="0" sz="850" spc="-2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derechos</a:t>
            </a:r>
            <a:r>
              <a:rPr dirty="0" sz="850" spc="-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FDF0D9"/>
                </a:solidFill>
                <a:latin typeface="Calibri"/>
                <a:cs typeface="Calibri"/>
              </a:rPr>
              <a:t>reservados.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58315" y="862895"/>
            <a:ext cx="7047865" cy="1342390"/>
          </a:xfrm>
          <a:prstGeom prst="rect"/>
        </p:spPr>
        <p:txBody>
          <a:bodyPr wrap="square" lIns="0" tIns="153670" rIns="0" bIns="0" rtlCol="0" vert="horz">
            <a:spAutoFit/>
          </a:bodyPr>
          <a:lstStyle/>
          <a:p>
            <a:pPr marL="12700" marR="5080">
              <a:lnSpc>
                <a:spcPts val="4610"/>
              </a:lnSpc>
              <a:spcBef>
                <a:spcPts val="1210"/>
              </a:spcBef>
            </a:pPr>
            <a:r>
              <a:rPr dirty="0" sz="4800"/>
              <a:t>Database</a:t>
            </a:r>
            <a:r>
              <a:rPr dirty="0" sz="4800" spc="-190"/>
              <a:t> </a:t>
            </a:r>
            <a:r>
              <a:rPr dirty="0" sz="4800" spc="-20"/>
              <a:t>Programming</a:t>
            </a:r>
            <a:r>
              <a:rPr dirty="0" sz="4800" spc="-185"/>
              <a:t> </a:t>
            </a:r>
            <a:r>
              <a:rPr dirty="0" sz="4800" spc="-20"/>
              <a:t>with </a:t>
            </a:r>
            <a:r>
              <a:rPr dirty="0" sz="4800" spc="-25"/>
              <a:t>SQL</a:t>
            </a:r>
            <a:endParaRPr sz="4800"/>
          </a:p>
        </p:txBody>
      </p:sp>
      <p:sp>
        <p:nvSpPr>
          <p:cNvPr id="8" name="object 8" descr=""/>
          <p:cNvSpPr txBox="1"/>
          <p:nvPr/>
        </p:nvSpPr>
        <p:spPr>
          <a:xfrm>
            <a:off x="962879" y="2400950"/>
            <a:ext cx="4353560" cy="888365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2400" spc="-10" b="1">
                <a:solidFill>
                  <a:srgbClr val="4E3629"/>
                </a:solidFill>
                <a:latin typeface="Calibri"/>
                <a:cs typeface="Calibri"/>
              </a:rPr>
              <a:t>17-</a:t>
            </a:r>
            <a:r>
              <a:rPr dirty="0" sz="2400" spc="-50" b="1">
                <a:solidFill>
                  <a:srgbClr val="4E3629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Control</a:t>
            </a:r>
            <a:r>
              <a:rPr dirty="0" sz="2400" spc="-50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del</a:t>
            </a:r>
            <a:r>
              <a:rPr dirty="0" sz="2400" spc="-3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Acceso</a:t>
            </a:r>
            <a:r>
              <a:rPr dirty="0" sz="2400" spc="-5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30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400" spc="-4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4E3629"/>
                </a:solidFill>
                <a:latin typeface="Calibri"/>
                <a:cs typeface="Calibri"/>
              </a:rPr>
              <a:t>Usuarios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98747" y="3485388"/>
            <a:ext cx="5058156" cy="29657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Control</a:t>
            </a:r>
            <a:r>
              <a:rPr dirty="0" spc="-65"/>
              <a:t> </a:t>
            </a:r>
            <a:r>
              <a:rPr dirty="0"/>
              <a:t>del</a:t>
            </a:r>
            <a:r>
              <a:rPr dirty="0" spc="-65"/>
              <a:t> </a:t>
            </a:r>
            <a:r>
              <a:rPr dirty="0"/>
              <a:t>Acceso</a:t>
            </a:r>
            <a:r>
              <a:rPr dirty="0" spc="-60"/>
              <a:t> </a:t>
            </a:r>
            <a:r>
              <a:rPr dirty="0"/>
              <a:t>de</a:t>
            </a:r>
            <a:r>
              <a:rPr dirty="0" spc="-60"/>
              <a:t> </a:t>
            </a:r>
            <a:r>
              <a:rPr dirty="0"/>
              <a:t>los</a:t>
            </a:r>
            <a:r>
              <a:rPr dirty="0" spc="-65"/>
              <a:t> </a:t>
            </a:r>
            <a:r>
              <a:rPr dirty="0" spc="-10"/>
              <a:t>Usuarios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17-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Control</a:t>
            </a:r>
            <a:r>
              <a:rPr dirty="0" spc="-30"/>
              <a:t> </a:t>
            </a:r>
            <a:r>
              <a:rPr dirty="0"/>
              <a:t>del</a:t>
            </a:r>
            <a:r>
              <a:rPr dirty="0" spc="-25"/>
              <a:t> </a:t>
            </a:r>
            <a:r>
              <a:rPr dirty="0"/>
              <a:t>Acceso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25"/>
              <a:t> </a:t>
            </a:r>
            <a:r>
              <a:rPr dirty="0"/>
              <a:t>los</a:t>
            </a:r>
            <a:r>
              <a:rPr dirty="0" spc="-20"/>
              <a:t> </a:t>
            </a:r>
            <a:r>
              <a:rPr dirty="0" spc="-10"/>
              <a:t>Usuarios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5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9690" rIns="0" bIns="0" rtlCol="0" vert="horz">
            <a:spAutoFit/>
          </a:bodyPr>
          <a:lstStyle/>
          <a:p>
            <a:pPr marL="182880" marR="3479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/>
              <a:t>En</a:t>
            </a:r>
            <a:r>
              <a:rPr dirty="0" spc="-70"/>
              <a:t> </a:t>
            </a:r>
            <a:r>
              <a:rPr dirty="0"/>
              <a:t>un</a:t>
            </a:r>
            <a:r>
              <a:rPr dirty="0" spc="-65"/>
              <a:t> </a:t>
            </a:r>
            <a:r>
              <a:rPr dirty="0"/>
              <a:t>entorno</a:t>
            </a:r>
            <a:r>
              <a:rPr dirty="0" spc="-65"/>
              <a:t> </a:t>
            </a:r>
            <a:r>
              <a:rPr dirty="0"/>
              <a:t>de</a:t>
            </a:r>
            <a:r>
              <a:rPr dirty="0" spc="-65"/>
              <a:t> </a:t>
            </a:r>
            <a:r>
              <a:rPr dirty="0"/>
              <a:t>varios</a:t>
            </a:r>
            <a:r>
              <a:rPr dirty="0" spc="-80"/>
              <a:t> </a:t>
            </a:r>
            <a:r>
              <a:rPr dirty="0"/>
              <a:t>usuarios,</a:t>
            </a:r>
            <a:r>
              <a:rPr dirty="0" spc="-45"/>
              <a:t> </a:t>
            </a:r>
            <a:r>
              <a:rPr dirty="0"/>
              <a:t>desea</a:t>
            </a:r>
            <a:r>
              <a:rPr dirty="0" spc="-60"/>
              <a:t> </a:t>
            </a:r>
            <a:r>
              <a:rPr dirty="0"/>
              <a:t>mantener</a:t>
            </a:r>
            <a:r>
              <a:rPr dirty="0" spc="-70"/>
              <a:t> </a:t>
            </a:r>
            <a:r>
              <a:rPr dirty="0" spc="-25"/>
              <a:t>la </a:t>
            </a:r>
            <a:r>
              <a:rPr dirty="0" spc="-25"/>
              <a:t>	</a:t>
            </a:r>
            <a:r>
              <a:rPr dirty="0"/>
              <a:t>seguridad</a:t>
            </a:r>
            <a:r>
              <a:rPr dirty="0" spc="-15"/>
              <a:t> </a:t>
            </a:r>
            <a:r>
              <a:rPr dirty="0"/>
              <a:t>del</a:t>
            </a:r>
            <a:r>
              <a:rPr dirty="0" spc="-30"/>
              <a:t> </a:t>
            </a:r>
            <a:r>
              <a:rPr dirty="0"/>
              <a:t>uso</a:t>
            </a:r>
            <a:r>
              <a:rPr dirty="0" spc="-10"/>
              <a:t> </a:t>
            </a:r>
            <a:r>
              <a:rPr dirty="0"/>
              <a:t>y</a:t>
            </a:r>
            <a:r>
              <a:rPr dirty="0" spc="-45"/>
              <a:t> </a:t>
            </a:r>
            <a:r>
              <a:rPr dirty="0"/>
              <a:t>acceso</a:t>
            </a:r>
            <a:r>
              <a:rPr dirty="0" spc="-35"/>
              <a:t> </a:t>
            </a:r>
            <a:r>
              <a:rPr dirty="0"/>
              <a:t>a</a:t>
            </a:r>
            <a:r>
              <a:rPr dirty="0" spc="-40"/>
              <a:t> </a:t>
            </a:r>
            <a:r>
              <a:rPr dirty="0"/>
              <a:t>la</a:t>
            </a:r>
            <a:r>
              <a:rPr dirty="0" spc="-30"/>
              <a:t> </a:t>
            </a:r>
            <a:r>
              <a:rPr dirty="0"/>
              <a:t>base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25"/>
              <a:t> </a:t>
            </a:r>
            <a:r>
              <a:rPr dirty="0" spc="-10"/>
              <a:t>datos</a:t>
            </a:r>
          </a:p>
          <a:p>
            <a:pPr marL="182880" marR="454025" indent="-170815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/>
              <a:t>Con</a:t>
            </a:r>
            <a:r>
              <a:rPr dirty="0" spc="-40"/>
              <a:t> </a:t>
            </a:r>
            <a:r>
              <a:rPr dirty="0"/>
              <a:t>la</a:t>
            </a:r>
            <a:r>
              <a:rPr dirty="0" spc="-40"/>
              <a:t> </a:t>
            </a:r>
            <a:r>
              <a:rPr dirty="0"/>
              <a:t>seguridad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/>
              <a:t>la</a:t>
            </a:r>
            <a:r>
              <a:rPr dirty="0" spc="-50"/>
              <a:t> </a:t>
            </a:r>
            <a:r>
              <a:rPr dirty="0"/>
              <a:t>base</a:t>
            </a:r>
            <a:r>
              <a:rPr dirty="0" spc="-3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/>
              <a:t>datos</a:t>
            </a:r>
            <a:r>
              <a:rPr dirty="0" spc="-35"/>
              <a:t> </a:t>
            </a:r>
            <a:r>
              <a:rPr dirty="0"/>
              <a:t>del</a:t>
            </a:r>
            <a:r>
              <a:rPr dirty="0" spc="-50"/>
              <a:t> </a:t>
            </a:r>
            <a:r>
              <a:rPr dirty="0"/>
              <a:t>servidor</a:t>
            </a:r>
            <a:r>
              <a:rPr dirty="0" spc="-20"/>
              <a:t> </a:t>
            </a:r>
            <a:r>
              <a:rPr dirty="0" spc="-25"/>
              <a:t>de </a:t>
            </a:r>
            <a:r>
              <a:rPr dirty="0" spc="-25"/>
              <a:t>	</a:t>
            </a:r>
            <a:r>
              <a:rPr dirty="0"/>
              <a:t>Oracle,</a:t>
            </a:r>
            <a:r>
              <a:rPr dirty="0" spc="-85"/>
              <a:t> </a:t>
            </a:r>
            <a:r>
              <a:rPr dirty="0"/>
              <a:t>puede</a:t>
            </a:r>
            <a:r>
              <a:rPr dirty="0" spc="-60"/>
              <a:t> </a:t>
            </a:r>
            <a:r>
              <a:rPr dirty="0"/>
              <a:t>realizar</a:t>
            </a:r>
            <a:r>
              <a:rPr dirty="0" spc="-85"/>
              <a:t> </a:t>
            </a:r>
            <a:r>
              <a:rPr dirty="0"/>
              <a:t>lo</a:t>
            </a:r>
            <a:r>
              <a:rPr dirty="0" spc="-80"/>
              <a:t> </a:t>
            </a:r>
            <a:r>
              <a:rPr dirty="0" spc="-10"/>
              <a:t>siguiente:</a:t>
            </a:r>
          </a:p>
          <a:p>
            <a:pPr marL="355600">
              <a:lnSpc>
                <a:spcPct val="100000"/>
              </a:lnSpc>
              <a:spcBef>
                <a:spcPts val="80"/>
              </a:spcBef>
            </a:pPr>
            <a:r>
              <a:rPr dirty="0" sz="2400">
                <a:solidFill>
                  <a:srgbClr val="D1350F"/>
                </a:solidFill>
              </a:rPr>
              <a:t>−</a:t>
            </a:r>
            <a:r>
              <a:rPr dirty="0" u="heavy" sz="2400">
                <a:uFill>
                  <a:solidFill>
                    <a:srgbClr val="EC2814"/>
                  </a:solidFill>
                </a:uFill>
              </a:rPr>
              <a:t>Controlar</a:t>
            </a:r>
            <a:r>
              <a:rPr dirty="0" u="heavy" sz="2400" spc="-3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400">
                <a:uFill>
                  <a:solidFill>
                    <a:srgbClr val="EC2814"/>
                  </a:solidFill>
                </a:uFill>
              </a:rPr>
              <a:t>el</a:t>
            </a:r>
            <a:r>
              <a:rPr dirty="0" u="heavy" sz="2400" spc="-1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400">
                <a:uFill>
                  <a:solidFill>
                    <a:srgbClr val="EC2814"/>
                  </a:solidFill>
                </a:uFill>
              </a:rPr>
              <a:t>acceso</a:t>
            </a:r>
            <a:r>
              <a:rPr dirty="0" u="heavy" sz="2400" spc="-3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400">
                <a:uFill>
                  <a:solidFill>
                    <a:srgbClr val="EC2814"/>
                  </a:solidFill>
                </a:uFill>
              </a:rPr>
              <a:t>a</a:t>
            </a:r>
            <a:r>
              <a:rPr dirty="0" u="heavy" sz="2400" spc="-2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400">
                <a:uFill>
                  <a:solidFill>
                    <a:srgbClr val="EC2814"/>
                  </a:solidFill>
                </a:uFill>
              </a:rPr>
              <a:t>la</a:t>
            </a:r>
            <a:r>
              <a:rPr dirty="0" u="heavy" sz="2400" spc="-1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400">
                <a:uFill>
                  <a:solidFill>
                    <a:srgbClr val="EC2814"/>
                  </a:solidFill>
                </a:uFill>
              </a:rPr>
              <a:t>base</a:t>
            </a:r>
            <a:r>
              <a:rPr dirty="0" u="heavy" sz="2400" spc="-1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400">
                <a:uFill>
                  <a:solidFill>
                    <a:srgbClr val="EC2814"/>
                  </a:solidFill>
                </a:uFill>
              </a:rPr>
              <a:t>de</a:t>
            </a:r>
            <a:r>
              <a:rPr dirty="0" u="heavy" sz="2400" spc="-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400" spc="-10">
                <a:uFill>
                  <a:solidFill>
                    <a:srgbClr val="EC2814"/>
                  </a:solidFill>
                </a:uFill>
              </a:rPr>
              <a:t>datos</a:t>
            </a:r>
            <a:endParaRPr sz="2400"/>
          </a:p>
          <a:p>
            <a:pPr marL="355600">
              <a:lnSpc>
                <a:spcPct val="100000"/>
              </a:lnSpc>
              <a:spcBef>
                <a:spcPts val="120"/>
              </a:spcBef>
            </a:pPr>
            <a:r>
              <a:rPr dirty="0" sz="2400">
                <a:solidFill>
                  <a:srgbClr val="D1350F"/>
                </a:solidFill>
              </a:rPr>
              <a:t>−</a:t>
            </a:r>
            <a:r>
              <a:rPr dirty="0" u="heavy" sz="2400">
                <a:uFill>
                  <a:solidFill>
                    <a:srgbClr val="EC2814"/>
                  </a:solidFill>
                </a:uFill>
              </a:rPr>
              <a:t>Proporcionar</a:t>
            </a:r>
            <a:r>
              <a:rPr dirty="0" u="heavy" sz="2400" spc="-5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400">
                <a:uFill>
                  <a:solidFill>
                    <a:srgbClr val="EC2814"/>
                  </a:solidFill>
                </a:uFill>
              </a:rPr>
              <a:t>acceso</a:t>
            </a:r>
            <a:r>
              <a:rPr dirty="0" u="heavy" sz="2400" spc="-5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400">
                <a:uFill>
                  <a:solidFill>
                    <a:srgbClr val="EC2814"/>
                  </a:solidFill>
                </a:uFill>
              </a:rPr>
              <a:t>a</a:t>
            </a:r>
            <a:r>
              <a:rPr dirty="0" u="heavy" sz="2400" spc="-3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400">
                <a:uFill>
                  <a:solidFill>
                    <a:srgbClr val="EC2814"/>
                  </a:solidFill>
                </a:uFill>
              </a:rPr>
              <a:t>objetos</a:t>
            </a:r>
            <a:r>
              <a:rPr dirty="0" u="heavy" sz="2400" spc="-4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400">
                <a:uFill>
                  <a:solidFill>
                    <a:srgbClr val="EC2814"/>
                  </a:solidFill>
                </a:uFill>
              </a:rPr>
              <a:t>específicos</a:t>
            </a:r>
            <a:r>
              <a:rPr dirty="0" u="heavy" sz="2400" spc="-5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400">
                <a:uFill>
                  <a:solidFill>
                    <a:srgbClr val="EC2814"/>
                  </a:solidFill>
                </a:uFill>
              </a:rPr>
              <a:t>en</a:t>
            </a:r>
            <a:r>
              <a:rPr dirty="0" u="heavy" sz="2400" spc="-3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400">
                <a:uFill>
                  <a:solidFill>
                    <a:srgbClr val="EC2814"/>
                  </a:solidFill>
                </a:uFill>
              </a:rPr>
              <a:t>la</a:t>
            </a:r>
            <a:r>
              <a:rPr dirty="0" u="heavy" sz="2400" spc="-4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400">
                <a:uFill>
                  <a:solidFill>
                    <a:srgbClr val="EC2814"/>
                  </a:solidFill>
                </a:uFill>
              </a:rPr>
              <a:t>base</a:t>
            </a:r>
            <a:r>
              <a:rPr dirty="0" u="heavy" sz="2400" spc="-3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400">
                <a:uFill>
                  <a:solidFill>
                    <a:srgbClr val="EC2814"/>
                  </a:solidFill>
                </a:uFill>
              </a:rPr>
              <a:t>de</a:t>
            </a:r>
            <a:r>
              <a:rPr dirty="0" u="heavy" sz="2400" spc="-3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400" spc="-10">
                <a:uFill>
                  <a:solidFill>
                    <a:srgbClr val="EC2814"/>
                  </a:solidFill>
                </a:uFill>
              </a:rPr>
              <a:t>datos</a:t>
            </a:r>
            <a:endParaRPr sz="2400"/>
          </a:p>
          <a:p>
            <a:pPr marL="530860" marR="1236980" indent="-175260">
              <a:lnSpc>
                <a:spcPts val="2590"/>
              </a:lnSpc>
              <a:spcBef>
                <a:spcPts val="439"/>
              </a:spcBef>
            </a:pPr>
            <a:r>
              <a:rPr dirty="0" sz="2400">
                <a:solidFill>
                  <a:srgbClr val="D1350F"/>
                </a:solidFill>
              </a:rPr>
              <a:t>−</a:t>
            </a:r>
            <a:r>
              <a:rPr dirty="0" u="heavy" sz="2400">
                <a:uFill>
                  <a:solidFill>
                    <a:srgbClr val="EC2814"/>
                  </a:solidFill>
                </a:uFill>
              </a:rPr>
              <a:t>Confirmar</a:t>
            </a:r>
            <a:r>
              <a:rPr dirty="0" u="heavy" sz="2400" spc="-5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400">
                <a:uFill>
                  <a:solidFill>
                    <a:srgbClr val="EC2814"/>
                  </a:solidFill>
                </a:uFill>
              </a:rPr>
              <a:t>los</a:t>
            </a:r>
            <a:r>
              <a:rPr dirty="0" u="heavy" sz="2400" spc="-3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400">
                <a:uFill>
                  <a:solidFill>
                    <a:srgbClr val="EC2814"/>
                  </a:solidFill>
                </a:uFill>
              </a:rPr>
              <a:t>privilegios</a:t>
            </a:r>
            <a:r>
              <a:rPr dirty="0" u="heavy" sz="2400" spc="-3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400">
                <a:uFill>
                  <a:solidFill>
                    <a:srgbClr val="EC2814"/>
                  </a:solidFill>
                </a:uFill>
              </a:rPr>
              <a:t>asignados</a:t>
            </a:r>
            <a:r>
              <a:rPr dirty="0" u="heavy" sz="2400" spc="-3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400">
                <a:uFill>
                  <a:solidFill>
                    <a:srgbClr val="EC2814"/>
                  </a:solidFill>
                </a:uFill>
              </a:rPr>
              <a:t>y</a:t>
            </a:r>
            <a:r>
              <a:rPr dirty="0" u="heavy" sz="2400" spc="-2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400">
                <a:uFill>
                  <a:solidFill>
                    <a:srgbClr val="EC2814"/>
                  </a:solidFill>
                </a:uFill>
              </a:rPr>
              <a:t>recibidos</a:t>
            </a:r>
            <a:r>
              <a:rPr dirty="0" u="heavy" sz="2400" spc="-4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400">
                <a:uFill>
                  <a:solidFill>
                    <a:srgbClr val="EC2814"/>
                  </a:solidFill>
                </a:uFill>
              </a:rPr>
              <a:t>en</a:t>
            </a:r>
            <a:r>
              <a:rPr dirty="0" u="heavy" sz="2400" spc="-25">
                <a:uFill>
                  <a:solidFill>
                    <a:srgbClr val="EC2814"/>
                  </a:solidFill>
                </a:uFill>
              </a:rPr>
              <a:t> el</a:t>
            </a:r>
            <a:r>
              <a:rPr dirty="0" sz="2400" spc="-25"/>
              <a:t> </a:t>
            </a:r>
            <a:r>
              <a:rPr dirty="0" u="heavy" sz="2400">
                <a:uFill>
                  <a:solidFill>
                    <a:srgbClr val="EC2814"/>
                  </a:solidFill>
                </a:uFill>
              </a:rPr>
              <a:t>diccionario</a:t>
            </a:r>
            <a:r>
              <a:rPr dirty="0" u="heavy" sz="2400" spc="-8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400">
                <a:uFill>
                  <a:solidFill>
                    <a:srgbClr val="EC2814"/>
                  </a:solidFill>
                </a:uFill>
              </a:rPr>
              <a:t>de</a:t>
            </a:r>
            <a:r>
              <a:rPr dirty="0" u="heavy" sz="2400" spc="-3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400">
                <a:uFill>
                  <a:solidFill>
                    <a:srgbClr val="EC2814"/>
                  </a:solidFill>
                </a:uFill>
              </a:rPr>
              <a:t>datos</a:t>
            </a:r>
            <a:r>
              <a:rPr dirty="0" u="heavy" sz="2400" spc="-6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400">
                <a:uFill>
                  <a:solidFill>
                    <a:srgbClr val="EC2814"/>
                  </a:solidFill>
                </a:uFill>
              </a:rPr>
              <a:t>de</a:t>
            </a:r>
            <a:r>
              <a:rPr dirty="0" u="heavy" sz="2400" spc="-5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400" spc="-10">
                <a:uFill>
                  <a:solidFill>
                    <a:srgbClr val="EC2814"/>
                  </a:solidFill>
                </a:uFill>
              </a:rPr>
              <a:t>Oracle</a:t>
            </a:r>
            <a:endParaRPr sz="2400"/>
          </a:p>
          <a:p>
            <a:pPr marL="355600">
              <a:lnSpc>
                <a:spcPct val="100000"/>
              </a:lnSpc>
              <a:spcBef>
                <a:spcPts val="70"/>
              </a:spcBef>
            </a:pPr>
            <a:r>
              <a:rPr dirty="0" sz="2400">
                <a:solidFill>
                  <a:srgbClr val="D1350F"/>
                </a:solidFill>
              </a:rPr>
              <a:t>−</a:t>
            </a:r>
            <a:r>
              <a:rPr dirty="0" u="heavy" sz="2400">
                <a:uFill>
                  <a:solidFill>
                    <a:srgbClr val="EC2814"/>
                  </a:solidFill>
                </a:uFill>
              </a:rPr>
              <a:t>Crear</a:t>
            </a:r>
            <a:r>
              <a:rPr dirty="0" u="heavy" sz="2400" spc="-5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400">
                <a:uFill>
                  <a:solidFill>
                    <a:srgbClr val="EC2814"/>
                  </a:solidFill>
                </a:uFill>
              </a:rPr>
              <a:t>sinónimos</a:t>
            </a:r>
            <a:r>
              <a:rPr dirty="0" u="heavy" sz="2400" spc="-4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400">
                <a:uFill>
                  <a:solidFill>
                    <a:srgbClr val="EC2814"/>
                  </a:solidFill>
                </a:uFill>
              </a:rPr>
              <a:t>para</a:t>
            </a:r>
            <a:r>
              <a:rPr dirty="0" u="heavy" sz="2400" spc="-4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400">
                <a:uFill>
                  <a:solidFill>
                    <a:srgbClr val="EC2814"/>
                  </a:solidFill>
                </a:uFill>
              </a:rPr>
              <a:t>objetos</a:t>
            </a:r>
            <a:r>
              <a:rPr dirty="0" u="heavy" sz="2400" spc="-4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400">
                <a:uFill>
                  <a:solidFill>
                    <a:srgbClr val="EC2814"/>
                  </a:solidFill>
                </a:uFill>
              </a:rPr>
              <a:t>de</a:t>
            </a:r>
            <a:r>
              <a:rPr dirty="0" u="heavy" sz="2400" spc="-3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400">
                <a:uFill>
                  <a:solidFill>
                    <a:srgbClr val="EC2814"/>
                  </a:solidFill>
                </a:uFill>
              </a:rPr>
              <a:t>bases</a:t>
            </a:r>
            <a:r>
              <a:rPr dirty="0" u="heavy" sz="2400" spc="-4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400">
                <a:uFill>
                  <a:solidFill>
                    <a:srgbClr val="EC2814"/>
                  </a:solidFill>
                </a:uFill>
              </a:rPr>
              <a:t>de</a:t>
            </a:r>
            <a:r>
              <a:rPr dirty="0" u="heavy" sz="2400" spc="-3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z="2400" spc="-10">
                <a:uFill>
                  <a:solidFill>
                    <a:srgbClr val="EC2814"/>
                  </a:solidFill>
                </a:uFill>
              </a:rPr>
              <a:t>datos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Seguridad</a:t>
            </a:r>
            <a:r>
              <a:rPr dirty="0" spc="-30"/>
              <a:t> </a:t>
            </a:r>
            <a:r>
              <a:rPr dirty="0"/>
              <a:t>de</a:t>
            </a:r>
            <a:r>
              <a:rPr dirty="0" spc="-25"/>
              <a:t> </a:t>
            </a:r>
            <a:r>
              <a:rPr dirty="0"/>
              <a:t>la</a:t>
            </a:r>
            <a:r>
              <a:rPr dirty="0" spc="-45"/>
              <a:t> </a:t>
            </a:r>
            <a:r>
              <a:rPr dirty="0"/>
              <a:t>Base</a:t>
            </a:r>
            <a:r>
              <a:rPr dirty="0" spc="-55"/>
              <a:t> </a:t>
            </a:r>
            <a:r>
              <a:rPr dirty="0"/>
              <a:t>de</a:t>
            </a:r>
            <a:r>
              <a:rPr dirty="0" spc="-45"/>
              <a:t> </a:t>
            </a:r>
            <a:r>
              <a:rPr dirty="0" spc="-10"/>
              <a:t>Datos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17-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Control</a:t>
            </a:r>
            <a:r>
              <a:rPr dirty="0" spc="-30"/>
              <a:t> </a:t>
            </a:r>
            <a:r>
              <a:rPr dirty="0"/>
              <a:t>del</a:t>
            </a:r>
            <a:r>
              <a:rPr dirty="0" spc="-25"/>
              <a:t> </a:t>
            </a:r>
            <a:r>
              <a:rPr dirty="0"/>
              <a:t>Acceso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25"/>
              <a:t> </a:t>
            </a:r>
            <a:r>
              <a:rPr dirty="0"/>
              <a:t>los</a:t>
            </a:r>
            <a:r>
              <a:rPr dirty="0" spc="-20"/>
              <a:t> </a:t>
            </a:r>
            <a:r>
              <a:rPr dirty="0" spc="-10"/>
              <a:t>Usuarios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6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381889"/>
            <a:ext cx="8036559" cy="4414520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marL="182880" marR="5080" indent="-170815">
              <a:lnSpc>
                <a:spcPct val="80000"/>
              </a:lnSpc>
              <a:spcBef>
                <a:spcPts val="76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seguridad</a:t>
            </a:r>
            <a:r>
              <a:rPr dirty="0" sz="28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base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clasificar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en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dos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categorías:</a:t>
            </a:r>
            <a:endParaRPr sz="2800">
              <a:latin typeface="Calibri"/>
              <a:cs typeface="Calibri"/>
            </a:endParaRPr>
          </a:p>
          <a:p>
            <a:pPr marL="355600">
              <a:lnSpc>
                <a:spcPts val="2635"/>
              </a:lnSpc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Seguridad</a:t>
            </a:r>
            <a:r>
              <a:rPr dirty="0" u="heavy" sz="2400" spc="1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del</a:t>
            </a:r>
            <a:r>
              <a:rPr dirty="0" u="heavy" sz="2400" spc="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sistema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ts val="2795"/>
              </a:lnSpc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Seguridad</a:t>
            </a:r>
            <a:r>
              <a:rPr dirty="0" u="heavy" sz="2400" spc="1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400" spc="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datos</a:t>
            </a:r>
            <a:endParaRPr sz="2400">
              <a:latin typeface="Calibri"/>
              <a:cs typeface="Calibri"/>
            </a:endParaRPr>
          </a:p>
          <a:p>
            <a:pPr marL="159385" marR="99695" indent="-147320">
              <a:lnSpc>
                <a:spcPct val="80000"/>
              </a:lnSpc>
              <a:spcBef>
                <a:spcPts val="77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heavy" sz="2800" spc="-51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seguridad</a:t>
            </a:r>
            <a:r>
              <a:rPr dirty="0" u="heavy" sz="2800" spc="-1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del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sistema</a:t>
            </a:r>
            <a:r>
              <a:rPr dirty="0" u="heavy" sz="2800" spc="-3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abarca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el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acceso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base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datos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en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el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nivel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del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sistema,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como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creación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usuarios,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nombres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usuario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y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contraseñas,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asignación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3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espacio</a:t>
            </a:r>
            <a:r>
              <a:rPr dirty="0" u="heavy" sz="2800" spc="-3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en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disco</a:t>
            </a:r>
            <a:r>
              <a:rPr dirty="0" u="heavy" sz="28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los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usuarios</a:t>
            </a:r>
            <a:r>
              <a:rPr dirty="0" u="heavy" sz="2800" spc="-1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y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concesión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los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privilegios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del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sistema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que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los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usuarios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pueden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llevar</a:t>
            </a:r>
            <a:r>
              <a:rPr dirty="0" u="heavy" sz="2800" spc="-9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cabo,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como</a:t>
            </a:r>
            <a:r>
              <a:rPr dirty="0" u="heavy" sz="2800" spc="-8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crear</a:t>
            </a:r>
            <a:r>
              <a:rPr dirty="0" u="heavy" sz="2800" spc="-8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tablas,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vistas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y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secuencias</a:t>
            </a:r>
            <a:endParaRPr sz="280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140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Existen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más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100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privilegios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del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sistema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distintos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Seguridad</a:t>
            </a:r>
            <a:r>
              <a:rPr dirty="0" spc="-30"/>
              <a:t> </a:t>
            </a:r>
            <a:r>
              <a:rPr dirty="0"/>
              <a:t>de</a:t>
            </a:r>
            <a:r>
              <a:rPr dirty="0" spc="-25"/>
              <a:t> </a:t>
            </a:r>
            <a:r>
              <a:rPr dirty="0"/>
              <a:t>la</a:t>
            </a:r>
            <a:r>
              <a:rPr dirty="0" spc="-45"/>
              <a:t> </a:t>
            </a:r>
            <a:r>
              <a:rPr dirty="0"/>
              <a:t>Base</a:t>
            </a:r>
            <a:r>
              <a:rPr dirty="0" spc="-55"/>
              <a:t> </a:t>
            </a:r>
            <a:r>
              <a:rPr dirty="0"/>
              <a:t>de</a:t>
            </a:r>
            <a:r>
              <a:rPr dirty="0" spc="-45"/>
              <a:t> </a:t>
            </a:r>
            <a:r>
              <a:rPr dirty="0" spc="-10"/>
              <a:t>Datos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heavy">
                <a:uFill>
                  <a:solidFill>
                    <a:srgbClr val="EC2814"/>
                  </a:solidFill>
                </a:uFill>
              </a:rPr>
              <a:t>La</a:t>
            </a:r>
            <a:r>
              <a:rPr dirty="0" u="heavy" spc="-9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seguridad</a:t>
            </a:r>
            <a:r>
              <a:rPr dirty="0" u="heavy" spc="-5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de</a:t>
            </a:r>
            <a:r>
              <a:rPr dirty="0" u="heavy" spc="-7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datos</a:t>
            </a:r>
            <a:r>
              <a:rPr dirty="0" spc="-75"/>
              <a:t> </a:t>
            </a:r>
            <a:r>
              <a:rPr dirty="0"/>
              <a:t>(también</a:t>
            </a:r>
            <a:r>
              <a:rPr dirty="0" spc="-60"/>
              <a:t> </a:t>
            </a:r>
            <a:r>
              <a:rPr dirty="0"/>
              <a:t>denominada</a:t>
            </a:r>
            <a:r>
              <a:rPr dirty="0" spc="-45"/>
              <a:t> </a:t>
            </a:r>
            <a:r>
              <a:rPr dirty="0" spc="-10"/>
              <a:t>seguridad </a:t>
            </a:r>
            <a:r>
              <a:rPr dirty="0" spc="-10"/>
              <a:t>	</a:t>
            </a:r>
            <a:r>
              <a:rPr dirty="0"/>
              <a:t>de</a:t>
            </a:r>
            <a:r>
              <a:rPr dirty="0" spc="-80"/>
              <a:t> </a:t>
            </a:r>
            <a:r>
              <a:rPr dirty="0"/>
              <a:t>objetos)</a:t>
            </a:r>
            <a:r>
              <a:rPr dirty="0" spc="-75"/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está</a:t>
            </a:r>
            <a:r>
              <a:rPr dirty="0" u="heavy" spc="-8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relacionada</a:t>
            </a:r>
            <a:r>
              <a:rPr dirty="0" u="heavy" spc="-8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con</a:t>
            </a:r>
            <a:r>
              <a:rPr dirty="0" u="heavy" spc="-8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los</a:t>
            </a:r>
            <a:r>
              <a:rPr dirty="0" u="heavy" spc="-8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privilegios</a:t>
            </a:r>
            <a:r>
              <a:rPr dirty="0" u="heavy" spc="-6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pc="-25">
                <a:uFill>
                  <a:solidFill>
                    <a:srgbClr val="EC2814"/>
                  </a:solidFill>
                </a:uFill>
              </a:rPr>
              <a:t>de</a:t>
            </a:r>
            <a:r>
              <a:rPr dirty="0" spc="-25"/>
              <a:t> </a:t>
            </a:r>
            <a:r>
              <a:rPr dirty="0" spc="-25"/>
              <a:t>	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objeto</a:t>
            </a:r>
            <a:r>
              <a:rPr dirty="0" u="heavy" spc="-5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que</a:t>
            </a:r>
            <a:r>
              <a:rPr dirty="0" u="heavy" spc="-2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abarca</a:t>
            </a:r>
            <a:r>
              <a:rPr dirty="0" u="heavy" spc="-5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el</a:t>
            </a:r>
            <a:r>
              <a:rPr dirty="0" u="heavy" spc="-5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acceso</a:t>
            </a:r>
            <a:r>
              <a:rPr dirty="0" u="heavy" spc="-5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y</a:t>
            </a:r>
            <a:r>
              <a:rPr dirty="0" u="heavy" spc="-5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el</a:t>
            </a:r>
            <a:r>
              <a:rPr dirty="0" u="heavy" spc="-5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uso</a:t>
            </a:r>
            <a:r>
              <a:rPr dirty="0" u="heavy" spc="-2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de</a:t>
            </a:r>
            <a:r>
              <a:rPr dirty="0" u="heavy" spc="-5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los</a:t>
            </a:r>
            <a:r>
              <a:rPr dirty="0" u="heavy" spc="-4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objetos</a:t>
            </a:r>
            <a:r>
              <a:rPr dirty="0" u="heavy" spc="-4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pc="-25">
                <a:uFill>
                  <a:solidFill>
                    <a:srgbClr val="EC2814"/>
                  </a:solidFill>
                </a:uFill>
              </a:rPr>
              <a:t>de</a:t>
            </a:r>
            <a:r>
              <a:rPr dirty="0" spc="-25"/>
              <a:t> </a:t>
            </a:r>
            <a:r>
              <a:rPr dirty="0" spc="-25"/>
              <a:t>	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base</a:t>
            </a:r>
            <a:r>
              <a:rPr dirty="0" u="heavy" spc="-4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de</a:t>
            </a:r>
            <a:r>
              <a:rPr dirty="0" u="heavy" spc="-5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datos,</a:t>
            </a:r>
            <a:r>
              <a:rPr dirty="0" u="heavy" spc="-2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así</a:t>
            </a:r>
            <a:r>
              <a:rPr dirty="0" u="heavy" spc="-7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como</a:t>
            </a:r>
            <a:r>
              <a:rPr dirty="0" u="heavy" spc="-4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las</a:t>
            </a:r>
            <a:r>
              <a:rPr dirty="0" u="heavy" spc="-4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acciones</a:t>
            </a:r>
            <a:r>
              <a:rPr dirty="0" u="heavy" spc="-4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que</a:t>
            </a:r>
            <a:r>
              <a:rPr dirty="0" u="heavy" spc="-4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los</a:t>
            </a:r>
            <a:r>
              <a:rPr dirty="0" u="heavy" spc="-4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pc="-10">
                <a:uFill>
                  <a:solidFill>
                    <a:srgbClr val="EC2814"/>
                  </a:solidFill>
                </a:uFill>
              </a:rPr>
              <a:t>usuarios</a:t>
            </a:r>
            <a:r>
              <a:rPr dirty="0" spc="-10"/>
              <a:t> </a:t>
            </a:r>
            <a:r>
              <a:rPr dirty="0" spc="-10"/>
              <a:t>	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pueden</a:t>
            </a:r>
            <a:r>
              <a:rPr dirty="0" u="heavy" spc="-6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realizar</a:t>
            </a:r>
            <a:r>
              <a:rPr dirty="0" u="heavy" spc="-10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sobre</a:t>
            </a:r>
            <a:r>
              <a:rPr dirty="0" u="heavy" spc="-6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los</a:t>
            </a:r>
            <a:r>
              <a:rPr dirty="0" u="heavy" spc="-8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pc="-10">
                <a:uFill>
                  <a:solidFill>
                    <a:srgbClr val="EC2814"/>
                  </a:solidFill>
                </a:uFill>
              </a:rPr>
              <a:t>objetos</a:t>
            </a:r>
          </a:p>
          <a:p>
            <a:pPr marL="182880" marR="537210" indent="-170815">
              <a:lnSpc>
                <a:spcPts val="3030"/>
              </a:lnSpc>
              <a:spcBef>
                <a:spcPts val="77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/>
              <a:t>Estos</a:t>
            </a:r>
            <a:r>
              <a:rPr dirty="0" spc="-105"/>
              <a:t> </a:t>
            </a:r>
            <a:r>
              <a:rPr dirty="0"/>
              <a:t>privilegios</a:t>
            </a:r>
            <a:r>
              <a:rPr dirty="0" spc="-85"/>
              <a:t> </a:t>
            </a:r>
            <a:r>
              <a:rPr dirty="0"/>
              <a:t>incluyen</a:t>
            </a:r>
            <a:r>
              <a:rPr dirty="0" spc="-85"/>
              <a:t> </a:t>
            </a:r>
            <a:r>
              <a:rPr dirty="0"/>
              <a:t>poder</a:t>
            </a:r>
            <a:r>
              <a:rPr dirty="0" spc="-90"/>
              <a:t> </a:t>
            </a:r>
            <a:r>
              <a:rPr dirty="0"/>
              <a:t>ejecutar</a:t>
            </a:r>
            <a:r>
              <a:rPr dirty="0" spc="-114"/>
              <a:t> </a:t>
            </a:r>
            <a:r>
              <a:rPr dirty="0" spc="-10"/>
              <a:t>sentencias </a:t>
            </a:r>
            <a:r>
              <a:rPr dirty="0" spc="-10"/>
              <a:t>	</a:t>
            </a:r>
            <a:r>
              <a:rPr dirty="0" spc="-25"/>
              <a:t>DML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3512820" y="4274820"/>
            <a:ext cx="2118360" cy="2583180"/>
            <a:chOff x="3512820" y="4274820"/>
            <a:chExt cx="2118360" cy="258318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12820" y="5623560"/>
              <a:ext cx="2118360" cy="1234440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28060" y="4274820"/>
              <a:ext cx="2087879" cy="1359408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17-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Control</a:t>
            </a:r>
            <a:r>
              <a:rPr dirty="0" spc="-30"/>
              <a:t> </a:t>
            </a:r>
            <a:r>
              <a:rPr dirty="0"/>
              <a:t>del</a:t>
            </a:r>
            <a:r>
              <a:rPr dirty="0" spc="-25"/>
              <a:t> </a:t>
            </a:r>
            <a:r>
              <a:rPr dirty="0"/>
              <a:t>Acceso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25"/>
              <a:t> </a:t>
            </a:r>
            <a:r>
              <a:rPr dirty="0"/>
              <a:t>los</a:t>
            </a:r>
            <a:r>
              <a:rPr dirty="0" spc="-20"/>
              <a:t> </a:t>
            </a:r>
            <a:r>
              <a:rPr dirty="0" spc="-10"/>
              <a:t>Usuarios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7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0E2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668451" y="3956354"/>
            <a:ext cx="7977505" cy="675005"/>
          </a:xfrm>
          <a:custGeom>
            <a:avLst/>
            <a:gdLst/>
            <a:ahLst/>
            <a:cxnLst/>
            <a:rect l="l" t="t" r="r" b="b"/>
            <a:pathLst>
              <a:path w="7977505" h="675004">
                <a:moveTo>
                  <a:pt x="7977505" y="180555"/>
                </a:moveTo>
                <a:lnTo>
                  <a:pt x="7972450" y="127114"/>
                </a:lnTo>
                <a:lnTo>
                  <a:pt x="7958734" y="78003"/>
                </a:lnTo>
                <a:lnTo>
                  <a:pt x="7938503" y="37553"/>
                </a:lnTo>
                <a:lnTo>
                  <a:pt x="7887221" y="0"/>
                </a:lnTo>
                <a:lnTo>
                  <a:pt x="90284" y="0"/>
                </a:lnTo>
                <a:lnTo>
                  <a:pt x="39014" y="37553"/>
                </a:lnTo>
                <a:lnTo>
                  <a:pt x="18783" y="78003"/>
                </a:lnTo>
                <a:lnTo>
                  <a:pt x="5067" y="127114"/>
                </a:lnTo>
                <a:lnTo>
                  <a:pt x="0" y="180555"/>
                </a:lnTo>
                <a:lnTo>
                  <a:pt x="5067" y="234010"/>
                </a:lnTo>
                <a:lnTo>
                  <a:pt x="18783" y="283121"/>
                </a:lnTo>
                <a:lnTo>
                  <a:pt x="39014" y="323570"/>
                </a:lnTo>
                <a:lnTo>
                  <a:pt x="53886" y="340207"/>
                </a:lnTo>
                <a:lnTo>
                  <a:pt x="38239" y="357695"/>
                </a:lnTo>
                <a:lnTo>
                  <a:pt x="18415" y="397344"/>
                </a:lnTo>
                <a:lnTo>
                  <a:pt x="4965" y="445490"/>
                </a:lnTo>
                <a:lnTo>
                  <a:pt x="0" y="497878"/>
                </a:lnTo>
                <a:lnTo>
                  <a:pt x="4965" y="550265"/>
                </a:lnTo>
                <a:lnTo>
                  <a:pt x="18415" y="598411"/>
                </a:lnTo>
                <a:lnTo>
                  <a:pt x="38239" y="638060"/>
                </a:lnTo>
                <a:lnTo>
                  <a:pt x="62306" y="664959"/>
                </a:lnTo>
                <a:lnTo>
                  <a:pt x="88506" y="674865"/>
                </a:lnTo>
                <a:lnTo>
                  <a:pt x="4421632" y="674865"/>
                </a:lnTo>
                <a:lnTo>
                  <a:pt x="4471911" y="638060"/>
                </a:lnTo>
                <a:lnTo>
                  <a:pt x="4491723" y="598411"/>
                </a:lnTo>
                <a:lnTo>
                  <a:pt x="4505185" y="550265"/>
                </a:lnTo>
                <a:lnTo>
                  <a:pt x="4510138" y="497878"/>
                </a:lnTo>
                <a:lnTo>
                  <a:pt x="4505185" y="445490"/>
                </a:lnTo>
                <a:lnTo>
                  <a:pt x="4491723" y="397344"/>
                </a:lnTo>
                <a:lnTo>
                  <a:pt x="4473613" y="361124"/>
                </a:lnTo>
                <a:lnTo>
                  <a:pt x="7887221" y="361124"/>
                </a:lnTo>
                <a:lnTo>
                  <a:pt x="7913954" y="351015"/>
                </a:lnTo>
                <a:lnTo>
                  <a:pt x="7938503" y="323570"/>
                </a:lnTo>
                <a:lnTo>
                  <a:pt x="7958734" y="283121"/>
                </a:lnTo>
                <a:lnTo>
                  <a:pt x="7972450" y="234010"/>
                </a:lnTo>
                <a:lnTo>
                  <a:pt x="7977505" y="180555"/>
                </a:lnTo>
                <a:close/>
              </a:path>
            </a:pathLst>
          </a:custGeom>
          <a:solidFill>
            <a:srgbClr val="69B0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668451" y="3220262"/>
            <a:ext cx="7849234" cy="675005"/>
          </a:xfrm>
          <a:custGeom>
            <a:avLst/>
            <a:gdLst/>
            <a:ahLst/>
            <a:cxnLst/>
            <a:rect l="l" t="t" r="r" b="b"/>
            <a:pathLst>
              <a:path w="7849234" h="675004">
                <a:moveTo>
                  <a:pt x="7849222" y="180555"/>
                </a:moveTo>
                <a:lnTo>
                  <a:pt x="7844168" y="127114"/>
                </a:lnTo>
                <a:lnTo>
                  <a:pt x="7830452" y="78003"/>
                </a:lnTo>
                <a:lnTo>
                  <a:pt x="7810220" y="37553"/>
                </a:lnTo>
                <a:lnTo>
                  <a:pt x="7758951" y="0"/>
                </a:lnTo>
                <a:lnTo>
                  <a:pt x="90284" y="0"/>
                </a:lnTo>
                <a:lnTo>
                  <a:pt x="39014" y="37553"/>
                </a:lnTo>
                <a:lnTo>
                  <a:pt x="18783" y="78003"/>
                </a:lnTo>
                <a:lnTo>
                  <a:pt x="5067" y="127114"/>
                </a:lnTo>
                <a:lnTo>
                  <a:pt x="0" y="180555"/>
                </a:lnTo>
                <a:lnTo>
                  <a:pt x="5067" y="234010"/>
                </a:lnTo>
                <a:lnTo>
                  <a:pt x="18783" y="283121"/>
                </a:lnTo>
                <a:lnTo>
                  <a:pt x="39014" y="323570"/>
                </a:lnTo>
                <a:lnTo>
                  <a:pt x="53886" y="340207"/>
                </a:lnTo>
                <a:lnTo>
                  <a:pt x="38239" y="357695"/>
                </a:lnTo>
                <a:lnTo>
                  <a:pt x="18415" y="397344"/>
                </a:lnTo>
                <a:lnTo>
                  <a:pt x="4965" y="445490"/>
                </a:lnTo>
                <a:lnTo>
                  <a:pt x="0" y="497878"/>
                </a:lnTo>
                <a:lnTo>
                  <a:pt x="4965" y="550265"/>
                </a:lnTo>
                <a:lnTo>
                  <a:pt x="18415" y="598411"/>
                </a:lnTo>
                <a:lnTo>
                  <a:pt x="38239" y="638060"/>
                </a:lnTo>
                <a:lnTo>
                  <a:pt x="62306" y="664959"/>
                </a:lnTo>
                <a:lnTo>
                  <a:pt x="88506" y="674865"/>
                </a:lnTo>
                <a:lnTo>
                  <a:pt x="3283343" y="674865"/>
                </a:lnTo>
                <a:lnTo>
                  <a:pt x="3333610" y="638060"/>
                </a:lnTo>
                <a:lnTo>
                  <a:pt x="3353435" y="598411"/>
                </a:lnTo>
                <a:lnTo>
                  <a:pt x="3366884" y="550265"/>
                </a:lnTo>
                <a:lnTo>
                  <a:pt x="3371837" y="497878"/>
                </a:lnTo>
                <a:lnTo>
                  <a:pt x="3366884" y="445490"/>
                </a:lnTo>
                <a:lnTo>
                  <a:pt x="3353435" y="397344"/>
                </a:lnTo>
                <a:lnTo>
                  <a:pt x="3335324" y="361124"/>
                </a:lnTo>
                <a:lnTo>
                  <a:pt x="7758951" y="361124"/>
                </a:lnTo>
                <a:lnTo>
                  <a:pt x="7785671" y="351015"/>
                </a:lnTo>
                <a:lnTo>
                  <a:pt x="7810220" y="323570"/>
                </a:lnTo>
                <a:lnTo>
                  <a:pt x="7830452" y="283121"/>
                </a:lnTo>
                <a:lnTo>
                  <a:pt x="7844168" y="234010"/>
                </a:lnTo>
                <a:lnTo>
                  <a:pt x="7849222" y="180555"/>
                </a:lnTo>
                <a:close/>
              </a:path>
            </a:pathLst>
          </a:custGeom>
          <a:solidFill>
            <a:srgbClr val="FACD5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254507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5384" y="6178295"/>
            <a:ext cx="1258824" cy="42062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Privilegios</a:t>
            </a:r>
            <a:r>
              <a:rPr dirty="0" spc="-45"/>
              <a:t> </a:t>
            </a:r>
            <a:r>
              <a:rPr dirty="0"/>
              <a:t>y</a:t>
            </a:r>
            <a:r>
              <a:rPr dirty="0" spc="-65"/>
              <a:t> </a:t>
            </a:r>
            <a:r>
              <a:rPr dirty="0" spc="-10"/>
              <a:t>Esquemas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17-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Control</a:t>
            </a:r>
            <a:r>
              <a:rPr dirty="0" spc="-30"/>
              <a:t> </a:t>
            </a:r>
            <a:r>
              <a:rPr dirty="0"/>
              <a:t>del</a:t>
            </a:r>
            <a:r>
              <a:rPr dirty="0" spc="-25"/>
              <a:t> </a:t>
            </a:r>
            <a:r>
              <a:rPr dirty="0"/>
              <a:t>Acceso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25"/>
              <a:t> </a:t>
            </a:r>
            <a:r>
              <a:rPr dirty="0"/>
              <a:t>los</a:t>
            </a:r>
            <a:r>
              <a:rPr dirty="0" spc="-20"/>
              <a:t> </a:t>
            </a:r>
            <a:r>
              <a:rPr dirty="0" spc="-10"/>
              <a:t>Usuarios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8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483552" y="1387985"/>
            <a:ext cx="8174990" cy="4316730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algn="just" marL="184785" marR="581660" indent="-172720">
              <a:lnSpc>
                <a:spcPts val="2500"/>
              </a:lnSpc>
              <a:spcBef>
                <a:spcPts val="70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Los</a:t>
            </a:r>
            <a:r>
              <a:rPr dirty="0" u="heavy" sz="26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privilegios</a:t>
            </a:r>
            <a:r>
              <a:rPr dirty="0" u="heavy" sz="26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son</a:t>
            </a:r>
            <a:r>
              <a:rPr dirty="0" u="heavy" sz="26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el</a:t>
            </a:r>
            <a:r>
              <a:rPr dirty="0" u="heavy" sz="26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derecho</a:t>
            </a:r>
            <a:r>
              <a:rPr dirty="0" u="heavy" sz="26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</a:t>
            </a:r>
            <a:r>
              <a:rPr dirty="0" u="heavy" sz="26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ejecutar</a:t>
            </a:r>
            <a:r>
              <a:rPr dirty="0" u="heavy" sz="26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sentencias</a:t>
            </a:r>
            <a:r>
              <a:rPr dirty="0" u="heavy" sz="26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6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SQL</a:t>
            </a:r>
            <a:r>
              <a:rPr dirty="0" sz="26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6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determinadas</a:t>
            </a:r>
            <a:endParaRPr sz="2600">
              <a:latin typeface="Calibri"/>
              <a:cs typeface="Calibri"/>
            </a:endParaRPr>
          </a:p>
          <a:p>
            <a:pPr algn="just" marL="184785" marR="869315" indent="-172720">
              <a:lnSpc>
                <a:spcPts val="250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6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DBA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6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6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usuario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alto</a:t>
            </a:r>
            <a:r>
              <a:rPr dirty="0" sz="26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nivel</a:t>
            </a:r>
            <a:r>
              <a:rPr dirty="0" sz="26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6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capacidad</a:t>
            </a:r>
            <a:r>
              <a:rPr dirty="0" sz="26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20">
                <a:solidFill>
                  <a:srgbClr val="4E3629"/>
                </a:solidFill>
                <a:latin typeface="Calibri"/>
                <a:cs typeface="Calibri"/>
              </a:rPr>
              <a:t>para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otorgar</a:t>
            </a:r>
            <a:r>
              <a:rPr dirty="0" sz="26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6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6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usuarios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acceso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6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6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base</a:t>
            </a:r>
            <a:r>
              <a:rPr dirty="0" sz="26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6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25">
                <a:solidFill>
                  <a:srgbClr val="4E3629"/>
                </a:solidFill>
                <a:latin typeface="Calibri"/>
                <a:cs typeface="Calibri"/>
              </a:rPr>
              <a:t>sus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objetos</a:t>
            </a:r>
            <a:endParaRPr sz="2600">
              <a:latin typeface="Calibri"/>
              <a:cs typeface="Calibri"/>
            </a:endParaRPr>
          </a:p>
          <a:p>
            <a:pPr marL="184785" marR="132080" indent="-172720">
              <a:lnSpc>
                <a:spcPts val="2500"/>
              </a:lnSpc>
              <a:spcBef>
                <a:spcPts val="78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6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usuarios</a:t>
            </a:r>
            <a:r>
              <a:rPr dirty="0" sz="26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necesitan</a:t>
            </a:r>
            <a:r>
              <a:rPr dirty="0" sz="26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privilegios</a:t>
            </a:r>
            <a:r>
              <a:rPr dirty="0" sz="26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del</a:t>
            </a:r>
            <a:r>
              <a:rPr dirty="0" sz="26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sistema</a:t>
            </a:r>
            <a:r>
              <a:rPr dirty="0" sz="26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obtener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acceso</a:t>
            </a:r>
            <a:r>
              <a:rPr dirty="0" sz="26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6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6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base</a:t>
            </a:r>
            <a:r>
              <a:rPr dirty="0" sz="26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6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endParaRPr sz="2600">
              <a:latin typeface="Calibri"/>
              <a:cs typeface="Calibri"/>
            </a:endParaRPr>
          </a:p>
          <a:p>
            <a:pPr marL="184785" marR="5080" indent="-172720">
              <a:lnSpc>
                <a:spcPts val="250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Necesitan</a:t>
            </a:r>
            <a:r>
              <a:rPr dirty="0" sz="26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privilegios</a:t>
            </a:r>
            <a:r>
              <a:rPr dirty="0" sz="26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6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objeto</a:t>
            </a:r>
            <a:r>
              <a:rPr dirty="0" sz="26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6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manipular</a:t>
            </a:r>
            <a:r>
              <a:rPr dirty="0" sz="26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contenido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6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6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objetos</a:t>
            </a:r>
            <a:r>
              <a:rPr dirty="0" sz="26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6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6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base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6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endParaRPr sz="2600">
              <a:latin typeface="Calibri"/>
              <a:cs typeface="Calibri"/>
            </a:endParaRPr>
          </a:p>
          <a:p>
            <a:pPr marL="184785" marR="626110" indent="-172720">
              <a:lnSpc>
                <a:spcPts val="250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6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6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usuarios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también</a:t>
            </a:r>
            <a:r>
              <a:rPr dirty="0" sz="26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6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les</a:t>
            </a:r>
            <a:r>
              <a:rPr dirty="0" sz="26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da</a:t>
            </a:r>
            <a:r>
              <a:rPr dirty="0" sz="26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6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privilegio</a:t>
            </a:r>
            <a:r>
              <a:rPr dirty="0" sz="26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6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otorgar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privilegios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adicionales</a:t>
            </a:r>
            <a:r>
              <a:rPr dirty="0" sz="26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6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otros</a:t>
            </a:r>
            <a:r>
              <a:rPr dirty="0" sz="26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usuarios</a:t>
            </a:r>
            <a:r>
              <a:rPr dirty="0" sz="26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6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6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6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roles,</a:t>
            </a:r>
            <a:endParaRPr sz="2600">
              <a:latin typeface="Calibri"/>
              <a:cs typeface="Calibri"/>
            </a:endParaRPr>
          </a:p>
          <a:p>
            <a:pPr marL="184785">
              <a:lnSpc>
                <a:spcPts val="2515"/>
              </a:lnSpc>
            </a:pP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6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son</a:t>
            </a:r>
            <a:r>
              <a:rPr dirty="0" sz="26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grupos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6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nombres</a:t>
            </a:r>
            <a:r>
              <a:rPr dirty="0" sz="26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privilegios</a:t>
            </a:r>
            <a:r>
              <a:rPr dirty="0" sz="26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relacionados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Privilegios</a:t>
            </a:r>
            <a:r>
              <a:rPr dirty="0" spc="-45"/>
              <a:t> </a:t>
            </a:r>
            <a:r>
              <a:rPr dirty="0"/>
              <a:t>y</a:t>
            </a:r>
            <a:r>
              <a:rPr dirty="0" spc="-65"/>
              <a:t> </a:t>
            </a:r>
            <a:r>
              <a:rPr dirty="0" spc="-10"/>
              <a:t>Esquemas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17-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Control</a:t>
            </a:r>
            <a:r>
              <a:rPr dirty="0" spc="-30"/>
              <a:t> </a:t>
            </a:r>
            <a:r>
              <a:rPr dirty="0"/>
              <a:t>del</a:t>
            </a:r>
            <a:r>
              <a:rPr dirty="0" spc="-25"/>
              <a:t> </a:t>
            </a:r>
            <a:r>
              <a:rPr dirty="0"/>
              <a:t>Acceso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25"/>
              <a:t> </a:t>
            </a:r>
            <a:r>
              <a:rPr dirty="0"/>
              <a:t>los</a:t>
            </a:r>
            <a:r>
              <a:rPr dirty="0" spc="-20"/>
              <a:t> </a:t>
            </a:r>
            <a:r>
              <a:rPr dirty="0" spc="-10"/>
              <a:t>Usuarios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511415" cy="344487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59385" marR="65405" indent="-147320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heavy" sz="2800" spc="-5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esquema</a:t>
            </a:r>
            <a:r>
              <a:rPr dirty="0" u="heavy" sz="28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es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una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recopilación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objetos,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como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tablas,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vistas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y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secuencias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esquema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propiedad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usuario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base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tiene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mismo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nombre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usuario</a:t>
            </a:r>
            <a:endParaRPr sz="2800">
              <a:latin typeface="Calibri"/>
              <a:cs typeface="Calibri"/>
            </a:endParaRPr>
          </a:p>
          <a:p>
            <a:pPr marL="182880" marR="414020" indent="-170815">
              <a:lnSpc>
                <a:spcPts val="3030"/>
              </a:lnSpc>
              <a:spcBef>
                <a:spcPts val="79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curso,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su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nombre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esquema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una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combinación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su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país/estado,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escuela,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curso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y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número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alumno</a:t>
            </a:r>
            <a:endParaRPr sz="280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400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Por</a:t>
            </a:r>
            <a:r>
              <a:rPr dirty="0" sz="2800" spc="-10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ejemplo: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uswa_skhs_sql01_s22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Seguridad</a:t>
            </a:r>
            <a:r>
              <a:rPr dirty="0" spc="-65"/>
              <a:t> </a:t>
            </a:r>
            <a:r>
              <a:rPr dirty="0"/>
              <a:t>del</a:t>
            </a:r>
            <a:r>
              <a:rPr dirty="0" spc="-70"/>
              <a:t> </a:t>
            </a:r>
            <a:r>
              <a:rPr dirty="0" spc="-10"/>
              <a:t>Sistema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086090" cy="257683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algn="just" marL="159385" marR="535940" indent="-147320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heavy" sz="2800" spc="-5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Este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nivel</a:t>
            </a:r>
            <a:r>
              <a:rPr dirty="0" u="heavy" sz="2800" spc="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seguridad</a:t>
            </a:r>
            <a:r>
              <a:rPr dirty="0" u="heavy" sz="2800" spc="3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abarca</a:t>
            </a:r>
            <a:r>
              <a:rPr dirty="0" u="heavy" sz="2800" spc="-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el</a:t>
            </a:r>
            <a:r>
              <a:rPr dirty="0" u="heavy" sz="2800" spc="-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acceso</a:t>
            </a:r>
            <a:r>
              <a:rPr dirty="0" u="heavy" sz="2800" spc="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y</a:t>
            </a:r>
            <a:r>
              <a:rPr dirty="0" u="heavy" sz="2800" spc="-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uso</a:t>
            </a:r>
            <a:r>
              <a:rPr dirty="0" u="heavy" sz="2800" spc="3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 spc="-1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base</a:t>
            </a:r>
            <a:r>
              <a:rPr dirty="0" u="heavy" sz="2800" spc="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datos</a:t>
            </a:r>
            <a:r>
              <a:rPr dirty="0" u="heavy" sz="2800" spc="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en</a:t>
            </a:r>
            <a:r>
              <a:rPr dirty="0" u="heavy" sz="2800" spc="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el</a:t>
            </a:r>
            <a:r>
              <a:rPr dirty="0" u="heavy" sz="2800" spc="-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nivel</a:t>
            </a:r>
            <a:r>
              <a:rPr dirty="0" u="heavy" sz="2800" spc="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del</a:t>
            </a:r>
            <a:r>
              <a:rPr dirty="0" u="heavy" sz="2800" spc="-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sistema</a:t>
            </a:r>
            <a:endParaRPr sz="2800">
              <a:latin typeface="Calibri"/>
              <a:cs typeface="Calibri"/>
            </a:endParaRPr>
          </a:p>
          <a:p>
            <a:pPr algn="just" marL="183515" indent="-170815">
              <a:lnSpc>
                <a:spcPct val="100000"/>
              </a:lnSpc>
              <a:spcBef>
                <a:spcPts val="415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Existen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más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100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privilegios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del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sistema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distintos</a:t>
            </a:r>
            <a:endParaRPr sz="2800">
              <a:latin typeface="Calibri"/>
              <a:cs typeface="Calibri"/>
            </a:endParaRPr>
          </a:p>
          <a:p>
            <a:pPr algn="just" marL="182880" marR="5080" indent="-170815">
              <a:lnSpc>
                <a:spcPts val="3030"/>
              </a:lnSpc>
              <a:spcBef>
                <a:spcPts val="844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privilegios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del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sistema,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como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capacidad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crear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eliminar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usuarios,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eliminar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realizar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copias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seguridad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tablas,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solo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suele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tener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DBA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3512820" y="4274820"/>
            <a:ext cx="2118360" cy="2583180"/>
            <a:chOff x="3512820" y="4274820"/>
            <a:chExt cx="2118360" cy="258318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12820" y="5623560"/>
              <a:ext cx="2118360" cy="1234440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28060" y="4274820"/>
              <a:ext cx="2087879" cy="1359408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17-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Control</a:t>
            </a:r>
            <a:r>
              <a:rPr dirty="0" spc="-30"/>
              <a:t> </a:t>
            </a:r>
            <a:r>
              <a:rPr dirty="0"/>
              <a:t>del</a:t>
            </a:r>
            <a:r>
              <a:rPr dirty="0" spc="-25"/>
              <a:t> </a:t>
            </a:r>
            <a:r>
              <a:rPr dirty="0"/>
              <a:t>Acceso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25"/>
              <a:t> </a:t>
            </a:r>
            <a:r>
              <a:rPr dirty="0"/>
              <a:t>los</a:t>
            </a:r>
            <a:r>
              <a:rPr dirty="0" spc="-20"/>
              <a:t> </a:t>
            </a:r>
            <a:r>
              <a:rPr dirty="0" spc="-10"/>
              <a:t>Usuarios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10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Seguridad</a:t>
            </a:r>
            <a:r>
              <a:rPr dirty="0" spc="-65"/>
              <a:t> </a:t>
            </a:r>
            <a:r>
              <a:rPr dirty="0"/>
              <a:t>del</a:t>
            </a:r>
            <a:r>
              <a:rPr dirty="0" spc="-70"/>
              <a:t> </a:t>
            </a:r>
            <a:r>
              <a:rPr dirty="0" spc="-10"/>
              <a:t>Sistema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17-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Control</a:t>
            </a:r>
            <a:r>
              <a:rPr dirty="0" spc="-30"/>
              <a:t> </a:t>
            </a:r>
            <a:r>
              <a:rPr dirty="0"/>
              <a:t>del</a:t>
            </a:r>
            <a:r>
              <a:rPr dirty="0" spc="-25"/>
              <a:t> </a:t>
            </a:r>
            <a:r>
              <a:rPr dirty="0"/>
              <a:t>Acceso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25"/>
              <a:t> </a:t>
            </a:r>
            <a:r>
              <a:rPr dirty="0"/>
              <a:t>los</a:t>
            </a:r>
            <a:r>
              <a:rPr dirty="0" spc="-20"/>
              <a:t> </a:t>
            </a:r>
            <a:r>
              <a:rPr dirty="0" spc="-10"/>
              <a:t>Usuarios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11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096250" cy="170624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muestran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algunos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privilegios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del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sistema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DBA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normalmente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otorga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otros 	usuarios</a:t>
            </a:r>
            <a:endParaRPr sz="280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409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¿Desea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otro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usuario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borrar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sus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tablas?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508001" y="3154485"/>
          <a:ext cx="8435340" cy="29216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1730"/>
                <a:gridCol w="5934710"/>
              </a:tblGrid>
              <a:tr h="3194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5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Privilegio</a:t>
                      </a:r>
                      <a:r>
                        <a:rPr dirty="0" sz="1500" spc="-5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del</a:t>
                      </a:r>
                      <a:r>
                        <a:rPr dirty="0" sz="1500" spc="-35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Sistema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5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Operaciones</a:t>
                      </a:r>
                      <a:r>
                        <a:rPr dirty="0" sz="15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Autorizadas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5480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dirty="0" sz="15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CREATE</a:t>
                      </a:r>
                      <a:r>
                        <a:rPr dirty="0" sz="15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USER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1492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marR="739775">
                        <a:lnSpc>
                          <a:spcPct val="100699"/>
                        </a:lnSpc>
                        <a:spcBef>
                          <a:spcPts val="250"/>
                        </a:spcBef>
                      </a:pP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Los</a:t>
                      </a:r>
                      <a:r>
                        <a:rPr dirty="0" sz="15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usuarios</a:t>
                      </a:r>
                      <a:r>
                        <a:rPr dirty="0" sz="15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con</a:t>
                      </a:r>
                      <a:r>
                        <a:rPr dirty="0" sz="15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privilegios</a:t>
                      </a:r>
                      <a:r>
                        <a:rPr dirty="0" sz="15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pueden</a:t>
                      </a:r>
                      <a:r>
                        <a:rPr dirty="0" sz="15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crear</a:t>
                      </a:r>
                      <a:r>
                        <a:rPr dirty="0" sz="15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otros</a:t>
                      </a:r>
                      <a:r>
                        <a:rPr dirty="0" sz="15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usuarios</a:t>
                      </a:r>
                      <a:r>
                        <a:rPr dirty="0" sz="1500" spc="-5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5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Oracle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(privilegio</a:t>
                      </a:r>
                      <a:r>
                        <a:rPr dirty="0" sz="15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necesario</a:t>
                      </a:r>
                      <a:r>
                        <a:rPr dirty="0" sz="15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para</a:t>
                      </a:r>
                      <a:r>
                        <a:rPr dirty="0" sz="15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el</a:t>
                      </a:r>
                      <a:r>
                        <a:rPr dirty="0" sz="15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rol</a:t>
                      </a:r>
                      <a:r>
                        <a:rPr dirty="0" sz="15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DBA).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DROP</a:t>
                      </a:r>
                      <a:r>
                        <a:rPr dirty="0" sz="15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USER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El</a:t>
                      </a:r>
                      <a:r>
                        <a:rPr dirty="0" sz="15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usuario</a:t>
                      </a:r>
                      <a:r>
                        <a:rPr dirty="0" sz="1500" spc="-5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con</a:t>
                      </a:r>
                      <a:r>
                        <a:rPr dirty="0" sz="15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privilegios</a:t>
                      </a:r>
                      <a:r>
                        <a:rPr dirty="0" sz="15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puede</a:t>
                      </a:r>
                      <a:r>
                        <a:rPr dirty="0" sz="15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borrar</a:t>
                      </a:r>
                      <a:r>
                        <a:rPr dirty="0" sz="15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otro</a:t>
                      </a:r>
                      <a:r>
                        <a:rPr dirty="0" sz="15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usuario.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DROP</a:t>
                      </a:r>
                      <a:r>
                        <a:rPr dirty="0" sz="15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ANY</a:t>
                      </a:r>
                      <a:r>
                        <a:rPr dirty="0" sz="15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TABLE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El</a:t>
                      </a:r>
                      <a:r>
                        <a:rPr dirty="0" sz="15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usuario</a:t>
                      </a:r>
                      <a:r>
                        <a:rPr dirty="0" sz="1500" spc="-5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con</a:t>
                      </a:r>
                      <a:r>
                        <a:rPr dirty="0" sz="15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privilegios</a:t>
                      </a:r>
                      <a:r>
                        <a:rPr dirty="0" sz="15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puede</a:t>
                      </a:r>
                      <a:r>
                        <a:rPr dirty="0" sz="15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borrar</a:t>
                      </a:r>
                      <a:r>
                        <a:rPr dirty="0" sz="15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una</a:t>
                      </a:r>
                      <a:r>
                        <a:rPr dirty="0" sz="1500" spc="-5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tabla</a:t>
                      </a:r>
                      <a:r>
                        <a:rPr dirty="0" sz="15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en</a:t>
                      </a:r>
                      <a:r>
                        <a:rPr dirty="0" sz="15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cualquier</a:t>
                      </a:r>
                      <a:r>
                        <a:rPr dirty="0" sz="15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esquema.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5480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dirty="0" sz="15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BACKUP</a:t>
                      </a:r>
                      <a:r>
                        <a:rPr dirty="0" sz="15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ANY</a:t>
                      </a:r>
                      <a:r>
                        <a:rPr dirty="0" sz="15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TABLE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1492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marR="204470">
                        <a:lnSpc>
                          <a:spcPct val="100699"/>
                        </a:lnSpc>
                        <a:spcBef>
                          <a:spcPts val="250"/>
                        </a:spcBef>
                      </a:pP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El</a:t>
                      </a:r>
                      <a:r>
                        <a:rPr dirty="0" sz="15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usuario</a:t>
                      </a:r>
                      <a:r>
                        <a:rPr dirty="0" sz="15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con</a:t>
                      </a:r>
                      <a:r>
                        <a:rPr dirty="0" sz="15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privilegios</a:t>
                      </a:r>
                      <a:r>
                        <a:rPr dirty="0" sz="15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puede</a:t>
                      </a:r>
                      <a:r>
                        <a:rPr dirty="0" sz="15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realizar</a:t>
                      </a:r>
                      <a:r>
                        <a:rPr dirty="0" sz="15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una</a:t>
                      </a:r>
                      <a:r>
                        <a:rPr dirty="0" sz="15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copia</a:t>
                      </a:r>
                      <a:r>
                        <a:rPr dirty="0" sz="15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5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seguridad</a:t>
                      </a:r>
                      <a:r>
                        <a:rPr dirty="0" sz="15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5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tablas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en</a:t>
                      </a:r>
                      <a:r>
                        <a:rPr dirty="0" sz="15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cualquier</a:t>
                      </a:r>
                      <a:r>
                        <a:rPr dirty="0" sz="15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esquema</a:t>
                      </a:r>
                      <a:r>
                        <a:rPr dirty="0" sz="15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con</a:t>
                      </a:r>
                      <a:r>
                        <a:rPr dirty="0" sz="15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</a:t>
                      </a:r>
                      <a:r>
                        <a:rPr dirty="0" sz="15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utilidad</a:t>
                      </a:r>
                      <a:r>
                        <a:rPr dirty="0" sz="15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5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exportación.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5480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SELECT</a:t>
                      </a:r>
                      <a:r>
                        <a:rPr dirty="0" sz="15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ANY</a:t>
                      </a:r>
                      <a:r>
                        <a:rPr dirty="0" sz="15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TABLE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1492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marR="186055">
                        <a:lnSpc>
                          <a:spcPct val="100699"/>
                        </a:lnSpc>
                        <a:spcBef>
                          <a:spcPts val="250"/>
                        </a:spcBef>
                      </a:pP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El</a:t>
                      </a:r>
                      <a:r>
                        <a:rPr dirty="0" sz="15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usuario</a:t>
                      </a:r>
                      <a:r>
                        <a:rPr dirty="0" sz="1500" spc="-6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con</a:t>
                      </a:r>
                      <a:r>
                        <a:rPr dirty="0" sz="15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privilegios</a:t>
                      </a:r>
                      <a:r>
                        <a:rPr dirty="0" sz="15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puede</a:t>
                      </a:r>
                      <a:r>
                        <a:rPr dirty="0" sz="15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consultar</a:t>
                      </a:r>
                      <a:r>
                        <a:rPr dirty="0" sz="15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las</a:t>
                      </a:r>
                      <a:r>
                        <a:rPr dirty="0" sz="15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tablas,</a:t>
                      </a:r>
                      <a:r>
                        <a:rPr dirty="0" sz="1500" spc="-5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vistas</a:t>
                      </a:r>
                      <a:r>
                        <a:rPr dirty="0" sz="15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</a:t>
                      </a:r>
                      <a:r>
                        <a:rPr dirty="0" sz="15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instantáneas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en</a:t>
                      </a:r>
                      <a:r>
                        <a:rPr dirty="0" sz="15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cualquier</a:t>
                      </a:r>
                      <a:r>
                        <a:rPr dirty="0" sz="15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esquema.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5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CREATE</a:t>
                      </a:r>
                      <a:r>
                        <a:rPr dirty="0" sz="15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ANY</a:t>
                      </a:r>
                      <a:r>
                        <a:rPr dirty="0" sz="1500" spc="-5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TABLE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El</a:t>
                      </a:r>
                      <a:r>
                        <a:rPr dirty="0" sz="15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usuario</a:t>
                      </a:r>
                      <a:r>
                        <a:rPr dirty="0" sz="1500" spc="-5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con</a:t>
                      </a:r>
                      <a:r>
                        <a:rPr dirty="0" sz="15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privilegios</a:t>
                      </a:r>
                      <a:r>
                        <a:rPr dirty="0" sz="15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puede</a:t>
                      </a:r>
                      <a:r>
                        <a:rPr dirty="0" sz="15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crear</a:t>
                      </a:r>
                      <a:r>
                        <a:rPr dirty="0" sz="15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una</a:t>
                      </a:r>
                      <a:r>
                        <a:rPr dirty="0" sz="15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tabla</a:t>
                      </a:r>
                      <a:r>
                        <a:rPr dirty="0" sz="15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en</a:t>
                      </a:r>
                      <a:r>
                        <a:rPr dirty="0" sz="15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cualquier</a:t>
                      </a:r>
                      <a:r>
                        <a:rPr dirty="0" sz="15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esquema.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Privilegios</a:t>
            </a:r>
            <a:r>
              <a:rPr dirty="0" spc="-75"/>
              <a:t> </a:t>
            </a:r>
            <a:r>
              <a:rPr dirty="0"/>
              <a:t>del</a:t>
            </a:r>
            <a:r>
              <a:rPr dirty="0" spc="-80"/>
              <a:t> </a:t>
            </a:r>
            <a:r>
              <a:rPr dirty="0" spc="-10"/>
              <a:t>Sistema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568565" cy="267716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59385" marR="206375" indent="-147320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heavy" sz="2800" spc="-51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El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DBA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crea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el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usuario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mediante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ejecución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 spc="-3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sentenciaCREATE </a:t>
            </a:r>
            <a:r>
              <a:rPr dirty="0" u="heavy" sz="28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USER</a:t>
            </a:r>
            <a:endParaRPr sz="280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415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usuario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tiene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ningún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privilegio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punto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ts val="3030"/>
              </a:lnSpc>
              <a:spcBef>
                <a:spcPts val="844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DBA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otorgar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privilegios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necesarios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dicho 	usuario</a:t>
            </a:r>
            <a:endParaRPr sz="280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405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Sintaxis: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3552" y="4612769"/>
            <a:ext cx="146748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95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Ejemplo: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93191" y="4134611"/>
            <a:ext cx="8345805" cy="49403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73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CREATE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USER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0" b="1">
                <a:solidFill>
                  <a:srgbClr val="4E3629"/>
                </a:solidFill>
                <a:latin typeface="Courier New"/>
                <a:cs typeface="Courier New"/>
              </a:rPr>
              <a:t>user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IDENTIFIED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BY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password;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393191" y="5120640"/>
            <a:ext cx="8345805" cy="494030"/>
          </a:xfrm>
          <a:custGeom>
            <a:avLst/>
            <a:gdLst/>
            <a:ahLst/>
            <a:cxnLst/>
            <a:rect l="l" t="t" r="r" b="b"/>
            <a:pathLst>
              <a:path w="8345805" h="494029">
                <a:moveTo>
                  <a:pt x="8345424" y="0"/>
                </a:moveTo>
                <a:lnTo>
                  <a:pt x="0" y="0"/>
                </a:lnTo>
                <a:lnTo>
                  <a:pt x="0" y="493776"/>
                </a:lnTo>
                <a:lnTo>
                  <a:pt x="8345424" y="493776"/>
                </a:lnTo>
                <a:lnTo>
                  <a:pt x="8345424" y="0"/>
                </a:lnTo>
                <a:close/>
              </a:path>
            </a:pathLst>
          </a:custGeom>
          <a:solidFill>
            <a:srgbClr val="9DBEC4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393191" y="5052755"/>
            <a:ext cx="32893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  <a:tabLst>
                <a:tab pos="1774825" algn="l"/>
              </a:tabLst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CREATE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0" b="1">
                <a:solidFill>
                  <a:srgbClr val="4E3629"/>
                </a:solidFill>
                <a:latin typeface="Courier New"/>
                <a:cs typeface="Courier New"/>
              </a:rPr>
              <a:t>USER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	</a:t>
            </a:r>
            <a:r>
              <a:rPr dirty="0" sz="1800" spc="-20" b="1">
                <a:solidFill>
                  <a:srgbClr val="4E3629"/>
                </a:solidFill>
                <a:latin typeface="Courier New"/>
                <a:cs typeface="Courier New"/>
              </a:rPr>
              <a:t>scott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IDENTIFIED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BY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ur35scott;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17-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Control</a:t>
            </a:r>
            <a:r>
              <a:rPr dirty="0" spc="-30"/>
              <a:t> </a:t>
            </a:r>
            <a:r>
              <a:rPr dirty="0"/>
              <a:t>del</a:t>
            </a:r>
            <a:r>
              <a:rPr dirty="0" spc="-25"/>
              <a:t> </a:t>
            </a:r>
            <a:r>
              <a:rPr dirty="0"/>
              <a:t>Acceso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25"/>
              <a:t> </a:t>
            </a:r>
            <a:r>
              <a:rPr dirty="0"/>
              <a:t>los</a:t>
            </a:r>
            <a:r>
              <a:rPr dirty="0" spc="-20"/>
              <a:t> </a:t>
            </a:r>
            <a:r>
              <a:rPr dirty="0" spc="-10"/>
              <a:t>Usuarios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12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Privilegios</a:t>
            </a:r>
            <a:r>
              <a:rPr dirty="0" spc="-75"/>
              <a:t> </a:t>
            </a:r>
            <a:r>
              <a:rPr dirty="0"/>
              <a:t>del</a:t>
            </a:r>
            <a:r>
              <a:rPr dirty="0" spc="-80"/>
              <a:t> </a:t>
            </a:r>
            <a:r>
              <a:rPr dirty="0" spc="-10"/>
              <a:t>Sistema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873365" cy="132207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Mediante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sentencia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ALTER</a:t>
            </a:r>
            <a:r>
              <a:rPr dirty="0" u="heavy" sz="2800" spc="-8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USER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,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usuario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puede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cambiar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su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contraseña</a:t>
            </a:r>
            <a:endParaRPr sz="280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415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Ejemplo: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3512820" y="4274820"/>
            <a:ext cx="2118360" cy="2583180"/>
            <a:chOff x="3512820" y="4274820"/>
            <a:chExt cx="2118360" cy="258318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12820" y="5623560"/>
              <a:ext cx="2118360" cy="1234440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28060" y="4274820"/>
              <a:ext cx="2087879" cy="1359408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405384" y="2935223"/>
            <a:ext cx="8345805" cy="49403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725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ALTER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USER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scott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IDENTIFIED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BY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imscott35;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17-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Control</a:t>
            </a:r>
            <a:r>
              <a:rPr dirty="0" spc="-30"/>
              <a:t> </a:t>
            </a:r>
            <a:r>
              <a:rPr dirty="0"/>
              <a:t>del</a:t>
            </a:r>
            <a:r>
              <a:rPr dirty="0" spc="-25"/>
              <a:t> </a:t>
            </a:r>
            <a:r>
              <a:rPr dirty="0"/>
              <a:t>Acceso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25"/>
              <a:t> </a:t>
            </a:r>
            <a:r>
              <a:rPr dirty="0"/>
              <a:t>los</a:t>
            </a:r>
            <a:r>
              <a:rPr dirty="0" spc="-20"/>
              <a:t> </a:t>
            </a:r>
            <a:r>
              <a:rPr dirty="0" spc="-10"/>
              <a:t>Usuarios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13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Privilegios</a:t>
            </a:r>
            <a:r>
              <a:rPr dirty="0" spc="-70"/>
              <a:t> </a:t>
            </a:r>
            <a:r>
              <a:rPr dirty="0"/>
              <a:t>del</a:t>
            </a:r>
            <a:r>
              <a:rPr dirty="0" spc="-70"/>
              <a:t> </a:t>
            </a:r>
            <a:r>
              <a:rPr dirty="0"/>
              <a:t>Sistema</a:t>
            </a:r>
            <a:r>
              <a:rPr dirty="0" spc="-90"/>
              <a:t> </a:t>
            </a:r>
            <a:r>
              <a:rPr dirty="0"/>
              <a:t>de</a:t>
            </a:r>
            <a:r>
              <a:rPr dirty="0" spc="-80"/>
              <a:t> </a:t>
            </a:r>
            <a:r>
              <a:rPr dirty="0" spc="-10"/>
              <a:t>Usuario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168005" cy="257619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59385" marR="1344930" indent="-147320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heavy" sz="2800" spc="-51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El</a:t>
            </a:r>
            <a:r>
              <a:rPr dirty="0" u="heavy" sz="2800" spc="-8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DBA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utiliza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sentencia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GRANT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para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asignar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privilegios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del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sistema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al</a:t>
            </a:r>
            <a:r>
              <a:rPr dirty="0" u="heavy" sz="2800" spc="-9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usuario</a:t>
            </a:r>
            <a:endParaRPr sz="2800">
              <a:latin typeface="Calibri"/>
              <a:cs typeface="Calibri"/>
            </a:endParaRPr>
          </a:p>
          <a:p>
            <a:pPr marL="182880" marR="704215" indent="-170815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Estos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privilegios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del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sistema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determinan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el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usuario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realizar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nivel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base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ts val="3030"/>
              </a:lnSpc>
              <a:spcBef>
                <a:spcPts val="79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vez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usuario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ha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otorgado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privilegios,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el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usuario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utilizar</a:t>
            </a:r>
            <a:r>
              <a:rPr dirty="0" sz="28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estos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privilegios</a:t>
            </a:r>
            <a:r>
              <a:rPr dirty="0" sz="28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inmediatamente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05384" y="4133088"/>
            <a:ext cx="8345805" cy="49530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735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GRANT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privilege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[,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privilege...]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TO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user</a:t>
            </a:r>
            <a:r>
              <a:rPr dirty="0" sz="1800" spc="-3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[,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user|</a:t>
            </a:r>
            <a:r>
              <a:rPr dirty="0" sz="1800" spc="-3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role,</a:t>
            </a:r>
            <a:r>
              <a:rPr dirty="0" sz="1800" spc="-3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PUBLIC...];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399288" y="4904232"/>
            <a:ext cx="8345805" cy="932815"/>
          </a:xfrm>
          <a:custGeom>
            <a:avLst/>
            <a:gdLst/>
            <a:ahLst/>
            <a:cxnLst/>
            <a:rect l="l" t="t" r="r" b="b"/>
            <a:pathLst>
              <a:path w="8345805" h="932814">
                <a:moveTo>
                  <a:pt x="8345424" y="0"/>
                </a:moveTo>
                <a:lnTo>
                  <a:pt x="0" y="0"/>
                </a:lnTo>
                <a:lnTo>
                  <a:pt x="0" y="932688"/>
                </a:lnTo>
                <a:lnTo>
                  <a:pt x="8345424" y="932688"/>
                </a:lnTo>
                <a:lnTo>
                  <a:pt x="8345424" y="0"/>
                </a:lnTo>
                <a:close/>
              </a:path>
            </a:pathLst>
          </a:custGeom>
          <a:solidFill>
            <a:srgbClr val="9DBEC4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399002" y="4918765"/>
            <a:ext cx="820293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  <a:tabLst>
                <a:tab pos="956944" algn="l"/>
              </a:tabLst>
            </a:pP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GRANT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	create</a:t>
            </a:r>
            <a:r>
              <a:rPr dirty="0" sz="1800" spc="-8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session,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create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table,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create</a:t>
            </a:r>
            <a:r>
              <a:rPr dirty="0" sz="1800" spc="-8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sequence,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create </a:t>
            </a:r>
            <a:r>
              <a:rPr dirty="0" sz="1800" spc="-20" b="1">
                <a:solidFill>
                  <a:srgbClr val="4E3629"/>
                </a:solidFill>
                <a:latin typeface="Courier New"/>
                <a:cs typeface="Courier New"/>
              </a:rPr>
              <a:t>view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TO</a:t>
            </a:r>
            <a:r>
              <a:rPr dirty="0" sz="1800" spc="-2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scott;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17-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Control</a:t>
            </a:r>
            <a:r>
              <a:rPr dirty="0" spc="-30"/>
              <a:t> </a:t>
            </a:r>
            <a:r>
              <a:rPr dirty="0"/>
              <a:t>del</a:t>
            </a:r>
            <a:r>
              <a:rPr dirty="0" spc="-25"/>
              <a:t> </a:t>
            </a:r>
            <a:r>
              <a:rPr dirty="0"/>
              <a:t>Acceso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25"/>
              <a:t> </a:t>
            </a:r>
            <a:r>
              <a:rPr dirty="0"/>
              <a:t>los</a:t>
            </a:r>
            <a:r>
              <a:rPr dirty="0" spc="-20"/>
              <a:t> </a:t>
            </a:r>
            <a:r>
              <a:rPr dirty="0" spc="-10"/>
              <a:t>Usuarios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14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Privilegios</a:t>
            </a:r>
            <a:r>
              <a:rPr dirty="0" spc="-70"/>
              <a:t> </a:t>
            </a:r>
            <a:r>
              <a:rPr dirty="0"/>
              <a:t>del</a:t>
            </a:r>
            <a:r>
              <a:rPr dirty="0" spc="-70"/>
              <a:t> </a:t>
            </a:r>
            <a:r>
              <a:rPr dirty="0"/>
              <a:t>Sistema</a:t>
            </a:r>
            <a:r>
              <a:rPr dirty="0" spc="-90"/>
              <a:t> </a:t>
            </a:r>
            <a:r>
              <a:rPr dirty="0"/>
              <a:t>de</a:t>
            </a:r>
            <a:r>
              <a:rPr dirty="0" spc="-80"/>
              <a:t> </a:t>
            </a:r>
            <a:r>
              <a:rPr dirty="0" spc="-10"/>
              <a:t>Usuario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17-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Control</a:t>
            </a:r>
            <a:r>
              <a:rPr dirty="0" spc="-30"/>
              <a:t> </a:t>
            </a:r>
            <a:r>
              <a:rPr dirty="0"/>
              <a:t>del</a:t>
            </a:r>
            <a:r>
              <a:rPr dirty="0" spc="-25"/>
              <a:t> </a:t>
            </a:r>
            <a:r>
              <a:rPr dirty="0"/>
              <a:t>Acceso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25"/>
              <a:t> </a:t>
            </a:r>
            <a:r>
              <a:rPr dirty="0"/>
              <a:t>los</a:t>
            </a:r>
            <a:r>
              <a:rPr dirty="0" spc="-20"/>
              <a:t> </a:t>
            </a:r>
            <a:r>
              <a:rPr dirty="0" spc="-10"/>
              <a:t>Usuarios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15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993380" cy="247459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59385" marR="5080" indent="-147320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heavy" sz="2800" spc="-5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usuario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debe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tener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privilegio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CREATE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SESSION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y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identificador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usuario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si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debe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poder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acceder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una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base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datos</a:t>
            </a:r>
            <a:endParaRPr sz="2800">
              <a:latin typeface="Calibri"/>
              <a:cs typeface="Calibri"/>
            </a:endParaRPr>
          </a:p>
          <a:p>
            <a:pPr marL="182880" marR="133350" indent="-170815">
              <a:lnSpc>
                <a:spcPts val="3030"/>
              </a:lnSpc>
              <a:spcBef>
                <a:spcPts val="785"/>
              </a:spcBef>
              <a:buClr>
                <a:srgbClr val="D1350F"/>
              </a:buClr>
              <a:buFont typeface="Arial MT"/>
              <a:buChar char="•"/>
              <a:tabLst>
                <a:tab pos="184150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emitir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comando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CREATE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SESSION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en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Oracle</a:t>
            </a:r>
            <a:r>
              <a:rPr dirty="0" sz="2800" spc="-10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Application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Express;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esto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produce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forma 	automática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segundo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plano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798515" y="3881649"/>
          <a:ext cx="7687945" cy="22517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23440"/>
                <a:gridCol w="5475604"/>
              </a:tblGrid>
              <a:tr h="33464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Privilegio</a:t>
                      </a:r>
                      <a:r>
                        <a:rPr dirty="0" sz="1600" spc="-5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del</a:t>
                      </a:r>
                      <a:r>
                        <a:rPr dirty="0" sz="1600" spc="-3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Sistema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Operaciones</a:t>
                      </a:r>
                      <a:r>
                        <a:rPr dirty="0" sz="1600" spc="-9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Autorizadas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CREATE</a:t>
                      </a:r>
                      <a:r>
                        <a:rPr dirty="0" sz="16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SESSION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Conectar</a:t>
                      </a:r>
                      <a:r>
                        <a:rPr dirty="0" sz="1600" spc="-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base</a:t>
                      </a: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datos.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CREATE</a:t>
                      </a:r>
                      <a:r>
                        <a:rPr dirty="0" sz="16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TABLE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Crear</a:t>
                      </a:r>
                      <a:r>
                        <a:rPr dirty="0" sz="16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tablas</a:t>
                      </a:r>
                      <a:r>
                        <a:rPr dirty="0" sz="16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en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el</a:t>
                      </a:r>
                      <a:r>
                        <a:rPr dirty="0" sz="16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esquema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del</a:t>
                      </a:r>
                      <a:r>
                        <a:rPr dirty="0" sz="16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usuario.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CREATE</a:t>
                      </a:r>
                      <a:r>
                        <a:rPr dirty="0" sz="16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SEQUENCE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Crear</a:t>
                      </a:r>
                      <a:r>
                        <a:rPr dirty="0" sz="16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una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secuencia</a:t>
                      </a: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en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el</a:t>
                      </a: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esquema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del</a:t>
                      </a: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usuario.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CREATE</a:t>
                      </a:r>
                      <a:r>
                        <a:rPr dirty="0" sz="16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VIEW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Crear</a:t>
                      </a:r>
                      <a:r>
                        <a:rPr dirty="0" sz="16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una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vista</a:t>
                      </a:r>
                      <a:r>
                        <a:rPr dirty="0" sz="16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en</a:t>
                      </a:r>
                      <a:r>
                        <a:rPr dirty="0" sz="16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el</a:t>
                      </a: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esquema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del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usuario.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57848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CREATE</a:t>
                      </a:r>
                      <a:r>
                        <a:rPr dirty="0" sz="16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PROCEDURE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5621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266065">
                        <a:lnSpc>
                          <a:spcPct val="100699"/>
                        </a:lnSpc>
                        <a:spcBef>
                          <a:spcPts val="245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Crear</a:t>
                      </a:r>
                      <a:r>
                        <a:rPr dirty="0" sz="16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un</a:t>
                      </a: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paquete,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función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procedimiento</a:t>
                      </a:r>
                      <a:r>
                        <a:rPr dirty="0" sz="1600" spc="-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en</a:t>
                      </a: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el</a:t>
                      </a: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esquema</a:t>
                      </a:r>
                      <a:r>
                        <a:rPr dirty="0" sz="16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del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usuario.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Seguridad</a:t>
            </a:r>
            <a:r>
              <a:rPr dirty="0" spc="-50"/>
              <a:t> </a:t>
            </a:r>
            <a:r>
              <a:rPr dirty="0"/>
              <a:t>de</a:t>
            </a:r>
            <a:r>
              <a:rPr dirty="0" spc="-50"/>
              <a:t> </a:t>
            </a:r>
            <a:r>
              <a:rPr dirty="0" spc="-10"/>
              <a:t>Objetos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049895" cy="122047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nivel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seguridad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abarca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acceso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uso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los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objetos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base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así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como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acciones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que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usuarios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puedan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realizar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dichos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objetos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2907792" y="3000755"/>
            <a:ext cx="3328670" cy="3857625"/>
            <a:chOff x="2907792" y="3000755"/>
            <a:chExt cx="3328670" cy="385762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07792" y="5134355"/>
              <a:ext cx="3328415" cy="1723644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23032" y="3000755"/>
              <a:ext cx="3297935" cy="2144270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17-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Control</a:t>
            </a:r>
            <a:r>
              <a:rPr dirty="0" spc="-30"/>
              <a:t> </a:t>
            </a:r>
            <a:r>
              <a:rPr dirty="0"/>
              <a:t>del</a:t>
            </a:r>
            <a:r>
              <a:rPr dirty="0" spc="-25"/>
              <a:t> </a:t>
            </a:r>
            <a:r>
              <a:rPr dirty="0"/>
              <a:t>Acceso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25"/>
              <a:t> </a:t>
            </a:r>
            <a:r>
              <a:rPr dirty="0"/>
              <a:t>los</a:t>
            </a:r>
            <a:r>
              <a:rPr dirty="0" spc="-20"/>
              <a:t> </a:t>
            </a:r>
            <a:r>
              <a:rPr dirty="0" spc="-10"/>
              <a:t>Usuarios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16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Privilegios</a:t>
            </a:r>
            <a:r>
              <a:rPr dirty="0" spc="-60"/>
              <a:t> </a:t>
            </a:r>
            <a:r>
              <a:rPr dirty="0"/>
              <a:t>de</a:t>
            </a:r>
            <a:r>
              <a:rPr dirty="0" spc="-60"/>
              <a:t> </a:t>
            </a:r>
            <a:r>
              <a:rPr dirty="0" spc="-10"/>
              <a:t>Objeto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17-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Control</a:t>
            </a:r>
            <a:r>
              <a:rPr dirty="0" spc="-30"/>
              <a:t> </a:t>
            </a:r>
            <a:r>
              <a:rPr dirty="0"/>
              <a:t>del</a:t>
            </a:r>
            <a:r>
              <a:rPr dirty="0" spc="-25"/>
              <a:t> </a:t>
            </a:r>
            <a:r>
              <a:rPr dirty="0"/>
              <a:t>Acceso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25"/>
              <a:t> </a:t>
            </a:r>
            <a:r>
              <a:rPr dirty="0"/>
              <a:t>los</a:t>
            </a:r>
            <a:r>
              <a:rPr dirty="0" spc="-20"/>
              <a:t> </a:t>
            </a:r>
            <a:r>
              <a:rPr dirty="0" spc="-10"/>
              <a:t>Usuarios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17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033384" cy="170624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Cada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objeto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tiene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juego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determinado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privilegios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pueden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otorgar</a:t>
            </a:r>
            <a:endParaRPr sz="2800">
              <a:latin typeface="Calibri"/>
              <a:cs typeface="Calibri"/>
            </a:endParaRPr>
          </a:p>
          <a:p>
            <a:pPr marL="182880" marR="345440" indent="-170815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siguiente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muestran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privilegios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para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varios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objetos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797011" y="3247358"/>
          <a:ext cx="7626350" cy="2686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94535"/>
                <a:gridCol w="1290955"/>
                <a:gridCol w="1299845"/>
                <a:gridCol w="1299845"/>
                <a:gridCol w="1652904"/>
              </a:tblGrid>
              <a:tr h="29845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6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Privilegio</a:t>
                      </a:r>
                      <a:r>
                        <a:rPr dirty="0" sz="1600" spc="-4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600" spc="-3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Objeto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Tabla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600" spc="-25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Ver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Secuencia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Procedimiento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ALTER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5499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X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969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X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DELETE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5499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X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5943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X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EXECUTE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715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X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INDEX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5499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X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5943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X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INSERT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5499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X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6007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X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REFERENCES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5562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X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SELECT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5562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X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6007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X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8419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X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UPDATE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71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5562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X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71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600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X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71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Privilegios</a:t>
            </a:r>
            <a:r>
              <a:rPr dirty="0" spc="-60"/>
              <a:t> </a:t>
            </a:r>
            <a:r>
              <a:rPr dirty="0"/>
              <a:t>de</a:t>
            </a:r>
            <a:r>
              <a:rPr dirty="0" spc="-60"/>
              <a:t> </a:t>
            </a:r>
            <a:r>
              <a:rPr dirty="0" spc="-10"/>
              <a:t>Objeto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770495" cy="132207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otorgar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privilegios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UPDATE,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REFERENCES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e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INSERT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columnas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individuales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endParaRPr sz="280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415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Por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ejemplo: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3552" y="3256409"/>
            <a:ext cx="7978775" cy="170624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privilegio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SELECT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restringir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mediante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la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creación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vista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subjuego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otorgamiento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del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privilegio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SELECT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solo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vista</a:t>
            </a:r>
            <a:endParaRPr sz="280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409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otorgar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SELECT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columnas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individuales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05384" y="2798064"/>
            <a:ext cx="8345805" cy="49403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725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GRANT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UPDATE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(salary)</a:t>
            </a:r>
            <a:endParaRPr sz="1800">
              <a:latin typeface="Courier New"/>
              <a:cs typeface="Courier New"/>
            </a:endParaRPr>
          </a:p>
          <a:p>
            <a:pPr marL="819150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ON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employees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TO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steven_king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15783" y="5119115"/>
            <a:ext cx="1488948" cy="1373123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17-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Control</a:t>
            </a:r>
            <a:r>
              <a:rPr dirty="0" spc="-30"/>
              <a:t> </a:t>
            </a:r>
            <a:r>
              <a:rPr dirty="0"/>
              <a:t>del</a:t>
            </a:r>
            <a:r>
              <a:rPr dirty="0" spc="-25"/>
              <a:t> </a:t>
            </a:r>
            <a:r>
              <a:rPr dirty="0"/>
              <a:t>Acceso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25"/>
              <a:t> </a:t>
            </a:r>
            <a:r>
              <a:rPr dirty="0"/>
              <a:t>los</a:t>
            </a:r>
            <a:r>
              <a:rPr dirty="0" spc="-20"/>
              <a:t> </a:t>
            </a:r>
            <a:r>
              <a:rPr dirty="0" spc="-10"/>
              <a:t>Usuarios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8750490" y="6567768"/>
            <a:ext cx="15367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 sz="1000" spc="-25" b="1">
                <a:solidFill>
                  <a:srgbClr val="4E3629"/>
                </a:solidFill>
                <a:latin typeface="Calibri"/>
                <a:cs typeface="Calibri"/>
              </a:rPr>
              <a:t>19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Palabra</a:t>
            </a:r>
            <a:r>
              <a:rPr dirty="0" spc="-155"/>
              <a:t> </a:t>
            </a:r>
            <a:r>
              <a:rPr dirty="0"/>
              <a:t>Clave</a:t>
            </a:r>
            <a:r>
              <a:rPr dirty="0" spc="-155"/>
              <a:t> </a:t>
            </a:r>
            <a:r>
              <a:rPr dirty="0" spc="-10"/>
              <a:t>PUBLIC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17-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Control</a:t>
            </a:r>
            <a:r>
              <a:rPr dirty="0" spc="-30"/>
              <a:t> </a:t>
            </a:r>
            <a:r>
              <a:rPr dirty="0"/>
              <a:t>del</a:t>
            </a:r>
            <a:r>
              <a:rPr dirty="0" spc="-25"/>
              <a:t> </a:t>
            </a:r>
            <a:r>
              <a:rPr dirty="0"/>
              <a:t>Acceso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25"/>
              <a:t> </a:t>
            </a:r>
            <a:r>
              <a:rPr dirty="0"/>
              <a:t>los</a:t>
            </a:r>
            <a:r>
              <a:rPr dirty="0" spc="-20"/>
              <a:t> </a:t>
            </a:r>
            <a:r>
              <a:rPr dirty="0" spc="-10"/>
              <a:t>Usuarios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21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049895" cy="209042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59385" marR="379095" indent="-147320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heavy" sz="2800" spc="-5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propietario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una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tabla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puede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otorgar</a:t>
            </a:r>
            <a:r>
              <a:rPr dirty="0" u="heavy" sz="2800" spc="-8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acceso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todos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los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usuarios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mediante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u="heavy" sz="2800" spc="-8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palabra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clave</a:t>
            </a:r>
            <a:r>
              <a:rPr dirty="0" u="heavy" sz="2800" spc="-9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PUBLIC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segundo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ejemplo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muestra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continuación,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permite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todos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usuarios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del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sistema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consultar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DEPARTMENTS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Alice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05384" y="3758184"/>
            <a:ext cx="8345805" cy="845819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3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GRANT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endParaRPr sz="1800">
              <a:latin typeface="Courier New"/>
              <a:cs typeface="Courier New"/>
            </a:endParaRPr>
          </a:p>
          <a:p>
            <a:pPr marR="5199380" indent="409575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ON</a:t>
            </a:r>
            <a:r>
              <a:rPr dirty="0" sz="1800" spc="-2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alice.departments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TO</a:t>
            </a:r>
            <a:r>
              <a:rPr dirty="0" sz="1800" spc="-2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PUBLIC;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Palabra</a:t>
            </a:r>
            <a:r>
              <a:rPr dirty="0" spc="-155"/>
              <a:t> </a:t>
            </a:r>
            <a:r>
              <a:rPr dirty="0"/>
              <a:t>Clave</a:t>
            </a:r>
            <a:r>
              <a:rPr dirty="0" spc="-155"/>
              <a:t> </a:t>
            </a:r>
            <a:r>
              <a:rPr dirty="0" spc="-10"/>
              <a:t>PUBLIC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17-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Control</a:t>
            </a:r>
            <a:r>
              <a:rPr dirty="0" spc="-30"/>
              <a:t> </a:t>
            </a:r>
            <a:r>
              <a:rPr dirty="0"/>
              <a:t>del</a:t>
            </a:r>
            <a:r>
              <a:rPr dirty="0" spc="-25"/>
              <a:t> </a:t>
            </a:r>
            <a:r>
              <a:rPr dirty="0"/>
              <a:t>Acceso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25"/>
              <a:t> </a:t>
            </a:r>
            <a:r>
              <a:rPr dirty="0"/>
              <a:t>los</a:t>
            </a:r>
            <a:r>
              <a:rPr dirty="0" spc="-20"/>
              <a:t> </a:t>
            </a:r>
            <a:r>
              <a:rPr dirty="0" spc="-10"/>
              <a:t>Usuarios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22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152130" cy="449707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59385" marR="229870" indent="-147320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heavy" sz="2800" spc="-5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Si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una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sentencia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no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utiliza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el</a:t>
            </a:r>
            <a:r>
              <a:rPr dirty="0" u="heavy" sz="2800" spc="-9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nombre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completo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objeto,</a:t>
            </a:r>
            <a:r>
              <a:rPr dirty="0" u="heavy" sz="2800" spc="-8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Oracle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Server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incluye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implícitamente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en</a:t>
            </a:r>
            <a:r>
              <a:rPr dirty="0" u="heavy" sz="2800" spc="-8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el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nombre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objeto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el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nombre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del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usuario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(o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esquema)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actual</a:t>
            </a:r>
            <a:r>
              <a:rPr dirty="0" u="heavy" sz="2800" spc="-8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como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prefijo</a:t>
            </a:r>
            <a:endParaRPr sz="2800">
              <a:latin typeface="Calibri"/>
              <a:cs typeface="Calibri"/>
            </a:endParaRPr>
          </a:p>
          <a:p>
            <a:pPr marL="182880" marR="64769" indent="-170815">
              <a:lnSpc>
                <a:spcPts val="3030"/>
              </a:lnSpc>
              <a:spcBef>
                <a:spcPts val="78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usuario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Scott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consulta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DEPARTMENTS,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por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ejemplo,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sistema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selecciona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tabla 	SCOTT.DEPARTMENTS</a:t>
            </a:r>
            <a:endParaRPr sz="2800">
              <a:latin typeface="Calibri"/>
              <a:cs typeface="Calibri"/>
            </a:endParaRPr>
          </a:p>
          <a:p>
            <a:pPr marL="159385" marR="5080" indent="-147320">
              <a:lnSpc>
                <a:spcPts val="3030"/>
              </a:lnSpc>
              <a:spcBef>
                <a:spcPts val="78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heavy" sz="2800" spc="-5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Si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una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sentencia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no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utiliza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el</a:t>
            </a:r>
            <a:r>
              <a:rPr dirty="0" u="heavy" sz="2800" spc="-9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nombre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completo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objeto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y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el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usuario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actual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no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es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propietario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3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objeto</a:t>
            </a:r>
            <a:r>
              <a:rPr dirty="0" u="heavy" sz="2800" spc="-8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con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ese</a:t>
            </a:r>
            <a:r>
              <a:rPr dirty="0" u="heavy" sz="2800" spc="-8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nombre,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el</a:t>
            </a:r>
            <a:r>
              <a:rPr dirty="0" u="heavy" sz="2800" spc="-9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sistema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incluye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como</a:t>
            </a:r>
            <a:r>
              <a:rPr dirty="0" u="heavy" sz="2800" spc="-8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prefijo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PUBLIC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nombre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objeto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Palabra</a:t>
            </a:r>
            <a:r>
              <a:rPr dirty="0" spc="-155"/>
              <a:t> </a:t>
            </a:r>
            <a:r>
              <a:rPr dirty="0"/>
              <a:t>Clave</a:t>
            </a:r>
            <a:r>
              <a:rPr dirty="0" spc="-155"/>
              <a:t> </a:t>
            </a:r>
            <a:r>
              <a:rPr dirty="0" spc="-10"/>
              <a:t>PUBLIC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163559" cy="198882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Por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ejemplo,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usuario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Scott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consulta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vista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USER_OBJECTS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Scott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propietario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dicha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tabla,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sistema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realiza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selecciones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vista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del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diccionario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mediante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sinónimo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público 	PUBLIC.USER_OBJECTS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93009" y="3762755"/>
            <a:ext cx="1839474" cy="2452767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17-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Control</a:t>
            </a:r>
            <a:r>
              <a:rPr dirty="0" spc="-30"/>
              <a:t> </a:t>
            </a:r>
            <a:r>
              <a:rPr dirty="0"/>
              <a:t>del</a:t>
            </a:r>
            <a:r>
              <a:rPr dirty="0" spc="-25"/>
              <a:t> </a:t>
            </a:r>
            <a:r>
              <a:rPr dirty="0"/>
              <a:t>Acceso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25"/>
              <a:t> </a:t>
            </a:r>
            <a:r>
              <a:rPr dirty="0"/>
              <a:t>los</a:t>
            </a:r>
            <a:r>
              <a:rPr dirty="0" spc="-20"/>
              <a:t> </a:t>
            </a:r>
            <a:r>
              <a:rPr dirty="0" spc="-10"/>
              <a:t>Usuarios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23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Confirmación</a:t>
            </a:r>
            <a:r>
              <a:rPr dirty="0" spc="-55"/>
              <a:t> </a:t>
            </a:r>
            <a:r>
              <a:rPr dirty="0"/>
              <a:t>de</a:t>
            </a:r>
            <a:r>
              <a:rPr dirty="0" spc="-70"/>
              <a:t> </a:t>
            </a:r>
            <a:r>
              <a:rPr dirty="0"/>
              <a:t>Privilegios</a:t>
            </a:r>
            <a:r>
              <a:rPr dirty="0" spc="-65"/>
              <a:t> </a:t>
            </a:r>
            <a:r>
              <a:rPr dirty="0" spc="-10"/>
              <a:t>Otorgados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17-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Control</a:t>
            </a:r>
            <a:r>
              <a:rPr dirty="0" spc="-30"/>
              <a:t> </a:t>
            </a:r>
            <a:r>
              <a:rPr dirty="0"/>
              <a:t>del</a:t>
            </a:r>
            <a:r>
              <a:rPr dirty="0" spc="-25"/>
              <a:t> </a:t>
            </a:r>
            <a:r>
              <a:rPr dirty="0"/>
              <a:t>Acceso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25"/>
              <a:t> </a:t>
            </a:r>
            <a:r>
              <a:rPr dirty="0"/>
              <a:t>los</a:t>
            </a:r>
            <a:r>
              <a:rPr dirty="0" spc="-20"/>
              <a:t> </a:t>
            </a:r>
            <a:r>
              <a:rPr dirty="0" spc="-10"/>
              <a:t>Usuarios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24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9690" rIns="0" bIns="0" rtlCol="0" vert="horz">
            <a:spAutoFit/>
          </a:bodyPr>
          <a:lstStyle/>
          <a:p>
            <a:pPr marL="182880" marR="245745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/>
              <a:t>Si</a:t>
            </a:r>
            <a:r>
              <a:rPr dirty="0" spc="-95"/>
              <a:t> </a:t>
            </a:r>
            <a:r>
              <a:rPr dirty="0" spc="-10"/>
              <a:t>intenta</a:t>
            </a:r>
            <a:r>
              <a:rPr dirty="0" spc="-90"/>
              <a:t> </a:t>
            </a:r>
            <a:r>
              <a:rPr dirty="0"/>
              <a:t>realizar</a:t>
            </a:r>
            <a:r>
              <a:rPr dirty="0" spc="-105"/>
              <a:t> </a:t>
            </a:r>
            <a:r>
              <a:rPr dirty="0"/>
              <a:t>una</a:t>
            </a:r>
            <a:r>
              <a:rPr dirty="0" spc="-70"/>
              <a:t> </a:t>
            </a:r>
            <a:r>
              <a:rPr dirty="0"/>
              <a:t>operación</a:t>
            </a:r>
            <a:r>
              <a:rPr dirty="0" spc="-85"/>
              <a:t> </a:t>
            </a:r>
            <a:r>
              <a:rPr dirty="0"/>
              <a:t>no</a:t>
            </a:r>
            <a:r>
              <a:rPr dirty="0" spc="-80"/>
              <a:t> </a:t>
            </a:r>
            <a:r>
              <a:rPr dirty="0"/>
              <a:t>autorizada,</a:t>
            </a:r>
            <a:r>
              <a:rPr dirty="0" spc="-85"/>
              <a:t> </a:t>
            </a:r>
            <a:r>
              <a:rPr dirty="0" spc="-20"/>
              <a:t>como </a:t>
            </a:r>
            <a:r>
              <a:rPr dirty="0" spc="-20"/>
              <a:t>	</a:t>
            </a:r>
            <a:r>
              <a:rPr dirty="0"/>
              <a:t>la</a:t>
            </a:r>
            <a:r>
              <a:rPr dirty="0" spc="-45"/>
              <a:t> </a:t>
            </a:r>
            <a:r>
              <a:rPr dirty="0"/>
              <a:t>supresión</a:t>
            </a:r>
            <a:r>
              <a:rPr dirty="0" spc="-5"/>
              <a:t> </a:t>
            </a:r>
            <a:r>
              <a:rPr dirty="0"/>
              <a:t>de</a:t>
            </a:r>
            <a:r>
              <a:rPr dirty="0" spc="-50"/>
              <a:t> </a:t>
            </a:r>
            <a:r>
              <a:rPr dirty="0"/>
              <a:t>una</a:t>
            </a:r>
            <a:r>
              <a:rPr dirty="0" spc="-15"/>
              <a:t> </a:t>
            </a:r>
            <a:r>
              <a:rPr dirty="0"/>
              <a:t>fila</a:t>
            </a:r>
            <a:r>
              <a:rPr dirty="0" spc="-45"/>
              <a:t> </a:t>
            </a:r>
            <a:r>
              <a:rPr dirty="0"/>
              <a:t>de</a:t>
            </a:r>
            <a:r>
              <a:rPr dirty="0" spc="-45"/>
              <a:t> </a:t>
            </a:r>
            <a:r>
              <a:rPr dirty="0"/>
              <a:t>una</a:t>
            </a:r>
            <a:r>
              <a:rPr dirty="0" spc="-20"/>
              <a:t> </a:t>
            </a:r>
            <a:r>
              <a:rPr dirty="0"/>
              <a:t>tabla</a:t>
            </a:r>
            <a:r>
              <a:rPr dirty="0" spc="-45"/>
              <a:t> </a:t>
            </a:r>
            <a:r>
              <a:rPr dirty="0"/>
              <a:t>para</a:t>
            </a:r>
            <a:r>
              <a:rPr dirty="0" spc="-40"/>
              <a:t> </a:t>
            </a:r>
            <a:r>
              <a:rPr dirty="0"/>
              <a:t>la</a:t>
            </a:r>
            <a:r>
              <a:rPr dirty="0" spc="-45"/>
              <a:t> </a:t>
            </a:r>
            <a:r>
              <a:rPr dirty="0"/>
              <a:t>que</a:t>
            </a:r>
            <a:r>
              <a:rPr dirty="0" spc="-25"/>
              <a:t> no </a:t>
            </a:r>
            <a:r>
              <a:rPr dirty="0" spc="-25"/>
              <a:t>	</a:t>
            </a:r>
            <a:r>
              <a:rPr dirty="0"/>
              <a:t>tiene</a:t>
            </a:r>
            <a:r>
              <a:rPr dirty="0" spc="-35"/>
              <a:t> </a:t>
            </a:r>
            <a:r>
              <a:rPr dirty="0"/>
              <a:t>el</a:t>
            </a:r>
            <a:r>
              <a:rPr dirty="0" spc="-65"/>
              <a:t> </a:t>
            </a:r>
            <a:r>
              <a:rPr dirty="0"/>
              <a:t>privilegio</a:t>
            </a:r>
            <a:r>
              <a:rPr dirty="0" spc="-30"/>
              <a:t> </a:t>
            </a:r>
            <a:r>
              <a:rPr dirty="0"/>
              <a:t>DELETE,</a:t>
            </a:r>
            <a:r>
              <a:rPr dirty="0" spc="-50"/>
              <a:t> </a:t>
            </a:r>
            <a:r>
              <a:rPr dirty="0"/>
              <a:t>el</a:t>
            </a:r>
            <a:r>
              <a:rPr dirty="0" spc="-55"/>
              <a:t> </a:t>
            </a:r>
            <a:r>
              <a:rPr dirty="0"/>
              <a:t>servidor</a:t>
            </a:r>
            <a:r>
              <a:rPr dirty="0" spc="-30"/>
              <a:t> </a:t>
            </a:r>
            <a:r>
              <a:rPr dirty="0"/>
              <a:t>de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45"/>
              <a:t> </a:t>
            </a:r>
            <a:r>
              <a:rPr dirty="0" spc="-25"/>
              <a:t>no </a:t>
            </a:r>
            <a:r>
              <a:rPr dirty="0" spc="-25"/>
              <a:t>	</a:t>
            </a:r>
            <a:r>
              <a:rPr dirty="0"/>
              <a:t>permite</a:t>
            </a:r>
            <a:r>
              <a:rPr dirty="0" spc="-65"/>
              <a:t> </a:t>
            </a:r>
            <a:r>
              <a:rPr dirty="0"/>
              <a:t>que</a:t>
            </a:r>
            <a:r>
              <a:rPr dirty="0" spc="-60"/>
              <a:t> </a:t>
            </a:r>
            <a:r>
              <a:rPr dirty="0"/>
              <a:t>se</a:t>
            </a:r>
            <a:r>
              <a:rPr dirty="0" spc="-65"/>
              <a:t> </a:t>
            </a:r>
            <a:r>
              <a:rPr dirty="0" spc="-10"/>
              <a:t>produzca</a:t>
            </a:r>
            <a:r>
              <a:rPr dirty="0" spc="-40"/>
              <a:t> </a:t>
            </a:r>
            <a:r>
              <a:rPr dirty="0"/>
              <a:t>la</a:t>
            </a:r>
            <a:r>
              <a:rPr dirty="0" spc="-70"/>
              <a:t> </a:t>
            </a:r>
            <a:r>
              <a:rPr dirty="0" spc="-10"/>
              <a:t>operación</a:t>
            </a:r>
          </a:p>
          <a:p>
            <a:pPr algn="just" marL="182880" marR="5080" indent="-170815">
              <a:lnSpc>
                <a:spcPts val="3030"/>
              </a:lnSpc>
              <a:spcBef>
                <a:spcPts val="78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/>
              <a:t>Si</a:t>
            </a:r>
            <a:r>
              <a:rPr dirty="0" spc="-50"/>
              <a:t> </a:t>
            </a:r>
            <a:r>
              <a:rPr dirty="0"/>
              <a:t>recibe</a:t>
            </a:r>
            <a:r>
              <a:rPr dirty="0" spc="-55"/>
              <a:t> </a:t>
            </a:r>
            <a:r>
              <a:rPr dirty="0"/>
              <a:t>el</a:t>
            </a:r>
            <a:r>
              <a:rPr dirty="0" spc="-55"/>
              <a:t> </a:t>
            </a:r>
            <a:r>
              <a:rPr dirty="0"/>
              <a:t>mensaje</a:t>
            </a:r>
            <a:r>
              <a:rPr dirty="0" spc="-40"/>
              <a:t> </a:t>
            </a:r>
            <a:r>
              <a:rPr dirty="0"/>
              <a:t>de</a:t>
            </a:r>
            <a:r>
              <a:rPr dirty="0" spc="-40"/>
              <a:t> </a:t>
            </a:r>
            <a:r>
              <a:rPr dirty="0"/>
              <a:t>error</a:t>
            </a:r>
            <a:r>
              <a:rPr dirty="0" spc="-55"/>
              <a:t> </a:t>
            </a:r>
            <a:r>
              <a:rPr dirty="0"/>
              <a:t>de</a:t>
            </a:r>
            <a:r>
              <a:rPr dirty="0" spc="-40"/>
              <a:t> </a:t>
            </a:r>
            <a:r>
              <a:rPr dirty="0"/>
              <a:t>Oracle</a:t>
            </a:r>
            <a:r>
              <a:rPr dirty="0" spc="-55"/>
              <a:t> </a:t>
            </a:r>
            <a:r>
              <a:rPr dirty="0"/>
              <a:t>Server</a:t>
            </a:r>
            <a:r>
              <a:rPr dirty="0" spc="-55"/>
              <a:t> </a:t>
            </a:r>
            <a:r>
              <a:rPr dirty="0"/>
              <a:t>"table</a:t>
            </a:r>
            <a:r>
              <a:rPr dirty="0" spc="-20"/>
              <a:t> </a:t>
            </a:r>
            <a:r>
              <a:rPr dirty="0" spc="-25"/>
              <a:t>or </a:t>
            </a:r>
            <a:r>
              <a:rPr dirty="0" spc="-25"/>
              <a:t>	</a:t>
            </a:r>
            <a:r>
              <a:rPr dirty="0"/>
              <a:t>view</a:t>
            </a:r>
            <a:r>
              <a:rPr dirty="0" spc="-60"/>
              <a:t> </a:t>
            </a:r>
            <a:r>
              <a:rPr dirty="0"/>
              <a:t>does</a:t>
            </a:r>
            <a:r>
              <a:rPr dirty="0" spc="-50"/>
              <a:t> </a:t>
            </a:r>
            <a:r>
              <a:rPr dirty="0"/>
              <a:t>not</a:t>
            </a:r>
            <a:r>
              <a:rPr dirty="0" spc="-50"/>
              <a:t> </a:t>
            </a:r>
            <a:r>
              <a:rPr dirty="0"/>
              <a:t>exist",</a:t>
            </a:r>
            <a:r>
              <a:rPr dirty="0" spc="-30"/>
              <a:t> </a:t>
            </a:r>
            <a:r>
              <a:rPr dirty="0"/>
              <a:t>es</a:t>
            </a:r>
            <a:r>
              <a:rPr dirty="0" spc="-60"/>
              <a:t> </a:t>
            </a:r>
            <a:r>
              <a:rPr dirty="0"/>
              <a:t>porque</a:t>
            </a:r>
            <a:r>
              <a:rPr dirty="0" spc="-40"/>
              <a:t> </a:t>
            </a:r>
            <a:r>
              <a:rPr dirty="0"/>
              <a:t>ha</a:t>
            </a:r>
            <a:r>
              <a:rPr dirty="0" spc="-45"/>
              <a:t> </a:t>
            </a:r>
            <a:r>
              <a:rPr dirty="0"/>
              <a:t>realizado</a:t>
            </a:r>
            <a:r>
              <a:rPr dirty="0" spc="-60"/>
              <a:t> </a:t>
            </a:r>
            <a:r>
              <a:rPr dirty="0"/>
              <a:t>una</a:t>
            </a:r>
            <a:r>
              <a:rPr dirty="0" spc="-45"/>
              <a:t> </a:t>
            </a:r>
            <a:r>
              <a:rPr dirty="0"/>
              <a:t>de</a:t>
            </a:r>
            <a:r>
              <a:rPr dirty="0" spc="-50"/>
              <a:t> </a:t>
            </a:r>
            <a:r>
              <a:rPr dirty="0" spc="-25"/>
              <a:t>las </a:t>
            </a:r>
            <a:r>
              <a:rPr dirty="0" spc="-25"/>
              <a:t>	</a:t>
            </a:r>
            <a:r>
              <a:rPr dirty="0" spc="-10"/>
              <a:t>siguientes</a:t>
            </a:r>
            <a:r>
              <a:rPr dirty="0" spc="-85"/>
              <a:t> </a:t>
            </a:r>
            <a:r>
              <a:rPr dirty="0" spc="-10"/>
              <a:t>acciones:</a:t>
            </a:r>
          </a:p>
          <a:p>
            <a:pPr marL="355600">
              <a:lnSpc>
                <a:spcPct val="100000"/>
              </a:lnSpc>
              <a:spcBef>
                <a:spcPts val="80"/>
              </a:spcBef>
            </a:pPr>
            <a:r>
              <a:rPr dirty="0" sz="2400">
                <a:solidFill>
                  <a:srgbClr val="D1350F"/>
                </a:solidFill>
              </a:rPr>
              <a:t>−</a:t>
            </a:r>
            <a:r>
              <a:rPr dirty="0" sz="2400"/>
              <a:t>Asignar</a:t>
            </a:r>
            <a:r>
              <a:rPr dirty="0" sz="2400" spc="-40"/>
              <a:t> </a:t>
            </a:r>
            <a:r>
              <a:rPr dirty="0" sz="2400"/>
              <a:t>un</a:t>
            </a:r>
            <a:r>
              <a:rPr dirty="0" sz="2400" spc="-30"/>
              <a:t> </a:t>
            </a:r>
            <a:r>
              <a:rPr dirty="0" sz="2400"/>
              <a:t>nombre</a:t>
            </a:r>
            <a:r>
              <a:rPr dirty="0" sz="2400" spc="-25"/>
              <a:t> </a:t>
            </a:r>
            <a:r>
              <a:rPr dirty="0" sz="2400"/>
              <a:t>a</a:t>
            </a:r>
            <a:r>
              <a:rPr dirty="0" sz="2400" spc="-30"/>
              <a:t> </a:t>
            </a:r>
            <a:r>
              <a:rPr dirty="0" sz="2400"/>
              <a:t>una</a:t>
            </a:r>
            <a:r>
              <a:rPr dirty="0" sz="2400" spc="-30"/>
              <a:t> </a:t>
            </a:r>
            <a:r>
              <a:rPr dirty="0" sz="2400"/>
              <a:t>tabla</a:t>
            </a:r>
            <a:r>
              <a:rPr dirty="0" sz="2400" spc="-40"/>
              <a:t> </a:t>
            </a:r>
            <a:r>
              <a:rPr dirty="0" sz="2400"/>
              <a:t>o</a:t>
            </a:r>
            <a:r>
              <a:rPr dirty="0" sz="2400" spc="-30"/>
              <a:t> </a:t>
            </a:r>
            <a:r>
              <a:rPr dirty="0" sz="2400"/>
              <a:t>vista</a:t>
            </a:r>
            <a:r>
              <a:rPr dirty="0" sz="2400" spc="-40"/>
              <a:t> </a:t>
            </a:r>
            <a:r>
              <a:rPr dirty="0" sz="2400"/>
              <a:t>que</a:t>
            </a:r>
            <a:r>
              <a:rPr dirty="0" sz="2400" spc="-25"/>
              <a:t> </a:t>
            </a:r>
            <a:r>
              <a:rPr dirty="0" sz="2400"/>
              <a:t>no</a:t>
            </a:r>
            <a:r>
              <a:rPr dirty="0" sz="2400" spc="-35"/>
              <a:t> </a:t>
            </a:r>
            <a:r>
              <a:rPr dirty="0" sz="2400" spc="-10"/>
              <a:t>existe</a:t>
            </a:r>
            <a:endParaRPr sz="2400"/>
          </a:p>
          <a:p>
            <a:pPr marL="530860" marR="389890" indent="-175260">
              <a:lnSpc>
                <a:spcPts val="2590"/>
              </a:lnSpc>
              <a:spcBef>
                <a:spcPts val="445"/>
              </a:spcBef>
            </a:pPr>
            <a:r>
              <a:rPr dirty="0" sz="2400">
                <a:solidFill>
                  <a:srgbClr val="D1350F"/>
                </a:solidFill>
              </a:rPr>
              <a:t>−</a:t>
            </a:r>
            <a:r>
              <a:rPr dirty="0" sz="2400"/>
              <a:t>Intentar</a:t>
            </a:r>
            <a:r>
              <a:rPr dirty="0" sz="2400" spc="-60"/>
              <a:t> </a:t>
            </a:r>
            <a:r>
              <a:rPr dirty="0" sz="2400" spc="-10"/>
              <a:t>realizar</a:t>
            </a:r>
            <a:r>
              <a:rPr dirty="0" sz="2400" spc="-55"/>
              <a:t> </a:t>
            </a:r>
            <a:r>
              <a:rPr dirty="0" sz="2400"/>
              <a:t>una</a:t>
            </a:r>
            <a:r>
              <a:rPr dirty="0" sz="2400" spc="-45"/>
              <a:t> </a:t>
            </a:r>
            <a:r>
              <a:rPr dirty="0" sz="2400" spc="-10"/>
              <a:t>operación</a:t>
            </a:r>
            <a:r>
              <a:rPr dirty="0" sz="2400" spc="-60"/>
              <a:t> </a:t>
            </a:r>
            <a:r>
              <a:rPr dirty="0" sz="2400"/>
              <a:t>en</a:t>
            </a:r>
            <a:r>
              <a:rPr dirty="0" sz="2400" spc="-45"/>
              <a:t> </a:t>
            </a:r>
            <a:r>
              <a:rPr dirty="0" sz="2400"/>
              <a:t>una</a:t>
            </a:r>
            <a:r>
              <a:rPr dirty="0" sz="2400" spc="-45"/>
              <a:t> </a:t>
            </a:r>
            <a:r>
              <a:rPr dirty="0" sz="2400"/>
              <a:t>tabla</a:t>
            </a:r>
            <a:r>
              <a:rPr dirty="0" sz="2400" spc="-55"/>
              <a:t> </a:t>
            </a:r>
            <a:r>
              <a:rPr dirty="0" sz="2400"/>
              <a:t>o</a:t>
            </a:r>
            <a:r>
              <a:rPr dirty="0" sz="2400" spc="-50"/>
              <a:t> </a:t>
            </a:r>
            <a:r>
              <a:rPr dirty="0" sz="2400"/>
              <a:t>vista</a:t>
            </a:r>
            <a:r>
              <a:rPr dirty="0" sz="2400" spc="-55"/>
              <a:t> </a:t>
            </a:r>
            <a:r>
              <a:rPr dirty="0" sz="2400"/>
              <a:t>para</a:t>
            </a:r>
            <a:r>
              <a:rPr dirty="0" sz="2400" spc="-55"/>
              <a:t> </a:t>
            </a:r>
            <a:r>
              <a:rPr dirty="0" sz="2400" spc="-25"/>
              <a:t>la </a:t>
            </a:r>
            <a:r>
              <a:rPr dirty="0" sz="2400"/>
              <a:t>que</a:t>
            </a:r>
            <a:r>
              <a:rPr dirty="0" sz="2400" spc="-30"/>
              <a:t> </a:t>
            </a:r>
            <a:r>
              <a:rPr dirty="0" sz="2400"/>
              <a:t>no</a:t>
            </a:r>
            <a:r>
              <a:rPr dirty="0" sz="2400" spc="-35"/>
              <a:t> </a:t>
            </a:r>
            <a:r>
              <a:rPr dirty="0" sz="2400"/>
              <a:t>tiene</a:t>
            </a:r>
            <a:r>
              <a:rPr dirty="0" sz="2400" spc="-30"/>
              <a:t> </a:t>
            </a:r>
            <a:r>
              <a:rPr dirty="0" sz="2400"/>
              <a:t>el</a:t>
            </a:r>
            <a:r>
              <a:rPr dirty="0" sz="2400" spc="-30"/>
              <a:t> </a:t>
            </a:r>
            <a:r>
              <a:rPr dirty="0" sz="2400"/>
              <a:t>privilegio</a:t>
            </a:r>
            <a:r>
              <a:rPr dirty="0" sz="2400" spc="-50"/>
              <a:t> </a:t>
            </a:r>
            <a:r>
              <a:rPr dirty="0" sz="2400" spc="-10"/>
              <a:t>adecuado</a:t>
            </a:r>
            <a:endParaRPr sz="2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Privilegios</a:t>
            </a:r>
            <a:r>
              <a:rPr dirty="0" spc="-60"/>
              <a:t> </a:t>
            </a:r>
            <a:r>
              <a:rPr dirty="0"/>
              <a:t>de</a:t>
            </a:r>
            <a:r>
              <a:rPr dirty="0" spc="-60"/>
              <a:t> </a:t>
            </a:r>
            <a:r>
              <a:rPr dirty="0" spc="-10"/>
              <a:t>Visualización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17-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Control</a:t>
            </a:r>
            <a:r>
              <a:rPr dirty="0" spc="-30"/>
              <a:t> </a:t>
            </a:r>
            <a:r>
              <a:rPr dirty="0"/>
              <a:t>del</a:t>
            </a:r>
            <a:r>
              <a:rPr dirty="0" spc="-25"/>
              <a:t> </a:t>
            </a:r>
            <a:r>
              <a:rPr dirty="0"/>
              <a:t>Acceso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25"/>
              <a:t> </a:t>
            </a:r>
            <a:r>
              <a:rPr dirty="0"/>
              <a:t>los</a:t>
            </a:r>
            <a:r>
              <a:rPr dirty="0" spc="-20"/>
              <a:t> </a:t>
            </a:r>
            <a:r>
              <a:rPr dirty="0" spc="-10"/>
              <a:t>Usuarios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8750490" y="6567768"/>
            <a:ext cx="15367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 sz="1000" spc="-25" b="1">
                <a:solidFill>
                  <a:srgbClr val="4E3629"/>
                </a:solidFill>
                <a:latin typeface="Calibri"/>
                <a:cs typeface="Calibri"/>
              </a:rPr>
              <a:t>26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398461" y="1487606"/>
          <a:ext cx="8314055" cy="38842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53360"/>
                <a:gridCol w="5471160"/>
              </a:tblGrid>
              <a:tr h="3194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5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Vista</a:t>
                      </a:r>
                      <a:r>
                        <a:rPr dirty="0" sz="1500" spc="-45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del</a:t>
                      </a:r>
                      <a:r>
                        <a:rPr dirty="0" sz="1500" spc="-5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Diccionario</a:t>
                      </a:r>
                      <a:r>
                        <a:rPr dirty="0" sz="1500" spc="-35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500" spc="-45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2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Datos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5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Description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dirty="0" sz="15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ROLE_SYS_PRIVS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1187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Privilegios</a:t>
                      </a:r>
                      <a:r>
                        <a:rPr dirty="0" sz="15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del</a:t>
                      </a:r>
                      <a:r>
                        <a:rPr dirty="0" sz="15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sistema</a:t>
                      </a:r>
                      <a:r>
                        <a:rPr dirty="0" sz="15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otorgados</a:t>
                      </a:r>
                      <a:r>
                        <a:rPr dirty="0" sz="1500" spc="-5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5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roles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1187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5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ROLE_TAB_PRIVS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Privilegios</a:t>
                      </a:r>
                      <a:r>
                        <a:rPr dirty="0" sz="15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5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tabla</a:t>
                      </a:r>
                      <a:r>
                        <a:rPr dirty="0" sz="15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otorgados</a:t>
                      </a:r>
                      <a:r>
                        <a:rPr dirty="0" sz="1500" spc="-5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5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roles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5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USER_ROLE_PRIVS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Roles</a:t>
                      </a:r>
                      <a:r>
                        <a:rPr dirty="0" sz="15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5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los</a:t>
                      </a:r>
                      <a:r>
                        <a:rPr dirty="0" sz="15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que</a:t>
                      </a:r>
                      <a:r>
                        <a:rPr dirty="0" sz="15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puede</a:t>
                      </a:r>
                      <a:r>
                        <a:rPr dirty="0" sz="15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acceder</a:t>
                      </a:r>
                      <a:r>
                        <a:rPr dirty="0" sz="15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el</a:t>
                      </a:r>
                      <a:r>
                        <a:rPr dirty="0" sz="15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usuario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40"/>
                        </a:spcBef>
                      </a:pPr>
                      <a:r>
                        <a:rPr dirty="0" sz="15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USER_TAB_PRIVS_MADE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1193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40"/>
                        </a:spcBef>
                      </a:pP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Privilegios</a:t>
                      </a:r>
                      <a:r>
                        <a:rPr dirty="0" sz="15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5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objeto</a:t>
                      </a:r>
                      <a:r>
                        <a:rPr dirty="0" sz="15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otorgados</a:t>
                      </a:r>
                      <a:r>
                        <a:rPr dirty="0" sz="1500" spc="-6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5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objetos</a:t>
                      </a:r>
                      <a:r>
                        <a:rPr dirty="0" sz="15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del</a:t>
                      </a:r>
                      <a:r>
                        <a:rPr dirty="0" sz="15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usuario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1193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dirty="0" sz="15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USER_TAB_PRIVS_RECD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1187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Privilegios</a:t>
                      </a:r>
                      <a:r>
                        <a:rPr dirty="0" sz="15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5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objeto</a:t>
                      </a:r>
                      <a:r>
                        <a:rPr dirty="0" sz="15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otorgados</a:t>
                      </a:r>
                      <a:r>
                        <a:rPr dirty="0" sz="1500" spc="-6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al</a:t>
                      </a:r>
                      <a:r>
                        <a:rPr dirty="0" sz="15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usuario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1187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dirty="0" sz="15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USER_COL_PRIVS_MADE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1187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Privilegios</a:t>
                      </a:r>
                      <a:r>
                        <a:rPr dirty="0" sz="15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5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objeto</a:t>
                      </a:r>
                      <a:r>
                        <a:rPr dirty="0" sz="15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otorgados</a:t>
                      </a:r>
                      <a:r>
                        <a:rPr dirty="0" sz="1500" spc="-6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5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columnas</a:t>
                      </a:r>
                      <a:r>
                        <a:rPr dirty="0" sz="1500" spc="-5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5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objetos</a:t>
                      </a:r>
                      <a:r>
                        <a:rPr dirty="0" sz="15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del</a:t>
                      </a:r>
                      <a:r>
                        <a:rPr dirty="0" sz="15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usuario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1187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dirty="0" sz="15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USER_COL_PRIVS_RECD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1187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Privilegios</a:t>
                      </a:r>
                      <a:r>
                        <a:rPr dirty="0" sz="15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5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objeto</a:t>
                      </a:r>
                      <a:r>
                        <a:rPr dirty="0" sz="15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otorgados</a:t>
                      </a:r>
                      <a:r>
                        <a:rPr dirty="0" sz="1500" spc="-6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al</a:t>
                      </a:r>
                      <a:r>
                        <a:rPr dirty="0" sz="15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usuario</a:t>
                      </a:r>
                      <a:r>
                        <a:rPr dirty="0" sz="1500" spc="-5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en</a:t>
                      </a:r>
                      <a:r>
                        <a:rPr dirty="0" sz="15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columnas</a:t>
                      </a:r>
                      <a:r>
                        <a:rPr dirty="0" sz="15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específicas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1187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dirty="0" sz="15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USER_SYS_PRIVS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1187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dirty="0" sz="15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Muestra</a:t>
                      </a:r>
                      <a:r>
                        <a:rPr dirty="0" sz="15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privilegios</a:t>
                      </a:r>
                      <a:r>
                        <a:rPr dirty="0" sz="15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del</a:t>
                      </a:r>
                      <a:r>
                        <a:rPr dirty="0" sz="15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sistema</a:t>
                      </a:r>
                      <a:r>
                        <a:rPr dirty="0" sz="15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otorgados</a:t>
                      </a:r>
                      <a:r>
                        <a:rPr dirty="0" sz="1500" spc="-5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al</a:t>
                      </a:r>
                      <a:r>
                        <a:rPr dirty="0" sz="15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usuario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1187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Oracle Academy</dc:creator>
  <dc:title>PowerPoint Presentation</dc:title>
  <dcterms:created xsi:type="dcterms:W3CDTF">2025-06-01T18:17:05Z</dcterms:created>
  <dcterms:modified xsi:type="dcterms:W3CDTF">2025-06-01T18:17:05Z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2025-03-09T00:00:00Z</vt:filetime>
  </property>
  <property fmtid="{D5CDD505-2E9C-101B-9397-08002B2CF9AE}" pid="3" name="Creator">
    <vt:lpwstr>Acrobat PDFMaker 20 for PowerPoint</vt:lpwstr>
  </property>
  <property fmtid="{D5CDD505-2E9C-101B-9397-08002B2CF9AE}" pid="4" name="LastSaved">
    <vt:filetime>2025-06-01T00:00:00Z</vt:filetime>
  </property>
  <property fmtid="{D5CDD505-2E9C-101B-9397-08002B2CF9AE}" pid="5" name="Producer">
    <vt:lpwstr>macOS Version 15.3.1 (Build 24D70) Quartz PDFContext</vt:lpwstr>
  </property>
</Properties>
</file>