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/Relationships>
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/Relationships>
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/Relationships>
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/Relationships>
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19:16:18</a:t>
            </a:r>
          </a:p>
          <a:p>
            <a:r>
              <a:t>--------------------------------------------</a:t>
            </a:r>
          </a:p>
          <a:p>
            <a:r>
              <a:t>Consulte la diapositiva 5 </a:t>
            </a:r>
          </a:p>
          <a:p>
            <a:r>
              <a:t>Cada vez que envía una transacción en Oracle Application Express, se produce una CONFIRMACIÓN implícita. Puesto que se produce esta CONFIRMACIÓN, no se puede producir un ROLLBACK.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19:16:19</a:t>
            </a:r>
          </a:p>
          <a:p>
            <a:r>
              <a:t>--------------------------------------------</a:t>
            </a:r>
          </a:p>
          <a:p>
            <a:r>
              <a:t>Consulte la diapositiva 5 </a:t>
            </a:r>
          </a:p>
          <a:p>
            <a:r>
              <a:t>Cada vez que envía una transacción en Oracle Application Express, se produce una CONFIRMACIÓN implícita. Puesto que se produce esta CONFIRMACIÓN, no se puede producir un ROLLBACK.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781240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162925" cy="4497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heavy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428750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4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Relationship Id="rId4" Type="http://schemas.openxmlformats.org/officeDocument/2006/relationships/slide" Target="slide1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Relationship Id="rId4" Type="http://schemas.openxmlformats.org/officeDocument/2006/relationships/slide" Target="slide1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Relationship Id="rId4" Type="http://schemas.openxmlformats.org/officeDocument/2006/relationships/slide" Target="slide14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slide1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401701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18-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spc="-20" b="1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r>
              <a:rPr dirty="0" sz="2400" spc="-4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1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 Datos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9603" y="3485388"/>
            <a:ext cx="5099304" cy="3003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Transactions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0209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47942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concepto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fundamental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sistemas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182880" marR="73787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transacciones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permiten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realizar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cambios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y,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continuación,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decidir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desean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guardar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desechar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trabajo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agrupar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varios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pasos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unidad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lógica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trabajo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Transactions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87640" cy="33477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736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consiste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 	opciones:</a:t>
            </a:r>
            <a:endParaRPr sz="2800">
              <a:latin typeface="Calibri"/>
              <a:cs typeface="Calibri"/>
            </a:endParaRPr>
          </a:p>
          <a:p>
            <a:pPr marL="530860" marR="5080" indent="-17526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constituyen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cambio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consistente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datos</a:t>
            </a:r>
            <a:endParaRPr sz="2400">
              <a:latin typeface="Calibri"/>
              <a:cs typeface="Calibri"/>
            </a:endParaRPr>
          </a:p>
          <a:p>
            <a:pPr marL="530860" marR="429259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sentencias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DML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incluyen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INSERT,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UPDATE,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MERGE</a:t>
            </a:r>
            <a:endParaRPr sz="2400">
              <a:latin typeface="Calibri"/>
              <a:cs typeface="Calibri"/>
            </a:endParaRPr>
          </a:p>
          <a:p>
            <a:pPr marL="530860" marR="224790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DDL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CREATE,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ALTER,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DROP,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RENAME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TRUNCATE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DCL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GRANT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REVOKE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Analogía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20"/>
              <a:t>Transacción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43875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banco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saldos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varias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así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depósito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totales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sucursales</a:t>
            </a:r>
            <a:endParaRPr sz="2800">
              <a:latin typeface="Calibri"/>
              <a:cs typeface="Calibri"/>
            </a:endParaRPr>
          </a:p>
          <a:p>
            <a:pPr algn="just" marL="182880" marR="39687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Supongamos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retirar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transferir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dinero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depositarlo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cliente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sucursal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diferente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6935" y="4047744"/>
            <a:ext cx="3310128" cy="220370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Analogía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20"/>
              <a:t>Transacción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Hay</a:t>
            </a:r>
            <a:r>
              <a:rPr dirty="0" u="none" spc="-110"/>
              <a:t> </a:t>
            </a:r>
            <a:r>
              <a:rPr dirty="0" u="none"/>
              <a:t>varios</a:t>
            </a:r>
            <a:r>
              <a:rPr dirty="0" u="none" spc="-95"/>
              <a:t> </a:t>
            </a:r>
            <a:r>
              <a:rPr dirty="0" u="none"/>
              <a:t>pasos</a:t>
            </a:r>
            <a:r>
              <a:rPr dirty="0" u="none" spc="-95"/>
              <a:t> </a:t>
            </a:r>
            <a:r>
              <a:rPr dirty="0" u="none" spc="-10"/>
              <a:t>independientes</a:t>
            </a:r>
            <a:r>
              <a:rPr dirty="0" u="none" spc="-55"/>
              <a:t> </a:t>
            </a:r>
            <a:r>
              <a:rPr dirty="0" u="none"/>
              <a:t>implicados</a:t>
            </a:r>
            <a:r>
              <a:rPr dirty="0" u="none" spc="-70"/>
              <a:t> </a:t>
            </a:r>
            <a:r>
              <a:rPr dirty="0" u="none"/>
              <a:t>para</a:t>
            </a:r>
            <a:r>
              <a:rPr dirty="0" u="none" spc="-100"/>
              <a:t> </a:t>
            </a:r>
            <a:r>
              <a:rPr dirty="0" u="none" spc="-10"/>
              <a:t>lograr </a:t>
            </a:r>
            <a:r>
              <a:rPr dirty="0" u="none" spc="-10"/>
              <a:t>	</a:t>
            </a:r>
            <a:r>
              <a:rPr dirty="0" u="none"/>
              <a:t>esta</a:t>
            </a:r>
            <a:r>
              <a:rPr dirty="0" u="none" spc="-110"/>
              <a:t> </a:t>
            </a:r>
            <a:r>
              <a:rPr dirty="0" u="none"/>
              <a:t>operación</a:t>
            </a:r>
            <a:r>
              <a:rPr dirty="0" u="none" spc="-110"/>
              <a:t> </a:t>
            </a:r>
            <a:r>
              <a:rPr dirty="0" u="none" spc="-10"/>
              <a:t>bastante</a:t>
            </a:r>
            <a:r>
              <a:rPr dirty="0" u="none" spc="-110"/>
              <a:t> </a:t>
            </a:r>
            <a:r>
              <a:rPr dirty="0" u="none" spc="-10"/>
              <a:t>sencilla</a:t>
            </a:r>
          </a:p>
          <a:p>
            <a:pPr marL="182880" marR="8001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Las</a:t>
            </a:r>
            <a:r>
              <a:rPr dirty="0" u="none" spc="-75"/>
              <a:t> </a:t>
            </a:r>
            <a:r>
              <a:rPr dirty="0" u="none"/>
              <a:t>dos</a:t>
            </a:r>
            <a:r>
              <a:rPr dirty="0" u="none" spc="-50"/>
              <a:t> </a:t>
            </a:r>
            <a:r>
              <a:rPr dirty="0" u="none"/>
              <a:t>sucursales</a:t>
            </a:r>
            <a:r>
              <a:rPr dirty="0" u="none" spc="-40"/>
              <a:t> </a:t>
            </a:r>
            <a:r>
              <a:rPr dirty="0" u="none"/>
              <a:t>bancarias</a:t>
            </a:r>
            <a:r>
              <a:rPr dirty="0" u="none" spc="-45"/>
              <a:t> </a:t>
            </a:r>
            <a:r>
              <a:rPr dirty="0" u="none"/>
              <a:t>desean</a:t>
            </a:r>
            <a:r>
              <a:rPr dirty="0" u="none" spc="-65"/>
              <a:t> </a:t>
            </a:r>
            <a:r>
              <a:rPr dirty="0" u="none" spc="-10"/>
              <a:t>asegurarse</a:t>
            </a:r>
            <a:r>
              <a:rPr dirty="0" u="none" spc="-60"/>
              <a:t> </a:t>
            </a:r>
            <a:r>
              <a:rPr dirty="0" u="none"/>
              <a:t>de</a:t>
            </a:r>
            <a:r>
              <a:rPr dirty="0" u="none" spc="-65"/>
              <a:t> </a:t>
            </a:r>
            <a:r>
              <a:rPr dirty="0" u="none" spc="-25"/>
              <a:t>que </a:t>
            </a:r>
            <a:r>
              <a:rPr dirty="0" u="none" spc="-25"/>
              <a:t>	</a:t>
            </a:r>
            <a:r>
              <a:rPr dirty="0" u="none"/>
              <a:t>se</a:t>
            </a:r>
            <a:r>
              <a:rPr dirty="0" u="none" spc="-60"/>
              <a:t> </a:t>
            </a:r>
            <a:r>
              <a:rPr dirty="0" u="none"/>
              <a:t>producen</a:t>
            </a:r>
            <a:r>
              <a:rPr dirty="0" u="none" spc="-15"/>
              <a:t> </a:t>
            </a:r>
            <a:r>
              <a:rPr dirty="0" u="none"/>
              <a:t>todos</a:t>
            </a:r>
            <a:r>
              <a:rPr dirty="0" u="none" spc="-35"/>
              <a:t> </a:t>
            </a:r>
            <a:r>
              <a:rPr dirty="0" u="none"/>
              <a:t>los</a:t>
            </a:r>
            <a:r>
              <a:rPr dirty="0" u="none" spc="-65"/>
              <a:t> </a:t>
            </a:r>
            <a:r>
              <a:rPr dirty="0" u="none"/>
              <a:t>pasos</a:t>
            </a:r>
            <a:r>
              <a:rPr dirty="0" u="none" spc="-35"/>
              <a:t> </a:t>
            </a:r>
            <a:r>
              <a:rPr dirty="0" u="none"/>
              <a:t>de</a:t>
            </a:r>
            <a:r>
              <a:rPr dirty="0" u="none" spc="-50"/>
              <a:t> </a:t>
            </a:r>
            <a:r>
              <a:rPr dirty="0" u="none"/>
              <a:t>la</a:t>
            </a:r>
            <a:r>
              <a:rPr dirty="0" u="none" spc="-50"/>
              <a:t> </a:t>
            </a:r>
            <a:r>
              <a:rPr dirty="0" u="none" spc="-10"/>
              <a:t>transacción,</a:t>
            </a:r>
            <a:r>
              <a:rPr dirty="0" u="none" spc="-35"/>
              <a:t> </a:t>
            </a:r>
            <a:r>
              <a:rPr dirty="0" u="none"/>
              <a:t>o</a:t>
            </a:r>
            <a:r>
              <a:rPr dirty="0" u="none" spc="-60"/>
              <a:t> </a:t>
            </a:r>
            <a:r>
              <a:rPr dirty="0" u="none"/>
              <a:t>no</a:t>
            </a:r>
            <a:r>
              <a:rPr dirty="0" u="none" spc="-40"/>
              <a:t> </a:t>
            </a:r>
            <a:r>
              <a:rPr dirty="0" u="none" spc="-25"/>
              <a:t>se </a:t>
            </a:r>
            <a:r>
              <a:rPr dirty="0" u="none" spc="-25"/>
              <a:t>	</a:t>
            </a:r>
            <a:r>
              <a:rPr dirty="0" u="none"/>
              <a:t>produce</a:t>
            </a:r>
            <a:r>
              <a:rPr dirty="0" u="none" spc="-40"/>
              <a:t> </a:t>
            </a:r>
            <a:r>
              <a:rPr dirty="0" u="none"/>
              <a:t>ninguno</a:t>
            </a:r>
            <a:r>
              <a:rPr dirty="0" u="none" spc="-3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/>
              <a:t>ellos,</a:t>
            </a:r>
            <a:r>
              <a:rPr dirty="0" u="none" spc="-60"/>
              <a:t> </a:t>
            </a:r>
            <a:r>
              <a:rPr dirty="0" u="none"/>
              <a:t>y</a:t>
            </a:r>
            <a:r>
              <a:rPr dirty="0" u="none" spc="-70"/>
              <a:t> </a:t>
            </a:r>
            <a:r>
              <a:rPr dirty="0" u="none"/>
              <a:t>si</a:t>
            </a:r>
            <a:r>
              <a:rPr dirty="0" u="none" spc="-65"/>
              <a:t> </a:t>
            </a:r>
            <a:r>
              <a:rPr dirty="0" u="none"/>
              <a:t>el</a:t>
            </a:r>
            <a:r>
              <a:rPr dirty="0" u="none" spc="-70"/>
              <a:t> </a:t>
            </a:r>
            <a:r>
              <a:rPr dirty="0" u="none"/>
              <a:t>sistema</a:t>
            </a:r>
            <a:r>
              <a:rPr dirty="0" u="none" spc="-55"/>
              <a:t> </a:t>
            </a:r>
            <a:r>
              <a:rPr dirty="0" u="none"/>
              <a:t>falla,</a:t>
            </a:r>
            <a:r>
              <a:rPr dirty="0" u="none" spc="-65"/>
              <a:t> </a:t>
            </a:r>
            <a:r>
              <a:rPr dirty="0" u="none" spc="-25"/>
              <a:t>la </a:t>
            </a:r>
            <a:r>
              <a:rPr dirty="0" u="none" spc="-25"/>
              <a:t>	</a:t>
            </a:r>
            <a:r>
              <a:rPr dirty="0" u="none"/>
              <a:t>transacción</a:t>
            </a:r>
            <a:r>
              <a:rPr dirty="0" u="none" spc="-60"/>
              <a:t> </a:t>
            </a:r>
            <a:r>
              <a:rPr dirty="0" u="none"/>
              <a:t>no</a:t>
            </a:r>
            <a:r>
              <a:rPr dirty="0" u="none" spc="-60"/>
              <a:t> </a:t>
            </a:r>
            <a:r>
              <a:rPr dirty="0" u="none"/>
              <a:t>se</a:t>
            </a:r>
            <a:r>
              <a:rPr dirty="0" u="none" spc="-75"/>
              <a:t> </a:t>
            </a:r>
            <a:r>
              <a:rPr dirty="0" u="none"/>
              <a:t>deja</a:t>
            </a:r>
            <a:r>
              <a:rPr dirty="0" u="none" spc="-55"/>
              <a:t> </a:t>
            </a:r>
            <a:r>
              <a:rPr dirty="0" u="none" spc="-10"/>
              <a:t>parcialmente</a:t>
            </a:r>
            <a:r>
              <a:rPr dirty="0" u="none" spc="-75"/>
              <a:t> </a:t>
            </a:r>
            <a:r>
              <a:rPr dirty="0" u="none" spc="-10"/>
              <a:t>terminada</a:t>
            </a:r>
          </a:p>
          <a:p>
            <a:pPr marL="182880" marR="45593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La</a:t>
            </a:r>
            <a:r>
              <a:rPr dirty="0" u="none" spc="-60"/>
              <a:t> </a:t>
            </a:r>
            <a:r>
              <a:rPr dirty="0" u="none"/>
              <a:t>agrupación</a:t>
            </a:r>
            <a:r>
              <a:rPr dirty="0" u="none" spc="-35"/>
              <a:t> </a:t>
            </a:r>
            <a:r>
              <a:rPr dirty="0" u="none"/>
              <a:t>de</a:t>
            </a:r>
            <a:r>
              <a:rPr dirty="0" u="none" spc="-40"/>
              <a:t> </a:t>
            </a:r>
            <a:r>
              <a:rPr dirty="0" u="none"/>
              <a:t>los</a:t>
            </a:r>
            <a:r>
              <a:rPr dirty="0" u="none" spc="-60"/>
              <a:t> </a:t>
            </a:r>
            <a:r>
              <a:rPr dirty="0" u="none"/>
              <a:t>pasos</a:t>
            </a:r>
            <a:r>
              <a:rPr dirty="0" u="none" spc="-30"/>
              <a:t> </a:t>
            </a:r>
            <a:r>
              <a:rPr dirty="0" u="none"/>
              <a:t>de</a:t>
            </a:r>
            <a:r>
              <a:rPr dirty="0" u="none" spc="-45"/>
              <a:t> </a:t>
            </a:r>
            <a:r>
              <a:rPr dirty="0" u="none" spc="-10"/>
              <a:t>retirada</a:t>
            </a:r>
            <a:r>
              <a:rPr dirty="0" u="none" spc="-45"/>
              <a:t> </a:t>
            </a:r>
            <a:r>
              <a:rPr dirty="0" u="none"/>
              <a:t>y</a:t>
            </a:r>
            <a:r>
              <a:rPr dirty="0" u="none" spc="-65"/>
              <a:t> </a:t>
            </a:r>
            <a:r>
              <a:rPr dirty="0" u="none"/>
              <a:t>depósito</a:t>
            </a:r>
            <a:r>
              <a:rPr dirty="0" u="none" spc="-30"/>
              <a:t> </a:t>
            </a:r>
            <a:r>
              <a:rPr dirty="0" u="none" spc="-25"/>
              <a:t>en </a:t>
            </a:r>
            <a:r>
              <a:rPr dirty="0" u="none" spc="-25"/>
              <a:t>	</a:t>
            </a:r>
            <a:r>
              <a:rPr dirty="0" u="none"/>
              <a:t>una</a:t>
            </a:r>
            <a:r>
              <a:rPr dirty="0" u="none" spc="-105"/>
              <a:t> </a:t>
            </a:r>
            <a:r>
              <a:rPr dirty="0" u="none"/>
              <a:t>transacción</a:t>
            </a:r>
            <a:r>
              <a:rPr dirty="0" u="none" spc="-95"/>
              <a:t> </a:t>
            </a:r>
            <a:r>
              <a:rPr dirty="0" u="none" spc="-10"/>
              <a:t>proporciona</a:t>
            </a:r>
            <a:r>
              <a:rPr dirty="0" u="none" spc="-90"/>
              <a:t> </a:t>
            </a:r>
            <a:r>
              <a:rPr dirty="0" u="none"/>
              <a:t>esta</a:t>
            </a:r>
            <a:r>
              <a:rPr dirty="0" u="none" spc="-105"/>
              <a:t> </a:t>
            </a:r>
            <a:r>
              <a:rPr dirty="0" u="none" spc="-10"/>
              <a:t>garantía</a:t>
            </a:r>
          </a:p>
          <a:p>
            <a:pPr marL="182880" marR="511809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Una</a:t>
            </a:r>
            <a:r>
              <a:rPr dirty="0" spc="-70"/>
              <a:t> </a:t>
            </a:r>
            <a:r>
              <a:rPr dirty="0" spc="-10"/>
              <a:t>transacción</a:t>
            </a:r>
            <a:r>
              <a:rPr dirty="0" spc="-40"/>
              <a:t> </a:t>
            </a:r>
            <a:r>
              <a:rPr dirty="0"/>
              <a:t>se</a:t>
            </a:r>
            <a:r>
              <a:rPr dirty="0" spc="-70"/>
              <a:t> </a:t>
            </a:r>
            <a:r>
              <a:rPr dirty="0"/>
              <a:t>produce</a:t>
            </a:r>
            <a:r>
              <a:rPr dirty="0" spc="-35"/>
              <a:t> </a:t>
            </a:r>
            <a:r>
              <a:rPr dirty="0" spc="-10"/>
              <a:t>completamente</a:t>
            </a:r>
            <a:r>
              <a:rPr dirty="0" spc="-60"/>
              <a:t> </a:t>
            </a:r>
            <a:r>
              <a:rPr dirty="0"/>
              <a:t>o</a:t>
            </a:r>
            <a:r>
              <a:rPr dirty="0" spc="-70"/>
              <a:t> </a:t>
            </a:r>
            <a:r>
              <a:rPr dirty="0"/>
              <a:t>no</a:t>
            </a:r>
            <a:r>
              <a:rPr dirty="0" spc="-60"/>
              <a:t> </a:t>
            </a:r>
            <a:r>
              <a:rPr dirty="0" spc="-25"/>
              <a:t>se</a:t>
            </a:r>
            <a:r>
              <a:rPr dirty="0" u="none" spc="-25"/>
              <a:t> </a:t>
            </a:r>
            <a:r>
              <a:rPr dirty="0" u="none" spc="-25"/>
              <a:t>	</a:t>
            </a:r>
            <a:r>
              <a:rPr dirty="0"/>
              <a:t>produce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80"/>
              <a:t> </a:t>
            </a:r>
            <a:r>
              <a:rPr dirty="0" spc="-10"/>
              <a:t>absoluto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26720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95"/>
              <a:t> </a:t>
            </a:r>
            <a:r>
              <a:rPr dirty="0" spc="-10"/>
              <a:t>Transacciones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4184" cy="41186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73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controlan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 	sentencias:</a:t>
            </a:r>
            <a:endParaRPr sz="2800">
              <a:latin typeface="Calibri"/>
              <a:cs typeface="Calibri"/>
            </a:endParaRPr>
          </a:p>
          <a:p>
            <a:pPr marL="530860" marR="575945" indent="-17526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COMMIT: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representa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punto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tiempo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el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realizado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cambios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quería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agruparlos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lógicamente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y,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puesto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cometido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ningún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error,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está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listo</a:t>
            </a:r>
            <a:r>
              <a:rPr dirty="0" u="heavy" sz="24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4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guardar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4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trabajo</a:t>
            </a:r>
            <a:endParaRPr sz="2400">
              <a:latin typeface="Calibri"/>
              <a:cs typeface="Calibri"/>
            </a:endParaRPr>
          </a:p>
          <a:p>
            <a:pPr lvl="1" marL="873125" marR="5080" indent="-175260">
              <a:lnSpc>
                <a:spcPts val="2160"/>
              </a:lnSpc>
              <a:spcBef>
                <a:spcPts val="425"/>
              </a:spcBef>
              <a:buClr>
                <a:srgbClr val="D1350F"/>
              </a:buClr>
              <a:buFont typeface="Arial MT"/>
              <a:buChar char="•"/>
              <a:tabLst>
                <a:tab pos="875030" algn="l"/>
              </a:tabLst>
            </a:pP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0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emite</a:t>
            </a:r>
            <a:r>
              <a:rPr dirty="0" sz="20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0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4E3629"/>
                </a:solidFill>
                <a:latin typeface="Calibri"/>
                <a:cs typeface="Calibri"/>
              </a:rPr>
              <a:t>COMMIT,</a:t>
            </a:r>
            <a:r>
              <a:rPr dirty="0" sz="20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r>
              <a:rPr dirty="0" sz="20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actual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finaliza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haciendo</a:t>
            </a:r>
            <a:r>
              <a:rPr dirty="0" sz="20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0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0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pendientes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sean</a:t>
            </a:r>
            <a:r>
              <a:rPr dirty="0" sz="20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permanentes</a:t>
            </a:r>
            <a:endParaRPr sz="2000">
              <a:latin typeface="Calibri"/>
              <a:cs typeface="Calibri"/>
            </a:endParaRPr>
          </a:p>
          <a:p>
            <a:pPr marL="530860" marR="1153795" indent="-175260">
              <a:lnSpc>
                <a:spcPts val="2590"/>
              </a:lnSpc>
              <a:spcBef>
                <a:spcPts val="37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ROLLBACK: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permite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4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desechar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4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cambios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realizados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4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 lvl="1" marL="873125" marR="476250" indent="-175260">
              <a:lnSpc>
                <a:spcPts val="2160"/>
              </a:lnSpc>
              <a:spcBef>
                <a:spcPts val="420"/>
              </a:spcBef>
              <a:buClr>
                <a:srgbClr val="D1350F"/>
              </a:buClr>
              <a:buFont typeface="Arial MT"/>
              <a:buChar char="•"/>
              <a:tabLst>
                <a:tab pos="875030" algn="l"/>
              </a:tabLst>
            </a:pP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0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emite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0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ROLLBACK,</a:t>
            </a:r>
            <a:r>
              <a:rPr dirty="0" sz="20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desechan</a:t>
            </a:r>
            <a:r>
              <a:rPr dirty="0" sz="20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0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0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pendientes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26720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dirty="0" spc="-100"/>
              <a:t> </a:t>
            </a:r>
            <a:r>
              <a:rPr dirty="0"/>
              <a:t>de</a:t>
            </a:r>
            <a:r>
              <a:rPr dirty="0" spc="-95"/>
              <a:t> </a:t>
            </a:r>
            <a:r>
              <a:rPr dirty="0" spc="-10"/>
              <a:t>Transacciones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94345" cy="346456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7747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controlan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siguientes 	sentencias:</a:t>
            </a:r>
            <a:endParaRPr sz="2800">
              <a:latin typeface="Calibri"/>
              <a:cs typeface="Calibri"/>
            </a:endParaRPr>
          </a:p>
          <a:p>
            <a:pPr marL="530860" marR="5080" indent="-175260">
              <a:lnSpc>
                <a:spcPts val="2590"/>
              </a:lnSpc>
              <a:spcBef>
                <a:spcPts val="425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SAVEPOINT: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marcador</a:t>
            </a:r>
            <a:r>
              <a:rPr dirty="0" u="heavy" sz="24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transacción,</a:t>
            </a:r>
            <a:r>
              <a:rPr dirty="0" u="heavy" sz="24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divide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varias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partes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pequeñas</a:t>
            </a:r>
            <a:endParaRPr sz="2400">
              <a:latin typeface="Calibri"/>
              <a:cs typeface="Calibri"/>
            </a:endParaRPr>
          </a:p>
          <a:p>
            <a:pPr marL="530860" marR="643255" indent="-175260">
              <a:lnSpc>
                <a:spcPts val="2590"/>
              </a:lnSpc>
              <a:spcBef>
                <a:spcPts val="400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SAVEPOINT: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permite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realizar</a:t>
            </a:r>
            <a:r>
              <a:rPr dirty="0" u="heavy" sz="24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rollback</a:t>
            </a:r>
            <a:r>
              <a:rPr dirty="0" u="heavy" sz="24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4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4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actual</a:t>
            </a:r>
            <a:r>
              <a:rPr dirty="0" u="heavy" sz="24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hasta</a:t>
            </a:r>
            <a:r>
              <a:rPr dirty="0" u="heavy" sz="24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punto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grabación</a:t>
            </a:r>
            <a:r>
              <a:rPr dirty="0" u="heavy" sz="2400" spc="-1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especificado</a:t>
            </a:r>
            <a:endParaRPr sz="2400">
              <a:latin typeface="Calibri"/>
              <a:cs typeface="Calibri"/>
            </a:endParaRPr>
          </a:p>
          <a:p>
            <a:pPr algn="just" lvl="1" marL="873125" marR="429259" indent="-175260">
              <a:lnSpc>
                <a:spcPts val="2160"/>
              </a:lnSpc>
              <a:spcBef>
                <a:spcPts val="420"/>
              </a:spcBef>
              <a:buClr>
                <a:srgbClr val="D1350F"/>
              </a:buClr>
              <a:buFont typeface="Arial MT"/>
              <a:buChar char="•"/>
              <a:tabLst>
                <a:tab pos="875030" algn="l"/>
              </a:tabLst>
            </a:pP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0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0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cometido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4E3629"/>
                </a:solidFill>
                <a:latin typeface="Calibri"/>
                <a:cs typeface="Calibri"/>
              </a:rPr>
              <a:t>error,</a:t>
            </a: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0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emitir</a:t>
            </a:r>
            <a:r>
              <a:rPr dirty="0" sz="20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0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sentencia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0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TO</a:t>
            </a:r>
            <a:r>
              <a:rPr dirty="0" sz="20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20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desechando</a:t>
            </a:r>
            <a:r>
              <a:rPr dirty="0" sz="20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0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0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0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realizados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0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0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establecer</a:t>
            </a:r>
            <a:r>
              <a:rPr dirty="0" sz="20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02399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20"/>
              <a:t>Transacción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7493634" cy="79311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inmediatamente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creado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SAVEPOINT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495677"/>
            <a:ext cx="7786370" cy="22593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5080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Después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INSERT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diapositiva),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incluido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cláusula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última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endParaRPr sz="2800">
              <a:latin typeface="Calibri"/>
              <a:cs typeface="Calibri"/>
            </a:endParaRPr>
          </a:p>
          <a:p>
            <a:pPr marL="182880" marR="1054100" indent="-170815">
              <a:lnSpc>
                <a:spcPct val="8000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solucionar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error,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emitido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800" spc="-1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</a:t>
            </a:r>
            <a:r>
              <a:rPr dirty="0" sz="2800" spc="-1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2177795"/>
            <a:ext cx="8345805" cy="8432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2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copy_departments</a:t>
            </a:r>
            <a:endParaRPr sz="1800">
              <a:latin typeface="Courier New"/>
              <a:cs typeface="Courier New"/>
            </a:endParaRPr>
          </a:p>
          <a:p>
            <a:pPr marR="492379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manager_id=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101</a:t>
            </a:r>
            <a:r>
              <a:rPr dirty="0" sz="1800" spc="5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60;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3191" y="3131820"/>
            <a:ext cx="8345805" cy="2971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3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SAVEPOINT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one;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05384" y="3628644"/>
            <a:ext cx="8345805" cy="539750"/>
          </a:xfrm>
          <a:custGeom>
            <a:avLst/>
            <a:gdLst/>
            <a:ahLst/>
            <a:cxnLst/>
            <a:rect l="l" t="t" r="r" b="b"/>
            <a:pathLst>
              <a:path w="8345805" h="539750">
                <a:moveTo>
                  <a:pt x="8345424" y="0"/>
                </a:moveTo>
                <a:lnTo>
                  <a:pt x="0" y="0"/>
                </a:lnTo>
                <a:lnTo>
                  <a:pt x="0" y="539495"/>
                </a:lnTo>
                <a:lnTo>
                  <a:pt x="8345424" y="539495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EC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04813" y="3584011"/>
            <a:ext cx="3289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UPDATE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copy_departments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140;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051" y="2378964"/>
            <a:ext cx="8347075" cy="84328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INSERT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INTO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copy_departments(department_id,</a:t>
            </a:r>
            <a:r>
              <a:rPr dirty="0" sz="1800" spc="-3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department_name,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manager_id,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location_id)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VALUES(130,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'Estate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Management',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102,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1500);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148" y="4575047"/>
            <a:ext cx="8347075" cy="3403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ROLLBACK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TO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SAVEPOINT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one;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5070347"/>
            <a:ext cx="8345805" cy="34036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COMMIT;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02399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20"/>
              <a:t>Transacción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483552" y="1415417"/>
            <a:ext cx="808926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restaurado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SAVEPOINT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730143" y="3779695"/>
            <a:ext cx="2298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Cláusula</a:t>
            </a:r>
            <a:r>
              <a:rPr dirty="0" sz="18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WHERE</a:t>
            </a:r>
            <a:r>
              <a:rPr dirty="0" sz="18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Calibri"/>
                <a:cs typeface="Calibri"/>
              </a:rPr>
              <a:t>omitida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1367" y="3891146"/>
            <a:ext cx="523240" cy="171450"/>
            <a:chOff x="4111367" y="3891146"/>
            <a:chExt cx="523240" cy="171450"/>
          </a:xfrm>
        </p:grpSpPr>
        <p:sp>
          <p:nvSpPr>
            <p:cNvPr id="11" name="object 11" descr=""/>
            <p:cNvSpPr/>
            <p:nvPr/>
          </p:nvSpPr>
          <p:spPr>
            <a:xfrm>
              <a:off x="4130415" y="3976877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89" h="0">
                  <a:moveTo>
                    <a:pt x="503707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30417" y="3910196"/>
              <a:ext cx="114935" cy="133350"/>
            </a:xfrm>
            <a:custGeom>
              <a:avLst/>
              <a:gdLst/>
              <a:ahLst/>
              <a:cxnLst/>
              <a:rect l="l" t="t" r="r" b="b"/>
              <a:pathLst>
                <a:path w="114935" h="133350">
                  <a:moveTo>
                    <a:pt x="114300" y="0"/>
                  </a:moveTo>
                  <a:lnTo>
                    <a:pt x="0" y="66675"/>
                  </a:lnTo>
                  <a:lnTo>
                    <a:pt x="114312" y="13335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¿Cuándo</a:t>
            </a:r>
            <a:r>
              <a:rPr dirty="0" spc="-80"/>
              <a:t> </a:t>
            </a:r>
            <a:r>
              <a:rPr dirty="0"/>
              <a:t>Empieza</a:t>
            </a:r>
            <a:r>
              <a:rPr dirty="0" spc="-90"/>
              <a:t> </a:t>
            </a:r>
            <a:r>
              <a:rPr dirty="0"/>
              <a:t>y</a:t>
            </a:r>
            <a:r>
              <a:rPr dirty="0" spc="-105"/>
              <a:t> </a:t>
            </a:r>
            <a:r>
              <a:rPr dirty="0" spc="-35"/>
              <a:t>Termina</a:t>
            </a:r>
            <a:r>
              <a:rPr dirty="0" spc="-100"/>
              <a:t> </a:t>
            </a:r>
            <a:r>
              <a:rPr dirty="0"/>
              <a:t>una</a:t>
            </a:r>
            <a:r>
              <a:rPr dirty="0" spc="-75"/>
              <a:t> </a:t>
            </a:r>
            <a:r>
              <a:rPr dirty="0" spc="-10"/>
              <a:t>Transacción?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73720" cy="405637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empieza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primera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DML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(INSERT,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UPDATE,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MERGE)</a:t>
            </a:r>
            <a:endParaRPr sz="2800">
              <a:latin typeface="Calibri"/>
              <a:cs typeface="Calibri"/>
            </a:endParaRPr>
          </a:p>
          <a:p>
            <a:pPr marL="530860" marR="861694" indent="-175260">
              <a:lnSpc>
                <a:spcPts val="2590"/>
              </a:lnSpc>
              <a:spcBef>
                <a:spcPts val="42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termina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produce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las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400" spc="-1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situaciones: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7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u="heavy" sz="2400" spc="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emite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COMMIT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4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4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ROLLBACK</a:t>
            </a:r>
            <a:endParaRPr sz="2400">
              <a:latin typeface="Calibri"/>
              <a:cs typeface="Calibri"/>
            </a:endParaRPr>
          </a:p>
          <a:p>
            <a:pPr marL="530860" marR="1332865" indent="-175260">
              <a:lnSpc>
                <a:spcPts val="2590"/>
              </a:lnSpc>
              <a:spcBef>
                <a:spcPts val="439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emite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DDL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(CREATE,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ALTER,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DROP,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RENAME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TRUNCATE)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emite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DCL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(GRANT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REVOKE)</a:t>
            </a:r>
            <a:endParaRPr sz="2400">
              <a:latin typeface="Calibri"/>
              <a:cs typeface="Calibri"/>
            </a:endParaRPr>
          </a:p>
          <a:p>
            <a:pPr marL="530860" marR="496570" indent="-175260">
              <a:lnSpc>
                <a:spcPts val="2590"/>
              </a:lnSpc>
              <a:spcBef>
                <a:spcPts val="439"/>
              </a:spcBef>
            </a:pPr>
            <a:r>
              <a:rPr dirty="0" sz="2400" spc="5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5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sale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normalmente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utilidad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Oracle,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hace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actual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confirme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4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implícita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¿Cuándo</a:t>
            </a:r>
            <a:r>
              <a:rPr dirty="0" spc="-80"/>
              <a:t> </a:t>
            </a:r>
            <a:r>
              <a:rPr dirty="0"/>
              <a:t>Empieza</a:t>
            </a:r>
            <a:r>
              <a:rPr dirty="0" spc="-90"/>
              <a:t> </a:t>
            </a:r>
            <a:r>
              <a:rPr dirty="0"/>
              <a:t>y</a:t>
            </a:r>
            <a:r>
              <a:rPr dirty="0" spc="-105"/>
              <a:t> </a:t>
            </a:r>
            <a:r>
              <a:rPr dirty="0" spc="-35"/>
              <a:t>Termina</a:t>
            </a:r>
            <a:r>
              <a:rPr dirty="0" spc="-100"/>
              <a:t> </a:t>
            </a:r>
            <a:r>
              <a:rPr dirty="0"/>
              <a:t>una</a:t>
            </a:r>
            <a:r>
              <a:rPr dirty="0" spc="-75"/>
              <a:t> </a:t>
            </a:r>
            <a:r>
              <a:rPr dirty="0" spc="-10"/>
              <a:t>Transacción?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53350" cy="37287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5621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finalización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transacción,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siguiente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sentencia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SQL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ejecutable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inicia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automáticamente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próxima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endParaRPr sz="2800">
              <a:latin typeface="Calibri"/>
              <a:cs typeface="Calibri"/>
            </a:endParaRPr>
          </a:p>
          <a:p>
            <a:pPr algn="just" marL="182880" marR="10922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confirma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automáticamente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nueva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DDL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DCL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tanto,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finaliza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implícita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cambios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realizados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durante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temporales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hasta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confirma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Consistencia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Lectura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13700" cy="42132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1054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consistencia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lectura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garantiza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vista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consistente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usuarios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todo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momento</a:t>
            </a:r>
            <a:endParaRPr sz="2800">
              <a:latin typeface="Calibri"/>
              <a:cs typeface="Calibri"/>
            </a:endParaRPr>
          </a:p>
          <a:p>
            <a:pPr marL="182880" marR="55753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lectores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visualicen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proceso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cambio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escritores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tengan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garantizado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realizarán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consistente</a:t>
            </a:r>
            <a:endParaRPr sz="2800">
              <a:latin typeface="Calibri"/>
              <a:cs typeface="Calibri"/>
            </a:endParaRPr>
          </a:p>
          <a:p>
            <a:pPr marL="182880" marR="852169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realizados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escritor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destruyan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conflicto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esté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realizando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escritor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5335523"/>
            <a:ext cx="2029968" cy="97688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17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Consistencia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Lectura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842644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La</a:t>
            </a:r>
            <a:r>
              <a:rPr dirty="0" spc="-55"/>
              <a:t> </a:t>
            </a:r>
            <a:r>
              <a:rPr dirty="0" spc="-10"/>
              <a:t>consistencia</a:t>
            </a:r>
            <a:r>
              <a:rPr dirty="0" spc="-1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lectura</a:t>
            </a:r>
            <a:r>
              <a:rPr dirty="0" spc="-35"/>
              <a:t> </a:t>
            </a:r>
            <a:r>
              <a:rPr dirty="0"/>
              <a:t>es</a:t>
            </a:r>
            <a:r>
              <a:rPr dirty="0" spc="-50"/>
              <a:t> </a:t>
            </a:r>
            <a:r>
              <a:rPr dirty="0"/>
              <a:t>una</a:t>
            </a:r>
            <a:r>
              <a:rPr dirty="0" spc="-40"/>
              <a:t> </a:t>
            </a:r>
            <a:r>
              <a:rPr dirty="0" spc="-10"/>
              <a:t>implementación</a:t>
            </a:r>
            <a:r>
              <a:rPr dirty="0" u="none" spc="-10"/>
              <a:t> </a:t>
            </a:r>
            <a:r>
              <a:rPr dirty="0" u="none" spc="-10"/>
              <a:t>	</a:t>
            </a:r>
            <a:r>
              <a:rPr dirty="0" spc="-10"/>
              <a:t>automática</a:t>
            </a: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Una</a:t>
            </a:r>
            <a:r>
              <a:rPr dirty="0" u="none" spc="-50"/>
              <a:t> </a:t>
            </a:r>
            <a:r>
              <a:rPr dirty="0" u="none"/>
              <a:t>copia</a:t>
            </a:r>
            <a:r>
              <a:rPr dirty="0" u="none" spc="-40"/>
              <a:t> </a:t>
            </a:r>
            <a:r>
              <a:rPr dirty="0" u="none"/>
              <a:t>parcial</a:t>
            </a:r>
            <a:r>
              <a:rPr dirty="0" u="none" spc="-55"/>
              <a:t> </a:t>
            </a:r>
            <a:r>
              <a:rPr dirty="0" u="none"/>
              <a:t>de</a:t>
            </a:r>
            <a:r>
              <a:rPr dirty="0" u="none" spc="-45"/>
              <a:t> </a:t>
            </a:r>
            <a:r>
              <a:rPr dirty="0" u="none"/>
              <a:t>la</a:t>
            </a:r>
            <a:r>
              <a:rPr dirty="0" u="none" spc="-55"/>
              <a:t> </a:t>
            </a:r>
            <a:r>
              <a:rPr dirty="0" u="none"/>
              <a:t>base</a:t>
            </a:r>
            <a:r>
              <a:rPr dirty="0" u="none" spc="-45"/>
              <a:t> </a:t>
            </a:r>
            <a:r>
              <a:rPr dirty="0" u="none"/>
              <a:t>de</a:t>
            </a:r>
            <a:r>
              <a:rPr dirty="0" u="none" spc="-40"/>
              <a:t> </a:t>
            </a:r>
            <a:r>
              <a:rPr dirty="0" u="none"/>
              <a:t>datos</a:t>
            </a:r>
            <a:r>
              <a:rPr dirty="0" u="none" spc="-45"/>
              <a:t> </a:t>
            </a:r>
            <a:r>
              <a:rPr dirty="0" u="none"/>
              <a:t>se</a:t>
            </a:r>
            <a:r>
              <a:rPr dirty="0" u="none" spc="-55"/>
              <a:t> </a:t>
            </a:r>
            <a:r>
              <a:rPr dirty="0" u="none"/>
              <a:t>mantiene</a:t>
            </a:r>
            <a:r>
              <a:rPr dirty="0" u="none" spc="-40"/>
              <a:t> </a:t>
            </a:r>
            <a:r>
              <a:rPr dirty="0" u="none" spc="-25"/>
              <a:t>en </a:t>
            </a:r>
            <a:r>
              <a:rPr dirty="0" u="none" spc="-25"/>
              <a:t>	</a:t>
            </a:r>
            <a:r>
              <a:rPr dirty="0" u="none"/>
              <a:t>segmentos</a:t>
            </a:r>
            <a:r>
              <a:rPr dirty="0" u="none" spc="-65"/>
              <a:t> </a:t>
            </a:r>
            <a:r>
              <a:rPr dirty="0" u="none"/>
              <a:t>de</a:t>
            </a:r>
            <a:r>
              <a:rPr dirty="0" u="none" spc="-60"/>
              <a:t> </a:t>
            </a:r>
            <a:r>
              <a:rPr dirty="0" u="none" spc="-30"/>
              <a:t>deshacer.</a:t>
            </a:r>
            <a:r>
              <a:rPr dirty="0" u="none" spc="-60"/>
              <a:t> </a:t>
            </a:r>
            <a:r>
              <a:rPr dirty="0"/>
              <a:t>Cuando</a:t>
            </a:r>
            <a:r>
              <a:rPr dirty="0" spc="-45"/>
              <a:t> </a:t>
            </a:r>
            <a:r>
              <a:rPr dirty="0"/>
              <a:t>el</a:t>
            </a:r>
            <a:r>
              <a:rPr dirty="0" spc="-80"/>
              <a:t> </a:t>
            </a:r>
            <a:r>
              <a:rPr dirty="0"/>
              <a:t>usuario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70"/>
              <a:t> </a:t>
            </a:r>
            <a:r>
              <a:rPr dirty="0"/>
              <a:t>emite</a:t>
            </a:r>
            <a:r>
              <a:rPr dirty="0" spc="-70"/>
              <a:t> </a:t>
            </a:r>
            <a:r>
              <a:rPr dirty="0" spc="-25"/>
              <a:t>una</a:t>
            </a:r>
            <a:r>
              <a:rPr dirty="0" u="none" spc="-25"/>
              <a:t> </a:t>
            </a:r>
            <a:r>
              <a:rPr dirty="0" u="none" spc="-25"/>
              <a:t>	</a:t>
            </a:r>
            <a:r>
              <a:rPr dirty="0"/>
              <a:t>operación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80"/>
              <a:t> </a:t>
            </a:r>
            <a:r>
              <a:rPr dirty="0"/>
              <a:t>inserción,</a:t>
            </a:r>
            <a:r>
              <a:rPr dirty="0" spc="-60"/>
              <a:t> </a:t>
            </a:r>
            <a:r>
              <a:rPr dirty="0"/>
              <a:t>actualización</a:t>
            </a:r>
            <a:r>
              <a:rPr dirty="0" spc="-90"/>
              <a:t> </a:t>
            </a:r>
            <a:r>
              <a:rPr dirty="0"/>
              <a:t>o</a:t>
            </a:r>
            <a:r>
              <a:rPr dirty="0" spc="-90"/>
              <a:t> </a:t>
            </a:r>
            <a:r>
              <a:rPr dirty="0"/>
              <a:t>supresión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85"/>
              <a:t> </a:t>
            </a:r>
            <a:r>
              <a:rPr dirty="0" spc="-25"/>
              <a:t>la</a:t>
            </a:r>
            <a:r>
              <a:rPr dirty="0" u="none" spc="-25"/>
              <a:t> </a:t>
            </a:r>
            <a:r>
              <a:rPr dirty="0" u="none" spc="-25"/>
              <a:t>	</a:t>
            </a:r>
            <a:r>
              <a:rPr dirty="0"/>
              <a:t>base</a:t>
            </a:r>
            <a:r>
              <a:rPr dirty="0" spc="-5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/>
              <a:t>datos,</a:t>
            </a:r>
            <a:r>
              <a:rPr dirty="0" u="none" spc="-40"/>
              <a:t> </a:t>
            </a:r>
            <a:r>
              <a:rPr dirty="0" u="none"/>
              <a:t>Oracle</a:t>
            </a:r>
            <a:r>
              <a:rPr dirty="0" u="none" spc="-75"/>
              <a:t> </a:t>
            </a:r>
            <a:r>
              <a:rPr dirty="0" u="none"/>
              <a:t>Server</a:t>
            </a:r>
            <a:r>
              <a:rPr dirty="0" u="none" spc="-55"/>
              <a:t> </a:t>
            </a:r>
            <a:r>
              <a:rPr dirty="0"/>
              <a:t>toma</a:t>
            </a:r>
            <a:r>
              <a:rPr dirty="0" spc="-55"/>
              <a:t> </a:t>
            </a:r>
            <a:r>
              <a:rPr dirty="0"/>
              <a:t>una</a:t>
            </a:r>
            <a:r>
              <a:rPr dirty="0" spc="-50"/>
              <a:t> </a:t>
            </a:r>
            <a:r>
              <a:rPr dirty="0" spc="-10"/>
              <a:t>instantánea</a:t>
            </a:r>
            <a:r>
              <a:rPr dirty="0" u="none" spc="-10"/>
              <a:t> </a:t>
            </a:r>
            <a:r>
              <a:rPr dirty="0" u="none" spc="-10"/>
              <a:t>	</a:t>
            </a:r>
            <a:r>
              <a:rPr dirty="0"/>
              <a:t>(copia)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los</a:t>
            </a:r>
            <a:r>
              <a:rPr dirty="0" spc="-50"/>
              <a:t> </a:t>
            </a:r>
            <a:r>
              <a:rPr dirty="0"/>
              <a:t>datos</a:t>
            </a:r>
            <a:r>
              <a:rPr dirty="0" spc="-55"/>
              <a:t> </a:t>
            </a:r>
            <a:r>
              <a:rPr dirty="0"/>
              <a:t>antes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cambiarlos</a:t>
            </a:r>
            <a:r>
              <a:rPr dirty="0" spc="-40"/>
              <a:t> </a:t>
            </a:r>
            <a:r>
              <a:rPr dirty="0"/>
              <a:t>y</a:t>
            </a:r>
            <a:r>
              <a:rPr dirty="0" spc="-65"/>
              <a:t> </a:t>
            </a:r>
            <a:r>
              <a:rPr dirty="0"/>
              <a:t>los</a:t>
            </a:r>
            <a:r>
              <a:rPr dirty="0" spc="-55"/>
              <a:t> </a:t>
            </a:r>
            <a:r>
              <a:rPr dirty="0" spc="-10"/>
              <a:t>escribe</a:t>
            </a:r>
            <a:r>
              <a:rPr dirty="0" u="none" spc="-10"/>
              <a:t> </a:t>
            </a:r>
            <a:r>
              <a:rPr dirty="0" u="none" spc="-10"/>
              <a:t>	</a:t>
            </a:r>
            <a:r>
              <a:rPr dirty="0"/>
              <a:t>en</a:t>
            </a:r>
            <a:r>
              <a:rPr dirty="0" spc="-60"/>
              <a:t> </a:t>
            </a:r>
            <a:r>
              <a:rPr dirty="0"/>
              <a:t>un</a:t>
            </a:r>
            <a:r>
              <a:rPr dirty="0" spc="-45"/>
              <a:t> </a:t>
            </a:r>
            <a:r>
              <a:rPr dirty="0"/>
              <a:t>segmento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/>
              <a:t>deshacer</a:t>
            </a:r>
            <a:r>
              <a:rPr dirty="0" spc="-55"/>
              <a:t> </a:t>
            </a:r>
            <a:r>
              <a:rPr dirty="0" spc="-10"/>
              <a:t>(rollback)</a:t>
            </a:r>
          </a:p>
          <a:p>
            <a:pPr algn="just" marL="182880" marR="34925" indent="-170815">
              <a:lnSpc>
                <a:spcPts val="303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none"/>
              <a:t>El</a:t>
            </a:r>
            <a:r>
              <a:rPr dirty="0" u="none" spc="-60"/>
              <a:t> </a:t>
            </a:r>
            <a:r>
              <a:rPr dirty="0" u="none"/>
              <a:t>usuario</a:t>
            </a:r>
            <a:r>
              <a:rPr dirty="0" u="none" spc="-25"/>
              <a:t> </a:t>
            </a:r>
            <a:r>
              <a:rPr dirty="0" u="none"/>
              <a:t>B</a:t>
            </a:r>
            <a:r>
              <a:rPr dirty="0" u="none" spc="-50"/>
              <a:t> </a:t>
            </a:r>
            <a:r>
              <a:rPr dirty="0" u="none"/>
              <a:t>sigue</a:t>
            </a:r>
            <a:r>
              <a:rPr dirty="0" u="none" spc="-40"/>
              <a:t> </a:t>
            </a:r>
            <a:r>
              <a:rPr dirty="0" u="none"/>
              <a:t>viendo</a:t>
            </a:r>
            <a:r>
              <a:rPr dirty="0" u="none" spc="-25"/>
              <a:t> </a:t>
            </a:r>
            <a:r>
              <a:rPr dirty="0" u="none"/>
              <a:t>la</a:t>
            </a:r>
            <a:r>
              <a:rPr dirty="0" u="none" spc="-50"/>
              <a:t> </a:t>
            </a:r>
            <a:r>
              <a:rPr dirty="0" u="none"/>
              <a:t>base</a:t>
            </a:r>
            <a:r>
              <a:rPr dirty="0" u="none" spc="-4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/>
              <a:t>datos</a:t>
            </a:r>
            <a:r>
              <a:rPr dirty="0" u="none" spc="-45"/>
              <a:t> </a:t>
            </a:r>
            <a:r>
              <a:rPr dirty="0" u="none"/>
              <a:t>como</a:t>
            </a:r>
            <a:r>
              <a:rPr dirty="0" u="none" spc="-50"/>
              <a:t> </a:t>
            </a:r>
            <a:r>
              <a:rPr dirty="0" u="none" spc="-10"/>
              <a:t>existía </a:t>
            </a:r>
            <a:r>
              <a:rPr dirty="0" u="none" spc="-10"/>
              <a:t>	</a:t>
            </a:r>
            <a:r>
              <a:rPr dirty="0" u="none"/>
              <a:t>antes</a:t>
            </a:r>
            <a:r>
              <a:rPr dirty="0" u="none" spc="-65"/>
              <a:t> </a:t>
            </a:r>
            <a:r>
              <a:rPr dirty="0" u="none"/>
              <a:t>de</a:t>
            </a:r>
            <a:r>
              <a:rPr dirty="0" u="none" spc="-50"/>
              <a:t> </a:t>
            </a:r>
            <a:r>
              <a:rPr dirty="0" u="none"/>
              <a:t>que</a:t>
            </a:r>
            <a:r>
              <a:rPr dirty="0" u="none" spc="-35"/>
              <a:t> </a:t>
            </a:r>
            <a:r>
              <a:rPr dirty="0" u="none"/>
              <a:t>se</a:t>
            </a:r>
            <a:r>
              <a:rPr dirty="0" u="none" spc="-65"/>
              <a:t> </a:t>
            </a:r>
            <a:r>
              <a:rPr dirty="0" u="none"/>
              <a:t>iniciaran</a:t>
            </a:r>
            <a:r>
              <a:rPr dirty="0" u="none" spc="-40"/>
              <a:t> </a:t>
            </a:r>
            <a:r>
              <a:rPr dirty="0" u="none"/>
              <a:t>los</a:t>
            </a:r>
            <a:r>
              <a:rPr dirty="0" u="none" spc="-65"/>
              <a:t> </a:t>
            </a:r>
            <a:r>
              <a:rPr dirty="0" u="none"/>
              <a:t>cambios;</a:t>
            </a:r>
            <a:r>
              <a:rPr dirty="0" u="none" spc="-35"/>
              <a:t> </a:t>
            </a:r>
            <a:r>
              <a:rPr dirty="0" u="none"/>
              <a:t>ve</a:t>
            </a:r>
            <a:r>
              <a:rPr dirty="0" u="none" spc="-70"/>
              <a:t> </a:t>
            </a:r>
            <a:r>
              <a:rPr dirty="0" u="none"/>
              <a:t>la</a:t>
            </a:r>
            <a:r>
              <a:rPr dirty="0" u="none" spc="-55"/>
              <a:t> </a:t>
            </a:r>
            <a:r>
              <a:rPr dirty="0" u="none" spc="-10"/>
              <a:t>instantánea </a:t>
            </a:r>
            <a:r>
              <a:rPr dirty="0" u="none" spc="-10"/>
              <a:t>	</a:t>
            </a:r>
            <a:r>
              <a:rPr dirty="0" u="none"/>
              <a:t>de</a:t>
            </a:r>
            <a:r>
              <a:rPr dirty="0" u="none" spc="-60"/>
              <a:t> </a:t>
            </a:r>
            <a:r>
              <a:rPr dirty="0" u="none"/>
              <a:t>los</a:t>
            </a:r>
            <a:r>
              <a:rPr dirty="0" u="none" spc="-65"/>
              <a:t> </a:t>
            </a:r>
            <a:r>
              <a:rPr dirty="0" u="none"/>
              <a:t>datos</a:t>
            </a:r>
            <a:r>
              <a:rPr dirty="0" u="none" spc="-55"/>
              <a:t> </a:t>
            </a:r>
            <a:r>
              <a:rPr dirty="0" u="none"/>
              <a:t>del</a:t>
            </a:r>
            <a:r>
              <a:rPr dirty="0" u="none" spc="-60"/>
              <a:t> </a:t>
            </a:r>
            <a:r>
              <a:rPr dirty="0" u="none"/>
              <a:t>segmento</a:t>
            </a:r>
            <a:r>
              <a:rPr dirty="0" u="none" spc="-70"/>
              <a:t> </a:t>
            </a:r>
            <a:r>
              <a:rPr dirty="0" u="none"/>
              <a:t>de</a:t>
            </a:r>
            <a:r>
              <a:rPr dirty="0" u="none" spc="-55"/>
              <a:t> </a:t>
            </a:r>
            <a:r>
              <a:rPr dirty="0" u="none" spc="-10"/>
              <a:t>deshacer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8647" y="5410200"/>
            <a:ext cx="2029966" cy="97688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18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Consistencia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Lectura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00365" cy="28587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4226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confirmar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solo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cambiando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cambios;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demás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instantánea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segmento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deshacer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garantiza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lectores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vean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 	consistentes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esté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realizando 	actualmente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ningún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3680" y="5335523"/>
            <a:ext cx="2029968" cy="976883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19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Cambios</a:t>
            </a:r>
            <a:r>
              <a:rPr dirty="0" spc="-85"/>
              <a:t> </a:t>
            </a:r>
            <a:r>
              <a:rPr dirty="0" spc="-10"/>
              <a:t>Visibles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01330" cy="35128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098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confirma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DML,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cualquiera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ejecute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SELECT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ver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 	realizado</a:t>
            </a:r>
            <a:endParaRPr sz="2800">
              <a:latin typeface="Calibri"/>
              <a:cs typeface="Calibri"/>
            </a:endParaRPr>
          </a:p>
          <a:p>
            <a:pPr marL="182880" marR="21272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15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transacción,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deshacen:</a:t>
            </a:r>
            <a:endParaRPr sz="2800">
              <a:latin typeface="Calibri"/>
              <a:cs typeface="Calibri"/>
            </a:endParaRPr>
          </a:p>
          <a:p>
            <a:pPr marL="530860" marR="588010" indent="-175260">
              <a:lnSpc>
                <a:spcPts val="2590"/>
              </a:lnSpc>
              <a:spcBef>
                <a:spcPts val="415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versión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original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anterior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del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segmento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deshacer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4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vuelve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escribir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4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400">
              <a:latin typeface="Calibri"/>
              <a:cs typeface="Calibri"/>
            </a:endParaRPr>
          </a:p>
          <a:p>
            <a:pPr marL="530860" marR="5080" indent="-175260">
              <a:lnSpc>
                <a:spcPts val="2590"/>
              </a:lnSpc>
              <a:spcBef>
                <a:spcPts val="409"/>
              </a:spcBef>
            </a:pPr>
            <a:r>
              <a:rPr dirty="0" sz="240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4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usuarios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ven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4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existía</a:t>
            </a:r>
            <a:r>
              <a:rPr dirty="0" sz="24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4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comenzar</a:t>
            </a:r>
            <a:r>
              <a:rPr dirty="0" sz="24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4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COMMIT,</a:t>
            </a:r>
            <a:r>
              <a:rPr dirty="0" spc="-75"/>
              <a:t> </a:t>
            </a:r>
            <a:r>
              <a:rPr dirty="0" spc="-10"/>
              <a:t>ROLLBACK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-95"/>
              <a:t> </a:t>
            </a:r>
            <a:r>
              <a:rPr dirty="0" spc="-10"/>
              <a:t>SAVEPOINT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3384" cy="41128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6096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SzPct val="98214"/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COMMIT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ROLLBACK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garantizan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consistencia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posibilitando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obtener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vista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previa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antes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cambios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permanentes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agrupar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lógicamente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operaciones</a:t>
            </a:r>
            <a:r>
              <a:rPr dirty="0" sz="2800" spc="-1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relacionadas</a:t>
            </a:r>
            <a:endParaRPr sz="2800">
              <a:latin typeface="Calibri"/>
              <a:cs typeface="Calibri"/>
            </a:endParaRPr>
          </a:p>
          <a:p>
            <a:pPr marL="135255" marR="5080" indent="-134620">
              <a:lnSpc>
                <a:spcPts val="3030"/>
              </a:lnSpc>
              <a:spcBef>
                <a:spcPts val="775"/>
              </a:spcBef>
              <a:buClr>
                <a:srgbClr val="D1350F"/>
              </a:buClr>
              <a:buSzPct val="98214"/>
              <a:buFont typeface="Arial MT"/>
              <a:buChar char="•"/>
              <a:tabLst>
                <a:tab pos="184785" algn="l"/>
              </a:tabLst>
            </a:pPr>
            <a:r>
              <a:rPr dirty="0" u="heavy" sz="2800" spc="-3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SAVEPOINT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crea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punto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realizar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rollback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tener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deshacer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transacción</a:t>
            </a:r>
            <a:endParaRPr sz="2800">
              <a:latin typeface="Calibri"/>
              <a:cs typeface="Calibri"/>
            </a:endParaRPr>
          </a:p>
          <a:p>
            <a:pPr marL="182880" marR="84518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SzPct val="98214"/>
              <a:buFont typeface="Arial MT"/>
              <a:buChar char="•"/>
              <a:tabLst>
                <a:tab pos="184785" algn="l"/>
              </a:tabLst>
            </a:pP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COMMIT,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denominan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lenguaje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control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TCL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COMMIT,</a:t>
            </a:r>
            <a:r>
              <a:rPr dirty="0" spc="-75"/>
              <a:t> </a:t>
            </a:r>
            <a:r>
              <a:rPr dirty="0" spc="-10"/>
              <a:t>ROLLBACK</a:t>
            </a:r>
            <a:r>
              <a:rPr dirty="0" spc="-95"/>
              <a:t> </a:t>
            </a:r>
            <a:r>
              <a:rPr dirty="0"/>
              <a:t>y</a:t>
            </a:r>
            <a:r>
              <a:rPr dirty="0" spc="-95"/>
              <a:t> </a:t>
            </a:r>
            <a:r>
              <a:rPr dirty="0" spc="-10"/>
              <a:t>SAVEPOINT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7052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transacción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gráfico,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emitido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continuación,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124112"/>
            <a:ext cx="3858260" cy="368681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565"/>
              </a:spcBef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establecido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1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actúa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marcador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permitirá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usuario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realizar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posteriores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existían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punto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58058" y="2244789"/>
            <a:ext cx="3423920" cy="116268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055370">
              <a:lnSpc>
                <a:spcPct val="100000"/>
              </a:lnSpc>
              <a:spcBef>
                <a:spcPts val="1360"/>
              </a:spcBef>
            </a:pP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Control</a:t>
            </a:r>
            <a:r>
              <a:rPr dirty="0" sz="1800" spc="-5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18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alibri"/>
                <a:cs typeface="Calibri"/>
              </a:rPr>
              <a:t>Transacciones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r>
              <a:rPr dirty="0" sz="1600" i="1">
                <a:solidFill>
                  <a:srgbClr val="4E3629"/>
                </a:solidFill>
                <a:latin typeface="Calibri"/>
                <a:cs typeface="Calibri"/>
              </a:rPr>
              <a:t>Tiempo</a:t>
            </a:r>
            <a:r>
              <a:rPr dirty="0" sz="1600" spc="415" i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4E3629"/>
                </a:solidFill>
                <a:latin typeface="Calibri"/>
                <a:cs typeface="Calibri"/>
              </a:rPr>
              <a:t>COMMIT</a:t>
            </a:r>
            <a:endParaRPr sz="1600">
              <a:latin typeface="Calibri"/>
              <a:cs typeface="Calibri"/>
            </a:endParaRPr>
          </a:p>
          <a:p>
            <a:pPr marL="715645">
              <a:lnSpc>
                <a:spcPct val="100000"/>
              </a:lnSpc>
              <a:spcBef>
                <a:spcPts val="585"/>
              </a:spcBef>
            </a:pP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Transaction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74169" y="3777531"/>
            <a:ext cx="11131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1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174169" y="4734237"/>
            <a:ext cx="110617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1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50">
                <a:solidFill>
                  <a:srgbClr val="4E3629"/>
                </a:solidFill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63311" y="3521964"/>
            <a:ext cx="563880" cy="241300"/>
          </a:xfrm>
          <a:prstGeom prst="rect">
            <a:avLst/>
          </a:prstGeom>
          <a:solidFill>
            <a:srgbClr val="7CA800"/>
          </a:solidFill>
        </p:spPr>
        <p:txBody>
          <a:bodyPr wrap="square" lIns="0" tIns="6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DELETE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61788" y="4107179"/>
            <a:ext cx="539750" cy="2413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27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0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INSERT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61788" y="4427220"/>
            <a:ext cx="608330" cy="241300"/>
          </a:xfrm>
          <a:prstGeom prst="rect">
            <a:avLst/>
          </a:prstGeom>
          <a:solidFill>
            <a:srgbClr val="00CCFF"/>
          </a:solidFill>
        </p:spPr>
        <p:txBody>
          <a:bodyPr wrap="square" lIns="0" tIns="63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UPDATE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61788" y="5065776"/>
            <a:ext cx="539750" cy="241300"/>
          </a:xfrm>
          <a:prstGeom prst="rect">
            <a:avLst/>
          </a:prstGeom>
          <a:solidFill>
            <a:srgbClr val="9DBEC4"/>
          </a:solidFill>
        </p:spPr>
        <p:txBody>
          <a:bodyPr wrap="square" lIns="0" tIns="635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solidFill>
                  <a:srgbClr val="4E3629"/>
                </a:solidFill>
                <a:latin typeface="Calibri"/>
                <a:cs typeface="Calibri"/>
              </a:rPr>
              <a:t>INSERT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73459" y="5859133"/>
            <a:ext cx="1034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200" spc="-50" b="1">
                <a:solidFill>
                  <a:srgbClr val="4E3629"/>
                </a:solidFill>
                <a:latin typeface="Calibri"/>
                <a:cs typeface="Calibri"/>
              </a:rPr>
              <a:t>To</a:t>
            </a:r>
            <a:r>
              <a:rPr dirty="0" sz="12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12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4E3629"/>
                </a:solidFill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77419" y="5859133"/>
            <a:ext cx="1041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200" spc="-50" b="1">
                <a:solidFill>
                  <a:srgbClr val="4E3629"/>
                </a:solidFill>
                <a:latin typeface="Calibri"/>
                <a:cs typeface="Calibri"/>
              </a:rPr>
              <a:t>To</a:t>
            </a:r>
            <a:r>
              <a:rPr dirty="0" sz="1200" spc="-2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4E3629"/>
                </a:solidFill>
                <a:latin typeface="Calibri"/>
                <a:cs typeface="Calibri"/>
              </a:rPr>
              <a:t>SAVEPOINT</a:t>
            </a:r>
            <a:r>
              <a:rPr dirty="0" sz="12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249680" y="5974957"/>
            <a:ext cx="668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4E3629"/>
                </a:solidFill>
                <a:latin typeface="Calibri"/>
                <a:cs typeface="Calibri"/>
              </a:rPr>
              <a:t>ROLLBACK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440935" y="2316479"/>
            <a:ext cx="4598035" cy="3976370"/>
            <a:chOff x="4440935" y="2316479"/>
            <a:chExt cx="4598035" cy="3976370"/>
          </a:xfrm>
        </p:grpSpPr>
        <p:sp>
          <p:nvSpPr>
            <p:cNvPr id="16" name="object 16" descr=""/>
            <p:cNvSpPr/>
            <p:nvPr/>
          </p:nvSpPr>
          <p:spPr>
            <a:xfrm>
              <a:off x="6446519" y="4877561"/>
              <a:ext cx="138430" cy="0"/>
            </a:xfrm>
            <a:custGeom>
              <a:avLst/>
              <a:gdLst/>
              <a:ahLst/>
              <a:cxnLst/>
              <a:rect l="l" t="t" r="r" b="b"/>
              <a:pathLst>
                <a:path w="138429" h="0">
                  <a:moveTo>
                    <a:pt x="13792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51266" y="482040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584441" y="4877561"/>
              <a:ext cx="0" cy="951230"/>
            </a:xfrm>
            <a:custGeom>
              <a:avLst/>
              <a:gdLst/>
              <a:ahLst/>
              <a:cxnLst/>
              <a:rect l="l" t="t" r="r" b="b"/>
              <a:pathLst>
                <a:path w="0" h="951229">
                  <a:moveTo>
                    <a:pt x="0" y="950976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486143" y="3937253"/>
              <a:ext cx="1111885" cy="0"/>
            </a:xfrm>
            <a:custGeom>
              <a:avLst/>
              <a:gdLst/>
              <a:ahLst/>
              <a:cxnLst/>
              <a:rect l="l" t="t" r="r" b="b"/>
              <a:pathLst>
                <a:path w="1111884" h="0">
                  <a:moveTo>
                    <a:pt x="1111758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390891" y="388009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299" y="0"/>
                  </a:moveTo>
                  <a:lnTo>
                    <a:pt x="0" y="57150"/>
                  </a:lnTo>
                  <a:lnTo>
                    <a:pt x="114299" y="114300"/>
                  </a:lnTo>
                  <a:lnTo>
                    <a:pt x="114299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365747" y="3204209"/>
              <a:ext cx="2070735" cy="0"/>
            </a:xfrm>
            <a:custGeom>
              <a:avLst/>
              <a:gdLst/>
              <a:ahLst/>
              <a:cxnLst/>
              <a:rect l="l" t="t" r="r" b="b"/>
              <a:pathLst>
                <a:path w="2070734" h="0">
                  <a:moveTo>
                    <a:pt x="2070353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270495" y="314705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597901" y="3937253"/>
              <a:ext cx="0" cy="1900555"/>
            </a:xfrm>
            <a:custGeom>
              <a:avLst/>
              <a:gdLst/>
              <a:ahLst/>
              <a:cxnLst/>
              <a:rect l="l" t="t" r="r" b="b"/>
              <a:pathLst>
                <a:path w="0" h="1900554">
                  <a:moveTo>
                    <a:pt x="0" y="1900428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452865" y="3204209"/>
              <a:ext cx="0" cy="2641600"/>
            </a:xfrm>
            <a:custGeom>
              <a:avLst/>
              <a:gdLst/>
              <a:ahLst/>
              <a:cxnLst/>
              <a:rect l="l" t="t" r="r" b="b"/>
              <a:pathLst>
                <a:path w="0" h="2641600">
                  <a:moveTo>
                    <a:pt x="0" y="2641091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39461" y="3152393"/>
              <a:ext cx="0" cy="1992630"/>
            </a:xfrm>
            <a:custGeom>
              <a:avLst/>
              <a:gdLst/>
              <a:ahLst/>
              <a:cxnLst/>
              <a:rect l="l" t="t" r="r" b="b"/>
              <a:pathLst>
                <a:path w="0" h="1992629">
                  <a:moveTo>
                    <a:pt x="0" y="0"/>
                  </a:moveTo>
                  <a:lnTo>
                    <a:pt x="0" y="1992630"/>
                  </a:lnTo>
                </a:path>
              </a:pathLst>
            </a:custGeom>
            <a:ln w="38100">
              <a:solidFill>
                <a:srgbClr val="D135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782318" y="512597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299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13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445507" y="2321051"/>
              <a:ext cx="4589145" cy="3967479"/>
            </a:xfrm>
            <a:custGeom>
              <a:avLst/>
              <a:gdLst/>
              <a:ahLst/>
              <a:cxnLst/>
              <a:rect l="l" t="t" r="r" b="b"/>
              <a:pathLst>
                <a:path w="4589145" h="3967479">
                  <a:moveTo>
                    <a:pt x="0" y="3966972"/>
                  </a:moveTo>
                  <a:lnTo>
                    <a:pt x="4588764" y="3966972"/>
                  </a:lnTo>
                  <a:lnTo>
                    <a:pt x="4588764" y="0"/>
                  </a:lnTo>
                  <a:lnTo>
                    <a:pt x="0" y="0"/>
                  </a:lnTo>
                  <a:lnTo>
                    <a:pt x="0" y="3966972"/>
                  </a:lnTo>
                  <a:close/>
                </a:path>
              </a:pathLst>
            </a:custGeom>
            <a:ln w="9144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29" name="object 2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22</a:t>
            </a:r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Procesamiento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 spc="-25"/>
              <a:t>Transacciones</a:t>
            </a:r>
            <a:r>
              <a:rPr dirty="0" spc="-70"/>
              <a:t> </a:t>
            </a:r>
            <a:r>
              <a:rPr dirty="0" spc="-10"/>
              <a:t>Implícitas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-10"/>
              <a:t> </a:t>
            </a:r>
            <a:r>
              <a:rPr dirty="0"/>
              <a:t>18-</a:t>
            </a:r>
            <a:r>
              <a:rPr dirty="0" spc="-50"/>
              <a:t>1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Transacciones</a:t>
            </a:r>
            <a:r>
              <a:rPr dirty="0" spc="25"/>
              <a:t> </a:t>
            </a:r>
            <a:r>
              <a:rPr dirty="0"/>
              <a:t>de Base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0"/>
              <a:t> </a:t>
            </a:r>
            <a:r>
              <a:rPr dirty="0" spc="-20"/>
              <a:t>Datos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27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42605" cy="25761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rollback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automático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produce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terminación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anormal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utilizad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Oracle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cuando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produce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fallo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del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sistema</a:t>
            </a:r>
            <a:endParaRPr sz="2800">
              <a:latin typeface="Calibri"/>
              <a:cs typeface="Calibri"/>
            </a:endParaRPr>
          </a:p>
          <a:p>
            <a:pPr marL="182880" marR="416559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evita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cualquier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error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provoque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cambios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deseados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subyacentes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2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tanto,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integridad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protegida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2025-06-01T18:15:52Z</dcterms:created>
  <dcterms:modified xsi:type="dcterms:W3CDTF">2025-06-01T18:15:52Z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2025-03-09T00:00:00Z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