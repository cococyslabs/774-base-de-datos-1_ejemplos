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14:59:33</a:t>
            </a:r>
          </a:p>
          <a:p>
            <a:r>
              <a:t>--------------------------------------------</a:t>
            </a:r>
          </a:p>
          <a:p>
            <a:r>
              <a:t>La lista completa de metacaracteres con ejemplos de su uso se puede encontrar en http://docs.oracle.com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14:59:34</a:t>
            </a:r>
          </a:p>
          <a:p>
            <a:r>
              <a:t>--------------------------------------------</a:t>
            </a:r>
          </a:p>
          <a:p>
            <a:r>
              <a:t>Subexpresión: expresión que forma parte de una expresión mayor.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3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385319"/>
            <a:ext cx="4031615" cy="89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7865109" cy="3625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984250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1790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4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4.xml"/><Relationship Id="rId5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55591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77876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17-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400" spc="-114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regulares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54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Expresiones</a:t>
            </a:r>
            <a:r>
              <a:rPr dirty="0" sz="3300" spc="-165"/>
              <a:t> </a:t>
            </a:r>
            <a:r>
              <a:rPr dirty="0" sz="3300" spc="-10"/>
              <a:t>regulares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18351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El</a:t>
            </a:r>
            <a:r>
              <a:rPr dirty="0" spc="-50"/>
              <a:t> </a:t>
            </a:r>
            <a:r>
              <a:rPr dirty="0"/>
              <a:t>uso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expresiones </a:t>
            </a:r>
            <a:r>
              <a:rPr dirty="0"/>
              <a:t>normales</a:t>
            </a:r>
            <a:r>
              <a:rPr dirty="0" spc="-20"/>
              <a:t> </a:t>
            </a:r>
            <a:r>
              <a:rPr dirty="0"/>
              <a:t>se</a:t>
            </a:r>
            <a:r>
              <a:rPr dirty="0" spc="-45"/>
              <a:t> </a:t>
            </a:r>
            <a:r>
              <a:rPr dirty="0"/>
              <a:t>basa</a:t>
            </a:r>
            <a:r>
              <a:rPr dirty="0" spc="-25"/>
              <a:t> </a:t>
            </a:r>
            <a:r>
              <a:rPr dirty="0"/>
              <a:t>en</a:t>
            </a:r>
            <a:r>
              <a:rPr dirty="0" spc="-45"/>
              <a:t> </a:t>
            </a:r>
            <a:r>
              <a:rPr dirty="0"/>
              <a:t>el</a:t>
            </a:r>
            <a:r>
              <a:rPr dirty="0" spc="-50"/>
              <a:t> </a:t>
            </a:r>
            <a:r>
              <a:rPr dirty="0"/>
              <a:t>uso</a:t>
            </a:r>
            <a:r>
              <a:rPr dirty="0" spc="-15"/>
              <a:t> </a:t>
            </a:r>
            <a:r>
              <a:rPr dirty="0" spc="-25"/>
              <a:t>de </a:t>
            </a:r>
            <a:r>
              <a:rPr dirty="0" spc="-25"/>
              <a:t>	</a:t>
            </a:r>
            <a:r>
              <a:rPr dirty="0" spc="-10"/>
              <a:t>metacaracteres</a:t>
            </a:r>
          </a:p>
          <a:p>
            <a:pPr marL="530860" marR="5080" indent="-17526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20">
                <a:uFill>
                  <a:solidFill>
                    <a:srgbClr val="EC2814"/>
                  </a:solidFill>
                </a:uFill>
              </a:rPr>
              <a:t>metacaracteres</a:t>
            </a:r>
            <a:r>
              <a:rPr dirty="0" u="heavy" sz="24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son</a:t>
            </a:r>
            <a:r>
              <a:rPr dirty="0" u="heavy" sz="2400" spc="-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caracteres</a:t>
            </a:r>
            <a:r>
              <a:rPr dirty="0" u="heavy" sz="2400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con</a:t>
            </a:r>
            <a:r>
              <a:rPr dirty="0" u="heavy" sz="2400" spc="-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un</a:t>
            </a:r>
            <a:r>
              <a:rPr dirty="0" u="heavy" sz="2400" spc="-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significado</a:t>
            </a:r>
            <a:r>
              <a:rPr dirty="0" sz="2400" spc="-10"/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especial</a:t>
            </a:r>
            <a:r>
              <a:rPr dirty="0" sz="2400"/>
              <a:t>,</a:t>
            </a:r>
            <a:r>
              <a:rPr dirty="0" sz="2400" spc="-65"/>
              <a:t> </a:t>
            </a:r>
            <a:r>
              <a:rPr dirty="0" sz="2400"/>
              <a:t>como</a:t>
            </a:r>
            <a:r>
              <a:rPr dirty="0" sz="2400" spc="-70"/>
              <a:t> </a:t>
            </a:r>
            <a:r>
              <a:rPr dirty="0" sz="2400"/>
              <a:t>un</a:t>
            </a:r>
            <a:r>
              <a:rPr dirty="0" sz="2400" spc="-45"/>
              <a:t> </a:t>
            </a:r>
            <a:r>
              <a:rPr dirty="0" sz="2400" spc="-10"/>
              <a:t>carácter</a:t>
            </a:r>
            <a:r>
              <a:rPr dirty="0" sz="2400" spc="-85"/>
              <a:t> </a:t>
            </a:r>
            <a:r>
              <a:rPr dirty="0" sz="2400"/>
              <a:t>comodín,</a:t>
            </a:r>
            <a:r>
              <a:rPr dirty="0" sz="2400" spc="-50"/>
              <a:t> </a:t>
            </a:r>
            <a:r>
              <a:rPr dirty="0" sz="2400"/>
              <a:t>un</a:t>
            </a:r>
            <a:r>
              <a:rPr dirty="0" sz="2400" spc="-55"/>
              <a:t> </a:t>
            </a:r>
            <a:r>
              <a:rPr dirty="0" sz="2400" spc="-10"/>
              <a:t>carácter</a:t>
            </a:r>
            <a:r>
              <a:rPr dirty="0" sz="2400" spc="-80"/>
              <a:t> </a:t>
            </a:r>
            <a:r>
              <a:rPr dirty="0" sz="2400" spc="-10"/>
              <a:t>repetitivo, </a:t>
            </a:r>
            <a:r>
              <a:rPr dirty="0" sz="2400"/>
              <a:t>un</a:t>
            </a:r>
            <a:r>
              <a:rPr dirty="0" sz="2400" spc="-50"/>
              <a:t> </a:t>
            </a:r>
            <a:r>
              <a:rPr dirty="0" sz="2400" spc="-10"/>
              <a:t>carácter</a:t>
            </a:r>
            <a:r>
              <a:rPr dirty="0" sz="2400" spc="-70"/>
              <a:t> </a:t>
            </a:r>
            <a:r>
              <a:rPr dirty="0" sz="2400"/>
              <a:t>no</a:t>
            </a:r>
            <a:r>
              <a:rPr dirty="0" sz="2400" spc="-50"/>
              <a:t> </a:t>
            </a:r>
            <a:r>
              <a:rPr dirty="0" sz="2400"/>
              <a:t>coincidente</a:t>
            </a:r>
            <a:r>
              <a:rPr dirty="0" sz="2400" spc="-55"/>
              <a:t> </a:t>
            </a:r>
            <a:r>
              <a:rPr dirty="0" sz="2400"/>
              <a:t>o</a:t>
            </a:r>
            <a:r>
              <a:rPr dirty="0" sz="2400" spc="-55"/>
              <a:t> </a:t>
            </a:r>
            <a:r>
              <a:rPr dirty="0" sz="2400"/>
              <a:t>un</a:t>
            </a:r>
            <a:r>
              <a:rPr dirty="0" sz="2400" spc="-45"/>
              <a:t> </a:t>
            </a:r>
            <a:r>
              <a:rPr dirty="0" sz="2400"/>
              <a:t>rango</a:t>
            </a:r>
            <a:r>
              <a:rPr dirty="0" sz="2400" spc="-65"/>
              <a:t> </a:t>
            </a:r>
            <a:r>
              <a:rPr dirty="0" sz="2400"/>
              <a:t>de</a:t>
            </a:r>
            <a:r>
              <a:rPr dirty="0" sz="2400" spc="-45"/>
              <a:t> </a:t>
            </a:r>
            <a:r>
              <a:rPr dirty="0" sz="2400" spc="-10"/>
              <a:t>caracteres</a:t>
            </a:r>
            <a:endParaRPr sz="2400"/>
          </a:p>
          <a:p>
            <a:pPr marL="530860" marR="1299845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Puede</a:t>
            </a:r>
            <a:r>
              <a:rPr dirty="0" sz="2400" spc="-25"/>
              <a:t> </a:t>
            </a:r>
            <a:r>
              <a:rPr dirty="0" sz="2400"/>
              <a:t>utilizar</a:t>
            </a:r>
            <a:r>
              <a:rPr dirty="0" sz="2400" spc="-35"/>
              <a:t> </a:t>
            </a:r>
            <a:r>
              <a:rPr dirty="0" sz="2400"/>
              <a:t>varios</a:t>
            </a:r>
            <a:r>
              <a:rPr dirty="0" sz="2400" spc="-35"/>
              <a:t> </a:t>
            </a:r>
            <a:r>
              <a:rPr dirty="0" sz="2400"/>
              <a:t>símbolos</a:t>
            </a:r>
            <a:r>
              <a:rPr dirty="0" sz="2400" spc="-30"/>
              <a:t> </a:t>
            </a:r>
            <a:r>
              <a:rPr dirty="0" sz="2400"/>
              <a:t>de</a:t>
            </a:r>
            <a:r>
              <a:rPr dirty="0" sz="2400" spc="-25"/>
              <a:t> </a:t>
            </a:r>
            <a:r>
              <a:rPr dirty="0" sz="2400" spc="-10"/>
              <a:t>metacaracteres predefinidos</a:t>
            </a:r>
            <a:r>
              <a:rPr dirty="0" sz="2400" spc="-20"/>
              <a:t> </a:t>
            </a:r>
            <a:r>
              <a:rPr dirty="0" sz="2400"/>
              <a:t>en</a:t>
            </a:r>
            <a:r>
              <a:rPr dirty="0" sz="2400" spc="-35"/>
              <a:t> </a:t>
            </a:r>
            <a:r>
              <a:rPr dirty="0" sz="2400"/>
              <a:t>la</a:t>
            </a:r>
            <a:r>
              <a:rPr dirty="0" sz="2400" spc="-45"/>
              <a:t> </a:t>
            </a:r>
            <a:r>
              <a:rPr dirty="0" sz="2400"/>
              <a:t>coincidencia</a:t>
            </a:r>
            <a:r>
              <a:rPr dirty="0" sz="2400" spc="-55"/>
              <a:t> </a:t>
            </a:r>
            <a:r>
              <a:rPr dirty="0" sz="2400"/>
              <a:t>de</a:t>
            </a:r>
            <a:r>
              <a:rPr dirty="0" sz="2400" spc="-30"/>
              <a:t> </a:t>
            </a:r>
            <a:r>
              <a:rPr dirty="0" sz="2400" spc="-10"/>
              <a:t>patrones</a:t>
            </a:r>
            <a:endParaRPr sz="2400"/>
          </a:p>
          <a:p>
            <a:pPr marL="530860" marR="161290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En</a:t>
            </a:r>
            <a:r>
              <a:rPr dirty="0" sz="2400" spc="-20"/>
              <a:t> </a:t>
            </a:r>
            <a:r>
              <a:rPr dirty="0" sz="2400"/>
              <a:t>las</a:t>
            </a:r>
            <a:r>
              <a:rPr dirty="0" sz="2400" spc="-35"/>
              <a:t> </a:t>
            </a:r>
            <a:r>
              <a:rPr dirty="0" sz="2400"/>
              <a:t>siguientes</a:t>
            </a:r>
            <a:r>
              <a:rPr dirty="0" sz="2400" spc="-25"/>
              <a:t> </a:t>
            </a:r>
            <a:r>
              <a:rPr dirty="0" sz="2400" spc="-10"/>
              <a:t>diapositivas</a:t>
            </a:r>
            <a:r>
              <a:rPr dirty="0" sz="2400" spc="-25"/>
              <a:t> </a:t>
            </a:r>
            <a:r>
              <a:rPr dirty="0" sz="2400"/>
              <a:t>se</a:t>
            </a:r>
            <a:r>
              <a:rPr dirty="0" sz="2400" spc="-15"/>
              <a:t> </a:t>
            </a:r>
            <a:r>
              <a:rPr dirty="0" sz="2400" spc="-10"/>
              <a:t>muestran</a:t>
            </a:r>
            <a:r>
              <a:rPr dirty="0" sz="2400" spc="-35"/>
              <a:t> </a:t>
            </a:r>
            <a:r>
              <a:rPr dirty="0" sz="2400"/>
              <a:t>algunos</a:t>
            </a:r>
            <a:r>
              <a:rPr dirty="0" sz="2400" spc="-20"/>
              <a:t> </a:t>
            </a:r>
            <a:r>
              <a:rPr dirty="0" sz="2400"/>
              <a:t>de</a:t>
            </a:r>
            <a:r>
              <a:rPr dirty="0" sz="2400" spc="-15"/>
              <a:t> </a:t>
            </a:r>
            <a:r>
              <a:rPr dirty="0" sz="2400" spc="-25"/>
              <a:t>los </a:t>
            </a:r>
            <a:r>
              <a:rPr dirty="0" sz="2400" spc="-20"/>
              <a:t>metacaracteres</a:t>
            </a:r>
            <a:r>
              <a:rPr dirty="0" sz="2400" spc="-75"/>
              <a:t> </a:t>
            </a:r>
            <a:r>
              <a:rPr dirty="0" sz="2400"/>
              <a:t>y</a:t>
            </a:r>
            <a:r>
              <a:rPr dirty="0" sz="2400" spc="-30"/>
              <a:t> </a:t>
            </a:r>
            <a:r>
              <a:rPr dirty="0" sz="2400"/>
              <a:t>se</a:t>
            </a:r>
            <a:r>
              <a:rPr dirty="0" sz="2400" spc="-30"/>
              <a:t> </a:t>
            </a:r>
            <a:r>
              <a:rPr dirty="0" sz="2400" spc="-10"/>
              <a:t>proporcione</a:t>
            </a:r>
            <a:r>
              <a:rPr dirty="0" sz="2400" spc="-45"/>
              <a:t> </a:t>
            </a:r>
            <a:r>
              <a:rPr dirty="0" sz="2400"/>
              <a:t>una</a:t>
            </a:r>
            <a:r>
              <a:rPr dirty="0" sz="2400" spc="-35"/>
              <a:t> </a:t>
            </a:r>
            <a:r>
              <a:rPr dirty="0" sz="2400"/>
              <a:t>breve</a:t>
            </a:r>
            <a:r>
              <a:rPr dirty="0" sz="2400" spc="-15"/>
              <a:t> </a:t>
            </a:r>
            <a:r>
              <a:rPr dirty="0" sz="2400" spc="-10"/>
              <a:t>explicación</a:t>
            </a:r>
            <a:r>
              <a:rPr dirty="0" sz="2400" spc="-50"/>
              <a:t> </a:t>
            </a:r>
            <a:r>
              <a:rPr dirty="0" sz="2400" spc="-25"/>
              <a:t>de </a:t>
            </a:r>
            <a:r>
              <a:rPr dirty="0" sz="2400"/>
              <a:t>cada</a:t>
            </a:r>
            <a:r>
              <a:rPr dirty="0" sz="2400" spc="-45"/>
              <a:t> </a:t>
            </a:r>
            <a:r>
              <a:rPr dirty="0" sz="2400"/>
              <a:t>uno</a:t>
            </a:r>
            <a:r>
              <a:rPr dirty="0" sz="2400" spc="-30"/>
              <a:t> </a:t>
            </a:r>
            <a:r>
              <a:rPr dirty="0" sz="2400"/>
              <a:t>de</a:t>
            </a:r>
            <a:r>
              <a:rPr dirty="0" sz="2400" spc="-35"/>
              <a:t> </a:t>
            </a:r>
            <a:r>
              <a:rPr dirty="0" sz="2400" spc="-20"/>
              <a:t>ellos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267589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/>
              <a:t>Metacaracteres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27702" y="1500826"/>
          <a:ext cx="7971155" cy="3947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3480"/>
                <a:gridCol w="6708140"/>
              </a:tblGrid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Símbolo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500" spc="3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(punto)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cualquier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carácter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juego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caracteres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soportados,</a:t>
                      </a:r>
                      <a:r>
                        <a:rPr dirty="0" sz="15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excepto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NULL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ninguna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incidencia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*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cero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más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incidencias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+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más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incidencias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Expresión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agrupación,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trata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sola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subexpresión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\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Carácter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escape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|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Operador</a:t>
                      </a:r>
                      <a:r>
                        <a:rPr dirty="0" sz="15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alternancia</a:t>
                      </a:r>
                      <a:r>
                        <a:rPr dirty="0" sz="15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especificar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coincidencias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alternativas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^/$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793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principio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línea/final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línea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793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dirty="0" sz="15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]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692150">
                        <a:lnSpc>
                          <a:spcPct val="100699"/>
                        </a:lnSpc>
                        <a:spcBef>
                          <a:spcPts val="250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Expresión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corchetes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lista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coincidente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coincide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cualquier expresión representada</a:t>
                      </a:r>
                      <a:r>
                        <a:rPr dirty="0" sz="15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5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lista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96074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Ejemplos</a:t>
            </a:r>
            <a:r>
              <a:rPr dirty="0" sz="3300" spc="-95"/>
              <a:t> </a:t>
            </a:r>
            <a:r>
              <a:rPr dirty="0" sz="3300"/>
              <a:t>de</a:t>
            </a:r>
            <a:r>
              <a:rPr dirty="0" sz="3300" spc="-85"/>
              <a:t> </a:t>
            </a:r>
            <a:r>
              <a:rPr dirty="0" sz="3300"/>
              <a:t>Expresiones</a:t>
            </a:r>
            <a:r>
              <a:rPr dirty="0" sz="3300" spc="-95"/>
              <a:t> </a:t>
            </a:r>
            <a:r>
              <a:rPr dirty="0" sz="3300" spc="-10"/>
              <a:t>Normales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89215" cy="38290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6007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simple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similar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búsqueda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comodines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está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familiarizado</a:t>
            </a:r>
            <a:endParaRPr sz="2800">
              <a:latin typeface="Calibri"/>
              <a:cs typeface="Calibri"/>
            </a:endParaRPr>
          </a:p>
          <a:p>
            <a:pPr marL="182880" marR="2032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Veamos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vamos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punto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letra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"a"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seguida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cualquier 	carácter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seguido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letra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"c"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regular,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haría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'a.c'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3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búsqueda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comodines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estándar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sería: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LIKE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'a_c'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96074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Ejemplos</a:t>
            </a:r>
            <a:r>
              <a:rPr dirty="0" sz="3300" spc="-95"/>
              <a:t> </a:t>
            </a:r>
            <a:r>
              <a:rPr dirty="0" sz="3300"/>
              <a:t>de</a:t>
            </a:r>
            <a:r>
              <a:rPr dirty="0" sz="3300" spc="-85"/>
              <a:t> </a:t>
            </a:r>
            <a:r>
              <a:rPr dirty="0" sz="3300"/>
              <a:t>Expresiones</a:t>
            </a:r>
            <a:r>
              <a:rPr dirty="0" sz="3300" spc="-95"/>
              <a:t> </a:t>
            </a:r>
            <a:r>
              <a:rPr dirty="0" sz="3300" spc="-10"/>
              <a:t>Normales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/>
              <a:t>¿Cuáles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las</a:t>
            </a:r>
            <a:r>
              <a:rPr dirty="0" spc="-75"/>
              <a:t> </a:t>
            </a:r>
            <a:r>
              <a:rPr dirty="0"/>
              <a:t>siguientes</a:t>
            </a:r>
            <a:r>
              <a:rPr dirty="0" spc="-55"/>
              <a:t> </a:t>
            </a:r>
            <a:r>
              <a:rPr dirty="0"/>
              <a:t>cadenas</a:t>
            </a:r>
            <a:r>
              <a:rPr dirty="0" spc="-60"/>
              <a:t> </a:t>
            </a:r>
            <a:r>
              <a:rPr dirty="0" spc="-10"/>
              <a:t>coincidirá</a:t>
            </a:r>
            <a:r>
              <a:rPr dirty="0" spc="-50"/>
              <a:t> </a:t>
            </a:r>
            <a:r>
              <a:rPr dirty="0"/>
              <a:t>con</a:t>
            </a:r>
            <a:r>
              <a:rPr dirty="0" spc="-70"/>
              <a:t> </a:t>
            </a:r>
            <a:r>
              <a:rPr dirty="0" spc="-10"/>
              <a:t>'a.c'?</a:t>
            </a: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'ABC',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'abc',</a:t>
            </a:r>
            <a:endParaRPr sz="2400"/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'aqx',</a:t>
            </a:r>
            <a:endParaRPr sz="2400"/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'axc',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'aBc',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'abC'</a:t>
            </a:r>
            <a:endParaRPr sz="2400"/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'Amc'</a:t>
            </a:r>
            <a:endParaRPr sz="2400"/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 spc="-10">
                <a:solidFill>
                  <a:srgbClr val="D1350F"/>
                </a:solidFill>
              </a:rPr>
              <a:t>−</a:t>
            </a:r>
            <a:r>
              <a:rPr dirty="0" sz="2400" spc="-10"/>
              <a:t>'amrc'</a:t>
            </a:r>
            <a:endParaRPr sz="24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2452" y="2641092"/>
            <a:ext cx="2366772" cy="316991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96074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Ejemplos</a:t>
            </a:r>
            <a:r>
              <a:rPr dirty="0" sz="3300" spc="-95"/>
              <a:t> </a:t>
            </a:r>
            <a:r>
              <a:rPr dirty="0" sz="3300"/>
              <a:t>de</a:t>
            </a:r>
            <a:r>
              <a:rPr dirty="0" sz="3300" spc="-85"/>
              <a:t> </a:t>
            </a:r>
            <a:r>
              <a:rPr dirty="0" sz="3300"/>
              <a:t>Expresiones</a:t>
            </a:r>
            <a:r>
              <a:rPr dirty="0" sz="3300" spc="-95"/>
              <a:t> </a:t>
            </a:r>
            <a:r>
              <a:rPr dirty="0" sz="3300" spc="-10"/>
              <a:t>Normales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09205" cy="334517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2992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rojo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coinciden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búsqueda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'a.c.'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'ABC',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'abc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'aqx',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'axc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'aBc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'abC',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'Amc',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'amrc'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falla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debido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carácter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incorrecta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mayúsculas/minúsculas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incorrectos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(mayúsculas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minúsculas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según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búsqueda)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614362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Funciones</a:t>
            </a:r>
            <a:r>
              <a:rPr dirty="0" sz="3300" spc="-75"/>
              <a:t> </a:t>
            </a:r>
            <a:r>
              <a:rPr dirty="0" sz="3300"/>
              <a:t>de</a:t>
            </a:r>
            <a:r>
              <a:rPr dirty="0" sz="3300" spc="-105"/>
              <a:t> </a:t>
            </a:r>
            <a:r>
              <a:rPr dirty="0" sz="3300"/>
              <a:t>Expresiones</a:t>
            </a:r>
            <a:r>
              <a:rPr dirty="0" sz="3300" spc="-90"/>
              <a:t> </a:t>
            </a:r>
            <a:r>
              <a:rPr dirty="0" sz="3300" spc="-10"/>
              <a:t>Regulares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8800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8008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manipular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cadenas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regulares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dato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contenga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CHAR,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CLOB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VARCHAR2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comillas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614362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Funciones</a:t>
            </a:r>
            <a:r>
              <a:rPr dirty="0" sz="3300" spc="-75"/>
              <a:t> </a:t>
            </a:r>
            <a:r>
              <a:rPr dirty="0" sz="3300"/>
              <a:t>de</a:t>
            </a:r>
            <a:r>
              <a:rPr dirty="0" sz="3300" spc="-105"/>
              <a:t> </a:t>
            </a:r>
            <a:r>
              <a:rPr dirty="0" sz="3300"/>
              <a:t>Expresiones</a:t>
            </a:r>
            <a:r>
              <a:rPr dirty="0" sz="3300" spc="-90"/>
              <a:t> </a:t>
            </a:r>
            <a:r>
              <a:rPr dirty="0" sz="3300" spc="-10"/>
              <a:t>Regulares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18418" y="1559434"/>
          <a:ext cx="7789545" cy="4147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3420"/>
                <a:gridCol w="5737225"/>
              </a:tblGrid>
              <a:tr h="3790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REGEXP_LIKE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27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40690">
                        <a:lnSpc>
                          <a:spcPct val="101099"/>
                        </a:lnSpc>
                        <a:spcBef>
                          <a:spcPts val="235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Similar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operator,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but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performs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regular expression</a:t>
                      </a:r>
                      <a:r>
                        <a:rPr dirty="0" sz="18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matching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instead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simple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matching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REGEXP_REPLACE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22275">
                        <a:lnSpc>
                          <a:spcPct val="101099"/>
                        </a:lnSpc>
                        <a:spcBef>
                          <a:spcPts val="235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Searches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regular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expression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replaces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replacement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REGEXP_INSTR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29235">
                        <a:lnSpc>
                          <a:spcPct val="101099"/>
                        </a:lnSpc>
                        <a:spcBef>
                          <a:spcPts val="235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Searches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given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regular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expression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pattern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match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found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REGEXP_SUBSTR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83870">
                        <a:lnSpc>
                          <a:spcPct val="101099"/>
                        </a:lnSpc>
                        <a:spcBef>
                          <a:spcPts val="235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Searches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regular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expression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within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given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matched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substring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REGEXP_COUNT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209550">
                        <a:lnSpc>
                          <a:spcPct val="100400"/>
                        </a:lnSpc>
                        <a:spcBef>
                          <a:spcPts val="229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times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appears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string.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specify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pattern.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also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specify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matching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options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(for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example,</a:t>
                      </a:r>
                      <a:r>
                        <a:rPr dirty="0" sz="18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sensitivity).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Ejemplos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Funciones</a:t>
            </a:r>
            <a:r>
              <a:rPr dirty="0" spc="-45"/>
              <a:t> </a:t>
            </a:r>
            <a:r>
              <a:rPr dirty="0" spc="-25"/>
              <a:t>de </a:t>
            </a:r>
            <a:r>
              <a:rPr dirty="0"/>
              <a:t>Expresiones</a:t>
            </a:r>
            <a:r>
              <a:rPr dirty="0" spc="-105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5939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Supongamos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pedido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enumere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todos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Stephen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Steven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256409"/>
            <a:ext cx="7592059" cy="2744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333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regulares,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REGEXP_LIKE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búsqueda: 	'^Ste(v|ph)en$'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"^"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inicio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buscando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"S"</a:t>
            </a:r>
            <a:r>
              <a:rPr dirty="0" sz="2400" spc="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mayúscula,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seguida</a:t>
            </a:r>
            <a:r>
              <a:rPr dirty="0" sz="2400" spc="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"t"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minúscula,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seguida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"e"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minúscula,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seguida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299716"/>
            <a:ext cx="8345805" cy="8445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REGEXP_LIKE(first_name,</a:t>
            </a:r>
            <a:r>
              <a:rPr dirty="0" sz="1800" spc="-1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'^Ste(v|ph)en$');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Ejemplos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Funciones</a:t>
            </a:r>
            <a:r>
              <a:rPr dirty="0" spc="-45"/>
              <a:t> </a:t>
            </a:r>
            <a:r>
              <a:rPr dirty="0" spc="-25"/>
              <a:t>de </a:t>
            </a:r>
            <a:r>
              <a:rPr dirty="0"/>
              <a:t>Expresiones</a:t>
            </a:r>
            <a:r>
              <a:rPr dirty="0" spc="-105"/>
              <a:t> </a:t>
            </a:r>
            <a:r>
              <a:rPr dirty="0" spc="-10"/>
              <a:t>Regulares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83805" cy="42640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regulares,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REGEXP_LIKE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búsqueda: 	'^Ste(v|ph)en$'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"("</a:t>
            </a:r>
            <a:r>
              <a:rPr dirty="0" sz="2400" spc="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inicia una</a:t>
            </a:r>
            <a:r>
              <a:rPr dirty="0" sz="2400" spc="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subexpresión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"v"</a:t>
            </a:r>
            <a:r>
              <a:rPr dirty="0" sz="2400" spc="1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minúscula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"|"</a:t>
            </a:r>
            <a:r>
              <a:rPr dirty="0" sz="2400" spc="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especifica un</a:t>
            </a:r>
            <a:r>
              <a:rPr dirty="0" sz="2400" spc="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"p"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minúscula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seguida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"h"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mayúscula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")"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termina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opciones,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"e"</a:t>
            </a:r>
            <a:r>
              <a:rPr dirty="0" sz="2400" spc="1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minúscula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"n"</a:t>
            </a:r>
            <a:r>
              <a:rPr dirty="0" sz="2400" spc="1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minúscula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"$"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final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buscando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Ejemplos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Funciones</a:t>
            </a:r>
            <a:r>
              <a:rPr dirty="0" spc="-45"/>
              <a:t> </a:t>
            </a:r>
            <a:r>
              <a:rPr dirty="0" spc="-25"/>
              <a:t>de </a:t>
            </a:r>
            <a:r>
              <a:rPr dirty="0"/>
              <a:t>Expresiones</a:t>
            </a:r>
            <a:r>
              <a:rPr dirty="0" spc="-105"/>
              <a:t> </a:t>
            </a:r>
            <a:r>
              <a:rPr dirty="0" spc="-10"/>
              <a:t>Regulares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14662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872361"/>
            <a:ext cx="17214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318824" y="3706699"/>
          <a:ext cx="4582795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6630"/>
                <a:gridCol w="2246630"/>
              </a:tblGrid>
              <a:tr h="3003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Steven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2001011"/>
            <a:ext cx="8345805" cy="8432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REGEXP_LIKE(first_name,</a:t>
            </a:r>
            <a:r>
              <a:rPr dirty="0" sz="1800" spc="-1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'^Ste(v|ph)en$');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Ejemplos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Funciones</a:t>
            </a:r>
            <a:r>
              <a:rPr dirty="0" spc="-45"/>
              <a:t> </a:t>
            </a:r>
            <a:r>
              <a:rPr dirty="0" spc="-25"/>
              <a:t>de </a:t>
            </a:r>
            <a:r>
              <a:rPr dirty="0"/>
              <a:t>Expresiones</a:t>
            </a:r>
            <a:r>
              <a:rPr dirty="0" spc="-105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037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4922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REPLACE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sustituirá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patrón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"H"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seguida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cualquier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vocal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sustituyen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símbolos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"*"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3230879"/>
            <a:ext cx="8345805" cy="10185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1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REGEXP_REPLACE(last_name,</a:t>
            </a:r>
            <a:r>
              <a:rPr dirty="0" sz="18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'^H(a|e|i|o|u)',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'**')</a:t>
            </a:r>
            <a:endParaRPr sz="1800">
              <a:latin typeface="Courier New"/>
              <a:cs typeface="Courier New"/>
            </a:endParaRPr>
          </a:p>
          <a:p>
            <a:pPr marR="5742940" indent="2743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"Name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changed"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50725" y="4354196"/>
          <a:ext cx="6005195" cy="1705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7830"/>
                <a:gridCol w="2957830"/>
              </a:tblGrid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"Name</a:t>
                      </a:r>
                      <a:r>
                        <a:rPr dirty="0" sz="1600" spc="-3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changed"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11747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**rtstein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**ggins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11747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Ejemplos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Funciones</a:t>
            </a:r>
            <a:r>
              <a:rPr dirty="0" spc="-45"/>
              <a:t> </a:t>
            </a:r>
            <a:r>
              <a:rPr dirty="0" spc="-25"/>
              <a:t>de </a:t>
            </a:r>
            <a:r>
              <a:rPr dirty="0"/>
              <a:t>Expresiones</a:t>
            </a:r>
            <a:r>
              <a:rPr dirty="0" spc="-105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7110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COUNT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veces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aparece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patrón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subexpresión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"ab"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850757" y="4428360"/>
          <a:ext cx="5971540" cy="1948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9285"/>
                <a:gridCol w="1443355"/>
              </a:tblGrid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COUNTRY_NAME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'ab'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Zimbabwe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Arab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Egypt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Socialist</a:t>
                      </a:r>
                      <a:r>
                        <a:rPr dirty="0" sz="16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Peoples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Libyan</a:t>
                      </a:r>
                      <a:r>
                        <a:rPr dirty="0" sz="16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Arab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Jamahiriya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Kingdom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Saudi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Arabia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Syrian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Arab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Gabonese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United</a:t>
                      </a:r>
                      <a:r>
                        <a:rPr dirty="0" sz="16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Arab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Emirates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171444"/>
            <a:ext cx="8345805" cy="10718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4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country_name,</a:t>
            </a:r>
            <a:r>
              <a:rPr dirty="0" sz="1800" spc="-1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REGEXP_COUNT(country_name,</a:t>
            </a:r>
            <a:r>
              <a:rPr dirty="0" sz="1800" spc="-1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'(ab)')</a:t>
            </a:r>
            <a:r>
              <a:rPr dirty="0" sz="1800" spc="-1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endParaRPr sz="1800">
              <a:latin typeface="Courier New"/>
              <a:cs typeface="Courier New"/>
            </a:endParaRPr>
          </a:p>
          <a:p>
            <a:pPr marR="60166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"Count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of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'ab'"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1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REGEXP_COUNT(country_name,</a:t>
            </a:r>
            <a:r>
              <a:rPr dirty="0" sz="1800" spc="-1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'(ab)')&gt;0;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Expresiones</a:t>
            </a:r>
            <a:r>
              <a:rPr dirty="0" spc="-80"/>
              <a:t> </a:t>
            </a:r>
            <a:r>
              <a:rPr dirty="0" spc="-10"/>
              <a:t>Regulares</a:t>
            </a:r>
            <a:r>
              <a:rPr dirty="0" spc="-114"/>
              <a:t> </a:t>
            </a:r>
            <a:r>
              <a:rPr dirty="0" spc="-25"/>
              <a:t>en </a:t>
            </a:r>
            <a:r>
              <a:rPr dirty="0" spc="-10"/>
              <a:t>Restricciones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Control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5464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código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aplicación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garantizar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2413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llamada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regular,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restricción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CHECK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710684" y="3944111"/>
            <a:ext cx="3843654" cy="2200910"/>
            <a:chOff x="4710684" y="3944111"/>
            <a:chExt cx="3843654" cy="22009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0684" y="5501639"/>
              <a:ext cx="3843526" cy="64312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1076" y="3944111"/>
              <a:ext cx="2915412" cy="212293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18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Expresiones</a:t>
            </a:r>
            <a:r>
              <a:rPr dirty="0" spc="-80"/>
              <a:t> </a:t>
            </a:r>
            <a:r>
              <a:rPr dirty="0" spc="-10"/>
              <a:t>Regulares</a:t>
            </a:r>
            <a:r>
              <a:rPr dirty="0" spc="-114"/>
              <a:t> </a:t>
            </a:r>
            <a:r>
              <a:rPr dirty="0" spc="-25"/>
              <a:t>en </a:t>
            </a:r>
            <a:r>
              <a:rPr dirty="0" spc="-10"/>
              <a:t>Restricciones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Control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64830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tanto,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asegurarse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captura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dirección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correo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electrónico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"@"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restricciones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control: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024505"/>
            <a:ext cx="7649209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garantizará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direcciones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correo 	electrónico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incluyan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"@"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3113532"/>
            <a:ext cx="8345805" cy="8826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R="424180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ADD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CONSTRAINT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email_addr_chk CHECK(REGEXP_LIKE(email,'@'));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Expresiones</a:t>
            </a:r>
            <a:r>
              <a:rPr dirty="0" spc="-80"/>
              <a:t> </a:t>
            </a:r>
            <a:r>
              <a:rPr dirty="0" spc="-10"/>
              <a:t>Regulares</a:t>
            </a:r>
            <a:r>
              <a:rPr dirty="0" spc="-114"/>
              <a:t> </a:t>
            </a:r>
            <a:r>
              <a:rPr dirty="0" spc="-25"/>
              <a:t>en </a:t>
            </a:r>
            <a:r>
              <a:rPr dirty="0" spc="-10"/>
              <a:t>Restricciones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Control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20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3550" cy="28587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regulares,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comprobar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direcciones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correo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electrónico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fondo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comprobar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válidas</a:t>
            </a:r>
            <a:endParaRPr sz="2800">
              <a:latin typeface="Calibri"/>
              <a:cs typeface="Calibri"/>
            </a:endParaRPr>
          </a:p>
          <a:p>
            <a:pPr marL="182880" indent="-170815">
              <a:lnSpc>
                <a:spcPts val="3195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2880" algn="l"/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dirección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correo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electrónico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válida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tendrá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uno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3025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@,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uno</a:t>
            </a:r>
            <a:endParaRPr sz="2800">
              <a:latin typeface="Calibri"/>
              <a:cs typeface="Calibri"/>
            </a:endParaRPr>
          </a:p>
          <a:p>
            <a:pPr marL="184785" marR="997585">
              <a:lnSpc>
                <a:spcPts val="3030"/>
              </a:lnSpc>
              <a:spcBef>
                <a:spcPts val="21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.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(punto),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seguido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4437888"/>
            <a:ext cx="8345805" cy="11430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 marR="4924425">
              <a:lnSpc>
                <a:spcPts val="2160"/>
              </a:lnSpc>
              <a:spcBef>
                <a:spcPts val="3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my_contacts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(first_name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VARCHAR2(15),</a:t>
            </a:r>
            <a:endParaRPr sz="1800">
              <a:latin typeface="Courier New"/>
              <a:cs typeface="Courier New"/>
            </a:endParaRPr>
          </a:p>
          <a:p>
            <a:pPr marL="136525">
              <a:lnSpc>
                <a:spcPts val="209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VARCHAR2(15),</a:t>
            </a:r>
            <a:endParaRPr sz="1800">
              <a:latin typeface="Courier New"/>
              <a:cs typeface="Courier New"/>
            </a:endParaRPr>
          </a:p>
          <a:p>
            <a:pPr marL="1365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email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VARCHAR2(30)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CHECK(REGEXP_LIKE(email,</a:t>
            </a:r>
            <a:r>
              <a:rPr dirty="0" sz="1800" spc="-13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'.+@.+\..+'))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Expresiones</a:t>
            </a:r>
            <a:r>
              <a:rPr dirty="0" spc="-80"/>
              <a:t> </a:t>
            </a:r>
            <a:r>
              <a:rPr dirty="0" spc="-10"/>
              <a:t>Regulares</a:t>
            </a:r>
            <a:r>
              <a:rPr dirty="0" spc="-114"/>
              <a:t> </a:t>
            </a:r>
            <a:r>
              <a:rPr dirty="0" spc="-25"/>
              <a:t>en </a:t>
            </a:r>
            <a:r>
              <a:rPr dirty="0" spc="-10"/>
              <a:t>Restricciones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Control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175"/>
              <a:t> </a:t>
            </a:r>
            <a:r>
              <a:rPr dirty="0"/>
              <a:t>17-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regulares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3646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Definiciones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6452" y="1860425"/>
            <a:ext cx="473709" cy="115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5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25">
                <a:solidFill>
                  <a:srgbClr val="4E3629"/>
                </a:solidFill>
                <a:latin typeface="Calibri"/>
                <a:cs typeface="Calibri"/>
              </a:rPr>
              <a:t>.+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45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45">
                <a:solidFill>
                  <a:srgbClr val="4E3629"/>
                </a:solidFill>
                <a:latin typeface="Calibri"/>
                <a:cs typeface="Calibri"/>
              </a:rPr>
              <a:t>@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25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25">
                <a:solidFill>
                  <a:srgbClr val="4E3629"/>
                </a:solidFill>
                <a:latin typeface="Calibri"/>
                <a:cs typeface="Calibri"/>
              </a:rPr>
              <a:t>\.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55152" y="1860425"/>
            <a:ext cx="6748780" cy="1150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033395">
              <a:lnSpc>
                <a:spcPts val="2990"/>
              </a:lnSpc>
              <a:spcBef>
                <a:spcPts val="105"/>
              </a:spcBef>
            </a:pP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significa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caracteres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símbolo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@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.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(un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punto)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(aquí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barra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invertida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carácter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1712" y="2948561"/>
            <a:ext cx="974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escape)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5384" y="3480815"/>
            <a:ext cx="8345805" cy="114490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 marR="4924425">
              <a:lnSpc>
                <a:spcPts val="2160"/>
              </a:lnSpc>
              <a:spcBef>
                <a:spcPts val="4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my_contacts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(first_name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VARCHAR2(15),</a:t>
            </a:r>
            <a:endParaRPr sz="1800">
              <a:latin typeface="Courier New"/>
              <a:cs typeface="Courier New"/>
            </a:endParaRPr>
          </a:p>
          <a:p>
            <a:pPr marL="136525">
              <a:lnSpc>
                <a:spcPts val="209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VARCHAR2(15),</a:t>
            </a:r>
            <a:endParaRPr sz="1800">
              <a:latin typeface="Courier New"/>
              <a:cs typeface="Courier New"/>
            </a:endParaRPr>
          </a:p>
          <a:p>
            <a:pPr marL="1365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email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VARCHAR2(30)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CHECK(REGEXP_LIKE(email,</a:t>
            </a:r>
            <a:r>
              <a:rPr dirty="0" sz="1800" spc="-13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'.+@.+\..+'))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2025-06-01T18:16:27Z</dcterms:created>
  <dcterms:modified xsi:type="dcterms:W3CDTF">2025-06-01T18:16:27Z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2025-03-09T00:00:00Z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