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Default Extension="jpg" ContentType="image/jpg"/>
  <Default Extension="png" ContentType="image/png"/>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9144000" cy="6858000"/>
  <p:notesSz cx="9144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s>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19:09:43</a:t>
            </a:r>
          </a:p>
          <a:p>
            <a:r>
              <a:t>--------------------------------------------</a:t>
            </a:r>
          </a:p>
          <a:p>
            <a:r>
              <a:t>Aunque se realiza automáticamente, la comprobación de restricción lleva tiempo, especialmente comprobar las restricciones de clave ajena. A veces, los DBA aceleran las operaciones por lotes de gran volumen desactivando las restricciones. El riesgo es que se pueden realizar cambios no válidos en una tabla y no identificarse hasta más adelante, cuando la restricción se vuelva a activar.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19:09:43</a:t>
            </a:r>
          </a:p>
          <a:p>
            <a:r>
              <a:t>--------------------------------------------</a:t>
            </a:r>
          </a:p>
          <a:p>
            <a:r>
              <a:t>Para borrar la restricción de clave principal en la tabla DEPARTMENTS, se utiliza la palabra CASCADE para borrar la restricción de clave ajena en la tabla secundaria. Por lo tanto, si se borra la restricción PRIMARY KEY en la tabla de departamentos con la opción CASCADA, la restricción FOREIGN KEY en la tabla de empleados también borra.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300" b="0" i="0">
                <a:solidFill>
                  <a:srgbClr val="4E3629"/>
                </a:solidFill>
                <a:latin typeface="Calibri"/>
                <a:cs typeface="Calibri"/>
              </a:defRPr>
            </a:lvl1pPr>
          </a:lstStyle>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800" b="0" i="0" u="heavy">
                <a:solidFill>
                  <a:srgbClr val="4E3629"/>
                </a:solidFill>
                <a:latin typeface="Calibri"/>
                <a:cs typeface="Calibri"/>
              </a:defRPr>
            </a:lvl1pPr>
          </a:lstStyle>
          <a:p/>
        </p:txBody>
      </p:sp>
      <p:sp>
        <p:nvSpPr>
          <p:cNvPr id="4" name="Holder 4"/>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14-</a:t>
            </a:r>
            <a:r>
              <a:rPr dirty="0" spc="-50"/>
              <a:t>3</a:t>
            </a:r>
          </a:p>
          <a:p>
            <a:pPr marL="12700">
              <a:lnSpc>
                <a:spcPts val="965"/>
              </a:lnSpc>
            </a:pPr>
            <a:r>
              <a:rPr dirty="0"/>
              <a:t>Gestión</a:t>
            </a:r>
            <a:r>
              <a:rPr dirty="0" spc="-20"/>
              <a:t> </a:t>
            </a:r>
            <a:r>
              <a:rPr dirty="0"/>
              <a:t>de</a:t>
            </a:r>
            <a:r>
              <a:rPr dirty="0" spc="-40"/>
              <a:t> </a:t>
            </a:r>
            <a:r>
              <a:rPr dirty="0" spc="-10"/>
              <a:t>Restricciones</a:t>
            </a:r>
          </a:p>
        </p:txBody>
      </p:sp>
      <p:sp>
        <p:nvSpPr>
          <p:cNvPr id="6" name="Holder 6"/>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type="body" idx="1"/>
          </p:nvPr>
        </p:nvSpPr>
        <p:spPr/>
        <p:txBody>
          <a:bodyPr lIns="0" tIns="0" rIns="0" bIns="0"/>
          <a:lstStyle>
            <a:lvl1pPr>
              <a:defRPr sz="2800" b="0" i="0" u="heavy">
                <a:solidFill>
                  <a:srgbClr val="4E3629"/>
                </a:solidFill>
                <a:latin typeface="Calibri"/>
                <a:cs typeface="Calibri"/>
              </a:defRPr>
            </a:lvl1pPr>
          </a:lstStyle>
          <a:p/>
        </p:txBody>
      </p:sp>
      <p:sp>
        <p:nvSpPr>
          <p:cNvPr id="4" name="Holder 4"/>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14-</a:t>
            </a:r>
            <a:r>
              <a:rPr dirty="0" spc="-50"/>
              <a:t>3</a:t>
            </a:r>
          </a:p>
          <a:p>
            <a:pPr marL="12700">
              <a:lnSpc>
                <a:spcPts val="965"/>
              </a:lnSpc>
            </a:pPr>
            <a:r>
              <a:rPr dirty="0"/>
              <a:t>Gestión</a:t>
            </a:r>
            <a:r>
              <a:rPr dirty="0" spc="-20"/>
              <a:t> </a:t>
            </a:r>
            <a:r>
              <a:rPr dirty="0"/>
              <a:t>de</a:t>
            </a:r>
            <a:r>
              <a:rPr dirty="0" spc="-40"/>
              <a:t> </a:t>
            </a:r>
            <a:r>
              <a:rPr dirty="0" spc="-10"/>
              <a:t>Restricciones</a:t>
            </a:r>
          </a:p>
        </p:txBody>
      </p:sp>
      <p:sp>
        <p:nvSpPr>
          <p:cNvPr id="6" name="Holder 6"/>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idx="2" sz="half"/>
          </p:nvPr>
        </p:nvSpPr>
        <p:spPr>
          <a:xfrm>
            <a:off x="457200" y="1577340"/>
            <a:ext cx="3977640" cy="4526280"/>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4709160" y="1577340"/>
            <a:ext cx="3977640" cy="452628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6" name="Holder 6"/>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14-</a:t>
            </a:r>
            <a:r>
              <a:rPr dirty="0" spc="-50"/>
              <a:t>3</a:t>
            </a:r>
          </a:p>
          <a:p>
            <a:pPr marL="12700">
              <a:lnSpc>
                <a:spcPts val="965"/>
              </a:lnSpc>
            </a:pPr>
            <a:r>
              <a:rPr dirty="0"/>
              <a:t>Gestión</a:t>
            </a:r>
            <a:r>
              <a:rPr dirty="0" spc="-20"/>
              <a:t> </a:t>
            </a:r>
            <a:r>
              <a:rPr dirty="0"/>
              <a:t>de</a:t>
            </a:r>
            <a:r>
              <a:rPr dirty="0" spc="-40"/>
              <a:t> </a:t>
            </a:r>
            <a:r>
              <a:rPr dirty="0" spc="-10"/>
              <a:t>Restricciones</a:t>
            </a:r>
          </a:p>
        </p:txBody>
      </p:sp>
      <p:sp>
        <p:nvSpPr>
          <p:cNvPr id="7" name="Holder 7"/>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4" name="Holder 4"/>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14-</a:t>
            </a:r>
            <a:r>
              <a:rPr dirty="0" spc="-50"/>
              <a:t>3</a:t>
            </a:r>
          </a:p>
          <a:p>
            <a:pPr marL="12700">
              <a:lnSpc>
                <a:spcPts val="965"/>
              </a:lnSpc>
            </a:pPr>
            <a:r>
              <a:rPr dirty="0"/>
              <a:t>Gestión</a:t>
            </a:r>
            <a:r>
              <a:rPr dirty="0" spc="-20"/>
              <a:t> </a:t>
            </a:r>
            <a:r>
              <a:rPr dirty="0"/>
              <a:t>de</a:t>
            </a:r>
            <a:r>
              <a:rPr dirty="0" spc="-40"/>
              <a:t> </a:t>
            </a:r>
            <a:r>
              <a:rPr dirty="0" spc="-10"/>
              <a:t>Restricciones</a:t>
            </a:r>
          </a:p>
        </p:txBody>
      </p:sp>
      <p:sp>
        <p:nvSpPr>
          <p:cNvPr id="5" name="Holder 5"/>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Holder 3"/>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14-</a:t>
            </a:r>
            <a:r>
              <a:rPr dirty="0" spc="-50"/>
              <a:t>3</a:t>
            </a:r>
          </a:p>
          <a:p>
            <a:pPr marL="12700">
              <a:lnSpc>
                <a:spcPts val="965"/>
              </a:lnSpc>
            </a:pPr>
            <a:r>
              <a:rPr dirty="0"/>
              <a:t>Gestión</a:t>
            </a:r>
            <a:r>
              <a:rPr dirty="0" spc="-20"/>
              <a:t> </a:t>
            </a:r>
            <a:r>
              <a:rPr dirty="0"/>
              <a:t>de</a:t>
            </a:r>
            <a:r>
              <a:rPr dirty="0" spc="-40"/>
              <a:t> </a:t>
            </a:r>
            <a:r>
              <a:rPr dirty="0" spc="-10"/>
              <a:t>Restricciones</a:t>
            </a:r>
          </a:p>
        </p:txBody>
      </p:sp>
      <p:sp>
        <p:nvSpPr>
          <p:cNvPr id="4" name="Holder 4"/>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jpg"/><Relationship Id="rId8"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E0E2E1"/>
          </a:solidFill>
        </p:spPr>
        <p:txBody>
          <a:bodyPr wrap="square" lIns="0" tIns="0" rIns="0" bIns="0" rtlCol="0"/>
          <a:lstStyle/>
          <a:p/>
        </p:txBody>
      </p:sp>
      <p:pic>
        <p:nvPicPr>
          <p:cNvPr id="17" name="bg object 17"/>
          <p:cNvPicPr/>
          <p:nvPr/>
        </p:nvPicPr>
        <p:blipFill>
          <a:blip r:embed="rId7" cstate="print"/>
          <a:stretch>
            <a:fillRect/>
          </a:stretch>
        </p:blipFill>
        <p:spPr>
          <a:xfrm>
            <a:off x="0" y="0"/>
            <a:ext cx="9144000" cy="254507"/>
          </a:xfrm>
          <a:prstGeom prst="rect">
            <a:avLst/>
          </a:prstGeom>
        </p:spPr>
      </p:pic>
      <p:pic>
        <p:nvPicPr>
          <p:cNvPr id="18" name="bg object 18"/>
          <p:cNvPicPr/>
          <p:nvPr/>
        </p:nvPicPr>
        <p:blipFill>
          <a:blip r:embed="rId8" cstate="print"/>
          <a:stretch>
            <a:fillRect/>
          </a:stretch>
        </p:blipFill>
        <p:spPr>
          <a:xfrm>
            <a:off x="405384" y="6178295"/>
            <a:ext cx="1258824" cy="420624"/>
          </a:xfrm>
          <a:prstGeom prst="rect">
            <a:avLst/>
          </a:prstGeom>
        </p:spPr>
      </p:pic>
      <p:sp>
        <p:nvSpPr>
          <p:cNvPr id="2" name="Holder 2"/>
          <p:cNvSpPr>
            <a:spLocks noGrp="1"/>
          </p:cNvSpPr>
          <p:nvPr>
            <p:ph type="title"/>
          </p:nvPr>
        </p:nvSpPr>
        <p:spPr>
          <a:xfrm>
            <a:off x="392112" y="748031"/>
            <a:ext cx="8359775" cy="528319"/>
          </a:xfrm>
          <a:prstGeom prst="rect">
            <a:avLst/>
          </a:prstGeom>
        </p:spPr>
        <p:txBody>
          <a:bodyPr wrap="square" lIns="0" tIns="0" rIns="0" bIns="0">
            <a:spAutoFit/>
          </a:bodyPr>
          <a:lstStyle>
            <a:lvl1pPr>
              <a:defRPr sz="3300" b="0" i="0">
                <a:solidFill>
                  <a:srgbClr val="4E3629"/>
                </a:solidFill>
                <a:latin typeface="Calibri"/>
                <a:cs typeface="Calibri"/>
              </a:defRPr>
            </a:lvl1pPr>
          </a:lstStyle>
          <a:p/>
        </p:txBody>
      </p:sp>
      <p:sp>
        <p:nvSpPr>
          <p:cNvPr id="3" name="Holder 3"/>
          <p:cNvSpPr>
            <a:spLocks noGrp="1"/>
          </p:cNvSpPr>
          <p:nvPr>
            <p:ph type="body" idx="1"/>
          </p:nvPr>
        </p:nvSpPr>
        <p:spPr>
          <a:xfrm>
            <a:off x="483552" y="1381889"/>
            <a:ext cx="8084820" cy="4511675"/>
          </a:xfrm>
          <a:prstGeom prst="rect">
            <a:avLst/>
          </a:prstGeom>
        </p:spPr>
        <p:txBody>
          <a:bodyPr wrap="square" lIns="0" tIns="0" rIns="0" bIns="0">
            <a:spAutoFit/>
          </a:bodyPr>
          <a:lstStyle>
            <a:lvl1pPr>
              <a:defRPr sz="2800" b="0" i="0" u="heavy">
                <a:solidFill>
                  <a:srgbClr val="4E3629"/>
                </a:solidFill>
                <a:latin typeface="Calibri"/>
                <a:cs typeface="Calibri"/>
              </a:defRPr>
            </a:lvl1pPr>
          </a:lstStyle>
          <a:p/>
        </p:txBody>
      </p:sp>
      <p:sp>
        <p:nvSpPr>
          <p:cNvPr id="4" name="Holder 4"/>
          <p:cNvSpPr>
            <a:spLocks noGrp="1"/>
          </p:cNvSpPr>
          <p:nvPr>
            <p:ph type="ftr" idx="5" sz="quarter"/>
          </p:nvPr>
        </p:nvSpPr>
        <p:spPr>
          <a:xfrm>
            <a:off x="5172119" y="6589648"/>
            <a:ext cx="3222625" cy="133984"/>
          </a:xfrm>
          <a:prstGeom prst="rect">
            <a:avLst/>
          </a:prstGeom>
        </p:spPr>
        <p:txBody>
          <a:bodyPr wrap="square" lIns="0" tIns="0" rIns="0" bIns="0">
            <a:spAutoFit/>
          </a:bodyPr>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a:xfrm>
            <a:off x="2874191" y="6516395"/>
            <a:ext cx="1104264" cy="249554"/>
          </a:xfrm>
          <a:prstGeom prst="rect">
            <a:avLst/>
          </a:prstGeom>
        </p:spPr>
        <p:txBody>
          <a:bodyPr wrap="square" lIns="0" tIns="0" rIns="0" bIns="0">
            <a:spAutoFit/>
          </a:bodyPr>
          <a:lstStyle>
            <a:lvl1pPr>
              <a:defRPr sz="850" b="0" i="0">
                <a:solidFill>
                  <a:srgbClr val="4E3629"/>
                </a:solidFill>
                <a:latin typeface="Calibri"/>
                <a:cs typeface="Calibri"/>
              </a:defRPr>
            </a:lvl1pPr>
          </a:lstStyle>
          <a:p>
            <a:pPr marL="12700">
              <a:lnSpc>
                <a:spcPts val="855"/>
              </a:lnSpc>
            </a:pPr>
            <a:r>
              <a:rPr dirty="0"/>
              <a:t>DP</a:t>
            </a:r>
            <a:r>
              <a:rPr dirty="0" spc="-10"/>
              <a:t> </a:t>
            </a:r>
            <a:r>
              <a:rPr dirty="0"/>
              <a:t>14-</a:t>
            </a:r>
            <a:r>
              <a:rPr dirty="0" spc="-50"/>
              <a:t>3</a:t>
            </a:r>
          </a:p>
          <a:p>
            <a:pPr marL="12700">
              <a:lnSpc>
                <a:spcPts val="965"/>
              </a:lnSpc>
            </a:pPr>
            <a:r>
              <a:rPr dirty="0"/>
              <a:t>Gestión</a:t>
            </a:r>
            <a:r>
              <a:rPr dirty="0" spc="-20"/>
              <a:t> </a:t>
            </a:r>
            <a:r>
              <a:rPr dirty="0"/>
              <a:t>de</a:t>
            </a:r>
            <a:r>
              <a:rPr dirty="0" spc="-40"/>
              <a:t> </a:t>
            </a:r>
            <a:r>
              <a:rPr dirty="0" spc="-10"/>
              <a:t>Restricciones</a:t>
            </a:r>
          </a:p>
        </p:txBody>
      </p:sp>
      <p:sp>
        <p:nvSpPr>
          <p:cNvPr id="6" name="Holder 6"/>
          <p:cNvSpPr>
            <a:spLocks noGrp="1"/>
          </p:cNvSpPr>
          <p:nvPr>
            <p:ph type="sldNum" idx="7" sz="quarter"/>
          </p:nvPr>
        </p:nvSpPr>
        <p:spPr>
          <a:xfrm>
            <a:off x="8725090" y="6567768"/>
            <a:ext cx="217170" cy="152400"/>
          </a:xfrm>
          <a:prstGeom prst="rect">
            <a:avLst/>
          </a:prstGeom>
        </p:spPr>
        <p:txBody>
          <a:bodyPr wrap="square" lIns="0" tIns="0" rIns="0" bIns="0">
            <a:spAutoFit/>
          </a:bodyPr>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1.xml"/><Relationship Id="rId6" Type="http://schemas.openxmlformats.org/officeDocument/2006/relationships/slide" Target="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2.xml"/><Relationship Id="rId5" Type="http://schemas.openxmlformats.org/officeDocument/2006/relationships/slide" Target="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slide" Target="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slide" Target="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slide" Target="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slide" Target="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slide" Target="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slide" Target="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slide" Target="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0.xml"/><Relationship Id="rId5" Type="http://schemas.openxmlformats.org/officeDocument/2006/relationships/slide" Target="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slide" Target="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2.xml"/><Relationship Id="rId5" Type="http://schemas.openxmlformats.org/officeDocument/2006/relationships/slide" Target="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3.xml"/><Relationship Id="rId5" Type="http://schemas.openxmlformats.org/officeDocument/2006/relationships/slide" Target="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slide" Target="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slide" Target="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slide" Target="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slide" Target="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slide" Target="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slide" Target="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slide" Target="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1.xml"/><Relationship Id="rId5" Type="http://schemas.openxmlformats.org/officeDocument/2006/relationships/slide" Target="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slide" Target="slide2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0" y="0"/>
            <a:ext cx="9144000" cy="6858000"/>
            <a:chOff x="0" y="0"/>
            <a:chExt cx="9144000" cy="6858000"/>
          </a:xfrm>
        </p:grpSpPr>
        <p:pic>
          <p:nvPicPr>
            <p:cNvPr id="3" name="object 3" descr=""/>
            <p:cNvPicPr/>
            <p:nvPr/>
          </p:nvPicPr>
          <p:blipFill>
            <a:blip r:embed="rId2" cstate="print"/>
            <a:stretch>
              <a:fillRect/>
            </a:stretch>
          </p:blipFill>
          <p:spPr>
            <a:xfrm>
              <a:off x="0" y="0"/>
              <a:ext cx="9144000" cy="6858000"/>
            </a:xfrm>
            <a:prstGeom prst="rect">
              <a:avLst/>
            </a:prstGeom>
          </p:spPr>
        </p:pic>
        <p:sp>
          <p:nvSpPr>
            <p:cNvPr id="4" name="object 4" descr=""/>
            <p:cNvSpPr/>
            <p:nvPr/>
          </p:nvSpPr>
          <p:spPr>
            <a:xfrm>
              <a:off x="560831" y="702563"/>
              <a:ext cx="8022590" cy="5453380"/>
            </a:xfrm>
            <a:custGeom>
              <a:avLst/>
              <a:gdLst/>
              <a:ahLst/>
              <a:cxnLst/>
              <a:rect l="l" t="t" r="r" b="b"/>
              <a:pathLst>
                <a:path w="8022590" h="5453380">
                  <a:moveTo>
                    <a:pt x="8022335" y="0"/>
                  </a:moveTo>
                  <a:lnTo>
                    <a:pt x="0" y="0"/>
                  </a:lnTo>
                  <a:lnTo>
                    <a:pt x="0" y="5452872"/>
                  </a:lnTo>
                  <a:lnTo>
                    <a:pt x="8022335" y="5452872"/>
                  </a:lnTo>
                  <a:lnTo>
                    <a:pt x="8022335" y="0"/>
                  </a:lnTo>
                  <a:close/>
                </a:path>
              </a:pathLst>
            </a:custGeom>
            <a:solidFill>
              <a:srgbClr val="E0E2E1"/>
            </a:solidFill>
          </p:spPr>
          <p:txBody>
            <a:bodyPr wrap="square" lIns="0" tIns="0" rIns="0" bIns="0" rtlCol="0"/>
            <a:lstStyle/>
            <a:p/>
          </p:txBody>
        </p:sp>
        <p:pic>
          <p:nvPicPr>
            <p:cNvPr id="5" name="object 5" descr=""/>
            <p:cNvPicPr/>
            <p:nvPr/>
          </p:nvPicPr>
          <p:blipFill>
            <a:blip r:embed="rId3" cstate="print"/>
            <a:stretch>
              <a:fillRect/>
            </a:stretch>
          </p:blipFill>
          <p:spPr>
            <a:xfrm>
              <a:off x="970787" y="5570219"/>
              <a:ext cx="1258824" cy="420623"/>
            </a:xfrm>
            <a:prstGeom prst="rect">
              <a:avLst/>
            </a:prstGeom>
          </p:spPr>
        </p:pic>
      </p:grpSp>
      <p:sp>
        <p:nvSpPr>
          <p:cNvPr id="6" name="object 6" descr=""/>
          <p:cNvSpPr txBox="1"/>
          <p:nvPr/>
        </p:nvSpPr>
        <p:spPr>
          <a:xfrm>
            <a:off x="5057819" y="6562597"/>
            <a:ext cx="3222625" cy="155575"/>
          </a:xfrm>
          <a:prstGeom prst="rect">
            <a:avLst/>
          </a:prstGeom>
        </p:spPr>
        <p:txBody>
          <a:bodyPr wrap="square" lIns="0" tIns="12700" rIns="0" bIns="0" rtlCol="0" vert="horz">
            <a:spAutoFit/>
          </a:bodyPr>
          <a:lstStyle/>
          <a:p>
            <a:pPr marL="12700">
              <a:lnSpc>
                <a:spcPct val="100000"/>
              </a:lnSpc>
              <a:spcBef>
                <a:spcPts val="100"/>
              </a:spcBef>
            </a:pPr>
            <a:r>
              <a:rPr dirty="0" sz="850">
                <a:solidFill>
                  <a:srgbClr val="FDF0D9"/>
                </a:solidFill>
                <a:latin typeface="Calibri"/>
                <a:cs typeface="Calibri"/>
              </a:rPr>
              <a:t>Copyright</a:t>
            </a:r>
            <a:r>
              <a:rPr dirty="0" sz="850" spc="-35">
                <a:solidFill>
                  <a:srgbClr val="FDF0D9"/>
                </a:solidFill>
                <a:latin typeface="Calibri"/>
                <a:cs typeface="Calibri"/>
              </a:rPr>
              <a:t> </a:t>
            </a:r>
            <a:r>
              <a:rPr dirty="0" sz="850">
                <a:solidFill>
                  <a:srgbClr val="FDF0D9"/>
                </a:solidFill>
                <a:latin typeface="Calibri"/>
                <a:cs typeface="Calibri"/>
              </a:rPr>
              <a:t>©</a:t>
            </a:r>
            <a:r>
              <a:rPr dirty="0" sz="850" spc="-40">
                <a:solidFill>
                  <a:srgbClr val="FDF0D9"/>
                </a:solidFill>
                <a:latin typeface="Calibri"/>
                <a:cs typeface="Calibri"/>
              </a:rPr>
              <a:t> </a:t>
            </a:r>
            <a:r>
              <a:rPr dirty="0" sz="850">
                <a:solidFill>
                  <a:srgbClr val="FDF0D9"/>
                </a:solidFill>
                <a:latin typeface="Calibri"/>
                <a:cs typeface="Calibri"/>
              </a:rPr>
              <a:t>2020,</a:t>
            </a:r>
            <a:r>
              <a:rPr dirty="0" sz="850" spc="-45">
                <a:solidFill>
                  <a:srgbClr val="FDF0D9"/>
                </a:solidFill>
                <a:latin typeface="Calibri"/>
                <a:cs typeface="Calibri"/>
              </a:rPr>
              <a:t> </a:t>
            </a:r>
            <a:r>
              <a:rPr dirty="0" sz="850">
                <a:solidFill>
                  <a:srgbClr val="FDF0D9"/>
                </a:solidFill>
                <a:latin typeface="Calibri"/>
                <a:cs typeface="Calibri"/>
              </a:rPr>
              <a:t>Oracle</a:t>
            </a:r>
            <a:r>
              <a:rPr dirty="0" sz="850" spc="-30">
                <a:solidFill>
                  <a:srgbClr val="FDF0D9"/>
                </a:solidFill>
                <a:latin typeface="Calibri"/>
                <a:cs typeface="Calibri"/>
              </a:rPr>
              <a:t> </a:t>
            </a:r>
            <a:r>
              <a:rPr dirty="0" sz="850">
                <a:solidFill>
                  <a:srgbClr val="FDF0D9"/>
                </a:solidFill>
                <a:latin typeface="Calibri"/>
                <a:cs typeface="Calibri"/>
              </a:rPr>
              <a:t>y/o</a:t>
            </a:r>
            <a:r>
              <a:rPr dirty="0" sz="850" spc="-30">
                <a:solidFill>
                  <a:srgbClr val="FDF0D9"/>
                </a:solidFill>
                <a:latin typeface="Calibri"/>
                <a:cs typeface="Calibri"/>
              </a:rPr>
              <a:t> </a:t>
            </a:r>
            <a:r>
              <a:rPr dirty="0" sz="850">
                <a:solidFill>
                  <a:srgbClr val="FDF0D9"/>
                </a:solidFill>
                <a:latin typeface="Calibri"/>
                <a:cs typeface="Calibri"/>
              </a:rPr>
              <a:t>sus</a:t>
            </a:r>
            <a:r>
              <a:rPr dirty="0" sz="850" spc="-35">
                <a:solidFill>
                  <a:srgbClr val="FDF0D9"/>
                </a:solidFill>
                <a:latin typeface="Calibri"/>
                <a:cs typeface="Calibri"/>
              </a:rPr>
              <a:t> </a:t>
            </a:r>
            <a:r>
              <a:rPr dirty="0" sz="850">
                <a:solidFill>
                  <a:srgbClr val="FDF0D9"/>
                </a:solidFill>
                <a:latin typeface="Calibri"/>
                <a:cs typeface="Calibri"/>
              </a:rPr>
              <a:t>filiales.</a:t>
            </a:r>
            <a:r>
              <a:rPr dirty="0" sz="850" spc="-10">
                <a:solidFill>
                  <a:srgbClr val="FDF0D9"/>
                </a:solidFill>
                <a:latin typeface="Calibri"/>
                <a:cs typeface="Calibri"/>
              </a:rPr>
              <a:t> </a:t>
            </a:r>
            <a:r>
              <a:rPr dirty="0" sz="850">
                <a:solidFill>
                  <a:srgbClr val="FDF0D9"/>
                </a:solidFill>
                <a:latin typeface="Calibri"/>
                <a:cs typeface="Calibri"/>
              </a:rPr>
              <a:t>Todos</a:t>
            </a:r>
            <a:r>
              <a:rPr dirty="0" sz="850" spc="-35">
                <a:solidFill>
                  <a:srgbClr val="FDF0D9"/>
                </a:solidFill>
                <a:latin typeface="Calibri"/>
                <a:cs typeface="Calibri"/>
              </a:rPr>
              <a:t> </a:t>
            </a:r>
            <a:r>
              <a:rPr dirty="0" sz="850">
                <a:solidFill>
                  <a:srgbClr val="FDF0D9"/>
                </a:solidFill>
                <a:latin typeface="Calibri"/>
                <a:cs typeface="Calibri"/>
              </a:rPr>
              <a:t>los</a:t>
            </a:r>
            <a:r>
              <a:rPr dirty="0" sz="850" spc="-25">
                <a:solidFill>
                  <a:srgbClr val="FDF0D9"/>
                </a:solidFill>
                <a:latin typeface="Calibri"/>
                <a:cs typeface="Calibri"/>
              </a:rPr>
              <a:t> </a:t>
            </a:r>
            <a:r>
              <a:rPr dirty="0" sz="850">
                <a:solidFill>
                  <a:srgbClr val="FDF0D9"/>
                </a:solidFill>
                <a:latin typeface="Calibri"/>
                <a:cs typeface="Calibri"/>
              </a:rPr>
              <a:t>derechos</a:t>
            </a:r>
            <a:r>
              <a:rPr dirty="0" sz="850" spc="-5">
                <a:solidFill>
                  <a:srgbClr val="FDF0D9"/>
                </a:solidFill>
                <a:latin typeface="Calibri"/>
                <a:cs typeface="Calibri"/>
              </a:rPr>
              <a:t> </a:t>
            </a:r>
            <a:r>
              <a:rPr dirty="0" sz="850" spc="-10">
                <a:solidFill>
                  <a:srgbClr val="FDF0D9"/>
                </a:solidFill>
                <a:latin typeface="Calibri"/>
                <a:cs typeface="Calibri"/>
              </a:rPr>
              <a:t>reservados.</a:t>
            </a:r>
            <a:endParaRPr sz="850">
              <a:latin typeface="Calibri"/>
              <a:cs typeface="Calibri"/>
            </a:endParaRPr>
          </a:p>
        </p:txBody>
      </p:sp>
      <p:sp>
        <p:nvSpPr>
          <p:cNvPr id="7" name="object 7"/>
          <p:cNvSpPr txBox="1">
            <a:spLocks noGrp="1"/>
          </p:cNvSpPr>
          <p:nvPr>
            <p:ph type="title"/>
          </p:nvPr>
        </p:nvSpPr>
        <p:spPr>
          <a:xfrm>
            <a:off x="958315" y="862895"/>
            <a:ext cx="7047865" cy="1342390"/>
          </a:xfrm>
          <a:prstGeom prst="rect"/>
        </p:spPr>
        <p:txBody>
          <a:bodyPr wrap="square" lIns="0" tIns="153670" rIns="0" bIns="0" rtlCol="0" vert="horz">
            <a:spAutoFit/>
          </a:bodyPr>
          <a:lstStyle/>
          <a:p>
            <a:pPr marL="12700" marR="5080">
              <a:lnSpc>
                <a:spcPts val="4610"/>
              </a:lnSpc>
              <a:spcBef>
                <a:spcPts val="1210"/>
              </a:spcBef>
            </a:pPr>
            <a:r>
              <a:rPr dirty="0" sz="4800"/>
              <a:t>Database</a:t>
            </a:r>
            <a:r>
              <a:rPr dirty="0" sz="4800" spc="-190"/>
              <a:t> </a:t>
            </a:r>
            <a:r>
              <a:rPr dirty="0" sz="4800" spc="-20"/>
              <a:t>Programming</a:t>
            </a:r>
            <a:r>
              <a:rPr dirty="0" sz="4800" spc="-185"/>
              <a:t> </a:t>
            </a:r>
            <a:r>
              <a:rPr dirty="0" sz="4800" spc="-20"/>
              <a:t>with </a:t>
            </a:r>
            <a:r>
              <a:rPr dirty="0" sz="4800" spc="-25"/>
              <a:t>SQL</a:t>
            </a:r>
            <a:endParaRPr sz="4800"/>
          </a:p>
        </p:txBody>
      </p:sp>
      <p:sp>
        <p:nvSpPr>
          <p:cNvPr id="8" name="object 8" descr=""/>
          <p:cNvSpPr txBox="1"/>
          <p:nvPr/>
        </p:nvSpPr>
        <p:spPr>
          <a:xfrm>
            <a:off x="962879" y="2400950"/>
            <a:ext cx="3116580" cy="888365"/>
          </a:xfrm>
          <a:prstGeom prst="rect">
            <a:avLst/>
          </a:prstGeom>
        </p:spPr>
        <p:txBody>
          <a:bodyPr wrap="square" lIns="0" tIns="78105" rIns="0" bIns="0" rtlCol="0" vert="horz">
            <a:spAutoFit/>
          </a:bodyPr>
          <a:lstStyle/>
          <a:p>
            <a:pPr marL="12700">
              <a:lnSpc>
                <a:spcPct val="100000"/>
              </a:lnSpc>
              <a:spcBef>
                <a:spcPts val="615"/>
              </a:spcBef>
            </a:pPr>
            <a:r>
              <a:rPr dirty="0" sz="2400" spc="-10" b="1">
                <a:solidFill>
                  <a:srgbClr val="4E3629"/>
                </a:solidFill>
                <a:latin typeface="Calibri"/>
                <a:cs typeface="Calibri"/>
              </a:rPr>
              <a:t>14-</a:t>
            </a:r>
            <a:r>
              <a:rPr dirty="0" sz="2400" spc="-50" b="1">
                <a:solidFill>
                  <a:srgbClr val="4E3629"/>
                </a:solidFill>
                <a:latin typeface="Calibri"/>
                <a:cs typeface="Calibri"/>
              </a:rPr>
              <a:t>3</a:t>
            </a:r>
            <a:endParaRPr sz="2400">
              <a:latin typeface="Calibri"/>
              <a:cs typeface="Calibri"/>
            </a:endParaRPr>
          </a:p>
          <a:p>
            <a:pPr marL="12700">
              <a:lnSpc>
                <a:spcPct val="100000"/>
              </a:lnSpc>
              <a:spcBef>
                <a:spcPts val="515"/>
              </a:spcBef>
            </a:pPr>
            <a:r>
              <a:rPr dirty="0" sz="2400" b="1">
                <a:solidFill>
                  <a:srgbClr val="4E3629"/>
                </a:solidFill>
                <a:latin typeface="Calibri"/>
                <a:cs typeface="Calibri"/>
              </a:rPr>
              <a:t>Gestión</a:t>
            </a:r>
            <a:r>
              <a:rPr dirty="0" sz="2400" spc="-55" b="1">
                <a:solidFill>
                  <a:srgbClr val="4E3629"/>
                </a:solidFill>
                <a:latin typeface="Calibri"/>
                <a:cs typeface="Calibri"/>
              </a:rPr>
              <a:t> </a:t>
            </a:r>
            <a:r>
              <a:rPr dirty="0" sz="2400" b="1">
                <a:solidFill>
                  <a:srgbClr val="4E3629"/>
                </a:solidFill>
                <a:latin typeface="Calibri"/>
                <a:cs typeface="Calibri"/>
              </a:rPr>
              <a:t>de</a:t>
            </a:r>
            <a:r>
              <a:rPr dirty="0" sz="2400" spc="-45" b="1">
                <a:solidFill>
                  <a:srgbClr val="4E3629"/>
                </a:solidFill>
                <a:latin typeface="Calibri"/>
                <a:cs typeface="Calibri"/>
              </a:rPr>
              <a:t> </a:t>
            </a:r>
            <a:r>
              <a:rPr dirty="0" sz="2400" spc="-10" b="1">
                <a:solidFill>
                  <a:srgbClr val="4E3629"/>
                </a:solidFill>
                <a:latin typeface="Calibri"/>
                <a:cs typeface="Calibri"/>
              </a:rPr>
              <a:t>Restricciones</a:t>
            </a:r>
            <a:endParaRPr sz="2400">
              <a:latin typeface="Calibri"/>
              <a:cs typeface="Calibri"/>
            </a:endParaRPr>
          </a:p>
        </p:txBody>
      </p:sp>
      <p:pic>
        <p:nvPicPr>
          <p:cNvPr id="9" name="object 9" descr=""/>
          <p:cNvPicPr/>
          <p:nvPr/>
        </p:nvPicPr>
        <p:blipFill>
          <a:blip r:embed="rId4" cstate="print"/>
          <a:stretch>
            <a:fillRect/>
          </a:stretch>
        </p:blipFill>
        <p:spPr>
          <a:xfrm>
            <a:off x="3698747" y="3485388"/>
            <a:ext cx="5058156" cy="29657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Gestión</a:t>
            </a:r>
            <a:r>
              <a:rPr dirty="0" spc="-80"/>
              <a:t> </a:t>
            </a:r>
            <a:r>
              <a:rPr dirty="0"/>
              <a:t>de</a:t>
            </a:r>
            <a:r>
              <a:rPr dirty="0" spc="-70"/>
              <a:t> </a:t>
            </a:r>
            <a:r>
              <a:rPr dirty="0" spc="-10"/>
              <a:t>Restricciones</a:t>
            </a:r>
          </a:p>
        </p:txBody>
      </p:sp>
      <p:sp>
        <p:nvSpPr>
          <p:cNvPr id="3" name="object 3" descr=""/>
          <p:cNvSpPr txBox="1"/>
          <p:nvPr/>
        </p:nvSpPr>
        <p:spPr>
          <a:xfrm>
            <a:off x="483552" y="1415417"/>
            <a:ext cx="8136255" cy="2090420"/>
          </a:xfrm>
          <a:prstGeom prst="rect">
            <a:avLst/>
          </a:prstGeom>
        </p:spPr>
        <p:txBody>
          <a:bodyPr wrap="square" lIns="0" tIns="59690" rIns="0" bIns="0" rtlCol="0" vert="horz">
            <a:spAutoFit/>
          </a:bodyPr>
          <a:lstStyle/>
          <a:p>
            <a:pPr marL="182880" marR="1005205"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a:t>
            </a:r>
            <a:r>
              <a:rPr dirty="0" sz="2800" spc="-95">
                <a:solidFill>
                  <a:srgbClr val="4E3629"/>
                </a:solidFill>
                <a:latin typeface="Calibri"/>
                <a:cs typeface="Calibri"/>
              </a:rPr>
              <a:t> </a:t>
            </a:r>
            <a:r>
              <a:rPr dirty="0" sz="2800">
                <a:solidFill>
                  <a:srgbClr val="4E3629"/>
                </a:solidFill>
                <a:latin typeface="Calibri"/>
                <a:cs typeface="Calibri"/>
              </a:rPr>
              <a:t>sentencia</a:t>
            </a:r>
            <a:r>
              <a:rPr dirty="0" sz="2800" spc="-75">
                <a:solidFill>
                  <a:srgbClr val="4E3629"/>
                </a:solidFill>
                <a:latin typeface="Calibri"/>
                <a:cs typeface="Calibri"/>
              </a:rPr>
              <a:t> </a:t>
            </a:r>
            <a:r>
              <a:rPr dirty="0" sz="2800" spc="-20">
                <a:solidFill>
                  <a:srgbClr val="4E3629"/>
                </a:solidFill>
                <a:latin typeface="Calibri"/>
                <a:cs typeface="Calibri"/>
              </a:rPr>
              <a:t>ALTER</a:t>
            </a:r>
            <a:r>
              <a:rPr dirty="0" sz="2800" spc="-85">
                <a:solidFill>
                  <a:srgbClr val="4E3629"/>
                </a:solidFill>
                <a:latin typeface="Calibri"/>
                <a:cs typeface="Calibri"/>
              </a:rPr>
              <a:t> </a:t>
            </a:r>
            <a:r>
              <a:rPr dirty="0" sz="2800" spc="-25">
                <a:solidFill>
                  <a:srgbClr val="4E3629"/>
                </a:solidFill>
                <a:latin typeface="Calibri"/>
                <a:cs typeface="Calibri"/>
              </a:rPr>
              <a:t>TABLE</a:t>
            </a:r>
            <a:r>
              <a:rPr dirty="0" sz="2800" spc="-90">
                <a:solidFill>
                  <a:srgbClr val="4E3629"/>
                </a:solidFill>
                <a:latin typeface="Calibri"/>
                <a:cs typeface="Calibri"/>
              </a:rPr>
              <a:t> </a:t>
            </a:r>
            <a:r>
              <a:rPr dirty="0" sz="2800">
                <a:solidFill>
                  <a:srgbClr val="4E3629"/>
                </a:solidFill>
                <a:latin typeface="Calibri"/>
                <a:cs typeface="Calibri"/>
              </a:rPr>
              <a:t>se</a:t>
            </a:r>
            <a:r>
              <a:rPr dirty="0" sz="2800" spc="-80">
                <a:solidFill>
                  <a:srgbClr val="4E3629"/>
                </a:solidFill>
                <a:latin typeface="Calibri"/>
                <a:cs typeface="Calibri"/>
              </a:rPr>
              <a:t> </a:t>
            </a:r>
            <a:r>
              <a:rPr dirty="0" sz="2800">
                <a:solidFill>
                  <a:srgbClr val="4E3629"/>
                </a:solidFill>
                <a:latin typeface="Calibri"/>
                <a:cs typeface="Calibri"/>
              </a:rPr>
              <a:t>utiliza</a:t>
            </a:r>
            <a:r>
              <a:rPr dirty="0" sz="2800" spc="-80">
                <a:solidFill>
                  <a:srgbClr val="4E3629"/>
                </a:solidFill>
                <a:latin typeface="Calibri"/>
                <a:cs typeface="Calibri"/>
              </a:rPr>
              <a:t> </a:t>
            </a:r>
            <a:r>
              <a:rPr dirty="0" sz="2800">
                <a:solidFill>
                  <a:srgbClr val="4E3629"/>
                </a:solidFill>
                <a:latin typeface="Calibri"/>
                <a:cs typeface="Calibri"/>
              </a:rPr>
              <a:t>para</a:t>
            </a:r>
            <a:r>
              <a:rPr dirty="0" sz="2800" spc="-80">
                <a:solidFill>
                  <a:srgbClr val="4E3629"/>
                </a:solidFill>
                <a:latin typeface="Calibri"/>
                <a:cs typeface="Calibri"/>
              </a:rPr>
              <a:t> </a:t>
            </a:r>
            <a:r>
              <a:rPr dirty="0" sz="2800" spc="-10">
                <a:solidFill>
                  <a:srgbClr val="4E3629"/>
                </a:solidFill>
                <a:latin typeface="Calibri"/>
                <a:cs typeface="Calibri"/>
              </a:rPr>
              <a:t>realizar </a:t>
            </a:r>
            <a:r>
              <a:rPr dirty="0" sz="2800" spc="-10">
                <a:solidFill>
                  <a:srgbClr val="4E3629"/>
                </a:solidFill>
                <a:latin typeface="Calibri"/>
                <a:cs typeface="Calibri"/>
              </a:rPr>
              <a:t>	</a:t>
            </a:r>
            <a:r>
              <a:rPr dirty="0" sz="2800">
                <a:solidFill>
                  <a:srgbClr val="4E3629"/>
                </a:solidFill>
                <a:latin typeface="Calibri"/>
                <a:cs typeface="Calibri"/>
              </a:rPr>
              <a:t>cambios</a:t>
            </a:r>
            <a:r>
              <a:rPr dirty="0" sz="2800" spc="-40">
                <a:solidFill>
                  <a:srgbClr val="4E3629"/>
                </a:solidFill>
                <a:latin typeface="Calibri"/>
                <a:cs typeface="Calibri"/>
              </a:rPr>
              <a:t> </a:t>
            </a:r>
            <a:r>
              <a:rPr dirty="0" sz="2800">
                <a:solidFill>
                  <a:srgbClr val="4E3629"/>
                </a:solidFill>
                <a:latin typeface="Calibri"/>
                <a:cs typeface="Calibri"/>
              </a:rPr>
              <a:t>en</a:t>
            </a:r>
            <a:r>
              <a:rPr dirty="0" sz="2800" spc="-65">
                <a:solidFill>
                  <a:srgbClr val="4E3629"/>
                </a:solidFill>
                <a:latin typeface="Calibri"/>
                <a:cs typeface="Calibri"/>
              </a:rPr>
              <a:t> </a:t>
            </a:r>
            <a:r>
              <a:rPr dirty="0" sz="2800">
                <a:solidFill>
                  <a:srgbClr val="4E3629"/>
                </a:solidFill>
                <a:latin typeface="Calibri"/>
                <a:cs typeface="Calibri"/>
              </a:rPr>
              <a:t>las</a:t>
            </a:r>
            <a:r>
              <a:rPr dirty="0" sz="2800" spc="-55">
                <a:solidFill>
                  <a:srgbClr val="4E3629"/>
                </a:solidFill>
                <a:latin typeface="Calibri"/>
                <a:cs typeface="Calibri"/>
              </a:rPr>
              <a:t> </a:t>
            </a:r>
            <a:r>
              <a:rPr dirty="0" sz="2800" spc="-10">
                <a:solidFill>
                  <a:srgbClr val="4E3629"/>
                </a:solidFill>
                <a:latin typeface="Calibri"/>
                <a:cs typeface="Calibri"/>
              </a:rPr>
              <a:t>restricciones</a:t>
            </a:r>
            <a:r>
              <a:rPr dirty="0" sz="2800" spc="-3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tablas</a:t>
            </a:r>
            <a:r>
              <a:rPr dirty="0" sz="2800" spc="-50">
                <a:solidFill>
                  <a:srgbClr val="4E3629"/>
                </a:solidFill>
                <a:latin typeface="Calibri"/>
                <a:cs typeface="Calibri"/>
              </a:rPr>
              <a:t> </a:t>
            </a:r>
            <a:r>
              <a:rPr dirty="0" sz="2800" spc="-10">
                <a:solidFill>
                  <a:srgbClr val="4E3629"/>
                </a:solidFill>
                <a:latin typeface="Calibri"/>
                <a:cs typeface="Calibri"/>
              </a:rPr>
              <a:t>existentes</a:t>
            </a:r>
            <a:endParaRPr sz="2800">
              <a:latin typeface="Calibri"/>
              <a:cs typeface="Calibri"/>
            </a:endParaRPr>
          </a:p>
          <a:p>
            <a:pPr marL="159385" marR="5080" indent="-147320">
              <a:lnSpc>
                <a:spcPts val="3030"/>
              </a:lnSpc>
              <a:spcBef>
                <a:spcPts val="795"/>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Estos</a:t>
            </a:r>
            <a:r>
              <a:rPr dirty="0" u="heavy" sz="2800" spc="-10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cambios</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pueden</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incluir</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agregar</a:t>
            </a:r>
            <a:r>
              <a:rPr dirty="0" u="heavy" sz="2800" spc="-11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a:t>
            </a:r>
            <a:r>
              <a:rPr dirty="0" u="heavy" sz="2800" spc="-8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borrar</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spc="-10">
                <a:solidFill>
                  <a:srgbClr val="4E3629"/>
                </a:solidFill>
                <a:uFill>
                  <a:solidFill>
                    <a:srgbClr val="EC2814"/>
                  </a:solidFill>
                </a:uFill>
                <a:latin typeface="Calibri"/>
                <a:cs typeface="Calibri"/>
              </a:rPr>
              <a:t>restricciones,</a:t>
            </a:r>
            <a:r>
              <a:rPr dirty="0" u="heavy" sz="2800" spc="-3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activar</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desactivar</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restricciones,</a:t>
            </a:r>
            <a:r>
              <a:rPr dirty="0" u="heavy" sz="2800" spc="-3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así</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como</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agregar</a:t>
            </a:r>
            <a:r>
              <a:rPr dirty="0" u="heavy" sz="2800" spc="-10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restricción</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NOT</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NULL</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5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columna</a:t>
            </a:r>
            <a:endParaRPr sz="2800">
              <a:latin typeface="Calibri"/>
              <a:cs typeface="Calibri"/>
            </a:endParaRPr>
          </a:p>
        </p:txBody>
      </p:sp>
      <p:grpSp>
        <p:nvGrpSpPr>
          <p:cNvPr id="4" name="object 4" descr=""/>
          <p:cNvGrpSpPr/>
          <p:nvPr/>
        </p:nvGrpSpPr>
        <p:grpSpPr>
          <a:xfrm>
            <a:off x="5518403" y="3768852"/>
            <a:ext cx="3173095" cy="2487295"/>
            <a:chOff x="5518403" y="3768852"/>
            <a:chExt cx="3173095" cy="2487295"/>
          </a:xfrm>
        </p:grpSpPr>
        <p:pic>
          <p:nvPicPr>
            <p:cNvPr id="5" name="object 5" descr=""/>
            <p:cNvPicPr/>
            <p:nvPr/>
          </p:nvPicPr>
          <p:blipFill>
            <a:blip r:embed="rId2" cstate="print"/>
            <a:stretch>
              <a:fillRect/>
            </a:stretch>
          </p:blipFill>
          <p:spPr>
            <a:xfrm>
              <a:off x="5518403" y="5545836"/>
              <a:ext cx="3172968" cy="710183"/>
            </a:xfrm>
            <a:prstGeom prst="rect">
              <a:avLst/>
            </a:prstGeom>
          </p:spPr>
        </p:pic>
        <p:pic>
          <p:nvPicPr>
            <p:cNvPr id="6" name="object 6" descr=""/>
            <p:cNvPicPr/>
            <p:nvPr/>
          </p:nvPicPr>
          <p:blipFill>
            <a:blip r:embed="rId3" cstate="print"/>
            <a:stretch>
              <a:fillRect/>
            </a:stretch>
          </p:blipFill>
          <p:spPr>
            <a:xfrm>
              <a:off x="6472427" y="3768852"/>
              <a:ext cx="2141220" cy="2409443"/>
            </a:xfrm>
            <a:prstGeom prst="rect">
              <a:avLst/>
            </a:prstGeom>
          </p:spPr>
        </p:pic>
      </p:grpSp>
      <p:sp>
        <p:nvSpPr>
          <p:cNvPr id="7" name="object 7"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3</a:t>
            </a:r>
          </a:p>
          <a:p>
            <a:pPr marL="12700">
              <a:lnSpc>
                <a:spcPts val="965"/>
              </a:lnSpc>
            </a:pPr>
            <a:r>
              <a:rPr dirty="0"/>
              <a:t>Gestión</a:t>
            </a:r>
            <a:r>
              <a:rPr dirty="0" spc="-20"/>
              <a:t> </a:t>
            </a:r>
            <a:r>
              <a:rPr dirty="0"/>
              <a:t>de</a:t>
            </a:r>
            <a:r>
              <a:rPr dirty="0" spc="-40"/>
              <a:t> </a:t>
            </a:r>
            <a:r>
              <a:rPr dirty="0" spc="-10"/>
              <a:t>Restricciones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6</a:t>
            </a:r>
          </a:p>
        </p:txBody>
      </p:sp>
      <p:sp>
        <p:nvSpPr>
          <p:cNvPr id="9" name="object 9"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Gestión</a:t>
            </a:r>
            <a:r>
              <a:rPr dirty="0" spc="-80"/>
              <a:t> </a:t>
            </a:r>
            <a:r>
              <a:rPr dirty="0"/>
              <a:t>de</a:t>
            </a:r>
            <a:r>
              <a:rPr dirty="0" spc="-70"/>
              <a:t> </a:t>
            </a:r>
            <a:r>
              <a:rPr dirty="0" spc="-10"/>
              <a:t>Restricciones</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3</a:t>
            </a:r>
          </a:p>
          <a:p>
            <a:pPr marL="12700">
              <a:lnSpc>
                <a:spcPts val="965"/>
              </a:lnSpc>
            </a:pPr>
            <a:r>
              <a:rPr dirty="0"/>
              <a:t>Gestión</a:t>
            </a:r>
            <a:r>
              <a:rPr dirty="0" spc="-20"/>
              <a:t> </a:t>
            </a:r>
            <a:r>
              <a:rPr dirty="0"/>
              <a:t>de</a:t>
            </a:r>
            <a:r>
              <a:rPr dirty="0" spc="-40"/>
              <a:t> </a:t>
            </a:r>
            <a:r>
              <a:rPr dirty="0" spc="-10"/>
              <a:t>Restricciones</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7</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7842884" cy="4006215"/>
          </a:xfrm>
          <a:prstGeom prst="rect">
            <a:avLst/>
          </a:prstGeom>
        </p:spPr>
        <p:txBody>
          <a:bodyPr wrap="square" lIns="0" tIns="59690" rIns="0" bIns="0" rtlCol="0" vert="horz">
            <a:spAutoFit/>
          </a:bodyPr>
          <a:lstStyle/>
          <a:p>
            <a:pPr marL="182880" marR="155321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Las</a:t>
            </a:r>
            <a:r>
              <a:rPr dirty="0" sz="2800" spc="-90">
                <a:solidFill>
                  <a:srgbClr val="4E3629"/>
                </a:solidFill>
                <a:latin typeface="Calibri"/>
                <a:cs typeface="Calibri"/>
              </a:rPr>
              <a:t> </a:t>
            </a:r>
            <a:r>
              <a:rPr dirty="0" sz="2800">
                <a:solidFill>
                  <a:srgbClr val="4E3629"/>
                </a:solidFill>
                <a:latin typeface="Calibri"/>
                <a:cs typeface="Calibri"/>
              </a:rPr>
              <a:t>directrices</a:t>
            </a:r>
            <a:r>
              <a:rPr dirty="0" sz="2800" spc="-65">
                <a:solidFill>
                  <a:srgbClr val="4E3629"/>
                </a:solidFill>
                <a:latin typeface="Calibri"/>
                <a:cs typeface="Calibri"/>
              </a:rPr>
              <a:t> </a:t>
            </a:r>
            <a:r>
              <a:rPr dirty="0" sz="2800">
                <a:solidFill>
                  <a:srgbClr val="4E3629"/>
                </a:solidFill>
                <a:latin typeface="Calibri"/>
                <a:cs typeface="Calibri"/>
              </a:rPr>
              <a:t>para</a:t>
            </a:r>
            <a:r>
              <a:rPr dirty="0" sz="2800" spc="-80">
                <a:solidFill>
                  <a:srgbClr val="4E3629"/>
                </a:solidFill>
                <a:latin typeface="Calibri"/>
                <a:cs typeface="Calibri"/>
              </a:rPr>
              <a:t> </a:t>
            </a:r>
            <a:r>
              <a:rPr dirty="0" sz="2800">
                <a:solidFill>
                  <a:srgbClr val="4E3629"/>
                </a:solidFill>
                <a:latin typeface="Calibri"/>
                <a:cs typeface="Calibri"/>
              </a:rPr>
              <a:t>realizar</a:t>
            </a:r>
            <a:r>
              <a:rPr dirty="0" sz="2800" spc="-100">
                <a:solidFill>
                  <a:srgbClr val="4E3629"/>
                </a:solidFill>
                <a:latin typeface="Calibri"/>
                <a:cs typeface="Calibri"/>
              </a:rPr>
              <a:t> </a:t>
            </a:r>
            <a:r>
              <a:rPr dirty="0" sz="2800">
                <a:solidFill>
                  <a:srgbClr val="4E3629"/>
                </a:solidFill>
                <a:latin typeface="Calibri"/>
                <a:cs typeface="Calibri"/>
              </a:rPr>
              <a:t>cambios</a:t>
            </a:r>
            <a:r>
              <a:rPr dirty="0" sz="2800" spc="-65">
                <a:solidFill>
                  <a:srgbClr val="4E3629"/>
                </a:solidFill>
                <a:latin typeface="Calibri"/>
                <a:cs typeface="Calibri"/>
              </a:rPr>
              <a:t> </a:t>
            </a:r>
            <a:r>
              <a:rPr dirty="0" sz="2800">
                <a:solidFill>
                  <a:srgbClr val="4E3629"/>
                </a:solidFill>
                <a:latin typeface="Calibri"/>
                <a:cs typeface="Calibri"/>
              </a:rPr>
              <a:t>en</a:t>
            </a:r>
            <a:r>
              <a:rPr dirty="0" sz="2800" spc="-80">
                <a:solidFill>
                  <a:srgbClr val="4E3629"/>
                </a:solidFill>
                <a:latin typeface="Calibri"/>
                <a:cs typeface="Calibri"/>
              </a:rPr>
              <a:t> </a:t>
            </a:r>
            <a:r>
              <a:rPr dirty="0" sz="2800" spc="-25">
                <a:solidFill>
                  <a:srgbClr val="4E3629"/>
                </a:solidFill>
                <a:latin typeface="Calibri"/>
                <a:cs typeface="Calibri"/>
              </a:rPr>
              <a:t>las </a:t>
            </a:r>
            <a:r>
              <a:rPr dirty="0" sz="2800" spc="-25">
                <a:solidFill>
                  <a:srgbClr val="4E3629"/>
                </a:solidFill>
                <a:latin typeface="Calibri"/>
                <a:cs typeface="Calibri"/>
              </a:rPr>
              <a:t>	</a:t>
            </a:r>
            <a:r>
              <a:rPr dirty="0" sz="2800" spc="-10">
                <a:solidFill>
                  <a:srgbClr val="4E3629"/>
                </a:solidFill>
                <a:latin typeface="Calibri"/>
                <a:cs typeface="Calibri"/>
              </a:rPr>
              <a:t>restricciones</a:t>
            </a:r>
            <a:r>
              <a:rPr dirty="0" sz="2800" spc="-35">
                <a:solidFill>
                  <a:srgbClr val="4E3629"/>
                </a:solidFill>
                <a:latin typeface="Calibri"/>
                <a:cs typeface="Calibri"/>
              </a:rPr>
              <a:t> </a:t>
            </a:r>
            <a:r>
              <a:rPr dirty="0" sz="2800" spc="-20">
                <a:solidFill>
                  <a:srgbClr val="4E3629"/>
                </a:solidFill>
                <a:latin typeface="Calibri"/>
                <a:cs typeface="Calibri"/>
              </a:rPr>
              <a:t>son:</a:t>
            </a:r>
            <a:endParaRPr sz="2800">
              <a:latin typeface="Calibri"/>
              <a:cs typeface="Calibri"/>
            </a:endParaRPr>
          </a:p>
          <a:p>
            <a:pPr marL="530860" marR="130810" indent="-175260">
              <a:lnSpc>
                <a:spcPts val="2590"/>
              </a:lnSpc>
              <a:spcBef>
                <a:spcPts val="425"/>
              </a:spcBef>
            </a:pPr>
            <a:r>
              <a:rPr dirty="0" sz="2400">
                <a:solidFill>
                  <a:srgbClr val="D1350F"/>
                </a:solidFill>
                <a:latin typeface="Calibri"/>
                <a:cs typeface="Calibri"/>
              </a:rPr>
              <a:t>−</a:t>
            </a:r>
            <a:r>
              <a:rPr dirty="0" sz="2400">
                <a:solidFill>
                  <a:srgbClr val="4E3629"/>
                </a:solidFill>
                <a:latin typeface="Calibri"/>
                <a:cs typeface="Calibri"/>
              </a:rPr>
              <a:t>Puede</a:t>
            </a:r>
            <a:r>
              <a:rPr dirty="0" sz="2400" spc="-35">
                <a:solidFill>
                  <a:srgbClr val="4E3629"/>
                </a:solidFill>
                <a:latin typeface="Calibri"/>
                <a:cs typeface="Calibri"/>
              </a:rPr>
              <a:t> agregar,</a:t>
            </a:r>
            <a:r>
              <a:rPr dirty="0" sz="2400" spc="-50">
                <a:solidFill>
                  <a:srgbClr val="4E3629"/>
                </a:solidFill>
                <a:latin typeface="Calibri"/>
                <a:cs typeface="Calibri"/>
              </a:rPr>
              <a:t> </a:t>
            </a:r>
            <a:r>
              <a:rPr dirty="0" sz="2400" spc="-35">
                <a:solidFill>
                  <a:srgbClr val="4E3629"/>
                </a:solidFill>
                <a:latin typeface="Calibri"/>
                <a:cs typeface="Calibri"/>
              </a:rPr>
              <a:t>borrar,</a:t>
            </a:r>
            <a:r>
              <a:rPr dirty="0" sz="2400" spc="-50">
                <a:solidFill>
                  <a:srgbClr val="4E3629"/>
                </a:solidFill>
                <a:latin typeface="Calibri"/>
                <a:cs typeface="Calibri"/>
              </a:rPr>
              <a:t> </a:t>
            </a:r>
            <a:r>
              <a:rPr dirty="0" sz="2400">
                <a:solidFill>
                  <a:srgbClr val="4E3629"/>
                </a:solidFill>
                <a:latin typeface="Calibri"/>
                <a:cs typeface="Calibri"/>
              </a:rPr>
              <a:t>activar</a:t>
            </a:r>
            <a:r>
              <a:rPr dirty="0" sz="2400" spc="-45">
                <a:solidFill>
                  <a:srgbClr val="4E3629"/>
                </a:solidFill>
                <a:latin typeface="Calibri"/>
                <a:cs typeface="Calibri"/>
              </a:rPr>
              <a:t> </a:t>
            </a:r>
            <a:r>
              <a:rPr dirty="0" sz="2400">
                <a:solidFill>
                  <a:srgbClr val="4E3629"/>
                </a:solidFill>
                <a:latin typeface="Calibri"/>
                <a:cs typeface="Calibri"/>
              </a:rPr>
              <a:t>o</a:t>
            </a:r>
            <a:r>
              <a:rPr dirty="0" sz="2400" spc="-45">
                <a:solidFill>
                  <a:srgbClr val="4E3629"/>
                </a:solidFill>
                <a:latin typeface="Calibri"/>
                <a:cs typeface="Calibri"/>
              </a:rPr>
              <a:t> </a:t>
            </a:r>
            <a:r>
              <a:rPr dirty="0" sz="2400">
                <a:solidFill>
                  <a:srgbClr val="4E3629"/>
                </a:solidFill>
                <a:latin typeface="Calibri"/>
                <a:cs typeface="Calibri"/>
              </a:rPr>
              <a:t>desactivar</a:t>
            </a:r>
            <a:r>
              <a:rPr dirty="0" sz="2400" spc="-50">
                <a:solidFill>
                  <a:srgbClr val="4E3629"/>
                </a:solidFill>
                <a:latin typeface="Calibri"/>
                <a:cs typeface="Calibri"/>
              </a:rPr>
              <a:t> </a:t>
            </a:r>
            <a:r>
              <a:rPr dirty="0" sz="2400">
                <a:solidFill>
                  <a:srgbClr val="4E3629"/>
                </a:solidFill>
                <a:latin typeface="Calibri"/>
                <a:cs typeface="Calibri"/>
              </a:rPr>
              <a:t>una</a:t>
            </a:r>
            <a:r>
              <a:rPr dirty="0" sz="2400" spc="-25">
                <a:solidFill>
                  <a:srgbClr val="4E3629"/>
                </a:solidFill>
                <a:latin typeface="Calibri"/>
                <a:cs typeface="Calibri"/>
              </a:rPr>
              <a:t> </a:t>
            </a:r>
            <a:r>
              <a:rPr dirty="0" sz="2400" spc="-10">
                <a:solidFill>
                  <a:srgbClr val="4E3629"/>
                </a:solidFill>
                <a:latin typeface="Calibri"/>
                <a:cs typeface="Calibri"/>
              </a:rPr>
              <a:t>restricción, </a:t>
            </a:r>
            <a:r>
              <a:rPr dirty="0" sz="2400">
                <a:solidFill>
                  <a:srgbClr val="4E3629"/>
                </a:solidFill>
                <a:latin typeface="Calibri"/>
                <a:cs typeface="Calibri"/>
              </a:rPr>
              <a:t>pero</a:t>
            </a:r>
            <a:r>
              <a:rPr dirty="0" sz="2400" spc="-60">
                <a:solidFill>
                  <a:srgbClr val="4E3629"/>
                </a:solidFill>
                <a:latin typeface="Calibri"/>
                <a:cs typeface="Calibri"/>
              </a:rPr>
              <a:t> </a:t>
            </a:r>
            <a:r>
              <a:rPr dirty="0" sz="2400">
                <a:solidFill>
                  <a:srgbClr val="4E3629"/>
                </a:solidFill>
                <a:latin typeface="Calibri"/>
                <a:cs typeface="Calibri"/>
              </a:rPr>
              <a:t>no</a:t>
            </a:r>
            <a:r>
              <a:rPr dirty="0" sz="2400" spc="-55">
                <a:solidFill>
                  <a:srgbClr val="4E3629"/>
                </a:solidFill>
                <a:latin typeface="Calibri"/>
                <a:cs typeface="Calibri"/>
              </a:rPr>
              <a:t> </a:t>
            </a:r>
            <a:r>
              <a:rPr dirty="0" sz="2400">
                <a:solidFill>
                  <a:srgbClr val="4E3629"/>
                </a:solidFill>
                <a:latin typeface="Calibri"/>
                <a:cs typeface="Calibri"/>
              </a:rPr>
              <a:t>puede</a:t>
            </a:r>
            <a:r>
              <a:rPr dirty="0" sz="2400" spc="-45">
                <a:solidFill>
                  <a:srgbClr val="4E3629"/>
                </a:solidFill>
                <a:latin typeface="Calibri"/>
                <a:cs typeface="Calibri"/>
              </a:rPr>
              <a:t> </a:t>
            </a:r>
            <a:r>
              <a:rPr dirty="0" sz="2400">
                <a:solidFill>
                  <a:srgbClr val="4E3629"/>
                </a:solidFill>
                <a:latin typeface="Calibri"/>
                <a:cs typeface="Calibri"/>
              </a:rPr>
              <a:t>modificar</a:t>
            </a:r>
            <a:r>
              <a:rPr dirty="0" sz="2400" spc="-65">
                <a:solidFill>
                  <a:srgbClr val="4E3629"/>
                </a:solidFill>
                <a:latin typeface="Calibri"/>
                <a:cs typeface="Calibri"/>
              </a:rPr>
              <a:t> </a:t>
            </a:r>
            <a:r>
              <a:rPr dirty="0" sz="2400">
                <a:solidFill>
                  <a:srgbClr val="4E3629"/>
                </a:solidFill>
                <a:latin typeface="Calibri"/>
                <a:cs typeface="Calibri"/>
              </a:rPr>
              <a:t>su</a:t>
            </a:r>
            <a:r>
              <a:rPr dirty="0" sz="2400" spc="-40">
                <a:solidFill>
                  <a:srgbClr val="4E3629"/>
                </a:solidFill>
                <a:latin typeface="Calibri"/>
                <a:cs typeface="Calibri"/>
              </a:rPr>
              <a:t> </a:t>
            </a:r>
            <a:r>
              <a:rPr dirty="0" sz="2400" spc="-10">
                <a:solidFill>
                  <a:srgbClr val="4E3629"/>
                </a:solidFill>
                <a:latin typeface="Calibri"/>
                <a:cs typeface="Calibri"/>
              </a:rPr>
              <a:t>estructura</a:t>
            </a:r>
            <a:endParaRPr sz="2400">
              <a:latin typeface="Calibri"/>
              <a:cs typeface="Calibri"/>
            </a:endParaRPr>
          </a:p>
          <a:p>
            <a:pPr marL="530860" marR="409575" indent="-175260">
              <a:lnSpc>
                <a:spcPts val="2590"/>
              </a:lnSpc>
              <a:spcBef>
                <a:spcPts val="400"/>
              </a:spcBef>
            </a:pPr>
            <a:r>
              <a:rPr dirty="0" sz="2400">
                <a:solidFill>
                  <a:srgbClr val="D1350F"/>
                </a:solidFill>
                <a:latin typeface="Calibri"/>
                <a:cs typeface="Calibri"/>
              </a:rPr>
              <a:t>−</a:t>
            </a:r>
            <a:r>
              <a:rPr dirty="0" sz="2400">
                <a:solidFill>
                  <a:srgbClr val="4E3629"/>
                </a:solidFill>
                <a:latin typeface="Calibri"/>
                <a:cs typeface="Calibri"/>
              </a:rPr>
              <a:t>Puede</a:t>
            </a:r>
            <a:r>
              <a:rPr dirty="0" sz="2400" spc="-40">
                <a:solidFill>
                  <a:srgbClr val="4E3629"/>
                </a:solidFill>
                <a:latin typeface="Calibri"/>
                <a:cs typeface="Calibri"/>
              </a:rPr>
              <a:t> </a:t>
            </a:r>
            <a:r>
              <a:rPr dirty="0" sz="2400" spc="-10">
                <a:solidFill>
                  <a:srgbClr val="4E3629"/>
                </a:solidFill>
                <a:latin typeface="Calibri"/>
                <a:cs typeface="Calibri"/>
              </a:rPr>
              <a:t>agregar</a:t>
            </a:r>
            <a:r>
              <a:rPr dirty="0" sz="2400" spc="-35">
                <a:solidFill>
                  <a:srgbClr val="4E3629"/>
                </a:solidFill>
                <a:latin typeface="Calibri"/>
                <a:cs typeface="Calibri"/>
              </a:rPr>
              <a:t> </a:t>
            </a:r>
            <a:r>
              <a:rPr dirty="0" sz="2400">
                <a:solidFill>
                  <a:srgbClr val="4E3629"/>
                </a:solidFill>
                <a:latin typeface="Calibri"/>
                <a:cs typeface="Calibri"/>
              </a:rPr>
              <a:t>una</a:t>
            </a:r>
            <a:r>
              <a:rPr dirty="0" sz="2400" spc="-40">
                <a:solidFill>
                  <a:srgbClr val="4E3629"/>
                </a:solidFill>
                <a:latin typeface="Calibri"/>
                <a:cs typeface="Calibri"/>
              </a:rPr>
              <a:t> </a:t>
            </a:r>
            <a:r>
              <a:rPr dirty="0" sz="2400">
                <a:solidFill>
                  <a:srgbClr val="4E3629"/>
                </a:solidFill>
                <a:latin typeface="Calibri"/>
                <a:cs typeface="Calibri"/>
              </a:rPr>
              <a:t>restricción</a:t>
            </a:r>
            <a:r>
              <a:rPr dirty="0" sz="2400" spc="-60">
                <a:solidFill>
                  <a:srgbClr val="4E3629"/>
                </a:solidFill>
                <a:latin typeface="Calibri"/>
                <a:cs typeface="Calibri"/>
              </a:rPr>
              <a:t> </a:t>
            </a:r>
            <a:r>
              <a:rPr dirty="0" sz="2400">
                <a:solidFill>
                  <a:srgbClr val="4E3629"/>
                </a:solidFill>
                <a:latin typeface="Calibri"/>
                <a:cs typeface="Calibri"/>
              </a:rPr>
              <a:t>NOT</a:t>
            </a:r>
            <a:r>
              <a:rPr dirty="0" sz="2400" spc="-35">
                <a:solidFill>
                  <a:srgbClr val="4E3629"/>
                </a:solidFill>
                <a:latin typeface="Calibri"/>
                <a:cs typeface="Calibri"/>
              </a:rPr>
              <a:t> </a:t>
            </a:r>
            <a:r>
              <a:rPr dirty="0" sz="2400">
                <a:solidFill>
                  <a:srgbClr val="4E3629"/>
                </a:solidFill>
                <a:latin typeface="Calibri"/>
                <a:cs typeface="Calibri"/>
              </a:rPr>
              <a:t>NULL</a:t>
            </a:r>
            <a:r>
              <a:rPr dirty="0" sz="2400" spc="-40">
                <a:solidFill>
                  <a:srgbClr val="4E3629"/>
                </a:solidFill>
                <a:latin typeface="Calibri"/>
                <a:cs typeface="Calibri"/>
              </a:rPr>
              <a:t> </a:t>
            </a:r>
            <a:r>
              <a:rPr dirty="0" sz="2400">
                <a:solidFill>
                  <a:srgbClr val="4E3629"/>
                </a:solidFill>
                <a:latin typeface="Calibri"/>
                <a:cs typeface="Calibri"/>
              </a:rPr>
              <a:t>a</a:t>
            </a:r>
            <a:r>
              <a:rPr dirty="0" sz="2400" spc="-40">
                <a:solidFill>
                  <a:srgbClr val="4E3629"/>
                </a:solidFill>
                <a:latin typeface="Calibri"/>
                <a:cs typeface="Calibri"/>
              </a:rPr>
              <a:t> </a:t>
            </a:r>
            <a:r>
              <a:rPr dirty="0" sz="2400">
                <a:solidFill>
                  <a:srgbClr val="4E3629"/>
                </a:solidFill>
                <a:latin typeface="Calibri"/>
                <a:cs typeface="Calibri"/>
              </a:rPr>
              <a:t>una</a:t>
            </a:r>
            <a:r>
              <a:rPr dirty="0" sz="2400" spc="-40">
                <a:solidFill>
                  <a:srgbClr val="4E3629"/>
                </a:solidFill>
                <a:latin typeface="Calibri"/>
                <a:cs typeface="Calibri"/>
              </a:rPr>
              <a:t> </a:t>
            </a:r>
            <a:r>
              <a:rPr dirty="0" sz="2400" spc="-10">
                <a:solidFill>
                  <a:srgbClr val="4E3629"/>
                </a:solidFill>
                <a:latin typeface="Calibri"/>
                <a:cs typeface="Calibri"/>
              </a:rPr>
              <a:t>columna existente</a:t>
            </a:r>
            <a:r>
              <a:rPr dirty="0" sz="2400" spc="-80">
                <a:solidFill>
                  <a:srgbClr val="4E3629"/>
                </a:solidFill>
                <a:latin typeface="Calibri"/>
                <a:cs typeface="Calibri"/>
              </a:rPr>
              <a:t> </a:t>
            </a:r>
            <a:r>
              <a:rPr dirty="0" sz="2400">
                <a:solidFill>
                  <a:srgbClr val="4E3629"/>
                </a:solidFill>
                <a:latin typeface="Calibri"/>
                <a:cs typeface="Calibri"/>
              </a:rPr>
              <a:t>mediante</a:t>
            </a:r>
            <a:r>
              <a:rPr dirty="0" sz="2400" spc="-60">
                <a:solidFill>
                  <a:srgbClr val="4E3629"/>
                </a:solidFill>
                <a:latin typeface="Calibri"/>
                <a:cs typeface="Calibri"/>
              </a:rPr>
              <a:t> </a:t>
            </a:r>
            <a:r>
              <a:rPr dirty="0" sz="2400">
                <a:solidFill>
                  <a:srgbClr val="4E3629"/>
                </a:solidFill>
                <a:latin typeface="Calibri"/>
                <a:cs typeface="Calibri"/>
              </a:rPr>
              <a:t>la</a:t>
            </a:r>
            <a:r>
              <a:rPr dirty="0" sz="2400" spc="-60">
                <a:solidFill>
                  <a:srgbClr val="4E3629"/>
                </a:solidFill>
                <a:latin typeface="Calibri"/>
                <a:cs typeface="Calibri"/>
              </a:rPr>
              <a:t> </a:t>
            </a:r>
            <a:r>
              <a:rPr dirty="0" sz="2400">
                <a:solidFill>
                  <a:srgbClr val="4E3629"/>
                </a:solidFill>
                <a:latin typeface="Calibri"/>
                <a:cs typeface="Calibri"/>
              </a:rPr>
              <a:t>cláusula</a:t>
            </a:r>
            <a:r>
              <a:rPr dirty="0" sz="2400" spc="-70">
                <a:solidFill>
                  <a:srgbClr val="4E3629"/>
                </a:solidFill>
                <a:latin typeface="Calibri"/>
                <a:cs typeface="Calibri"/>
              </a:rPr>
              <a:t> </a:t>
            </a:r>
            <a:r>
              <a:rPr dirty="0" sz="2400">
                <a:solidFill>
                  <a:srgbClr val="4E3629"/>
                </a:solidFill>
                <a:latin typeface="Calibri"/>
                <a:cs typeface="Calibri"/>
              </a:rPr>
              <a:t>MODIFY</a:t>
            </a:r>
            <a:r>
              <a:rPr dirty="0" sz="2400" spc="-60">
                <a:solidFill>
                  <a:srgbClr val="4E3629"/>
                </a:solidFill>
                <a:latin typeface="Calibri"/>
                <a:cs typeface="Calibri"/>
              </a:rPr>
              <a:t> </a:t>
            </a:r>
            <a:r>
              <a:rPr dirty="0" sz="2400">
                <a:solidFill>
                  <a:srgbClr val="4E3629"/>
                </a:solidFill>
                <a:latin typeface="Calibri"/>
                <a:cs typeface="Calibri"/>
              </a:rPr>
              <a:t>de</a:t>
            </a:r>
            <a:r>
              <a:rPr dirty="0" sz="2400" spc="-55">
                <a:solidFill>
                  <a:srgbClr val="4E3629"/>
                </a:solidFill>
                <a:latin typeface="Calibri"/>
                <a:cs typeface="Calibri"/>
              </a:rPr>
              <a:t> </a:t>
            </a:r>
            <a:r>
              <a:rPr dirty="0" sz="2400">
                <a:solidFill>
                  <a:srgbClr val="4E3629"/>
                </a:solidFill>
                <a:latin typeface="Calibri"/>
                <a:cs typeface="Calibri"/>
              </a:rPr>
              <a:t>la</a:t>
            </a:r>
            <a:r>
              <a:rPr dirty="0" sz="2400" spc="-60">
                <a:solidFill>
                  <a:srgbClr val="4E3629"/>
                </a:solidFill>
                <a:latin typeface="Calibri"/>
                <a:cs typeface="Calibri"/>
              </a:rPr>
              <a:t> </a:t>
            </a:r>
            <a:r>
              <a:rPr dirty="0" sz="2400" spc="-10">
                <a:solidFill>
                  <a:srgbClr val="4E3629"/>
                </a:solidFill>
                <a:latin typeface="Calibri"/>
                <a:cs typeface="Calibri"/>
              </a:rPr>
              <a:t>sentencia </a:t>
            </a:r>
            <a:r>
              <a:rPr dirty="0" sz="2400" spc="-25">
                <a:solidFill>
                  <a:srgbClr val="4E3629"/>
                </a:solidFill>
                <a:latin typeface="Calibri"/>
                <a:cs typeface="Calibri"/>
              </a:rPr>
              <a:t>ALTER</a:t>
            </a:r>
            <a:r>
              <a:rPr dirty="0" sz="2400" spc="-105">
                <a:solidFill>
                  <a:srgbClr val="4E3629"/>
                </a:solidFill>
                <a:latin typeface="Calibri"/>
                <a:cs typeface="Calibri"/>
              </a:rPr>
              <a:t> </a:t>
            </a:r>
            <a:r>
              <a:rPr dirty="0" sz="2400" spc="-10">
                <a:solidFill>
                  <a:srgbClr val="4E3629"/>
                </a:solidFill>
                <a:latin typeface="Calibri"/>
                <a:cs typeface="Calibri"/>
              </a:rPr>
              <a:t>TABLE</a:t>
            </a:r>
            <a:endParaRPr sz="2400">
              <a:latin typeface="Calibri"/>
              <a:cs typeface="Calibri"/>
            </a:endParaRPr>
          </a:p>
          <a:p>
            <a:pPr marL="530860" marR="119380" indent="-175260">
              <a:lnSpc>
                <a:spcPts val="2590"/>
              </a:lnSpc>
              <a:spcBef>
                <a:spcPts val="400"/>
              </a:spcBef>
            </a:pPr>
            <a:r>
              <a:rPr dirty="0" sz="2400">
                <a:solidFill>
                  <a:srgbClr val="D1350F"/>
                </a:solidFill>
                <a:latin typeface="Calibri"/>
                <a:cs typeface="Calibri"/>
              </a:rPr>
              <a:t>−</a:t>
            </a:r>
            <a:r>
              <a:rPr dirty="0" sz="2400">
                <a:solidFill>
                  <a:srgbClr val="4E3629"/>
                </a:solidFill>
                <a:latin typeface="Calibri"/>
                <a:cs typeface="Calibri"/>
              </a:rPr>
              <a:t>MODIFY</a:t>
            </a:r>
            <a:r>
              <a:rPr dirty="0" sz="2400" spc="-45">
                <a:solidFill>
                  <a:srgbClr val="4E3629"/>
                </a:solidFill>
                <a:latin typeface="Calibri"/>
                <a:cs typeface="Calibri"/>
              </a:rPr>
              <a:t> </a:t>
            </a:r>
            <a:r>
              <a:rPr dirty="0" sz="2400">
                <a:solidFill>
                  <a:srgbClr val="4E3629"/>
                </a:solidFill>
                <a:latin typeface="Calibri"/>
                <a:cs typeface="Calibri"/>
              </a:rPr>
              <a:t>se</a:t>
            </a:r>
            <a:r>
              <a:rPr dirty="0" sz="2400" spc="-30">
                <a:solidFill>
                  <a:srgbClr val="4E3629"/>
                </a:solidFill>
                <a:latin typeface="Calibri"/>
                <a:cs typeface="Calibri"/>
              </a:rPr>
              <a:t> </a:t>
            </a:r>
            <a:r>
              <a:rPr dirty="0" sz="2400">
                <a:solidFill>
                  <a:srgbClr val="4E3629"/>
                </a:solidFill>
                <a:latin typeface="Calibri"/>
                <a:cs typeface="Calibri"/>
              </a:rPr>
              <a:t>utiliza</a:t>
            </a:r>
            <a:r>
              <a:rPr dirty="0" sz="2400" spc="-45">
                <a:solidFill>
                  <a:srgbClr val="4E3629"/>
                </a:solidFill>
                <a:latin typeface="Calibri"/>
                <a:cs typeface="Calibri"/>
              </a:rPr>
              <a:t> </a:t>
            </a:r>
            <a:r>
              <a:rPr dirty="0" sz="2400">
                <a:solidFill>
                  <a:srgbClr val="4E3629"/>
                </a:solidFill>
                <a:latin typeface="Calibri"/>
                <a:cs typeface="Calibri"/>
              </a:rPr>
              <a:t>porque</a:t>
            </a:r>
            <a:r>
              <a:rPr dirty="0" sz="2400" spc="-20">
                <a:solidFill>
                  <a:srgbClr val="4E3629"/>
                </a:solidFill>
                <a:latin typeface="Calibri"/>
                <a:cs typeface="Calibri"/>
              </a:rPr>
              <a:t> </a:t>
            </a:r>
            <a:r>
              <a:rPr dirty="0" sz="2400">
                <a:solidFill>
                  <a:srgbClr val="4E3629"/>
                </a:solidFill>
                <a:latin typeface="Calibri"/>
                <a:cs typeface="Calibri"/>
              </a:rPr>
              <a:t>NOT</a:t>
            </a:r>
            <a:r>
              <a:rPr dirty="0" sz="2400" spc="-30">
                <a:solidFill>
                  <a:srgbClr val="4E3629"/>
                </a:solidFill>
                <a:latin typeface="Calibri"/>
                <a:cs typeface="Calibri"/>
              </a:rPr>
              <a:t> </a:t>
            </a:r>
            <a:r>
              <a:rPr dirty="0" sz="2400">
                <a:solidFill>
                  <a:srgbClr val="4E3629"/>
                </a:solidFill>
                <a:latin typeface="Calibri"/>
                <a:cs typeface="Calibri"/>
              </a:rPr>
              <a:t>NULL</a:t>
            </a:r>
            <a:r>
              <a:rPr dirty="0" sz="2400" spc="-40">
                <a:solidFill>
                  <a:srgbClr val="4E3629"/>
                </a:solidFill>
                <a:latin typeface="Calibri"/>
                <a:cs typeface="Calibri"/>
              </a:rPr>
              <a:t> </a:t>
            </a:r>
            <a:r>
              <a:rPr dirty="0" sz="2400">
                <a:solidFill>
                  <a:srgbClr val="4E3629"/>
                </a:solidFill>
                <a:latin typeface="Calibri"/>
                <a:cs typeface="Calibri"/>
              </a:rPr>
              <a:t>es</a:t>
            </a:r>
            <a:r>
              <a:rPr dirty="0" sz="2400" spc="-40">
                <a:solidFill>
                  <a:srgbClr val="4E3629"/>
                </a:solidFill>
                <a:latin typeface="Calibri"/>
                <a:cs typeface="Calibri"/>
              </a:rPr>
              <a:t> </a:t>
            </a:r>
            <a:r>
              <a:rPr dirty="0" sz="2400">
                <a:solidFill>
                  <a:srgbClr val="4E3629"/>
                </a:solidFill>
                <a:latin typeface="Calibri"/>
                <a:cs typeface="Calibri"/>
              </a:rPr>
              <a:t>un</a:t>
            </a:r>
            <a:r>
              <a:rPr dirty="0" sz="2400" spc="-25">
                <a:solidFill>
                  <a:srgbClr val="4E3629"/>
                </a:solidFill>
                <a:latin typeface="Calibri"/>
                <a:cs typeface="Calibri"/>
              </a:rPr>
              <a:t> </a:t>
            </a:r>
            <a:r>
              <a:rPr dirty="0" sz="2400">
                <a:solidFill>
                  <a:srgbClr val="4E3629"/>
                </a:solidFill>
                <a:latin typeface="Calibri"/>
                <a:cs typeface="Calibri"/>
              </a:rPr>
              <a:t>cambio</a:t>
            </a:r>
            <a:r>
              <a:rPr dirty="0" sz="2400" spc="-55">
                <a:solidFill>
                  <a:srgbClr val="4E3629"/>
                </a:solidFill>
                <a:latin typeface="Calibri"/>
                <a:cs typeface="Calibri"/>
              </a:rPr>
              <a:t> </a:t>
            </a:r>
            <a:r>
              <a:rPr dirty="0" sz="2400">
                <a:solidFill>
                  <a:srgbClr val="4E3629"/>
                </a:solidFill>
                <a:latin typeface="Calibri"/>
                <a:cs typeface="Calibri"/>
              </a:rPr>
              <a:t>de</a:t>
            </a:r>
            <a:r>
              <a:rPr dirty="0" sz="2400" spc="-35">
                <a:solidFill>
                  <a:srgbClr val="4E3629"/>
                </a:solidFill>
                <a:latin typeface="Calibri"/>
                <a:cs typeface="Calibri"/>
              </a:rPr>
              <a:t> </a:t>
            </a:r>
            <a:r>
              <a:rPr dirty="0" sz="2400" spc="-10">
                <a:solidFill>
                  <a:srgbClr val="4E3629"/>
                </a:solidFill>
                <a:latin typeface="Calibri"/>
                <a:cs typeface="Calibri"/>
              </a:rPr>
              <a:t>nivel </a:t>
            </a:r>
            <a:r>
              <a:rPr dirty="0" sz="2400">
                <a:solidFill>
                  <a:srgbClr val="4E3629"/>
                </a:solidFill>
                <a:latin typeface="Calibri"/>
                <a:cs typeface="Calibri"/>
              </a:rPr>
              <a:t>de</a:t>
            </a:r>
            <a:r>
              <a:rPr dirty="0" sz="2400" spc="-25">
                <a:solidFill>
                  <a:srgbClr val="4E3629"/>
                </a:solidFill>
                <a:latin typeface="Calibri"/>
                <a:cs typeface="Calibri"/>
              </a:rPr>
              <a:t> </a:t>
            </a:r>
            <a:r>
              <a:rPr dirty="0" sz="2400" spc="-10">
                <a:solidFill>
                  <a:srgbClr val="4E3629"/>
                </a:solidFill>
                <a:latin typeface="Calibri"/>
                <a:cs typeface="Calibri"/>
              </a:rPr>
              <a:t>columna</a:t>
            </a:r>
            <a:endParaRPr sz="2400">
              <a:latin typeface="Calibri"/>
              <a:cs typeface="Calibri"/>
            </a:endParaRPr>
          </a:p>
          <a:p>
            <a:pPr marL="530860" marR="5080" indent="-175260">
              <a:lnSpc>
                <a:spcPts val="2590"/>
              </a:lnSpc>
              <a:spcBef>
                <a:spcPts val="415"/>
              </a:spcBef>
            </a:pPr>
            <a:r>
              <a:rPr dirty="0" sz="2400">
                <a:solidFill>
                  <a:srgbClr val="D1350F"/>
                </a:solidFill>
                <a:latin typeface="Calibri"/>
                <a:cs typeface="Calibri"/>
              </a:rPr>
              <a:t>−</a:t>
            </a:r>
            <a:r>
              <a:rPr dirty="0" sz="2400">
                <a:solidFill>
                  <a:srgbClr val="4E3629"/>
                </a:solidFill>
                <a:latin typeface="Calibri"/>
                <a:cs typeface="Calibri"/>
              </a:rPr>
              <a:t>Solo</a:t>
            </a:r>
            <a:r>
              <a:rPr dirty="0" sz="2400" spc="-50">
                <a:solidFill>
                  <a:srgbClr val="4E3629"/>
                </a:solidFill>
                <a:latin typeface="Calibri"/>
                <a:cs typeface="Calibri"/>
              </a:rPr>
              <a:t> </a:t>
            </a:r>
            <a:r>
              <a:rPr dirty="0" sz="2400">
                <a:solidFill>
                  <a:srgbClr val="4E3629"/>
                </a:solidFill>
                <a:latin typeface="Calibri"/>
                <a:cs typeface="Calibri"/>
              </a:rPr>
              <a:t>puede</a:t>
            </a:r>
            <a:r>
              <a:rPr dirty="0" sz="2400" spc="-35">
                <a:solidFill>
                  <a:srgbClr val="4E3629"/>
                </a:solidFill>
                <a:latin typeface="Calibri"/>
                <a:cs typeface="Calibri"/>
              </a:rPr>
              <a:t> </a:t>
            </a:r>
            <a:r>
              <a:rPr dirty="0" sz="2400">
                <a:solidFill>
                  <a:srgbClr val="4E3629"/>
                </a:solidFill>
                <a:latin typeface="Calibri"/>
                <a:cs typeface="Calibri"/>
              </a:rPr>
              <a:t>definir</a:t>
            </a:r>
            <a:r>
              <a:rPr dirty="0" sz="2400" spc="-30">
                <a:solidFill>
                  <a:srgbClr val="4E3629"/>
                </a:solidFill>
                <a:latin typeface="Calibri"/>
                <a:cs typeface="Calibri"/>
              </a:rPr>
              <a:t> </a:t>
            </a:r>
            <a:r>
              <a:rPr dirty="0" sz="2400">
                <a:solidFill>
                  <a:srgbClr val="4E3629"/>
                </a:solidFill>
                <a:latin typeface="Calibri"/>
                <a:cs typeface="Calibri"/>
              </a:rPr>
              <a:t>una</a:t>
            </a:r>
            <a:r>
              <a:rPr dirty="0" sz="2400" spc="-45">
                <a:solidFill>
                  <a:srgbClr val="4E3629"/>
                </a:solidFill>
                <a:latin typeface="Calibri"/>
                <a:cs typeface="Calibri"/>
              </a:rPr>
              <a:t> </a:t>
            </a:r>
            <a:r>
              <a:rPr dirty="0" sz="2400">
                <a:solidFill>
                  <a:srgbClr val="4E3629"/>
                </a:solidFill>
                <a:latin typeface="Calibri"/>
                <a:cs typeface="Calibri"/>
              </a:rPr>
              <a:t>restricción</a:t>
            </a:r>
            <a:r>
              <a:rPr dirty="0" sz="2400" spc="-65">
                <a:solidFill>
                  <a:srgbClr val="4E3629"/>
                </a:solidFill>
                <a:latin typeface="Calibri"/>
                <a:cs typeface="Calibri"/>
              </a:rPr>
              <a:t> </a:t>
            </a:r>
            <a:r>
              <a:rPr dirty="0" sz="2400">
                <a:solidFill>
                  <a:srgbClr val="4E3629"/>
                </a:solidFill>
                <a:latin typeface="Calibri"/>
                <a:cs typeface="Calibri"/>
              </a:rPr>
              <a:t>NOT</a:t>
            </a:r>
            <a:r>
              <a:rPr dirty="0" sz="2400" spc="-45">
                <a:solidFill>
                  <a:srgbClr val="4E3629"/>
                </a:solidFill>
                <a:latin typeface="Calibri"/>
                <a:cs typeface="Calibri"/>
              </a:rPr>
              <a:t> </a:t>
            </a:r>
            <a:r>
              <a:rPr dirty="0" sz="2400">
                <a:solidFill>
                  <a:srgbClr val="4E3629"/>
                </a:solidFill>
                <a:latin typeface="Calibri"/>
                <a:cs typeface="Calibri"/>
              </a:rPr>
              <a:t>NULL</a:t>
            </a:r>
            <a:r>
              <a:rPr dirty="0" sz="2400" spc="-35">
                <a:solidFill>
                  <a:srgbClr val="4E3629"/>
                </a:solidFill>
                <a:latin typeface="Calibri"/>
                <a:cs typeface="Calibri"/>
              </a:rPr>
              <a:t> </a:t>
            </a:r>
            <a:r>
              <a:rPr dirty="0" sz="2400">
                <a:solidFill>
                  <a:srgbClr val="4E3629"/>
                </a:solidFill>
                <a:latin typeface="Calibri"/>
                <a:cs typeface="Calibri"/>
              </a:rPr>
              <a:t>si</a:t>
            </a:r>
            <a:r>
              <a:rPr dirty="0" sz="2400" spc="-40">
                <a:solidFill>
                  <a:srgbClr val="4E3629"/>
                </a:solidFill>
                <a:latin typeface="Calibri"/>
                <a:cs typeface="Calibri"/>
              </a:rPr>
              <a:t> </a:t>
            </a:r>
            <a:r>
              <a:rPr dirty="0" sz="2400">
                <a:solidFill>
                  <a:srgbClr val="4E3629"/>
                </a:solidFill>
                <a:latin typeface="Calibri"/>
                <a:cs typeface="Calibri"/>
              </a:rPr>
              <a:t>la</a:t>
            </a:r>
            <a:r>
              <a:rPr dirty="0" sz="2400" spc="-45">
                <a:solidFill>
                  <a:srgbClr val="4E3629"/>
                </a:solidFill>
                <a:latin typeface="Calibri"/>
                <a:cs typeface="Calibri"/>
              </a:rPr>
              <a:t> </a:t>
            </a:r>
            <a:r>
              <a:rPr dirty="0" sz="2400">
                <a:solidFill>
                  <a:srgbClr val="4E3629"/>
                </a:solidFill>
                <a:latin typeface="Calibri"/>
                <a:cs typeface="Calibri"/>
              </a:rPr>
              <a:t>tabla</a:t>
            </a:r>
            <a:r>
              <a:rPr dirty="0" sz="2400" spc="-60">
                <a:solidFill>
                  <a:srgbClr val="4E3629"/>
                </a:solidFill>
                <a:latin typeface="Calibri"/>
                <a:cs typeface="Calibri"/>
              </a:rPr>
              <a:t> </a:t>
            </a:r>
            <a:r>
              <a:rPr dirty="0" sz="2400" spc="-20">
                <a:solidFill>
                  <a:srgbClr val="4E3629"/>
                </a:solidFill>
                <a:latin typeface="Calibri"/>
                <a:cs typeface="Calibri"/>
              </a:rPr>
              <a:t>está </a:t>
            </a:r>
            <a:r>
              <a:rPr dirty="0" sz="2400">
                <a:solidFill>
                  <a:srgbClr val="4E3629"/>
                </a:solidFill>
                <a:latin typeface="Calibri"/>
                <a:cs typeface="Calibri"/>
              </a:rPr>
              <a:t>vacía</a:t>
            </a:r>
            <a:r>
              <a:rPr dirty="0" sz="2400" spc="-60">
                <a:solidFill>
                  <a:srgbClr val="4E3629"/>
                </a:solidFill>
                <a:latin typeface="Calibri"/>
                <a:cs typeface="Calibri"/>
              </a:rPr>
              <a:t> </a:t>
            </a:r>
            <a:r>
              <a:rPr dirty="0" sz="2400">
                <a:solidFill>
                  <a:srgbClr val="4E3629"/>
                </a:solidFill>
                <a:latin typeface="Calibri"/>
                <a:cs typeface="Calibri"/>
              </a:rPr>
              <a:t>o</a:t>
            </a:r>
            <a:r>
              <a:rPr dirty="0" sz="2400" spc="-55">
                <a:solidFill>
                  <a:srgbClr val="4E3629"/>
                </a:solidFill>
                <a:latin typeface="Calibri"/>
                <a:cs typeface="Calibri"/>
              </a:rPr>
              <a:t> </a:t>
            </a:r>
            <a:r>
              <a:rPr dirty="0" sz="2400">
                <a:solidFill>
                  <a:srgbClr val="4E3629"/>
                </a:solidFill>
                <a:latin typeface="Calibri"/>
                <a:cs typeface="Calibri"/>
              </a:rPr>
              <a:t>si</a:t>
            </a:r>
            <a:r>
              <a:rPr dirty="0" sz="2400" spc="-45">
                <a:solidFill>
                  <a:srgbClr val="4E3629"/>
                </a:solidFill>
                <a:latin typeface="Calibri"/>
                <a:cs typeface="Calibri"/>
              </a:rPr>
              <a:t> </a:t>
            </a:r>
            <a:r>
              <a:rPr dirty="0" sz="2400">
                <a:solidFill>
                  <a:srgbClr val="4E3629"/>
                </a:solidFill>
                <a:latin typeface="Calibri"/>
                <a:cs typeface="Calibri"/>
              </a:rPr>
              <a:t>la</a:t>
            </a:r>
            <a:r>
              <a:rPr dirty="0" sz="2400" spc="-50">
                <a:solidFill>
                  <a:srgbClr val="4E3629"/>
                </a:solidFill>
                <a:latin typeface="Calibri"/>
                <a:cs typeface="Calibri"/>
              </a:rPr>
              <a:t> </a:t>
            </a:r>
            <a:r>
              <a:rPr dirty="0" sz="2400">
                <a:solidFill>
                  <a:srgbClr val="4E3629"/>
                </a:solidFill>
                <a:latin typeface="Calibri"/>
                <a:cs typeface="Calibri"/>
              </a:rPr>
              <a:t>columna</a:t>
            </a:r>
            <a:r>
              <a:rPr dirty="0" sz="2400" spc="-60">
                <a:solidFill>
                  <a:srgbClr val="4E3629"/>
                </a:solidFill>
                <a:latin typeface="Calibri"/>
                <a:cs typeface="Calibri"/>
              </a:rPr>
              <a:t> </a:t>
            </a:r>
            <a:r>
              <a:rPr dirty="0" sz="2400">
                <a:solidFill>
                  <a:srgbClr val="4E3629"/>
                </a:solidFill>
                <a:latin typeface="Calibri"/>
                <a:cs typeface="Calibri"/>
              </a:rPr>
              <a:t>tiene</a:t>
            </a:r>
            <a:r>
              <a:rPr dirty="0" sz="2400" spc="-50">
                <a:solidFill>
                  <a:srgbClr val="4E3629"/>
                </a:solidFill>
                <a:latin typeface="Calibri"/>
                <a:cs typeface="Calibri"/>
              </a:rPr>
              <a:t> </a:t>
            </a:r>
            <a:r>
              <a:rPr dirty="0" sz="2400">
                <a:solidFill>
                  <a:srgbClr val="4E3629"/>
                </a:solidFill>
                <a:latin typeface="Calibri"/>
                <a:cs typeface="Calibri"/>
              </a:rPr>
              <a:t>un</a:t>
            </a:r>
            <a:r>
              <a:rPr dirty="0" sz="2400" spc="-50">
                <a:solidFill>
                  <a:srgbClr val="4E3629"/>
                </a:solidFill>
                <a:latin typeface="Calibri"/>
                <a:cs typeface="Calibri"/>
              </a:rPr>
              <a:t> </a:t>
            </a:r>
            <a:r>
              <a:rPr dirty="0" sz="2400">
                <a:solidFill>
                  <a:srgbClr val="4E3629"/>
                </a:solidFill>
                <a:latin typeface="Calibri"/>
                <a:cs typeface="Calibri"/>
              </a:rPr>
              <a:t>valor</a:t>
            </a:r>
            <a:r>
              <a:rPr dirty="0" sz="2400" spc="-35">
                <a:solidFill>
                  <a:srgbClr val="4E3629"/>
                </a:solidFill>
                <a:latin typeface="Calibri"/>
                <a:cs typeface="Calibri"/>
              </a:rPr>
              <a:t> </a:t>
            </a:r>
            <a:r>
              <a:rPr dirty="0" sz="2400">
                <a:solidFill>
                  <a:srgbClr val="4E3629"/>
                </a:solidFill>
                <a:latin typeface="Calibri"/>
                <a:cs typeface="Calibri"/>
              </a:rPr>
              <a:t>para</a:t>
            </a:r>
            <a:r>
              <a:rPr dirty="0" sz="2400" spc="-55">
                <a:solidFill>
                  <a:srgbClr val="4E3629"/>
                </a:solidFill>
                <a:latin typeface="Calibri"/>
                <a:cs typeface="Calibri"/>
              </a:rPr>
              <a:t> </a:t>
            </a:r>
            <a:r>
              <a:rPr dirty="0" sz="2400">
                <a:solidFill>
                  <a:srgbClr val="4E3629"/>
                </a:solidFill>
                <a:latin typeface="Calibri"/>
                <a:cs typeface="Calibri"/>
              </a:rPr>
              <a:t>cada</a:t>
            </a:r>
            <a:r>
              <a:rPr dirty="0" sz="2400" spc="-60">
                <a:solidFill>
                  <a:srgbClr val="4E3629"/>
                </a:solidFill>
                <a:latin typeface="Calibri"/>
                <a:cs typeface="Calibri"/>
              </a:rPr>
              <a:t> </a:t>
            </a:r>
            <a:r>
              <a:rPr dirty="0" sz="2400" spc="-20">
                <a:solidFill>
                  <a:srgbClr val="4E3629"/>
                </a:solidFill>
                <a:latin typeface="Calibri"/>
                <a:cs typeface="Calibri"/>
              </a:rPr>
              <a:t>fila</a:t>
            </a:r>
            <a:endParaRPr sz="24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112" y="748031"/>
            <a:ext cx="2800985" cy="528320"/>
          </a:xfrm>
          <a:prstGeom prst="rect"/>
        </p:spPr>
        <p:txBody>
          <a:bodyPr wrap="square" lIns="0" tIns="12700" rIns="0" bIns="0" rtlCol="0" vert="horz">
            <a:spAutoFit/>
          </a:bodyPr>
          <a:lstStyle/>
          <a:p>
            <a:pPr marL="12700">
              <a:lnSpc>
                <a:spcPct val="100000"/>
              </a:lnSpc>
              <a:spcBef>
                <a:spcPts val="100"/>
              </a:spcBef>
            </a:pPr>
            <a:r>
              <a:rPr dirty="0"/>
              <a:t>Sentencia</a:t>
            </a:r>
            <a:r>
              <a:rPr dirty="0" spc="-140"/>
              <a:t> </a:t>
            </a:r>
            <a:r>
              <a:rPr dirty="0" spc="-30"/>
              <a:t>ALTER</a:t>
            </a:r>
          </a:p>
        </p:txBody>
      </p:sp>
      <p:sp>
        <p:nvSpPr>
          <p:cNvPr id="3" name="object 3" descr=""/>
          <p:cNvSpPr/>
          <p:nvPr/>
        </p:nvSpPr>
        <p:spPr>
          <a:xfrm>
            <a:off x="405384" y="5117591"/>
            <a:ext cx="8345805" cy="585470"/>
          </a:xfrm>
          <a:custGeom>
            <a:avLst/>
            <a:gdLst/>
            <a:ahLst/>
            <a:cxnLst/>
            <a:rect l="l" t="t" r="r" b="b"/>
            <a:pathLst>
              <a:path w="8345805" h="585470">
                <a:moveTo>
                  <a:pt x="8345424" y="0"/>
                </a:moveTo>
                <a:lnTo>
                  <a:pt x="0" y="0"/>
                </a:lnTo>
                <a:lnTo>
                  <a:pt x="0" y="585215"/>
                </a:lnTo>
                <a:lnTo>
                  <a:pt x="8345424" y="585215"/>
                </a:lnTo>
                <a:lnTo>
                  <a:pt x="8345424" y="0"/>
                </a:lnTo>
                <a:close/>
              </a:path>
            </a:pathLst>
          </a:custGeom>
          <a:solidFill>
            <a:srgbClr val="9DBEC4">
              <a:alpha val="50199"/>
            </a:srgbClr>
          </a:solidFill>
        </p:spPr>
        <p:txBody>
          <a:bodyPr wrap="square" lIns="0" tIns="0" rIns="0" bIns="0" rtlCol="0"/>
          <a:lstStyle/>
          <a:p/>
        </p:txBody>
      </p:sp>
      <p:sp>
        <p:nvSpPr>
          <p:cNvPr id="4" name="object 4" descr=""/>
          <p:cNvSpPr txBox="1"/>
          <p:nvPr/>
        </p:nvSpPr>
        <p:spPr>
          <a:xfrm>
            <a:off x="404812" y="1393401"/>
            <a:ext cx="8234680" cy="4276725"/>
          </a:xfrm>
          <a:prstGeom prst="rect">
            <a:avLst/>
          </a:prstGeom>
        </p:spPr>
        <p:txBody>
          <a:bodyPr wrap="square" lIns="0" tIns="34290" rIns="0" bIns="0" rtlCol="0" vert="horz">
            <a:spAutoFit/>
          </a:bodyPr>
          <a:lstStyle/>
          <a:p>
            <a:pPr marL="262255" indent="-170815">
              <a:lnSpc>
                <a:spcPct val="100000"/>
              </a:lnSpc>
              <a:spcBef>
                <a:spcPts val="270"/>
              </a:spcBef>
              <a:buClr>
                <a:srgbClr val="D1350F"/>
              </a:buClr>
              <a:buFont typeface="Arial MT"/>
              <a:buChar char="•"/>
              <a:tabLst>
                <a:tab pos="262255" algn="l"/>
              </a:tabLst>
            </a:pPr>
            <a:r>
              <a:rPr dirty="0" sz="2800">
                <a:solidFill>
                  <a:srgbClr val="4E3629"/>
                </a:solidFill>
                <a:latin typeface="Calibri"/>
                <a:cs typeface="Calibri"/>
              </a:rPr>
              <a:t>La</a:t>
            </a:r>
            <a:r>
              <a:rPr dirty="0" sz="2800" spc="-95">
                <a:solidFill>
                  <a:srgbClr val="4E3629"/>
                </a:solidFill>
                <a:latin typeface="Calibri"/>
                <a:cs typeface="Calibri"/>
              </a:rPr>
              <a:t> </a:t>
            </a:r>
            <a:r>
              <a:rPr dirty="0" sz="2800">
                <a:solidFill>
                  <a:srgbClr val="4E3629"/>
                </a:solidFill>
                <a:latin typeface="Calibri"/>
                <a:cs typeface="Calibri"/>
              </a:rPr>
              <a:t>sentencia</a:t>
            </a:r>
            <a:r>
              <a:rPr dirty="0" sz="2800" spc="-70">
                <a:solidFill>
                  <a:srgbClr val="4E3629"/>
                </a:solidFill>
                <a:latin typeface="Calibri"/>
                <a:cs typeface="Calibri"/>
              </a:rPr>
              <a:t> </a:t>
            </a:r>
            <a:r>
              <a:rPr dirty="0" sz="2800" spc="-20">
                <a:solidFill>
                  <a:srgbClr val="4E3629"/>
                </a:solidFill>
                <a:latin typeface="Calibri"/>
                <a:cs typeface="Calibri"/>
              </a:rPr>
              <a:t>ALTER</a:t>
            </a:r>
            <a:r>
              <a:rPr dirty="0" sz="2800" spc="-75">
                <a:solidFill>
                  <a:srgbClr val="4E3629"/>
                </a:solidFill>
                <a:latin typeface="Calibri"/>
                <a:cs typeface="Calibri"/>
              </a:rPr>
              <a:t> </a:t>
            </a:r>
            <a:r>
              <a:rPr dirty="0" sz="2800">
                <a:solidFill>
                  <a:srgbClr val="4E3629"/>
                </a:solidFill>
                <a:latin typeface="Calibri"/>
                <a:cs typeface="Calibri"/>
              </a:rPr>
              <a:t>necesita</a:t>
            </a:r>
            <a:r>
              <a:rPr dirty="0" sz="2800" spc="-65">
                <a:solidFill>
                  <a:srgbClr val="4E3629"/>
                </a:solidFill>
                <a:latin typeface="Calibri"/>
                <a:cs typeface="Calibri"/>
              </a:rPr>
              <a:t> </a:t>
            </a:r>
            <a:r>
              <a:rPr dirty="0" sz="2800">
                <a:solidFill>
                  <a:srgbClr val="4E3629"/>
                </a:solidFill>
                <a:latin typeface="Calibri"/>
                <a:cs typeface="Calibri"/>
              </a:rPr>
              <a:t>lo</a:t>
            </a:r>
            <a:r>
              <a:rPr dirty="0" sz="2800" spc="-80">
                <a:solidFill>
                  <a:srgbClr val="4E3629"/>
                </a:solidFill>
                <a:latin typeface="Calibri"/>
                <a:cs typeface="Calibri"/>
              </a:rPr>
              <a:t> </a:t>
            </a:r>
            <a:r>
              <a:rPr dirty="0" sz="2800" spc="-10">
                <a:solidFill>
                  <a:srgbClr val="4E3629"/>
                </a:solidFill>
                <a:latin typeface="Calibri"/>
                <a:cs typeface="Calibri"/>
              </a:rPr>
              <a:t>siguiente:</a:t>
            </a:r>
            <a:endParaRPr sz="2800">
              <a:latin typeface="Calibri"/>
              <a:cs typeface="Calibri"/>
            </a:endParaRPr>
          </a:p>
          <a:p>
            <a:pPr marL="434340">
              <a:lnSpc>
                <a:spcPct val="100000"/>
              </a:lnSpc>
              <a:spcBef>
                <a:spcPts val="145"/>
              </a:spcBef>
            </a:pPr>
            <a:r>
              <a:rPr dirty="0" sz="2400">
                <a:solidFill>
                  <a:srgbClr val="D1350F"/>
                </a:solidFill>
                <a:latin typeface="Calibri"/>
                <a:cs typeface="Calibri"/>
              </a:rPr>
              <a:t>−</a:t>
            </a:r>
            <a:r>
              <a:rPr dirty="0" sz="2400">
                <a:solidFill>
                  <a:srgbClr val="4E3629"/>
                </a:solidFill>
                <a:latin typeface="Calibri"/>
                <a:cs typeface="Calibri"/>
              </a:rPr>
              <a:t>nombre</a:t>
            </a:r>
            <a:r>
              <a:rPr dirty="0" sz="2400" spc="10">
                <a:solidFill>
                  <a:srgbClr val="4E3629"/>
                </a:solidFill>
                <a:latin typeface="Calibri"/>
                <a:cs typeface="Calibri"/>
              </a:rPr>
              <a:t> </a:t>
            </a:r>
            <a:r>
              <a:rPr dirty="0" sz="2400">
                <a:solidFill>
                  <a:srgbClr val="4E3629"/>
                </a:solidFill>
                <a:latin typeface="Calibri"/>
                <a:cs typeface="Calibri"/>
              </a:rPr>
              <a:t>de</a:t>
            </a:r>
            <a:r>
              <a:rPr dirty="0" sz="2400" spc="15">
                <a:solidFill>
                  <a:srgbClr val="4E3629"/>
                </a:solidFill>
                <a:latin typeface="Calibri"/>
                <a:cs typeface="Calibri"/>
              </a:rPr>
              <a:t> </a:t>
            </a:r>
            <a:r>
              <a:rPr dirty="0" sz="2400">
                <a:solidFill>
                  <a:srgbClr val="4E3629"/>
                </a:solidFill>
                <a:latin typeface="Calibri"/>
                <a:cs typeface="Calibri"/>
              </a:rPr>
              <a:t>la </a:t>
            </a:r>
            <a:r>
              <a:rPr dirty="0" sz="2400" spc="-20">
                <a:solidFill>
                  <a:srgbClr val="4E3629"/>
                </a:solidFill>
                <a:latin typeface="Calibri"/>
                <a:cs typeface="Calibri"/>
              </a:rPr>
              <a:t>tabla</a:t>
            </a:r>
            <a:endParaRPr sz="2400">
              <a:latin typeface="Calibri"/>
              <a:cs typeface="Calibri"/>
            </a:endParaRPr>
          </a:p>
          <a:p>
            <a:pPr marL="434340">
              <a:lnSpc>
                <a:spcPct val="100000"/>
              </a:lnSpc>
              <a:spcBef>
                <a:spcPts val="110"/>
              </a:spcBef>
            </a:pPr>
            <a:r>
              <a:rPr dirty="0" sz="2400">
                <a:solidFill>
                  <a:srgbClr val="D1350F"/>
                </a:solidFill>
                <a:latin typeface="Calibri"/>
                <a:cs typeface="Calibri"/>
              </a:rPr>
              <a:t>−</a:t>
            </a:r>
            <a:r>
              <a:rPr dirty="0" sz="2400">
                <a:solidFill>
                  <a:srgbClr val="4E3629"/>
                </a:solidFill>
                <a:latin typeface="Calibri"/>
                <a:cs typeface="Calibri"/>
              </a:rPr>
              <a:t>nombre</a:t>
            </a:r>
            <a:r>
              <a:rPr dirty="0" sz="2400" spc="10">
                <a:solidFill>
                  <a:srgbClr val="4E3629"/>
                </a:solidFill>
                <a:latin typeface="Calibri"/>
                <a:cs typeface="Calibri"/>
              </a:rPr>
              <a:t> </a:t>
            </a:r>
            <a:r>
              <a:rPr dirty="0" sz="2400">
                <a:solidFill>
                  <a:srgbClr val="4E3629"/>
                </a:solidFill>
                <a:latin typeface="Calibri"/>
                <a:cs typeface="Calibri"/>
              </a:rPr>
              <a:t>de</a:t>
            </a:r>
            <a:r>
              <a:rPr dirty="0" sz="2400" spc="15">
                <a:solidFill>
                  <a:srgbClr val="4E3629"/>
                </a:solidFill>
                <a:latin typeface="Calibri"/>
                <a:cs typeface="Calibri"/>
              </a:rPr>
              <a:t> </a:t>
            </a:r>
            <a:r>
              <a:rPr dirty="0" sz="2400">
                <a:solidFill>
                  <a:srgbClr val="4E3629"/>
                </a:solidFill>
                <a:latin typeface="Calibri"/>
                <a:cs typeface="Calibri"/>
              </a:rPr>
              <a:t>la </a:t>
            </a:r>
            <a:r>
              <a:rPr dirty="0" sz="2400" spc="-10">
                <a:solidFill>
                  <a:srgbClr val="4E3629"/>
                </a:solidFill>
                <a:latin typeface="Calibri"/>
                <a:cs typeface="Calibri"/>
              </a:rPr>
              <a:t>restricción</a:t>
            </a:r>
            <a:endParaRPr sz="2400">
              <a:latin typeface="Calibri"/>
              <a:cs typeface="Calibri"/>
            </a:endParaRPr>
          </a:p>
          <a:p>
            <a:pPr marL="434340">
              <a:lnSpc>
                <a:spcPct val="100000"/>
              </a:lnSpc>
              <a:spcBef>
                <a:spcPts val="105"/>
              </a:spcBef>
            </a:pPr>
            <a:r>
              <a:rPr dirty="0" sz="2400">
                <a:solidFill>
                  <a:srgbClr val="D1350F"/>
                </a:solidFill>
                <a:latin typeface="Calibri"/>
                <a:cs typeface="Calibri"/>
              </a:rPr>
              <a:t>−</a:t>
            </a:r>
            <a:r>
              <a:rPr dirty="0" sz="2400">
                <a:solidFill>
                  <a:srgbClr val="4E3629"/>
                </a:solidFill>
                <a:latin typeface="Calibri"/>
                <a:cs typeface="Calibri"/>
              </a:rPr>
              <a:t>tipo</a:t>
            </a:r>
            <a:r>
              <a:rPr dirty="0" sz="2400" spc="55">
                <a:solidFill>
                  <a:srgbClr val="4E3629"/>
                </a:solidFill>
                <a:latin typeface="Calibri"/>
                <a:cs typeface="Calibri"/>
              </a:rPr>
              <a:t> </a:t>
            </a:r>
            <a:r>
              <a:rPr dirty="0" sz="2400">
                <a:solidFill>
                  <a:srgbClr val="4E3629"/>
                </a:solidFill>
                <a:latin typeface="Calibri"/>
                <a:cs typeface="Calibri"/>
              </a:rPr>
              <a:t>de</a:t>
            </a:r>
            <a:r>
              <a:rPr dirty="0" sz="2400" spc="65">
                <a:solidFill>
                  <a:srgbClr val="4E3629"/>
                </a:solidFill>
                <a:latin typeface="Calibri"/>
                <a:cs typeface="Calibri"/>
              </a:rPr>
              <a:t> </a:t>
            </a:r>
            <a:r>
              <a:rPr dirty="0" sz="2400" spc="-10">
                <a:solidFill>
                  <a:srgbClr val="4E3629"/>
                </a:solidFill>
                <a:latin typeface="Calibri"/>
                <a:cs typeface="Calibri"/>
              </a:rPr>
              <a:t>restricción</a:t>
            </a:r>
            <a:endParaRPr sz="2400">
              <a:latin typeface="Calibri"/>
              <a:cs typeface="Calibri"/>
            </a:endParaRPr>
          </a:p>
          <a:p>
            <a:pPr marL="434340">
              <a:lnSpc>
                <a:spcPct val="100000"/>
              </a:lnSpc>
              <a:spcBef>
                <a:spcPts val="120"/>
              </a:spcBef>
            </a:pPr>
            <a:r>
              <a:rPr dirty="0" sz="2400">
                <a:solidFill>
                  <a:srgbClr val="D1350F"/>
                </a:solidFill>
                <a:latin typeface="Calibri"/>
                <a:cs typeface="Calibri"/>
              </a:rPr>
              <a:t>−</a:t>
            </a:r>
            <a:r>
              <a:rPr dirty="0" sz="2400">
                <a:solidFill>
                  <a:srgbClr val="4E3629"/>
                </a:solidFill>
                <a:latin typeface="Calibri"/>
                <a:cs typeface="Calibri"/>
              </a:rPr>
              <a:t>nombre</a:t>
            </a:r>
            <a:r>
              <a:rPr dirty="0" sz="2400" spc="-20">
                <a:solidFill>
                  <a:srgbClr val="4E3629"/>
                </a:solidFill>
                <a:latin typeface="Calibri"/>
                <a:cs typeface="Calibri"/>
              </a:rPr>
              <a:t> </a:t>
            </a:r>
            <a:r>
              <a:rPr dirty="0" sz="2400">
                <a:solidFill>
                  <a:srgbClr val="4E3629"/>
                </a:solidFill>
                <a:latin typeface="Calibri"/>
                <a:cs typeface="Calibri"/>
              </a:rPr>
              <a:t>de</a:t>
            </a:r>
            <a:r>
              <a:rPr dirty="0" sz="2400" spc="-20">
                <a:solidFill>
                  <a:srgbClr val="4E3629"/>
                </a:solidFill>
                <a:latin typeface="Calibri"/>
                <a:cs typeface="Calibri"/>
              </a:rPr>
              <a:t> </a:t>
            </a:r>
            <a:r>
              <a:rPr dirty="0" sz="2400">
                <a:solidFill>
                  <a:srgbClr val="4E3629"/>
                </a:solidFill>
                <a:latin typeface="Calibri"/>
                <a:cs typeface="Calibri"/>
              </a:rPr>
              <a:t>la</a:t>
            </a:r>
            <a:r>
              <a:rPr dirty="0" sz="2400" spc="-30">
                <a:solidFill>
                  <a:srgbClr val="4E3629"/>
                </a:solidFill>
                <a:latin typeface="Calibri"/>
                <a:cs typeface="Calibri"/>
              </a:rPr>
              <a:t> </a:t>
            </a:r>
            <a:r>
              <a:rPr dirty="0" sz="2400">
                <a:solidFill>
                  <a:srgbClr val="4E3629"/>
                </a:solidFill>
                <a:latin typeface="Calibri"/>
                <a:cs typeface="Calibri"/>
              </a:rPr>
              <a:t>columna</a:t>
            </a:r>
            <a:r>
              <a:rPr dirty="0" sz="2400" spc="-25">
                <a:solidFill>
                  <a:srgbClr val="4E3629"/>
                </a:solidFill>
                <a:latin typeface="Calibri"/>
                <a:cs typeface="Calibri"/>
              </a:rPr>
              <a:t> </a:t>
            </a:r>
            <a:r>
              <a:rPr dirty="0" sz="2400">
                <a:solidFill>
                  <a:srgbClr val="4E3629"/>
                </a:solidFill>
                <a:latin typeface="Calibri"/>
                <a:cs typeface="Calibri"/>
              </a:rPr>
              <a:t>a</a:t>
            </a:r>
            <a:r>
              <a:rPr dirty="0" sz="2400" spc="-30">
                <a:solidFill>
                  <a:srgbClr val="4E3629"/>
                </a:solidFill>
                <a:latin typeface="Calibri"/>
                <a:cs typeface="Calibri"/>
              </a:rPr>
              <a:t> </a:t>
            </a:r>
            <a:r>
              <a:rPr dirty="0" sz="2400">
                <a:solidFill>
                  <a:srgbClr val="4E3629"/>
                </a:solidFill>
                <a:latin typeface="Calibri"/>
                <a:cs typeface="Calibri"/>
              </a:rPr>
              <a:t>la</a:t>
            </a:r>
            <a:r>
              <a:rPr dirty="0" sz="2400" spc="-25">
                <a:solidFill>
                  <a:srgbClr val="4E3629"/>
                </a:solidFill>
                <a:latin typeface="Calibri"/>
                <a:cs typeface="Calibri"/>
              </a:rPr>
              <a:t> </a:t>
            </a:r>
            <a:r>
              <a:rPr dirty="0" sz="2400">
                <a:solidFill>
                  <a:srgbClr val="4E3629"/>
                </a:solidFill>
                <a:latin typeface="Calibri"/>
                <a:cs typeface="Calibri"/>
              </a:rPr>
              <a:t>que</a:t>
            </a:r>
            <a:r>
              <a:rPr dirty="0" sz="2400" spc="-15">
                <a:solidFill>
                  <a:srgbClr val="4E3629"/>
                </a:solidFill>
                <a:latin typeface="Calibri"/>
                <a:cs typeface="Calibri"/>
              </a:rPr>
              <a:t> </a:t>
            </a:r>
            <a:r>
              <a:rPr dirty="0" sz="2400" spc="-10">
                <a:solidFill>
                  <a:srgbClr val="4E3629"/>
                </a:solidFill>
                <a:latin typeface="Calibri"/>
                <a:cs typeface="Calibri"/>
              </a:rPr>
              <a:t>afecta</a:t>
            </a:r>
            <a:r>
              <a:rPr dirty="0" sz="2400" spc="-45">
                <a:solidFill>
                  <a:srgbClr val="4E3629"/>
                </a:solidFill>
                <a:latin typeface="Calibri"/>
                <a:cs typeface="Calibri"/>
              </a:rPr>
              <a:t> </a:t>
            </a:r>
            <a:r>
              <a:rPr dirty="0" sz="2400">
                <a:solidFill>
                  <a:srgbClr val="4E3629"/>
                </a:solidFill>
                <a:latin typeface="Calibri"/>
                <a:cs typeface="Calibri"/>
              </a:rPr>
              <a:t>la</a:t>
            </a:r>
            <a:r>
              <a:rPr dirty="0" sz="2400" spc="-20">
                <a:solidFill>
                  <a:srgbClr val="4E3629"/>
                </a:solidFill>
                <a:latin typeface="Calibri"/>
                <a:cs typeface="Calibri"/>
              </a:rPr>
              <a:t> </a:t>
            </a:r>
            <a:r>
              <a:rPr dirty="0" sz="2400" spc="-10">
                <a:solidFill>
                  <a:srgbClr val="4E3629"/>
                </a:solidFill>
                <a:latin typeface="Calibri"/>
                <a:cs typeface="Calibri"/>
              </a:rPr>
              <a:t>restricción</a:t>
            </a:r>
            <a:endParaRPr sz="2400">
              <a:latin typeface="Calibri"/>
              <a:cs typeface="Calibri"/>
            </a:endParaRPr>
          </a:p>
          <a:p>
            <a:pPr marL="261620" marR="5080" indent="-170815">
              <a:lnSpc>
                <a:spcPts val="3030"/>
              </a:lnSpc>
              <a:spcBef>
                <a:spcPts val="805"/>
              </a:spcBef>
              <a:buClr>
                <a:srgbClr val="D1350F"/>
              </a:buClr>
              <a:buFont typeface="Arial MT"/>
              <a:buChar char="•"/>
              <a:tabLst>
                <a:tab pos="263525" algn="l"/>
              </a:tabLst>
            </a:pPr>
            <a:r>
              <a:rPr dirty="0" sz="2800">
                <a:solidFill>
                  <a:srgbClr val="4E3629"/>
                </a:solidFill>
                <a:latin typeface="Calibri"/>
                <a:cs typeface="Calibri"/>
              </a:rPr>
              <a:t>En</a:t>
            </a:r>
            <a:r>
              <a:rPr dirty="0" sz="2800" spc="-55">
                <a:solidFill>
                  <a:srgbClr val="4E3629"/>
                </a:solidFill>
                <a:latin typeface="Calibri"/>
                <a:cs typeface="Calibri"/>
              </a:rPr>
              <a:t> </a:t>
            </a:r>
            <a:r>
              <a:rPr dirty="0" sz="2800">
                <a:solidFill>
                  <a:srgbClr val="4E3629"/>
                </a:solidFill>
                <a:latin typeface="Calibri"/>
                <a:cs typeface="Calibri"/>
              </a:rPr>
              <a:t>el</a:t>
            </a:r>
            <a:r>
              <a:rPr dirty="0" sz="2800" spc="-70">
                <a:solidFill>
                  <a:srgbClr val="4E3629"/>
                </a:solidFill>
                <a:latin typeface="Calibri"/>
                <a:cs typeface="Calibri"/>
              </a:rPr>
              <a:t> </a:t>
            </a:r>
            <a:r>
              <a:rPr dirty="0" sz="2800">
                <a:solidFill>
                  <a:srgbClr val="4E3629"/>
                </a:solidFill>
                <a:latin typeface="Calibri"/>
                <a:cs typeface="Calibri"/>
              </a:rPr>
              <a:t>ejemplo</a:t>
            </a:r>
            <a:r>
              <a:rPr dirty="0" sz="2800" spc="-3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código</a:t>
            </a:r>
            <a:r>
              <a:rPr dirty="0" sz="2800" spc="-45">
                <a:solidFill>
                  <a:srgbClr val="4E3629"/>
                </a:solidFill>
                <a:latin typeface="Calibri"/>
                <a:cs typeface="Calibri"/>
              </a:rPr>
              <a:t> </a:t>
            </a:r>
            <a:r>
              <a:rPr dirty="0" sz="2800">
                <a:solidFill>
                  <a:srgbClr val="4E3629"/>
                </a:solidFill>
                <a:latin typeface="Calibri"/>
                <a:cs typeface="Calibri"/>
              </a:rPr>
              <a:t>que</a:t>
            </a:r>
            <a:r>
              <a:rPr dirty="0" sz="2800" spc="-35">
                <a:solidFill>
                  <a:srgbClr val="4E3629"/>
                </a:solidFill>
                <a:latin typeface="Calibri"/>
                <a:cs typeface="Calibri"/>
              </a:rPr>
              <a:t> </a:t>
            </a:r>
            <a:r>
              <a:rPr dirty="0" sz="2800">
                <a:solidFill>
                  <a:srgbClr val="4E3629"/>
                </a:solidFill>
                <a:latin typeface="Calibri"/>
                <a:cs typeface="Calibri"/>
              </a:rPr>
              <a:t>se</a:t>
            </a:r>
            <a:r>
              <a:rPr dirty="0" sz="2800" spc="-55">
                <a:solidFill>
                  <a:srgbClr val="4E3629"/>
                </a:solidFill>
                <a:latin typeface="Calibri"/>
                <a:cs typeface="Calibri"/>
              </a:rPr>
              <a:t> </a:t>
            </a:r>
            <a:r>
              <a:rPr dirty="0" sz="2800" spc="-10">
                <a:solidFill>
                  <a:srgbClr val="4E3629"/>
                </a:solidFill>
                <a:latin typeface="Calibri"/>
                <a:cs typeface="Calibri"/>
              </a:rPr>
              <a:t>muestra</a:t>
            </a:r>
            <a:r>
              <a:rPr dirty="0" sz="2800" spc="-30">
                <a:solidFill>
                  <a:srgbClr val="4E3629"/>
                </a:solidFill>
                <a:latin typeface="Calibri"/>
                <a:cs typeface="Calibri"/>
              </a:rPr>
              <a:t> </a:t>
            </a:r>
            <a:r>
              <a:rPr dirty="0" sz="2800" spc="-50">
                <a:solidFill>
                  <a:srgbClr val="4E3629"/>
                </a:solidFill>
                <a:latin typeface="Calibri"/>
                <a:cs typeface="Calibri"/>
              </a:rPr>
              <a:t>a</a:t>
            </a:r>
            <a:r>
              <a:rPr dirty="0" sz="2800" spc="700">
                <a:solidFill>
                  <a:srgbClr val="4E3629"/>
                </a:solidFill>
                <a:latin typeface="Calibri"/>
                <a:cs typeface="Calibri"/>
              </a:rPr>
              <a:t> </a:t>
            </a:r>
            <a:r>
              <a:rPr dirty="0" sz="2800" spc="700">
                <a:solidFill>
                  <a:srgbClr val="4E3629"/>
                </a:solidFill>
                <a:latin typeface="Calibri"/>
                <a:cs typeface="Calibri"/>
              </a:rPr>
              <a:t>	</a:t>
            </a:r>
            <a:r>
              <a:rPr dirty="0" sz="2800" spc="-10">
                <a:solidFill>
                  <a:srgbClr val="4E3629"/>
                </a:solidFill>
                <a:latin typeface="Calibri"/>
                <a:cs typeface="Calibri"/>
              </a:rPr>
              <a:t>continuación, </a:t>
            </a:r>
            <a:r>
              <a:rPr dirty="0" sz="2800">
                <a:solidFill>
                  <a:srgbClr val="4E3629"/>
                </a:solidFill>
                <a:latin typeface="Calibri"/>
                <a:cs typeface="Calibri"/>
              </a:rPr>
              <a:t>con</a:t>
            </a:r>
            <a:r>
              <a:rPr dirty="0" sz="2800" spc="-45">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tabla</a:t>
            </a:r>
            <a:r>
              <a:rPr dirty="0" sz="2800" spc="-30">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empleados,</a:t>
            </a:r>
            <a:r>
              <a:rPr dirty="0" sz="2800" spc="-20">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spc="-10">
                <a:solidFill>
                  <a:srgbClr val="4E3629"/>
                </a:solidFill>
                <a:latin typeface="Calibri"/>
                <a:cs typeface="Calibri"/>
              </a:rPr>
              <a:t>restricción </a:t>
            </a:r>
            <a:r>
              <a:rPr dirty="0" sz="2800" spc="-10">
                <a:solidFill>
                  <a:srgbClr val="4E3629"/>
                </a:solidFill>
                <a:latin typeface="Calibri"/>
                <a:cs typeface="Calibri"/>
              </a:rPr>
              <a:t>	</a:t>
            </a:r>
            <a:r>
              <a:rPr dirty="0" sz="2800">
                <a:solidFill>
                  <a:srgbClr val="4E3629"/>
                </a:solidFill>
                <a:latin typeface="Calibri"/>
                <a:cs typeface="Calibri"/>
              </a:rPr>
              <a:t>de</a:t>
            </a:r>
            <a:r>
              <a:rPr dirty="0" sz="2800" spc="-80">
                <a:solidFill>
                  <a:srgbClr val="4E3629"/>
                </a:solidFill>
                <a:latin typeface="Calibri"/>
                <a:cs typeface="Calibri"/>
              </a:rPr>
              <a:t> </a:t>
            </a:r>
            <a:r>
              <a:rPr dirty="0" sz="2800">
                <a:solidFill>
                  <a:srgbClr val="4E3629"/>
                </a:solidFill>
                <a:latin typeface="Calibri"/>
                <a:cs typeface="Calibri"/>
              </a:rPr>
              <a:t>clave</a:t>
            </a:r>
            <a:r>
              <a:rPr dirty="0" sz="2800" spc="-95">
                <a:solidFill>
                  <a:srgbClr val="4E3629"/>
                </a:solidFill>
                <a:latin typeface="Calibri"/>
                <a:cs typeface="Calibri"/>
              </a:rPr>
              <a:t> </a:t>
            </a:r>
            <a:r>
              <a:rPr dirty="0" sz="2800">
                <a:solidFill>
                  <a:srgbClr val="4E3629"/>
                </a:solidFill>
                <a:latin typeface="Calibri"/>
                <a:cs typeface="Calibri"/>
              </a:rPr>
              <a:t>principal</a:t>
            </a:r>
            <a:r>
              <a:rPr dirty="0" sz="2800" spc="-60">
                <a:solidFill>
                  <a:srgbClr val="4E3629"/>
                </a:solidFill>
                <a:latin typeface="Calibri"/>
                <a:cs typeface="Calibri"/>
              </a:rPr>
              <a:t> </a:t>
            </a:r>
            <a:r>
              <a:rPr dirty="0" sz="2800">
                <a:solidFill>
                  <a:srgbClr val="4E3629"/>
                </a:solidFill>
                <a:latin typeface="Calibri"/>
                <a:cs typeface="Calibri"/>
              </a:rPr>
              <a:t>se</a:t>
            </a:r>
            <a:r>
              <a:rPr dirty="0" sz="2800" spc="-70">
                <a:solidFill>
                  <a:srgbClr val="4E3629"/>
                </a:solidFill>
                <a:latin typeface="Calibri"/>
                <a:cs typeface="Calibri"/>
              </a:rPr>
              <a:t> </a:t>
            </a:r>
            <a:r>
              <a:rPr dirty="0" sz="2800">
                <a:solidFill>
                  <a:srgbClr val="4E3629"/>
                </a:solidFill>
                <a:latin typeface="Calibri"/>
                <a:cs typeface="Calibri"/>
              </a:rPr>
              <a:t>puede</a:t>
            </a:r>
            <a:r>
              <a:rPr dirty="0" sz="2800" spc="-60">
                <a:solidFill>
                  <a:srgbClr val="4E3629"/>
                </a:solidFill>
                <a:latin typeface="Calibri"/>
                <a:cs typeface="Calibri"/>
              </a:rPr>
              <a:t> </a:t>
            </a:r>
            <a:r>
              <a:rPr dirty="0" sz="2800">
                <a:solidFill>
                  <a:srgbClr val="4E3629"/>
                </a:solidFill>
                <a:latin typeface="Calibri"/>
                <a:cs typeface="Calibri"/>
              </a:rPr>
              <a:t>haber</a:t>
            </a:r>
            <a:r>
              <a:rPr dirty="0" sz="2800" spc="-65">
                <a:solidFill>
                  <a:srgbClr val="4E3629"/>
                </a:solidFill>
                <a:latin typeface="Calibri"/>
                <a:cs typeface="Calibri"/>
              </a:rPr>
              <a:t> </a:t>
            </a:r>
            <a:r>
              <a:rPr dirty="0" sz="2800">
                <a:solidFill>
                  <a:srgbClr val="4E3629"/>
                </a:solidFill>
                <a:latin typeface="Calibri"/>
                <a:cs typeface="Calibri"/>
              </a:rPr>
              <a:t>agregado</a:t>
            </a:r>
            <a:r>
              <a:rPr dirty="0" sz="2800" spc="-110">
                <a:solidFill>
                  <a:srgbClr val="4E3629"/>
                </a:solidFill>
                <a:latin typeface="Calibri"/>
                <a:cs typeface="Calibri"/>
              </a:rPr>
              <a:t> </a:t>
            </a:r>
            <a:r>
              <a:rPr dirty="0" sz="2800">
                <a:solidFill>
                  <a:srgbClr val="4E3629"/>
                </a:solidFill>
                <a:latin typeface="Calibri"/>
                <a:cs typeface="Calibri"/>
              </a:rPr>
              <a:t>después</a:t>
            </a:r>
            <a:r>
              <a:rPr dirty="0" sz="2800" spc="-50">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que</a:t>
            </a:r>
            <a:r>
              <a:rPr dirty="0" sz="2800" spc="-35">
                <a:solidFill>
                  <a:srgbClr val="4E3629"/>
                </a:solidFill>
                <a:latin typeface="Calibri"/>
                <a:cs typeface="Calibri"/>
              </a:rPr>
              <a:t> </a:t>
            </a:r>
            <a:r>
              <a:rPr dirty="0" sz="2800">
                <a:solidFill>
                  <a:srgbClr val="4E3629"/>
                </a:solidFill>
                <a:latin typeface="Calibri"/>
                <a:cs typeface="Calibri"/>
              </a:rPr>
              <a:t>se</a:t>
            </a:r>
            <a:r>
              <a:rPr dirty="0" sz="2800" spc="-55">
                <a:solidFill>
                  <a:srgbClr val="4E3629"/>
                </a:solidFill>
                <a:latin typeface="Calibri"/>
                <a:cs typeface="Calibri"/>
              </a:rPr>
              <a:t> </a:t>
            </a:r>
            <a:r>
              <a:rPr dirty="0" sz="2800">
                <a:solidFill>
                  <a:srgbClr val="4E3629"/>
                </a:solidFill>
                <a:latin typeface="Calibri"/>
                <a:cs typeface="Calibri"/>
              </a:rPr>
              <a:t>creara</a:t>
            </a:r>
            <a:r>
              <a:rPr dirty="0" sz="2800" spc="-65">
                <a:solidFill>
                  <a:srgbClr val="4E3629"/>
                </a:solidFill>
                <a:latin typeface="Calibri"/>
                <a:cs typeface="Calibri"/>
              </a:rPr>
              <a:t> </a:t>
            </a:r>
            <a:r>
              <a:rPr dirty="0" sz="2800" spc="-10">
                <a:solidFill>
                  <a:srgbClr val="4E3629"/>
                </a:solidFill>
                <a:latin typeface="Calibri"/>
                <a:cs typeface="Calibri"/>
              </a:rPr>
              <a:t>originalmente</a:t>
            </a:r>
            <a:r>
              <a:rPr dirty="0" sz="2800" spc="-50">
                <a:solidFill>
                  <a:srgbClr val="4E3629"/>
                </a:solidFill>
                <a:latin typeface="Calibri"/>
                <a:cs typeface="Calibri"/>
              </a:rPr>
              <a:t> </a:t>
            </a:r>
            <a:r>
              <a:rPr dirty="0" sz="2800">
                <a:solidFill>
                  <a:srgbClr val="4E3629"/>
                </a:solidFill>
                <a:latin typeface="Calibri"/>
                <a:cs typeface="Calibri"/>
              </a:rPr>
              <a:t>la</a:t>
            </a:r>
            <a:r>
              <a:rPr dirty="0" sz="2800" spc="-65">
                <a:solidFill>
                  <a:srgbClr val="4E3629"/>
                </a:solidFill>
                <a:latin typeface="Calibri"/>
                <a:cs typeface="Calibri"/>
              </a:rPr>
              <a:t> </a:t>
            </a:r>
            <a:r>
              <a:rPr dirty="0" sz="2800" spc="-10">
                <a:solidFill>
                  <a:srgbClr val="4E3629"/>
                </a:solidFill>
                <a:latin typeface="Calibri"/>
                <a:cs typeface="Calibri"/>
              </a:rPr>
              <a:t>tabla</a:t>
            </a:r>
            <a:endParaRPr sz="2800">
              <a:latin typeface="Calibri"/>
              <a:cs typeface="Calibri"/>
            </a:endParaRPr>
          </a:p>
          <a:p>
            <a:pPr>
              <a:lnSpc>
                <a:spcPct val="100000"/>
              </a:lnSpc>
              <a:spcBef>
                <a:spcPts val="695"/>
              </a:spcBef>
            </a:pPr>
            <a:r>
              <a:rPr dirty="0" sz="1800" b="1">
                <a:solidFill>
                  <a:srgbClr val="4E3629"/>
                </a:solidFill>
                <a:latin typeface="Courier New"/>
                <a:cs typeface="Courier New"/>
              </a:rPr>
              <a:t>ALTER</a:t>
            </a:r>
            <a:r>
              <a:rPr dirty="0" sz="1800" spc="-50"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a:p>
            <a:pPr>
              <a:lnSpc>
                <a:spcPct val="100000"/>
              </a:lnSpc>
              <a:tabLst>
                <a:tab pos="2183130" algn="l"/>
              </a:tabLst>
            </a:pPr>
            <a:r>
              <a:rPr dirty="0" sz="1800" b="1">
                <a:solidFill>
                  <a:srgbClr val="4E3629"/>
                </a:solidFill>
                <a:latin typeface="Courier New"/>
                <a:cs typeface="Courier New"/>
              </a:rPr>
              <a:t>ADD</a:t>
            </a:r>
            <a:r>
              <a:rPr dirty="0" sz="1800" spc="-25" b="1">
                <a:solidFill>
                  <a:srgbClr val="4E3629"/>
                </a:solidFill>
                <a:latin typeface="Courier New"/>
                <a:cs typeface="Courier New"/>
              </a:rPr>
              <a:t> </a:t>
            </a:r>
            <a:r>
              <a:rPr dirty="0" sz="1800" spc="-10" b="1">
                <a:solidFill>
                  <a:srgbClr val="4E3629"/>
                </a:solidFill>
                <a:latin typeface="Courier New"/>
                <a:cs typeface="Courier New"/>
              </a:rPr>
              <a:t>CONSTRAINT</a:t>
            </a:r>
            <a:r>
              <a:rPr dirty="0" sz="1800" b="1">
                <a:solidFill>
                  <a:srgbClr val="4E3629"/>
                </a:solidFill>
                <a:latin typeface="Courier New"/>
                <a:cs typeface="Courier New"/>
              </a:rPr>
              <a:t>	emp_id_pk</a:t>
            </a:r>
            <a:r>
              <a:rPr dirty="0" sz="1800" spc="-65" b="1">
                <a:solidFill>
                  <a:srgbClr val="4E3629"/>
                </a:solidFill>
                <a:latin typeface="Courier New"/>
                <a:cs typeface="Courier New"/>
              </a:rPr>
              <a:t> </a:t>
            </a:r>
            <a:r>
              <a:rPr dirty="0" sz="1800" b="1">
                <a:solidFill>
                  <a:srgbClr val="4E3629"/>
                </a:solidFill>
                <a:latin typeface="Courier New"/>
                <a:cs typeface="Courier New"/>
              </a:rPr>
              <a:t>PRIMARY</a:t>
            </a:r>
            <a:r>
              <a:rPr dirty="0" sz="1800" spc="-65" b="1">
                <a:solidFill>
                  <a:srgbClr val="4E3629"/>
                </a:solidFill>
                <a:latin typeface="Courier New"/>
                <a:cs typeface="Courier New"/>
              </a:rPr>
              <a:t> </a:t>
            </a:r>
            <a:r>
              <a:rPr dirty="0" sz="1800" b="1">
                <a:solidFill>
                  <a:srgbClr val="4E3629"/>
                </a:solidFill>
                <a:latin typeface="Courier New"/>
                <a:cs typeface="Courier New"/>
              </a:rPr>
              <a:t>KEY</a:t>
            </a:r>
            <a:r>
              <a:rPr dirty="0" sz="1800" spc="-65" b="1">
                <a:solidFill>
                  <a:srgbClr val="4E3629"/>
                </a:solidFill>
                <a:latin typeface="Courier New"/>
                <a:cs typeface="Courier New"/>
              </a:rPr>
              <a:t> </a:t>
            </a:r>
            <a:r>
              <a:rPr dirty="0" sz="1800" spc="-10" b="1">
                <a:solidFill>
                  <a:srgbClr val="4E3629"/>
                </a:solidFill>
                <a:latin typeface="Courier New"/>
                <a:cs typeface="Courier New"/>
              </a:rPr>
              <a:t>(employee_id);</a:t>
            </a:r>
            <a:endParaRPr sz="1800">
              <a:latin typeface="Courier New"/>
              <a:cs typeface="Courier New"/>
            </a:endParaRPr>
          </a:p>
        </p:txBody>
      </p:sp>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3</a:t>
            </a:r>
          </a:p>
          <a:p>
            <a:pPr marL="12700">
              <a:lnSpc>
                <a:spcPts val="965"/>
              </a:lnSpc>
            </a:pPr>
            <a:r>
              <a:rPr dirty="0"/>
              <a:t>Gestión</a:t>
            </a:r>
            <a:r>
              <a:rPr dirty="0" spc="-20"/>
              <a:t> </a:t>
            </a:r>
            <a:r>
              <a:rPr dirty="0"/>
              <a:t>de</a:t>
            </a:r>
            <a:r>
              <a:rPr dirty="0" spc="-40"/>
              <a:t> </a:t>
            </a:r>
            <a:r>
              <a:rPr dirty="0" spc="-10"/>
              <a:t>Restricciones</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8</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Adición</a:t>
            </a:r>
            <a:r>
              <a:rPr dirty="0" spc="-45"/>
              <a:t> </a:t>
            </a:r>
            <a:r>
              <a:rPr dirty="0"/>
              <a:t>de</a:t>
            </a:r>
            <a:r>
              <a:rPr dirty="0" spc="-65"/>
              <a:t> </a:t>
            </a:r>
            <a:r>
              <a:rPr dirty="0" spc="-10"/>
              <a:t>Restricciones</a:t>
            </a:r>
          </a:p>
        </p:txBody>
      </p:sp>
      <p:sp>
        <p:nvSpPr>
          <p:cNvPr id="7" name="object 7"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3</a:t>
            </a:r>
          </a:p>
          <a:p>
            <a:pPr marL="12700">
              <a:lnSpc>
                <a:spcPts val="965"/>
              </a:lnSpc>
            </a:pPr>
            <a:r>
              <a:rPr dirty="0"/>
              <a:t>Gestión</a:t>
            </a:r>
            <a:r>
              <a:rPr dirty="0" spc="-20"/>
              <a:t> </a:t>
            </a:r>
            <a:r>
              <a:rPr dirty="0"/>
              <a:t>de</a:t>
            </a:r>
            <a:r>
              <a:rPr dirty="0" spc="-40"/>
              <a:t> </a:t>
            </a:r>
            <a:r>
              <a:rPr dirty="0" spc="-10"/>
              <a:t>Restricciones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9</a:t>
            </a:r>
          </a:p>
        </p:txBody>
      </p:sp>
      <p:sp>
        <p:nvSpPr>
          <p:cNvPr id="9" name="object 9"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7371715" cy="836294"/>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spc="-10">
                <a:solidFill>
                  <a:srgbClr val="4E3629"/>
                </a:solidFill>
                <a:latin typeface="Calibri"/>
                <a:cs typeface="Calibri"/>
              </a:rPr>
              <a:t>Para</a:t>
            </a:r>
            <a:r>
              <a:rPr dirty="0" sz="2800" spc="-65">
                <a:solidFill>
                  <a:srgbClr val="4E3629"/>
                </a:solidFill>
                <a:latin typeface="Calibri"/>
                <a:cs typeface="Calibri"/>
              </a:rPr>
              <a:t> </a:t>
            </a:r>
            <a:r>
              <a:rPr dirty="0" sz="2800">
                <a:solidFill>
                  <a:srgbClr val="4E3629"/>
                </a:solidFill>
                <a:latin typeface="Calibri"/>
                <a:cs typeface="Calibri"/>
              </a:rPr>
              <a:t>agregar</a:t>
            </a:r>
            <a:r>
              <a:rPr dirty="0" sz="2800" spc="-90">
                <a:solidFill>
                  <a:srgbClr val="4E3629"/>
                </a:solidFill>
                <a:latin typeface="Calibri"/>
                <a:cs typeface="Calibri"/>
              </a:rPr>
              <a:t> </a:t>
            </a:r>
            <a:r>
              <a:rPr dirty="0" sz="2800">
                <a:solidFill>
                  <a:srgbClr val="4E3629"/>
                </a:solidFill>
                <a:latin typeface="Calibri"/>
                <a:cs typeface="Calibri"/>
              </a:rPr>
              <a:t>una</a:t>
            </a:r>
            <a:r>
              <a:rPr dirty="0" sz="2800" spc="-55">
                <a:solidFill>
                  <a:srgbClr val="4E3629"/>
                </a:solidFill>
                <a:latin typeface="Calibri"/>
                <a:cs typeface="Calibri"/>
              </a:rPr>
              <a:t> </a:t>
            </a:r>
            <a:r>
              <a:rPr dirty="0" sz="2800" spc="-10">
                <a:solidFill>
                  <a:srgbClr val="4E3629"/>
                </a:solidFill>
                <a:latin typeface="Calibri"/>
                <a:cs typeface="Calibri"/>
              </a:rPr>
              <a:t>restricción</a:t>
            </a:r>
            <a:r>
              <a:rPr dirty="0" sz="2800" spc="-45">
                <a:solidFill>
                  <a:srgbClr val="4E3629"/>
                </a:solidFill>
                <a:latin typeface="Calibri"/>
                <a:cs typeface="Calibri"/>
              </a:rPr>
              <a:t> </a:t>
            </a:r>
            <a:r>
              <a:rPr dirty="0" sz="2800">
                <a:solidFill>
                  <a:srgbClr val="4E3629"/>
                </a:solidFill>
                <a:latin typeface="Calibri"/>
                <a:cs typeface="Calibri"/>
              </a:rPr>
              <a:t>a</a:t>
            </a:r>
            <a:r>
              <a:rPr dirty="0" sz="2800" spc="-70">
                <a:solidFill>
                  <a:srgbClr val="4E3629"/>
                </a:solidFill>
                <a:latin typeface="Calibri"/>
                <a:cs typeface="Calibri"/>
              </a:rPr>
              <a:t> </a:t>
            </a:r>
            <a:r>
              <a:rPr dirty="0" sz="2800">
                <a:solidFill>
                  <a:srgbClr val="4E3629"/>
                </a:solidFill>
                <a:latin typeface="Calibri"/>
                <a:cs typeface="Calibri"/>
              </a:rPr>
              <a:t>una</a:t>
            </a:r>
            <a:r>
              <a:rPr dirty="0" sz="2800" spc="-40">
                <a:solidFill>
                  <a:srgbClr val="4E3629"/>
                </a:solidFill>
                <a:latin typeface="Calibri"/>
                <a:cs typeface="Calibri"/>
              </a:rPr>
              <a:t> </a:t>
            </a:r>
            <a:r>
              <a:rPr dirty="0" sz="2800">
                <a:solidFill>
                  <a:srgbClr val="4E3629"/>
                </a:solidFill>
                <a:latin typeface="Calibri"/>
                <a:cs typeface="Calibri"/>
              </a:rPr>
              <a:t>tabla</a:t>
            </a:r>
            <a:r>
              <a:rPr dirty="0" sz="2800" spc="-65">
                <a:solidFill>
                  <a:srgbClr val="4E3629"/>
                </a:solidFill>
                <a:latin typeface="Calibri"/>
                <a:cs typeface="Calibri"/>
              </a:rPr>
              <a:t> </a:t>
            </a:r>
            <a:r>
              <a:rPr dirty="0" sz="2800" spc="-10">
                <a:solidFill>
                  <a:srgbClr val="4E3629"/>
                </a:solidFill>
                <a:latin typeface="Calibri"/>
                <a:cs typeface="Calibri"/>
              </a:rPr>
              <a:t>existente, </a:t>
            </a:r>
            <a:r>
              <a:rPr dirty="0" sz="2800" spc="-10">
                <a:solidFill>
                  <a:srgbClr val="4E3629"/>
                </a:solidFill>
                <a:latin typeface="Calibri"/>
                <a:cs typeface="Calibri"/>
              </a:rPr>
              <a:t>	</a:t>
            </a:r>
            <a:r>
              <a:rPr dirty="0" sz="2800">
                <a:solidFill>
                  <a:srgbClr val="4E3629"/>
                </a:solidFill>
                <a:latin typeface="Calibri"/>
                <a:cs typeface="Calibri"/>
              </a:rPr>
              <a:t>utilice</a:t>
            </a:r>
            <a:r>
              <a:rPr dirty="0" sz="2800" spc="-75">
                <a:solidFill>
                  <a:srgbClr val="4E3629"/>
                </a:solidFill>
                <a:latin typeface="Calibri"/>
                <a:cs typeface="Calibri"/>
              </a:rPr>
              <a:t> </a:t>
            </a:r>
            <a:r>
              <a:rPr dirty="0" sz="2800">
                <a:solidFill>
                  <a:srgbClr val="4E3629"/>
                </a:solidFill>
                <a:latin typeface="Calibri"/>
                <a:cs typeface="Calibri"/>
              </a:rPr>
              <a:t>la</a:t>
            </a:r>
            <a:r>
              <a:rPr dirty="0" sz="2800" spc="-80">
                <a:solidFill>
                  <a:srgbClr val="4E3629"/>
                </a:solidFill>
                <a:latin typeface="Calibri"/>
                <a:cs typeface="Calibri"/>
              </a:rPr>
              <a:t> </a:t>
            </a:r>
            <a:r>
              <a:rPr dirty="0" sz="2800">
                <a:solidFill>
                  <a:srgbClr val="4E3629"/>
                </a:solidFill>
                <a:latin typeface="Calibri"/>
                <a:cs typeface="Calibri"/>
              </a:rPr>
              <a:t>siguiente</a:t>
            </a:r>
            <a:r>
              <a:rPr dirty="0" sz="2800" spc="-75">
                <a:solidFill>
                  <a:srgbClr val="4E3629"/>
                </a:solidFill>
                <a:latin typeface="Calibri"/>
                <a:cs typeface="Calibri"/>
              </a:rPr>
              <a:t> </a:t>
            </a:r>
            <a:r>
              <a:rPr dirty="0" sz="2800" spc="-10">
                <a:solidFill>
                  <a:srgbClr val="4E3629"/>
                </a:solidFill>
                <a:latin typeface="Calibri"/>
                <a:cs typeface="Calibri"/>
              </a:rPr>
              <a:t>sintaxis</a:t>
            </a:r>
            <a:r>
              <a:rPr dirty="0" sz="2800" spc="-70">
                <a:solidFill>
                  <a:srgbClr val="4E3629"/>
                </a:solidFill>
                <a:latin typeface="Calibri"/>
                <a:cs typeface="Calibri"/>
              </a:rPr>
              <a:t> </a:t>
            </a:r>
            <a:r>
              <a:rPr dirty="0" sz="2800" spc="-20">
                <a:solidFill>
                  <a:srgbClr val="4E3629"/>
                </a:solidFill>
                <a:latin typeface="Calibri"/>
                <a:cs typeface="Calibri"/>
              </a:rPr>
              <a:t>SQL:</a:t>
            </a:r>
            <a:endParaRPr sz="2800">
              <a:latin typeface="Calibri"/>
              <a:cs typeface="Calibri"/>
            </a:endParaRPr>
          </a:p>
        </p:txBody>
      </p:sp>
      <p:sp>
        <p:nvSpPr>
          <p:cNvPr id="4" name="object 4" descr=""/>
          <p:cNvSpPr txBox="1"/>
          <p:nvPr/>
        </p:nvSpPr>
        <p:spPr>
          <a:xfrm>
            <a:off x="483552" y="3256409"/>
            <a:ext cx="7356475" cy="1706245"/>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Si</a:t>
            </a:r>
            <a:r>
              <a:rPr dirty="0" sz="2800" spc="-55">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spc="-10">
                <a:solidFill>
                  <a:srgbClr val="4E3629"/>
                </a:solidFill>
                <a:latin typeface="Calibri"/>
                <a:cs typeface="Calibri"/>
              </a:rPr>
              <a:t>restricción</a:t>
            </a:r>
            <a:r>
              <a:rPr dirty="0" sz="2800" spc="-30">
                <a:solidFill>
                  <a:srgbClr val="4E3629"/>
                </a:solidFill>
                <a:latin typeface="Calibri"/>
                <a:cs typeface="Calibri"/>
              </a:rPr>
              <a:t> </a:t>
            </a:r>
            <a:r>
              <a:rPr dirty="0" sz="2800">
                <a:solidFill>
                  <a:srgbClr val="4E3629"/>
                </a:solidFill>
                <a:latin typeface="Calibri"/>
                <a:cs typeface="Calibri"/>
              </a:rPr>
              <a:t>es</a:t>
            </a:r>
            <a:r>
              <a:rPr dirty="0" sz="2800" spc="-60">
                <a:solidFill>
                  <a:srgbClr val="4E3629"/>
                </a:solidFill>
                <a:latin typeface="Calibri"/>
                <a:cs typeface="Calibri"/>
              </a:rPr>
              <a:t> </a:t>
            </a:r>
            <a:r>
              <a:rPr dirty="0" sz="2800">
                <a:solidFill>
                  <a:srgbClr val="4E3629"/>
                </a:solidFill>
                <a:latin typeface="Calibri"/>
                <a:cs typeface="Calibri"/>
              </a:rPr>
              <a:t>una</a:t>
            </a:r>
            <a:r>
              <a:rPr dirty="0" sz="2800" spc="-35">
                <a:solidFill>
                  <a:srgbClr val="4E3629"/>
                </a:solidFill>
                <a:latin typeface="Calibri"/>
                <a:cs typeface="Calibri"/>
              </a:rPr>
              <a:t> </a:t>
            </a:r>
            <a:r>
              <a:rPr dirty="0" sz="2800" spc="-10">
                <a:solidFill>
                  <a:srgbClr val="4E3629"/>
                </a:solidFill>
                <a:latin typeface="Calibri"/>
                <a:cs typeface="Calibri"/>
              </a:rPr>
              <a:t>restricción</a:t>
            </a:r>
            <a:r>
              <a:rPr dirty="0" sz="2800" spc="-30">
                <a:solidFill>
                  <a:srgbClr val="4E3629"/>
                </a:solidFill>
                <a:latin typeface="Calibri"/>
                <a:cs typeface="Calibri"/>
              </a:rPr>
              <a:t> </a:t>
            </a:r>
            <a:r>
              <a:rPr dirty="0" sz="2800">
                <a:solidFill>
                  <a:srgbClr val="4E3629"/>
                </a:solidFill>
                <a:latin typeface="Calibri"/>
                <a:cs typeface="Calibri"/>
              </a:rPr>
              <a:t>FOREIGN</a:t>
            </a:r>
            <a:r>
              <a:rPr dirty="0" sz="2800" spc="-60">
                <a:solidFill>
                  <a:srgbClr val="4E3629"/>
                </a:solidFill>
                <a:latin typeface="Calibri"/>
                <a:cs typeface="Calibri"/>
              </a:rPr>
              <a:t> </a:t>
            </a:r>
            <a:r>
              <a:rPr dirty="0" sz="2800" spc="-70">
                <a:solidFill>
                  <a:srgbClr val="4E3629"/>
                </a:solidFill>
                <a:latin typeface="Calibri"/>
                <a:cs typeface="Calibri"/>
              </a:rPr>
              <a:t>KEY,</a:t>
            </a:r>
            <a:r>
              <a:rPr dirty="0" sz="2800" spc="-55">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a:solidFill>
                  <a:srgbClr val="4E3629"/>
                </a:solidFill>
                <a:latin typeface="Calibri"/>
                <a:cs typeface="Calibri"/>
              </a:rPr>
              <a:t>palabra</a:t>
            </a:r>
            <a:r>
              <a:rPr dirty="0" sz="2800" spc="-65">
                <a:solidFill>
                  <a:srgbClr val="4E3629"/>
                </a:solidFill>
                <a:latin typeface="Calibri"/>
                <a:cs typeface="Calibri"/>
              </a:rPr>
              <a:t> </a:t>
            </a:r>
            <a:r>
              <a:rPr dirty="0" sz="2800">
                <a:solidFill>
                  <a:srgbClr val="4E3629"/>
                </a:solidFill>
                <a:latin typeface="Calibri"/>
                <a:cs typeface="Calibri"/>
              </a:rPr>
              <a:t>clave</a:t>
            </a:r>
            <a:r>
              <a:rPr dirty="0" sz="2800" spc="-90">
                <a:solidFill>
                  <a:srgbClr val="4E3629"/>
                </a:solidFill>
                <a:latin typeface="Calibri"/>
                <a:cs typeface="Calibri"/>
              </a:rPr>
              <a:t> </a:t>
            </a:r>
            <a:r>
              <a:rPr dirty="0" sz="2800">
                <a:solidFill>
                  <a:srgbClr val="4E3629"/>
                </a:solidFill>
                <a:latin typeface="Calibri"/>
                <a:cs typeface="Calibri"/>
              </a:rPr>
              <a:t>REFERENCES</a:t>
            </a:r>
            <a:r>
              <a:rPr dirty="0" sz="2800" spc="-80">
                <a:solidFill>
                  <a:srgbClr val="4E3629"/>
                </a:solidFill>
                <a:latin typeface="Calibri"/>
                <a:cs typeface="Calibri"/>
              </a:rPr>
              <a:t> </a:t>
            </a:r>
            <a:r>
              <a:rPr dirty="0" sz="2800">
                <a:solidFill>
                  <a:srgbClr val="4E3629"/>
                </a:solidFill>
                <a:latin typeface="Calibri"/>
                <a:cs typeface="Calibri"/>
              </a:rPr>
              <a:t>se</a:t>
            </a:r>
            <a:r>
              <a:rPr dirty="0" sz="2800" spc="-75">
                <a:solidFill>
                  <a:srgbClr val="4E3629"/>
                </a:solidFill>
                <a:latin typeface="Calibri"/>
                <a:cs typeface="Calibri"/>
              </a:rPr>
              <a:t> </a:t>
            </a:r>
            <a:r>
              <a:rPr dirty="0" sz="2800">
                <a:solidFill>
                  <a:srgbClr val="4E3629"/>
                </a:solidFill>
                <a:latin typeface="Calibri"/>
                <a:cs typeface="Calibri"/>
              </a:rPr>
              <a:t>debe</a:t>
            </a:r>
            <a:r>
              <a:rPr dirty="0" sz="2800" spc="-55">
                <a:solidFill>
                  <a:srgbClr val="4E3629"/>
                </a:solidFill>
                <a:latin typeface="Calibri"/>
                <a:cs typeface="Calibri"/>
              </a:rPr>
              <a:t> </a:t>
            </a:r>
            <a:r>
              <a:rPr dirty="0" sz="2800">
                <a:solidFill>
                  <a:srgbClr val="4E3629"/>
                </a:solidFill>
                <a:latin typeface="Calibri"/>
                <a:cs typeface="Calibri"/>
              </a:rPr>
              <a:t>incluir</a:t>
            </a:r>
            <a:r>
              <a:rPr dirty="0" sz="2800" spc="-60">
                <a:solidFill>
                  <a:srgbClr val="4E3629"/>
                </a:solidFill>
                <a:latin typeface="Calibri"/>
                <a:cs typeface="Calibri"/>
              </a:rPr>
              <a:t> </a:t>
            </a:r>
            <a:r>
              <a:rPr dirty="0" sz="2800">
                <a:solidFill>
                  <a:srgbClr val="4E3629"/>
                </a:solidFill>
                <a:latin typeface="Calibri"/>
                <a:cs typeface="Calibri"/>
              </a:rPr>
              <a:t>en</a:t>
            </a:r>
            <a:r>
              <a:rPr dirty="0" sz="2800" spc="-70">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spc="-10">
                <a:solidFill>
                  <a:srgbClr val="4E3629"/>
                </a:solidFill>
                <a:latin typeface="Calibri"/>
                <a:cs typeface="Calibri"/>
              </a:rPr>
              <a:t>sentencia</a:t>
            </a:r>
            <a:endParaRPr sz="2800">
              <a:latin typeface="Calibri"/>
              <a:cs typeface="Calibri"/>
            </a:endParaRPr>
          </a:p>
          <a:p>
            <a:pPr marL="183515" indent="-170815">
              <a:lnSpc>
                <a:spcPct val="100000"/>
              </a:lnSpc>
              <a:spcBef>
                <a:spcPts val="409"/>
              </a:spcBef>
              <a:buClr>
                <a:srgbClr val="D1350F"/>
              </a:buClr>
              <a:buFont typeface="Arial MT"/>
              <a:buChar char="•"/>
              <a:tabLst>
                <a:tab pos="183515" algn="l"/>
              </a:tabLst>
            </a:pPr>
            <a:r>
              <a:rPr dirty="0" sz="2800" spc="-10">
                <a:solidFill>
                  <a:srgbClr val="4E3629"/>
                </a:solidFill>
                <a:latin typeface="Calibri"/>
                <a:cs typeface="Calibri"/>
              </a:rPr>
              <a:t>Sintaxis:</a:t>
            </a:r>
            <a:endParaRPr sz="2800">
              <a:latin typeface="Calibri"/>
              <a:cs typeface="Calibri"/>
            </a:endParaRPr>
          </a:p>
        </p:txBody>
      </p:sp>
      <p:sp>
        <p:nvSpPr>
          <p:cNvPr id="5" name="object 5" descr=""/>
          <p:cNvSpPr txBox="1"/>
          <p:nvPr/>
        </p:nvSpPr>
        <p:spPr>
          <a:xfrm>
            <a:off x="405384" y="2360676"/>
            <a:ext cx="8345805" cy="881380"/>
          </a:xfrm>
          <a:prstGeom prst="rect">
            <a:avLst/>
          </a:prstGeom>
          <a:solidFill>
            <a:srgbClr val="9DBEC4">
              <a:alpha val="50199"/>
            </a:srgbClr>
          </a:solidFill>
        </p:spPr>
        <p:txBody>
          <a:bodyPr wrap="square" lIns="0" tIns="1270" rIns="0" bIns="0" rtlCol="0" vert="horz">
            <a:spAutoFit/>
          </a:bodyPr>
          <a:lstStyle/>
          <a:p>
            <a:pPr>
              <a:lnSpc>
                <a:spcPct val="100000"/>
              </a:lnSpc>
              <a:spcBef>
                <a:spcPts val="10"/>
              </a:spcBef>
            </a:pPr>
            <a:r>
              <a:rPr dirty="0" sz="1800" b="1">
                <a:solidFill>
                  <a:srgbClr val="4E3629"/>
                </a:solidFill>
                <a:latin typeface="Courier New"/>
                <a:cs typeface="Courier New"/>
              </a:rPr>
              <a:t>ALTER</a:t>
            </a:r>
            <a:r>
              <a:rPr dirty="0" sz="1800" spc="-50" b="1">
                <a:solidFill>
                  <a:srgbClr val="4E3629"/>
                </a:solidFill>
                <a:latin typeface="Courier New"/>
                <a:cs typeface="Courier New"/>
              </a:rPr>
              <a:t> </a:t>
            </a:r>
            <a:r>
              <a:rPr dirty="0" sz="1800" b="1">
                <a:solidFill>
                  <a:srgbClr val="4E3629"/>
                </a:solidFill>
                <a:latin typeface="Courier New"/>
                <a:cs typeface="Courier New"/>
              </a:rPr>
              <a:t>TABLE</a:t>
            </a:r>
            <a:r>
              <a:rPr dirty="0" sz="1800" spc="-45" b="1">
                <a:solidFill>
                  <a:srgbClr val="4E3629"/>
                </a:solidFill>
                <a:latin typeface="Courier New"/>
                <a:cs typeface="Courier New"/>
              </a:rPr>
              <a:t> </a:t>
            </a:r>
            <a:r>
              <a:rPr dirty="0" sz="1800" spc="-10" b="1">
                <a:solidFill>
                  <a:srgbClr val="4E3629"/>
                </a:solidFill>
                <a:latin typeface="Courier New"/>
                <a:cs typeface="Courier New"/>
              </a:rPr>
              <a:t>table_name</a:t>
            </a:r>
            <a:endParaRPr sz="1800">
              <a:latin typeface="Courier New"/>
              <a:cs typeface="Courier New"/>
            </a:endParaRPr>
          </a:p>
          <a:p>
            <a:pPr>
              <a:lnSpc>
                <a:spcPct val="100000"/>
              </a:lnSpc>
            </a:pPr>
            <a:r>
              <a:rPr dirty="0" sz="1800" b="1">
                <a:solidFill>
                  <a:srgbClr val="4E3629"/>
                </a:solidFill>
                <a:latin typeface="Courier New"/>
                <a:cs typeface="Courier New"/>
              </a:rPr>
              <a:t>ADD</a:t>
            </a:r>
            <a:r>
              <a:rPr dirty="0" sz="1800" spc="-85" b="1">
                <a:solidFill>
                  <a:srgbClr val="4E3629"/>
                </a:solidFill>
                <a:latin typeface="Courier New"/>
                <a:cs typeface="Courier New"/>
              </a:rPr>
              <a:t> </a:t>
            </a:r>
            <a:r>
              <a:rPr dirty="0" sz="1800" b="1">
                <a:solidFill>
                  <a:srgbClr val="4E3629"/>
                </a:solidFill>
                <a:latin typeface="Courier New"/>
                <a:cs typeface="Courier New"/>
              </a:rPr>
              <a:t>[CONSTRAINT</a:t>
            </a:r>
            <a:r>
              <a:rPr dirty="0" sz="1800" spc="-70" b="1">
                <a:solidFill>
                  <a:srgbClr val="4E3629"/>
                </a:solidFill>
                <a:latin typeface="Courier New"/>
                <a:cs typeface="Courier New"/>
              </a:rPr>
              <a:t> </a:t>
            </a:r>
            <a:r>
              <a:rPr dirty="0" sz="1800" b="1">
                <a:solidFill>
                  <a:srgbClr val="4E3629"/>
                </a:solidFill>
                <a:latin typeface="Courier New"/>
                <a:cs typeface="Courier New"/>
              </a:rPr>
              <a:t>constraint_name]</a:t>
            </a:r>
            <a:r>
              <a:rPr dirty="0" sz="1800" spc="-75" b="1">
                <a:solidFill>
                  <a:srgbClr val="4E3629"/>
                </a:solidFill>
                <a:latin typeface="Courier New"/>
                <a:cs typeface="Courier New"/>
              </a:rPr>
              <a:t> </a:t>
            </a:r>
            <a:r>
              <a:rPr dirty="0" sz="1800" b="1">
                <a:solidFill>
                  <a:srgbClr val="4E3629"/>
                </a:solidFill>
                <a:latin typeface="Courier New"/>
                <a:cs typeface="Courier New"/>
              </a:rPr>
              <a:t>type</a:t>
            </a:r>
            <a:r>
              <a:rPr dirty="0" sz="1800" spc="-70" b="1">
                <a:solidFill>
                  <a:srgbClr val="4E3629"/>
                </a:solidFill>
                <a:latin typeface="Courier New"/>
                <a:cs typeface="Courier New"/>
              </a:rPr>
              <a:t> </a:t>
            </a:r>
            <a:r>
              <a:rPr dirty="0" sz="1800" b="1">
                <a:solidFill>
                  <a:srgbClr val="4E3629"/>
                </a:solidFill>
                <a:latin typeface="Courier New"/>
                <a:cs typeface="Courier New"/>
              </a:rPr>
              <a:t>of</a:t>
            </a:r>
            <a:r>
              <a:rPr dirty="0" sz="1800" spc="-70" b="1">
                <a:solidFill>
                  <a:srgbClr val="4E3629"/>
                </a:solidFill>
                <a:latin typeface="Courier New"/>
                <a:cs typeface="Courier New"/>
              </a:rPr>
              <a:t> </a:t>
            </a:r>
            <a:r>
              <a:rPr dirty="0" sz="1800" spc="-10" b="1">
                <a:solidFill>
                  <a:srgbClr val="4E3629"/>
                </a:solidFill>
                <a:latin typeface="Courier New"/>
                <a:cs typeface="Courier New"/>
              </a:rPr>
              <a:t>constraint</a:t>
            </a:r>
            <a:endParaRPr sz="1800">
              <a:latin typeface="Courier New"/>
              <a:cs typeface="Courier New"/>
            </a:endParaRPr>
          </a:p>
          <a:p>
            <a:pPr marL="4571365">
              <a:lnSpc>
                <a:spcPct val="100000"/>
              </a:lnSpc>
            </a:pPr>
            <a:r>
              <a:rPr dirty="0" sz="1800" spc="-10" b="1">
                <a:solidFill>
                  <a:srgbClr val="4E3629"/>
                </a:solidFill>
                <a:latin typeface="Courier New"/>
                <a:cs typeface="Courier New"/>
              </a:rPr>
              <a:t>(column_name);</a:t>
            </a:r>
            <a:endParaRPr sz="1800">
              <a:latin typeface="Courier New"/>
              <a:cs typeface="Courier New"/>
            </a:endParaRPr>
          </a:p>
        </p:txBody>
      </p:sp>
      <p:sp>
        <p:nvSpPr>
          <p:cNvPr id="6" name="object 6" descr=""/>
          <p:cNvSpPr txBox="1"/>
          <p:nvPr/>
        </p:nvSpPr>
        <p:spPr>
          <a:xfrm>
            <a:off x="405384" y="5035296"/>
            <a:ext cx="8345805" cy="881380"/>
          </a:xfrm>
          <a:prstGeom prst="rect">
            <a:avLst/>
          </a:prstGeom>
          <a:solidFill>
            <a:srgbClr val="9DBEC4">
              <a:alpha val="50199"/>
            </a:srgbClr>
          </a:solidFill>
        </p:spPr>
        <p:txBody>
          <a:bodyPr wrap="square" lIns="0" tIns="1270" rIns="0" bIns="0" rtlCol="0" vert="horz">
            <a:spAutoFit/>
          </a:bodyPr>
          <a:lstStyle/>
          <a:p>
            <a:pPr>
              <a:lnSpc>
                <a:spcPct val="100000"/>
              </a:lnSpc>
              <a:spcBef>
                <a:spcPts val="10"/>
              </a:spcBef>
            </a:pPr>
            <a:r>
              <a:rPr dirty="0" sz="1800" b="1">
                <a:solidFill>
                  <a:srgbClr val="4E3629"/>
                </a:solidFill>
                <a:latin typeface="Courier New"/>
                <a:cs typeface="Courier New"/>
              </a:rPr>
              <a:t>ALTER</a:t>
            </a:r>
            <a:r>
              <a:rPr dirty="0" sz="1800" spc="-50" b="1">
                <a:solidFill>
                  <a:srgbClr val="4E3629"/>
                </a:solidFill>
                <a:latin typeface="Courier New"/>
                <a:cs typeface="Courier New"/>
              </a:rPr>
              <a:t> </a:t>
            </a:r>
            <a:r>
              <a:rPr dirty="0" sz="1800" b="1">
                <a:solidFill>
                  <a:srgbClr val="4E3629"/>
                </a:solidFill>
                <a:latin typeface="Courier New"/>
                <a:cs typeface="Courier New"/>
              </a:rPr>
              <a:t>TABLE</a:t>
            </a:r>
            <a:r>
              <a:rPr dirty="0" sz="1800" spc="-45" b="1">
                <a:solidFill>
                  <a:srgbClr val="4E3629"/>
                </a:solidFill>
                <a:latin typeface="Courier New"/>
                <a:cs typeface="Courier New"/>
              </a:rPr>
              <a:t> </a:t>
            </a:r>
            <a:r>
              <a:rPr dirty="0" sz="1800" spc="-10" b="1">
                <a:solidFill>
                  <a:srgbClr val="4E3629"/>
                </a:solidFill>
                <a:latin typeface="Courier New"/>
                <a:cs typeface="Courier New"/>
              </a:rPr>
              <a:t>tablename</a:t>
            </a:r>
            <a:endParaRPr sz="1800">
              <a:latin typeface="Courier New"/>
              <a:cs typeface="Courier New"/>
            </a:endParaRPr>
          </a:p>
          <a:p>
            <a:pPr marL="1828164" marR="830580" indent="-1828800">
              <a:lnSpc>
                <a:spcPct val="100000"/>
              </a:lnSpc>
            </a:pPr>
            <a:r>
              <a:rPr dirty="0" sz="1800" b="1">
                <a:solidFill>
                  <a:srgbClr val="4E3629"/>
                </a:solidFill>
                <a:latin typeface="Courier New"/>
                <a:cs typeface="Courier New"/>
              </a:rPr>
              <a:t>ADD</a:t>
            </a:r>
            <a:r>
              <a:rPr dirty="0" sz="1800" spc="-100" b="1">
                <a:solidFill>
                  <a:srgbClr val="4E3629"/>
                </a:solidFill>
                <a:latin typeface="Courier New"/>
                <a:cs typeface="Courier New"/>
              </a:rPr>
              <a:t> </a:t>
            </a:r>
            <a:r>
              <a:rPr dirty="0" sz="1800" b="1">
                <a:solidFill>
                  <a:srgbClr val="4E3629"/>
                </a:solidFill>
                <a:latin typeface="Courier New"/>
                <a:cs typeface="Courier New"/>
              </a:rPr>
              <a:t>CONSTRAINT</a:t>
            </a:r>
            <a:r>
              <a:rPr dirty="0" sz="1800" spc="-85" b="1">
                <a:solidFill>
                  <a:srgbClr val="4E3629"/>
                </a:solidFill>
                <a:latin typeface="Courier New"/>
                <a:cs typeface="Courier New"/>
              </a:rPr>
              <a:t> </a:t>
            </a:r>
            <a:r>
              <a:rPr dirty="0" sz="1800" b="1">
                <a:solidFill>
                  <a:srgbClr val="4E3629"/>
                </a:solidFill>
                <a:latin typeface="Courier New"/>
                <a:cs typeface="Courier New"/>
              </a:rPr>
              <a:t>constraint_name</a:t>
            </a:r>
            <a:r>
              <a:rPr dirty="0" sz="1800" spc="-85" b="1">
                <a:solidFill>
                  <a:srgbClr val="4E3629"/>
                </a:solidFill>
                <a:latin typeface="Courier New"/>
                <a:cs typeface="Courier New"/>
              </a:rPr>
              <a:t> </a:t>
            </a:r>
            <a:r>
              <a:rPr dirty="0" sz="1800" b="1">
                <a:solidFill>
                  <a:srgbClr val="4E3629"/>
                </a:solidFill>
                <a:latin typeface="Courier New"/>
                <a:cs typeface="Courier New"/>
              </a:rPr>
              <a:t>FOREIGN</a:t>
            </a:r>
            <a:r>
              <a:rPr dirty="0" sz="1800" spc="-85" b="1">
                <a:solidFill>
                  <a:srgbClr val="4E3629"/>
                </a:solidFill>
                <a:latin typeface="Courier New"/>
                <a:cs typeface="Courier New"/>
              </a:rPr>
              <a:t> </a:t>
            </a:r>
            <a:r>
              <a:rPr dirty="0" sz="1800" spc="-10" b="1">
                <a:solidFill>
                  <a:srgbClr val="4E3629"/>
                </a:solidFill>
                <a:latin typeface="Courier New"/>
                <a:cs typeface="Courier New"/>
              </a:rPr>
              <a:t>KEY(column_name) </a:t>
            </a:r>
            <a:r>
              <a:rPr dirty="0" sz="1800" b="1">
                <a:solidFill>
                  <a:srgbClr val="4E3629"/>
                </a:solidFill>
                <a:latin typeface="Courier New"/>
                <a:cs typeface="Courier New"/>
              </a:rPr>
              <a:t>REFERENCES</a:t>
            </a:r>
            <a:r>
              <a:rPr dirty="0" sz="1800" spc="-110" b="1">
                <a:solidFill>
                  <a:srgbClr val="4E3629"/>
                </a:solidFill>
                <a:latin typeface="Courier New"/>
                <a:cs typeface="Courier New"/>
              </a:rPr>
              <a:t> </a:t>
            </a:r>
            <a:r>
              <a:rPr dirty="0" sz="1800" spc="-10" b="1">
                <a:solidFill>
                  <a:srgbClr val="4E3629"/>
                </a:solidFill>
                <a:latin typeface="Courier New"/>
                <a:cs typeface="Courier New"/>
              </a:rPr>
              <a:t>tablename(column_name);</a:t>
            </a:r>
            <a:endParaRPr sz="1800">
              <a:latin typeface="Courier New"/>
              <a:cs typeface="Courier New"/>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Ejemplo</a:t>
            </a:r>
            <a:r>
              <a:rPr dirty="0" spc="-65"/>
              <a:t> </a:t>
            </a:r>
            <a:r>
              <a:rPr dirty="0"/>
              <a:t>de</a:t>
            </a:r>
            <a:r>
              <a:rPr dirty="0" spc="-55"/>
              <a:t> </a:t>
            </a:r>
            <a:r>
              <a:rPr dirty="0"/>
              <a:t>Adición</a:t>
            </a:r>
            <a:r>
              <a:rPr dirty="0" spc="-25"/>
              <a:t> </a:t>
            </a:r>
            <a:r>
              <a:rPr dirty="0"/>
              <a:t>de</a:t>
            </a:r>
            <a:r>
              <a:rPr dirty="0" spc="-70"/>
              <a:t> </a:t>
            </a:r>
            <a:r>
              <a:rPr dirty="0" spc="-10"/>
              <a:t>Restricciones</a:t>
            </a:r>
          </a:p>
        </p:txBody>
      </p:sp>
      <p:sp>
        <p:nvSpPr>
          <p:cNvPr id="7" name="object 7"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3</a:t>
            </a:r>
          </a:p>
          <a:p>
            <a:pPr marL="12700">
              <a:lnSpc>
                <a:spcPts val="965"/>
              </a:lnSpc>
            </a:pPr>
            <a:r>
              <a:rPr dirty="0"/>
              <a:t>Gestión</a:t>
            </a:r>
            <a:r>
              <a:rPr dirty="0" spc="-20"/>
              <a:t> </a:t>
            </a:r>
            <a:r>
              <a:rPr dirty="0"/>
              <a:t>de</a:t>
            </a:r>
            <a:r>
              <a:rPr dirty="0" spc="-40"/>
              <a:t> </a:t>
            </a:r>
            <a:r>
              <a:rPr dirty="0" spc="-10"/>
              <a:t>Restricciones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10</a:t>
            </a:r>
          </a:p>
        </p:txBody>
      </p:sp>
      <p:sp>
        <p:nvSpPr>
          <p:cNvPr id="9" name="object 9"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355371"/>
            <a:ext cx="8151495" cy="1720214"/>
          </a:xfrm>
          <a:prstGeom prst="rect">
            <a:avLst/>
          </a:prstGeom>
        </p:spPr>
        <p:txBody>
          <a:bodyPr wrap="square" lIns="0" tIns="71755" rIns="0" bIns="0" rtlCol="0" vert="horz">
            <a:spAutoFit/>
          </a:bodyPr>
          <a:lstStyle/>
          <a:p>
            <a:pPr marL="183515" indent="-170815">
              <a:lnSpc>
                <a:spcPct val="100000"/>
              </a:lnSpc>
              <a:spcBef>
                <a:spcPts val="565"/>
              </a:spcBef>
              <a:buClr>
                <a:srgbClr val="D1350F"/>
              </a:buClr>
              <a:buFont typeface="Arial MT"/>
              <a:buChar char="•"/>
              <a:tabLst>
                <a:tab pos="183515" algn="l"/>
              </a:tabLst>
            </a:pPr>
            <a:r>
              <a:rPr dirty="0" sz="2800">
                <a:solidFill>
                  <a:srgbClr val="4E3629"/>
                </a:solidFill>
                <a:latin typeface="Calibri"/>
                <a:cs typeface="Calibri"/>
              </a:rPr>
              <a:t>Considere</a:t>
            </a:r>
            <a:r>
              <a:rPr dirty="0" sz="2800" spc="-40">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a:solidFill>
                  <a:srgbClr val="4E3629"/>
                </a:solidFill>
                <a:latin typeface="Calibri"/>
                <a:cs typeface="Calibri"/>
              </a:rPr>
              <a:t>base</a:t>
            </a:r>
            <a:r>
              <a:rPr dirty="0" sz="2800" spc="-4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datos</a:t>
            </a:r>
            <a:r>
              <a:rPr dirty="0" sz="2800" spc="-5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spc="-10">
                <a:solidFill>
                  <a:srgbClr val="4E3629"/>
                </a:solidFill>
                <a:latin typeface="Calibri"/>
                <a:cs typeface="Calibri"/>
              </a:rPr>
              <a:t>empleados</a:t>
            </a:r>
            <a:endParaRPr sz="2800">
              <a:latin typeface="Calibri"/>
              <a:cs typeface="Calibri"/>
            </a:endParaRPr>
          </a:p>
          <a:p>
            <a:pPr marL="182880" marR="5080" indent="-170815">
              <a:lnSpc>
                <a:spcPts val="3030"/>
              </a:lnSpc>
              <a:spcBef>
                <a:spcPts val="844"/>
              </a:spcBef>
              <a:buClr>
                <a:srgbClr val="D1350F"/>
              </a:buClr>
              <a:buFont typeface="Arial MT"/>
              <a:buChar char="•"/>
              <a:tabLst>
                <a:tab pos="184785" algn="l"/>
              </a:tabLst>
            </a:pP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clave</a:t>
            </a:r>
            <a:r>
              <a:rPr dirty="0" sz="2800" spc="-55">
                <a:solidFill>
                  <a:srgbClr val="4E3629"/>
                </a:solidFill>
                <a:latin typeface="Calibri"/>
                <a:cs typeface="Calibri"/>
              </a:rPr>
              <a:t> </a:t>
            </a:r>
            <a:r>
              <a:rPr dirty="0" sz="2800">
                <a:solidFill>
                  <a:srgbClr val="4E3629"/>
                </a:solidFill>
                <a:latin typeface="Calibri"/>
                <a:cs typeface="Calibri"/>
              </a:rPr>
              <a:t>primaria</a:t>
            </a:r>
            <a:r>
              <a:rPr dirty="0" sz="2800" spc="-4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tabla</a:t>
            </a:r>
            <a:r>
              <a:rPr dirty="0" sz="2800" spc="-45">
                <a:solidFill>
                  <a:srgbClr val="4E3629"/>
                </a:solidFill>
                <a:latin typeface="Calibri"/>
                <a:cs typeface="Calibri"/>
              </a:rPr>
              <a:t> </a:t>
            </a:r>
            <a:r>
              <a:rPr dirty="0" sz="2800" spc="-25">
                <a:solidFill>
                  <a:srgbClr val="4E3629"/>
                </a:solidFill>
                <a:latin typeface="Calibri"/>
                <a:cs typeface="Calibri"/>
              </a:rPr>
              <a:t>DEPARTMENTS</a:t>
            </a:r>
            <a:r>
              <a:rPr dirty="0" sz="2800" spc="-35">
                <a:solidFill>
                  <a:srgbClr val="4E3629"/>
                </a:solidFill>
                <a:latin typeface="Calibri"/>
                <a:cs typeface="Calibri"/>
              </a:rPr>
              <a:t> </a:t>
            </a:r>
            <a:r>
              <a:rPr dirty="0" sz="2800" spc="-25">
                <a:solidFill>
                  <a:srgbClr val="4E3629"/>
                </a:solidFill>
                <a:latin typeface="Calibri"/>
                <a:cs typeface="Calibri"/>
              </a:rPr>
              <a:t>se </a:t>
            </a:r>
            <a:r>
              <a:rPr dirty="0" sz="2800" spc="-25">
                <a:solidFill>
                  <a:srgbClr val="4E3629"/>
                </a:solidFill>
                <a:latin typeface="Calibri"/>
                <a:cs typeface="Calibri"/>
              </a:rPr>
              <a:t>	</a:t>
            </a:r>
            <a:r>
              <a:rPr dirty="0" sz="2800" spc="-10">
                <a:solidFill>
                  <a:srgbClr val="4E3629"/>
                </a:solidFill>
                <a:latin typeface="Calibri"/>
                <a:cs typeface="Calibri"/>
              </a:rPr>
              <a:t>introduce</a:t>
            </a:r>
            <a:r>
              <a:rPr dirty="0" sz="2800" spc="-30">
                <a:solidFill>
                  <a:srgbClr val="4E3629"/>
                </a:solidFill>
                <a:latin typeface="Calibri"/>
                <a:cs typeface="Calibri"/>
              </a:rPr>
              <a:t> </a:t>
            </a:r>
            <a:r>
              <a:rPr dirty="0" sz="2800">
                <a:solidFill>
                  <a:srgbClr val="4E3629"/>
                </a:solidFill>
                <a:latin typeface="Calibri"/>
                <a:cs typeface="Calibri"/>
              </a:rPr>
              <a:t>en</a:t>
            </a:r>
            <a:r>
              <a:rPr dirty="0" sz="2800" spc="-50">
                <a:solidFill>
                  <a:srgbClr val="4E3629"/>
                </a:solidFill>
                <a:latin typeface="Calibri"/>
                <a:cs typeface="Calibri"/>
              </a:rPr>
              <a:t> </a:t>
            </a: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tabla</a:t>
            </a:r>
            <a:r>
              <a:rPr dirty="0" sz="2800" spc="-45">
                <a:solidFill>
                  <a:srgbClr val="4E3629"/>
                </a:solidFill>
                <a:latin typeface="Calibri"/>
                <a:cs typeface="Calibri"/>
              </a:rPr>
              <a:t> </a:t>
            </a:r>
            <a:r>
              <a:rPr dirty="0" sz="2800" spc="-20">
                <a:solidFill>
                  <a:srgbClr val="4E3629"/>
                </a:solidFill>
                <a:latin typeface="Calibri"/>
                <a:cs typeface="Calibri"/>
              </a:rPr>
              <a:t>EMPLOYEES</a:t>
            </a:r>
            <a:r>
              <a:rPr dirty="0" sz="2800" spc="-60">
                <a:solidFill>
                  <a:srgbClr val="4E3629"/>
                </a:solidFill>
                <a:latin typeface="Calibri"/>
                <a:cs typeface="Calibri"/>
              </a:rPr>
              <a:t> </a:t>
            </a:r>
            <a:r>
              <a:rPr dirty="0" sz="2800">
                <a:solidFill>
                  <a:srgbClr val="4E3629"/>
                </a:solidFill>
                <a:latin typeface="Calibri"/>
                <a:cs typeface="Calibri"/>
              </a:rPr>
              <a:t>como</a:t>
            </a:r>
            <a:r>
              <a:rPr dirty="0" sz="2800" spc="-60">
                <a:solidFill>
                  <a:srgbClr val="4E3629"/>
                </a:solidFill>
                <a:latin typeface="Calibri"/>
                <a:cs typeface="Calibri"/>
              </a:rPr>
              <a:t> </a:t>
            </a:r>
            <a:r>
              <a:rPr dirty="0" sz="2800">
                <a:solidFill>
                  <a:srgbClr val="4E3629"/>
                </a:solidFill>
                <a:latin typeface="Calibri"/>
                <a:cs typeface="Calibri"/>
              </a:rPr>
              <a:t>una</a:t>
            </a:r>
            <a:r>
              <a:rPr dirty="0" sz="2800" spc="-40">
                <a:solidFill>
                  <a:srgbClr val="4E3629"/>
                </a:solidFill>
                <a:latin typeface="Calibri"/>
                <a:cs typeface="Calibri"/>
              </a:rPr>
              <a:t> </a:t>
            </a:r>
            <a:r>
              <a:rPr dirty="0" sz="2800">
                <a:solidFill>
                  <a:srgbClr val="4E3629"/>
                </a:solidFill>
                <a:latin typeface="Calibri"/>
                <a:cs typeface="Calibri"/>
              </a:rPr>
              <a:t>clave</a:t>
            </a:r>
            <a:r>
              <a:rPr dirty="0" sz="2800" spc="-60">
                <a:solidFill>
                  <a:srgbClr val="4E3629"/>
                </a:solidFill>
                <a:latin typeface="Calibri"/>
                <a:cs typeface="Calibri"/>
              </a:rPr>
              <a:t> </a:t>
            </a:r>
            <a:r>
              <a:rPr dirty="0" sz="2800" spc="-10">
                <a:solidFill>
                  <a:srgbClr val="4E3629"/>
                </a:solidFill>
                <a:latin typeface="Calibri"/>
                <a:cs typeface="Calibri"/>
              </a:rPr>
              <a:t>ajena</a:t>
            </a:r>
            <a:endParaRPr sz="2800">
              <a:latin typeface="Calibri"/>
              <a:cs typeface="Calibri"/>
            </a:endParaRPr>
          </a:p>
          <a:p>
            <a:pPr marL="199390">
              <a:lnSpc>
                <a:spcPct val="100000"/>
              </a:lnSpc>
              <a:spcBef>
                <a:spcPts val="690"/>
              </a:spcBef>
            </a:pPr>
            <a:r>
              <a:rPr dirty="0" sz="1600" spc="-20" b="1">
                <a:solidFill>
                  <a:srgbClr val="4E3629"/>
                </a:solidFill>
                <a:latin typeface="Calibri"/>
                <a:cs typeface="Calibri"/>
              </a:rPr>
              <a:t>DEPARTMENTS:</a:t>
            </a:r>
            <a:r>
              <a:rPr dirty="0" sz="1600" b="1">
                <a:solidFill>
                  <a:srgbClr val="4E3629"/>
                </a:solidFill>
                <a:latin typeface="Calibri"/>
                <a:cs typeface="Calibri"/>
              </a:rPr>
              <a:t> </a:t>
            </a:r>
            <a:r>
              <a:rPr dirty="0" sz="1600" spc="-10" b="1">
                <a:solidFill>
                  <a:srgbClr val="4E3629"/>
                </a:solidFill>
                <a:latin typeface="Calibri"/>
                <a:cs typeface="Calibri"/>
              </a:rPr>
              <a:t>principal</a:t>
            </a:r>
            <a:endParaRPr sz="1600">
              <a:latin typeface="Calibri"/>
              <a:cs typeface="Calibri"/>
            </a:endParaRPr>
          </a:p>
        </p:txBody>
      </p:sp>
      <p:sp>
        <p:nvSpPr>
          <p:cNvPr id="4" name="object 4" descr=""/>
          <p:cNvSpPr txBox="1"/>
          <p:nvPr/>
        </p:nvSpPr>
        <p:spPr>
          <a:xfrm>
            <a:off x="670407" y="4123825"/>
            <a:ext cx="194373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E3629"/>
                </a:solidFill>
                <a:latin typeface="Calibri"/>
                <a:cs typeface="Calibri"/>
              </a:rPr>
              <a:t>EMPLOYEE:</a:t>
            </a:r>
            <a:r>
              <a:rPr dirty="0" sz="1600" spc="-60" b="1">
                <a:solidFill>
                  <a:srgbClr val="4E3629"/>
                </a:solidFill>
                <a:latin typeface="Calibri"/>
                <a:cs typeface="Calibri"/>
              </a:rPr>
              <a:t> </a:t>
            </a:r>
            <a:r>
              <a:rPr dirty="0" sz="1600" spc="-10" b="1">
                <a:solidFill>
                  <a:srgbClr val="4E3629"/>
                </a:solidFill>
                <a:latin typeface="Calibri"/>
                <a:cs typeface="Calibri"/>
              </a:rPr>
              <a:t>secundaria</a:t>
            </a:r>
            <a:endParaRPr sz="1600">
              <a:latin typeface="Calibri"/>
              <a:cs typeface="Calibri"/>
            </a:endParaRPr>
          </a:p>
        </p:txBody>
      </p:sp>
      <p:graphicFrame>
        <p:nvGraphicFramePr>
          <p:cNvPr id="5" name="object 5" descr=""/>
          <p:cNvGraphicFramePr>
            <a:graphicFrameLocks noGrp="1"/>
          </p:cNvGraphicFramePr>
          <p:nvPr/>
        </p:nvGraphicFramePr>
        <p:xfrm>
          <a:off x="527050" y="4455970"/>
          <a:ext cx="7536815" cy="1461770"/>
        </p:xfrm>
        <a:graphic>
          <a:graphicData uri="http://schemas.openxmlformats.org/drawingml/2006/table">
            <a:tbl>
              <a:tblPr firstRow="1" bandRow="1">
                <a:tableStyleId>{2D5ABB26-0587-4C30-8999-92F81FD0307C}</a:tableStyleId>
              </a:tblPr>
              <a:tblGrid>
                <a:gridCol w="1861820"/>
                <a:gridCol w="1861820"/>
                <a:gridCol w="1861819"/>
                <a:gridCol w="1861820"/>
              </a:tblGrid>
              <a:tr h="243204">
                <a:tc>
                  <a:txBody>
                    <a:bodyPr/>
                    <a:lstStyle/>
                    <a:p>
                      <a:pPr marL="71755">
                        <a:lnSpc>
                          <a:spcPts val="1820"/>
                        </a:lnSpc>
                      </a:pPr>
                      <a:r>
                        <a:rPr dirty="0" sz="1600" spc="-10" b="1">
                          <a:solidFill>
                            <a:srgbClr val="4E3629"/>
                          </a:solidFill>
                          <a:latin typeface="Calibri"/>
                          <a:cs typeface="Calibri"/>
                        </a:rPr>
                        <a:t>EMPLOYEE_ID</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FIRST_NAME</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LAST_NAME</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D1350F"/>
                          </a:solidFill>
                          <a:latin typeface="Calibri"/>
                          <a:cs typeface="Calibri"/>
                        </a:rPr>
                        <a:t>DEPARTMENT_ID</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243840">
                <a:tc>
                  <a:txBody>
                    <a:bodyPr/>
                    <a:lstStyle/>
                    <a:p>
                      <a:pPr marL="71755">
                        <a:lnSpc>
                          <a:spcPts val="1820"/>
                        </a:lnSpc>
                      </a:pPr>
                      <a:r>
                        <a:rPr dirty="0" sz="1600" spc="-25">
                          <a:solidFill>
                            <a:srgbClr val="4E3629"/>
                          </a:solidFill>
                          <a:latin typeface="Calibri"/>
                          <a:cs typeface="Calibri"/>
                        </a:rPr>
                        <a:t>100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Steven</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20">
                          <a:solidFill>
                            <a:srgbClr val="4E3629"/>
                          </a:solidFill>
                          <a:latin typeface="Calibri"/>
                          <a:cs typeface="Calibri"/>
                        </a:rPr>
                        <a:t>King</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2390">
                        <a:lnSpc>
                          <a:spcPts val="1820"/>
                        </a:lnSpc>
                      </a:pPr>
                      <a:r>
                        <a:rPr dirty="0" sz="1600" spc="-25">
                          <a:solidFill>
                            <a:srgbClr val="D1350F"/>
                          </a:solidFill>
                          <a:latin typeface="Calibri"/>
                          <a:cs typeface="Calibri"/>
                        </a:rPr>
                        <a:t>90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243204">
                <a:tc>
                  <a:txBody>
                    <a:bodyPr/>
                    <a:lstStyle/>
                    <a:p>
                      <a:pPr marL="72390">
                        <a:lnSpc>
                          <a:spcPts val="1820"/>
                        </a:lnSpc>
                      </a:pPr>
                      <a:r>
                        <a:rPr dirty="0" sz="1600" spc="-25">
                          <a:solidFill>
                            <a:srgbClr val="4E3629"/>
                          </a:solidFill>
                          <a:latin typeface="Calibri"/>
                          <a:cs typeface="Calibri"/>
                        </a:rPr>
                        <a:t>101</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10">
                          <a:solidFill>
                            <a:srgbClr val="4E3629"/>
                          </a:solidFill>
                          <a:latin typeface="Calibri"/>
                          <a:cs typeface="Calibri"/>
                        </a:rPr>
                        <a:t>Neena</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10">
                          <a:solidFill>
                            <a:srgbClr val="4E3629"/>
                          </a:solidFill>
                          <a:latin typeface="Calibri"/>
                          <a:cs typeface="Calibri"/>
                        </a:rPr>
                        <a:t>Kochhar</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25">
                          <a:solidFill>
                            <a:srgbClr val="D1350F"/>
                          </a:solidFill>
                          <a:latin typeface="Calibri"/>
                          <a:cs typeface="Calibri"/>
                        </a:rPr>
                        <a:t>90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840">
                <a:tc>
                  <a:txBody>
                    <a:bodyPr/>
                    <a:lstStyle/>
                    <a:p>
                      <a:pPr marL="72390">
                        <a:lnSpc>
                          <a:spcPts val="1820"/>
                        </a:lnSpc>
                      </a:pPr>
                      <a:r>
                        <a:rPr dirty="0" sz="1600" spc="-25">
                          <a:solidFill>
                            <a:srgbClr val="4E3629"/>
                          </a:solidFill>
                          <a:latin typeface="Calibri"/>
                          <a:cs typeface="Calibri"/>
                        </a:rPr>
                        <a:t>102</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25">
                          <a:solidFill>
                            <a:srgbClr val="4E3629"/>
                          </a:solidFill>
                          <a:latin typeface="Calibri"/>
                          <a:cs typeface="Calibri"/>
                        </a:rPr>
                        <a:t>Lex</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a:solidFill>
                            <a:srgbClr val="4E3629"/>
                          </a:solidFill>
                          <a:latin typeface="Calibri"/>
                          <a:cs typeface="Calibri"/>
                        </a:rPr>
                        <a:t>De</a:t>
                      </a:r>
                      <a:r>
                        <a:rPr dirty="0" sz="1600" spc="-15">
                          <a:solidFill>
                            <a:srgbClr val="4E3629"/>
                          </a:solidFill>
                          <a:latin typeface="Calibri"/>
                          <a:cs typeface="Calibri"/>
                        </a:rPr>
                        <a:t> </a:t>
                      </a:r>
                      <a:r>
                        <a:rPr dirty="0" sz="1600" spc="-20">
                          <a:solidFill>
                            <a:srgbClr val="4E3629"/>
                          </a:solidFill>
                          <a:latin typeface="Calibri"/>
                          <a:cs typeface="Calibri"/>
                        </a:rPr>
                        <a:t>Haan</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25">
                          <a:solidFill>
                            <a:srgbClr val="D1350F"/>
                          </a:solidFill>
                          <a:latin typeface="Calibri"/>
                          <a:cs typeface="Calibri"/>
                        </a:rPr>
                        <a:t>90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840">
                <a:tc>
                  <a:txBody>
                    <a:bodyPr/>
                    <a:lstStyle/>
                    <a:p>
                      <a:pPr marL="72390">
                        <a:lnSpc>
                          <a:spcPts val="1820"/>
                        </a:lnSpc>
                      </a:pPr>
                      <a:r>
                        <a:rPr dirty="0" sz="1600" spc="-25">
                          <a:solidFill>
                            <a:srgbClr val="4E3629"/>
                          </a:solidFill>
                          <a:latin typeface="Calibri"/>
                          <a:cs typeface="Calibri"/>
                        </a:rPr>
                        <a:t>205</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10">
                          <a:solidFill>
                            <a:srgbClr val="4E3629"/>
                          </a:solidFill>
                          <a:latin typeface="Calibri"/>
                          <a:cs typeface="Calibri"/>
                        </a:rPr>
                        <a:t>Shelley</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ts val="1820"/>
                        </a:lnSpc>
                      </a:pPr>
                      <a:r>
                        <a:rPr dirty="0" sz="1600" spc="-10">
                          <a:solidFill>
                            <a:srgbClr val="4E3629"/>
                          </a:solidFill>
                          <a:latin typeface="Calibri"/>
                          <a:cs typeface="Calibri"/>
                        </a:rPr>
                        <a:t>Higgins</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3025">
                        <a:lnSpc>
                          <a:spcPts val="1820"/>
                        </a:lnSpc>
                      </a:pPr>
                      <a:r>
                        <a:rPr dirty="0" sz="1600" spc="-25">
                          <a:solidFill>
                            <a:srgbClr val="D1350F"/>
                          </a:solidFill>
                          <a:latin typeface="Calibri"/>
                          <a:cs typeface="Calibri"/>
                        </a:rPr>
                        <a:t>110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840">
                <a:tc>
                  <a:txBody>
                    <a:bodyPr/>
                    <a:lstStyle/>
                    <a:p>
                      <a:pPr marL="72390">
                        <a:lnSpc>
                          <a:spcPts val="1820"/>
                        </a:lnSpc>
                      </a:pPr>
                      <a:r>
                        <a:rPr dirty="0" sz="1600" spc="-25">
                          <a:solidFill>
                            <a:srgbClr val="4E3629"/>
                          </a:solidFill>
                          <a:latin typeface="Calibri"/>
                          <a:cs typeface="Calibri"/>
                        </a:rPr>
                        <a:t>206</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3025">
                        <a:lnSpc>
                          <a:spcPts val="1820"/>
                        </a:lnSpc>
                      </a:pPr>
                      <a:r>
                        <a:rPr dirty="0" sz="1600" spc="-10">
                          <a:solidFill>
                            <a:srgbClr val="4E3629"/>
                          </a:solidFill>
                          <a:latin typeface="Calibri"/>
                          <a:cs typeface="Calibri"/>
                        </a:rPr>
                        <a:t>William</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3025">
                        <a:lnSpc>
                          <a:spcPts val="1820"/>
                        </a:lnSpc>
                      </a:pPr>
                      <a:r>
                        <a:rPr dirty="0" sz="1600" spc="-10">
                          <a:solidFill>
                            <a:srgbClr val="4E3629"/>
                          </a:solidFill>
                          <a:latin typeface="Calibri"/>
                          <a:cs typeface="Calibri"/>
                        </a:rPr>
                        <a:t>Gietz</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3025">
                        <a:lnSpc>
                          <a:spcPts val="1820"/>
                        </a:lnSpc>
                      </a:pPr>
                      <a:r>
                        <a:rPr dirty="0" sz="1600" spc="-25">
                          <a:solidFill>
                            <a:srgbClr val="D1350F"/>
                          </a:solidFill>
                          <a:latin typeface="Calibri"/>
                          <a:cs typeface="Calibri"/>
                        </a:rPr>
                        <a:t>110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graphicFrame>
        <p:nvGraphicFramePr>
          <p:cNvPr id="6" name="object 6" descr=""/>
          <p:cNvGraphicFramePr>
            <a:graphicFrameLocks noGrp="1"/>
          </p:cNvGraphicFramePr>
          <p:nvPr/>
        </p:nvGraphicFramePr>
        <p:xfrm>
          <a:off x="530934" y="3084038"/>
          <a:ext cx="7528559" cy="973454"/>
        </p:xfrm>
        <a:graphic>
          <a:graphicData uri="http://schemas.openxmlformats.org/drawingml/2006/table">
            <a:tbl>
              <a:tblPr firstRow="1" bandRow="1">
                <a:tableStyleId>{2D5ABB26-0587-4C30-8999-92F81FD0307C}</a:tableStyleId>
              </a:tblPr>
              <a:tblGrid>
                <a:gridCol w="1875789"/>
                <a:gridCol w="1854200"/>
                <a:gridCol w="1854200"/>
                <a:gridCol w="1854200"/>
              </a:tblGrid>
              <a:tr h="243204">
                <a:tc>
                  <a:txBody>
                    <a:bodyPr/>
                    <a:lstStyle/>
                    <a:p>
                      <a:pPr marL="71755">
                        <a:lnSpc>
                          <a:spcPts val="1820"/>
                        </a:lnSpc>
                      </a:pPr>
                      <a:r>
                        <a:rPr dirty="0" sz="1600" spc="-10" b="1">
                          <a:solidFill>
                            <a:srgbClr val="D1350F"/>
                          </a:solidFill>
                          <a:latin typeface="Calibri"/>
                          <a:cs typeface="Calibri"/>
                        </a:rPr>
                        <a:t>DEPARTMENT_ID</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DEPT_NAME</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MANAGER_ID</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spc="-10" b="1">
                          <a:solidFill>
                            <a:srgbClr val="4E3629"/>
                          </a:solidFill>
                          <a:latin typeface="Calibri"/>
                          <a:cs typeface="Calibri"/>
                        </a:rPr>
                        <a:t>LOCATION_ID</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243840">
                <a:tc>
                  <a:txBody>
                    <a:bodyPr/>
                    <a:lstStyle/>
                    <a:p>
                      <a:pPr marL="71755">
                        <a:lnSpc>
                          <a:spcPts val="1820"/>
                        </a:lnSpc>
                      </a:pPr>
                      <a:r>
                        <a:rPr dirty="0" sz="1600" spc="-25">
                          <a:solidFill>
                            <a:srgbClr val="D1350F"/>
                          </a:solidFill>
                          <a:latin typeface="Calibri"/>
                          <a:cs typeface="Calibri"/>
                        </a:rPr>
                        <a:t>90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Executive</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25">
                          <a:solidFill>
                            <a:srgbClr val="4E3629"/>
                          </a:solidFill>
                          <a:latin typeface="Calibri"/>
                          <a:cs typeface="Calibri"/>
                        </a:rPr>
                        <a:t>100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20"/>
                        </a:lnSpc>
                      </a:pPr>
                      <a:r>
                        <a:rPr dirty="0" sz="1600" spc="-20">
                          <a:solidFill>
                            <a:srgbClr val="4E3629"/>
                          </a:solidFill>
                          <a:latin typeface="Calibri"/>
                          <a:cs typeface="Calibri"/>
                        </a:rPr>
                        <a:t>1700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243204">
                <a:tc>
                  <a:txBody>
                    <a:bodyPr/>
                    <a:lstStyle/>
                    <a:p>
                      <a:pPr marL="71755">
                        <a:lnSpc>
                          <a:spcPts val="1820"/>
                        </a:lnSpc>
                      </a:pPr>
                      <a:r>
                        <a:rPr dirty="0" sz="1600" spc="-25">
                          <a:solidFill>
                            <a:srgbClr val="D1350F"/>
                          </a:solidFill>
                          <a:latin typeface="Calibri"/>
                          <a:cs typeface="Calibri"/>
                        </a:rPr>
                        <a:t>110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Accounting</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25">
                          <a:solidFill>
                            <a:srgbClr val="4E3629"/>
                          </a:solidFill>
                          <a:latin typeface="Calibri"/>
                          <a:cs typeface="Calibri"/>
                        </a:rPr>
                        <a:t>205</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20">
                          <a:solidFill>
                            <a:srgbClr val="4E3629"/>
                          </a:solidFill>
                          <a:latin typeface="Calibri"/>
                          <a:cs typeface="Calibri"/>
                        </a:rPr>
                        <a:t>1700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43204">
                <a:tc>
                  <a:txBody>
                    <a:bodyPr/>
                    <a:lstStyle/>
                    <a:p>
                      <a:pPr marL="71755">
                        <a:lnSpc>
                          <a:spcPts val="1820"/>
                        </a:lnSpc>
                      </a:pPr>
                      <a:r>
                        <a:rPr dirty="0" sz="1600" spc="-25">
                          <a:solidFill>
                            <a:srgbClr val="D1350F"/>
                          </a:solidFill>
                          <a:latin typeface="Calibri"/>
                          <a:cs typeface="Calibri"/>
                        </a:rPr>
                        <a:t>190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10">
                          <a:solidFill>
                            <a:srgbClr val="4E3629"/>
                          </a:solidFill>
                          <a:latin typeface="Calibri"/>
                          <a:cs typeface="Calibri"/>
                        </a:rPr>
                        <a:t>Contracting</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50">
                          <a:solidFill>
                            <a:srgbClr val="4E3629"/>
                          </a:solidFill>
                          <a:latin typeface="Calibri"/>
                          <a:cs typeface="Calibri"/>
                        </a:rPr>
                        <a: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820"/>
                        </a:lnSpc>
                      </a:pPr>
                      <a:r>
                        <a:rPr dirty="0" sz="1600" spc="-20">
                          <a:solidFill>
                            <a:srgbClr val="4E3629"/>
                          </a:solidFill>
                          <a:latin typeface="Calibri"/>
                          <a:cs typeface="Calibri"/>
                        </a:rPr>
                        <a:t>1700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Ejemplo</a:t>
            </a:r>
            <a:r>
              <a:rPr dirty="0" spc="-65"/>
              <a:t> </a:t>
            </a:r>
            <a:r>
              <a:rPr dirty="0"/>
              <a:t>de</a:t>
            </a:r>
            <a:r>
              <a:rPr dirty="0" spc="-55"/>
              <a:t> </a:t>
            </a:r>
            <a:r>
              <a:rPr dirty="0"/>
              <a:t>Adición</a:t>
            </a:r>
            <a:r>
              <a:rPr dirty="0" spc="-25"/>
              <a:t> </a:t>
            </a:r>
            <a:r>
              <a:rPr dirty="0"/>
              <a:t>de</a:t>
            </a:r>
            <a:r>
              <a:rPr dirty="0" spc="-70"/>
              <a:t> </a:t>
            </a:r>
            <a:r>
              <a:rPr dirty="0" spc="-10"/>
              <a:t>Restricciones</a:t>
            </a:r>
          </a:p>
        </p:txBody>
      </p:sp>
      <p:sp>
        <p:nvSpPr>
          <p:cNvPr id="9" name="object 9"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3</a:t>
            </a:r>
          </a:p>
          <a:p>
            <a:pPr marL="12700">
              <a:lnSpc>
                <a:spcPts val="965"/>
              </a:lnSpc>
            </a:pPr>
            <a:r>
              <a:rPr dirty="0"/>
              <a:t>Gestión</a:t>
            </a:r>
            <a:r>
              <a:rPr dirty="0" spc="-20"/>
              <a:t> </a:t>
            </a:r>
            <a:r>
              <a:rPr dirty="0"/>
              <a:t>de</a:t>
            </a:r>
            <a:r>
              <a:rPr dirty="0" spc="-40"/>
              <a:t> </a:t>
            </a:r>
            <a:r>
              <a:rPr dirty="0" spc="-10"/>
              <a:t>Restricciones</a:t>
            </a:r>
          </a:p>
        </p:txBody>
      </p:sp>
      <p:sp>
        <p:nvSpPr>
          <p:cNvPr id="10" name="object 10"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11</a:t>
            </a:r>
          </a:p>
        </p:txBody>
      </p:sp>
      <p:sp>
        <p:nvSpPr>
          <p:cNvPr id="11" name="object 11"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7407909" cy="836294"/>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En</a:t>
            </a:r>
            <a:r>
              <a:rPr dirty="0" sz="2800" spc="-65">
                <a:solidFill>
                  <a:srgbClr val="4E3629"/>
                </a:solidFill>
                <a:latin typeface="Calibri"/>
                <a:cs typeface="Calibri"/>
              </a:rPr>
              <a:t> </a:t>
            </a:r>
            <a:r>
              <a:rPr dirty="0" sz="2800">
                <a:solidFill>
                  <a:srgbClr val="4E3629"/>
                </a:solidFill>
                <a:latin typeface="Calibri"/>
                <a:cs typeface="Calibri"/>
              </a:rPr>
              <a:t>el</a:t>
            </a:r>
            <a:r>
              <a:rPr dirty="0" sz="2800" spc="-90">
                <a:solidFill>
                  <a:srgbClr val="4E3629"/>
                </a:solidFill>
                <a:latin typeface="Calibri"/>
                <a:cs typeface="Calibri"/>
              </a:rPr>
              <a:t> </a:t>
            </a:r>
            <a:r>
              <a:rPr dirty="0" sz="2800">
                <a:solidFill>
                  <a:srgbClr val="4E3629"/>
                </a:solidFill>
                <a:latin typeface="Calibri"/>
                <a:cs typeface="Calibri"/>
              </a:rPr>
              <a:t>siguiente</a:t>
            </a:r>
            <a:r>
              <a:rPr dirty="0" sz="2800" spc="-60">
                <a:solidFill>
                  <a:srgbClr val="4E3629"/>
                </a:solidFill>
                <a:latin typeface="Calibri"/>
                <a:cs typeface="Calibri"/>
              </a:rPr>
              <a:t> </a:t>
            </a:r>
            <a:r>
              <a:rPr dirty="0" sz="2800">
                <a:solidFill>
                  <a:srgbClr val="4E3629"/>
                </a:solidFill>
                <a:latin typeface="Calibri"/>
                <a:cs typeface="Calibri"/>
              </a:rPr>
              <a:t>ejemplo</a:t>
            </a:r>
            <a:r>
              <a:rPr dirty="0" sz="2800" spc="-60">
                <a:solidFill>
                  <a:srgbClr val="4E3629"/>
                </a:solidFill>
                <a:latin typeface="Calibri"/>
                <a:cs typeface="Calibri"/>
              </a:rPr>
              <a:t> </a:t>
            </a:r>
            <a:r>
              <a:rPr dirty="0" sz="2800">
                <a:solidFill>
                  <a:srgbClr val="4E3629"/>
                </a:solidFill>
                <a:latin typeface="Calibri"/>
                <a:cs typeface="Calibri"/>
              </a:rPr>
              <a:t>se</a:t>
            </a:r>
            <a:r>
              <a:rPr dirty="0" sz="2800" spc="-60">
                <a:solidFill>
                  <a:srgbClr val="4E3629"/>
                </a:solidFill>
                <a:latin typeface="Calibri"/>
                <a:cs typeface="Calibri"/>
              </a:rPr>
              <a:t> </a:t>
            </a:r>
            <a:r>
              <a:rPr dirty="0" sz="2800" spc="-10">
                <a:solidFill>
                  <a:srgbClr val="4E3629"/>
                </a:solidFill>
                <a:latin typeface="Calibri"/>
                <a:cs typeface="Calibri"/>
              </a:rPr>
              <a:t>muestra</a:t>
            </a:r>
            <a:r>
              <a:rPr dirty="0" sz="2800" spc="-45">
                <a:solidFill>
                  <a:srgbClr val="4E3629"/>
                </a:solidFill>
                <a:latin typeface="Calibri"/>
                <a:cs typeface="Calibri"/>
              </a:rPr>
              <a:t> </a:t>
            </a:r>
            <a:r>
              <a:rPr dirty="0" sz="2800">
                <a:solidFill>
                  <a:srgbClr val="4E3629"/>
                </a:solidFill>
                <a:latin typeface="Calibri"/>
                <a:cs typeface="Calibri"/>
              </a:rPr>
              <a:t>la</a:t>
            </a:r>
            <a:r>
              <a:rPr dirty="0" sz="2800" spc="-70">
                <a:solidFill>
                  <a:srgbClr val="4E3629"/>
                </a:solidFill>
                <a:latin typeface="Calibri"/>
                <a:cs typeface="Calibri"/>
              </a:rPr>
              <a:t> </a:t>
            </a:r>
            <a:r>
              <a:rPr dirty="0" sz="2800">
                <a:solidFill>
                  <a:srgbClr val="4E3629"/>
                </a:solidFill>
                <a:latin typeface="Calibri"/>
                <a:cs typeface="Calibri"/>
              </a:rPr>
              <a:t>sintaxis</a:t>
            </a:r>
            <a:r>
              <a:rPr dirty="0" sz="2800" spc="-55">
                <a:solidFill>
                  <a:srgbClr val="4E3629"/>
                </a:solidFill>
                <a:latin typeface="Calibri"/>
                <a:cs typeface="Calibri"/>
              </a:rPr>
              <a:t> </a:t>
            </a:r>
            <a:r>
              <a:rPr dirty="0" sz="2800" spc="-20">
                <a:solidFill>
                  <a:srgbClr val="4E3629"/>
                </a:solidFill>
                <a:latin typeface="Calibri"/>
                <a:cs typeface="Calibri"/>
              </a:rPr>
              <a:t>para </a:t>
            </a:r>
            <a:r>
              <a:rPr dirty="0" sz="2800" spc="-20">
                <a:solidFill>
                  <a:srgbClr val="4E3629"/>
                </a:solidFill>
                <a:latin typeface="Calibri"/>
                <a:cs typeface="Calibri"/>
              </a:rPr>
              <a:t>	</a:t>
            </a:r>
            <a:r>
              <a:rPr dirty="0" sz="2800">
                <a:solidFill>
                  <a:srgbClr val="4E3629"/>
                </a:solidFill>
                <a:latin typeface="Calibri"/>
                <a:cs typeface="Calibri"/>
              </a:rPr>
              <a:t>agregar</a:t>
            </a:r>
            <a:r>
              <a:rPr dirty="0" sz="2800" spc="-95">
                <a:solidFill>
                  <a:srgbClr val="4E3629"/>
                </a:solidFill>
                <a:latin typeface="Calibri"/>
                <a:cs typeface="Calibri"/>
              </a:rPr>
              <a:t> </a:t>
            </a:r>
            <a:r>
              <a:rPr dirty="0" sz="2800">
                <a:solidFill>
                  <a:srgbClr val="4E3629"/>
                </a:solidFill>
                <a:latin typeface="Calibri"/>
                <a:cs typeface="Calibri"/>
              </a:rPr>
              <a:t>esta</a:t>
            </a:r>
            <a:r>
              <a:rPr dirty="0" sz="2800" spc="-45">
                <a:solidFill>
                  <a:srgbClr val="4E3629"/>
                </a:solidFill>
                <a:latin typeface="Calibri"/>
                <a:cs typeface="Calibri"/>
              </a:rPr>
              <a:t> </a:t>
            </a:r>
            <a:r>
              <a:rPr dirty="0" sz="2800">
                <a:solidFill>
                  <a:srgbClr val="4E3629"/>
                </a:solidFill>
                <a:latin typeface="Calibri"/>
                <a:cs typeface="Calibri"/>
              </a:rPr>
              <a:t>clave</a:t>
            </a:r>
            <a:r>
              <a:rPr dirty="0" sz="2800" spc="-70">
                <a:solidFill>
                  <a:srgbClr val="4E3629"/>
                </a:solidFill>
                <a:latin typeface="Calibri"/>
                <a:cs typeface="Calibri"/>
              </a:rPr>
              <a:t> </a:t>
            </a:r>
            <a:r>
              <a:rPr dirty="0" sz="2800">
                <a:solidFill>
                  <a:srgbClr val="4E3629"/>
                </a:solidFill>
                <a:latin typeface="Calibri"/>
                <a:cs typeface="Calibri"/>
              </a:rPr>
              <a:t>ajena</a:t>
            </a:r>
            <a:r>
              <a:rPr dirty="0" sz="2800" spc="-55">
                <a:solidFill>
                  <a:srgbClr val="4E3629"/>
                </a:solidFill>
                <a:latin typeface="Calibri"/>
                <a:cs typeface="Calibri"/>
              </a:rPr>
              <a:t> </a:t>
            </a:r>
            <a:r>
              <a:rPr dirty="0" sz="2800">
                <a:solidFill>
                  <a:srgbClr val="4E3629"/>
                </a:solidFill>
                <a:latin typeface="Calibri"/>
                <a:cs typeface="Calibri"/>
              </a:rPr>
              <a:t>a</a:t>
            </a:r>
            <a:r>
              <a:rPr dirty="0" sz="2800" spc="-60">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a:solidFill>
                  <a:srgbClr val="4E3629"/>
                </a:solidFill>
                <a:latin typeface="Calibri"/>
                <a:cs typeface="Calibri"/>
              </a:rPr>
              <a:t>tabla</a:t>
            </a:r>
            <a:r>
              <a:rPr dirty="0" sz="2800" spc="-60">
                <a:solidFill>
                  <a:srgbClr val="4E3629"/>
                </a:solidFill>
                <a:latin typeface="Calibri"/>
                <a:cs typeface="Calibri"/>
              </a:rPr>
              <a:t> </a:t>
            </a:r>
            <a:r>
              <a:rPr dirty="0" sz="2800" spc="-10">
                <a:solidFill>
                  <a:srgbClr val="4E3629"/>
                </a:solidFill>
                <a:latin typeface="Calibri"/>
                <a:cs typeface="Calibri"/>
              </a:rPr>
              <a:t>EMPLOYEES:</a:t>
            </a:r>
            <a:endParaRPr sz="2800">
              <a:latin typeface="Calibri"/>
              <a:cs typeface="Calibri"/>
            </a:endParaRPr>
          </a:p>
        </p:txBody>
      </p:sp>
      <p:sp>
        <p:nvSpPr>
          <p:cNvPr id="4" name="object 4" descr=""/>
          <p:cNvSpPr txBox="1"/>
          <p:nvPr/>
        </p:nvSpPr>
        <p:spPr>
          <a:xfrm>
            <a:off x="794655" y="3263563"/>
            <a:ext cx="2122805" cy="269240"/>
          </a:xfrm>
          <a:prstGeom prst="rect">
            <a:avLst/>
          </a:prstGeom>
        </p:spPr>
        <p:txBody>
          <a:bodyPr wrap="square" lIns="0" tIns="12065" rIns="0" bIns="0" rtlCol="0" vert="horz">
            <a:spAutoFit/>
          </a:bodyPr>
          <a:lstStyle/>
          <a:p>
            <a:pPr marL="12700">
              <a:lnSpc>
                <a:spcPct val="100000"/>
              </a:lnSpc>
              <a:spcBef>
                <a:spcPts val="95"/>
              </a:spcBef>
            </a:pPr>
            <a:r>
              <a:rPr dirty="0" sz="1600" spc="-20" b="1">
                <a:solidFill>
                  <a:srgbClr val="4E3629"/>
                </a:solidFill>
                <a:latin typeface="Calibri"/>
                <a:cs typeface="Calibri"/>
              </a:rPr>
              <a:t>DEPARTMENTS:</a:t>
            </a:r>
            <a:r>
              <a:rPr dirty="0" sz="1600" b="1">
                <a:solidFill>
                  <a:srgbClr val="4E3629"/>
                </a:solidFill>
                <a:latin typeface="Calibri"/>
                <a:cs typeface="Calibri"/>
              </a:rPr>
              <a:t> </a:t>
            </a:r>
            <a:r>
              <a:rPr dirty="0" sz="1600" spc="-10" b="1">
                <a:solidFill>
                  <a:srgbClr val="4E3629"/>
                </a:solidFill>
                <a:latin typeface="Calibri"/>
                <a:cs typeface="Calibri"/>
              </a:rPr>
              <a:t>principal</a:t>
            </a:r>
            <a:endParaRPr sz="1600">
              <a:latin typeface="Calibri"/>
              <a:cs typeface="Calibri"/>
            </a:endParaRPr>
          </a:p>
        </p:txBody>
      </p:sp>
      <p:sp>
        <p:nvSpPr>
          <p:cNvPr id="5" name="object 5" descr=""/>
          <p:cNvSpPr txBox="1"/>
          <p:nvPr/>
        </p:nvSpPr>
        <p:spPr>
          <a:xfrm>
            <a:off x="794655" y="4416677"/>
            <a:ext cx="1943735" cy="269240"/>
          </a:xfrm>
          <a:prstGeom prst="rect">
            <a:avLst/>
          </a:prstGeom>
        </p:spPr>
        <p:txBody>
          <a:bodyPr wrap="square" lIns="0" tIns="12065" rIns="0" bIns="0" rtlCol="0" vert="horz">
            <a:spAutoFit/>
          </a:bodyPr>
          <a:lstStyle/>
          <a:p>
            <a:pPr marL="12700">
              <a:lnSpc>
                <a:spcPct val="100000"/>
              </a:lnSpc>
              <a:spcBef>
                <a:spcPts val="95"/>
              </a:spcBef>
            </a:pPr>
            <a:r>
              <a:rPr dirty="0" sz="1600" spc="-10" b="1">
                <a:solidFill>
                  <a:srgbClr val="4E3629"/>
                </a:solidFill>
                <a:latin typeface="Calibri"/>
                <a:cs typeface="Calibri"/>
              </a:rPr>
              <a:t>EMPLOYEE:</a:t>
            </a:r>
            <a:r>
              <a:rPr dirty="0" sz="1600" spc="-60" b="1">
                <a:solidFill>
                  <a:srgbClr val="4E3629"/>
                </a:solidFill>
                <a:latin typeface="Calibri"/>
                <a:cs typeface="Calibri"/>
              </a:rPr>
              <a:t> </a:t>
            </a:r>
            <a:r>
              <a:rPr dirty="0" sz="1600" spc="-10" b="1">
                <a:solidFill>
                  <a:srgbClr val="4E3629"/>
                </a:solidFill>
                <a:latin typeface="Calibri"/>
                <a:cs typeface="Calibri"/>
              </a:rPr>
              <a:t>secundaria</a:t>
            </a:r>
            <a:endParaRPr sz="1600">
              <a:latin typeface="Calibri"/>
              <a:cs typeface="Calibri"/>
            </a:endParaRPr>
          </a:p>
        </p:txBody>
      </p:sp>
      <p:sp>
        <p:nvSpPr>
          <p:cNvPr id="6" name="object 6" descr=""/>
          <p:cNvSpPr txBox="1"/>
          <p:nvPr/>
        </p:nvSpPr>
        <p:spPr>
          <a:xfrm>
            <a:off x="405384" y="2324100"/>
            <a:ext cx="8345805" cy="948055"/>
          </a:xfrm>
          <a:prstGeom prst="rect">
            <a:avLst/>
          </a:prstGeom>
          <a:solidFill>
            <a:srgbClr val="9DBEC4">
              <a:alpha val="50199"/>
            </a:srgbClr>
          </a:solidFill>
        </p:spPr>
        <p:txBody>
          <a:bodyPr wrap="square" lIns="0" tIns="34925" rIns="0" bIns="0" rtlCol="0" vert="horz">
            <a:spAutoFit/>
          </a:bodyPr>
          <a:lstStyle/>
          <a:p>
            <a:pPr>
              <a:lnSpc>
                <a:spcPct val="100000"/>
              </a:lnSpc>
              <a:spcBef>
                <a:spcPts val="275"/>
              </a:spcBef>
            </a:pPr>
            <a:r>
              <a:rPr dirty="0" sz="1800" b="1">
                <a:solidFill>
                  <a:srgbClr val="4E3629"/>
                </a:solidFill>
                <a:latin typeface="Courier New"/>
                <a:cs typeface="Courier New"/>
              </a:rPr>
              <a:t>ALTER</a:t>
            </a:r>
            <a:r>
              <a:rPr dirty="0" sz="1800" spc="-50"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a:p>
            <a:pPr marL="408940" marR="148590" indent="-410209">
              <a:lnSpc>
                <a:spcPct val="100000"/>
              </a:lnSpc>
            </a:pPr>
            <a:r>
              <a:rPr dirty="0" sz="1800" b="1">
                <a:solidFill>
                  <a:srgbClr val="4E3629"/>
                </a:solidFill>
                <a:latin typeface="Courier New"/>
                <a:cs typeface="Courier New"/>
              </a:rPr>
              <a:t>ADD</a:t>
            </a:r>
            <a:r>
              <a:rPr dirty="0" sz="1800" spc="-80" b="1">
                <a:solidFill>
                  <a:srgbClr val="4E3629"/>
                </a:solidFill>
                <a:latin typeface="Courier New"/>
                <a:cs typeface="Courier New"/>
              </a:rPr>
              <a:t> </a:t>
            </a:r>
            <a:r>
              <a:rPr dirty="0" sz="1800" b="1">
                <a:solidFill>
                  <a:srgbClr val="4E3629"/>
                </a:solidFill>
                <a:latin typeface="Courier New"/>
                <a:cs typeface="Courier New"/>
              </a:rPr>
              <a:t>CONSTRAINT</a:t>
            </a:r>
            <a:r>
              <a:rPr dirty="0" sz="1800" spc="-70" b="1">
                <a:solidFill>
                  <a:srgbClr val="4E3629"/>
                </a:solidFill>
                <a:latin typeface="Courier New"/>
                <a:cs typeface="Courier New"/>
              </a:rPr>
              <a:t> </a:t>
            </a:r>
            <a:r>
              <a:rPr dirty="0" sz="1800" b="1">
                <a:solidFill>
                  <a:srgbClr val="4E3629"/>
                </a:solidFill>
                <a:latin typeface="Courier New"/>
                <a:cs typeface="Courier New"/>
              </a:rPr>
              <a:t>emp_dept_fk</a:t>
            </a:r>
            <a:r>
              <a:rPr dirty="0" sz="1800" spc="-65" b="1">
                <a:solidFill>
                  <a:srgbClr val="4E3629"/>
                </a:solidFill>
                <a:latin typeface="Courier New"/>
                <a:cs typeface="Courier New"/>
              </a:rPr>
              <a:t> </a:t>
            </a:r>
            <a:r>
              <a:rPr dirty="0" sz="1800" b="1">
                <a:solidFill>
                  <a:srgbClr val="4E3629"/>
                </a:solidFill>
                <a:latin typeface="Courier New"/>
                <a:cs typeface="Courier New"/>
              </a:rPr>
              <a:t>FOREIGN</a:t>
            </a:r>
            <a:r>
              <a:rPr dirty="0" sz="1800" spc="-60" b="1">
                <a:solidFill>
                  <a:srgbClr val="4E3629"/>
                </a:solidFill>
                <a:latin typeface="Courier New"/>
                <a:cs typeface="Courier New"/>
              </a:rPr>
              <a:t> </a:t>
            </a:r>
            <a:r>
              <a:rPr dirty="0" sz="1800" b="1">
                <a:solidFill>
                  <a:srgbClr val="4E3629"/>
                </a:solidFill>
                <a:latin typeface="Courier New"/>
                <a:cs typeface="Courier New"/>
              </a:rPr>
              <a:t>KEY</a:t>
            </a:r>
            <a:r>
              <a:rPr dirty="0" sz="1800" spc="-65" b="1">
                <a:solidFill>
                  <a:srgbClr val="4E3629"/>
                </a:solidFill>
                <a:latin typeface="Courier New"/>
                <a:cs typeface="Courier New"/>
              </a:rPr>
              <a:t> </a:t>
            </a:r>
            <a:r>
              <a:rPr dirty="0" sz="1800" spc="-10" b="1">
                <a:solidFill>
                  <a:srgbClr val="4E3629"/>
                </a:solidFill>
                <a:latin typeface="Courier New"/>
                <a:cs typeface="Courier New"/>
              </a:rPr>
              <a:t>(department_id) </a:t>
            </a:r>
            <a:r>
              <a:rPr dirty="0" sz="1800" b="1">
                <a:solidFill>
                  <a:srgbClr val="4E3629"/>
                </a:solidFill>
                <a:latin typeface="Courier New"/>
                <a:cs typeface="Courier New"/>
              </a:rPr>
              <a:t>REFERENCES</a:t>
            </a:r>
            <a:r>
              <a:rPr dirty="0" sz="1800" spc="-100" b="1">
                <a:solidFill>
                  <a:srgbClr val="4E3629"/>
                </a:solidFill>
                <a:latin typeface="Courier New"/>
                <a:cs typeface="Courier New"/>
              </a:rPr>
              <a:t> </a:t>
            </a:r>
            <a:r>
              <a:rPr dirty="0" sz="1800" b="1">
                <a:solidFill>
                  <a:srgbClr val="4E3629"/>
                </a:solidFill>
                <a:latin typeface="Courier New"/>
                <a:cs typeface="Courier New"/>
              </a:rPr>
              <a:t>departments</a:t>
            </a:r>
            <a:r>
              <a:rPr dirty="0" sz="1800" spc="-90" b="1">
                <a:solidFill>
                  <a:srgbClr val="4E3629"/>
                </a:solidFill>
                <a:latin typeface="Courier New"/>
                <a:cs typeface="Courier New"/>
              </a:rPr>
              <a:t> </a:t>
            </a:r>
            <a:r>
              <a:rPr dirty="0" sz="1800" b="1">
                <a:solidFill>
                  <a:srgbClr val="4E3629"/>
                </a:solidFill>
                <a:latin typeface="Courier New"/>
                <a:cs typeface="Courier New"/>
              </a:rPr>
              <a:t>(department_id)</a:t>
            </a:r>
            <a:r>
              <a:rPr dirty="0" sz="1800" spc="-85" b="1">
                <a:solidFill>
                  <a:srgbClr val="4E3629"/>
                </a:solidFill>
                <a:latin typeface="Courier New"/>
                <a:cs typeface="Courier New"/>
              </a:rPr>
              <a:t> </a:t>
            </a:r>
            <a:r>
              <a:rPr dirty="0" sz="1800" b="1">
                <a:solidFill>
                  <a:srgbClr val="4E3629"/>
                </a:solidFill>
                <a:latin typeface="Courier New"/>
                <a:cs typeface="Courier New"/>
              </a:rPr>
              <a:t>ON</a:t>
            </a:r>
            <a:r>
              <a:rPr dirty="0" sz="1800" spc="-90" b="1">
                <a:solidFill>
                  <a:srgbClr val="4E3629"/>
                </a:solidFill>
                <a:latin typeface="Courier New"/>
                <a:cs typeface="Courier New"/>
              </a:rPr>
              <a:t> </a:t>
            </a:r>
            <a:r>
              <a:rPr dirty="0" sz="1800" b="1">
                <a:solidFill>
                  <a:srgbClr val="4E3629"/>
                </a:solidFill>
                <a:latin typeface="Courier New"/>
                <a:cs typeface="Courier New"/>
              </a:rPr>
              <a:t>DELETE</a:t>
            </a:r>
            <a:r>
              <a:rPr dirty="0" sz="1800" spc="-85" b="1">
                <a:solidFill>
                  <a:srgbClr val="4E3629"/>
                </a:solidFill>
                <a:latin typeface="Courier New"/>
                <a:cs typeface="Courier New"/>
              </a:rPr>
              <a:t> </a:t>
            </a:r>
            <a:r>
              <a:rPr dirty="0" sz="1800" spc="-10" b="1">
                <a:solidFill>
                  <a:srgbClr val="4E3629"/>
                </a:solidFill>
                <a:latin typeface="Courier New"/>
                <a:cs typeface="Courier New"/>
              </a:rPr>
              <a:t>CASCADE;</a:t>
            </a:r>
            <a:endParaRPr sz="1800">
              <a:latin typeface="Courier New"/>
              <a:cs typeface="Courier New"/>
            </a:endParaRPr>
          </a:p>
        </p:txBody>
      </p:sp>
      <p:graphicFrame>
        <p:nvGraphicFramePr>
          <p:cNvPr id="7" name="object 7" descr=""/>
          <p:cNvGraphicFramePr>
            <a:graphicFrameLocks noGrp="1"/>
          </p:cNvGraphicFramePr>
          <p:nvPr/>
        </p:nvGraphicFramePr>
        <p:xfrm>
          <a:off x="599620" y="4753815"/>
          <a:ext cx="7697470" cy="1096010"/>
        </p:xfrm>
        <a:graphic>
          <a:graphicData uri="http://schemas.openxmlformats.org/drawingml/2006/table">
            <a:tbl>
              <a:tblPr firstRow="1" bandRow="1">
                <a:tableStyleId>{2D5ABB26-0587-4C30-8999-92F81FD0307C}</a:tableStyleId>
              </a:tblPr>
              <a:tblGrid>
                <a:gridCol w="1901825"/>
                <a:gridCol w="1901825"/>
                <a:gridCol w="1901825"/>
                <a:gridCol w="1901825"/>
              </a:tblGrid>
              <a:tr h="182245">
                <a:tc>
                  <a:txBody>
                    <a:bodyPr/>
                    <a:lstStyle/>
                    <a:p>
                      <a:pPr marL="71755">
                        <a:lnSpc>
                          <a:spcPts val="1340"/>
                        </a:lnSpc>
                      </a:pPr>
                      <a:r>
                        <a:rPr dirty="0" sz="1200" spc="-10" b="1">
                          <a:solidFill>
                            <a:srgbClr val="4E3629"/>
                          </a:solidFill>
                          <a:latin typeface="Calibri"/>
                          <a:cs typeface="Calibri"/>
                        </a:rPr>
                        <a:t>EMPLOYEE_ID</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340"/>
                        </a:lnSpc>
                      </a:pPr>
                      <a:r>
                        <a:rPr dirty="0" sz="1200" spc="-10" b="1">
                          <a:solidFill>
                            <a:srgbClr val="4E3629"/>
                          </a:solidFill>
                          <a:latin typeface="Calibri"/>
                          <a:cs typeface="Calibri"/>
                        </a:rPr>
                        <a:t>FIRST_NAME</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340"/>
                        </a:lnSpc>
                      </a:pPr>
                      <a:r>
                        <a:rPr dirty="0" sz="1200" spc="-10" b="1">
                          <a:solidFill>
                            <a:srgbClr val="4E3629"/>
                          </a:solidFill>
                          <a:latin typeface="Calibri"/>
                          <a:cs typeface="Calibri"/>
                        </a:rPr>
                        <a:t>LAST_NAME</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340"/>
                        </a:lnSpc>
                      </a:pPr>
                      <a:r>
                        <a:rPr dirty="0" sz="1200" spc="-10" b="1">
                          <a:solidFill>
                            <a:srgbClr val="4E3629"/>
                          </a:solidFill>
                          <a:latin typeface="Calibri"/>
                          <a:cs typeface="Calibri"/>
                        </a:rPr>
                        <a:t>DEPARTMENT_ID</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182880">
                <a:tc>
                  <a:txBody>
                    <a:bodyPr/>
                    <a:lstStyle/>
                    <a:p>
                      <a:pPr marL="71755">
                        <a:lnSpc>
                          <a:spcPts val="1340"/>
                        </a:lnSpc>
                      </a:pPr>
                      <a:r>
                        <a:rPr dirty="0" sz="1200" spc="-25">
                          <a:solidFill>
                            <a:srgbClr val="4E3629"/>
                          </a:solidFill>
                          <a:latin typeface="Calibri"/>
                          <a:cs typeface="Calibri"/>
                        </a:rPr>
                        <a:t>100</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340"/>
                        </a:lnSpc>
                      </a:pPr>
                      <a:r>
                        <a:rPr dirty="0" sz="1200" spc="-10">
                          <a:solidFill>
                            <a:srgbClr val="4E3629"/>
                          </a:solidFill>
                          <a:latin typeface="Calibri"/>
                          <a:cs typeface="Calibri"/>
                        </a:rPr>
                        <a:t>Steven</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120">
                        <a:lnSpc>
                          <a:spcPts val="1340"/>
                        </a:lnSpc>
                      </a:pPr>
                      <a:r>
                        <a:rPr dirty="0" sz="1200" spc="-20">
                          <a:solidFill>
                            <a:srgbClr val="4E3629"/>
                          </a:solidFill>
                          <a:latin typeface="Calibri"/>
                          <a:cs typeface="Calibri"/>
                        </a:rPr>
                        <a:t>King</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120">
                        <a:lnSpc>
                          <a:spcPts val="1340"/>
                        </a:lnSpc>
                      </a:pPr>
                      <a:r>
                        <a:rPr dirty="0" sz="1200" spc="-25">
                          <a:solidFill>
                            <a:srgbClr val="4E3629"/>
                          </a:solidFill>
                          <a:latin typeface="Calibri"/>
                          <a:cs typeface="Calibri"/>
                        </a:rPr>
                        <a:t>90</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182880">
                <a:tc>
                  <a:txBody>
                    <a:bodyPr/>
                    <a:lstStyle/>
                    <a:p>
                      <a:pPr marL="71120">
                        <a:lnSpc>
                          <a:spcPts val="1340"/>
                        </a:lnSpc>
                      </a:pPr>
                      <a:r>
                        <a:rPr dirty="0" sz="1200" spc="-25">
                          <a:solidFill>
                            <a:srgbClr val="4E3629"/>
                          </a:solidFill>
                          <a:latin typeface="Calibri"/>
                          <a:cs typeface="Calibri"/>
                        </a:rPr>
                        <a:t>101</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1340"/>
                        </a:lnSpc>
                      </a:pPr>
                      <a:r>
                        <a:rPr dirty="0" sz="1200" spc="-10">
                          <a:solidFill>
                            <a:srgbClr val="4E3629"/>
                          </a:solidFill>
                          <a:latin typeface="Calibri"/>
                          <a:cs typeface="Calibri"/>
                        </a:rPr>
                        <a:t>Neena</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1340"/>
                        </a:lnSpc>
                      </a:pPr>
                      <a:r>
                        <a:rPr dirty="0" sz="1200" spc="-10">
                          <a:solidFill>
                            <a:srgbClr val="4E3629"/>
                          </a:solidFill>
                          <a:latin typeface="Calibri"/>
                          <a:cs typeface="Calibri"/>
                        </a:rPr>
                        <a:t>Kochhar</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1340"/>
                        </a:lnSpc>
                      </a:pPr>
                      <a:r>
                        <a:rPr dirty="0" sz="1200" spc="-25">
                          <a:solidFill>
                            <a:srgbClr val="4E3629"/>
                          </a:solidFill>
                          <a:latin typeface="Calibri"/>
                          <a:cs typeface="Calibri"/>
                        </a:rPr>
                        <a:t>90</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182880">
                <a:tc>
                  <a:txBody>
                    <a:bodyPr/>
                    <a:lstStyle/>
                    <a:p>
                      <a:pPr marL="71120">
                        <a:lnSpc>
                          <a:spcPts val="1340"/>
                        </a:lnSpc>
                      </a:pPr>
                      <a:r>
                        <a:rPr dirty="0" sz="1200" spc="-25">
                          <a:solidFill>
                            <a:srgbClr val="4E3629"/>
                          </a:solidFill>
                          <a:latin typeface="Calibri"/>
                          <a:cs typeface="Calibri"/>
                        </a:rPr>
                        <a:t>102</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1340"/>
                        </a:lnSpc>
                      </a:pPr>
                      <a:r>
                        <a:rPr dirty="0" sz="1200" spc="-25">
                          <a:solidFill>
                            <a:srgbClr val="4E3629"/>
                          </a:solidFill>
                          <a:latin typeface="Calibri"/>
                          <a:cs typeface="Calibri"/>
                        </a:rPr>
                        <a:t>Lex</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1340"/>
                        </a:lnSpc>
                      </a:pPr>
                      <a:r>
                        <a:rPr dirty="0" sz="1200">
                          <a:solidFill>
                            <a:srgbClr val="4E3629"/>
                          </a:solidFill>
                          <a:latin typeface="Calibri"/>
                          <a:cs typeface="Calibri"/>
                        </a:rPr>
                        <a:t>De</a:t>
                      </a:r>
                      <a:r>
                        <a:rPr dirty="0" sz="1200" spc="-15">
                          <a:solidFill>
                            <a:srgbClr val="4E3629"/>
                          </a:solidFill>
                          <a:latin typeface="Calibri"/>
                          <a:cs typeface="Calibri"/>
                        </a:rPr>
                        <a:t> </a:t>
                      </a:r>
                      <a:r>
                        <a:rPr dirty="0" sz="1200" spc="-20">
                          <a:solidFill>
                            <a:srgbClr val="4E3629"/>
                          </a:solidFill>
                          <a:latin typeface="Calibri"/>
                          <a:cs typeface="Calibri"/>
                        </a:rPr>
                        <a:t>Haan</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1340"/>
                        </a:lnSpc>
                      </a:pPr>
                      <a:r>
                        <a:rPr dirty="0" sz="1200" spc="-25">
                          <a:solidFill>
                            <a:srgbClr val="4E3629"/>
                          </a:solidFill>
                          <a:latin typeface="Calibri"/>
                          <a:cs typeface="Calibri"/>
                        </a:rPr>
                        <a:t>90</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182245">
                <a:tc>
                  <a:txBody>
                    <a:bodyPr/>
                    <a:lstStyle/>
                    <a:p>
                      <a:pPr marL="71120">
                        <a:lnSpc>
                          <a:spcPts val="1340"/>
                        </a:lnSpc>
                      </a:pPr>
                      <a:r>
                        <a:rPr dirty="0" sz="1200" spc="-25">
                          <a:solidFill>
                            <a:srgbClr val="4E3629"/>
                          </a:solidFill>
                          <a:latin typeface="Calibri"/>
                          <a:cs typeface="Calibri"/>
                        </a:rPr>
                        <a:t>205</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1340"/>
                        </a:lnSpc>
                      </a:pPr>
                      <a:r>
                        <a:rPr dirty="0" sz="1200" spc="-10">
                          <a:solidFill>
                            <a:srgbClr val="4E3629"/>
                          </a:solidFill>
                          <a:latin typeface="Calibri"/>
                          <a:cs typeface="Calibri"/>
                        </a:rPr>
                        <a:t>Shelley</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1340"/>
                        </a:lnSpc>
                      </a:pPr>
                      <a:r>
                        <a:rPr dirty="0" sz="1200" spc="-10">
                          <a:solidFill>
                            <a:srgbClr val="4E3629"/>
                          </a:solidFill>
                          <a:latin typeface="Calibri"/>
                          <a:cs typeface="Calibri"/>
                        </a:rPr>
                        <a:t>Higgins</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1340"/>
                        </a:lnSpc>
                      </a:pPr>
                      <a:r>
                        <a:rPr dirty="0" sz="1200" spc="-25">
                          <a:solidFill>
                            <a:srgbClr val="4E3629"/>
                          </a:solidFill>
                          <a:latin typeface="Calibri"/>
                          <a:cs typeface="Calibri"/>
                        </a:rPr>
                        <a:t>110</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182880">
                <a:tc>
                  <a:txBody>
                    <a:bodyPr/>
                    <a:lstStyle/>
                    <a:p>
                      <a:pPr marL="71120">
                        <a:lnSpc>
                          <a:spcPts val="1340"/>
                        </a:lnSpc>
                      </a:pPr>
                      <a:r>
                        <a:rPr dirty="0" sz="1200" spc="-25">
                          <a:solidFill>
                            <a:srgbClr val="4E3629"/>
                          </a:solidFill>
                          <a:latin typeface="Calibri"/>
                          <a:cs typeface="Calibri"/>
                        </a:rPr>
                        <a:t>206</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1340"/>
                        </a:lnSpc>
                      </a:pPr>
                      <a:r>
                        <a:rPr dirty="0" sz="1200" spc="-10">
                          <a:solidFill>
                            <a:srgbClr val="4E3629"/>
                          </a:solidFill>
                          <a:latin typeface="Calibri"/>
                          <a:cs typeface="Calibri"/>
                        </a:rPr>
                        <a:t>William</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0485">
                        <a:lnSpc>
                          <a:spcPts val="1340"/>
                        </a:lnSpc>
                      </a:pPr>
                      <a:r>
                        <a:rPr dirty="0" sz="1200" spc="-10">
                          <a:solidFill>
                            <a:srgbClr val="4E3629"/>
                          </a:solidFill>
                          <a:latin typeface="Calibri"/>
                          <a:cs typeface="Calibri"/>
                        </a:rPr>
                        <a:t>Gietz</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0485">
                        <a:lnSpc>
                          <a:spcPts val="1340"/>
                        </a:lnSpc>
                      </a:pPr>
                      <a:r>
                        <a:rPr dirty="0" sz="1200" spc="-25">
                          <a:solidFill>
                            <a:srgbClr val="4E3629"/>
                          </a:solidFill>
                          <a:latin typeface="Calibri"/>
                          <a:cs typeface="Calibri"/>
                        </a:rPr>
                        <a:t>110</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graphicFrame>
        <p:nvGraphicFramePr>
          <p:cNvPr id="8" name="object 8" descr=""/>
          <p:cNvGraphicFramePr>
            <a:graphicFrameLocks noGrp="1"/>
          </p:cNvGraphicFramePr>
          <p:nvPr/>
        </p:nvGraphicFramePr>
        <p:xfrm>
          <a:off x="599620" y="3652401"/>
          <a:ext cx="7689215" cy="730885"/>
        </p:xfrm>
        <a:graphic>
          <a:graphicData uri="http://schemas.openxmlformats.org/drawingml/2006/table">
            <a:tbl>
              <a:tblPr firstRow="1" bandRow="1">
                <a:tableStyleId>{2D5ABB26-0587-4C30-8999-92F81FD0307C}</a:tableStyleId>
              </a:tblPr>
              <a:tblGrid>
                <a:gridCol w="1916430"/>
                <a:gridCol w="1894205"/>
                <a:gridCol w="1894205"/>
                <a:gridCol w="1894204"/>
              </a:tblGrid>
              <a:tr h="182880">
                <a:tc>
                  <a:txBody>
                    <a:bodyPr/>
                    <a:lstStyle/>
                    <a:p>
                      <a:pPr marL="71755">
                        <a:lnSpc>
                          <a:spcPts val="1340"/>
                        </a:lnSpc>
                      </a:pPr>
                      <a:r>
                        <a:rPr dirty="0" sz="1200" spc="-10" b="1">
                          <a:solidFill>
                            <a:srgbClr val="4E3629"/>
                          </a:solidFill>
                          <a:latin typeface="Calibri"/>
                          <a:cs typeface="Calibri"/>
                        </a:rPr>
                        <a:t>DEPARTMENT_ID</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340"/>
                        </a:lnSpc>
                      </a:pPr>
                      <a:r>
                        <a:rPr dirty="0" sz="1200" spc="-10" b="1">
                          <a:solidFill>
                            <a:srgbClr val="4E3629"/>
                          </a:solidFill>
                          <a:latin typeface="Calibri"/>
                          <a:cs typeface="Calibri"/>
                        </a:rPr>
                        <a:t>DEPT_NAME</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340"/>
                        </a:lnSpc>
                      </a:pPr>
                      <a:r>
                        <a:rPr dirty="0" sz="1200" spc="-10" b="1">
                          <a:solidFill>
                            <a:srgbClr val="4E3629"/>
                          </a:solidFill>
                          <a:latin typeface="Calibri"/>
                          <a:cs typeface="Calibri"/>
                        </a:rPr>
                        <a:t>MANAGER_ID</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340"/>
                        </a:lnSpc>
                      </a:pPr>
                      <a:r>
                        <a:rPr dirty="0" sz="1200" spc="-10" b="1">
                          <a:solidFill>
                            <a:srgbClr val="4E3629"/>
                          </a:solidFill>
                          <a:latin typeface="Calibri"/>
                          <a:cs typeface="Calibri"/>
                        </a:rPr>
                        <a:t>LOCATION_ID</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182880">
                <a:tc>
                  <a:txBody>
                    <a:bodyPr/>
                    <a:lstStyle/>
                    <a:p>
                      <a:pPr marL="71755">
                        <a:lnSpc>
                          <a:spcPts val="1340"/>
                        </a:lnSpc>
                      </a:pPr>
                      <a:r>
                        <a:rPr dirty="0" sz="1200" spc="-25">
                          <a:solidFill>
                            <a:srgbClr val="4E3629"/>
                          </a:solidFill>
                          <a:latin typeface="Calibri"/>
                          <a:cs typeface="Calibri"/>
                        </a:rPr>
                        <a:t>90</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340"/>
                        </a:lnSpc>
                      </a:pPr>
                      <a:r>
                        <a:rPr dirty="0" sz="1200" spc="-10">
                          <a:solidFill>
                            <a:srgbClr val="4E3629"/>
                          </a:solidFill>
                          <a:latin typeface="Calibri"/>
                          <a:cs typeface="Calibri"/>
                        </a:rPr>
                        <a:t>Executive</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120">
                        <a:lnSpc>
                          <a:spcPts val="1340"/>
                        </a:lnSpc>
                      </a:pPr>
                      <a:r>
                        <a:rPr dirty="0" sz="1200" spc="-25">
                          <a:solidFill>
                            <a:srgbClr val="4E3629"/>
                          </a:solidFill>
                          <a:latin typeface="Calibri"/>
                          <a:cs typeface="Calibri"/>
                        </a:rPr>
                        <a:t>100</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120">
                        <a:lnSpc>
                          <a:spcPts val="1340"/>
                        </a:lnSpc>
                      </a:pPr>
                      <a:r>
                        <a:rPr dirty="0" sz="1200" spc="-20">
                          <a:solidFill>
                            <a:srgbClr val="4E3629"/>
                          </a:solidFill>
                          <a:latin typeface="Calibri"/>
                          <a:cs typeface="Calibri"/>
                        </a:rPr>
                        <a:t>1700</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182245">
                <a:tc>
                  <a:txBody>
                    <a:bodyPr/>
                    <a:lstStyle/>
                    <a:p>
                      <a:pPr marL="71120">
                        <a:lnSpc>
                          <a:spcPts val="1340"/>
                        </a:lnSpc>
                      </a:pPr>
                      <a:r>
                        <a:rPr dirty="0" sz="1200" spc="-25">
                          <a:solidFill>
                            <a:srgbClr val="4E3629"/>
                          </a:solidFill>
                          <a:latin typeface="Calibri"/>
                          <a:cs typeface="Calibri"/>
                        </a:rPr>
                        <a:t>110</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1340"/>
                        </a:lnSpc>
                      </a:pPr>
                      <a:r>
                        <a:rPr dirty="0" sz="1200" spc="-10">
                          <a:solidFill>
                            <a:srgbClr val="4E3629"/>
                          </a:solidFill>
                          <a:latin typeface="Calibri"/>
                          <a:cs typeface="Calibri"/>
                        </a:rPr>
                        <a:t>Accounting</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1340"/>
                        </a:lnSpc>
                      </a:pPr>
                      <a:r>
                        <a:rPr dirty="0" sz="1200" spc="-25">
                          <a:solidFill>
                            <a:srgbClr val="4E3629"/>
                          </a:solidFill>
                          <a:latin typeface="Calibri"/>
                          <a:cs typeface="Calibri"/>
                        </a:rPr>
                        <a:t>205</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1340"/>
                        </a:lnSpc>
                      </a:pPr>
                      <a:r>
                        <a:rPr dirty="0" sz="1200" spc="-20">
                          <a:solidFill>
                            <a:srgbClr val="4E3629"/>
                          </a:solidFill>
                          <a:latin typeface="Calibri"/>
                          <a:cs typeface="Calibri"/>
                        </a:rPr>
                        <a:t>1700</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182880">
                <a:tc>
                  <a:txBody>
                    <a:bodyPr/>
                    <a:lstStyle/>
                    <a:p>
                      <a:pPr marL="71120">
                        <a:lnSpc>
                          <a:spcPts val="1340"/>
                        </a:lnSpc>
                      </a:pPr>
                      <a:r>
                        <a:rPr dirty="0" sz="1200" spc="-25">
                          <a:solidFill>
                            <a:srgbClr val="4E3629"/>
                          </a:solidFill>
                          <a:latin typeface="Calibri"/>
                          <a:cs typeface="Calibri"/>
                        </a:rPr>
                        <a:t>190</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1340"/>
                        </a:lnSpc>
                      </a:pPr>
                      <a:r>
                        <a:rPr dirty="0" sz="1200" spc="-10">
                          <a:solidFill>
                            <a:srgbClr val="4E3629"/>
                          </a:solidFill>
                          <a:latin typeface="Calibri"/>
                          <a:cs typeface="Calibri"/>
                        </a:rPr>
                        <a:t>Contracting</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1340"/>
                        </a:lnSpc>
                      </a:pPr>
                      <a:r>
                        <a:rPr dirty="0" sz="1200" spc="-50">
                          <a:solidFill>
                            <a:srgbClr val="4E3629"/>
                          </a:solidFill>
                          <a:latin typeface="Calibri"/>
                          <a:cs typeface="Calibri"/>
                        </a:rPr>
                        <a:t>-</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1340"/>
                        </a:lnSpc>
                      </a:pPr>
                      <a:r>
                        <a:rPr dirty="0" sz="1200" spc="-20">
                          <a:solidFill>
                            <a:srgbClr val="4E3629"/>
                          </a:solidFill>
                          <a:latin typeface="Calibri"/>
                          <a:cs typeface="Calibri"/>
                        </a:rPr>
                        <a:t>1700</a:t>
                      </a:r>
                      <a:endParaRPr sz="12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Condiciones</a:t>
            </a:r>
            <a:r>
              <a:rPr dirty="0" spc="-60"/>
              <a:t> </a:t>
            </a:r>
            <a:r>
              <a:rPr dirty="0"/>
              <a:t>para</a:t>
            </a:r>
            <a:r>
              <a:rPr dirty="0" spc="-90"/>
              <a:t> </a:t>
            </a:r>
            <a:r>
              <a:rPr dirty="0"/>
              <a:t>la</a:t>
            </a:r>
            <a:r>
              <a:rPr dirty="0" spc="-95"/>
              <a:t> </a:t>
            </a:r>
            <a:r>
              <a:rPr dirty="0"/>
              <a:t>Adición</a:t>
            </a:r>
            <a:r>
              <a:rPr dirty="0" spc="-50"/>
              <a:t> </a:t>
            </a:r>
            <a:r>
              <a:rPr dirty="0"/>
              <a:t>de</a:t>
            </a:r>
            <a:r>
              <a:rPr dirty="0" spc="-80"/>
              <a:t> </a:t>
            </a:r>
            <a:r>
              <a:rPr dirty="0" spc="-10"/>
              <a:t>Restricciones</a:t>
            </a:r>
          </a:p>
        </p:txBody>
      </p:sp>
      <p:sp>
        <p:nvSpPr>
          <p:cNvPr id="6" name="object 6"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3</a:t>
            </a:r>
          </a:p>
          <a:p>
            <a:pPr marL="12700">
              <a:lnSpc>
                <a:spcPts val="965"/>
              </a:lnSpc>
            </a:pPr>
            <a:r>
              <a:rPr dirty="0"/>
              <a:t>Gestión</a:t>
            </a:r>
            <a:r>
              <a:rPr dirty="0" spc="-20"/>
              <a:t> </a:t>
            </a:r>
            <a:r>
              <a:rPr dirty="0"/>
              <a:t>de</a:t>
            </a:r>
            <a:r>
              <a:rPr dirty="0" spc="-40"/>
              <a:t> </a:t>
            </a:r>
            <a:r>
              <a:rPr dirty="0" spc="-10"/>
              <a:t>Restricciones</a:t>
            </a: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12</a:t>
            </a: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8187055" cy="2090420"/>
          </a:xfrm>
          <a:prstGeom prst="rect">
            <a:avLst/>
          </a:prstGeom>
        </p:spPr>
        <p:txBody>
          <a:bodyPr wrap="square" lIns="0" tIns="59690" rIns="0" bIns="0" rtlCol="0" vert="horz">
            <a:spAutoFit/>
          </a:bodyPr>
          <a:lstStyle/>
          <a:p>
            <a:pPr algn="just" marL="182880" marR="103505"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Si</a:t>
            </a:r>
            <a:r>
              <a:rPr dirty="0" sz="2800" spc="-50">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spc="-10">
                <a:solidFill>
                  <a:srgbClr val="4E3629"/>
                </a:solidFill>
                <a:latin typeface="Calibri"/>
                <a:cs typeface="Calibri"/>
              </a:rPr>
              <a:t>restricción</a:t>
            </a:r>
            <a:r>
              <a:rPr dirty="0" sz="2800" spc="-20">
                <a:solidFill>
                  <a:srgbClr val="4E3629"/>
                </a:solidFill>
                <a:latin typeface="Calibri"/>
                <a:cs typeface="Calibri"/>
              </a:rPr>
              <a:t> </a:t>
            </a:r>
            <a:r>
              <a:rPr dirty="0" sz="2800">
                <a:solidFill>
                  <a:srgbClr val="4E3629"/>
                </a:solidFill>
                <a:latin typeface="Calibri"/>
                <a:cs typeface="Calibri"/>
              </a:rPr>
              <a:t>es</a:t>
            </a:r>
            <a:r>
              <a:rPr dirty="0" sz="2800" spc="-60">
                <a:solidFill>
                  <a:srgbClr val="4E3629"/>
                </a:solidFill>
                <a:latin typeface="Calibri"/>
                <a:cs typeface="Calibri"/>
              </a:rPr>
              <a:t> </a:t>
            </a:r>
            <a:r>
              <a:rPr dirty="0" sz="2800">
                <a:solidFill>
                  <a:srgbClr val="4E3629"/>
                </a:solidFill>
                <a:latin typeface="Calibri"/>
                <a:cs typeface="Calibri"/>
              </a:rPr>
              <a:t>una</a:t>
            </a:r>
            <a:r>
              <a:rPr dirty="0" sz="2800" spc="-30">
                <a:solidFill>
                  <a:srgbClr val="4E3629"/>
                </a:solidFill>
                <a:latin typeface="Calibri"/>
                <a:cs typeface="Calibri"/>
              </a:rPr>
              <a:t> </a:t>
            </a:r>
            <a:r>
              <a:rPr dirty="0" sz="2800" spc="-10">
                <a:solidFill>
                  <a:srgbClr val="4E3629"/>
                </a:solidFill>
                <a:latin typeface="Calibri"/>
                <a:cs typeface="Calibri"/>
              </a:rPr>
              <a:t>restricción</a:t>
            </a:r>
            <a:r>
              <a:rPr dirty="0" sz="2800" spc="-25">
                <a:solidFill>
                  <a:srgbClr val="4E3629"/>
                </a:solidFill>
                <a:latin typeface="Calibri"/>
                <a:cs typeface="Calibri"/>
              </a:rPr>
              <a:t> </a:t>
            </a:r>
            <a:r>
              <a:rPr dirty="0" sz="2800">
                <a:solidFill>
                  <a:srgbClr val="4E3629"/>
                </a:solidFill>
                <a:latin typeface="Calibri"/>
                <a:cs typeface="Calibri"/>
              </a:rPr>
              <a:t>NOT</a:t>
            </a:r>
            <a:r>
              <a:rPr dirty="0" sz="2800" spc="-45">
                <a:solidFill>
                  <a:srgbClr val="4E3629"/>
                </a:solidFill>
                <a:latin typeface="Calibri"/>
                <a:cs typeface="Calibri"/>
              </a:rPr>
              <a:t> </a:t>
            </a:r>
            <a:r>
              <a:rPr dirty="0" sz="2800">
                <a:solidFill>
                  <a:srgbClr val="4E3629"/>
                </a:solidFill>
                <a:latin typeface="Calibri"/>
                <a:cs typeface="Calibri"/>
              </a:rPr>
              <a:t>NULL,</a:t>
            </a:r>
            <a:r>
              <a:rPr dirty="0" sz="2800" spc="-25">
                <a:solidFill>
                  <a:srgbClr val="4E3629"/>
                </a:solidFill>
                <a:latin typeface="Calibri"/>
                <a:cs typeface="Calibri"/>
              </a:rPr>
              <a:t> la </a:t>
            </a:r>
            <a:r>
              <a:rPr dirty="0" sz="2800" spc="-25">
                <a:solidFill>
                  <a:srgbClr val="4E3629"/>
                </a:solidFill>
                <a:latin typeface="Calibri"/>
                <a:cs typeface="Calibri"/>
              </a:rPr>
              <a:t>	</a:t>
            </a:r>
            <a:r>
              <a:rPr dirty="0" sz="2800" spc="-10">
                <a:solidFill>
                  <a:srgbClr val="4E3629"/>
                </a:solidFill>
                <a:latin typeface="Calibri"/>
                <a:cs typeface="Calibri"/>
              </a:rPr>
              <a:t>sentencia</a:t>
            </a:r>
            <a:r>
              <a:rPr dirty="0" sz="2800" spc="-65">
                <a:solidFill>
                  <a:srgbClr val="4E3629"/>
                </a:solidFill>
                <a:latin typeface="Calibri"/>
                <a:cs typeface="Calibri"/>
              </a:rPr>
              <a:t> </a:t>
            </a:r>
            <a:r>
              <a:rPr dirty="0" sz="2800" spc="-25">
                <a:solidFill>
                  <a:srgbClr val="4E3629"/>
                </a:solidFill>
                <a:latin typeface="Calibri"/>
                <a:cs typeface="Calibri"/>
              </a:rPr>
              <a:t>ALTER</a:t>
            </a:r>
            <a:r>
              <a:rPr dirty="0" sz="2800" spc="-85">
                <a:solidFill>
                  <a:srgbClr val="4E3629"/>
                </a:solidFill>
                <a:latin typeface="Calibri"/>
                <a:cs typeface="Calibri"/>
              </a:rPr>
              <a:t> </a:t>
            </a:r>
            <a:r>
              <a:rPr dirty="0" sz="2800" spc="-25">
                <a:solidFill>
                  <a:srgbClr val="4E3629"/>
                </a:solidFill>
                <a:latin typeface="Calibri"/>
                <a:cs typeface="Calibri"/>
              </a:rPr>
              <a:t>TABLE</a:t>
            </a:r>
            <a:r>
              <a:rPr dirty="0" sz="2800" spc="-75">
                <a:solidFill>
                  <a:srgbClr val="4E3629"/>
                </a:solidFill>
                <a:latin typeface="Calibri"/>
                <a:cs typeface="Calibri"/>
              </a:rPr>
              <a:t> </a:t>
            </a:r>
            <a:r>
              <a:rPr dirty="0" sz="2800">
                <a:solidFill>
                  <a:srgbClr val="4E3629"/>
                </a:solidFill>
                <a:latin typeface="Calibri"/>
                <a:cs typeface="Calibri"/>
              </a:rPr>
              <a:t>utiliza</a:t>
            </a:r>
            <a:r>
              <a:rPr dirty="0" sz="2800" spc="-60">
                <a:solidFill>
                  <a:srgbClr val="4E3629"/>
                </a:solidFill>
                <a:latin typeface="Calibri"/>
                <a:cs typeface="Calibri"/>
              </a:rPr>
              <a:t> </a:t>
            </a:r>
            <a:r>
              <a:rPr dirty="0" sz="2800">
                <a:solidFill>
                  <a:srgbClr val="4E3629"/>
                </a:solidFill>
                <a:latin typeface="Calibri"/>
                <a:cs typeface="Calibri"/>
              </a:rPr>
              <a:t>MODIFY</a:t>
            </a:r>
            <a:r>
              <a:rPr dirty="0" sz="2800" spc="-65">
                <a:solidFill>
                  <a:srgbClr val="4E3629"/>
                </a:solidFill>
                <a:latin typeface="Calibri"/>
                <a:cs typeface="Calibri"/>
              </a:rPr>
              <a:t> </a:t>
            </a:r>
            <a:r>
              <a:rPr dirty="0" sz="2800">
                <a:solidFill>
                  <a:srgbClr val="4E3629"/>
                </a:solidFill>
                <a:latin typeface="Calibri"/>
                <a:cs typeface="Calibri"/>
              </a:rPr>
              <a:t>en</a:t>
            </a:r>
            <a:r>
              <a:rPr dirty="0" sz="2800" spc="-80">
                <a:solidFill>
                  <a:srgbClr val="4E3629"/>
                </a:solidFill>
                <a:latin typeface="Calibri"/>
                <a:cs typeface="Calibri"/>
              </a:rPr>
              <a:t> </a:t>
            </a:r>
            <a:r>
              <a:rPr dirty="0" sz="2800">
                <a:solidFill>
                  <a:srgbClr val="4E3629"/>
                </a:solidFill>
                <a:latin typeface="Calibri"/>
                <a:cs typeface="Calibri"/>
              </a:rPr>
              <a:t>lugar</a:t>
            </a:r>
            <a:r>
              <a:rPr dirty="0" sz="2800" spc="-8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spc="-25">
                <a:solidFill>
                  <a:srgbClr val="4E3629"/>
                </a:solidFill>
                <a:latin typeface="Calibri"/>
                <a:cs typeface="Calibri"/>
              </a:rPr>
              <a:t>ADD</a:t>
            </a:r>
            <a:endParaRPr sz="2800">
              <a:latin typeface="Calibri"/>
              <a:cs typeface="Calibri"/>
            </a:endParaRPr>
          </a:p>
          <a:p>
            <a:pPr algn="just" marL="182880" marR="508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Las</a:t>
            </a:r>
            <a:r>
              <a:rPr dirty="0" sz="2800" spc="-55">
                <a:solidFill>
                  <a:srgbClr val="4E3629"/>
                </a:solidFill>
                <a:latin typeface="Calibri"/>
                <a:cs typeface="Calibri"/>
              </a:rPr>
              <a:t> </a:t>
            </a:r>
            <a:r>
              <a:rPr dirty="0" sz="2800" spc="-10">
                <a:solidFill>
                  <a:srgbClr val="4E3629"/>
                </a:solidFill>
                <a:latin typeface="Calibri"/>
                <a:cs typeface="Calibri"/>
              </a:rPr>
              <a:t>restricciones</a:t>
            </a:r>
            <a:r>
              <a:rPr dirty="0" sz="2800" spc="-25">
                <a:solidFill>
                  <a:srgbClr val="4E3629"/>
                </a:solidFill>
                <a:latin typeface="Calibri"/>
                <a:cs typeface="Calibri"/>
              </a:rPr>
              <a:t> </a:t>
            </a:r>
            <a:r>
              <a:rPr dirty="0" sz="2800">
                <a:solidFill>
                  <a:srgbClr val="4E3629"/>
                </a:solidFill>
                <a:latin typeface="Calibri"/>
                <a:cs typeface="Calibri"/>
              </a:rPr>
              <a:t>NOT</a:t>
            </a:r>
            <a:r>
              <a:rPr dirty="0" sz="2800" spc="-45">
                <a:solidFill>
                  <a:srgbClr val="4E3629"/>
                </a:solidFill>
                <a:latin typeface="Calibri"/>
                <a:cs typeface="Calibri"/>
              </a:rPr>
              <a:t> </a:t>
            </a:r>
            <a:r>
              <a:rPr dirty="0" sz="2800">
                <a:solidFill>
                  <a:srgbClr val="4E3629"/>
                </a:solidFill>
                <a:latin typeface="Calibri"/>
                <a:cs typeface="Calibri"/>
              </a:rPr>
              <a:t>NULL</a:t>
            </a:r>
            <a:r>
              <a:rPr dirty="0" sz="2800" spc="-40">
                <a:solidFill>
                  <a:srgbClr val="4E3629"/>
                </a:solidFill>
                <a:latin typeface="Calibri"/>
                <a:cs typeface="Calibri"/>
              </a:rPr>
              <a:t> </a:t>
            </a:r>
            <a:r>
              <a:rPr dirty="0" sz="2800">
                <a:solidFill>
                  <a:srgbClr val="4E3629"/>
                </a:solidFill>
                <a:latin typeface="Calibri"/>
                <a:cs typeface="Calibri"/>
              </a:rPr>
              <a:t>solo</a:t>
            </a:r>
            <a:r>
              <a:rPr dirty="0" sz="2800" spc="-40">
                <a:solidFill>
                  <a:srgbClr val="4E3629"/>
                </a:solidFill>
                <a:latin typeface="Calibri"/>
                <a:cs typeface="Calibri"/>
              </a:rPr>
              <a:t> </a:t>
            </a:r>
            <a:r>
              <a:rPr dirty="0" sz="2800">
                <a:solidFill>
                  <a:srgbClr val="4E3629"/>
                </a:solidFill>
                <a:latin typeface="Calibri"/>
                <a:cs typeface="Calibri"/>
              </a:rPr>
              <a:t>se</a:t>
            </a:r>
            <a:r>
              <a:rPr dirty="0" sz="2800" spc="-45">
                <a:solidFill>
                  <a:srgbClr val="4E3629"/>
                </a:solidFill>
                <a:latin typeface="Calibri"/>
                <a:cs typeface="Calibri"/>
              </a:rPr>
              <a:t> </a:t>
            </a:r>
            <a:r>
              <a:rPr dirty="0" sz="2800">
                <a:solidFill>
                  <a:srgbClr val="4E3629"/>
                </a:solidFill>
                <a:latin typeface="Calibri"/>
                <a:cs typeface="Calibri"/>
              </a:rPr>
              <a:t>pueden</a:t>
            </a:r>
            <a:r>
              <a:rPr dirty="0" sz="2800" spc="-30">
                <a:solidFill>
                  <a:srgbClr val="4E3629"/>
                </a:solidFill>
                <a:latin typeface="Calibri"/>
                <a:cs typeface="Calibri"/>
              </a:rPr>
              <a:t> </a:t>
            </a:r>
            <a:r>
              <a:rPr dirty="0" sz="2800">
                <a:solidFill>
                  <a:srgbClr val="4E3629"/>
                </a:solidFill>
                <a:latin typeface="Calibri"/>
                <a:cs typeface="Calibri"/>
              </a:rPr>
              <a:t>agregar</a:t>
            </a:r>
            <a:r>
              <a:rPr dirty="0" sz="2800" spc="-90">
                <a:solidFill>
                  <a:srgbClr val="4E3629"/>
                </a:solidFill>
                <a:latin typeface="Calibri"/>
                <a:cs typeface="Calibri"/>
              </a:rPr>
              <a:t> </a:t>
            </a:r>
            <a:r>
              <a:rPr dirty="0" sz="2800">
                <a:solidFill>
                  <a:srgbClr val="4E3629"/>
                </a:solidFill>
                <a:latin typeface="Calibri"/>
                <a:cs typeface="Calibri"/>
              </a:rPr>
              <a:t>si</a:t>
            </a:r>
            <a:r>
              <a:rPr dirty="0" sz="2800" spc="-50">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a:solidFill>
                  <a:srgbClr val="4E3629"/>
                </a:solidFill>
                <a:latin typeface="Calibri"/>
                <a:cs typeface="Calibri"/>
              </a:rPr>
              <a:t>tabla</a:t>
            </a:r>
            <a:r>
              <a:rPr dirty="0" sz="2800" spc="-55">
                <a:solidFill>
                  <a:srgbClr val="4E3629"/>
                </a:solidFill>
                <a:latin typeface="Calibri"/>
                <a:cs typeface="Calibri"/>
              </a:rPr>
              <a:t> </a:t>
            </a:r>
            <a:r>
              <a:rPr dirty="0" sz="2800">
                <a:solidFill>
                  <a:srgbClr val="4E3629"/>
                </a:solidFill>
                <a:latin typeface="Calibri"/>
                <a:cs typeface="Calibri"/>
              </a:rPr>
              <a:t>está</a:t>
            </a:r>
            <a:r>
              <a:rPr dirty="0" sz="2800" spc="-40">
                <a:solidFill>
                  <a:srgbClr val="4E3629"/>
                </a:solidFill>
                <a:latin typeface="Calibri"/>
                <a:cs typeface="Calibri"/>
              </a:rPr>
              <a:t> </a:t>
            </a:r>
            <a:r>
              <a:rPr dirty="0" sz="2800">
                <a:solidFill>
                  <a:srgbClr val="4E3629"/>
                </a:solidFill>
                <a:latin typeface="Calibri"/>
                <a:cs typeface="Calibri"/>
              </a:rPr>
              <a:t>vacía</a:t>
            </a:r>
            <a:r>
              <a:rPr dirty="0" sz="2800" spc="-60">
                <a:solidFill>
                  <a:srgbClr val="4E3629"/>
                </a:solidFill>
                <a:latin typeface="Calibri"/>
                <a:cs typeface="Calibri"/>
              </a:rPr>
              <a:t> </a:t>
            </a:r>
            <a:r>
              <a:rPr dirty="0" sz="2800">
                <a:solidFill>
                  <a:srgbClr val="4E3629"/>
                </a:solidFill>
                <a:latin typeface="Calibri"/>
                <a:cs typeface="Calibri"/>
              </a:rPr>
              <a:t>o</a:t>
            </a:r>
            <a:r>
              <a:rPr dirty="0" sz="2800" spc="-55">
                <a:solidFill>
                  <a:srgbClr val="4E3629"/>
                </a:solidFill>
                <a:latin typeface="Calibri"/>
                <a:cs typeface="Calibri"/>
              </a:rPr>
              <a:t> </a:t>
            </a:r>
            <a:r>
              <a:rPr dirty="0" sz="2800">
                <a:solidFill>
                  <a:srgbClr val="4E3629"/>
                </a:solidFill>
                <a:latin typeface="Calibri"/>
                <a:cs typeface="Calibri"/>
              </a:rPr>
              <a:t>si</a:t>
            </a:r>
            <a:r>
              <a:rPr dirty="0" sz="2800" spc="-55">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a:solidFill>
                  <a:srgbClr val="4E3629"/>
                </a:solidFill>
                <a:latin typeface="Calibri"/>
                <a:cs typeface="Calibri"/>
              </a:rPr>
              <a:t>columna</a:t>
            </a:r>
            <a:r>
              <a:rPr dirty="0" sz="2800" spc="-40">
                <a:solidFill>
                  <a:srgbClr val="4E3629"/>
                </a:solidFill>
                <a:latin typeface="Calibri"/>
                <a:cs typeface="Calibri"/>
              </a:rPr>
              <a:t> </a:t>
            </a:r>
            <a:r>
              <a:rPr dirty="0" sz="2800">
                <a:solidFill>
                  <a:srgbClr val="4E3629"/>
                </a:solidFill>
                <a:latin typeface="Calibri"/>
                <a:cs typeface="Calibri"/>
              </a:rPr>
              <a:t>tiene</a:t>
            </a:r>
            <a:r>
              <a:rPr dirty="0" sz="2800" spc="-45">
                <a:solidFill>
                  <a:srgbClr val="4E3629"/>
                </a:solidFill>
                <a:latin typeface="Calibri"/>
                <a:cs typeface="Calibri"/>
              </a:rPr>
              <a:t> </a:t>
            </a:r>
            <a:r>
              <a:rPr dirty="0" sz="2800">
                <a:solidFill>
                  <a:srgbClr val="4E3629"/>
                </a:solidFill>
                <a:latin typeface="Calibri"/>
                <a:cs typeface="Calibri"/>
              </a:rPr>
              <a:t>un</a:t>
            </a:r>
            <a:r>
              <a:rPr dirty="0" sz="2800" spc="-35">
                <a:solidFill>
                  <a:srgbClr val="4E3629"/>
                </a:solidFill>
                <a:latin typeface="Calibri"/>
                <a:cs typeface="Calibri"/>
              </a:rPr>
              <a:t> </a:t>
            </a:r>
            <a:r>
              <a:rPr dirty="0" sz="2800">
                <a:solidFill>
                  <a:srgbClr val="4E3629"/>
                </a:solidFill>
                <a:latin typeface="Calibri"/>
                <a:cs typeface="Calibri"/>
              </a:rPr>
              <a:t>valor</a:t>
            </a:r>
            <a:r>
              <a:rPr dirty="0" sz="2800" spc="-60">
                <a:solidFill>
                  <a:srgbClr val="4E3629"/>
                </a:solidFill>
                <a:latin typeface="Calibri"/>
                <a:cs typeface="Calibri"/>
              </a:rPr>
              <a:t> </a:t>
            </a:r>
            <a:r>
              <a:rPr dirty="0" sz="2800">
                <a:solidFill>
                  <a:srgbClr val="4E3629"/>
                </a:solidFill>
                <a:latin typeface="Calibri"/>
                <a:cs typeface="Calibri"/>
              </a:rPr>
              <a:t>para</a:t>
            </a:r>
            <a:r>
              <a:rPr dirty="0" sz="2800" spc="-55">
                <a:solidFill>
                  <a:srgbClr val="4E3629"/>
                </a:solidFill>
                <a:latin typeface="Calibri"/>
                <a:cs typeface="Calibri"/>
              </a:rPr>
              <a:t> </a:t>
            </a:r>
            <a:r>
              <a:rPr dirty="0" sz="2800" spc="-20">
                <a:solidFill>
                  <a:srgbClr val="4E3629"/>
                </a:solidFill>
                <a:latin typeface="Calibri"/>
                <a:cs typeface="Calibri"/>
              </a:rPr>
              <a:t>cada </a:t>
            </a:r>
            <a:r>
              <a:rPr dirty="0" sz="2800" spc="-20">
                <a:solidFill>
                  <a:srgbClr val="4E3629"/>
                </a:solidFill>
                <a:latin typeface="Calibri"/>
                <a:cs typeface="Calibri"/>
              </a:rPr>
              <a:t>	</a:t>
            </a:r>
            <a:r>
              <a:rPr dirty="0" sz="2800" spc="-10">
                <a:solidFill>
                  <a:srgbClr val="4E3629"/>
                </a:solidFill>
                <a:latin typeface="Calibri"/>
                <a:cs typeface="Calibri"/>
              </a:rPr>
              <a:t>fila:</a:t>
            </a:r>
            <a:endParaRPr sz="2800">
              <a:latin typeface="Calibri"/>
              <a:cs typeface="Calibri"/>
            </a:endParaRPr>
          </a:p>
        </p:txBody>
      </p:sp>
      <p:sp>
        <p:nvSpPr>
          <p:cNvPr id="4" name="object 4" descr=""/>
          <p:cNvSpPr txBox="1"/>
          <p:nvPr/>
        </p:nvSpPr>
        <p:spPr>
          <a:xfrm>
            <a:off x="393191" y="3729228"/>
            <a:ext cx="8345805" cy="556260"/>
          </a:xfrm>
          <a:prstGeom prst="rect">
            <a:avLst/>
          </a:prstGeom>
          <a:solidFill>
            <a:srgbClr val="9DBEC4">
              <a:alpha val="50199"/>
            </a:srgbClr>
          </a:solidFill>
        </p:spPr>
        <p:txBody>
          <a:bodyPr wrap="square" lIns="0" tIns="0" rIns="0" bIns="0" rtlCol="0" vert="horz">
            <a:spAutoFit/>
          </a:bodyPr>
          <a:lstStyle/>
          <a:p>
            <a:pPr>
              <a:lnSpc>
                <a:spcPts val="1975"/>
              </a:lnSpc>
            </a:pPr>
            <a:r>
              <a:rPr dirty="0" sz="1800" b="1">
                <a:solidFill>
                  <a:srgbClr val="4E3629"/>
                </a:solidFill>
                <a:latin typeface="Courier New"/>
                <a:cs typeface="Courier New"/>
              </a:rPr>
              <a:t>ALTER</a:t>
            </a:r>
            <a:r>
              <a:rPr dirty="0" sz="1800" spc="-50" b="1">
                <a:solidFill>
                  <a:srgbClr val="4E3629"/>
                </a:solidFill>
                <a:latin typeface="Courier New"/>
                <a:cs typeface="Courier New"/>
              </a:rPr>
              <a:t> </a:t>
            </a:r>
            <a:r>
              <a:rPr dirty="0" sz="1800" b="1">
                <a:solidFill>
                  <a:srgbClr val="4E3629"/>
                </a:solidFill>
                <a:latin typeface="Courier New"/>
                <a:cs typeface="Courier New"/>
              </a:rPr>
              <a:t>TABLE</a:t>
            </a:r>
            <a:r>
              <a:rPr dirty="0" sz="1800" spc="-45" b="1">
                <a:solidFill>
                  <a:srgbClr val="4E3629"/>
                </a:solidFill>
                <a:latin typeface="Courier New"/>
                <a:cs typeface="Courier New"/>
              </a:rPr>
              <a:t> </a:t>
            </a:r>
            <a:r>
              <a:rPr dirty="0" sz="1800" spc="-10" b="1">
                <a:solidFill>
                  <a:srgbClr val="4E3629"/>
                </a:solidFill>
                <a:latin typeface="Courier New"/>
                <a:cs typeface="Courier New"/>
              </a:rPr>
              <a:t>table_name</a:t>
            </a:r>
            <a:endParaRPr sz="1800">
              <a:latin typeface="Courier New"/>
              <a:cs typeface="Courier New"/>
            </a:endParaRPr>
          </a:p>
          <a:p>
            <a:pPr>
              <a:lnSpc>
                <a:spcPct val="100000"/>
              </a:lnSpc>
            </a:pPr>
            <a:r>
              <a:rPr dirty="0" sz="1800" b="1">
                <a:solidFill>
                  <a:srgbClr val="4E3629"/>
                </a:solidFill>
                <a:latin typeface="Courier New"/>
                <a:cs typeface="Courier New"/>
              </a:rPr>
              <a:t>MODIFY</a:t>
            </a:r>
            <a:r>
              <a:rPr dirty="0" sz="1800" spc="-95" b="1">
                <a:solidFill>
                  <a:srgbClr val="4E3629"/>
                </a:solidFill>
                <a:latin typeface="Courier New"/>
                <a:cs typeface="Courier New"/>
              </a:rPr>
              <a:t> </a:t>
            </a:r>
            <a:r>
              <a:rPr dirty="0" sz="1800" b="1">
                <a:solidFill>
                  <a:srgbClr val="4E3629"/>
                </a:solidFill>
                <a:latin typeface="Courier New"/>
                <a:cs typeface="Courier New"/>
              </a:rPr>
              <a:t>(column_name</a:t>
            </a:r>
            <a:r>
              <a:rPr dirty="0" sz="1800" spc="-95" b="1">
                <a:solidFill>
                  <a:srgbClr val="4E3629"/>
                </a:solidFill>
                <a:latin typeface="Courier New"/>
                <a:cs typeface="Courier New"/>
              </a:rPr>
              <a:t> </a:t>
            </a:r>
            <a:r>
              <a:rPr dirty="0" sz="1800" b="1">
                <a:solidFill>
                  <a:srgbClr val="4E3629"/>
                </a:solidFill>
                <a:latin typeface="Courier New"/>
                <a:cs typeface="Courier New"/>
              </a:rPr>
              <a:t>CONSTRAINT</a:t>
            </a:r>
            <a:r>
              <a:rPr dirty="0" sz="1800" spc="-95" b="1">
                <a:solidFill>
                  <a:srgbClr val="4E3629"/>
                </a:solidFill>
                <a:latin typeface="Courier New"/>
                <a:cs typeface="Courier New"/>
              </a:rPr>
              <a:t> </a:t>
            </a:r>
            <a:r>
              <a:rPr dirty="0" sz="1800" b="1">
                <a:solidFill>
                  <a:srgbClr val="4E3629"/>
                </a:solidFill>
                <a:latin typeface="Courier New"/>
                <a:cs typeface="Courier New"/>
              </a:rPr>
              <a:t>constraint_name</a:t>
            </a:r>
            <a:r>
              <a:rPr dirty="0" sz="1800" spc="-90" b="1">
                <a:solidFill>
                  <a:srgbClr val="4E3629"/>
                </a:solidFill>
                <a:latin typeface="Courier New"/>
                <a:cs typeface="Courier New"/>
              </a:rPr>
              <a:t> </a:t>
            </a:r>
            <a:r>
              <a:rPr dirty="0" sz="1800" b="1">
                <a:solidFill>
                  <a:srgbClr val="4E3629"/>
                </a:solidFill>
                <a:latin typeface="Courier New"/>
                <a:cs typeface="Courier New"/>
              </a:rPr>
              <a:t>NOT</a:t>
            </a:r>
            <a:r>
              <a:rPr dirty="0" sz="1800" spc="-80" b="1">
                <a:solidFill>
                  <a:srgbClr val="4E3629"/>
                </a:solidFill>
                <a:latin typeface="Courier New"/>
                <a:cs typeface="Courier New"/>
              </a:rPr>
              <a:t> </a:t>
            </a:r>
            <a:r>
              <a:rPr dirty="0" sz="1800" spc="-10" b="1">
                <a:solidFill>
                  <a:srgbClr val="4E3629"/>
                </a:solidFill>
                <a:latin typeface="Courier New"/>
                <a:cs typeface="Courier New"/>
              </a:rPr>
              <a:t>NULL);</a:t>
            </a:r>
            <a:endParaRPr sz="1800">
              <a:latin typeface="Courier New"/>
              <a:cs typeface="Courier New"/>
            </a:endParaRPr>
          </a:p>
        </p:txBody>
      </p:sp>
      <p:sp>
        <p:nvSpPr>
          <p:cNvPr id="5" name="object 5" descr=""/>
          <p:cNvSpPr txBox="1"/>
          <p:nvPr/>
        </p:nvSpPr>
        <p:spPr>
          <a:xfrm>
            <a:off x="381000" y="4581144"/>
            <a:ext cx="8347075" cy="558165"/>
          </a:xfrm>
          <a:prstGeom prst="rect">
            <a:avLst/>
          </a:prstGeom>
          <a:solidFill>
            <a:srgbClr val="9DBEC4">
              <a:alpha val="50199"/>
            </a:srgbClr>
          </a:solidFill>
        </p:spPr>
        <p:txBody>
          <a:bodyPr wrap="square" lIns="0" tIns="0" rIns="0" bIns="0" rtlCol="0" vert="horz">
            <a:spAutoFit/>
          </a:bodyPr>
          <a:lstStyle/>
          <a:p>
            <a:pPr>
              <a:lnSpc>
                <a:spcPts val="1980"/>
              </a:lnSpc>
            </a:pPr>
            <a:r>
              <a:rPr dirty="0" sz="1800" b="1">
                <a:solidFill>
                  <a:srgbClr val="4E3629"/>
                </a:solidFill>
                <a:latin typeface="Courier New"/>
                <a:cs typeface="Courier New"/>
              </a:rPr>
              <a:t>ALTER</a:t>
            </a:r>
            <a:r>
              <a:rPr dirty="0" sz="1800" spc="-50"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a:p>
            <a:pPr>
              <a:lnSpc>
                <a:spcPct val="100000"/>
              </a:lnSpc>
            </a:pPr>
            <a:r>
              <a:rPr dirty="0" sz="1800" b="1">
                <a:solidFill>
                  <a:srgbClr val="4E3629"/>
                </a:solidFill>
                <a:latin typeface="Courier New"/>
                <a:cs typeface="Courier New"/>
              </a:rPr>
              <a:t>MODIFY</a:t>
            </a:r>
            <a:r>
              <a:rPr dirty="0" sz="1800" spc="-80" b="1">
                <a:solidFill>
                  <a:srgbClr val="4E3629"/>
                </a:solidFill>
                <a:latin typeface="Courier New"/>
                <a:cs typeface="Courier New"/>
              </a:rPr>
              <a:t> </a:t>
            </a:r>
            <a:r>
              <a:rPr dirty="0" sz="1800" b="1">
                <a:solidFill>
                  <a:srgbClr val="4E3629"/>
                </a:solidFill>
                <a:latin typeface="Courier New"/>
                <a:cs typeface="Courier New"/>
              </a:rPr>
              <a:t>(email</a:t>
            </a:r>
            <a:r>
              <a:rPr dirty="0" sz="1800" spc="-75" b="1">
                <a:solidFill>
                  <a:srgbClr val="4E3629"/>
                </a:solidFill>
                <a:latin typeface="Courier New"/>
                <a:cs typeface="Courier New"/>
              </a:rPr>
              <a:t> </a:t>
            </a:r>
            <a:r>
              <a:rPr dirty="0" sz="1800" b="1">
                <a:solidFill>
                  <a:srgbClr val="4E3629"/>
                </a:solidFill>
                <a:latin typeface="Courier New"/>
                <a:cs typeface="Courier New"/>
              </a:rPr>
              <a:t>CONSTRAINT</a:t>
            </a:r>
            <a:r>
              <a:rPr dirty="0" sz="1800" spc="-75" b="1">
                <a:solidFill>
                  <a:srgbClr val="4E3629"/>
                </a:solidFill>
                <a:latin typeface="Courier New"/>
                <a:cs typeface="Courier New"/>
              </a:rPr>
              <a:t> </a:t>
            </a:r>
            <a:r>
              <a:rPr dirty="0" sz="1800" b="1">
                <a:solidFill>
                  <a:srgbClr val="4E3629"/>
                </a:solidFill>
                <a:latin typeface="Courier New"/>
                <a:cs typeface="Courier New"/>
              </a:rPr>
              <a:t>emp_email_nn</a:t>
            </a:r>
            <a:r>
              <a:rPr dirty="0" sz="1800" spc="-75" b="1">
                <a:solidFill>
                  <a:srgbClr val="4E3629"/>
                </a:solidFill>
                <a:latin typeface="Courier New"/>
                <a:cs typeface="Courier New"/>
              </a:rPr>
              <a:t> </a:t>
            </a:r>
            <a:r>
              <a:rPr dirty="0" sz="1800" b="1">
                <a:solidFill>
                  <a:srgbClr val="4E3629"/>
                </a:solidFill>
                <a:latin typeface="Courier New"/>
                <a:cs typeface="Courier New"/>
              </a:rPr>
              <a:t>NOT</a:t>
            </a:r>
            <a:r>
              <a:rPr dirty="0" sz="1800" spc="-70" b="1">
                <a:solidFill>
                  <a:srgbClr val="4E3629"/>
                </a:solidFill>
                <a:latin typeface="Courier New"/>
                <a:cs typeface="Courier New"/>
              </a:rPr>
              <a:t> </a:t>
            </a:r>
            <a:r>
              <a:rPr dirty="0" sz="1800" spc="-10" b="1">
                <a:solidFill>
                  <a:srgbClr val="4E3629"/>
                </a:solidFill>
                <a:latin typeface="Courier New"/>
                <a:cs typeface="Courier New"/>
              </a:rPr>
              <a:t>NULL);</a:t>
            </a:r>
            <a:endParaRPr sz="1800">
              <a:latin typeface="Courier New"/>
              <a:cs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112" y="748031"/>
            <a:ext cx="7556500" cy="528320"/>
          </a:xfrm>
          <a:prstGeom prst="rect"/>
        </p:spPr>
        <p:txBody>
          <a:bodyPr wrap="square" lIns="0" tIns="12700" rIns="0" bIns="0" rtlCol="0" vert="horz">
            <a:spAutoFit/>
          </a:bodyPr>
          <a:lstStyle/>
          <a:p>
            <a:pPr marL="12700">
              <a:lnSpc>
                <a:spcPct val="100000"/>
              </a:lnSpc>
              <a:spcBef>
                <a:spcPts val="100"/>
              </a:spcBef>
            </a:pPr>
            <a:r>
              <a:rPr dirty="0"/>
              <a:t>¿Por</a:t>
            </a:r>
            <a:r>
              <a:rPr dirty="0" spc="-80"/>
              <a:t> </a:t>
            </a:r>
            <a:r>
              <a:rPr dirty="0"/>
              <a:t>Qué</a:t>
            </a:r>
            <a:r>
              <a:rPr dirty="0" spc="-40"/>
              <a:t> </a:t>
            </a:r>
            <a:r>
              <a:rPr dirty="0"/>
              <a:t>Activar</a:t>
            </a:r>
            <a:r>
              <a:rPr dirty="0" spc="-70"/>
              <a:t> </a:t>
            </a:r>
            <a:r>
              <a:rPr dirty="0"/>
              <a:t>y</a:t>
            </a:r>
            <a:r>
              <a:rPr dirty="0" spc="-60"/>
              <a:t> </a:t>
            </a:r>
            <a:r>
              <a:rPr dirty="0"/>
              <a:t>Desactivar</a:t>
            </a:r>
            <a:r>
              <a:rPr dirty="0" spc="-90"/>
              <a:t> </a:t>
            </a:r>
            <a:r>
              <a:rPr dirty="0" spc="-10"/>
              <a:t>Restricciones?</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3</a:t>
            </a:r>
          </a:p>
          <a:p>
            <a:pPr marL="12700">
              <a:lnSpc>
                <a:spcPts val="965"/>
              </a:lnSpc>
            </a:pPr>
            <a:r>
              <a:rPr dirty="0"/>
              <a:t>Gestión</a:t>
            </a:r>
            <a:r>
              <a:rPr dirty="0" spc="-20"/>
              <a:t> </a:t>
            </a:r>
            <a:r>
              <a:rPr dirty="0"/>
              <a:t>de</a:t>
            </a:r>
            <a:r>
              <a:rPr dirty="0" spc="-40"/>
              <a:t> </a:t>
            </a:r>
            <a:r>
              <a:rPr dirty="0" spc="-10"/>
              <a:t>Restricciones</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13</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8170545" cy="4225925"/>
          </a:xfrm>
          <a:prstGeom prst="rect">
            <a:avLst/>
          </a:prstGeom>
        </p:spPr>
        <p:txBody>
          <a:bodyPr wrap="square" lIns="0" tIns="59690" rIns="0" bIns="0" rtlCol="0" vert="horz">
            <a:spAutoFit/>
          </a:bodyPr>
          <a:lstStyle/>
          <a:p>
            <a:pPr marL="182880" marR="574675" indent="-170815">
              <a:lnSpc>
                <a:spcPts val="3030"/>
              </a:lnSpc>
              <a:spcBef>
                <a:spcPts val="470"/>
              </a:spcBef>
              <a:buClr>
                <a:srgbClr val="D1350F"/>
              </a:buClr>
              <a:buFont typeface="Arial MT"/>
              <a:buChar char="•"/>
              <a:tabLst>
                <a:tab pos="184785" algn="l"/>
              </a:tabLst>
            </a:pPr>
            <a:r>
              <a:rPr dirty="0" sz="2800" spc="-10">
                <a:solidFill>
                  <a:srgbClr val="4E3629"/>
                </a:solidFill>
                <a:latin typeface="Calibri"/>
                <a:cs typeface="Calibri"/>
              </a:rPr>
              <a:t>Para</a:t>
            </a:r>
            <a:r>
              <a:rPr dirty="0" sz="2800" spc="-75">
                <a:solidFill>
                  <a:srgbClr val="4E3629"/>
                </a:solidFill>
                <a:latin typeface="Calibri"/>
                <a:cs typeface="Calibri"/>
              </a:rPr>
              <a:t> </a:t>
            </a:r>
            <a:r>
              <a:rPr dirty="0" sz="2800">
                <a:solidFill>
                  <a:srgbClr val="4E3629"/>
                </a:solidFill>
                <a:latin typeface="Calibri"/>
                <a:cs typeface="Calibri"/>
              </a:rPr>
              <a:t>aplicar</a:t>
            </a:r>
            <a:r>
              <a:rPr dirty="0" sz="2800" spc="-70">
                <a:solidFill>
                  <a:srgbClr val="4E3629"/>
                </a:solidFill>
                <a:latin typeface="Calibri"/>
                <a:cs typeface="Calibri"/>
              </a:rPr>
              <a:t> </a:t>
            </a:r>
            <a:r>
              <a:rPr dirty="0" sz="2800">
                <a:solidFill>
                  <a:srgbClr val="4E3629"/>
                </a:solidFill>
                <a:latin typeface="Calibri"/>
                <a:cs typeface="Calibri"/>
              </a:rPr>
              <a:t>las</a:t>
            </a:r>
            <a:r>
              <a:rPr dirty="0" sz="2800" spc="-85">
                <a:solidFill>
                  <a:srgbClr val="4E3629"/>
                </a:solidFill>
                <a:latin typeface="Calibri"/>
                <a:cs typeface="Calibri"/>
              </a:rPr>
              <a:t> </a:t>
            </a:r>
            <a:r>
              <a:rPr dirty="0" sz="2800">
                <a:solidFill>
                  <a:srgbClr val="4E3629"/>
                </a:solidFill>
                <a:latin typeface="Calibri"/>
                <a:cs typeface="Calibri"/>
              </a:rPr>
              <a:t>reglas</a:t>
            </a:r>
            <a:r>
              <a:rPr dirty="0" sz="2800" spc="-80">
                <a:solidFill>
                  <a:srgbClr val="4E3629"/>
                </a:solidFill>
                <a:latin typeface="Calibri"/>
                <a:cs typeface="Calibri"/>
              </a:rPr>
              <a:t> </a:t>
            </a:r>
            <a:r>
              <a:rPr dirty="0" sz="2800">
                <a:solidFill>
                  <a:srgbClr val="4E3629"/>
                </a:solidFill>
                <a:latin typeface="Calibri"/>
                <a:cs typeface="Calibri"/>
              </a:rPr>
              <a:t>definidas</a:t>
            </a:r>
            <a:r>
              <a:rPr dirty="0" sz="2800" spc="-55">
                <a:solidFill>
                  <a:srgbClr val="4E3629"/>
                </a:solidFill>
                <a:latin typeface="Calibri"/>
                <a:cs typeface="Calibri"/>
              </a:rPr>
              <a:t> </a:t>
            </a:r>
            <a:r>
              <a:rPr dirty="0" sz="2800">
                <a:solidFill>
                  <a:srgbClr val="4E3629"/>
                </a:solidFill>
                <a:latin typeface="Calibri"/>
                <a:cs typeface="Calibri"/>
              </a:rPr>
              <a:t>por</a:t>
            </a:r>
            <a:r>
              <a:rPr dirty="0" sz="2800" spc="-60">
                <a:solidFill>
                  <a:srgbClr val="4E3629"/>
                </a:solidFill>
                <a:latin typeface="Calibri"/>
                <a:cs typeface="Calibri"/>
              </a:rPr>
              <a:t> </a:t>
            </a:r>
            <a:r>
              <a:rPr dirty="0" sz="2800" spc="-10">
                <a:solidFill>
                  <a:srgbClr val="4E3629"/>
                </a:solidFill>
                <a:latin typeface="Calibri"/>
                <a:cs typeface="Calibri"/>
              </a:rPr>
              <a:t>restricciones</a:t>
            </a:r>
            <a:r>
              <a:rPr dirty="0" sz="2800" spc="-60">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integridad,</a:t>
            </a:r>
            <a:r>
              <a:rPr dirty="0" sz="2800" spc="-60">
                <a:solidFill>
                  <a:srgbClr val="4E3629"/>
                </a:solidFill>
                <a:latin typeface="Calibri"/>
                <a:cs typeface="Calibri"/>
              </a:rPr>
              <a:t> </a:t>
            </a:r>
            <a:r>
              <a:rPr dirty="0" sz="2800">
                <a:solidFill>
                  <a:srgbClr val="4E3629"/>
                </a:solidFill>
                <a:latin typeface="Calibri"/>
                <a:cs typeface="Calibri"/>
              </a:rPr>
              <a:t>las</a:t>
            </a:r>
            <a:r>
              <a:rPr dirty="0" sz="2800" spc="-80">
                <a:solidFill>
                  <a:srgbClr val="4E3629"/>
                </a:solidFill>
                <a:latin typeface="Calibri"/>
                <a:cs typeface="Calibri"/>
              </a:rPr>
              <a:t> </a:t>
            </a:r>
            <a:r>
              <a:rPr dirty="0" sz="2800" spc="-10">
                <a:solidFill>
                  <a:srgbClr val="4E3629"/>
                </a:solidFill>
                <a:latin typeface="Calibri"/>
                <a:cs typeface="Calibri"/>
              </a:rPr>
              <a:t>restricciones</a:t>
            </a:r>
            <a:r>
              <a:rPr dirty="0" sz="2800" spc="-50">
                <a:solidFill>
                  <a:srgbClr val="4E3629"/>
                </a:solidFill>
                <a:latin typeface="Calibri"/>
                <a:cs typeface="Calibri"/>
              </a:rPr>
              <a:t> </a:t>
            </a:r>
            <a:r>
              <a:rPr dirty="0" sz="2800">
                <a:solidFill>
                  <a:srgbClr val="4E3629"/>
                </a:solidFill>
                <a:latin typeface="Calibri"/>
                <a:cs typeface="Calibri"/>
              </a:rPr>
              <a:t>deben</a:t>
            </a:r>
            <a:r>
              <a:rPr dirty="0" sz="2800" spc="-65">
                <a:solidFill>
                  <a:srgbClr val="4E3629"/>
                </a:solidFill>
                <a:latin typeface="Calibri"/>
                <a:cs typeface="Calibri"/>
              </a:rPr>
              <a:t> </a:t>
            </a:r>
            <a:r>
              <a:rPr dirty="0" sz="2800">
                <a:solidFill>
                  <a:srgbClr val="4E3629"/>
                </a:solidFill>
                <a:latin typeface="Calibri"/>
                <a:cs typeface="Calibri"/>
              </a:rPr>
              <a:t>estar</a:t>
            </a:r>
            <a:r>
              <a:rPr dirty="0" sz="2800" spc="-70">
                <a:solidFill>
                  <a:srgbClr val="4E3629"/>
                </a:solidFill>
                <a:latin typeface="Calibri"/>
                <a:cs typeface="Calibri"/>
              </a:rPr>
              <a:t> </a:t>
            </a:r>
            <a:r>
              <a:rPr dirty="0" sz="2800" spc="-10">
                <a:solidFill>
                  <a:srgbClr val="4E3629"/>
                </a:solidFill>
                <a:latin typeface="Calibri"/>
                <a:cs typeface="Calibri"/>
              </a:rPr>
              <a:t>siempre 	activadas</a:t>
            </a:r>
            <a:endParaRPr sz="2800">
              <a:latin typeface="Calibri"/>
              <a:cs typeface="Calibri"/>
            </a:endParaRPr>
          </a:p>
          <a:p>
            <a:pPr marL="182880" marR="5080" indent="-170815">
              <a:lnSpc>
                <a:spcPts val="3030"/>
              </a:lnSpc>
              <a:spcBef>
                <a:spcPts val="785"/>
              </a:spcBef>
              <a:buClr>
                <a:srgbClr val="D1350F"/>
              </a:buClr>
              <a:buFont typeface="Arial MT"/>
              <a:buChar char="•"/>
              <a:tabLst>
                <a:tab pos="184785" algn="l"/>
              </a:tabLst>
            </a:pPr>
            <a:r>
              <a:rPr dirty="0" sz="2800">
                <a:solidFill>
                  <a:srgbClr val="4E3629"/>
                </a:solidFill>
                <a:latin typeface="Calibri"/>
                <a:cs typeface="Calibri"/>
              </a:rPr>
              <a:t>En</a:t>
            </a:r>
            <a:r>
              <a:rPr dirty="0" sz="2800" spc="-70">
                <a:solidFill>
                  <a:srgbClr val="4E3629"/>
                </a:solidFill>
                <a:latin typeface="Calibri"/>
                <a:cs typeface="Calibri"/>
              </a:rPr>
              <a:t> </a:t>
            </a:r>
            <a:r>
              <a:rPr dirty="0" sz="2800" spc="-10">
                <a:solidFill>
                  <a:srgbClr val="4E3629"/>
                </a:solidFill>
                <a:latin typeface="Calibri"/>
                <a:cs typeface="Calibri"/>
              </a:rPr>
              <a:t>determinadas</a:t>
            </a:r>
            <a:r>
              <a:rPr dirty="0" sz="2800" spc="-55">
                <a:solidFill>
                  <a:srgbClr val="4E3629"/>
                </a:solidFill>
                <a:latin typeface="Calibri"/>
                <a:cs typeface="Calibri"/>
              </a:rPr>
              <a:t> </a:t>
            </a:r>
            <a:r>
              <a:rPr dirty="0" sz="2800">
                <a:solidFill>
                  <a:srgbClr val="4E3629"/>
                </a:solidFill>
                <a:latin typeface="Calibri"/>
                <a:cs typeface="Calibri"/>
              </a:rPr>
              <a:t>situaciones,</a:t>
            </a:r>
            <a:r>
              <a:rPr dirty="0" sz="2800" spc="-55">
                <a:solidFill>
                  <a:srgbClr val="4E3629"/>
                </a:solidFill>
                <a:latin typeface="Calibri"/>
                <a:cs typeface="Calibri"/>
              </a:rPr>
              <a:t> </a:t>
            </a:r>
            <a:r>
              <a:rPr dirty="0" sz="2800">
                <a:solidFill>
                  <a:srgbClr val="4E3629"/>
                </a:solidFill>
                <a:latin typeface="Calibri"/>
                <a:cs typeface="Calibri"/>
              </a:rPr>
              <a:t>se</a:t>
            </a:r>
            <a:r>
              <a:rPr dirty="0" sz="2800" spc="-65">
                <a:solidFill>
                  <a:srgbClr val="4E3629"/>
                </a:solidFill>
                <a:latin typeface="Calibri"/>
                <a:cs typeface="Calibri"/>
              </a:rPr>
              <a:t> </a:t>
            </a:r>
            <a:r>
              <a:rPr dirty="0" sz="2800" spc="-10">
                <a:solidFill>
                  <a:srgbClr val="4E3629"/>
                </a:solidFill>
                <a:latin typeface="Calibri"/>
                <a:cs typeface="Calibri"/>
              </a:rPr>
              <a:t>recomienda</a:t>
            </a:r>
            <a:r>
              <a:rPr dirty="0" sz="2800" spc="-60">
                <a:solidFill>
                  <a:srgbClr val="4E3629"/>
                </a:solidFill>
                <a:latin typeface="Calibri"/>
                <a:cs typeface="Calibri"/>
              </a:rPr>
              <a:t> </a:t>
            </a:r>
            <a:r>
              <a:rPr dirty="0" sz="2800" spc="-10">
                <a:solidFill>
                  <a:srgbClr val="4E3629"/>
                </a:solidFill>
                <a:latin typeface="Calibri"/>
                <a:cs typeface="Calibri"/>
              </a:rPr>
              <a:t>desactivar 	temporalmente</a:t>
            </a:r>
            <a:r>
              <a:rPr dirty="0" sz="2800" spc="-60">
                <a:solidFill>
                  <a:srgbClr val="4E3629"/>
                </a:solidFill>
                <a:latin typeface="Calibri"/>
                <a:cs typeface="Calibri"/>
              </a:rPr>
              <a:t> </a:t>
            </a:r>
            <a:r>
              <a:rPr dirty="0" sz="2800">
                <a:solidFill>
                  <a:srgbClr val="4E3629"/>
                </a:solidFill>
                <a:latin typeface="Calibri"/>
                <a:cs typeface="Calibri"/>
              </a:rPr>
              <a:t>las</a:t>
            </a:r>
            <a:r>
              <a:rPr dirty="0" sz="2800" spc="-75">
                <a:solidFill>
                  <a:srgbClr val="4E3629"/>
                </a:solidFill>
                <a:latin typeface="Calibri"/>
                <a:cs typeface="Calibri"/>
              </a:rPr>
              <a:t> </a:t>
            </a:r>
            <a:r>
              <a:rPr dirty="0" sz="2800" spc="-10">
                <a:solidFill>
                  <a:srgbClr val="4E3629"/>
                </a:solidFill>
                <a:latin typeface="Calibri"/>
                <a:cs typeface="Calibri"/>
              </a:rPr>
              <a:t>restricciones</a:t>
            </a:r>
            <a:r>
              <a:rPr dirty="0" sz="2800" spc="-40">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a:solidFill>
                  <a:srgbClr val="4E3629"/>
                </a:solidFill>
                <a:latin typeface="Calibri"/>
                <a:cs typeface="Calibri"/>
              </a:rPr>
              <a:t>integridad</a:t>
            </a:r>
            <a:r>
              <a:rPr dirty="0" sz="2800" spc="-55">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spc="-25">
                <a:solidFill>
                  <a:srgbClr val="4E3629"/>
                </a:solidFill>
                <a:latin typeface="Calibri"/>
                <a:cs typeface="Calibri"/>
              </a:rPr>
              <a:t>una </a:t>
            </a:r>
            <a:r>
              <a:rPr dirty="0" sz="2800" spc="-25">
                <a:solidFill>
                  <a:srgbClr val="4E3629"/>
                </a:solidFill>
                <a:latin typeface="Calibri"/>
                <a:cs typeface="Calibri"/>
              </a:rPr>
              <a:t>	</a:t>
            </a:r>
            <a:r>
              <a:rPr dirty="0" sz="2800">
                <a:solidFill>
                  <a:srgbClr val="4E3629"/>
                </a:solidFill>
                <a:latin typeface="Calibri"/>
                <a:cs typeface="Calibri"/>
              </a:rPr>
              <a:t>tabla</a:t>
            </a:r>
            <a:r>
              <a:rPr dirty="0" sz="2800" spc="-55">
                <a:solidFill>
                  <a:srgbClr val="4E3629"/>
                </a:solidFill>
                <a:latin typeface="Calibri"/>
                <a:cs typeface="Calibri"/>
              </a:rPr>
              <a:t> </a:t>
            </a:r>
            <a:r>
              <a:rPr dirty="0" sz="2800">
                <a:solidFill>
                  <a:srgbClr val="4E3629"/>
                </a:solidFill>
                <a:latin typeface="Calibri"/>
                <a:cs typeface="Calibri"/>
              </a:rPr>
              <a:t>por</a:t>
            </a:r>
            <a:r>
              <a:rPr dirty="0" sz="2800" spc="-40">
                <a:solidFill>
                  <a:srgbClr val="4E3629"/>
                </a:solidFill>
                <a:latin typeface="Calibri"/>
                <a:cs typeface="Calibri"/>
              </a:rPr>
              <a:t> </a:t>
            </a:r>
            <a:r>
              <a:rPr dirty="0" sz="2800">
                <a:solidFill>
                  <a:srgbClr val="4E3629"/>
                </a:solidFill>
                <a:latin typeface="Calibri"/>
                <a:cs typeface="Calibri"/>
              </a:rPr>
              <a:t>motivos</a:t>
            </a:r>
            <a:r>
              <a:rPr dirty="0" sz="2800" spc="-4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spc="-20">
                <a:solidFill>
                  <a:srgbClr val="4E3629"/>
                </a:solidFill>
                <a:latin typeface="Calibri"/>
                <a:cs typeface="Calibri"/>
              </a:rPr>
              <a:t>rendimiento,</a:t>
            </a:r>
            <a:r>
              <a:rPr dirty="0" sz="2800" spc="-35">
                <a:solidFill>
                  <a:srgbClr val="4E3629"/>
                </a:solidFill>
                <a:latin typeface="Calibri"/>
                <a:cs typeface="Calibri"/>
              </a:rPr>
              <a:t> </a:t>
            </a:r>
            <a:r>
              <a:rPr dirty="0" sz="2800">
                <a:solidFill>
                  <a:srgbClr val="4E3629"/>
                </a:solidFill>
                <a:latin typeface="Calibri"/>
                <a:cs typeface="Calibri"/>
              </a:rPr>
              <a:t>por</a:t>
            </a:r>
            <a:r>
              <a:rPr dirty="0" sz="2800" spc="-40">
                <a:solidFill>
                  <a:srgbClr val="4E3629"/>
                </a:solidFill>
                <a:latin typeface="Calibri"/>
                <a:cs typeface="Calibri"/>
              </a:rPr>
              <a:t> </a:t>
            </a:r>
            <a:r>
              <a:rPr dirty="0" sz="2800" spc="-10">
                <a:solidFill>
                  <a:srgbClr val="4E3629"/>
                </a:solidFill>
                <a:latin typeface="Calibri"/>
                <a:cs typeface="Calibri"/>
              </a:rPr>
              <a:t>ejemplo:</a:t>
            </a:r>
            <a:endParaRPr sz="2800">
              <a:latin typeface="Calibri"/>
              <a:cs typeface="Calibri"/>
            </a:endParaRPr>
          </a:p>
          <a:p>
            <a:pPr marL="355600">
              <a:lnSpc>
                <a:spcPct val="100000"/>
              </a:lnSpc>
              <a:spcBef>
                <a:spcPts val="80"/>
              </a:spcBef>
            </a:pPr>
            <a:r>
              <a:rPr dirty="0" sz="2400" spc="55">
                <a:solidFill>
                  <a:srgbClr val="D1350F"/>
                </a:solidFill>
                <a:latin typeface="Calibri"/>
                <a:cs typeface="Calibri"/>
              </a:rPr>
              <a:t>−</a:t>
            </a:r>
            <a:r>
              <a:rPr dirty="0" sz="2400" spc="55">
                <a:solidFill>
                  <a:srgbClr val="4E3629"/>
                </a:solidFill>
                <a:latin typeface="Calibri"/>
                <a:cs typeface="Calibri"/>
              </a:rPr>
              <a:t>Al</a:t>
            </a:r>
            <a:r>
              <a:rPr dirty="0" sz="2400" spc="-65">
                <a:solidFill>
                  <a:srgbClr val="4E3629"/>
                </a:solidFill>
                <a:latin typeface="Calibri"/>
                <a:cs typeface="Calibri"/>
              </a:rPr>
              <a:t> </a:t>
            </a:r>
            <a:r>
              <a:rPr dirty="0" sz="2400" spc="-10">
                <a:solidFill>
                  <a:srgbClr val="4E3629"/>
                </a:solidFill>
                <a:latin typeface="Calibri"/>
                <a:cs typeface="Calibri"/>
              </a:rPr>
              <a:t>cargar</a:t>
            </a:r>
            <a:r>
              <a:rPr dirty="0" sz="2400" spc="-60">
                <a:solidFill>
                  <a:srgbClr val="4E3629"/>
                </a:solidFill>
                <a:latin typeface="Calibri"/>
                <a:cs typeface="Calibri"/>
              </a:rPr>
              <a:t> </a:t>
            </a:r>
            <a:r>
              <a:rPr dirty="0" sz="2400">
                <a:solidFill>
                  <a:srgbClr val="4E3629"/>
                </a:solidFill>
                <a:latin typeface="Calibri"/>
                <a:cs typeface="Calibri"/>
              </a:rPr>
              <a:t>grandes</a:t>
            </a:r>
            <a:r>
              <a:rPr dirty="0" sz="2400" spc="-55">
                <a:solidFill>
                  <a:srgbClr val="4E3629"/>
                </a:solidFill>
                <a:latin typeface="Calibri"/>
                <a:cs typeface="Calibri"/>
              </a:rPr>
              <a:t> </a:t>
            </a:r>
            <a:r>
              <a:rPr dirty="0" sz="2400" spc="-10">
                <a:solidFill>
                  <a:srgbClr val="4E3629"/>
                </a:solidFill>
                <a:latin typeface="Calibri"/>
                <a:cs typeface="Calibri"/>
              </a:rPr>
              <a:t>cantidades</a:t>
            </a:r>
            <a:r>
              <a:rPr dirty="0" sz="2400" spc="-65">
                <a:solidFill>
                  <a:srgbClr val="4E3629"/>
                </a:solidFill>
                <a:latin typeface="Calibri"/>
                <a:cs typeface="Calibri"/>
              </a:rPr>
              <a:t> </a:t>
            </a:r>
            <a:r>
              <a:rPr dirty="0" sz="2400">
                <a:solidFill>
                  <a:srgbClr val="4E3629"/>
                </a:solidFill>
                <a:latin typeface="Calibri"/>
                <a:cs typeface="Calibri"/>
              </a:rPr>
              <a:t>de</a:t>
            </a:r>
            <a:r>
              <a:rPr dirty="0" sz="2400" spc="-45">
                <a:solidFill>
                  <a:srgbClr val="4E3629"/>
                </a:solidFill>
                <a:latin typeface="Calibri"/>
                <a:cs typeface="Calibri"/>
              </a:rPr>
              <a:t> </a:t>
            </a:r>
            <a:r>
              <a:rPr dirty="0" sz="2400">
                <a:solidFill>
                  <a:srgbClr val="4E3629"/>
                </a:solidFill>
                <a:latin typeface="Calibri"/>
                <a:cs typeface="Calibri"/>
              </a:rPr>
              <a:t>datos</a:t>
            </a:r>
            <a:r>
              <a:rPr dirty="0" sz="2400" spc="-55">
                <a:solidFill>
                  <a:srgbClr val="4E3629"/>
                </a:solidFill>
                <a:latin typeface="Calibri"/>
                <a:cs typeface="Calibri"/>
              </a:rPr>
              <a:t> </a:t>
            </a:r>
            <a:r>
              <a:rPr dirty="0" sz="2400">
                <a:solidFill>
                  <a:srgbClr val="4E3629"/>
                </a:solidFill>
                <a:latin typeface="Calibri"/>
                <a:cs typeface="Calibri"/>
              </a:rPr>
              <a:t>en</a:t>
            </a:r>
            <a:r>
              <a:rPr dirty="0" sz="2400" spc="-50">
                <a:solidFill>
                  <a:srgbClr val="4E3629"/>
                </a:solidFill>
                <a:latin typeface="Calibri"/>
                <a:cs typeface="Calibri"/>
              </a:rPr>
              <a:t> </a:t>
            </a:r>
            <a:r>
              <a:rPr dirty="0" sz="2400">
                <a:solidFill>
                  <a:srgbClr val="4E3629"/>
                </a:solidFill>
                <a:latin typeface="Calibri"/>
                <a:cs typeface="Calibri"/>
              </a:rPr>
              <a:t>una</a:t>
            </a:r>
            <a:r>
              <a:rPr dirty="0" sz="2400" spc="-40">
                <a:solidFill>
                  <a:srgbClr val="4E3629"/>
                </a:solidFill>
                <a:latin typeface="Calibri"/>
                <a:cs typeface="Calibri"/>
              </a:rPr>
              <a:t> </a:t>
            </a:r>
            <a:r>
              <a:rPr dirty="0" sz="2400" spc="-10">
                <a:solidFill>
                  <a:srgbClr val="4E3629"/>
                </a:solidFill>
                <a:latin typeface="Calibri"/>
                <a:cs typeface="Calibri"/>
              </a:rPr>
              <a:t>tabla</a:t>
            </a:r>
            <a:endParaRPr sz="2400">
              <a:latin typeface="Calibri"/>
              <a:cs typeface="Calibri"/>
            </a:endParaRPr>
          </a:p>
          <a:p>
            <a:pPr marL="530860" marR="100330" indent="-175260">
              <a:lnSpc>
                <a:spcPts val="2590"/>
              </a:lnSpc>
              <a:spcBef>
                <a:spcPts val="450"/>
              </a:spcBef>
            </a:pPr>
            <a:r>
              <a:rPr dirty="0" sz="2400" spc="55">
                <a:solidFill>
                  <a:srgbClr val="D1350F"/>
                </a:solidFill>
                <a:latin typeface="Calibri"/>
                <a:cs typeface="Calibri"/>
              </a:rPr>
              <a:t>−</a:t>
            </a:r>
            <a:r>
              <a:rPr dirty="0" sz="2400" spc="55">
                <a:solidFill>
                  <a:srgbClr val="4E3629"/>
                </a:solidFill>
                <a:latin typeface="Calibri"/>
                <a:cs typeface="Calibri"/>
              </a:rPr>
              <a:t>Al</a:t>
            </a:r>
            <a:r>
              <a:rPr dirty="0" sz="2400" spc="-65">
                <a:solidFill>
                  <a:srgbClr val="4E3629"/>
                </a:solidFill>
                <a:latin typeface="Calibri"/>
                <a:cs typeface="Calibri"/>
              </a:rPr>
              <a:t> </a:t>
            </a:r>
            <a:r>
              <a:rPr dirty="0" sz="2400">
                <a:solidFill>
                  <a:srgbClr val="4E3629"/>
                </a:solidFill>
                <a:latin typeface="Calibri"/>
                <a:cs typeface="Calibri"/>
              </a:rPr>
              <a:t>ejecutar</a:t>
            </a:r>
            <a:r>
              <a:rPr dirty="0" sz="2400" spc="-70">
                <a:solidFill>
                  <a:srgbClr val="4E3629"/>
                </a:solidFill>
                <a:latin typeface="Calibri"/>
                <a:cs typeface="Calibri"/>
              </a:rPr>
              <a:t> </a:t>
            </a:r>
            <a:r>
              <a:rPr dirty="0" sz="2400">
                <a:solidFill>
                  <a:srgbClr val="4E3629"/>
                </a:solidFill>
                <a:latin typeface="Calibri"/>
                <a:cs typeface="Calibri"/>
              </a:rPr>
              <a:t>operaciones</a:t>
            </a:r>
            <a:r>
              <a:rPr dirty="0" sz="2400" spc="-60">
                <a:solidFill>
                  <a:srgbClr val="4E3629"/>
                </a:solidFill>
                <a:latin typeface="Calibri"/>
                <a:cs typeface="Calibri"/>
              </a:rPr>
              <a:t> </a:t>
            </a:r>
            <a:r>
              <a:rPr dirty="0" sz="2400">
                <a:solidFill>
                  <a:srgbClr val="4E3629"/>
                </a:solidFill>
                <a:latin typeface="Calibri"/>
                <a:cs typeface="Calibri"/>
              </a:rPr>
              <a:t>por</a:t>
            </a:r>
            <a:r>
              <a:rPr dirty="0" sz="2400" spc="-50">
                <a:solidFill>
                  <a:srgbClr val="4E3629"/>
                </a:solidFill>
                <a:latin typeface="Calibri"/>
                <a:cs typeface="Calibri"/>
              </a:rPr>
              <a:t> </a:t>
            </a:r>
            <a:r>
              <a:rPr dirty="0" sz="2400">
                <a:solidFill>
                  <a:srgbClr val="4E3629"/>
                </a:solidFill>
                <a:latin typeface="Calibri"/>
                <a:cs typeface="Calibri"/>
              </a:rPr>
              <a:t>lotes</a:t>
            </a:r>
            <a:r>
              <a:rPr dirty="0" sz="2400" spc="-65">
                <a:solidFill>
                  <a:srgbClr val="4E3629"/>
                </a:solidFill>
                <a:latin typeface="Calibri"/>
                <a:cs typeface="Calibri"/>
              </a:rPr>
              <a:t> </a:t>
            </a:r>
            <a:r>
              <a:rPr dirty="0" sz="2400">
                <a:solidFill>
                  <a:srgbClr val="4E3629"/>
                </a:solidFill>
                <a:latin typeface="Calibri"/>
                <a:cs typeface="Calibri"/>
              </a:rPr>
              <a:t>que</a:t>
            </a:r>
            <a:r>
              <a:rPr dirty="0" sz="2400" spc="-35">
                <a:solidFill>
                  <a:srgbClr val="4E3629"/>
                </a:solidFill>
                <a:latin typeface="Calibri"/>
                <a:cs typeface="Calibri"/>
              </a:rPr>
              <a:t> </a:t>
            </a:r>
            <a:r>
              <a:rPr dirty="0" sz="2400" spc="-10">
                <a:solidFill>
                  <a:srgbClr val="4E3629"/>
                </a:solidFill>
                <a:latin typeface="Calibri"/>
                <a:cs typeface="Calibri"/>
              </a:rPr>
              <a:t>realizan</a:t>
            </a:r>
            <a:r>
              <a:rPr dirty="0" sz="2400" spc="-65">
                <a:solidFill>
                  <a:srgbClr val="4E3629"/>
                </a:solidFill>
                <a:latin typeface="Calibri"/>
                <a:cs typeface="Calibri"/>
              </a:rPr>
              <a:t> </a:t>
            </a:r>
            <a:r>
              <a:rPr dirty="0" sz="2400" spc="-10">
                <a:solidFill>
                  <a:srgbClr val="4E3629"/>
                </a:solidFill>
                <a:latin typeface="Calibri"/>
                <a:cs typeface="Calibri"/>
              </a:rPr>
              <a:t>cambios </a:t>
            </a:r>
            <a:r>
              <a:rPr dirty="0" sz="2400">
                <a:solidFill>
                  <a:srgbClr val="4E3629"/>
                </a:solidFill>
                <a:latin typeface="Calibri"/>
                <a:cs typeface="Calibri"/>
              </a:rPr>
              <a:t>masivos</a:t>
            </a:r>
            <a:r>
              <a:rPr dirty="0" sz="2400" spc="-55">
                <a:solidFill>
                  <a:srgbClr val="4E3629"/>
                </a:solidFill>
                <a:latin typeface="Calibri"/>
                <a:cs typeface="Calibri"/>
              </a:rPr>
              <a:t> </a:t>
            </a:r>
            <a:r>
              <a:rPr dirty="0" sz="2400">
                <a:solidFill>
                  <a:srgbClr val="4E3629"/>
                </a:solidFill>
                <a:latin typeface="Calibri"/>
                <a:cs typeface="Calibri"/>
              </a:rPr>
              <a:t>en</a:t>
            </a:r>
            <a:r>
              <a:rPr dirty="0" sz="2400" spc="-50">
                <a:solidFill>
                  <a:srgbClr val="4E3629"/>
                </a:solidFill>
                <a:latin typeface="Calibri"/>
                <a:cs typeface="Calibri"/>
              </a:rPr>
              <a:t> </a:t>
            </a:r>
            <a:r>
              <a:rPr dirty="0" sz="2400">
                <a:solidFill>
                  <a:srgbClr val="4E3629"/>
                </a:solidFill>
                <a:latin typeface="Calibri"/>
                <a:cs typeface="Calibri"/>
              </a:rPr>
              <a:t>una</a:t>
            </a:r>
            <a:r>
              <a:rPr dirty="0" sz="2400" spc="-50">
                <a:solidFill>
                  <a:srgbClr val="4E3629"/>
                </a:solidFill>
                <a:latin typeface="Calibri"/>
                <a:cs typeface="Calibri"/>
              </a:rPr>
              <a:t> </a:t>
            </a:r>
            <a:r>
              <a:rPr dirty="0" sz="2400">
                <a:solidFill>
                  <a:srgbClr val="4E3629"/>
                </a:solidFill>
                <a:latin typeface="Calibri"/>
                <a:cs typeface="Calibri"/>
              </a:rPr>
              <a:t>tabla</a:t>
            </a:r>
            <a:r>
              <a:rPr dirty="0" sz="2400" spc="-55">
                <a:solidFill>
                  <a:srgbClr val="4E3629"/>
                </a:solidFill>
                <a:latin typeface="Calibri"/>
                <a:cs typeface="Calibri"/>
              </a:rPr>
              <a:t> </a:t>
            </a:r>
            <a:r>
              <a:rPr dirty="0" sz="2400">
                <a:solidFill>
                  <a:srgbClr val="4E3629"/>
                </a:solidFill>
                <a:latin typeface="Calibri"/>
                <a:cs typeface="Calibri"/>
              </a:rPr>
              <a:t>(como</a:t>
            </a:r>
            <a:r>
              <a:rPr dirty="0" sz="2400" spc="-70">
                <a:solidFill>
                  <a:srgbClr val="4E3629"/>
                </a:solidFill>
                <a:latin typeface="Calibri"/>
                <a:cs typeface="Calibri"/>
              </a:rPr>
              <a:t> </a:t>
            </a:r>
            <a:r>
              <a:rPr dirty="0" sz="2400">
                <a:solidFill>
                  <a:srgbClr val="4E3629"/>
                </a:solidFill>
                <a:latin typeface="Calibri"/>
                <a:cs typeface="Calibri"/>
              </a:rPr>
              <a:t>puede</a:t>
            </a:r>
            <a:r>
              <a:rPr dirty="0" sz="2400" spc="-45">
                <a:solidFill>
                  <a:srgbClr val="4E3629"/>
                </a:solidFill>
                <a:latin typeface="Calibri"/>
                <a:cs typeface="Calibri"/>
              </a:rPr>
              <a:t> </a:t>
            </a:r>
            <a:r>
              <a:rPr dirty="0" sz="2400">
                <a:solidFill>
                  <a:srgbClr val="4E3629"/>
                </a:solidFill>
                <a:latin typeface="Calibri"/>
                <a:cs typeface="Calibri"/>
              </a:rPr>
              <a:t>ser</a:t>
            </a:r>
            <a:r>
              <a:rPr dirty="0" sz="2400" spc="-45">
                <a:solidFill>
                  <a:srgbClr val="4E3629"/>
                </a:solidFill>
                <a:latin typeface="Calibri"/>
                <a:cs typeface="Calibri"/>
              </a:rPr>
              <a:t> </a:t>
            </a:r>
            <a:r>
              <a:rPr dirty="0" sz="2400">
                <a:solidFill>
                  <a:srgbClr val="4E3629"/>
                </a:solidFill>
                <a:latin typeface="Calibri"/>
                <a:cs typeface="Calibri"/>
              </a:rPr>
              <a:t>cambiar</a:t>
            </a:r>
            <a:r>
              <a:rPr dirty="0" sz="2400" spc="-65">
                <a:solidFill>
                  <a:srgbClr val="4E3629"/>
                </a:solidFill>
                <a:latin typeface="Calibri"/>
                <a:cs typeface="Calibri"/>
              </a:rPr>
              <a:t> </a:t>
            </a:r>
            <a:r>
              <a:rPr dirty="0" sz="2400">
                <a:solidFill>
                  <a:srgbClr val="4E3629"/>
                </a:solidFill>
                <a:latin typeface="Calibri"/>
                <a:cs typeface="Calibri"/>
              </a:rPr>
              <a:t>el</a:t>
            </a:r>
            <a:r>
              <a:rPr dirty="0" sz="2400" spc="-50">
                <a:solidFill>
                  <a:srgbClr val="4E3629"/>
                </a:solidFill>
                <a:latin typeface="Calibri"/>
                <a:cs typeface="Calibri"/>
              </a:rPr>
              <a:t> </a:t>
            </a:r>
            <a:r>
              <a:rPr dirty="0" sz="2400">
                <a:solidFill>
                  <a:srgbClr val="4E3629"/>
                </a:solidFill>
                <a:latin typeface="Calibri"/>
                <a:cs typeface="Calibri"/>
              </a:rPr>
              <a:t>número</a:t>
            </a:r>
            <a:r>
              <a:rPr dirty="0" sz="2400" spc="-65">
                <a:solidFill>
                  <a:srgbClr val="4E3629"/>
                </a:solidFill>
                <a:latin typeface="Calibri"/>
                <a:cs typeface="Calibri"/>
              </a:rPr>
              <a:t> </a:t>
            </a:r>
            <a:r>
              <a:rPr dirty="0" sz="2400" spc="-25">
                <a:solidFill>
                  <a:srgbClr val="4E3629"/>
                </a:solidFill>
                <a:latin typeface="Calibri"/>
                <a:cs typeface="Calibri"/>
              </a:rPr>
              <a:t>de </a:t>
            </a:r>
            <a:r>
              <a:rPr dirty="0" sz="2400">
                <a:solidFill>
                  <a:srgbClr val="4E3629"/>
                </a:solidFill>
                <a:latin typeface="Calibri"/>
                <a:cs typeface="Calibri"/>
              </a:rPr>
              <a:t>empleado</a:t>
            </a:r>
            <a:r>
              <a:rPr dirty="0" sz="2400" spc="-70">
                <a:solidFill>
                  <a:srgbClr val="4E3629"/>
                </a:solidFill>
                <a:latin typeface="Calibri"/>
                <a:cs typeface="Calibri"/>
              </a:rPr>
              <a:t> </a:t>
            </a:r>
            <a:r>
              <a:rPr dirty="0" sz="2400">
                <a:solidFill>
                  <a:srgbClr val="4E3629"/>
                </a:solidFill>
                <a:latin typeface="Calibri"/>
                <a:cs typeface="Calibri"/>
              </a:rPr>
              <a:t>de</a:t>
            </a:r>
            <a:r>
              <a:rPr dirty="0" sz="2400" spc="-40">
                <a:solidFill>
                  <a:srgbClr val="4E3629"/>
                </a:solidFill>
                <a:latin typeface="Calibri"/>
                <a:cs typeface="Calibri"/>
              </a:rPr>
              <a:t> </a:t>
            </a:r>
            <a:r>
              <a:rPr dirty="0" sz="2400">
                <a:solidFill>
                  <a:srgbClr val="4E3629"/>
                </a:solidFill>
                <a:latin typeface="Calibri"/>
                <a:cs typeface="Calibri"/>
              </a:rPr>
              <a:t>todas</a:t>
            </a:r>
            <a:r>
              <a:rPr dirty="0" sz="2400" spc="-55">
                <a:solidFill>
                  <a:srgbClr val="4E3629"/>
                </a:solidFill>
                <a:latin typeface="Calibri"/>
                <a:cs typeface="Calibri"/>
              </a:rPr>
              <a:t> </a:t>
            </a:r>
            <a:r>
              <a:rPr dirty="0" sz="2400">
                <a:solidFill>
                  <a:srgbClr val="4E3629"/>
                </a:solidFill>
                <a:latin typeface="Calibri"/>
                <a:cs typeface="Calibri"/>
              </a:rPr>
              <a:t>las</a:t>
            </a:r>
            <a:r>
              <a:rPr dirty="0" sz="2400" spc="-50">
                <a:solidFill>
                  <a:srgbClr val="4E3629"/>
                </a:solidFill>
                <a:latin typeface="Calibri"/>
                <a:cs typeface="Calibri"/>
              </a:rPr>
              <a:t> </a:t>
            </a:r>
            <a:r>
              <a:rPr dirty="0" sz="2400">
                <a:solidFill>
                  <a:srgbClr val="4E3629"/>
                </a:solidFill>
                <a:latin typeface="Calibri"/>
                <a:cs typeface="Calibri"/>
              </a:rPr>
              <a:t>personas</a:t>
            </a:r>
            <a:r>
              <a:rPr dirty="0" sz="2400" spc="-50">
                <a:solidFill>
                  <a:srgbClr val="4E3629"/>
                </a:solidFill>
                <a:latin typeface="Calibri"/>
                <a:cs typeface="Calibri"/>
              </a:rPr>
              <a:t> </a:t>
            </a:r>
            <a:r>
              <a:rPr dirty="0" sz="2400" spc="-10">
                <a:solidFill>
                  <a:srgbClr val="4E3629"/>
                </a:solidFill>
                <a:latin typeface="Calibri"/>
                <a:cs typeface="Calibri"/>
              </a:rPr>
              <a:t>agregando</a:t>
            </a:r>
            <a:r>
              <a:rPr dirty="0" sz="2400" spc="-55">
                <a:solidFill>
                  <a:srgbClr val="4E3629"/>
                </a:solidFill>
                <a:latin typeface="Calibri"/>
                <a:cs typeface="Calibri"/>
              </a:rPr>
              <a:t> </a:t>
            </a:r>
            <a:r>
              <a:rPr dirty="0" sz="2400">
                <a:solidFill>
                  <a:srgbClr val="4E3629"/>
                </a:solidFill>
                <a:latin typeface="Calibri"/>
                <a:cs typeface="Calibri"/>
              </a:rPr>
              <a:t>1.000</a:t>
            </a:r>
            <a:r>
              <a:rPr dirty="0" sz="2400" spc="-50">
                <a:solidFill>
                  <a:srgbClr val="4E3629"/>
                </a:solidFill>
                <a:latin typeface="Calibri"/>
                <a:cs typeface="Calibri"/>
              </a:rPr>
              <a:t> </a:t>
            </a:r>
            <a:r>
              <a:rPr dirty="0" sz="2400">
                <a:solidFill>
                  <a:srgbClr val="4E3629"/>
                </a:solidFill>
                <a:latin typeface="Calibri"/>
                <a:cs typeface="Calibri"/>
              </a:rPr>
              <a:t>al</a:t>
            </a:r>
            <a:r>
              <a:rPr dirty="0" sz="2400" spc="-60">
                <a:solidFill>
                  <a:srgbClr val="4E3629"/>
                </a:solidFill>
                <a:latin typeface="Calibri"/>
                <a:cs typeface="Calibri"/>
              </a:rPr>
              <a:t> </a:t>
            </a:r>
            <a:r>
              <a:rPr dirty="0" sz="2400" spc="-10">
                <a:solidFill>
                  <a:srgbClr val="4E3629"/>
                </a:solidFill>
                <a:latin typeface="Calibri"/>
                <a:cs typeface="Calibri"/>
              </a:rPr>
              <a:t>número existente)</a:t>
            </a:r>
            <a:endParaRPr sz="240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E0E2E1"/>
          </a:solidFill>
        </p:spPr>
        <p:txBody>
          <a:bodyPr wrap="square" lIns="0" tIns="0" rIns="0" bIns="0" rtlCol="0"/>
          <a:lstStyle/>
          <a:p/>
        </p:txBody>
      </p:sp>
      <p:sp>
        <p:nvSpPr>
          <p:cNvPr id="3" name="object 3" descr=""/>
          <p:cNvSpPr/>
          <p:nvPr/>
        </p:nvSpPr>
        <p:spPr>
          <a:xfrm>
            <a:off x="4411418" y="2720810"/>
            <a:ext cx="3410585" cy="380365"/>
          </a:xfrm>
          <a:custGeom>
            <a:avLst/>
            <a:gdLst/>
            <a:ahLst/>
            <a:cxnLst/>
            <a:rect l="l" t="t" r="r" b="b"/>
            <a:pathLst>
              <a:path w="3410584" h="380364">
                <a:moveTo>
                  <a:pt x="3315529" y="0"/>
                </a:moveTo>
                <a:lnTo>
                  <a:pt x="95022" y="0"/>
                </a:lnTo>
                <a:lnTo>
                  <a:pt x="66895" y="10642"/>
                </a:lnTo>
                <a:lnTo>
                  <a:pt x="41049" y="39529"/>
                </a:lnTo>
                <a:lnTo>
                  <a:pt x="19764" y="82099"/>
                </a:lnTo>
                <a:lnTo>
                  <a:pt x="5321" y="133791"/>
                </a:lnTo>
                <a:lnTo>
                  <a:pt x="0" y="190044"/>
                </a:lnTo>
                <a:lnTo>
                  <a:pt x="5321" y="246298"/>
                </a:lnTo>
                <a:lnTo>
                  <a:pt x="19764" y="297990"/>
                </a:lnTo>
                <a:lnTo>
                  <a:pt x="41049" y="340560"/>
                </a:lnTo>
                <a:lnTo>
                  <a:pt x="66895" y="369447"/>
                </a:lnTo>
                <a:lnTo>
                  <a:pt x="95022" y="380089"/>
                </a:lnTo>
                <a:lnTo>
                  <a:pt x="3315529" y="380089"/>
                </a:lnTo>
                <a:lnTo>
                  <a:pt x="3369502" y="340560"/>
                </a:lnTo>
                <a:lnTo>
                  <a:pt x="3390787" y="297990"/>
                </a:lnTo>
                <a:lnTo>
                  <a:pt x="3405230" y="246298"/>
                </a:lnTo>
                <a:lnTo>
                  <a:pt x="3410551" y="190044"/>
                </a:lnTo>
                <a:lnTo>
                  <a:pt x="3405230" y="133791"/>
                </a:lnTo>
                <a:lnTo>
                  <a:pt x="3390787" y="82099"/>
                </a:lnTo>
                <a:lnTo>
                  <a:pt x="3369502" y="39529"/>
                </a:lnTo>
                <a:lnTo>
                  <a:pt x="3343656" y="10642"/>
                </a:lnTo>
                <a:lnTo>
                  <a:pt x="3315529" y="0"/>
                </a:lnTo>
                <a:close/>
              </a:path>
            </a:pathLst>
          </a:custGeom>
          <a:solidFill>
            <a:srgbClr val="FACD5A"/>
          </a:solidFill>
        </p:spPr>
        <p:txBody>
          <a:bodyPr wrap="square" lIns="0" tIns="0" rIns="0" bIns="0" rtlCol="0"/>
          <a:lstStyle/>
          <a:p/>
        </p:txBody>
      </p:sp>
      <p:sp>
        <p:nvSpPr>
          <p:cNvPr id="4" name="object 4" descr=""/>
          <p:cNvSpPr/>
          <p:nvPr/>
        </p:nvSpPr>
        <p:spPr>
          <a:xfrm>
            <a:off x="1113607" y="2720810"/>
            <a:ext cx="2971800" cy="380365"/>
          </a:xfrm>
          <a:custGeom>
            <a:avLst/>
            <a:gdLst/>
            <a:ahLst/>
            <a:cxnLst/>
            <a:rect l="l" t="t" r="r" b="b"/>
            <a:pathLst>
              <a:path w="2971800" h="380364">
                <a:moveTo>
                  <a:pt x="2876564" y="0"/>
                </a:moveTo>
                <a:lnTo>
                  <a:pt x="95022" y="0"/>
                </a:lnTo>
                <a:lnTo>
                  <a:pt x="66895" y="10642"/>
                </a:lnTo>
                <a:lnTo>
                  <a:pt x="41049" y="39529"/>
                </a:lnTo>
                <a:lnTo>
                  <a:pt x="19764" y="82099"/>
                </a:lnTo>
                <a:lnTo>
                  <a:pt x="5321" y="133791"/>
                </a:lnTo>
                <a:lnTo>
                  <a:pt x="0" y="190044"/>
                </a:lnTo>
                <a:lnTo>
                  <a:pt x="5321" y="246298"/>
                </a:lnTo>
                <a:lnTo>
                  <a:pt x="19764" y="297990"/>
                </a:lnTo>
                <a:lnTo>
                  <a:pt x="41049" y="340560"/>
                </a:lnTo>
                <a:lnTo>
                  <a:pt x="66895" y="369447"/>
                </a:lnTo>
                <a:lnTo>
                  <a:pt x="95022" y="380089"/>
                </a:lnTo>
                <a:lnTo>
                  <a:pt x="2876564" y="380089"/>
                </a:lnTo>
                <a:lnTo>
                  <a:pt x="2930537" y="340560"/>
                </a:lnTo>
                <a:lnTo>
                  <a:pt x="2951822" y="297990"/>
                </a:lnTo>
                <a:lnTo>
                  <a:pt x="2966266" y="246298"/>
                </a:lnTo>
                <a:lnTo>
                  <a:pt x="2971587" y="190044"/>
                </a:lnTo>
                <a:lnTo>
                  <a:pt x="2966266" y="133791"/>
                </a:lnTo>
                <a:lnTo>
                  <a:pt x="2951822" y="82099"/>
                </a:lnTo>
                <a:lnTo>
                  <a:pt x="2930537" y="39529"/>
                </a:lnTo>
                <a:lnTo>
                  <a:pt x="2904691" y="10642"/>
                </a:lnTo>
                <a:lnTo>
                  <a:pt x="2876564" y="0"/>
                </a:lnTo>
                <a:close/>
              </a:path>
            </a:pathLst>
          </a:custGeom>
          <a:solidFill>
            <a:srgbClr val="FACD5A"/>
          </a:solidFill>
        </p:spPr>
        <p:txBody>
          <a:bodyPr wrap="square" lIns="0" tIns="0" rIns="0" bIns="0" rtlCol="0"/>
          <a:lstStyle/>
          <a:p/>
        </p:txBody>
      </p:sp>
      <p:pic>
        <p:nvPicPr>
          <p:cNvPr id="5" name="object 5" descr=""/>
          <p:cNvPicPr/>
          <p:nvPr/>
        </p:nvPicPr>
        <p:blipFill>
          <a:blip r:embed="rId2" cstate="print"/>
          <a:stretch>
            <a:fillRect/>
          </a:stretch>
        </p:blipFill>
        <p:spPr>
          <a:xfrm>
            <a:off x="0" y="0"/>
            <a:ext cx="9144000" cy="254507"/>
          </a:xfrm>
          <a:prstGeom prst="rect">
            <a:avLst/>
          </a:prstGeom>
        </p:spPr>
      </p:pic>
      <p:pic>
        <p:nvPicPr>
          <p:cNvPr id="6" name="object 6" descr=""/>
          <p:cNvPicPr/>
          <p:nvPr/>
        </p:nvPicPr>
        <p:blipFill>
          <a:blip r:embed="rId3" cstate="print"/>
          <a:stretch>
            <a:fillRect/>
          </a:stretch>
        </p:blipFill>
        <p:spPr>
          <a:xfrm>
            <a:off x="405384" y="6178295"/>
            <a:ext cx="1258824" cy="420624"/>
          </a:xfrm>
          <a:prstGeom prst="rect">
            <a:avLst/>
          </a:prstGeom>
        </p:spPr>
      </p:pic>
      <p:sp>
        <p:nvSpPr>
          <p:cNvPr id="7" name="object 7"/>
          <p:cNvSpPr txBox="1">
            <a:spLocks noGrp="1"/>
          </p:cNvSpPr>
          <p:nvPr>
            <p:ph type="title"/>
          </p:nvPr>
        </p:nvSpPr>
        <p:spPr>
          <a:xfrm>
            <a:off x="392112" y="748031"/>
            <a:ext cx="4251960" cy="528320"/>
          </a:xfrm>
          <a:prstGeom prst="rect"/>
        </p:spPr>
        <p:txBody>
          <a:bodyPr wrap="square" lIns="0" tIns="12700" rIns="0" bIns="0" rtlCol="0" vert="horz">
            <a:spAutoFit/>
          </a:bodyPr>
          <a:lstStyle/>
          <a:p>
            <a:pPr marL="12700">
              <a:lnSpc>
                <a:spcPct val="100000"/>
              </a:lnSpc>
              <a:spcBef>
                <a:spcPts val="100"/>
              </a:spcBef>
            </a:pPr>
            <a:r>
              <a:rPr dirty="0"/>
              <a:t>Borrado</a:t>
            </a:r>
            <a:r>
              <a:rPr dirty="0" spc="-80"/>
              <a:t> </a:t>
            </a:r>
            <a:r>
              <a:rPr dirty="0"/>
              <a:t>de</a:t>
            </a:r>
            <a:r>
              <a:rPr dirty="0" spc="-65"/>
              <a:t> </a:t>
            </a:r>
            <a:r>
              <a:rPr dirty="0" spc="-10"/>
              <a:t>Restricciones</a:t>
            </a:r>
          </a:p>
        </p:txBody>
      </p:sp>
      <p:sp>
        <p:nvSpPr>
          <p:cNvPr id="9" name="object 9"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3</a:t>
            </a:r>
          </a:p>
          <a:p>
            <a:pPr marL="12700">
              <a:lnSpc>
                <a:spcPts val="965"/>
              </a:lnSpc>
            </a:pPr>
            <a:r>
              <a:rPr dirty="0"/>
              <a:t>Gestión</a:t>
            </a:r>
            <a:r>
              <a:rPr dirty="0" spc="-20"/>
              <a:t> </a:t>
            </a:r>
            <a:r>
              <a:rPr dirty="0"/>
              <a:t>de</a:t>
            </a:r>
            <a:r>
              <a:rPr dirty="0" spc="-40"/>
              <a:t> </a:t>
            </a:r>
            <a:r>
              <a:rPr dirty="0" spc="-10"/>
              <a:t>Restricciones</a:t>
            </a:r>
          </a:p>
        </p:txBody>
      </p:sp>
      <p:sp>
        <p:nvSpPr>
          <p:cNvPr id="10" name="object 10"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14</a:t>
            </a:r>
          </a:p>
        </p:txBody>
      </p:sp>
      <p:sp>
        <p:nvSpPr>
          <p:cNvPr id="11" name="object 11"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8" name="object 8" descr=""/>
          <p:cNvSpPr txBox="1"/>
          <p:nvPr/>
        </p:nvSpPr>
        <p:spPr>
          <a:xfrm>
            <a:off x="483552" y="1415417"/>
            <a:ext cx="8140700" cy="4213225"/>
          </a:xfrm>
          <a:prstGeom prst="rect">
            <a:avLst/>
          </a:prstGeom>
        </p:spPr>
        <p:txBody>
          <a:bodyPr wrap="square" lIns="0" tIns="59690" rIns="0" bIns="0" rtlCol="0" vert="horz">
            <a:spAutoFit/>
          </a:bodyPr>
          <a:lstStyle/>
          <a:p>
            <a:pPr marL="182880" marR="329565" indent="-170815">
              <a:lnSpc>
                <a:spcPts val="3030"/>
              </a:lnSpc>
              <a:spcBef>
                <a:spcPts val="470"/>
              </a:spcBef>
              <a:buClr>
                <a:srgbClr val="D1350F"/>
              </a:buClr>
              <a:buFont typeface="Arial MT"/>
              <a:buChar char="•"/>
              <a:tabLst>
                <a:tab pos="184785" algn="l"/>
              </a:tabLst>
            </a:pPr>
            <a:r>
              <a:rPr dirty="0" sz="2800" spc="-10">
                <a:solidFill>
                  <a:srgbClr val="4E3629"/>
                </a:solidFill>
                <a:latin typeface="Calibri"/>
                <a:cs typeface="Calibri"/>
              </a:rPr>
              <a:t>Para</a:t>
            </a:r>
            <a:r>
              <a:rPr dirty="0" sz="2800" spc="-75">
                <a:solidFill>
                  <a:srgbClr val="4E3629"/>
                </a:solidFill>
                <a:latin typeface="Calibri"/>
                <a:cs typeface="Calibri"/>
              </a:rPr>
              <a:t> </a:t>
            </a:r>
            <a:r>
              <a:rPr dirty="0" sz="2800">
                <a:solidFill>
                  <a:srgbClr val="4E3629"/>
                </a:solidFill>
                <a:latin typeface="Calibri"/>
                <a:cs typeface="Calibri"/>
              </a:rPr>
              <a:t>borrar</a:t>
            </a:r>
            <a:r>
              <a:rPr dirty="0" sz="2800" spc="-50">
                <a:solidFill>
                  <a:srgbClr val="4E3629"/>
                </a:solidFill>
                <a:latin typeface="Calibri"/>
                <a:cs typeface="Calibri"/>
              </a:rPr>
              <a:t> </a:t>
            </a:r>
            <a:r>
              <a:rPr dirty="0" sz="2800">
                <a:solidFill>
                  <a:srgbClr val="4E3629"/>
                </a:solidFill>
                <a:latin typeface="Calibri"/>
                <a:cs typeface="Calibri"/>
              </a:rPr>
              <a:t>una</a:t>
            </a:r>
            <a:r>
              <a:rPr dirty="0" sz="2800" spc="-65">
                <a:solidFill>
                  <a:srgbClr val="4E3629"/>
                </a:solidFill>
                <a:latin typeface="Calibri"/>
                <a:cs typeface="Calibri"/>
              </a:rPr>
              <a:t> </a:t>
            </a:r>
            <a:r>
              <a:rPr dirty="0" sz="2800" spc="-10">
                <a:solidFill>
                  <a:srgbClr val="4E3629"/>
                </a:solidFill>
                <a:latin typeface="Calibri"/>
                <a:cs typeface="Calibri"/>
              </a:rPr>
              <a:t>restricción,</a:t>
            </a:r>
            <a:r>
              <a:rPr dirty="0" sz="2800" spc="-45">
                <a:solidFill>
                  <a:srgbClr val="4E3629"/>
                </a:solidFill>
                <a:latin typeface="Calibri"/>
                <a:cs typeface="Calibri"/>
              </a:rPr>
              <a:t> </a:t>
            </a:r>
            <a:r>
              <a:rPr dirty="0" sz="2800">
                <a:solidFill>
                  <a:srgbClr val="4E3629"/>
                </a:solidFill>
                <a:latin typeface="Calibri"/>
                <a:cs typeface="Calibri"/>
              </a:rPr>
              <a:t>debe</a:t>
            </a:r>
            <a:r>
              <a:rPr dirty="0" sz="2800" spc="-65">
                <a:solidFill>
                  <a:srgbClr val="4E3629"/>
                </a:solidFill>
                <a:latin typeface="Calibri"/>
                <a:cs typeface="Calibri"/>
              </a:rPr>
              <a:t> </a:t>
            </a:r>
            <a:r>
              <a:rPr dirty="0" sz="2800">
                <a:solidFill>
                  <a:srgbClr val="4E3629"/>
                </a:solidFill>
                <a:latin typeface="Calibri"/>
                <a:cs typeface="Calibri"/>
              </a:rPr>
              <a:t>saber</a:t>
            </a:r>
            <a:r>
              <a:rPr dirty="0" sz="2800" spc="-65">
                <a:solidFill>
                  <a:srgbClr val="4E3629"/>
                </a:solidFill>
                <a:latin typeface="Calibri"/>
                <a:cs typeface="Calibri"/>
              </a:rPr>
              <a:t> </a:t>
            </a:r>
            <a:r>
              <a:rPr dirty="0" sz="2800">
                <a:solidFill>
                  <a:srgbClr val="4E3629"/>
                </a:solidFill>
                <a:latin typeface="Calibri"/>
                <a:cs typeface="Calibri"/>
              </a:rPr>
              <a:t>el</a:t>
            </a:r>
            <a:r>
              <a:rPr dirty="0" sz="2800" spc="-80">
                <a:solidFill>
                  <a:srgbClr val="4E3629"/>
                </a:solidFill>
                <a:latin typeface="Calibri"/>
                <a:cs typeface="Calibri"/>
              </a:rPr>
              <a:t> </a:t>
            </a:r>
            <a:r>
              <a:rPr dirty="0" sz="2800">
                <a:solidFill>
                  <a:srgbClr val="4E3629"/>
                </a:solidFill>
                <a:latin typeface="Calibri"/>
                <a:cs typeface="Calibri"/>
              </a:rPr>
              <a:t>nombre</a:t>
            </a:r>
            <a:r>
              <a:rPr dirty="0" sz="2800" spc="-5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la</a:t>
            </a:r>
            <a:r>
              <a:rPr dirty="0" sz="2800" spc="-15">
                <a:solidFill>
                  <a:srgbClr val="4E3629"/>
                </a:solidFill>
                <a:latin typeface="Calibri"/>
                <a:cs typeface="Calibri"/>
              </a:rPr>
              <a:t> </a:t>
            </a:r>
            <a:r>
              <a:rPr dirty="0" sz="2800" spc="-10">
                <a:solidFill>
                  <a:srgbClr val="4E3629"/>
                </a:solidFill>
                <a:latin typeface="Calibri"/>
                <a:cs typeface="Calibri"/>
              </a:rPr>
              <a:t>restricción</a:t>
            </a:r>
            <a:endParaRPr sz="2800">
              <a:latin typeface="Calibri"/>
              <a:cs typeface="Calibri"/>
            </a:endParaRPr>
          </a:p>
          <a:p>
            <a:pPr marL="182880" marR="508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Si</a:t>
            </a:r>
            <a:r>
              <a:rPr dirty="0" sz="2800" spc="-45">
                <a:solidFill>
                  <a:srgbClr val="4E3629"/>
                </a:solidFill>
                <a:latin typeface="Calibri"/>
                <a:cs typeface="Calibri"/>
              </a:rPr>
              <a:t> </a:t>
            </a:r>
            <a:r>
              <a:rPr dirty="0" sz="2800">
                <a:solidFill>
                  <a:srgbClr val="4E3629"/>
                </a:solidFill>
                <a:latin typeface="Calibri"/>
                <a:cs typeface="Calibri"/>
              </a:rPr>
              <a:t>no</a:t>
            </a:r>
            <a:r>
              <a:rPr dirty="0" sz="2800" spc="-45">
                <a:solidFill>
                  <a:srgbClr val="4E3629"/>
                </a:solidFill>
                <a:latin typeface="Calibri"/>
                <a:cs typeface="Calibri"/>
              </a:rPr>
              <a:t> </a:t>
            </a:r>
            <a:r>
              <a:rPr dirty="0" sz="2800">
                <a:solidFill>
                  <a:srgbClr val="4E3629"/>
                </a:solidFill>
                <a:latin typeface="Calibri"/>
                <a:cs typeface="Calibri"/>
              </a:rPr>
              <a:t>lo</a:t>
            </a:r>
            <a:r>
              <a:rPr dirty="0" sz="2800" spc="-35">
                <a:solidFill>
                  <a:srgbClr val="4E3629"/>
                </a:solidFill>
                <a:latin typeface="Calibri"/>
                <a:cs typeface="Calibri"/>
              </a:rPr>
              <a:t> </a:t>
            </a:r>
            <a:r>
              <a:rPr dirty="0" sz="2800">
                <a:solidFill>
                  <a:srgbClr val="4E3629"/>
                </a:solidFill>
                <a:latin typeface="Calibri"/>
                <a:cs typeface="Calibri"/>
              </a:rPr>
              <a:t>sabe,</a:t>
            </a:r>
            <a:r>
              <a:rPr dirty="0" sz="2800" spc="-35">
                <a:solidFill>
                  <a:srgbClr val="4E3629"/>
                </a:solidFill>
                <a:latin typeface="Calibri"/>
                <a:cs typeface="Calibri"/>
              </a:rPr>
              <a:t> </a:t>
            </a:r>
            <a:r>
              <a:rPr dirty="0" sz="2800">
                <a:solidFill>
                  <a:srgbClr val="4E3629"/>
                </a:solidFill>
                <a:latin typeface="Calibri"/>
                <a:cs typeface="Calibri"/>
              </a:rPr>
              <a:t>puede</a:t>
            </a:r>
            <a:r>
              <a:rPr dirty="0" sz="2800" spc="-25">
                <a:solidFill>
                  <a:srgbClr val="4E3629"/>
                </a:solidFill>
                <a:latin typeface="Calibri"/>
                <a:cs typeface="Calibri"/>
              </a:rPr>
              <a:t> </a:t>
            </a:r>
            <a:r>
              <a:rPr dirty="0" sz="2800">
                <a:solidFill>
                  <a:srgbClr val="4E3629"/>
                </a:solidFill>
                <a:latin typeface="Calibri"/>
                <a:cs typeface="Calibri"/>
              </a:rPr>
              <a:t>buscar</a:t>
            </a:r>
            <a:r>
              <a:rPr dirty="0" sz="2800" spc="-25">
                <a:solidFill>
                  <a:srgbClr val="4E3629"/>
                </a:solidFill>
                <a:latin typeface="Calibri"/>
                <a:cs typeface="Calibri"/>
              </a:rPr>
              <a:t> </a:t>
            </a:r>
            <a:r>
              <a:rPr dirty="0" sz="2800">
                <a:solidFill>
                  <a:srgbClr val="4E3629"/>
                </a:solidFill>
                <a:latin typeface="Calibri"/>
                <a:cs typeface="Calibri"/>
              </a:rPr>
              <a:t>el</a:t>
            </a:r>
            <a:r>
              <a:rPr dirty="0" sz="2800" spc="-55">
                <a:solidFill>
                  <a:srgbClr val="4E3629"/>
                </a:solidFill>
                <a:latin typeface="Calibri"/>
                <a:cs typeface="Calibri"/>
              </a:rPr>
              <a:t> </a:t>
            </a:r>
            <a:r>
              <a:rPr dirty="0" sz="2800">
                <a:solidFill>
                  <a:srgbClr val="4E3629"/>
                </a:solidFill>
                <a:latin typeface="Calibri"/>
                <a:cs typeface="Calibri"/>
              </a:rPr>
              <a:t>nombre</a:t>
            </a:r>
            <a:r>
              <a:rPr dirty="0" sz="2800" spc="-25">
                <a:solidFill>
                  <a:srgbClr val="4E3629"/>
                </a:solidFill>
                <a:latin typeface="Calibri"/>
                <a:cs typeface="Calibri"/>
              </a:rPr>
              <a:t> </a:t>
            </a:r>
            <a:r>
              <a:rPr dirty="0" sz="2800">
                <a:solidFill>
                  <a:srgbClr val="4E3629"/>
                </a:solidFill>
                <a:latin typeface="Calibri"/>
                <a:cs typeface="Calibri"/>
              </a:rPr>
              <a:t>de</a:t>
            </a:r>
            <a:r>
              <a:rPr dirty="0" sz="2800" spc="-30">
                <a:solidFill>
                  <a:srgbClr val="4E3629"/>
                </a:solidFill>
                <a:latin typeface="Calibri"/>
                <a:cs typeface="Calibri"/>
              </a:rPr>
              <a:t> </a:t>
            </a:r>
            <a:r>
              <a:rPr dirty="0" sz="2800">
                <a:solidFill>
                  <a:srgbClr val="4E3629"/>
                </a:solidFill>
                <a:latin typeface="Calibri"/>
                <a:cs typeface="Calibri"/>
              </a:rPr>
              <a:t>la</a:t>
            </a:r>
            <a:r>
              <a:rPr dirty="0" sz="2800" spc="-45">
                <a:solidFill>
                  <a:srgbClr val="4E3629"/>
                </a:solidFill>
                <a:latin typeface="Calibri"/>
                <a:cs typeface="Calibri"/>
              </a:rPr>
              <a:t> </a:t>
            </a:r>
            <a:r>
              <a:rPr dirty="0" sz="2800" spc="-10">
                <a:solidFill>
                  <a:srgbClr val="4E3629"/>
                </a:solidFill>
                <a:latin typeface="Calibri"/>
                <a:cs typeface="Calibri"/>
              </a:rPr>
              <a:t>restricción </a:t>
            </a:r>
            <a:r>
              <a:rPr dirty="0" sz="2800" spc="-10">
                <a:solidFill>
                  <a:srgbClr val="4E3629"/>
                </a:solidFill>
                <a:latin typeface="Calibri"/>
                <a:cs typeface="Calibri"/>
              </a:rPr>
              <a:t>	</a:t>
            </a:r>
            <a:r>
              <a:rPr dirty="0" sz="2800">
                <a:solidFill>
                  <a:srgbClr val="4E3629"/>
                </a:solidFill>
                <a:latin typeface="Calibri"/>
                <a:cs typeface="Calibri"/>
              </a:rPr>
              <a:t>en</a:t>
            </a:r>
            <a:r>
              <a:rPr dirty="0" sz="2800" spc="-65">
                <a:solidFill>
                  <a:srgbClr val="4E3629"/>
                </a:solidFill>
                <a:latin typeface="Calibri"/>
                <a:cs typeface="Calibri"/>
              </a:rPr>
              <a:t> </a:t>
            </a:r>
            <a:r>
              <a:rPr dirty="0" sz="2800" spc="-10">
                <a:solidFill>
                  <a:srgbClr val="4E3629"/>
                </a:solidFill>
                <a:latin typeface="Calibri"/>
                <a:cs typeface="Calibri"/>
              </a:rPr>
              <a:t>USER_CONSTRAINTS</a:t>
            </a:r>
            <a:r>
              <a:rPr dirty="0" sz="2800" spc="-50">
                <a:solidFill>
                  <a:srgbClr val="4E3629"/>
                </a:solidFill>
                <a:latin typeface="Calibri"/>
                <a:cs typeface="Calibri"/>
              </a:rPr>
              <a:t> </a:t>
            </a:r>
            <a:r>
              <a:rPr dirty="0" sz="2800">
                <a:solidFill>
                  <a:srgbClr val="4E3629"/>
                </a:solidFill>
                <a:latin typeface="Calibri"/>
                <a:cs typeface="Calibri"/>
              </a:rPr>
              <a:t>y</a:t>
            </a:r>
            <a:r>
              <a:rPr dirty="0" sz="2800" spc="-65">
                <a:solidFill>
                  <a:srgbClr val="4E3629"/>
                </a:solidFill>
                <a:latin typeface="Calibri"/>
                <a:cs typeface="Calibri"/>
              </a:rPr>
              <a:t> </a:t>
            </a:r>
            <a:r>
              <a:rPr dirty="0" sz="2800" spc="-10">
                <a:solidFill>
                  <a:srgbClr val="4E3629"/>
                </a:solidFill>
                <a:latin typeface="Calibri"/>
                <a:cs typeface="Calibri"/>
              </a:rPr>
              <a:t>USER_CONS_COLUMNS</a:t>
            </a:r>
            <a:r>
              <a:rPr dirty="0" sz="2800" spc="-20">
                <a:solidFill>
                  <a:srgbClr val="4E3629"/>
                </a:solidFill>
                <a:latin typeface="Calibri"/>
                <a:cs typeface="Calibri"/>
              </a:rPr>
              <a:t> </a:t>
            </a:r>
            <a:r>
              <a:rPr dirty="0" sz="2800">
                <a:solidFill>
                  <a:srgbClr val="4E3629"/>
                </a:solidFill>
                <a:latin typeface="Calibri"/>
                <a:cs typeface="Calibri"/>
              </a:rPr>
              <a:t>en</a:t>
            </a:r>
            <a:r>
              <a:rPr dirty="0" sz="2800" spc="-75">
                <a:solidFill>
                  <a:srgbClr val="4E3629"/>
                </a:solidFill>
                <a:latin typeface="Calibri"/>
                <a:cs typeface="Calibri"/>
              </a:rPr>
              <a:t> </a:t>
            </a:r>
            <a:r>
              <a:rPr dirty="0" sz="2800" spc="-25">
                <a:solidFill>
                  <a:srgbClr val="4E3629"/>
                </a:solidFill>
                <a:latin typeface="Calibri"/>
                <a:cs typeface="Calibri"/>
              </a:rPr>
              <a:t>el</a:t>
            </a:r>
            <a:endParaRPr sz="2800">
              <a:latin typeface="Calibri"/>
              <a:cs typeface="Calibri"/>
            </a:endParaRPr>
          </a:p>
          <a:p>
            <a:pPr marL="184785">
              <a:lnSpc>
                <a:spcPts val="2975"/>
              </a:lnSpc>
            </a:pPr>
            <a:r>
              <a:rPr dirty="0" sz="2800">
                <a:solidFill>
                  <a:srgbClr val="4E3629"/>
                </a:solidFill>
                <a:latin typeface="Calibri"/>
                <a:cs typeface="Calibri"/>
              </a:rPr>
              <a:t>diccionario</a:t>
            </a:r>
            <a:r>
              <a:rPr dirty="0" sz="2800" spc="-75">
                <a:solidFill>
                  <a:srgbClr val="4E3629"/>
                </a:solidFill>
                <a:latin typeface="Calibri"/>
                <a:cs typeface="Calibri"/>
              </a:rPr>
              <a:t> </a:t>
            </a:r>
            <a:r>
              <a:rPr dirty="0" sz="2800">
                <a:solidFill>
                  <a:srgbClr val="4E3629"/>
                </a:solidFill>
                <a:latin typeface="Calibri"/>
                <a:cs typeface="Calibri"/>
              </a:rPr>
              <a:t>de</a:t>
            </a:r>
            <a:r>
              <a:rPr dirty="0" sz="2800" spc="-95">
                <a:solidFill>
                  <a:srgbClr val="4E3629"/>
                </a:solidFill>
                <a:latin typeface="Calibri"/>
                <a:cs typeface="Calibri"/>
              </a:rPr>
              <a:t> </a:t>
            </a:r>
            <a:r>
              <a:rPr dirty="0" sz="2800" spc="-20">
                <a:solidFill>
                  <a:srgbClr val="4E3629"/>
                </a:solidFill>
                <a:latin typeface="Calibri"/>
                <a:cs typeface="Calibri"/>
              </a:rPr>
              <a:t>datos</a:t>
            </a:r>
            <a:endParaRPr sz="2800">
              <a:latin typeface="Calibri"/>
              <a:cs typeface="Calibri"/>
            </a:endParaRPr>
          </a:p>
          <a:p>
            <a:pPr marL="182880" marR="343535" indent="-170815">
              <a:lnSpc>
                <a:spcPts val="3030"/>
              </a:lnSpc>
              <a:spcBef>
                <a:spcPts val="840"/>
              </a:spcBef>
              <a:buClr>
                <a:srgbClr val="D1350F"/>
              </a:buClr>
              <a:buFont typeface="Arial MT"/>
              <a:buChar char="•"/>
              <a:tabLst>
                <a:tab pos="184785" algn="l"/>
              </a:tabLst>
            </a:pP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opción</a:t>
            </a:r>
            <a:r>
              <a:rPr dirty="0" sz="2800" spc="-45">
                <a:solidFill>
                  <a:srgbClr val="4E3629"/>
                </a:solidFill>
                <a:latin typeface="Calibri"/>
                <a:cs typeface="Calibri"/>
              </a:rPr>
              <a:t> </a:t>
            </a:r>
            <a:r>
              <a:rPr dirty="0" sz="2800">
                <a:solidFill>
                  <a:srgbClr val="4E3629"/>
                </a:solidFill>
                <a:latin typeface="Calibri"/>
                <a:cs typeface="Calibri"/>
              </a:rPr>
              <a:t>CASCADE</a:t>
            </a:r>
            <a:r>
              <a:rPr dirty="0" sz="2800" spc="-35">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cláusula</a:t>
            </a:r>
            <a:r>
              <a:rPr dirty="0" sz="2800" spc="-30">
                <a:solidFill>
                  <a:srgbClr val="4E3629"/>
                </a:solidFill>
                <a:latin typeface="Calibri"/>
                <a:cs typeface="Calibri"/>
              </a:rPr>
              <a:t> </a:t>
            </a:r>
            <a:r>
              <a:rPr dirty="0" sz="2800">
                <a:solidFill>
                  <a:srgbClr val="4E3629"/>
                </a:solidFill>
                <a:latin typeface="Calibri"/>
                <a:cs typeface="Calibri"/>
              </a:rPr>
              <a:t>DROP</a:t>
            </a:r>
            <a:r>
              <a:rPr dirty="0" sz="2800" spc="-45">
                <a:solidFill>
                  <a:srgbClr val="4E3629"/>
                </a:solidFill>
                <a:latin typeface="Calibri"/>
                <a:cs typeface="Calibri"/>
              </a:rPr>
              <a:t> </a:t>
            </a:r>
            <a:r>
              <a:rPr dirty="0" sz="2800" spc="-10">
                <a:solidFill>
                  <a:srgbClr val="4E3629"/>
                </a:solidFill>
                <a:latin typeface="Calibri"/>
                <a:cs typeface="Calibri"/>
              </a:rPr>
              <a:t>provoca</a:t>
            </a:r>
            <a:r>
              <a:rPr dirty="0" sz="2800" spc="-45">
                <a:solidFill>
                  <a:srgbClr val="4E3629"/>
                </a:solidFill>
                <a:latin typeface="Calibri"/>
                <a:cs typeface="Calibri"/>
              </a:rPr>
              <a:t> </a:t>
            </a:r>
            <a:r>
              <a:rPr dirty="0" sz="2800" spc="-25">
                <a:solidFill>
                  <a:srgbClr val="4E3629"/>
                </a:solidFill>
                <a:latin typeface="Calibri"/>
                <a:cs typeface="Calibri"/>
              </a:rPr>
              <a:t>que </a:t>
            </a:r>
            <a:r>
              <a:rPr dirty="0" sz="2800" spc="-25">
                <a:solidFill>
                  <a:srgbClr val="4E3629"/>
                </a:solidFill>
                <a:latin typeface="Calibri"/>
                <a:cs typeface="Calibri"/>
              </a:rPr>
              <a:t>	</a:t>
            </a:r>
            <a:r>
              <a:rPr dirty="0" sz="2800">
                <a:solidFill>
                  <a:srgbClr val="4E3629"/>
                </a:solidFill>
                <a:latin typeface="Calibri"/>
                <a:cs typeface="Calibri"/>
              </a:rPr>
              <a:t>se</a:t>
            </a:r>
            <a:r>
              <a:rPr dirty="0" sz="2800" spc="-90">
                <a:solidFill>
                  <a:srgbClr val="4E3629"/>
                </a:solidFill>
                <a:latin typeface="Calibri"/>
                <a:cs typeface="Calibri"/>
              </a:rPr>
              <a:t> </a:t>
            </a:r>
            <a:r>
              <a:rPr dirty="0" sz="2800">
                <a:solidFill>
                  <a:srgbClr val="4E3629"/>
                </a:solidFill>
                <a:latin typeface="Calibri"/>
                <a:cs typeface="Calibri"/>
              </a:rPr>
              <a:t>borren</a:t>
            </a:r>
            <a:r>
              <a:rPr dirty="0" sz="2800" spc="-70">
                <a:solidFill>
                  <a:srgbClr val="4E3629"/>
                </a:solidFill>
                <a:latin typeface="Calibri"/>
                <a:cs typeface="Calibri"/>
              </a:rPr>
              <a:t> </a:t>
            </a:r>
            <a:r>
              <a:rPr dirty="0" sz="2800">
                <a:solidFill>
                  <a:srgbClr val="4E3629"/>
                </a:solidFill>
                <a:latin typeface="Calibri"/>
                <a:cs typeface="Calibri"/>
              </a:rPr>
              <a:t>también</a:t>
            </a:r>
            <a:r>
              <a:rPr dirty="0" sz="2800" spc="-70">
                <a:solidFill>
                  <a:srgbClr val="4E3629"/>
                </a:solidFill>
                <a:latin typeface="Calibri"/>
                <a:cs typeface="Calibri"/>
              </a:rPr>
              <a:t> </a:t>
            </a:r>
            <a:r>
              <a:rPr dirty="0" sz="2800">
                <a:solidFill>
                  <a:srgbClr val="4E3629"/>
                </a:solidFill>
                <a:latin typeface="Calibri"/>
                <a:cs typeface="Calibri"/>
              </a:rPr>
              <a:t>las</a:t>
            </a:r>
            <a:r>
              <a:rPr dirty="0" sz="2800" spc="-80">
                <a:solidFill>
                  <a:srgbClr val="4E3629"/>
                </a:solidFill>
                <a:latin typeface="Calibri"/>
                <a:cs typeface="Calibri"/>
              </a:rPr>
              <a:t> </a:t>
            </a:r>
            <a:r>
              <a:rPr dirty="0" sz="2800" spc="-10">
                <a:solidFill>
                  <a:srgbClr val="4E3629"/>
                </a:solidFill>
                <a:latin typeface="Calibri"/>
                <a:cs typeface="Calibri"/>
              </a:rPr>
              <a:t>restricciones</a:t>
            </a:r>
            <a:r>
              <a:rPr dirty="0" sz="2800" spc="-70">
                <a:solidFill>
                  <a:srgbClr val="4E3629"/>
                </a:solidFill>
                <a:latin typeface="Calibri"/>
                <a:cs typeface="Calibri"/>
              </a:rPr>
              <a:t> </a:t>
            </a:r>
            <a:r>
              <a:rPr dirty="0" sz="2800" spc="-10">
                <a:solidFill>
                  <a:srgbClr val="4E3629"/>
                </a:solidFill>
                <a:latin typeface="Calibri"/>
                <a:cs typeface="Calibri"/>
              </a:rPr>
              <a:t>dependientes</a:t>
            </a:r>
            <a:endParaRPr sz="2800">
              <a:latin typeface="Calibri"/>
              <a:cs typeface="Calibri"/>
            </a:endParaRPr>
          </a:p>
          <a:p>
            <a:pPr marL="182880" marR="189865" indent="-170815">
              <a:lnSpc>
                <a:spcPts val="3030"/>
              </a:lnSpc>
              <a:spcBef>
                <a:spcPts val="780"/>
              </a:spcBef>
              <a:buClr>
                <a:srgbClr val="D1350F"/>
              </a:buClr>
              <a:buFont typeface="Arial MT"/>
              <a:buChar char="•"/>
              <a:tabLst>
                <a:tab pos="184785" algn="l"/>
              </a:tabLst>
            </a:pPr>
            <a:r>
              <a:rPr dirty="0" sz="2800" spc="-40">
                <a:solidFill>
                  <a:srgbClr val="4E3629"/>
                </a:solidFill>
                <a:latin typeface="Calibri"/>
                <a:cs typeface="Calibri"/>
              </a:rPr>
              <a:t>Tenga</a:t>
            </a:r>
            <a:r>
              <a:rPr dirty="0" sz="2800" spc="-70">
                <a:solidFill>
                  <a:srgbClr val="4E3629"/>
                </a:solidFill>
                <a:latin typeface="Calibri"/>
                <a:cs typeface="Calibri"/>
              </a:rPr>
              <a:t> </a:t>
            </a:r>
            <a:r>
              <a:rPr dirty="0" sz="2800">
                <a:solidFill>
                  <a:srgbClr val="4E3629"/>
                </a:solidFill>
                <a:latin typeface="Calibri"/>
                <a:cs typeface="Calibri"/>
              </a:rPr>
              <a:t>en</a:t>
            </a:r>
            <a:r>
              <a:rPr dirty="0" sz="2800" spc="-55">
                <a:solidFill>
                  <a:srgbClr val="4E3629"/>
                </a:solidFill>
                <a:latin typeface="Calibri"/>
                <a:cs typeface="Calibri"/>
              </a:rPr>
              <a:t> </a:t>
            </a:r>
            <a:r>
              <a:rPr dirty="0" sz="2800">
                <a:solidFill>
                  <a:srgbClr val="4E3629"/>
                </a:solidFill>
                <a:latin typeface="Calibri"/>
                <a:cs typeface="Calibri"/>
              </a:rPr>
              <a:t>cuenta</a:t>
            </a:r>
            <a:r>
              <a:rPr dirty="0" sz="2800" spc="-50">
                <a:solidFill>
                  <a:srgbClr val="4E3629"/>
                </a:solidFill>
                <a:latin typeface="Calibri"/>
                <a:cs typeface="Calibri"/>
              </a:rPr>
              <a:t> </a:t>
            </a:r>
            <a:r>
              <a:rPr dirty="0" sz="2800">
                <a:solidFill>
                  <a:srgbClr val="4E3629"/>
                </a:solidFill>
                <a:latin typeface="Calibri"/>
                <a:cs typeface="Calibri"/>
              </a:rPr>
              <a:t>que</a:t>
            </a:r>
            <a:r>
              <a:rPr dirty="0" sz="2800" spc="-50">
                <a:solidFill>
                  <a:srgbClr val="4E3629"/>
                </a:solidFill>
                <a:latin typeface="Calibri"/>
                <a:cs typeface="Calibri"/>
              </a:rPr>
              <a:t> </a:t>
            </a:r>
            <a:r>
              <a:rPr dirty="0" sz="2800">
                <a:solidFill>
                  <a:srgbClr val="4E3629"/>
                </a:solidFill>
                <a:latin typeface="Calibri"/>
                <a:cs typeface="Calibri"/>
              </a:rPr>
              <a:t>al</a:t>
            </a:r>
            <a:r>
              <a:rPr dirty="0" sz="2800" spc="-70">
                <a:solidFill>
                  <a:srgbClr val="4E3629"/>
                </a:solidFill>
                <a:latin typeface="Calibri"/>
                <a:cs typeface="Calibri"/>
              </a:rPr>
              <a:t> </a:t>
            </a:r>
            <a:r>
              <a:rPr dirty="0" sz="2800">
                <a:solidFill>
                  <a:srgbClr val="4E3629"/>
                </a:solidFill>
                <a:latin typeface="Calibri"/>
                <a:cs typeface="Calibri"/>
              </a:rPr>
              <a:t>borrar</a:t>
            </a:r>
            <a:r>
              <a:rPr dirty="0" sz="2800" spc="-55">
                <a:solidFill>
                  <a:srgbClr val="4E3629"/>
                </a:solidFill>
                <a:latin typeface="Calibri"/>
                <a:cs typeface="Calibri"/>
              </a:rPr>
              <a:t> </a:t>
            </a:r>
            <a:r>
              <a:rPr dirty="0" sz="2800">
                <a:solidFill>
                  <a:srgbClr val="4E3629"/>
                </a:solidFill>
                <a:latin typeface="Calibri"/>
                <a:cs typeface="Calibri"/>
              </a:rPr>
              <a:t>una</a:t>
            </a:r>
            <a:r>
              <a:rPr dirty="0" sz="2800" spc="-35">
                <a:solidFill>
                  <a:srgbClr val="4E3629"/>
                </a:solidFill>
                <a:latin typeface="Calibri"/>
                <a:cs typeface="Calibri"/>
              </a:rPr>
              <a:t> </a:t>
            </a:r>
            <a:r>
              <a:rPr dirty="0" sz="2800" spc="-10">
                <a:solidFill>
                  <a:srgbClr val="4E3629"/>
                </a:solidFill>
                <a:latin typeface="Calibri"/>
                <a:cs typeface="Calibri"/>
              </a:rPr>
              <a:t>restricción</a:t>
            </a:r>
            <a:r>
              <a:rPr dirty="0" sz="2800" spc="-50">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integridad,</a:t>
            </a:r>
            <a:r>
              <a:rPr dirty="0" sz="2800" spc="-45">
                <a:solidFill>
                  <a:srgbClr val="4E3629"/>
                </a:solidFill>
                <a:latin typeface="Calibri"/>
                <a:cs typeface="Calibri"/>
              </a:rPr>
              <a:t> </a:t>
            </a:r>
            <a:r>
              <a:rPr dirty="0" sz="2800">
                <a:solidFill>
                  <a:srgbClr val="4E3629"/>
                </a:solidFill>
                <a:latin typeface="Calibri"/>
                <a:cs typeface="Calibri"/>
              </a:rPr>
              <a:t>Oracle</a:t>
            </a:r>
            <a:r>
              <a:rPr dirty="0" sz="2800" spc="-70">
                <a:solidFill>
                  <a:srgbClr val="4E3629"/>
                </a:solidFill>
                <a:latin typeface="Calibri"/>
                <a:cs typeface="Calibri"/>
              </a:rPr>
              <a:t> </a:t>
            </a:r>
            <a:r>
              <a:rPr dirty="0" sz="2800">
                <a:solidFill>
                  <a:srgbClr val="4E3629"/>
                </a:solidFill>
                <a:latin typeface="Calibri"/>
                <a:cs typeface="Calibri"/>
              </a:rPr>
              <a:t>Server</a:t>
            </a:r>
            <a:r>
              <a:rPr dirty="0" sz="2800" spc="-70">
                <a:solidFill>
                  <a:srgbClr val="4E3629"/>
                </a:solidFill>
                <a:latin typeface="Calibri"/>
                <a:cs typeface="Calibri"/>
              </a:rPr>
              <a:t> </a:t>
            </a:r>
            <a:r>
              <a:rPr dirty="0" sz="2800">
                <a:solidFill>
                  <a:srgbClr val="4E3629"/>
                </a:solidFill>
                <a:latin typeface="Calibri"/>
                <a:cs typeface="Calibri"/>
              </a:rPr>
              <a:t>ya</a:t>
            </a:r>
            <a:r>
              <a:rPr dirty="0" sz="2800" spc="-60">
                <a:solidFill>
                  <a:srgbClr val="4E3629"/>
                </a:solidFill>
                <a:latin typeface="Calibri"/>
                <a:cs typeface="Calibri"/>
              </a:rPr>
              <a:t> </a:t>
            </a:r>
            <a:r>
              <a:rPr dirty="0" sz="2800">
                <a:solidFill>
                  <a:srgbClr val="4E3629"/>
                </a:solidFill>
                <a:latin typeface="Calibri"/>
                <a:cs typeface="Calibri"/>
              </a:rPr>
              <a:t>no</a:t>
            </a:r>
            <a:r>
              <a:rPr dirty="0" sz="2800" spc="-55">
                <a:solidFill>
                  <a:srgbClr val="4E3629"/>
                </a:solidFill>
                <a:latin typeface="Calibri"/>
                <a:cs typeface="Calibri"/>
              </a:rPr>
              <a:t> </a:t>
            </a:r>
            <a:r>
              <a:rPr dirty="0" sz="2800">
                <a:solidFill>
                  <a:srgbClr val="4E3629"/>
                </a:solidFill>
                <a:latin typeface="Calibri"/>
                <a:cs typeface="Calibri"/>
              </a:rPr>
              <a:t>aplica</a:t>
            </a:r>
            <a:r>
              <a:rPr dirty="0" sz="2800" spc="-60">
                <a:solidFill>
                  <a:srgbClr val="4E3629"/>
                </a:solidFill>
                <a:latin typeface="Calibri"/>
                <a:cs typeface="Calibri"/>
              </a:rPr>
              <a:t> </a:t>
            </a:r>
            <a:r>
              <a:rPr dirty="0" sz="2800">
                <a:solidFill>
                  <a:srgbClr val="4E3629"/>
                </a:solidFill>
                <a:latin typeface="Calibri"/>
                <a:cs typeface="Calibri"/>
              </a:rPr>
              <a:t>esa</a:t>
            </a:r>
            <a:r>
              <a:rPr dirty="0" sz="2800" spc="-60">
                <a:solidFill>
                  <a:srgbClr val="4E3629"/>
                </a:solidFill>
                <a:latin typeface="Calibri"/>
                <a:cs typeface="Calibri"/>
              </a:rPr>
              <a:t> </a:t>
            </a:r>
            <a:r>
              <a:rPr dirty="0" sz="2800" spc="-10">
                <a:solidFill>
                  <a:srgbClr val="4E3629"/>
                </a:solidFill>
                <a:latin typeface="Calibri"/>
                <a:cs typeface="Calibri"/>
              </a:rPr>
              <a:t>restricción</a:t>
            </a:r>
            <a:r>
              <a:rPr dirty="0" sz="2800" spc="-50">
                <a:solidFill>
                  <a:srgbClr val="4E3629"/>
                </a:solidFill>
                <a:latin typeface="Calibri"/>
                <a:cs typeface="Calibri"/>
              </a:rPr>
              <a:t> y </a:t>
            </a:r>
            <a:r>
              <a:rPr dirty="0" sz="2800" spc="-50">
                <a:solidFill>
                  <a:srgbClr val="4E3629"/>
                </a:solidFill>
                <a:latin typeface="Calibri"/>
                <a:cs typeface="Calibri"/>
              </a:rPr>
              <a:t>	</a:t>
            </a:r>
            <a:r>
              <a:rPr dirty="0" sz="2800">
                <a:solidFill>
                  <a:srgbClr val="4E3629"/>
                </a:solidFill>
                <a:latin typeface="Calibri"/>
                <a:cs typeface="Calibri"/>
              </a:rPr>
              <a:t>deja</a:t>
            </a:r>
            <a:r>
              <a:rPr dirty="0" sz="2800" spc="-6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estar</a:t>
            </a:r>
            <a:r>
              <a:rPr dirty="0" sz="2800" spc="-65">
                <a:solidFill>
                  <a:srgbClr val="4E3629"/>
                </a:solidFill>
                <a:latin typeface="Calibri"/>
                <a:cs typeface="Calibri"/>
              </a:rPr>
              <a:t> </a:t>
            </a:r>
            <a:r>
              <a:rPr dirty="0" sz="2800">
                <a:solidFill>
                  <a:srgbClr val="4E3629"/>
                </a:solidFill>
                <a:latin typeface="Calibri"/>
                <a:cs typeface="Calibri"/>
              </a:rPr>
              <a:t>disponible</a:t>
            </a:r>
            <a:r>
              <a:rPr dirty="0" sz="2800" spc="-20">
                <a:solidFill>
                  <a:srgbClr val="4E3629"/>
                </a:solidFill>
                <a:latin typeface="Calibri"/>
                <a:cs typeface="Calibri"/>
              </a:rPr>
              <a:t> </a:t>
            </a:r>
            <a:r>
              <a:rPr dirty="0" sz="2800">
                <a:solidFill>
                  <a:srgbClr val="4E3629"/>
                </a:solidFill>
                <a:latin typeface="Calibri"/>
                <a:cs typeface="Calibri"/>
              </a:rPr>
              <a:t>en</a:t>
            </a:r>
            <a:r>
              <a:rPr dirty="0" sz="2800" spc="-65">
                <a:solidFill>
                  <a:srgbClr val="4E3629"/>
                </a:solidFill>
                <a:latin typeface="Calibri"/>
                <a:cs typeface="Calibri"/>
              </a:rPr>
              <a:t> </a:t>
            </a:r>
            <a:r>
              <a:rPr dirty="0" sz="2800">
                <a:solidFill>
                  <a:srgbClr val="4E3629"/>
                </a:solidFill>
                <a:latin typeface="Calibri"/>
                <a:cs typeface="Calibri"/>
              </a:rPr>
              <a:t>el</a:t>
            </a:r>
            <a:r>
              <a:rPr dirty="0" sz="2800" spc="-80">
                <a:solidFill>
                  <a:srgbClr val="4E3629"/>
                </a:solidFill>
                <a:latin typeface="Calibri"/>
                <a:cs typeface="Calibri"/>
              </a:rPr>
              <a:t> </a:t>
            </a:r>
            <a:r>
              <a:rPr dirty="0" sz="2800">
                <a:solidFill>
                  <a:srgbClr val="4E3629"/>
                </a:solidFill>
                <a:latin typeface="Calibri"/>
                <a:cs typeface="Calibri"/>
              </a:rPr>
              <a:t>diccionario</a:t>
            </a:r>
            <a:r>
              <a:rPr dirty="0" sz="2800" spc="-45">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spc="-10">
                <a:solidFill>
                  <a:srgbClr val="4E3629"/>
                </a:solidFill>
                <a:latin typeface="Calibri"/>
                <a:cs typeface="Calibri"/>
              </a:rPr>
              <a:t>datos</a:t>
            </a:r>
            <a:endParaRPr sz="280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Borrado</a:t>
            </a:r>
            <a:r>
              <a:rPr dirty="0" spc="-80"/>
              <a:t> </a:t>
            </a:r>
            <a:r>
              <a:rPr dirty="0"/>
              <a:t>de</a:t>
            </a:r>
            <a:r>
              <a:rPr dirty="0" spc="-65"/>
              <a:t> </a:t>
            </a:r>
            <a:r>
              <a:rPr dirty="0" spc="-10"/>
              <a:t>Restricciones</a:t>
            </a:r>
          </a:p>
        </p:txBody>
      </p:sp>
      <p:sp>
        <p:nvSpPr>
          <p:cNvPr id="6" name="object 6"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3</a:t>
            </a:r>
          </a:p>
          <a:p>
            <a:pPr marL="12700">
              <a:lnSpc>
                <a:spcPts val="965"/>
              </a:lnSpc>
            </a:pPr>
            <a:r>
              <a:rPr dirty="0"/>
              <a:t>Gestión</a:t>
            </a:r>
            <a:r>
              <a:rPr dirty="0" spc="-20"/>
              <a:t> </a:t>
            </a:r>
            <a:r>
              <a:rPr dirty="0"/>
              <a:t>de</a:t>
            </a:r>
            <a:r>
              <a:rPr dirty="0" spc="-40"/>
              <a:t> </a:t>
            </a:r>
            <a:r>
              <a:rPr dirty="0" spc="-10"/>
              <a:t>Restricciones</a:t>
            </a: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15</a:t>
            </a: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7948930" cy="836294"/>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No</a:t>
            </a:r>
            <a:r>
              <a:rPr dirty="0" sz="2800" spc="-50">
                <a:solidFill>
                  <a:srgbClr val="4E3629"/>
                </a:solidFill>
                <a:latin typeface="Calibri"/>
                <a:cs typeface="Calibri"/>
              </a:rPr>
              <a:t> </a:t>
            </a:r>
            <a:r>
              <a:rPr dirty="0" sz="2800">
                <a:solidFill>
                  <a:srgbClr val="4E3629"/>
                </a:solidFill>
                <a:latin typeface="Calibri"/>
                <a:cs typeface="Calibri"/>
              </a:rPr>
              <a:t>se</a:t>
            </a:r>
            <a:r>
              <a:rPr dirty="0" sz="2800" spc="-60">
                <a:solidFill>
                  <a:srgbClr val="4E3629"/>
                </a:solidFill>
                <a:latin typeface="Calibri"/>
                <a:cs typeface="Calibri"/>
              </a:rPr>
              <a:t> </a:t>
            </a:r>
            <a:r>
              <a:rPr dirty="0" sz="2800">
                <a:solidFill>
                  <a:srgbClr val="4E3629"/>
                </a:solidFill>
                <a:latin typeface="Calibri"/>
                <a:cs typeface="Calibri"/>
              </a:rPr>
              <a:t>borra</a:t>
            </a:r>
            <a:r>
              <a:rPr dirty="0" sz="2800" spc="-30">
                <a:solidFill>
                  <a:srgbClr val="4E3629"/>
                </a:solidFill>
                <a:latin typeface="Calibri"/>
                <a:cs typeface="Calibri"/>
              </a:rPr>
              <a:t> </a:t>
            </a:r>
            <a:r>
              <a:rPr dirty="0" sz="2800">
                <a:solidFill>
                  <a:srgbClr val="4E3629"/>
                </a:solidFill>
                <a:latin typeface="Calibri"/>
                <a:cs typeface="Calibri"/>
              </a:rPr>
              <a:t>ninguna</a:t>
            </a:r>
            <a:r>
              <a:rPr dirty="0" sz="2800" spc="-35">
                <a:solidFill>
                  <a:srgbClr val="4E3629"/>
                </a:solidFill>
                <a:latin typeface="Calibri"/>
                <a:cs typeface="Calibri"/>
              </a:rPr>
              <a:t> </a:t>
            </a:r>
            <a:r>
              <a:rPr dirty="0" sz="2800">
                <a:solidFill>
                  <a:srgbClr val="4E3629"/>
                </a:solidFill>
                <a:latin typeface="Calibri"/>
                <a:cs typeface="Calibri"/>
              </a:rPr>
              <a:t>fila</a:t>
            </a:r>
            <a:r>
              <a:rPr dirty="0" sz="2800" spc="-55">
                <a:solidFill>
                  <a:srgbClr val="4E3629"/>
                </a:solidFill>
                <a:latin typeface="Calibri"/>
                <a:cs typeface="Calibri"/>
              </a:rPr>
              <a:t> </a:t>
            </a:r>
            <a:r>
              <a:rPr dirty="0" sz="2800">
                <a:solidFill>
                  <a:srgbClr val="4E3629"/>
                </a:solidFill>
                <a:latin typeface="Calibri"/>
                <a:cs typeface="Calibri"/>
              </a:rPr>
              <a:t>ni</a:t>
            </a:r>
            <a:r>
              <a:rPr dirty="0" sz="2800" spc="-55">
                <a:solidFill>
                  <a:srgbClr val="4E3629"/>
                </a:solidFill>
                <a:latin typeface="Calibri"/>
                <a:cs typeface="Calibri"/>
              </a:rPr>
              <a:t> </a:t>
            </a:r>
            <a:r>
              <a:rPr dirty="0" sz="2800">
                <a:solidFill>
                  <a:srgbClr val="4E3629"/>
                </a:solidFill>
                <a:latin typeface="Calibri"/>
                <a:cs typeface="Calibri"/>
              </a:rPr>
              <a:t>ningún</a:t>
            </a:r>
            <a:r>
              <a:rPr dirty="0" sz="2800" spc="-20">
                <a:solidFill>
                  <a:srgbClr val="4E3629"/>
                </a:solidFill>
                <a:latin typeface="Calibri"/>
                <a:cs typeface="Calibri"/>
              </a:rPr>
              <a:t> </a:t>
            </a:r>
            <a:r>
              <a:rPr dirty="0" sz="2800">
                <a:solidFill>
                  <a:srgbClr val="4E3629"/>
                </a:solidFill>
                <a:latin typeface="Calibri"/>
                <a:cs typeface="Calibri"/>
              </a:rPr>
              <a:t>dato</a:t>
            </a:r>
            <a:r>
              <a:rPr dirty="0" sz="2800" spc="-60">
                <a:solidFill>
                  <a:srgbClr val="4E3629"/>
                </a:solidFill>
                <a:latin typeface="Calibri"/>
                <a:cs typeface="Calibri"/>
              </a:rPr>
              <a:t> </a:t>
            </a:r>
            <a:r>
              <a:rPr dirty="0" sz="2800">
                <a:solidFill>
                  <a:srgbClr val="4E3629"/>
                </a:solidFill>
                <a:latin typeface="Calibri"/>
                <a:cs typeface="Calibri"/>
              </a:rPr>
              <a:t>en</a:t>
            </a:r>
            <a:r>
              <a:rPr dirty="0" sz="2800" spc="-65">
                <a:solidFill>
                  <a:srgbClr val="4E3629"/>
                </a:solidFill>
                <a:latin typeface="Calibri"/>
                <a:cs typeface="Calibri"/>
              </a:rPr>
              <a:t> </a:t>
            </a:r>
            <a:r>
              <a:rPr dirty="0" sz="2800">
                <a:solidFill>
                  <a:srgbClr val="4E3629"/>
                </a:solidFill>
                <a:latin typeface="Calibri"/>
                <a:cs typeface="Calibri"/>
              </a:rPr>
              <a:t>ninguna</a:t>
            </a:r>
            <a:r>
              <a:rPr dirty="0" sz="2800" spc="-25">
                <a:solidFill>
                  <a:srgbClr val="4E3629"/>
                </a:solidFill>
                <a:latin typeface="Calibri"/>
                <a:cs typeface="Calibri"/>
              </a:rPr>
              <a:t> de </a:t>
            </a:r>
            <a:r>
              <a:rPr dirty="0" sz="2800" spc="-25">
                <a:solidFill>
                  <a:srgbClr val="4E3629"/>
                </a:solidFill>
                <a:latin typeface="Calibri"/>
                <a:cs typeface="Calibri"/>
              </a:rPr>
              <a:t>	</a:t>
            </a:r>
            <a:r>
              <a:rPr dirty="0" sz="2800">
                <a:solidFill>
                  <a:srgbClr val="4E3629"/>
                </a:solidFill>
                <a:latin typeface="Calibri"/>
                <a:cs typeface="Calibri"/>
              </a:rPr>
              <a:t>las</a:t>
            </a:r>
            <a:r>
              <a:rPr dirty="0" sz="2800" spc="-65">
                <a:solidFill>
                  <a:srgbClr val="4E3629"/>
                </a:solidFill>
                <a:latin typeface="Calibri"/>
                <a:cs typeface="Calibri"/>
              </a:rPr>
              <a:t> </a:t>
            </a:r>
            <a:r>
              <a:rPr dirty="0" sz="2800">
                <a:solidFill>
                  <a:srgbClr val="4E3629"/>
                </a:solidFill>
                <a:latin typeface="Calibri"/>
                <a:cs typeface="Calibri"/>
              </a:rPr>
              <a:t>tablas</a:t>
            </a:r>
            <a:r>
              <a:rPr dirty="0" sz="2800" spc="-55">
                <a:solidFill>
                  <a:srgbClr val="4E3629"/>
                </a:solidFill>
                <a:latin typeface="Calibri"/>
                <a:cs typeface="Calibri"/>
              </a:rPr>
              <a:t> </a:t>
            </a:r>
            <a:r>
              <a:rPr dirty="0" sz="2800" spc="-10">
                <a:solidFill>
                  <a:srgbClr val="4E3629"/>
                </a:solidFill>
                <a:latin typeface="Calibri"/>
                <a:cs typeface="Calibri"/>
              </a:rPr>
              <a:t>afectadas</a:t>
            </a:r>
            <a:r>
              <a:rPr dirty="0" sz="2800" spc="-60">
                <a:solidFill>
                  <a:srgbClr val="4E3629"/>
                </a:solidFill>
                <a:latin typeface="Calibri"/>
                <a:cs typeface="Calibri"/>
              </a:rPr>
              <a:t> </a:t>
            </a:r>
            <a:r>
              <a:rPr dirty="0" sz="2800">
                <a:solidFill>
                  <a:srgbClr val="4E3629"/>
                </a:solidFill>
                <a:latin typeface="Calibri"/>
                <a:cs typeface="Calibri"/>
              </a:rPr>
              <a:t>al</a:t>
            </a:r>
            <a:r>
              <a:rPr dirty="0" sz="2800" spc="-65">
                <a:solidFill>
                  <a:srgbClr val="4E3629"/>
                </a:solidFill>
                <a:latin typeface="Calibri"/>
                <a:cs typeface="Calibri"/>
              </a:rPr>
              <a:t> </a:t>
            </a:r>
            <a:r>
              <a:rPr dirty="0" sz="2800">
                <a:solidFill>
                  <a:srgbClr val="4E3629"/>
                </a:solidFill>
                <a:latin typeface="Calibri"/>
                <a:cs typeface="Calibri"/>
              </a:rPr>
              <a:t>borrar</a:t>
            </a:r>
            <a:r>
              <a:rPr dirty="0" sz="2800" spc="-55">
                <a:solidFill>
                  <a:srgbClr val="4E3629"/>
                </a:solidFill>
                <a:latin typeface="Calibri"/>
                <a:cs typeface="Calibri"/>
              </a:rPr>
              <a:t> </a:t>
            </a:r>
            <a:r>
              <a:rPr dirty="0" sz="2800">
                <a:solidFill>
                  <a:srgbClr val="4E3629"/>
                </a:solidFill>
                <a:latin typeface="Calibri"/>
                <a:cs typeface="Calibri"/>
              </a:rPr>
              <a:t>una</a:t>
            </a:r>
            <a:r>
              <a:rPr dirty="0" sz="2800" spc="-30">
                <a:solidFill>
                  <a:srgbClr val="4E3629"/>
                </a:solidFill>
                <a:latin typeface="Calibri"/>
                <a:cs typeface="Calibri"/>
              </a:rPr>
              <a:t> </a:t>
            </a:r>
            <a:r>
              <a:rPr dirty="0" sz="2800" spc="-10">
                <a:solidFill>
                  <a:srgbClr val="4E3629"/>
                </a:solidFill>
                <a:latin typeface="Calibri"/>
                <a:cs typeface="Calibri"/>
              </a:rPr>
              <a:t>restricción</a:t>
            </a:r>
            <a:endParaRPr sz="2800">
              <a:latin typeface="Calibri"/>
              <a:cs typeface="Calibri"/>
            </a:endParaRPr>
          </a:p>
        </p:txBody>
      </p:sp>
      <p:sp>
        <p:nvSpPr>
          <p:cNvPr id="4" name="object 4" descr=""/>
          <p:cNvSpPr txBox="1"/>
          <p:nvPr/>
        </p:nvSpPr>
        <p:spPr>
          <a:xfrm>
            <a:off x="406908" y="2721864"/>
            <a:ext cx="8345805" cy="556260"/>
          </a:xfrm>
          <a:prstGeom prst="rect">
            <a:avLst/>
          </a:prstGeom>
          <a:solidFill>
            <a:srgbClr val="9DBEC4">
              <a:alpha val="50199"/>
            </a:srgbClr>
          </a:solidFill>
        </p:spPr>
        <p:txBody>
          <a:bodyPr wrap="square" lIns="0" tIns="0" rIns="0" bIns="0" rtlCol="0" vert="horz">
            <a:spAutoFit/>
          </a:bodyPr>
          <a:lstStyle/>
          <a:p>
            <a:pPr>
              <a:lnSpc>
                <a:spcPts val="1980"/>
              </a:lnSpc>
            </a:pPr>
            <a:r>
              <a:rPr dirty="0" sz="1800" b="1">
                <a:solidFill>
                  <a:srgbClr val="4E3629"/>
                </a:solidFill>
                <a:latin typeface="Courier New"/>
                <a:cs typeface="Courier New"/>
              </a:rPr>
              <a:t>ALTER</a:t>
            </a:r>
            <a:r>
              <a:rPr dirty="0" sz="1800" spc="-50" b="1">
                <a:solidFill>
                  <a:srgbClr val="4E3629"/>
                </a:solidFill>
                <a:latin typeface="Courier New"/>
                <a:cs typeface="Courier New"/>
              </a:rPr>
              <a:t> </a:t>
            </a:r>
            <a:r>
              <a:rPr dirty="0" sz="1800" b="1">
                <a:solidFill>
                  <a:srgbClr val="4E3629"/>
                </a:solidFill>
                <a:latin typeface="Courier New"/>
                <a:cs typeface="Courier New"/>
              </a:rPr>
              <a:t>TABLE</a:t>
            </a:r>
            <a:r>
              <a:rPr dirty="0" sz="1800" spc="-45" b="1">
                <a:solidFill>
                  <a:srgbClr val="4E3629"/>
                </a:solidFill>
                <a:latin typeface="Courier New"/>
                <a:cs typeface="Courier New"/>
              </a:rPr>
              <a:t> </a:t>
            </a:r>
            <a:r>
              <a:rPr dirty="0" sz="1800" spc="-10" b="1">
                <a:solidFill>
                  <a:srgbClr val="4E3629"/>
                </a:solidFill>
                <a:latin typeface="Courier New"/>
                <a:cs typeface="Courier New"/>
              </a:rPr>
              <a:t>table_name</a:t>
            </a:r>
            <a:endParaRPr sz="1800">
              <a:latin typeface="Courier New"/>
              <a:cs typeface="Courier New"/>
            </a:endParaRPr>
          </a:p>
          <a:p>
            <a:pPr>
              <a:lnSpc>
                <a:spcPct val="100000"/>
              </a:lnSpc>
              <a:tabLst>
                <a:tab pos="2320290" algn="l"/>
              </a:tabLst>
            </a:pPr>
            <a:r>
              <a:rPr dirty="0" sz="1800" b="1">
                <a:solidFill>
                  <a:srgbClr val="4E3629"/>
                </a:solidFill>
                <a:latin typeface="Courier New"/>
                <a:cs typeface="Courier New"/>
              </a:rPr>
              <a:t>DROP</a:t>
            </a:r>
            <a:r>
              <a:rPr dirty="0" sz="1800" spc="-40" b="1">
                <a:solidFill>
                  <a:srgbClr val="4E3629"/>
                </a:solidFill>
                <a:latin typeface="Courier New"/>
                <a:cs typeface="Courier New"/>
              </a:rPr>
              <a:t> </a:t>
            </a:r>
            <a:r>
              <a:rPr dirty="0" sz="1800" spc="-10" b="1">
                <a:solidFill>
                  <a:srgbClr val="4E3629"/>
                </a:solidFill>
                <a:latin typeface="Courier New"/>
                <a:cs typeface="Courier New"/>
              </a:rPr>
              <a:t>CONSTRAINT</a:t>
            </a:r>
            <a:r>
              <a:rPr dirty="0" sz="1800" b="1">
                <a:solidFill>
                  <a:srgbClr val="4E3629"/>
                </a:solidFill>
                <a:latin typeface="Courier New"/>
                <a:cs typeface="Courier New"/>
              </a:rPr>
              <a:t>	name</a:t>
            </a:r>
            <a:r>
              <a:rPr dirty="0" sz="1800" spc="-60" b="1">
                <a:solidFill>
                  <a:srgbClr val="4E3629"/>
                </a:solidFill>
                <a:latin typeface="Courier New"/>
                <a:cs typeface="Courier New"/>
              </a:rPr>
              <a:t> </a:t>
            </a:r>
            <a:r>
              <a:rPr dirty="0" sz="1800" spc="-10" b="1">
                <a:solidFill>
                  <a:srgbClr val="4E3629"/>
                </a:solidFill>
                <a:latin typeface="Courier New"/>
                <a:cs typeface="Courier New"/>
              </a:rPr>
              <a:t>[CASCADE}</a:t>
            </a:r>
            <a:endParaRPr sz="1800">
              <a:latin typeface="Courier New"/>
              <a:cs typeface="Courier New"/>
            </a:endParaRPr>
          </a:p>
        </p:txBody>
      </p:sp>
      <p:sp>
        <p:nvSpPr>
          <p:cNvPr id="5" name="object 5" descr=""/>
          <p:cNvSpPr txBox="1"/>
          <p:nvPr/>
        </p:nvSpPr>
        <p:spPr>
          <a:xfrm>
            <a:off x="405384" y="3579876"/>
            <a:ext cx="8347075" cy="556260"/>
          </a:xfrm>
          <a:prstGeom prst="rect">
            <a:avLst/>
          </a:prstGeom>
          <a:solidFill>
            <a:srgbClr val="9DBEC4">
              <a:alpha val="50199"/>
            </a:srgbClr>
          </a:solidFill>
        </p:spPr>
        <p:txBody>
          <a:bodyPr wrap="square" lIns="0" tIns="0" rIns="0" bIns="0" rtlCol="0" vert="horz">
            <a:spAutoFit/>
          </a:bodyPr>
          <a:lstStyle/>
          <a:p>
            <a:pPr>
              <a:lnSpc>
                <a:spcPts val="1970"/>
              </a:lnSpc>
            </a:pPr>
            <a:r>
              <a:rPr dirty="0" sz="1800" b="1">
                <a:solidFill>
                  <a:srgbClr val="4E3629"/>
                </a:solidFill>
                <a:latin typeface="Courier New"/>
                <a:cs typeface="Courier New"/>
              </a:rPr>
              <a:t>ALTER</a:t>
            </a:r>
            <a:r>
              <a:rPr dirty="0" sz="1800" spc="-60" b="1">
                <a:solidFill>
                  <a:srgbClr val="4E3629"/>
                </a:solidFill>
                <a:latin typeface="Courier New"/>
                <a:cs typeface="Courier New"/>
              </a:rPr>
              <a:t> </a:t>
            </a:r>
            <a:r>
              <a:rPr dirty="0" sz="1800" b="1">
                <a:solidFill>
                  <a:srgbClr val="4E3629"/>
                </a:solidFill>
                <a:latin typeface="Courier New"/>
                <a:cs typeface="Courier New"/>
              </a:rPr>
              <a:t>TABLE</a:t>
            </a:r>
            <a:r>
              <a:rPr dirty="0" sz="1800" spc="-45" b="1">
                <a:solidFill>
                  <a:srgbClr val="4E3629"/>
                </a:solidFill>
                <a:latin typeface="Courier New"/>
                <a:cs typeface="Courier New"/>
              </a:rPr>
              <a:t> </a:t>
            </a:r>
            <a:r>
              <a:rPr dirty="0" sz="1800" spc="-10" b="1">
                <a:solidFill>
                  <a:srgbClr val="4E3629"/>
                </a:solidFill>
                <a:latin typeface="Courier New"/>
                <a:cs typeface="Courier New"/>
              </a:rPr>
              <a:t>copy_departments</a:t>
            </a:r>
            <a:endParaRPr sz="1800">
              <a:latin typeface="Courier New"/>
              <a:cs typeface="Courier New"/>
            </a:endParaRPr>
          </a:p>
          <a:p>
            <a:pPr>
              <a:lnSpc>
                <a:spcPct val="100000"/>
              </a:lnSpc>
              <a:tabLst>
                <a:tab pos="2320925" algn="l"/>
              </a:tabLst>
            </a:pPr>
            <a:r>
              <a:rPr dirty="0" sz="1800" b="1">
                <a:solidFill>
                  <a:srgbClr val="4E3629"/>
                </a:solidFill>
                <a:latin typeface="Courier New"/>
                <a:cs typeface="Courier New"/>
              </a:rPr>
              <a:t>DROP</a:t>
            </a:r>
            <a:r>
              <a:rPr dirty="0" sz="1800" spc="-40" b="1">
                <a:solidFill>
                  <a:srgbClr val="4E3629"/>
                </a:solidFill>
                <a:latin typeface="Courier New"/>
                <a:cs typeface="Courier New"/>
              </a:rPr>
              <a:t> </a:t>
            </a:r>
            <a:r>
              <a:rPr dirty="0" sz="1800" spc="-10" b="1">
                <a:solidFill>
                  <a:srgbClr val="4E3629"/>
                </a:solidFill>
                <a:latin typeface="Courier New"/>
                <a:cs typeface="Courier New"/>
              </a:rPr>
              <a:t>CONSTRAINT</a:t>
            </a:r>
            <a:r>
              <a:rPr dirty="0" sz="1800" b="1">
                <a:solidFill>
                  <a:srgbClr val="4E3629"/>
                </a:solidFill>
                <a:latin typeface="Courier New"/>
                <a:cs typeface="Courier New"/>
              </a:rPr>
              <a:t>	c_dept_dept_id_pk</a:t>
            </a:r>
            <a:r>
              <a:rPr dirty="0" sz="1800" spc="-165" b="1">
                <a:solidFill>
                  <a:srgbClr val="4E3629"/>
                </a:solidFill>
                <a:latin typeface="Courier New"/>
                <a:cs typeface="Courier New"/>
              </a:rPr>
              <a:t> </a:t>
            </a:r>
            <a:r>
              <a:rPr dirty="0" sz="1800" spc="-10" b="1">
                <a:solidFill>
                  <a:srgbClr val="4E3629"/>
                </a:solidFill>
                <a:latin typeface="Courier New"/>
                <a:cs typeface="Courier New"/>
              </a:rPr>
              <a:t>CASCADE;</a:t>
            </a:r>
            <a:endParaRPr sz="1800">
              <a:latin typeface="Courier New"/>
              <a:cs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10"/>
              <a:t>Desactivación</a:t>
            </a:r>
            <a:r>
              <a:rPr dirty="0" spc="-50"/>
              <a:t> </a:t>
            </a:r>
            <a:r>
              <a:rPr dirty="0"/>
              <a:t>de</a:t>
            </a:r>
            <a:r>
              <a:rPr dirty="0" spc="-30"/>
              <a:t> </a:t>
            </a:r>
            <a:r>
              <a:rPr dirty="0" spc="-10"/>
              <a:t>Restricciones</a:t>
            </a:r>
          </a:p>
        </p:txBody>
      </p:sp>
      <p:sp>
        <p:nvSpPr>
          <p:cNvPr id="3" name="object 3" descr=""/>
          <p:cNvSpPr txBox="1">
            <a:spLocks noGrp="1"/>
          </p:cNvSpPr>
          <p:nvPr>
            <p:ph type="body" idx="1"/>
          </p:nvPr>
        </p:nvSpPr>
        <p:spPr>
          <a:prstGeom prst="rect"/>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u="none"/>
              <a:t>Por</a:t>
            </a:r>
            <a:r>
              <a:rPr dirty="0" u="none" spc="-75"/>
              <a:t> </a:t>
            </a:r>
            <a:r>
              <a:rPr dirty="0" u="none" spc="-10"/>
              <a:t>defecto,</a:t>
            </a:r>
            <a:r>
              <a:rPr dirty="0" u="none" spc="-75"/>
              <a:t> </a:t>
            </a:r>
            <a:r>
              <a:rPr dirty="0" u="none"/>
              <a:t>siempre</a:t>
            </a:r>
            <a:r>
              <a:rPr dirty="0" u="none" spc="-70"/>
              <a:t> </a:t>
            </a:r>
            <a:r>
              <a:rPr dirty="0" u="none"/>
              <a:t>que</a:t>
            </a:r>
            <a:r>
              <a:rPr dirty="0" u="none" spc="-60"/>
              <a:t> </a:t>
            </a:r>
            <a:r>
              <a:rPr dirty="0" u="none"/>
              <a:t>una</a:t>
            </a:r>
            <a:r>
              <a:rPr dirty="0" u="none" spc="-70"/>
              <a:t> </a:t>
            </a:r>
            <a:r>
              <a:rPr dirty="0" u="none" spc="-10"/>
              <a:t>restricción</a:t>
            </a:r>
            <a:r>
              <a:rPr dirty="0" u="none" spc="-55"/>
              <a:t> </a:t>
            </a:r>
            <a:r>
              <a:rPr dirty="0" u="none"/>
              <a:t>de</a:t>
            </a:r>
            <a:r>
              <a:rPr dirty="0" u="none" spc="-80"/>
              <a:t> </a:t>
            </a:r>
            <a:r>
              <a:rPr dirty="0" u="none" spc="-10"/>
              <a:t>integridad </a:t>
            </a:r>
            <a:r>
              <a:rPr dirty="0" u="none" spc="-10"/>
              <a:t>	</a:t>
            </a:r>
            <a:r>
              <a:rPr dirty="0" u="none"/>
              <a:t>está</a:t>
            </a:r>
            <a:r>
              <a:rPr dirty="0" u="none" spc="-75"/>
              <a:t> </a:t>
            </a:r>
            <a:r>
              <a:rPr dirty="0" u="none"/>
              <a:t>definida</a:t>
            </a:r>
            <a:r>
              <a:rPr dirty="0" u="none" spc="-60"/>
              <a:t> </a:t>
            </a:r>
            <a:r>
              <a:rPr dirty="0" u="none"/>
              <a:t>en</a:t>
            </a:r>
            <a:r>
              <a:rPr dirty="0" u="none" spc="-95"/>
              <a:t> </a:t>
            </a:r>
            <a:r>
              <a:rPr dirty="0" u="none"/>
              <a:t>una</a:t>
            </a:r>
            <a:r>
              <a:rPr dirty="0" u="none" spc="-60"/>
              <a:t> </a:t>
            </a:r>
            <a:r>
              <a:rPr dirty="0" u="none"/>
              <a:t>sentencia</a:t>
            </a:r>
            <a:r>
              <a:rPr dirty="0" u="none" spc="-75"/>
              <a:t> </a:t>
            </a:r>
            <a:r>
              <a:rPr dirty="0" u="none" spc="-30"/>
              <a:t>CREATE</a:t>
            </a:r>
            <a:r>
              <a:rPr dirty="0" u="none" spc="-105"/>
              <a:t> </a:t>
            </a:r>
            <a:r>
              <a:rPr dirty="0" u="none"/>
              <a:t>o</a:t>
            </a:r>
            <a:r>
              <a:rPr dirty="0" u="none" spc="-85"/>
              <a:t> </a:t>
            </a:r>
            <a:r>
              <a:rPr dirty="0" u="none" spc="-20"/>
              <a:t>ALTER</a:t>
            </a:r>
            <a:r>
              <a:rPr dirty="0" u="none" spc="-85"/>
              <a:t> </a:t>
            </a:r>
            <a:r>
              <a:rPr dirty="0" u="none" spc="-10"/>
              <a:t>TABLE, </a:t>
            </a:r>
            <a:r>
              <a:rPr dirty="0" u="none" spc="-10"/>
              <a:t>	</a:t>
            </a:r>
            <a:r>
              <a:rPr dirty="0" u="none"/>
              <a:t>Oracle</a:t>
            </a:r>
            <a:r>
              <a:rPr dirty="0" u="none" spc="-75"/>
              <a:t> </a:t>
            </a:r>
            <a:r>
              <a:rPr dirty="0" u="none"/>
              <a:t>activa</a:t>
            </a:r>
            <a:r>
              <a:rPr dirty="0" u="none" spc="-75"/>
              <a:t> </a:t>
            </a:r>
            <a:r>
              <a:rPr dirty="0" u="none"/>
              <a:t>(aplica)</a:t>
            </a:r>
            <a:r>
              <a:rPr dirty="0" u="none" spc="-70"/>
              <a:t> </a:t>
            </a:r>
            <a:r>
              <a:rPr dirty="0" u="none" spc="-20"/>
              <a:t>automáticamente</a:t>
            </a:r>
            <a:r>
              <a:rPr dirty="0" u="none" spc="-70"/>
              <a:t> </a:t>
            </a:r>
            <a:r>
              <a:rPr dirty="0" u="none"/>
              <a:t>la</a:t>
            </a:r>
            <a:r>
              <a:rPr dirty="0" u="none" spc="-75"/>
              <a:t> </a:t>
            </a:r>
            <a:r>
              <a:rPr dirty="0" u="none"/>
              <a:t>restricción,</a:t>
            </a:r>
            <a:r>
              <a:rPr dirty="0" u="none" spc="-40"/>
              <a:t> </a:t>
            </a:r>
            <a:r>
              <a:rPr dirty="0" u="none" spc="-50"/>
              <a:t>a </a:t>
            </a:r>
            <a:r>
              <a:rPr dirty="0" u="none" spc="-50"/>
              <a:t>	</a:t>
            </a:r>
            <a:r>
              <a:rPr dirty="0" u="none"/>
              <a:t>menos</a:t>
            </a:r>
            <a:r>
              <a:rPr dirty="0" u="none" spc="-35"/>
              <a:t> </a:t>
            </a:r>
            <a:r>
              <a:rPr dirty="0" u="none"/>
              <a:t>que</a:t>
            </a:r>
            <a:r>
              <a:rPr dirty="0" u="none" spc="-45"/>
              <a:t> </a:t>
            </a:r>
            <a:r>
              <a:rPr dirty="0" u="none"/>
              <a:t>se</a:t>
            </a:r>
            <a:r>
              <a:rPr dirty="0" u="none" spc="-45"/>
              <a:t> </a:t>
            </a:r>
            <a:r>
              <a:rPr dirty="0" u="none"/>
              <a:t>cree</a:t>
            </a:r>
            <a:r>
              <a:rPr dirty="0" u="none" spc="-70"/>
              <a:t> </a:t>
            </a:r>
            <a:r>
              <a:rPr dirty="0" u="none" spc="-10"/>
              <a:t>específicamente</a:t>
            </a:r>
            <a:r>
              <a:rPr dirty="0" u="none" spc="-40"/>
              <a:t> </a:t>
            </a:r>
            <a:r>
              <a:rPr dirty="0" u="none"/>
              <a:t>con</a:t>
            </a:r>
            <a:r>
              <a:rPr dirty="0" u="none" spc="-50"/>
              <a:t> </a:t>
            </a:r>
            <a:r>
              <a:rPr dirty="0" u="none"/>
              <a:t>un</a:t>
            </a:r>
            <a:r>
              <a:rPr dirty="0" u="none" spc="-40"/>
              <a:t> </a:t>
            </a:r>
            <a:r>
              <a:rPr dirty="0" u="none" spc="-10"/>
              <a:t>estado </a:t>
            </a:r>
            <a:r>
              <a:rPr dirty="0" u="none" spc="-10"/>
              <a:t>	</a:t>
            </a:r>
            <a:r>
              <a:rPr dirty="0" u="none"/>
              <a:t>desactivado</a:t>
            </a:r>
            <a:r>
              <a:rPr dirty="0" u="none" spc="-70"/>
              <a:t> </a:t>
            </a:r>
            <a:r>
              <a:rPr dirty="0" u="none"/>
              <a:t>con</a:t>
            </a:r>
            <a:r>
              <a:rPr dirty="0" u="none" spc="-75"/>
              <a:t> </a:t>
            </a:r>
            <a:r>
              <a:rPr dirty="0" u="none"/>
              <a:t>la</a:t>
            </a:r>
            <a:r>
              <a:rPr dirty="0" u="none" spc="-80"/>
              <a:t> </a:t>
            </a:r>
            <a:r>
              <a:rPr dirty="0" u="none"/>
              <a:t>cláusula</a:t>
            </a:r>
            <a:r>
              <a:rPr dirty="0" u="none" spc="-55"/>
              <a:t> </a:t>
            </a:r>
            <a:r>
              <a:rPr dirty="0" u="none" spc="-10"/>
              <a:t>DISABLE</a:t>
            </a:r>
          </a:p>
        </p:txBody>
      </p:sp>
      <p:grpSp>
        <p:nvGrpSpPr>
          <p:cNvPr id="4" name="object 4" descr=""/>
          <p:cNvGrpSpPr/>
          <p:nvPr/>
        </p:nvGrpSpPr>
        <p:grpSpPr>
          <a:xfrm>
            <a:off x="5053584" y="4006596"/>
            <a:ext cx="2909570" cy="1969135"/>
            <a:chOff x="5053584" y="4006596"/>
            <a:chExt cx="2909570" cy="1969135"/>
          </a:xfrm>
        </p:grpSpPr>
        <p:pic>
          <p:nvPicPr>
            <p:cNvPr id="5" name="object 5" descr=""/>
            <p:cNvPicPr/>
            <p:nvPr/>
          </p:nvPicPr>
          <p:blipFill>
            <a:blip r:embed="rId2" cstate="print"/>
            <a:stretch>
              <a:fillRect/>
            </a:stretch>
          </p:blipFill>
          <p:spPr>
            <a:xfrm>
              <a:off x="5053584" y="5385816"/>
              <a:ext cx="2909316" cy="589787"/>
            </a:xfrm>
            <a:prstGeom prst="rect">
              <a:avLst/>
            </a:prstGeom>
          </p:spPr>
        </p:pic>
        <p:pic>
          <p:nvPicPr>
            <p:cNvPr id="6" name="object 6" descr=""/>
            <p:cNvPicPr/>
            <p:nvPr/>
          </p:nvPicPr>
          <p:blipFill>
            <a:blip r:embed="rId3" cstate="print"/>
            <a:stretch>
              <a:fillRect/>
            </a:stretch>
          </p:blipFill>
          <p:spPr>
            <a:xfrm>
              <a:off x="5820156" y="4006596"/>
              <a:ext cx="2065020" cy="1891283"/>
            </a:xfrm>
            <a:prstGeom prst="rect">
              <a:avLst/>
            </a:prstGeom>
          </p:spPr>
        </p:pic>
      </p:grpSp>
      <p:sp>
        <p:nvSpPr>
          <p:cNvPr id="7" name="object 7"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3</a:t>
            </a:r>
          </a:p>
          <a:p>
            <a:pPr marL="12700">
              <a:lnSpc>
                <a:spcPts val="965"/>
              </a:lnSpc>
            </a:pPr>
            <a:r>
              <a:rPr dirty="0"/>
              <a:t>Gestión</a:t>
            </a:r>
            <a:r>
              <a:rPr dirty="0" spc="-20"/>
              <a:t> </a:t>
            </a:r>
            <a:r>
              <a:rPr dirty="0"/>
              <a:t>de</a:t>
            </a:r>
            <a:r>
              <a:rPr dirty="0" spc="-40"/>
              <a:t> </a:t>
            </a:r>
            <a:r>
              <a:rPr dirty="0" spc="-10"/>
              <a:t>Restricciones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16</a:t>
            </a:r>
          </a:p>
        </p:txBody>
      </p:sp>
      <p:sp>
        <p:nvSpPr>
          <p:cNvPr id="9" name="object 9"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E0E2E1"/>
          </a:solidFill>
        </p:spPr>
        <p:txBody>
          <a:bodyPr wrap="square" lIns="0" tIns="0" rIns="0" bIns="0" rtlCol="0"/>
          <a:lstStyle/>
          <a:p/>
        </p:txBody>
      </p:sp>
      <p:sp>
        <p:nvSpPr>
          <p:cNvPr id="3" name="object 3" descr=""/>
          <p:cNvSpPr/>
          <p:nvPr/>
        </p:nvSpPr>
        <p:spPr>
          <a:xfrm>
            <a:off x="644499" y="1462392"/>
            <a:ext cx="7918450" cy="768350"/>
          </a:xfrm>
          <a:custGeom>
            <a:avLst/>
            <a:gdLst/>
            <a:ahLst/>
            <a:cxnLst/>
            <a:rect l="l" t="t" r="r" b="b"/>
            <a:pathLst>
              <a:path w="7918450" h="768350">
                <a:moveTo>
                  <a:pt x="7478725" y="578269"/>
                </a:moveTo>
                <a:lnTo>
                  <a:pt x="7473404" y="522008"/>
                </a:lnTo>
                <a:lnTo>
                  <a:pt x="7458964" y="470319"/>
                </a:lnTo>
                <a:lnTo>
                  <a:pt x="7437679" y="427748"/>
                </a:lnTo>
                <a:lnTo>
                  <a:pt x="7411834" y="398856"/>
                </a:lnTo>
                <a:lnTo>
                  <a:pt x="7383704" y="388213"/>
                </a:lnTo>
                <a:lnTo>
                  <a:pt x="118986" y="388213"/>
                </a:lnTo>
                <a:lnTo>
                  <a:pt x="65011" y="427748"/>
                </a:lnTo>
                <a:lnTo>
                  <a:pt x="43726" y="470319"/>
                </a:lnTo>
                <a:lnTo>
                  <a:pt x="29273" y="522008"/>
                </a:lnTo>
                <a:lnTo>
                  <a:pt x="23964" y="578269"/>
                </a:lnTo>
                <a:lnTo>
                  <a:pt x="29273" y="634517"/>
                </a:lnTo>
                <a:lnTo>
                  <a:pt x="43726" y="686206"/>
                </a:lnTo>
                <a:lnTo>
                  <a:pt x="65011" y="728776"/>
                </a:lnTo>
                <a:lnTo>
                  <a:pt x="90855" y="757669"/>
                </a:lnTo>
                <a:lnTo>
                  <a:pt x="118986" y="768311"/>
                </a:lnTo>
                <a:lnTo>
                  <a:pt x="7383704" y="768311"/>
                </a:lnTo>
                <a:lnTo>
                  <a:pt x="7437679" y="728776"/>
                </a:lnTo>
                <a:lnTo>
                  <a:pt x="7458964" y="686206"/>
                </a:lnTo>
                <a:lnTo>
                  <a:pt x="7473404" y="634517"/>
                </a:lnTo>
                <a:lnTo>
                  <a:pt x="7478725" y="578269"/>
                </a:lnTo>
                <a:close/>
              </a:path>
              <a:path w="7918450" h="768350">
                <a:moveTo>
                  <a:pt x="7918437" y="193878"/>
                </a:moveTo>
                <a:lnTo>
                  <a:pt x="7913002" y="136486"/>
                </a:lnTo>
                <a:lnTo>
                  <a:pt x="7898270" y="83756"/>
                </a:lnTo>
                <a:lnTo>
                  <a:pt x="7876553" y="40322"/>
                </a:lnTo>
                <a:lnTo>
                  <a:pt x="7850187" y="10858"/>
                </a:lnTo>
                <a:lnTo>
                  <a:pt x="7821498" y="0"/>
                </a:lnTo>
                <a:lnTo>
                  <a:pt x="96939" y="0"/>
                </a:lnTo>
                <a:lnTo>
                  <a:pt x="41871" y="40322"/>
                </a:lnTo>
                <a:lnTo>
                  <a:pt x="20154" y="83756"/>
                </a:lnTo>
                <a:lnTo>
                  <a:pt x="5422" y="136486"/>
                </a:lnTo>
                <a:lnTo>
                  <a:pt x="0" y="193878"/>
                </a:lnTo>
                <a:lnTo>
                  <a:pt x="5422" y="251269"/>
                </a:lnTo>
                <a:lnTo>
                  <a:pt x="20154" y="303999"/>
                </a:lnTo>
                <a:lnTo>
                  <a:pt x="41871" y="347433"/>
                </a:lnTo>
                <a:lnTo>
                  <a:pt x="68237" y="376897"/>
                </a:lnTo>
                <a:lnTo>
                  <a:pt x="96939" y="387756"/>
                </a:lnTo>
                <a:lnTo>
                  <a:pt x="7821498" y="387756"/>
                </a:lnTo>
                <a:lnTo>
                  <a:pt x="7876553" y="347433"/>
                </a:lnTo>
                <a:lnTo>
                  <a:pt x="7898270" y="303999"/>
                </a:lnTo>
                <a:lnTo>
                  <a:pt x="7913002" y="251269"/>
                </a:lnTo>
                <a:lnTo>
                  <a:pt x="7918437" y="193878"/>
                </a:lnTo>
                <a:close/>
              </a:path>
            </a:pathLst>
          </a:custGeom>
          <a:solidFill>
            <a:srgbClr val="FACD5A"/>
          </a:solidFill>
        </p:spPr>
        <p:txBody>
          <a:bodyPr wrap="square" lIns="0" tIns="0" rIns="0" bIns="0" rtlCol="0"/>
          <a:lstStyle/>
          <a:p/>
        </p:txBody>
      </p:sp>
      <p:pic>
        <p:nvPicPr>
          <p:cNvPr id="4" name="object 4" descr=""/>
          <p:cNvPicPr/>
          <p:nvPr/>
        </p:nvPicPr>
        <p:blipFill>
          <a:blip r:embed="rId2" cstate="print"/>
          <a:stretch>
            <a:fillRect/>
          </a:stretch>
        </p:blipFill>
        <p:spPr>
          <a:xfrm>
            <a:off x="0" y="0"/>
            <a:ext cx="9144000" cy="254507"/>
          </a:xfrm>
          <a:prstGeom prst="rect">
            <a:avLst/>
          </a:prstGeom>
        </p:spPr>
      </p:pic>
      <p:pic>
        <p:nvPicPr>
          <p:cNvPr id="5" name="object 5" descr=""/>
          <p:cNvPicPr/>
          <p:nvPr/>
        </p:nvPicPr>
        <p:blipFill>
          <a:blip r:embed="rId3" cstate="print"/>
          <a:stretch>
            <a:fillRect/>
          </a:stretch>
        </p:blipFill>
        <p:spPr>
          <a:xfrm>
            <a:off x="405384" y="6178295"/>
            <a:ext cx="1258824" cy="420624"/>
          </a:xfrm>
          <a:prstGeom prst="rect">
            <a:avLst/>
          </a:prstGeom>
        </p:spPr>
      </p:pic>
      <p:sp>
        <p:nvSpPr>
          <p:cNvPr id="6" name="object 6"/>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10"/>
              <a:t>Desactivación</a:t>
            </a:r>
            <a:r>
              <a:rPr dirty="0" spc="-50"/>
              <a:t> </a:t>
            </a:r>
            <a:r>
              <a:rPr dirty="0"/>
              <a:t>de</a:t>
            </a:r>
            <a:r>
              <a:rPr dirty="0" spc="-30"/>
              <a:t> </a:t>
            </a:r>
            <a:r>
              <a:rPr dirty="0" spc="-10"/>
              <a:t>Restricciones</a:t>
            </a:r>
          </a:p>
        </p:txBody>
      </p:sp>
      <p:sp>
        <p:nvSpPr>
          <p:cNvPr id="8" name="object 8"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3</a:t>
            </a:r>
          </a:p>
          <a:p>
            <a:pPr marL="12700">
              <a:lnSpc>
                <a:spcPts val="965"/>
              </a:lnSpc>
            </a:pPr>
            <a:r>
              <a:rPr dirty="0"/>
              <a:t>Gestión</a:t>
            </a:r>
            <a:r>
              <a:rPr dirty="0" spc="-20"/>
              <a:t> </a:t>
            </a:r>
            <a:r>
              <a:rPr dirty="0"/>
              <a:t>de</a:t>
            </a:r>
            <a:r>
              <a:rPr dirty="0" spc="-40"/>
              <a:t> </a:t>
            </a:r>
            <a:r>
              <a:rPr dirty="0" spc="-10"/>
              <a:t>Restricciones</a:t>
            </a:r>
          </a:p>
        </p:txBody>
      </p:sp>
      <p:sp>
        <p:nvSpPr>
          <p:cNvPr id="9" name="object 9"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17</a:t>
            </a:r>
          </a:p>
        </p:txBody>
      </p:sp>
      <p:sp>
        <p:nvSpPr>
          <p:cNvPr id="10" name="object 10"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7" name="object 7" descr=""/>
          <p:cNvSpPr txBox="1">
            <a:spLocks noGrp="1"/>
          </p:cNvSpPr>
          <p:nvPr>
            <p:ph type="body" idx="1"/>
          </p:nvPr>
        </p:nvSpPr>
        <p:spPr>
          <a:prstGeom prst="rect"/>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u="none"/>
              <a:t>Puede</a:t>
            </a:r>
            <a:r>
              <a:rPr dirty="0" u="none" spc="-50"/>
              <a:t> </a:t>
            </a:r>
            <a:r>
              <a:rPr dirty="0" u="none"/>
              <a:t>desactivar</a:t>
            </a:r>
            <a:r>
              <a:rPr dirty="0" u="none" spc="-60"/>
              <a:t> </a:t>
            </a:r>
            <a:r>
              <a:rPr dirty="0" u="none"/>
              <a:t>una</a:t>
            </a:r>
            <a:r>
              <a:rPr dirty="0" u="none" spc="-50"/>
              <a:t> </a:t>
            </a:r>
            <a:r>
              <a:rPr dirty="0" u="none" spc="-10"/>
              <a:t>restricción</a:t>
            </a:r>
            <a:r>
              <a:rPr dirty="0" u="none" spc="-50"/>
              <a:t> </a:t>
            </a:r>
            <a:r>
              <a:rPr dirty="0" u="none"/>
              <a:t>sin</a:t>
            </a:r>
            <a:r>
              <a:rPr dirty="0" u="none" spc="-55"/>
              <a:t> </a:t>
            </a:r>
            <a:r>
              <a:rPr dirty="0" u="none"/>
              <a:t>borrarla</a:t>
            </a:r>
            <a:r>
              <a:rPr dirty="0" u="none" spc="-50"/>
              <a:t> </a:t>
            </a:r>
            <a:r>
              <a:rPr dirty="0" u="none"/>
              <a:t>o</a:t>
            </a:r>
            <a:r>
              <a:rPr dirty="0" u="none" spc="-65"/>
              <a:t> </a:t>
            </a:r>
            <a:r>
              <a:rPr dirty="0" u="none"/>
              <a:t>volver</a:t>
            </a:r>
            <a:r>
              <a:rPr dirty="0" u="none" spc="-75"/>
              <a:t> </a:t>
            </a:r>
            <a:r>
              <a:rPr dirty="0" u="none" spc="-50"/>
              <a:t>a </a:t>
            </a:r>
            <a:r>
              <a:rPr dirty="0" u="none" spc="-50"/>
              <a:t>	</a:t>
            </a:r>
            <a:r>
              <a:rPr dirty="0" u="none"/>
              <a:t>crearla</a:t>
            </a:r>
            <a:r>
              <a:rPr dirty="0" u="none" spc="-80"/>
              <a:t> </a:t>
            </a:r>
            <a:r>
              <a:rPr dirty="0" u="none"/>
              <a:t>mediante</a:t>
            </a:r>
            <a:r>
              <a:rPr dirty="0" u="none" spc="-65"/>
              <a:t> </a:t>
            </a:r>
            <a:r>
              <a:rPr dirty="0" u="none"/>
              <a:t>DISABLE</a:t>
            </a:r>
            <a:r>
              <a:rPr dirty="0" u="none" spc="-60"/>
              <a:t> </a:t>
            </a:r>
            <a:r>
              <a:rPr dirty="0" u="none"/>
              <a:t>de</a:t>
            </a:r>
            <a:r>
              <a:rPr dirty="0" u="none" spc="-70"/>
              <a:t> </a:t>
            </a:r>
            <a:r>
              <a:rPr dirty="0" u="none"/>
              <a:t>la</a:t>
            </a:r>
            <a:r>
              <a:rPr dirty="0" u="none" spc="-70"/>
              <a:t> </a:t>
            </a:r>
            <a:r>
              <a:rPr dirty="0" u="none"/>
              <a:t>opción</a:t>
            </a:r>
            <a:r>
              <a:rPr dirty="0" u="none" spc="-60"/>
              <a:t> </a:t>
            </a:r>
            <a:r>
              <a:rPr dirty="0" u="none" spc="-25"/>
              <a:t>ALTER</a:t>
            </a:r>
            <a:r>
              <a:rPr dirty="0" u="none" spc="-80"/>
              <a:t> </a:t>
            </a:r>
            <a:r>
              <a:rPr dirty="0" u="none" spc="-10"/>
              <a:t>TABLE</a:t>
            </a:r>
          </a:p>
          <a:p>
            <a:pPr marL="182880" marR="125095" indent="-170815">
              <a:lnSpc>
                <a:spcPts val="3030"/>
              </a:lnSpc>
              <a:spcBef>
                <a:spcPts val="795"/>
              </a:spcBef>
              <a:buClr>
                <a:srgbClr val="D1350F"/>
              </a:buClr>
              <a:buFont typeface="Arial MT"/>
              <a:buChar char="•"/>
              <a:tabLst>
                <a:tab pos="184785" algn="l"/>
              </a:tabLst>
            </a:pPr>
            <a:r>
              <a:rPr dirty="0" u="none"/>
              <a:t>DISABLE</a:t>
            </a:r>
            <a:r>
              <a:rPr dirty="0" u="none" spc="-85"/>
              <a:t> </a:t>
            </a:r>
            <a:r>
              <a:rPr dirty="0" u="none"/>
              <a:t>permite</a:t>
            </a:r>
            <a:r>
              <a:rPr dirty="0" u="none" spc="-80"/>
              <a:t> </a:t>
            </a:r>
            <a:r>
              <a:rPr dirty="0" u="none"/>
              <a:t>datos</a:t>
            </a:r>
            <a:r>
              <a:rPr dirty="0" u="none" spc="-95"/>
              <a:t> </a:t>
            </a:r>
            <a:r>
              <a:rPr dirty="0" u="none" spc="-10"/>
              <a:t>entrantes,</a:t>
            </a:r>
            <a:r>
              <a:rPr dirty="0" u="none" spc="-75"/>
              <a:t> </a:t>
            </a:r>
            <a:r>
              <a:rPr dirty="0" u="none"/>
              <a:t>tanto</a:t>
            </a:r>
            <a:r>
              <a:rPr dirty="0" u="none" spc="-95"/>
              <a:t> </a:t>
            </a:r>
            <a:r>
              <a:rPr dirty="0" u="none"/>
              <a:t>si</a:t>
            </a:r>
            <a:r>
              <a:rPr dirty="0" u="none" spc="-90"/>
              <a:t> </a:t>
            </a:r>
            <a:r>
              <a:rPr dirty="0" u="none"/>
              <a:t>se</a:t>
            </a:r>
            <a:r>
              <a:rPr dirty="0" u="none" spc="-80"/>
              <a:t> </a:t>
            </a:r>
            <a:r>
              <a:rPr dirty="0" u="none"/>
              <a:t>ajustan</a:t>
            </a:r>
            <a:r>
              <a:rPr dirty="0" u="none" spc="-75"/>
              <a:t> </a:t>
            </a:r>
            <a:r>
              <a:rPr dirty="0" u="none" spc="-50"/>
              <a:t>a </a:t>
            </a:r>
            <a:r>
              <a:rPr dirty="0" u="none" spc="-50"/>
              <a:t>	</a:t>
            </a:r>
            <a:r>
              <a:rPr dirty="0" u="none"/>
              <a:t>la</a:t>
            </a:r>
            <a:r>
              <a:rPr dirty="0" u="none" spc="-45"/>
              <a:t> </a:t>
            </a:r>
            <a:r>
              <a:rPr dirty="0" u="none" spc="-10"/>
              <a:t>restricción</a:t>
            </a:r>
            <a:r>
              <a:rPr dirty="0" u="none" spc="-25"/>
              <a:t> </a:t>
            </a:r>
            <a:r>
              <a:rPr dirty="0" u="none"/>
              <a:t>como</a:t>
            </a:r>
            <a:r>
              <a:rPr dirty="0" u="none" spc="-30"/>
              <a:t> </a:t>
            </a:r>
            <a:r>
              <a:rPr dirty="0" u="none"/>
              <a:t>si</a:t>
            </a:r>
            <a:r>
              <a:rPr dirty="0" u="none" spc="-55"/>
              <a:t> </a:t>
            </a:r>
            <a:r>
              <a:rPr dirty="0" u="none" spc="-25"/>
              <a:t>no</a:t>
            </a:r>
          </a:p>
          <a:p>
            <a:pPr marL="182880" marR="15875" indent="-170815">
              <a:lnSpc>
                <a:spcPts val="3030"/>
              </a:lnSpc>
              <a:spcBef>
                <a:spcPts val="790"/>
              </a:spcBef>
              <a:buClr>
                <a:srgbClr val="D1350F"/>
              </a:buClr>
              <a:buFont typeface="Arial MT"/>
              <a:buChar char="•"/>
              <a:tabLst>
                <a:tab pos="184785" algn="l"/>
              </a:tabLst>
            </a:pPr>
            <a:r>
              <a:rPr dirty="0" u="none"/>
              <a:t>Esta</a:t>
            </a:r>
            <a:r>
              <a:rPr dirty="0" u="none" spc="-90"/>
              <a:t> </a:t>
            </a:r>
            <a:r>
              <a:rPr dirty="0" u="none"/>
              <a:t>función</a:t>
            </a:r>
            <a:r>
              <a:rPr dirty="0" u="none" spc="-70"/>
              <a:t> </a:t>
            </a:r>
            <a:r>
              <a:rPr dirty="0" u="none"/>
              <a:t>permite</a:t>
            </a:r>
            <a:r>
              <a:rPr dirty="0" u="none" spc="-80"/>
              <a:t> </a:t>
            </a:r>
            <a:r>
              <a:rPr dirty="0" u="none"/>
              <a:t>agregar</a:t>
            </a:r>
            <a:r>
              <a:rPr dirty="0" u="none" spc="-130"/>
              <a:t> </a:t>
            </a:r>
            <a:r>
              <a:rPr dirty="0" u="none"/>
              <a:t>datos</a:t>
            </a:r>
            <a:r>
              <a:rPr dirty="0" u="none" spc="-85"/>
              <a:t> </a:t>
            </a:r>
            <a:r>
              <a:rPr dirty="0" u="none"/>
              <a:t>una</a:t>
            </a:r>
            <a:r>
              <a:rPr dirty="0" u="none" spc="-70"/>
              <a:t> </a:t>
            </a:r>
            <a:r>
              <a:rPr dirty="0" u="none" spc="-10"/>
              <a:t>tabla </a:t>
            </a:r>
            <a:r>
              <a:rPr dirty="0" u="none" spc="-10"/>
              <a:t>	</a:t>
            </a:r>
            <a:r>
              <a:rPr dirty="0" u="none"/>
              <a:t>secundaria</a:t>
            </a:r>
            <a:r>
              <a:rPr dirty="0" u="none" spc="-45"/>
              <a:t> </a:t>
            </a:r>
            <a:r>
              <a:rPr dirty="0" u="none"/>
              <a:t>sin</a:t>
            </a:r>
            <a:r>
              <a:rPr dirty="0" u="none" spc="-55"/>
              <a:t> </a:t>
            </a:r>
            <a:r>
              <a:rPr dirty="0" u="none"/>
              <a:t>tener</a:t>
            </a:r>
            <a:r>
              <a:rPr dirty="0" u="none" spc="-75"/>
              <a:t> </a:t>
            </a:r>
            <a:r>
              <a:rPr dirty="0" u="none"/>
              <a:t>los</a:t>
            </a:r>
            <a:r>
              <a:rPr dirty="0" u="none" spc="-65"/>
              <a:t> </a:t>
            </a:r>
            <a:r>
              <a:rPr dirty="0" u="none"/>
              <a:t>valores</a:t>
            </a:r>
            <a:r>
              <a:rPr dirty="0" u="none" spc="-75"/>
              <a:t> </a:t>
            </a:r>
            <a:r>
              <a:rPr dirty="0" u="none" spc="-20"/>
              <a:t>correspondientes</a:t>
            </a:r>
            <a:r>
              <a:rPr dirty="0" u="none" spc="-35"/>
              <a:t> </a:t>
            </a:r>
            <a:r>
              <a:rPr dirty="0" u="none"/>
              <a:t>en</a:t>
            </a:r>
            <a:r>
              <a:rPr dirty="0" u="none" spc="-65"/>
              <a:t> </a:t>
            </a:r>
            <a:r>
              <a:rPr dirty="0" u="none" spc="-25"/>
              <a:t>la </a:t>
            </a:r>
            <a:r>
              <a:rPr dirty="0" u="none" spc="-25"/>
              <a:t>	</a:t>
            </a:r>
            <a:r>
              <a:rPr dirty="0" u="none"/>
              <a:t>tabla</a:t>
            </a:r>
            <a:r>
              <a:rPr dirty="0" u="none" spc="-60"/>
              <a:t> </a:t>
            </a:r>
            <a:r>
              <a:rPr dirty="0" u="none" spc="-10"/>
              <a:t>principal</a:t>
            </a:r>
          </a:p>
          <a:p>
            <a:pPr marL="183515" indent="-170815">
              <a:lnSpc>
                <a:spcPct val="100000"/>
              </a:lnSpc>
              <a:spcBef>
                <a:spcPts val="400"/>
              </a:spcBef>
              <a:buClr>
                <a:srgbClr val="D1350F"/>
              </a:buClr>
              <a:buFont typeface="Arial MT"/>
              <a:buChar char="•"/>
              <a:tabLst>
                <a:tab pos="183515" algn="l"/>
              </a:tabLst>
            </a:pPr>
            <a:r>
              <a:rPr dirty="0" u="none"/>
              <a:t>DISABLE</a:t>
            </a:r>
            <a:r>
              <a:rPr dirty="0" u="none" spc="-70"/>
              <a:t> </a:t>
            </a:r>
            <a:r>
              <a:rPr dirty="0" u="none" spc="-10"/>
              <a:t>simplemente</a:t>
            </a:r>
            <a:r>
              <a:rPr dirty="0" u="none" spc="-60"/>
              <a:t> </a:t>
            </a:r>
            <a:r>
              <a:rPr dirty="0" u="none"/>
              <a:t>desactiva</a:t>
            </a:r>
            <a:r>
              <a:rPr dirty="0" u="none" spc="-80"/>
              <a:t> </a:t>
            </a:r>
            <a:r>
              <a:rPr dirty="0" u="none"/>
              <a:t>la</a:t>
            </a:r>
            <a:r>
              <a:rPr dirty="0" u="none" spc="-75"/>
              <a:t> </a:t>
            </a:r>
            <a:r>
              <a:rPr dirty="0" u="none" spc="-10"/>
              <a:t>restricción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Uso</a:t>
            </a:r>
            <a:r>
              <a:rPr dirty="0" spc="-35"/>
              <a:t> </a:t>
            </a:r>
            <a:r>
              <a:rPr dirty="0"/>
              <a:t>de</a:t>
            </a:r>
            <a:r>
              <a:rPr dirty="0" spc="-35"/>
              <a:t> </a:t>
            </a:r>
            <a:r>
              <a:rPr dirty="0"/>
              <a:t>la</a:t>
            </a:r>
            <a:r>
              <a:rPr dirty="0" spc="-20"/>
              <a:t> </a:t>
            </a:r>
            <a:r>
              <a:rPr dirty="0"/>
              <a:t>Cláusula</a:t>
            </a:r>
            <a:r>
              <a:rPr dirty="0" spc="-20"/>
              <a:t> </a:t>
            </a:r>
            <a:r>
              <a:rPr dirty="0" spc="-10"/>
              <a:t>DISABLE</a:t>
            </a:r>
          </a:p>
        </p:txBody>
      </p:sp>
      <p:sp>
        <p:nvSpPr>
          <p:cNvPr id="6" name="object 6"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3</a:t>
            </a:r>
          </a:p>
          <a:p>
            <a:pPr marL="12700">
              <a:lnSpc>
                <a:spcPts val="965"/>
              </a:lnSpc>
            </a:pPr>
            <a:r>
              <a:rPr dirty="0"/>
              <a:t>Gestión</a:t>
            </a:r>
            <a:r>
              <a:rPr dirty="0" spc="-20"/>
              <a:t> </a:t>
            </a:r>
            <a:r>
              <a:rPr dirty="0"/>
              <a:t>de</a:t>
            </a:r>
            <a:r>
              <a:rPr dirty="0" spc="-40"/>
              <a:t> </a:t>
            </a:r>
            <a:r>
              <a:rPr dirty="0" spc="-10"/>
              <a:t>Restricciones</a:t>
            </a: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18</a:t>
            </a: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8107680" cy="836294"/>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Puede</a:t>
            </a:r>
            <a:r>
              <a:rPr dirty="0" sz="2800" spc="-45">
                <a:solidFill>
                  <a:srgbClr val="4E3629"/>
                </a:solidFill>
                <a:latin typeface="Calibri"/>
                <a:cs typeface="Calibri"/>
              </a:rPr>
              <a:t> </a:t>
            </a:r>
            <a:r>
              <a:rPr dirty="0" sz="2800">
                <a:solidFill>
                  <a:srgbClr val="4E3629"/>
                </a:solidFill>
                <a:latin typeface="Calibri"/>
                <a:cs typeface="Calibri"/>
              </a:rPr>
              <a:t>utilizar</a:t>
            </a:r>
            <a:r>
              <a:rPr dirty="0" sz="2800" spc="-55">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cláusula</a:t>
            </a:r>
            <a:r>
              <a:rPr dirty="0" sz="2800" spc="-40">
                <a:solidFill>
                  <a:srgbClr val="4E3629"/>
                </a:solidFill>
                <a:latin typeface="Calibri"/>
                <a:cs typeface="Calibri"/>
              </a:rPr>
              <a:t> </a:t>
            </a:r>
            <a:r>
              <a:rPr dirty="0" sz="2800">
                <a:solidFill>
                  <a:srgbClr val="4E3629"/>
                </a:solidFill>
                <a:latin typeface="Calibri"/>
                <a:cs typeface="Calibri"/>
              </a:rPr>
              <a:t>DISABLE</a:t>
            </a:r>
            <a:r>
              <a:rPr dirty="0" sz="2800" spc="-60">
                <a:solidFill>
                  <a:srgbClr val="4E3629"/>
                </a:solidFill>
                <a:latin typeface="Calibri"/>
                <a:cs typeface="Calibri"/>
              </a:rPr>
              <a:t> </a:t>
            </a:r>
            <a:r>
              <a:rPr dirty="0" sz="2800">
                <a:solidFill>
                  <a:srgbClr val="4E3629"/>
                </a:solidFill>
                <a:latin typeface="Calibri"/>
                <a:cs typeface="Calibri"/>
              </a:rPr>
              <a:t>tanto</a:t>
            </a:r>
            <a:r>
              <a:rPr dirty="0" sz="2800" spc="-55">
                <a:solidFill>
                  <a:srgbClr val="4E3629"/>
                </a:solidFill>
                <a:latin typeface="Calibri"/>
                <a:cs typeface="Calibri"/>
              </a:rPr>
              <a:t> </a:t>
            </a:r>
            <a:r>
              <a:rPr dirty="0" sz="2800">
                <a:solidFill>
                  <a:srgbClr val="4E3629"/>
                </a:solidFill>
                <a:latin typeface="Calibri"/>
                <a:cs typeface="Calibri"/>
              </a:rPr>
              <a:t>en</a:t>
            </a:r>
            <a:r>
              <a:rPr dirty="0" sz="2800" spc="-65">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spc="-10">
                <a:solidFill>
                  <a:srgbClr val="4E3629"/>
                </a:solidFill>
                <a:latin typeface="Calibri"/>
                <a:cs typeface="Calibri"/>
              </a:rPr>
              <a:t>sentencia </a:t>
            </a:r>
            <a:r>
              <a:rPr dirty="0" sz="2800" spc="-10">
                <a:solidFill>
                  <a:srgbClr val="4E3629"/>
                </a:solidFill>
                <a:latin typeface="Calibri"/>
                <a:cs typeface="Calibri"/>
              </a:rPr>
              <a:t>	</a:t>
            </a:r>
            <a:r>
              <a:rPr dirty="0" sz="2800" spc="-20">
                <a:solidFill>
                  <a:srgbClr val="4E3629"/>
                </a:solidFill>
                <a:latin typeface="Calibri"/>
                <a:cs typeface="Calibri"/>
              </a:rPr>
              <a:t>ALTER</a:t>
            </a:r>
            <a:r>
              <a:rPr dirty="0" sz="2800" spc="-85">
                <a:solidFill>
                  <a:srgbClr val="4E3629"/>
                </a:solidFill>
                <a:latin typeface="Calibri"/>
                <a:cs typeface="Calibri"/>
              </a:rPr>
              <a:t> </a:t>
            </a:r>
            <a:r>
              <a:rPr dirty="0" sz="2800" spc="-25">
                <a:solidFill>
                  <a:srgbClr val="4E3629"/>
                </a:solidFill>
                <a:latin typeface="Calibri"/>
                <a:cs typeface="Calibri"/>
              </a:rPr>
              <a:t>TABLE</a:t>
            </a:r>
            <a:r>
              <a:rPr dirty="0" sz="2800" spc="-95">
                <a:solidFill>
                  <a:srgbClr val="4E3629"/>
                </a:solidFill>
                <a:latin typeface="Calibri"/>
                <a:cs typeface="Calibri"/>
              </a:rPr>
              <a:t> </a:t>
            </a:r>
            <a:r>
              <a:rPr dirty="0" sz="2800">
                <a:solidFill>
                  <a:srgbClr val="4E3629"/>
                </a:solidFill>
                <a:latin typeface="Calibri"/>
                <a:cs typeface="Calibri"/>
              </a:rPr>
              <a:t>como</a:t>
            </a:r>
            <a:r>
              <a:rPr dirty="0" sz="2800" spc="-80">
                <a:solidFill>
                  <a:srgbClr val="4E3629"/>
                </a:solidFill>
                <a:latin typeface="Calibri"/>
                <a:cs typeface="Calibri"/>
              </a:rPr>
              <a:t> </a:t>
            </a:r>
            <a:r>
              <a:rPr dirty="0" sz="2800">
                <a:solidFill>
                  <a:srgbClr val="4E3629"/>
                </a:solidFill>
                <a:latin typeface="Calibri"/>
                <a:cs typeface="Calibri"/>
              </a:rPr>
              <a:t>en</a:t>
            </a:r>
            <a:r>
              <a:rPr dirty="0" sz="2800" spc="-80">
                <a:solidFill>
                  <a:srgbClr val="4E3629"/>
                </a:solidFill>
                <a:latin typeface="Calibri"/>
                <a:cs typeface="Calibri"/>
              </a:rPr>
              <a:t> </a:t>
            </a:r>
            <a:r>
              <a:rPr dirty="0" sz="2800">
                <a:solidFill>
                  <a:srgbClr val="4E3629"/>
                </a:solidFill>
                <a:latin typeface="Calibri"/>
                <a:cs typeface="Calibri"/>
              </a:rPr>
              <a:t>la</a:t>
            </a:r>
            <a:r>
              <a:rPr dirty="0" sz="2800" spc="-80">
                <a:solidFill>
                  <a:srgbClr val="4E3629"/>
                </a:solidFill>
                <a:latin typeface="Calibri"/>
                <a:cs typeface="Calibri"/>
              </a:rPr>
              <a:t> </a:t>
            </a:r>
            <a:r>
              <a:rPr dirty="0" sz="2800">
                <a:solidFill>
                  <a:srgbClr val="4E3629"/>
                </a:solidFill>
                <a:latin typeface="Calibri"/>
                <a:cs typeface="Calibri"/>
              </a:rPr>
              <a:t>sentencia</a:t>
            </a:r>
            <a:r>
              <a:rPr dirty="0" sz="2800" spc="-75">
                <a:solidFill>
                  <a:srgbClr val="4E3629"/>
                </a:solidFill>
                <a:latin typeface="Calibri"/>
                <a:cs typeface="Calibri"/>
              </a:rPr>
              <a:t> </a:t>
            </a:r>
            <a:r>
              <a:rPr dirty="0" sz="2800" spc="-30">
                <a:solidFill>
                  <a:srgbClr val="4E3629"/>
                </a:solidFill>
                <a:latin typeface="Calibri"/>
                <a:cs typeface="Calibri"/>
              </a:rPr>
              <a:t>CREATE</a:t>
            </a:r>
            <a:r>
              <a:rPr dirty="0" sz="2800" spc="-100">
                <a:solidFill>
                  <a:srgbClr val="4E3629"/>
                </a:solidFill>
                <a:latin typeface="Calibri"/>
                <a:cs typeface="Calibri"/>
              </a:rPr>
              <a:t> </a:t>
            </a:r>
            <a:r>
              <a:rPr dirty="0" sz="2800" spc="-10">
                <a:solidFill>
                  <a:srgbClr val="4E3629"/>
                </a:solidFill>
                <a:latin typeface="Calibri"/>
                <a:cs typeface="Calibri"/>
              </a:rPr>
              <a:t>TABLE</a:t>
            </a:r>
            <a:endParaRPr sz="2800">
              <a:latin typeface="Calibri"/>
              <a:cs typeface="Calibri"/>
            </a:endParaRPr>
          </a:p>
        </p:txBody>
      </p:sp>
      <p:sp>
        <p:nvSpPr>
          <p:cNvPr id="4" name="object 4" descr=""/>
          <p:cNvSpPr txBox="1"/>
          <p:nvPr/>
        </p:nvSpPr>
        <p:spPr>
          <a:xfrm>
            <a:off x="483552" y="4228721"/>
            <a:ext cx="8169275" cy="836294"/>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desactivación</a:t>
            </a:r>
            <a:r>
              <a:rPr dirty="0" sz="2800" spc="-3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una</a:t>
            </a:r>
            <a:r>
              <a:rPr dirty="0" sz="2800" spc="-30">
                <a:solidFill>
                  <a:srgbClr val="4E3629"/>
                </a:solidFill>
                <a:latin typeface="Calibri"/>
                <a:cs typeface="Calibri"/>
              </a:rPr>
              <a:t> </a:t>
            </a:r>
            <a:r>
              <a:rPr dirty="0" sz="2800" spc="-10">
                <a:solidFill>
                  <a:srgbClr val="4E3629"/>
                </a:solidFill>
                <a:latin typeface="Calibri"/>
                <a:cs typeface="Calibri"/>
              </a:rPr>
              <a:t>restricción</a:t>
            </a:r>
            <a:r>
              <a:rPr dirty="0" sz="2800" spc="-35">
                <a:solidFill>
                  <a:srgbClr val="4E3629"/>
                </a:solidFill>
                <a:latin typeface="Calibri"/>
                <a:cs typeface="Calibri"/>
              </a:rPr>
              <a:t> </a:t>
            </a:r>
            <a:r>
              <a:rPr dirty="0" sz="2800">
                <a:solidFill>
                  <a:srgbClr val="4E3629"/>
                </a:solidFill>
                <a:latin typeface="Calibri"/>
                <a:cs typeface="Calibri"/>
              </a:rPr>
              <a:t>UNIQUE</a:t>
            </a:r>
            <a:r>
              <a:rPr dirty="0" sz="2800" spc="-60">
                <a:solidFill>
                  <a:srgbClr val="4E3629"/>
                </a:solidFill>
                <a:latin typeface="Calibri"/>
                <a:cs typeface="Calibri"/>
              </a:rPr>
              <a:t> </a:t>
            </a:r>
            <a:r>
              <a:rPr dirty="0" sz="2800">
                <a:solidFill>
                  <a:srgbClr val="4E3629"/>
                </a:solidFill>
                <a:latin typeface="Calibri"/>
                <a:cs typeface="Calibri"/>
              </a:rPr>
              <a:t>o</a:t>
            </a:r>
            <a:r>
              <a:rPr dirty="0" sz="2800" spc="-55">
                <a:solidFill>
                  <a:srgbClr val="4E3629"/>
                </a:solidFill>
                <a:latin typeface="Calibri"/>
                <a:cs typeface="Calibri"/>
              </a:rPr>
              <a:t> </a:t>
            </a:r>
            <a:r>
              <a:rPr dirty="0" sz="2800" spc="-10">
                <a:solidFill>
                  <a:srgbClr val="4E3629"/>
                </a:solidFill>
                <a:latin typeface="Calibri"/>
                <a:cs typeface="Calibri"/>
              </a:rPr>
              <a:t>PRIMARY </a:t>
            </a:r>
            <a:r>
              <a:rPr dirty="0" sz="2800" spc="-10">
                <a:solidFill>
                  <a:srgbClr val="4E3629"/>
                </a:solidFill>
                <a:latin typeface="Calibri"/>
                <a:cs typeface="Calibri"/>
              </a:rPr>
              <a:t>	</a:t>
            </a:r>
            <a:r>
              <a:rPr dirty="0" sz="2800">
                <a:solidFill>
                  <a:srgbClr val="4E3629"/>
                </a:solidFill>
                <a:latin typeface="Calibri"/>
                <a:cs typeface="Calibri"/>
              </a:rPr>
              <a:t>KEY</a:t>
            </a:r>
            <a:r>
              <a:rPr dirty="0" sz="2800" spc="-40">
                <a:solidFill>
                  <a:srgbClr val="4E3629"/>
                </a:solidFill>
                <a:latin typeface="Calibri"/>
                <a:cs typeface="Calibri"/>
              </a:rPr>
              <a:t> </a:t>
            </a:r>
            <a:r>
              <a:rPr dirty="0" sz="2800">
                <a:solidFill>
                  <a:srgbClr val="4E3629"/>
                </a:solidFill>
                <a:latin typeface="Calibri"/>
                <a:cs typeface="Calibri"/>
              </a:rPr>
              <a:t>elimina</a:t>
            </a:r>
            <a:r>
              <a:rPr dirty="0" sz="2800" spc="-20">
                <a:solidFill>
                  <a:srgbClr val="4E3629"/>
                </a:solidFill>
                <a:latin typeface="Calibri"/>
                <a:cs typeface="Calibri"/>
              </a:rPr>
              <a:t> </a:t>
            </a:r>
            <a:r>
              <a:rPr dirty="0" sz="2800">
                <a:solidFill>
                  <a:srgbClr val="4E3629"/>
                </a:solidFill>
                <a:latin typeface="Calibri"/>
                <a:cs typeface="Calibri"/>
              </a:rPr>
              <a:t>el</a:t>
            </a:r>
            <a:r>
              <a:rPr dirty="0" sz="2800" spc="-35">
                <a:solidFill>
                  <a:srgbClr val="4E3629"/>
                </a:solidFill>
                <a:latin typeface="Calibri"/>
                <a:cs typeface="Calibri"/>
              </a:rPr>
              <a:t> </a:t>
            </a:r>
            <a:r>
              <a:rPr dirty="0" sz="2800">
                <a:solidFill>
                  <a:srgbClr val="4E3629"/>
                </a:solidFill>
                <a:latin typeface="Calibri"/>
                <a:cs typeface="Calibri"/>
              </a:rPr>
              <a:t>índice</a:t>
            </a:r>
            <a:r>
              <a:rPr dirty="0" sz="2800" spc="-15">
                <a:solidFill>
                  <a:srgbClr val="4E3629"/>
                </a:solidFill>
                <a:latin typeface="Calibri"/>
                <a:cs typeface="Calibri"/>
              </a:rPr>
              <a:t> </a:t>
            </a:r>
            <a:r>
              <a:rPr dirty="0" sz="2800" spc="-10">
                <a:solidFill>
                  <a:srgbClr val="4E3629"/>
                </a:solidFill>
                <a:latin typeface="Calibri"/>
                <a:cs typeface="Calibri"/>
              </a:rPr>
              <a:t>único</a:t>
            </a:r>
            <a:endParaRPr sz="2800">
              <a:latin typeface="Calibri"/>
              <a:cs typeface="Calibri"/>
            </a:endParaRPr>
          </a:p>
        </p:txBody>
      </p:sp>
      <p:sp>
        <p:nvSpPr>
          <p:cNvPr id="5" name="object 5" descr=""/>
          <p:cNvSpPr txBox="1"/>
          <p:nvPr/>
        </p:nvSpPr>
        <p:spPr>
          <a:xfrm>
            <a:off x="405384" y="2293620"/>
            <a:ext cx="8345805" cy="1991995"/>
          </a:xfrm>
          <a:prstGeom prst="rect">
            <a:avLst/>
          </a:prstGeom>
          <a:solidFill>
            <a:srgbClr val="9DBEC4">
              <a:alpha val="50199"/>
            </a:srgbClr>
          </a:solidFill>
        </p:spPr>
        <p:txBody>
          <a:bodyPr wrap="square" lIns="0" tIns="8255" rIns="0" bIns="0" rtlCol="0" vert="horz">
            <a:spAutoFit/>
          </a:bodyPr>
          <a:lstStyle/>
          <a:p>
            <a:pPr>
              <a:lnSpc>
                <a:spcPct val="100000"/>
              </a:lnSpc>
              <a:spcBef>
                <a:spcPts val="65"/>
              </a:spcBef>
            </a:pPr>
            <a:r>
              <a:rPr dirty="0" sz="1800" b="1">
                <a:solidFill>
                  <a:srgbClr val="4E3629"/>
                </a:solidFill>
                <a:latin typeface="Courier New"/>
                <a:cs typeface="Courier New"/>
              </a:rPr>
              <a:t>CREATE</a:t>
            </a:r>
            <a:r>
              <a:rPr dirty="0" sz="1800" spc="-55"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spc="-10" b="1">
                <a:solidFill>
                  <a:srgbClr val="4E3629"/>
                </a:solidFill>
                <a:latin typeface="Courier New"/>
                <a:cs typeface="Courier New"/>
              </a:rPr>
              <a:t>copy_employees</a:t>
            </a:r>
            <a:endParaRPr sz="1800">
              <a:latin typeface="Courier New"/>
              <a:cs typeface="Courier New"/>
            </a:endParaRPr>
          </a:p>
          <a:p>
            <a:pPr>
              <a:lnSpc>
                <a:spcPct val="100000"/>
              </a:lnSpc>
            </a:pPr>
            <a:r>
              <a:rPr dirty="0" sz="1800" b="1">
                <a:solidFill>
                  <a:srgbClr val="4E3629"/>
                </a:solidFill>
                <a:latin typeface="Courier New"/>
                <a:cs typeface="Courier New"/>
              </a:rPr>
              <a:t>(</a:t>
            </a:r>
            <a:r>
              <a:rPr dirty="0" sz="1800" spc="-60" b="1">
                <a:solidFill>
                  <a:srgbClr val="4E3629"/>
                </a:solidFill>
                <a:latin typeface="Courier New"/>
                <a:cs typeface="Courier New"/>
              </a:rPr>
              <a:t> </a:t>
            </a:r>
            <a:r>
              <a:rPr dirty="0" sz="1800" b="1">
                <a:solidFill>
                  <a:srgbClr val="4E3629"/>
                </a:solidFill>
                <a:latin typeface="Courier New"/>
                <a:cs typeface="Courier New"/>
              </a:rPr>
              <a:t>employee_id</a:t>
            </a:r>
            <a:r>
              <a:rPr dirty="0" sz="1800" spc="-65" b="1">
                <a:solidFill>
                  <a:srgbClr val="4E3629"/>
                </a:solidFill>
                <a:latin typeface="Courier New"/>
                <a:cs typeface="Courier New"/>
              </a:rPr>
              <a:t> </a:t>
            </a:r>
            <a:r>
              <a:rPr dirty="0" sz="1800" b="1">
                <a:solidFill>
                  <a:srgbClr val="4E3629"/>
                </a:solidFill>
                <a:latin typeface="Courier New"/>
                <a:cs typeface="Courier New"/>
              </a:rPr>
              <a:t>NUMBER(6,0)</a:t>
            </a:r>
            <a:r>
              <a:rPr dirty="0" sz="1800" spc="-70" b="1">
                <a:solidFill>
                  <a:srgbClr val="4E3629"/>
                </a:solidFill>
                <a:latin typeface="Courier New"/>
                <a:cs typeface="Courier New"/>
              </a:rPr>
              <a:t> </a:t>
            </a:r>
            <a:r>
              <a:rPr dirty="0" sz="1800" b="1">
                <a:solidFill>
                  <a:srgbClr val="4E3629"/>
                </a:solidFill>
                <a:latin typeface="Courier New"/>
                <a:cs typeface="Courier New"/>
              </a:rPr>
              <a:t>PRIMARY</a:t>
            </a:r>
            <a:r>
              <a:rPr dirty="0" sz="1800" spc="-70" b="1">
                <a:solidFill>
                  <a:srgbClr val="4E3629"/>
                </a:solidFill>
                <a:latin typeface="Courier New"/>
                <a:cs typeface="Courier New"/>
              </a:rPr>
              <a:t> </a:t>
            </a:r>
            <a:r>
              <a:rPr dirty="0" sz="1800" b="1">
                <a:solidFill>
                  <a:srgbClr val="4E3629"/>
                </a:solidFill>
                <a:latin typeface="Courier New"/>
                <a:cs typeface="Courier New"/>
              </a:rPr>
              <a:t>KEY</a:t>
            </a:r>
            <a:r>
              <a:rPr dirty="0" sz="1800" spc="-65" b="1">
                <a:solidFill>
                  <a:srgbClr val="4E3629"/>
                </a:solidFill>
                <a:latin typeface="Courier New"/>
                <a:cs typeface="Courier New"/>
              </a:rPr>
              <a:t> </a:t>
            </a:r>
            <a:r>
              <a:rPr dirty="0" sz="1800" spc="-10" b="1">
                <a:solidFill>
                  <a:srgbClr val="4E3629"/>
                </a:solidFill>
                <a:latin typeface="Courier New"/>
                <a:cs typeface="Courier New"/>
              </a:rPr>
              <a:t>DISABLE,</a:t>
            </a:r>
            <a:endParaRPr sz="1800">
              <a:latin typeface="Courier New"/>
              <a:cs typeface="Courier New"/>
            </a:endParaRPr>
          </a:p>
          <a:p>
            <a:pPr marL="408940">
              <a:lnSpc>
                <a:spcPct val="100000"/>
              </a:lnSpc>
            </a:pPr>
            <a:r>
              <a:rPr dirty="0" sz="1800" spc="-25" b="1">
                <a:solidFill>
                  <a:srgbClr val="4E3629"/>
                </a:solidFill>
                <a:latin typeface="Courier New"/>
                <a:cs typeface="Courier New"/>
              </a:rPr>
              <a:t>...</a:t>
            </a:r>
            <a:endParaRPr sz="1800">
              <a:latin typeface="Courier New"/>
              <a:cs typeface="Courier New"/>
            </a:endParaRPr>
          </a:p>
          <a:p>
            <a:pPr marL="408940">
              <a:lnSpc>
                <a:spcPct val="100000"/>
              </a:lnSpc>
            </a:pPr>
            <a:r>
              <a:rPr dirty="0" sz="1800" spc="-10" b="1">
                <a:solidFill>
                  <a:srgbClr val="4E3629"/>
                </a:solidFill>
                <a:latin typeface="Courier New"/>
                <a:cs typeface="Courier New"/>
              </a:rPr>
              <a:t>...);</a:t>
            </a:r>
            <a:endParaRPr sz="1800">
              <a:latin typeface="Courier New"/>
              <a:cs typeface="Courier New"/>
            </a:endParaRPr>
          </a:p>
          <a:p>
            <a:pPr>
              <a:lnSpc>
                <a:spcPct val="100000"/>
              </a:lnSpc>
              <a:spcBef>
                <a:spcPts val="120"/>
              </a:spcBef>
            </a:pPr>
            <a:endParaRPr sz="1800">
              <a:latin typeface="Courier New"/>
              <a:cs typeface="Courier New"/>
            </a:endParaRPr>
          </a:p>
          <a:p>
            <a:pPr>
              <a:lnSpc>
                <a:spcPct val="100000"/>
              </a:lnSpc>
              <a:spcBef>
                <a:spcPts val="5"/>
              </a:spcBef>
            </a:pPr>
            <a:r>
              <a:rPr dirty="0" sz="1800" b="1">
                <a:solidFill>
                  <a:srgbClr val="4E3629"/>
                </a:solidFill>
                <a:latin typeface="Courier New"/>
                <a:cs typeface="Courier New"/>
              </a:rPr>
              <a:t>ALTER</a:t>
            </a:r>
            <a:r>
              <a:rPr dirty="0" sz="1800" spc="-50" b="1">
                <a:solidFill>
                  <a:srgbClr val="4E3629"/>
                </a:solidFill>
                <a:latin typeface="Courier New"/>
                <a:cs typeface="Courier New"/>
              </a:rPr>
              <a:t> </a:t>
            </a:r>
            <a:r>
              <a:rPr dirty="0" sz="1800" b="1">
                <a:solidFill>
                  <a:srgbClr val="4E3629"/>
                </a:solidFill>
                <a:latin typeface="Courier New"/>
                <a:cs typeface="Courier New"/>
              </a:rPr>
              <a:t>TABLE</a:t>
            </a:r>
            <a:r>
              <a:rPr dirty="0" sz="1800" spc="-45" b="1">
                <a:solidFill>
                  <a:srgbClr val="4E3629"/>
                </a:solidFill>
                <a:latin typeface="Courier New"/>
                <a:cs typeface="Courier New"/>
              </a:rPr>
              <a:t> </a:t>
            </a:r>
            <a:r>
              <a:rPr dirty="0" sz="1800" spc="-10" b="1">
                <a:solidFill>
                  <a:srgbClr val="4E3629"/>
                </a:solidFill>
                <a:latin typeface="Courier New"/>
                <a:cs typeface="Courier New"/>
              </a:rPr>
              <a:t>copy_employees</a:t>
            </a:r>
            <a:endParaRPr sz="1800">
              <a:latin typeface="Courier New"/>
              <a:cs typeface="Courier New"/>
            </a:endParaRPr>
          </a:p>
          <a:p>
            <a:pPr>
              <a:lnSpc>
                <a:spcPct val="100000"/>
              </a:lnSpc>
            </a:pPr>
            <a:r>
              <a:rPr dirty="0" sz="1800" b="1">
                <a:solidFill>
                  <a:srgbClr val="4E3629"/>
                </a:solidFill>
                <a:latin typeface="Courier New"/>
                <a:cs typeface="Courier New"/>
              </a:rPr>
              <a:t>DISABLE</a:t>
            </a:r>
            <a:r>
              <a:rPr dirty="0" sz="1800" spc="-95" b="1">
                <a:solidFill>
                  <a:srgbClr val="4E3629"/>
                </a:solidFill>
                <a:latin typeface="Courier New"/>
                <a:cs typeface="Courier New"/>
              </a:rPr>
              <a:t> </a:t>
            </a:r>
            <a:r>
              <a:rPr dirty="0" sz="1800" b="1">
                <a:solidFill>
                  <a:srgbClr val="4E3629"/>
                </a:solidFill>
                <a:latin typeface="Courier New"/>
                <a:cs typeface="Courier New"/>
              </a:rPr>
              <a:t>CONSTRAINT</a:t>
            </a:r>
            <a:r>
              <a:rPr dirty="0" sz="1800" spc="-80" b="1">
                <a:solidFill>
                  <a:srgbClr val="4E3629"/>
                </a:solidFill>
                <a:latin typeface="Courier New"/>
                <a:cs typeface="Courier New"/>
              </a:rPr>
              <a:t> </a:t>
            </a:r>
            <a:r>
              <a:rPr dirty="0" sz="1800" spc="-10" b="1">
                <a:solidFill>
                  <a:srgbClr val="4E3629"/>
                </a:solidFill>
                <a:latin typeface="Courier New"/>
                <a:cs typeface="Courier New"/>
              </a:rPr>
              <a:t>c_emp_dept_id_fk;</a:t>
            </a:r>
            <a:endParaRPr sz="1800">
              <a:latin typeface="Courier New"/>
              <a:cs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Uso</a:t>
            </a:r>
            <a:r>
              <a:rPr dirty="0" spc="-35"/>
              <a:t> </a:t>
            </a:r>
            <a:r>
              <a:rPr dirty="0"/>
              <a:t>de</a:t>
            </a:r>
            <a:r>
              <a:rPr dirty="0" spc="-35"/>
              <a:t> </a:t>
            </a:r>
            <a:r>
              <a:rPr dirty="0"/>
              <a:t>la</a:t>
            </a:r>
            <a:r>
              <a:rPr dirty="0" spc="-20"/>
              <a:t> </a:t>
            </a:r>
            <a:r>
              <a:rPr dirty="0"/>
              <a:t>Cláusula</a:t>
            </a:r>
            <a:r>
              <a:rPr dirty="0" spc="-20"/>
              <a:t> </a:t>
            </a:r>
            <a:r>
              <a:rPr dirty="0" spc="-10"/>
              <a:t>CASCADE</a:t>
            </a:r>
          </a:p>
        </p:txBody>
      </p:sp>
      <p:sp>
        <p:nvSpPr>
          <p:cNvPr id="6" name="object 6"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3</a:t>
            </a:r>
          </a:p>
          <a:p>
            <a:pPr marL="12700">
              <a:lnSpc>
                <a:spcPts val="965"/>
              </a:lnSpc>
            </a:pPr>
            <a:r>
              <a:rPr dirty="0"/>
              <a:t>Gestión</a:t>
            </a:r>
            <a:r>
              <a:rPr dirty="0" spc="-20"/>
              <a:t> </a:t>
            </a:r>
            <a:r>
              <a:rPr dirty="0"/>
              <a:t>de</a:t>
            </a:r>
            <a:r>
              <a:rPr dirty="0" spc="-40"/>
              <a:t> </a:t>
            </a:r>
            <a:r>
              <a:rPr dirty="0" spc="-10"/>
              <a:t>Restricciones</a:t>
            </a: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19</a:t>
            </a: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7825740" cy="209042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a:t>
            </a:r>
            <a:r>
              <a:rPr dirty="0" sz="2800" spc="-70">
                <a:solidFill>
                  <a:srgbClr val="4E3629"/>
                </a:solidFill>
                <a:latin typeface="Calibri"/>
                <a:cs typeface="Calibri"/>
              </a:rPr>
              <a:t> </a:t>
            </a:r>
            <a:r>
              <a:rPr dirty="0" sz="2800">
                <a:solidFill>
                  <a:srgbClr val="4E3629"/>
                </a:solidFill>
                <a:latin typeface="Calibri"/>
                <a:cs typeface="Calibri"/>
              </a:rPr>
              <a:t>cláusula</a:t>
            </a:r>
            <a:r>
              <a:rPr dirty="0" sz="2800" spc="-40">
                <a:solidFill>
                  <a:srgbClr val="4E3629"/>
                </a:solidFill>
                <a:latin typeface="Calibri"/>
                <a:cs typeface="Calibri"/>
              </a:rPr>
              <a:t> </a:t>
            </a:r>
            <a:r>
              <a:rPr dirty="0" sz="2800">
                <a:solidFill>
                  <a:srgbClr val="4E3629"/>
                </a:solidFill>
                <a:latin typeface="Calibri"/>
                <a:cs typeface="Calibri"/>
              </a:rPr>
              <a:t>CASCADE</a:t>
            </a:r>
            <a:r>
              <a:rPr dirty="0" sz="2800" spc="-45">
                <a:solidFill>
                  <a:srgbClr val="4E3629"/>
                </a:solidFill>
                <a:latin typeface="Calibri"/>
                <a:cs typeface="Calibri"/>
              </a:rPr>
              <a:t> </a:t>
            </a:r>
            <a:r>
              <a:rPr dirty="0" sz="2800">
                <a:solidFill>
                  <a:srgbClr val="4E3629"/>
                </a:solidFill>
                <a:latin typeface="Calibri"/>
                <a:cs typeface="Calibri"/>
              </a:rPr>
              <a:t>desactiva</a:t>
            </a:r>
            <a:r>
              <a:rPr dirty="0" sz="2800" spc="-60">
                <a:solidFill>
                  <a:srgbClr val="4E3629"/>
                </a:solidFill>
                <a:latin typeface="Calibri"/>
                <a:cs typeface="Calibri"/>
              </a:rPr>
              <a:t> </a:t>
            </a:r>
            <a:r>
              <a:rPr dirty="0" sz="2800">
                <a:solidFill>
                  <a:srgbClr val="4E3629"/>
                </a:solidFill>
                <a:latin typeface="Calibri"/>
                <a:cs typeface="Calibri"/>
              </a:rPr>
              <a:t>las</a:t>
            </a:r>
            <a:r>
              <a:rPr dirty="0" sz="2800" spc="-70">
                <a:solidFill>
                  <a:srgbClr val="4E3629"/>
                </a:solidFill>
                <a:latin typeface="Calibri"/>
                <a:cs typeface="Calibri"/>
              </a:rPr>
              <a:t> </a:t>
            </a:r>
            <a:r>
              <a:rPr dirty="0" sz="2800" spc="-10">
                <a:solidFill>
                  <a:srgbClr val="4E3629"/>
                </a:solidFill>
                <a:latin typeface="Calibri"/>
                <a:cs typeface="Calibri"/>
              </a:rPr>
              <a:t>restricciones</a:t>
            </a:r>
            <a:r>
              <a:rPr dirty="0" sz="2800" spc="-3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integridad</a:t>
            </a:r>
            <a:r>
              <a:rPr dirty="0" sz="2800" spc="-90">
                <a:solidFill>
                  <a:srgbClr val="4E3629"/>
                </a:solidFill>
                <a:latin typeface="Calibri"/>
                <a:cs typeface="Calibri"/>
              </a:rPr>
              <a:t> </a:t>
            </a:r>
            <a:r>
              <a:rPr dirty="0" sz="2800">
                <a:solidFill>
                  <a:srgbClr val="4E3629"/>
                </a:solidFill>
                <a:latin typeface="Calibri"/>
                <a:cs typeface="Calibri"/>
              </a:rPr>
              <a:t>dependientes.</a:t>
            </a:r>
            <a:r>
              <a:rPr dirty="0" sz="2800" spc="-50">
                <a:solidFill>
                  <a:srgbClr val="4E3629"/>
                </a:solidFill>
                <a:latin typeface="Calibri"/>
                <a:cs typeface="Calibri"/>
              </a:rPr>
              <a:t> </a:t>
            </a:r>
            <a:r>
              <a:rPr dirty="0" sz="2800">
                <a:solidFill>
                  <a:srgbClr val="4E3629"/>
                </a:solidFill>
                <a:latin typeface="Calibri"/>
                <a:cs typeface="Calibri"/>
              </a:rPr>
              <a:t>Si</a:t>
            </a:r>
            <a:r>
              <a:rPr dirty="0" sz="2800" spc="-90">
                <a:solidFill>
                  <a:srgbClr val="4E3629"/>
                </a:solidFill>
                <a:latin typeface="Calibri"/>
                <a:cs typeface="Calibri"/>
              </a:rPr>
              <a:t> </a:t>
            </a:r>
            <a:r>
              <a:rPr dirty="0" sz="2800">
                <a:solidFill>
                  <a:srgbClr val="4E3629"/>
                </a:solidFill>
                <a:latin typeface="Calibri"/>
                <a:cs typeface="Calibri"/>
              </a:rPr>
              <a:t>la</a:t>
            </a:r>
            <a:r>
              <a:rPr dirty="0" sz="2800" spc="-95">
                <a:solidFill>
                  <a:srgbClr val="4E3629"/>
                </a:solidFill>
                <a:latin typeface="Calibri"/>
                <a:cs typeface="Calibri"/>
              </a:rPr>
              <a:t> </a:t>
            </a:r>
            <a:r>
              <a:rPr dirty="0" sz="2800">
                <a:solidFill>
                  <a:srgbClr val="4E3629"/>
                </a:solidFill>
                <a:latin typeface="Calibri"/>
                <a:cs typeface="Calibri"/>
              </a:rPr>
              <a:t>restricción</a:t>
            </a:r>
            <a:r>
              <a:rPr dirty="0" sz="2800" spc="-70">
                <a:solidFill>
                  <a:srgbClr val="4E3629"/>
                </a:solidFill>
                <a:latin typeface="Calibri"/>
                <a:cs typeface="Calibri"/>
              </a:rPr>
              <a:t> </a:t>
            </a:r>
            <a:r>
              <a:rPr dirty="0" sz="2800">
                <a:solidFill>
                  <a:srgbClr val="4E3629"/>
                </a:solidFill>
                <a:latin typeface="Calibri"/>
                <a:cs typeface="Calibri"/>
              </a:rPr>
              <a:t>se</a:t>
            </a:r>
            <a:r>
              <a:rPr dirty="0" sz="2800" spc="-95">
                <a:solidFill>
                  <a:srgbClr val="4E3629"/>
                </a:solidFill>
                <a:latin typeface="Calibri"/>
                <a:cs typeface="Calibri"/>
              </a:rPr>
              <a:t> </a:t>
            </a:r>
            <a:r>
              <a:rPr dirty="0" sz="2800" spc="-10">
                <a:solidFill>
                  <a:srgbClr val="4E3629"/>
                </a:solidFill>
                <a:latin typeface="Calibri"/>
                <a:cs typeface="Calibri"/>
              </a:rPr>
              <a:t>activa 	posteriormente,</a:t>
            </a:r>
            <a:r>
              <a:rPr dirty="0" sz="2800" spc="-60">
                <a:solidFill>
                  <a:srgbClr val="4E3629"/>
                </a:solidFill>
                <a:latin typeface="Calibri"/>
                <a:cs typeface="Calibri"/>
              </a:rPr>
              <a:t> </a:t>
            </a:r>
            <a:r>
              <a:rPr dirty="0" sz="2800">
                <a:solidFill>
                  <a:srgbClr val="4E3629"/>
                </a:solidFill>
                <a:latin typeface="Calibri"/>
                <a:cs typeface="Calibri"/>
              </a:rPr>
              <a:t>las</a:t>
            </a:r>
            <a:r>
              <a:rPr dirty="0" sz="2800" spc="-70">
                <a:solidFill>
                  <a:srgbClr val="4E3629"/>
                </a:solidFill>
                <a:latin typeface="Calibri"/>
                <a:cs typeface="Calibri"/>
              </a:rPr>
              <a:t> </a:t>
            </a:r>
            <a:r>
              <a:rPr dirty="0" sz="2800" spc="-10">
                <a:solidFill>
                  <a:srgbClr val="4E3629"/>
                </a:solidFill>
                <a:latin typeface="Calibri"/>
                <a:cs typeface="Calibri"/>
              </a:rPr>
              <a:t>restricciones</a:t>
            </a:r>
            <a:r>
              <a:rPr dirty="0" sz="2800" spc="-55">
                <a:solidFill>
                  <a:srgbClr val="4E3629"/>
                </a:solidFill>
                <a:latin typeface="Calibri"/>
                <a:cs typeface="Calibri"/>
              </a:rPr>
              <a:t> </a:t>
            </a:r>
            <a:r>
              <a:rPr dirty="0" sz="2800" spc="-10">
                <a:solidFill>
                  <a:srgbClr val="4E3629"/>
                </a:solidFill>
                <a:latin typeface="Calibri"/>
                <a:cs typeface="Calibri"/>
              </a:rPr>
              <a:t>dependientes</a:t>
            </a:r>
            <a:r>
              <a:rPr dirty="0" sz="2800" spc="-40">
                <a:solidFill>
                  <a:srgbClr val="4E3629"/>
                </a:solidFill>
                <a:latin typeface="Calibri"/>
                <a:cs typeface="Calibri"/>
              </a:rPr>
              <a:t> </a:t>
            </a:r>
            <a:r>
              <a:rPr dirty="0" sz="2800">
                <a:solidFill>
                  <a:srgbClr val="4E3629"/>
                </a:solidFill>
                <a:latin typeface="Calibri"/>
                <a:cs typeface="Calibri"/>
              </a:rPr>
              <a:t>no</a:t>
            </a:r>
            <a:r>
              <a:rPr dirty="0" sz="2800" spc="-60">
                <a:solidFill>
                  <a:srgbClr val="4E3629"/>
                </a:solidFill>
                <a:latin typeface="Calibri"/>
                <a:cs typeface="Calibri"/>
              </a:rPr>
              <a:t> </a:t>
            </a:r>
            <a:r>
              <a:rPr dirty="0" sz="2800" spc="-25">
                <a:solidFill>
                  <a:srgbClr val="4E3629"/>
                </a:solidFill>
                <a:latin typeface="Calibri"/>
                <a:cs typeface="Calibri"/>
              </a:rPr>
              <a:t>se </a:t>
            </a:r>
            <a:r>
              <a:rPr dirty="0" sz="2800" spc="-25">
                <a:solidFill>
                  <a:srgbClr val="4E3629"/>
                </a:solidFill>
                <a:latin typeface="Calibri"/>
                <a:cs typeface="Calibri"/>
              </a:rPr>
              <a:t>	</a:t>
            </a:r>
            <a:r>
              <a:rPr dirty="0" sz="2800">
                <a:solidFill>
                  <a:srgbClr val="4E3629"/>
                </a:solidFill>
                <a:latin typeface="Calibri"/>
                <a:cs typeface="Calibri"/>
              </a:rPr>
              <a:t>activan</a:t>
            </a:r>
            <a:r>
              <a:rPr dirty="0" sz="2800" spc="-85">
                <a:solidFill>
                  <a:srgbClr val="4E3629"/>
                </a:solidFill>
                <a:latin typeface="Calibri"/>
                <a:cs typeface="Calibri"/>
              </a:rPr>
              <a:t> </a:t>
            </a:r>
            <a:r>
              <a:rPr dirty="0" sz="2800" spc="-10">
                <a:solidFill>
                  <a:srgbClr val="4E3629"/>
                </a:solidFill>
                <a:latin typeface="Calibri"/>
                <a:cs typeface="Calibri"/>
              </a:rPr>
              <a:t>automáticamente</a:t>
            </a:r>
            <a:endParaRPr sz="2800">
              <a:latin typeface="Calibri"/>
              <a:cs typeface="Calibri"/>
            </a:endParaRPr>
          </a:p>
          <a:p>
            <a:pPr marL="183515" indent="-170815">
              <a:lnSpc>
                <a:spcPct val="100000"/>
              </a:lnSpc>
              <a:spcBef>
                <a:spcPts val="405"/>
              </a:spcBef>
              <a:buClr>
                <a:srgbClr val="D1350F"/>
              </a:buClr>
              <a:buFont typeface="Arial MT"/>
              <a:buChar char="•"/>
              <a:tabLst>
                <a:tab pos="183515" algn="l"/>
              </a:tabLst>
            </a:pPr>
            <a:r>
              <a:rPr dirty="0" sz="2800">
                <a:solidFill>
                  <a:srgbClr val="4E3629"/>
                </a:solidFill>
                <a:latin typeface="Calibri"/>
                <a:cs typeface="Calibri"/>
              </a:rPr>
              <a:t>Sintaxis</a:t>
            </a:r>
            <a:r>
              <a:rPr dirty="0" sz="2800" spc="-60">
                <a:solidFill>
                  <a:srgbClr val="4E3629"/>
                </a:solidFill>
                <a:latin typeface="Calibri"/>
                <a:cs typeface="Calibri"/>
              </a:rPr>
              <a:t> </a:t>
            </a:r>
            <a:r>
              <a:rPr dirty="0" sz="2800">
                <a:solidFill>
                  <a:srgbClr val="4E3629"/>
                </a:solidFill>
                <a:latin typeface="Calibri"/>
                <a:cs typeface="Calibri"/>
              </a:rPr>
              <a:t>y</a:t>
            </a:r>
            <a:r>
              <a:rPr dirty="0" sz="2800" spc="-85">
                <a:solidFill>
                  <a:srgbClr val="4E3629"/>
                </a:solidFill>
                <a:latin typeface="Calibri"/>
                <a:cs typeface="Calibri"/>
              </a:rPr>
              <a:t> </a:t>
            </a:r>
            <a:r>
              <a:rPr dirty="0" sz="2800" spc="-10">
                <a:solidFill>
                  <a:srgbClr val="4E3629"/>
                </a:solidFill>
                <a:latin typeface="Calibri"/>
                <a:cs typeface="Calibri"/>
              </a:rPr>
              <a:t>ejemplo:</a:t>
            </a:r>
            <a:endParaRPr sz="2800">
              <a:latin typeface="Calibri"/>
              <a:cs typeface="Calibri"/>
            </a:endParaRPr>
          </a:p>
        </p:txBody>
      </p:sp>
      <p:sp>
        <p:nvSpPr>
          <p:cNvPr id="4" name="object 4" descr=""/>
          <p:cNvSpPr txBox="1"/>
          <p:nvPr/>
        </p:nvSpPr>
        <p:spPr>
          <a:xfrm>
            <a:off x="393191" y="3723132"/>
            <a:ext cx="8345805" cy="574675"/>
          </a:xfrm>
          <a:prstGeom prst="rect">
            <a:avLst/>
          </a:prstGeom>
          <a:solidFill>
            <a:srgbClr val="9DBEC4">
              <a:alpha val="50199"/>
            </a:srgbClr>
          </a:solidFill>
        </p:spPr>
        <p:txBody>
          <a:bodyPr wrap="square" lIns="0" tIns="0" rIns="0" bIns="0" rtlCol="0" vert="horz">
            <a:spAutoFit/>
          </a:bodyPr>
          <a:lstStyle/>
          <a:p>
            <a:pPr>
              <a:lnSpc>
                <a:spcPts val="2050"/>
              </a:lnSpc>
            </a:pPr>
            <a:r>
              <a:rPr dirty="0" sz="1800" b="1">
                <a:solidFill>
                  <a:srgbClr val="4E3629"/>
                </a:solidFill>
                <a:latin typeface="Courier New"/>
                <a:cs typeface="Courier New"/>
              </a:rPr>
              <a:t>ALTER</a:t>
            </a:r>
            <a:r>
              <a:rPr dirty="0" sz="1800" spc="-50" b="1">
                <a:solidFill>
                  <a:srgbClr val="4E3629"/>
                </a:solidFill>
                <a:latin typeface="Courier New"/>
                <a:cs typeface="Courier New"/>
              </a:rPr>
              <a:t> </a:t>
            </a:r>
            <a:r>
              <a:rPr dirty="0" sz="1800" b="1">
                <a:solidFill>
                  <a:srgbClr val="4E3629"/>
                </a:solidFill>
                <a:latin typeface="Courier New"/>
                <a:cs typeface="Courier New"/>
              </a:rPr>
              <a:t>TABLE</a:t>
            </a:r>
            <a:r>
              <a:rPr dirty="0" sz="1800" spc="-45" b="1">
                <a:solidFill>
                  <a:srgbClr val="4E3629"/>
                </a:solidFill>
                <a:latin typeface="Courier New"/>
                <a:cs typeface="Courier New"/>
              </a:rPr>
              <a:t> </a:t>
            </a:r>
            <a:r>
              <a:rPr dirty="0" sz="1800" spc="-10" b="1">
                <a:solidFill>
                  <a:srgbClr val="4E3629"/>
                </a:solidFill>
                <a:latin typeface="Courier New"/>
                <a:cs typeface="Courier New"/>
              </a:rPr>
              <a:t>table_name</a:t>
            </a:r>
            <a:endParaRPr sz="1800">
              <a:latin typeface="Courier New"/>
              <a:cs typeface="Courier New"/>
            </a:endParaRPr>
          </a:p>
          <a:p>
            <a:pPr>
              <a:lnSpc>
                <a:spcPct val="100000"/>
              </a:lnSpc>
            </a:pPr>
            <a:r>
              <a:rPr dirty="0" sz="1800" b="1">
                <a:solidFill>
                  <a:srgbClr val="4E3629"/>
                </a:solidFill>
                <a:latin typeface="Courier New"/>
                <a:cs typeface="Courier New"/>
              </a:rPr>
              <a:t>DISABLE</a:t>
            </a:r>
            <a:r>
              <a:rPr dirty="0" sz="1800" spc="-114" b="1">
                <a:solidFill>
                  <a:srgbClr val="4E3629"/>
                </a:solidFill>
                <a:latin typeface="Courier New"/>
                <a:cs typeface="Courier New"/>
              </a:rPr>
              <a:t> </a:t>
            </a:r>
            <a:r>
              <a:rPr dirty="0" sz="1800" b="1">
                <a:solidFill>
                  <a:srgbClr val="4E3629"/>
                </a:solidFill>
                <a:latin typeface="Courier New"/>
                <a:cs typeface="Courier New"/>
              </a:rPr>
              <a:t>CONSTRAINT</a:t>
            </a:r>
            <a:r>
              <a:rPr dirty="0" sz="1800" spc="-105" b="1">
                <a:solidFill>
                  <a:srgbClr val="4E3629"/>
                </a:solidFill>
                <a:latin typeface="Courier New"/>
                <a:cs typeface="Courier New"/>
              </a:rPr>
              <a:t> </a:t>
            </a:r>
            <a:r>
              <a:rPr dirty="0" sz="1800" b="1">
                <a:solidFill>
                  <a:srgbClr val="4E3629"/>
                </a:solidFill>
                <a:latin typeface="Courier New"/>
                <a:cs typeface="Courier New"/>
              </a:rPr>
              <a:t>constraint_name</a:t>
            </a:r>
            <a:r>
              <a:rPr dirty="0" sz="1800" spc="-85" b="1">
                <a:solidFill>
                  <a:srgbClr val="4E3629"/>
                </a:solidFill>
                <a:latin typeface="Courier New"/>
                <a:cs typeface="Courier New"/>
              </a:rPr>
              <a:t> </a:t>
            </a:r>
            <a:r>
              <a:rPr dirty="0" sz="1800" spc="-10" b="1">
                <a:solidFill>
                  <a:srgbClr val="4E3629"/>
                </a:solidFill>
                <a:latin typeface="Courier New"/>
                <a:cs typeface="Courier New"/>
              </a:rPr>
              <a:t>[CASCADE];</a:t>
            </a:r>
            <a:endParaRPr sz="1800">
              <a:latin typeface="Courier New"/>
              <a:cs typeface="Courier New"/>
            </a:endParaRPr>
          </a:p>
        </p:txBody>
      </p:sp>
      <p:sp>
        <p:nvSpPr>
          <p:cNvPr id="5" name="object 5" descr=""/>
          <p:cNvSpPr txBox="1"/>
          <p:nvPr/>
        </p:nvSpPr>
        <p:spPr>
          <a:xfrm>
            <a:off x="393191" y="4500371"/>
            <a:ext cx="8345805" cy="574675"/>
          </a:xfrm>
          <a:prstGeom prst="rect">
            <a:avLst/>
          </a:prstGeom>
          <a:solidFill>
            <a:srgbClr val="9DBEC4">
              <a:alpha val="50199"/>
            </a:srgbClr>
          </a:solidFill>
        </p:spPr>
        <p:txBody>
          <a:bodyPr wrap="square" lIns="0" tIns="0" rIns="0" bIns="0" rtlCol="0" vert="horz">
            <a:spAutoFit/>
          </a:bodyPr>
          <a:lstStyle/>
          <a:p>
            <a:pPr>
              <a:lnSpc>
                <a:spcPts val="2039"/>
              </a:lnSpc>
            </a:pPr>
            <a:r>
              <a:rPr dirty="0" sz="1800" b="1">
                <a:solidFill>
                  <a:srgbClr val="4E3629"/>
                </a:solidFill>
                <a:latin typeface="Courier New"/>
                <a:cs typeface="Courier New"/>
              </a:rPr>
              <a:t>ALTER</a:t>
            </a:r>
            <a:r>
              <a:rPr dirty="0" sz="1800" spc="-60" b="1">
                <a:solidFill>
                  <a:srgbClr val="4E3629"/>
                </a:solidFill>
                <a:latin typeface="Courier New"/>
                <a:cs typeface="Courier New"/>
              </a:rPr>
              <a:t> </a:t>
            </a:r>
            <a:r>
              <a:rPr dirty="0" sz="1800" b="1">
                <a:solidFill>
                  <a:srgbClr val="4E3629"/>
                </a:solidFill>
                <a:latin typeface="Courier New"/>
                <a:cs typeface="Courier New"/>
              </a:rPr>
              <a:t>TABLE</a:t>
            </a:r>
            <a:r>
              <a:rPr dirty="0" sz="1800" spc="-45" b="1">
                <a:solidFill>
                  <a:srgbClr val="4E3629"/>
                </a:solidFill>
                <a:latin typeface="Courier New"/>
                <a:cs typeface="Courier New"/>
              </a:rPr>
              <a:t> </a:t>
            </a:r>
            <a:r>
              <a:rPr dirty="0" sz="1800" spc="-10" b="1">
                <a:solidFill>
                  <a:srgbClr val="4E3629"/>
                </a:solidFill>
                <a:latin typeface="Courier New"/>
                <a:cs typeface="Courier New"/>
              </a:rPr>
              <a:t>copy_departments</a:t>
            </a:r>
            <a:endParaRPr sz="1800">
              <a:latin typeface="Courier New"/>
              <a:cs typeface="Courier New"/>
            </a:endParaRPr>
          </a:p>
          <a:p>
            <a:pPr>
              <a:lnSpc>
                <a:spcPct val="100000"/>
              </a:lnSpc>
            </a:pPr>
            <a:r>
              <a:rPr dirty="0" sz="1800" b="1">
                <a:solidFill>
                  <a:srgbClr val="4E3629"/>
                </a:solidFill>
                <a:latin typeface="Courier New"/>
                <a:cs typeface="Courier New"/>
              </a:rPr>
              <a:t>DISABLE</a:t>
            </a:r>
            <a:r>
              <a:rPr dirty="0" sz="1800" spc="-120" b="1">
                <a:solidFill>
                  <a:srgbClr val="4E3629"/>
                </a:solidFill>
                <a:latin typeface="Courier New"/>
                <a:cs typeface="Courier New"/>
              </a:rPr>
              <a:t> </a:t>
            </a:r>
            <a:r>
              <a:rPr dirty="0" sz="1800" b="1">
                <a:solidFill>
                  <a:srgbClr val="4E3629"/>
                </a:solidFill>
                <a:latin typeface="Courier New"/>
                <a:cs typeface="Courier New"/>
              </a:rPr>
              <a:t>CONSTRAINT</a:t>
            </a:r>
            <a:r>
              <a:rPr dirty="0" sz="1800" spc="-110" b="1">
                <a:solidFill>
                  <a:srgbClr val="4E3629"/>
                </a:solidFill>
                <a:latin typeface="Courier New"/>
                <a:cs typeface="Courier New"/>
              </a:rPr>
              <a:t> </a:t>
            </a:r>
            <a:r>
              <a:rPr dirty="0" sz="1800" b="1">
                <a:solidFill>
                  <a:srgbClr val="4E3629"/>
                </a:solidFill>
                <a:latin typeface="Courier New"/>
                <a:cs typeface="Courier New"/>
              </a:rPr>
              <a:t>c_dept_dept_id_pk</a:t>
            </a:r>
            <a:r>
              <a:rPr dirty="0" sz="1800" spc="-110" b="1">
                <a:solidFill>
                  <a:srgbClr val="4E3629"/>
                </a:solidFill>
                <a:latin typeface="Courier New"/>
                <a:cs typeface="Courier New"/>
              </a:rPr>
              <a:t> </a:t>
            </a:r>
            <a:r>
              <a:rPr dirty="0" sz="1800" spc="-10" b="1">
                <a:solidFill>
                  <a:srgbClr val="4E3629"/>
                </a:solidFill>
                <a:latin typeface="Courier New"/>
                <a:cs typeface="Courier New"/>
              </a:rPr>
              <a:t>CASCADE;;</a:t>
            </a:r>
            <a:endParaRPr sz="1800">
              <a:latin typeface="Courier New"/>
              <a:cs typeface="Courier New"/>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Activación</a:t>
            </a:r>
            <a:r>
              <a:rPr dirty="0" spc="-90"/>
              <a:t> </a:t>
            </a:r>
            <a:r>
              <a:rPr dirty="0"/>
              <a:t>de</a:t>
            </a:r>
            <a:r>
              <a:rPr dirty="0" spc="-114"/>
              <a:t> </a:t>
            </a:r>
            <a:r>
              <a:rPr dirty="0" spc="-10"/>
              <a:t>Restricciones</a:t>
            </a:r>
          </a:p>
        </p:txBody>
      </p:sp>
      <p:sp>
        <p:nvSpPr>
          <p:cNvPr id="7" name="object 7"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3</a:t>
            </a:r>
          </a:p>
          <a:p>
            <a:pPr marL="12700">
              <a:lnSpc>
                <a:spcPts val="965"/>
              </a:lnSpc>
            </a:pPr>
            <a:r>
              <a:rPr dirty="0"/>
              <a:t>Gestión</a:t>
            </a:r>
            <a:r>
              <a:rPr dirty="0" spc="-20"/>
              <a:t> </a:t>
            </a:r>
            <a:r>
              <a:rPr dirty="0"/>
              <a:t>de</a:t>
            </a:r>
            <a:r>
              <a:rPr dirty="0" spc="-40"/>
              <a:t> </a:t>
            </a:r>
            <a:r>
              <a:rPr dirty="0" spc="-10"/>
              <a:t>Restricciones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20</a:t>
            </a:r>
          </a:p>
        </p:txBody>
      </p:sp>
      <p:sp>
        <p:nvSpPr>
          <p:cNvPr id="9" name="object 9"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381889"/>
            <a:ext cx="7988934" cy="2361565"/>
          </a:xfrm>
          <a:prstGeom prst="rect">
            <a:avLst/>
          </a:prstGeom>
        </p:spPr>
        <p:txBody>
          <a:bodyPr wrap="square" lIns="0" tIns="97155" rIns="0" bIns="0" rtlCol="0" vert="horz">
            <a:spAutoFit/>
          </a:bodyPr>
          <a:lstStyle/>
          <a:p>
            <a:pPr algn="just" marL="182880" marR="5080" indent="-170815">
              <a:lnSpc>
                <a:spcPct val="80000"/>
              </a:lnSpc>
              <a:spcBef>
                <a:spcPts val="765"/>
              </a:spcBef>
              <a:buClr>
                <a:srgbClr val="D1350F"/>
              </a:buClr>
              <a:buFont typeface="Arial MT"/>
              <a:buChar char="•"/>
              <a:tabLst>
                <a:tab pos="184785" algn="l"/>
              </a:tabLst>
            </a:pPr>
            <a:r>
              <a:rPr dirty="0" sz="2800" spc="-10">
                <a:solidFill>
                  <a:srgbClr val="4E3629"/>
                </a:solidFill>
                <a:latin typeface="Calibri"/>
                <a:cs typeface="Calibri"/>
              </a:rPr>
              <a:t>Para</a:t>
            </a:r>
            <a:r>
              <a:rPr dirty="0" sz="2800" spc="-85">
                <a:solidFill>
                  <a:srgbClr val="4E3629"/>
                </a:solidFill>
                <a:latin typeface="Calibri"/>
                <a:cs typeface="Calibri"/>
              </a:rPr>
              <a:t> </a:t>
            </a:r>
            <a:r>
              <a:rPr dirty="0" sz="2800">
                <a:solidFill>
                  <a:srgbClr val="4E3629"/>
                </a:solidFill>
                <a:latin typeface="Calibri"/>
                <a:cs typeface="Calibri"/>
              </a:rPr>
              <a:t>activar</a:t>
            </a:r>
            <a:r>
              <a:rPr dirty="0" sz="2800" spc="-85">
                <a:solidFill>
                  <a:srgbClr val="4E3629"/>
                </a:solidFill>
                <a:latin typeface="Calibri"/>
                <a:cs typeface="Calibri"/>
              </a:rPr>
              <a:t> </a:t>
            </a:r>
            <a:r>
              <a:rPr dirty="0" sz="2800">
                <a:solidFill>
                  <a:srgbClr val="4E3629"/>
                </a:solidFill>
                <a:latin typeface="Calibri"/>
                <a:cs typeface="Calibri"/>
              </a:rPr>
              <a:t>una</a:t>
            </a:r>
            <a:r>
              <a:rPr dirty="0" sz="2800" spc="-70">
                <a:solidFill>
                  <a:srgbClr val="4E3629"/>
                </a:solidFill>
                <a:latin typeface="Calibri"/>
                <a:cs typeface="Calibri"/>
              </a:rPr>
              <a:t> </a:t>
            </a:r>
            <a:r>
              <a:rPr dirty="0" sz="2800" spc="-10">
                <a:solidFill>
                  <a:srgbClr val="4E3629"/>
                </a:solidFill>
                <a:latin typeface="Calibri"/>
                <a:cs typeface="Calibri"/>
              </a:rPr>
              <a:t>restricción</a:t>
            </a:r>
            <a:r>
              <a:rPr dirty="0" sz="2800" spc="-70">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a:solidFill>
                  <a:srgbClr val="4E3629"/>
                </a:solidFill>
                <a:latin typeface="Calibri"/>
                <a:cs typeface="Calibri"/>
              </a:rPr>
              <a:t>integridad</a:t>
            </a:r>
            <a:r>
              <a:rPr dirty="0" sz="2800" spc="-80">
                <a:solidFill>
                  <a:srgbClr val="4E3629"/>
                </a:solidFill>
                <a:latin typeface="Calibri"/>
                <a:cs typeface="Calibri"/>
              </a:rPr>
              <a:t> </a:t>
            </a:r>
            <a:r>
              <a:rPr dirty="0" sz="2800" spc="-10">
                <a:solidFill>
                  <a:srgbClr val="4E3629"/>
                </a:solidFill>
                <a:latin typeface="Calibri"/>
                <a:cs typeface="Calibri"/>
              </a:rPr>
              <a:t>actualmente </a:t>
            </a:r>
            <a:r>
              <a:rPr dirty="0" sz="2800" spc="-10">
                <a:solidFill>
                  <a:srgbClr val="4E3629"/>
                </a:solidFill>
                <a:latin typeface="Calibri"/>
                <a:cs typeface="Calibri"/>
              </a:rPr>
              <a:t>	</a:t>
            </a:r>
            <a:r>
              <a:rPr dirty="0" sz="2800">
                <a:solidFill>
                  <a:srgbClr val="4E3629"/>
                </a:solidFill>
                <a:latin typeface="Calibri"/>
                <a:cs typeface="Calibri"/>
              </a:rPr>
              <a:t>desactivada,</a:t>
            </a:r>
            <a:r>
              <a:rPr dirty="0" sz="2800" spc="-55">
                <a:solidFill>
                  <a:srgbClr val="4E3629"/>
                </a:solidFill>
                <a:latin typeface="Calibri"/>
                <a:cs typeface="Calibri"/>
              </a:rPr>
              <a:t> </a:t>
            </a:r>
            <a:r>
              <a:rPr dirty="0" sz="2800">
                <a:solidFill>
                  <a:srgbClr val="4E3629"/>
                </a:solidFill>
                <a:latin typeface="Calibri"/>
                <a:cs typeface="Calibri"/>
              </a:rPr>
              <a:t>utilice</a:t>
            </a:r>
            <a:r>
              <a:rPr dirty="0" sz="2800" spc="-50">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cláusula</a:t>
            </a:r>
            <a:r>
              <a:rPr dirty="0" sz="2800" spc="-35">
                <a:solidFill>
                  <a:srgbClr val="4E3629"/>
                </a:solidFill>
                <a:latin typeface="Calibri"/>
                <a:cs typeface="Calibri"/>
              </a:rPr>
              <a:t> </a:t>
            </a:r>
            <a:r>
              <a:rPr dirty="0" sz="2800">
                <a:solidFill>
                  <a:srgbClr val="4E3629"/>
                </a:solidFill>
                <a:latin typeface="Calibri"/>
                <a:cs typeface="Calibri"/>
              </a:rPr>
              <a:t>ENABLE</a:t>
            </a:r>
            <a:r>
              <a:rPr dirty="0" sz="2800" spc="-60">
                <a:solidFill>
                  <a:srgbClr val="4E3629"/>
                </a:solidFill>
                <a:latin typeface="Calibri"/>
                <a:cs typeface="Calibri"/>
              </a:rPr>
              <a:t> </a:t>
            </a:r>
            <a:r>
              <a:rPr dirty="0" sz="2800">
                <a:solidFill>
                  <a:srgbClr val="4E3629"/>
                </a:solidFill>
                <a:latin typeface="Calibri"/>
                <a:cs typeface="Calibri"/>
              </a:rPr>
              <a:t>en</a:t>
            </a:r>
            <a:r>
              <a:rPr dirty="0" sz="2800" spc="-55">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spc="-10">
                <a:solidFill>
                  <a:srgbClr val="4E3629"/>
                </a:solidFill>
                <a:latin typeface="Calibri"/>
                <a:cs typeface="Calibri"/>
              </a:rPr>
              <a:t>sentencia </a:t>
            </a:r>
            <a:r>
              <a:rPr dirty="0" sz="2800" spc="-10">
                <a:solidFill>
                  <a:srgbClr val="4E3629"/>
                </a:solidFill>
                <a:latin typeface="Calibri"/>
                <a:cs typeface="Calibri"/>
              </a:rPr>
              <a:t>	</a:t>
            </a:r>
            <a:r>
              <a:rPr dirty="0" sz="2800" spc="-20">
                <a:solidFill>
                  <a:srgbClr val="4E3629"/>
                </a:solidFill>
                <a:latin typeface="Calibri"/>
                <a:cs typeface="Calibri"/>
              </a:rPr>
              <a:t>ALTER</a:t>
            </a:r>
            <a:r>
              <a:rPr dirty="0" sz="2800" spc="-125">
                <a:solidFill>
                  <a:srgbClr val="4E3629"/>
                </a:solidFill>
                <a:latin typeface="Calibri"/>
                <a:cs typeface="Calibri"/>
              </a:rPr>
              <a:t> </a:t>
            </a:r>
            <a:r>
              <a:rPr dirty="0" sz="2800" spc="-10">
                <a:solidFill>
                  <a:srgbClr val="4E3629"/>
                </a:solidFill>
                <a:latin typeface="Calibri"/>
                <a:cs typeface="Calibri"/>
              </a:rPr>
              <a:t>TABLE</a:t>
            </a:r>
            <a:endParaRPr sz="2800">
              <a:latin typeface="Calibri"/>
              <a:cs typeface="Calibri"/>
            </a:endParaRPr>
          </a:p>
          <a:p>
            <a:pPr marL="182880" marR="529590" indent="-170815">
              <a:lnSpc>
                <a:spcPct val="80000"/>
              </a:lnSpc>
              <a:spcBef>
                <a:spcPts val="810"/>
              </a:spcBef>
              <a:buClr>
                <a:srgbClr val="D1350F"/>
              </a:buClr>
              <a:buFont typeface="Arial MT"/>
              <a:buChar char="•"/>
              <a:tabLst>
                <a:tab pos="184785" algn="l"/>
              </a:tabLst>
            </a:pPr>
            <a:r>
              <a:rPr dirty="0" sz="2800">
                <a:solidFill>
                  <a:srgbClr val="4E3629"/>
                </a:solidFill>
                <a:latin typeface="Calibri"/>
                <a:cs typeface="Calibri"/>
              </a:rPr>
              <a:t>ENABLE</a:t>
            </a:r>
            <a:r>
              <a:rPr dirty="0" sz="2800" spc="-65">
                <a:solidFill>
                  <a:srgbClr val="4E3629"/>
                </a:solidFill>
                <a:latin typeface="Calibri"/>
                <a:cs typeface="Calibri"/>
              </a:rPr>
              <a:t> </a:t>
            </a:r>
            <a:r>
              <a:rPr dirty="0" sz="2800" spc="-20">
                <a:solidFill>
                  <a:srgbClr val="4E3629"/>
                </a:solidFill>
                <a:latin typeface="Calibri"/>
                <a:cs typeface="Calibri"/>
              </a:rPr>
              <a:t>garantiza</a:t>
            </a:r>
            <a:r>
              <a:rPr dirty="0" sz="2800" spc="-95">
                <a:solidFill>
                  <a:srgbClr val="4E3629"/>
                </a:solidFill>
                <a:latin typeface="Calibri"/>
                <a:cs typeface="Calibri"/>
              </a:rPr>
              <a:t> </a:t>
            </a:r>
            <a:r>
              <a:rPr dirty="0" sz="2800">
                <a:solidFill>
                  <a:srgbClr val="4E3629"/>
                </a:solidFill>
                <a:latin typeface="Calibri"/>
                <a:cs typeface="Calibri"/>
              </a:rPr>
              <a:t>que</a:t>
            </a:r>
            <a:r>
              <a:rPr dirty="0" sz="2800" spc="-55">
                <a:solidFill>
                  <a:srgbClr val="4E3629"/>
                </a:solidFill>
                <a:latin typeface="Calibri"/>
                <a:cs typeface="Calibri"/>
              </a:rPr>
              <a:t> </a:t>
            </a:r>
            <a:r>
              <a:rPr dirty="0" sz="2800">
                <a:solidFill>
                  <a:srgbClr val="4E3629"/>
                </a:solidFill>
                <a:latin typeface="Calibri"/>
                <a:cs typeface="Calibri"/>
              </a:rPr>
              <a:t>todos</a:t>
            </a:r>
            <a:r>
              <a:rPr dirty="0" sz="2800" spc="-65">
                <a:solidFill>
                  <a:srgbClr val="4E3629"/>
                </a:solidFill>
                <a:latin typeface="Calibri"/>
                <a:cs typeface="Calibri"/>
              </a:rPr>
              <a:t> </a:t>
            </a:r>
            <a:r>
              <a:rPr dirty="0" sz="2800">
                <a:solidFill>
                  <a:srgbClr val="4E3629"/>
                </a:solidFill>
                <a:latin typeface="Calibri"/>
                <a:cs typeface="Calibri"/>
              </a:rPr>
              <a:t>los</a:t>
            </a:r>
            <a:r>
              <a:rPr dirty="0" sz="2800" spc="-65">
                <a:solidFill>
                  <a:srgbClr val="4E3629"/>
                </a:solidFill>
                <a:latin typeface="Calibri"/>
                <a:cs typeface="Calibri"/>
              </a:rPr>
              <a:t> </a:t>
            </a:r>
            <a:r>
              <a:rPr dirty="0" sz="2800">
                <a:solidFill>
                  <a:srgbClr val="4E3629"/>
                </a:solidFill>
                <a:latin typeface="Calibri"/>
                <a:cs typeface="Calibri"/>
              </a:rPr>
              <a:t>datos</a:t>
            </a:r>
            <a:r>
              <a:rPr dirty="0" sz="2800" spc="-70">
                <a:solidFill>
                  <a:srgbClr val="4E3629"/>
                </a:solidFill>
                <a:latin typeface="Calibri"/>
                <a:cs typeface="Calibri"/>
              </a:rPr>
              <a:t> </a:t>
            </a:r>
            <a:r>
              <a:rPr dirty="0" sz="2800" spc="-10">
                <a:solidFill>
                  <a:srgbClr val="4E3629"/>
                </a:solidFill>
                <a:latin typeface="Calibri"/>
                <a:cs typeface="Calibri"/>
              </a:rPr>
              <a:t>entrantes</a:t>
            </a:r>
            <a:r>
              <a:rPr dirty="0" sz="2800" spc="-70">
                <a:solidFill>
                  <a:srgbClr val="4E3629"/>
                </a:solidFill>
                <a:latin typeface="Calibri"/>
                <a:cs typeface="Calibri"/>
              </a:rPr>
              <a:t> </a:t>
            </a:r>
            <a:r>
              <a:rPr dirty="0" sz="2800" spc="-25">
                <a:solidFill>
                  <a:srgbClr val="4E3629"/>
                </a:solidFill>
                <a:latin typeface="Calibri"/>
                <a:cs typeface="Calibri"/>
              </a:rPr>
              <a:t>se </a:t>
            </a:r>
            <a:r>
              <a:rPr dirty="0" sz="2800" spc="-25">
                <a:solidFill>
                  <a:srgbClr val="4E3629"/>
                </a:solidFill>
                <a:latin typeface="Calibri"/>
                <a:cs typeface="Calibri"/>
              </a:rPr>
              <a:t>	</a:t>
            </a:r>
            <a:r>
              <a:rPr dirty="0" sz="2800">
                <a:solidFill>
                  <a:srgbClr val="4E3629"/>
                </a:solidFill>
                <a:latin typeface="Calibri"/>
                <a:cs typeface="Calibri"/>
              </a:rPr>
              <a:t>ajustan</a:t>
            </a:r>
            <a:r>
              <a:rPr dirty="0" sz="2800" spc="-45">
                <a:solidFill>
                  <a:srgbClr val="4E3629"/>
                </a:solidFill>
                <a:latin typeface="Calibri"/>
                <a:cs typeface="Calibri"/>
              </a:rPr>
              <a:t> </a:t>
            </a:r>
            <a:r>
              <a:rPr dirty="0" sz="2800">
                <a:solidFill>
                  <a:srgbClr val="4E3629"/>
                </a:solidFill>
                <a:latin typeface="Calibri"/>
                <a:cs typeface="Calibri"/>
              </a:rPr>
              <a:t>a</a:t>
            </a:r>
            <a:r>
              <a:rPr dirty="0" sz="2800" spc="-45">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spc="-10">
                <a:solidFill>
                  <a:srgbClr val="4E3629"/>
                </a:solidFill>
                <a:latin typeface="Calibri"/>
                <a:cs typeface="Calibri"/>
              </a:rPr>
              <a:t>restricción</a:t>
            </a:r>
            <a:endParaRPr sz="2800">
              <a:latin typeface="Calibri"/>
              <a:cs typeface="Calibri"/>
            </a:endParaRPr>
          </a:p>
          <a:p>
            <a:pPr marL="183515" indent="-170815">
              <a:lnSpc>
                <a:spcPct val="100000"/>
              </a:lnSpc>
              <a:spcBef>
                <a:spcPts val="120"/>
              </a:spcBef>
              <a:buClr>
                <a:srgbClr val="D1350F"/>
              </a:buClr>
              <a:buFont typeface="Arial MT"/>
              <a:buChar char="•"/>
              <a:tabLst>
                <a:tab pos="183515" algn="l"/>
              </a:tabLst>
            </a:pPr>
            <a:r>
              <a:rPr dirty="0" sz="2800">
                <a:solidFill>
                  <a:srgbClr val="4E3629"/>
                </a:solidFill>
                <a:latin typeface="Calibri"/>
                <a:cs typeface="Calibri"/>
              </a:rPr>
              <a:t>Sintaxis</a:t>
            </a:r>
            <a:r>
              <a:rPr dirty="0" sz="2800" spc="-60">
                <a:solidFill>
                  <a:srgbClr val="4E3629"/>
                </a:solidFill>
                <a:latin typeface="Calibri"/>
                <a:cs typeface="Calibri"/>
              </a:rPr>
              <a:t> </a:t>
            </a:r>
            <a:r>
              <a:rPr dirty="0" sz="2800">
                <a:solidFill>
                  <a:srgbClr val="4E3629"/>
                </a:solidFill>
                <a:latin typeface="Calibri"/>
                <a:cs typeface="Calibri"/>
              </a:rPr>
              <a:t>y</a:t>
            </a:r>
            <a:r>
              <a:rPr dirty="0" sz="2800" spc="-85">
                <a:solidFill>
                  <a:srgbClr val="4E3629"/>
                </a:solidFill>
                <a:latin typeface="Calibri"/>
                <a:cs typeface="Calibri"/>
              </a:rPr>
              <a:t> </a:t>
            </a:r>
            <a:r>
              <a:rPr dirty="0" sz="2800" spc="-10">
                <a:solidFill>
                  <a:srgbClr val="4E3629"/>
                </a:solidFill>
                <a:latin typeface="Calibri"/>
                <a:cs typeface="Calibri"/>
              </a:rPr>
              <a:t>ejemplo:</a:t>
            </a:r>
            <a:endParaRPr sz="2800">
              <a:latin typeface="Calibri"/>
              <a:cs typeface="Calibri"/>
            </a:endParaRPr>
          </a:p>
        </p:txBody>
      </p:sp>
      <p:sp>
        <p:nvSpPr>
          <p:cNvPr id="4" name="object 4" descr=""/>
          <p:cNvSpPr txBox="1"/>
          <p:nvPr/>
        </p:nvSpPr>
        <p:spPr>
          <a:xfrm>
            <a:off x="483552" y="5063873"/>
            <a:ext cx="8042275" cy="793115"/>
          </a:xfrm>
          <a:prstGeom prst="rect">
            <a:avLst/>
          </a:prstGeom>
        </p:spPr>
        <p:txBody>
          <a:bodyPr wrap="square" lIns="0" tIns="97155" rIns="0" bIns="0" rtlCol="0" vert="horz">
            <a:spAutoFit/>
          </a:bodyPr>
          <a:lstStyle/>
          <a:p>
            <a:pPr marL="182880" marR="5080" indent="-170815">
              <a:lnSpc>
                <a:spcPct val="80000"/>
              </a:lnSpc>
              <a:spcBef>
                <a:spcPts val="765"/>
              </a:spcBef>
              <a:buClr>
                <a:srgbClr val="D1350F"/>
              </a:buClr>
              <a:buFont typeface="Arial MT"/>
              <a:buChar char="•"/>
              <a:tabLst>
                <a:tab pos="184785" algn="l"/>
              </a:tabLst>
            </a:pPr>
            <a:r>
              <a:rPr dirty="0" sz="2800">
                <a:solidFill>
                  <a:srgbClr val="4E3629"/>
                </a:solidFill>
                <a:latin typeface="Calibri"/>
                <a:cs typeface="Calibri"/>
              </a:rPr>
              <a:t>Puede</a:t>
            </a:r>
            <a:r>
              <a:rPr dirty="0" sz="2800" spc="-40">
                <a:solidFill>
                  <a:srgbClr val="4E3629"/>
                </a:solidFill>
                <a:latin typeface="Calibri"/>
                <a:cs typeface="Calibri"/>
              </a:rPr>
              <a:t> </a:t>
            </a:r>
            <a:r>
              <a:rPr dirty="0" sz="2800">
                <a:solidFill>
                  <a:srgbClr val="4E3629"/>
                </a:solidFill>
                <a:latin typeface="Calibri"/>
                <a:cs typeface="Calibri"/>
              </a:rPr>
              <a:t>utilizar</a:t>
            </a:r>
            <a:r>
              <a:rPr dirty="0" sz="2800" spc="-50">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a:solidFill>
                  <a:srgbClr val="4E3629"/>
                </a:solidFill>
                <a:latin typeface="Calibri"/>
                <a:cs typeface="Calibri"/>
              </a:rPr>
              <a:t>cláusula</a:t>
            </a:r>
            <a:r>
              <a:rPr dirty="0" sz="2800" spc="-35">
                <a:solidFill>
                  <a:srgbClr val="4E3629"/>
                </a:solidFill>
                <a:latin typeface="Calibri"/>
                <a:cs typeface="Calibri"/>
              </a:rPr>
              <a:t> </a:t>
            </a:r>
            <a:r>
              <a:rPr dirty="0" sz="2800">
                <a:solidFill>
                  <a:srgbClr val="4E3629"/>
                </a:solidFill>
                <a:latin typeface="Calibri"/>
                <a:cs typeface="Calibri"/>
              </a:rPr>
              <a:t>ENABLE</a:t>
            </a:r>
            <a:r>
              <a:rPr dirty="0" sz="2800" spc="-60">
                <a:solidFill>
                  <a:srgbClr val="4E3629"/>
                </a:solidFill>
                <a:latin typeface="Calibri"/>
                <a:cs typeface="Calibri"/>
              </a:rPr>
              <a:t> </a:t>
            </a:r>
            <a:r>
              <a:rPr dirty="0" sz="2800">
                <a:solidFill>
                  <a:srgbClr val="4E3629"/>
                </a:solidFill>
                <a:latin typeface="Calibri"/>
                <a:cs typeface="Calibri"/>
              </a:rPr>
              <a:t>tanto</a:t>
            </a:r>
            <a:r>
              <a:rPr dirty="0" sz="2800" spc="-45">
                <a:solidFill>
                  <a:srgbClr val="4E3629"/>
                </a:solidFill>
                <a:latin typeface="Calibri"/>
                <a:cs typeface="Calibri"/>
              </a:rPr>
              <a:t> </a:t>
            </a:r>
            <a:r>
              <a:rPr dirty="0" sz="2800">
                <a:solidFill>
                  <a:srgbClr val="4E3629"/>
                </a:solidFill>
                <a:latin typeface="Calibri"/>
                <a:cs typeface="Calibri"/>
              </a:rPr>
              <a:t>en</a:t>
            </a:r>
            <a:r>
              <a:rPr dirty="0" sz="2800" spc="-65">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spc="-10">
                <a:solidFill>
                  <a:srgbClr val="4E3629"/>
                </a:solidFill>
                <a:latin typeface="Calibri"/>
                <a:cs typeface="Calibri"/>
              </a:rPr>
              <a:t>sentencia </a:t>
            </a:r>
            <a:r>
              <a:rPr dirty="0" sz="2800" spc="-10">
                <a:solidFill>
                  <a:srgbClr val="4E3629"/>
                </a:solidFill>
                <a:latin typeface="Calibri"/>
                <a:cs typeface="Calibri"/>
              </a:rPr>
              <a:t>	</a:t>
            </a:r>
            <a:r>
              <a:rPr dirty="0" sz="2800" spc="-30">
                <a:solidFill>
                  <a:srgbClr val="4E3629"/>
                </a:solidFill>
                <a:latin typeface="Calibri"/>
                <a:cs typeface="Calibri"/>
              </a:rPr>
              <a:t>CREATE</a:t>
            </a:r>
            <a:r>
              <a:rPr dirty="0" sz="2800" spc="-105">
                <a:solidFill>
                  <a:srgbClr val="4E3629"/>
                </a:solidFill>
                <a:latin typeface="Calibri"/>
                <a:cs typeface="Calibri"/>
              </a:rPr>
              <a:t> </a:t>
            </a:r>
            <a:r>
              <a:rPr dirty="0" sz="2800" spc="-25">
                <a:solidFill>
                  <a:srgbClr val="4E3629"/>
                </a:solidFill>
                <a:latin typeface="Calibri"/>
                <a:cs typeface="Calibri"/>
              </a:rPr>
              <a:t>TABLE</a:t>
            </a:r>
            <a:r>
              <a:rPr dirty="0" sz="2800" spc="-85">
                <a:solidFill>
                  <a:srgbClr val="4E3629"/>
                </a:solidFill>
                <a:latin typeface="Calibri"/>
                <a:cs typeface="Calibri"/>
              </a:rPr>
              <a:t> </a:t>
            </a:r>
            <a:r>
              <a:rPr dirty="0" sz="2800">
                <a:solidFill>
                  <a:srgbClr val="4E3629"/>
                </a:solidFill>
                <a:latin typeface="Calibri"/>
                <a:cs typeface="Calibri"/>
              </a:rPr>
              <a:t>como</a:t>
            </a:r>
            <a:r>
              <a:rPr dirty="0" sz="2800" spc="-80">
                <a:solidFill>
                  <a:srgbClr val="4E3629"/>
                </a:solidFill>
                <a:latin typeface="Calibri"/>
                <a:cs typeface="Calibri"/>
              </a:rPr>
              <a:t> </a:t>
            </a:r>
            <a:r>
              <a:rPr dirty="0" sz="2800">
                <a:solidFill>
                  <a:srgbClr val="4E3629"/>
                </a:solidFill>
                <a:latin typeface="Calibri"/>
                <a:cs typeface="Calibri"/>
              </a:rPr>
              <a:t>en</a:t>
            </a:r>
            <a:r>
              <a:rPr dirty="0" sz="2800" spc="-75">
                <a:solidFill>
                  <a:srgbClr val="4E3629"/>
                </a:solidFill>
                <a:latin typeface="Calibri"/>
                <a:cs typeface="Calibri"/>
              </a:rPr>
              <a:t> </a:t>
            </a:r>
            <a:r>
              <a:rPr dirty="0" sz="2800">
                <a:solidFill>
                  <a:srgbClr val="4E3629"/>
                </a:solidFill>
                <a:latin typeface="Calibri"/>
                <a:cs typeface="Calibri"/>
              </a:rPr>
              <a:t>la</a:t>
            </a:r>
            <a:r>
              <a:rPr dirty="0" sz="2800" spc="-80">
                <a:solidFill>
                  <a:srgbClr val="4E3629"/>
                </a:solidFill>
                <a:latin typeface="Calibri"/>
                <a:cs typeface="Calibri"/>
              </a:rPr>
              <a:t> </a:t>
            </a:r>
            <a:r>
              <a:rPr dirty="0" sz="2800">
                <a:solidFill>
                  <a:srgbClr val="4E3629"/>
                </a:solidFill>
                <a:latin typeface="Calibri"/>
                <a:cs typeface="Calibri"/>
              </a:rPr>
              <a:t>sentencia</a:t>
            </a:r>
            <a:r>
              <a:rPr dirty="0" sz="2800" spc="-70">
                <a:solidFill>
                  <a:srgbClr val="4E3629"/>
                </a:solidFill>
                <a:latin typeface="Calibri"/>
                <a:cs typeface="Calibri"/>
              </a:rPr>
              <a:t> </a:t>
            </a:r>
            <a:r>
              <a:rPr dirty="0" sz="2800" spc="-25">
                <a:solidFill>
                  <a:srgbClr val="4E3629"/>
                </a:solidFill>
                <a:latin typeface="Calibri"/>
                <a:cs typeface="Calibri"/>
              </a:rPr>
              <a:t>ALTER</a:t>
            </a:r>
            <a:r>
              <a:rPr dirty="0" sz="2800" spc="-85">
                <a:solidFill>
                  <a:srgbClr val="4E3629"/>
                </a:solidFill>
                <a:latin typeface="Calibri"/>
                <a:cs typeface="Calibri"/>
              </a:rPr>
              <a:t> </a:t>
            </a:r>
            <a:r>
              <a:rPr dirty="0" sz="2800" spc="-10">
                <a:solidFill>
                  <a:srgbClr val="4E3629"/>
                </a:solidFill>
                <a:latin typeface="Calibri"/>
                <a:cs typeface="Calibri"/>
              </a:rPr>
              <a:t>TABLE</a:t>
            </a:r>
            <a:endParaRPr sz="2800">
              <a:latin typeface="Calibri"/>
              <a:cs typeface="Calibri"/>
            </a:endParaRPr>
          </a:p>
        </p:txBody>
      </p:sp>
      <p:sp>
        <p:nvSpPr>
          <p:cNvPr id="5" name="object 5" descr=""/>
          <p:cNvSpPr txBox="1"/>
          <p:nvPr/>
        </p:nvSpPr>
        <p:spPr>
          <a:xfrm>
            <a:off x="417576" y="3802379"/>
            <a:ext cx="8345805" cy="574675"/>
          </a:xfrm>
          <a:prstGeom prst="rect">
            <a:avLst/>
          </a:prstGeom>
          <a:solidFill>
            <a:srgbClr val="9DBEC4">
              <a:alpha val="50199"/>
            </a:srgbClr>
          </a:solidFill>
        </p:spPr>
        <p:txBody>
          <a:bodyPr wrap="square" lIns="0" tIns="0" rIns="0" bIns="0" rtlCol="0" vert="horz">
            <a:spAutoFit/>
          </a:bodyPr>
          <a:lstStyle/>
          <a:p>
            <a:pPr>
              <a:lnSpc>
                <a:spcPts val="2050"/>
              </a:lnSpc>
            </a:pPr>
            <a:r>
              <a:rPr dirty="0" sz="1800" b="1">
                <a:solidFill>
                  <a:srgbClr val="4E3629"/>
                </a:solidFill>
                <a:latin typeface="Courier New"/>
                <a:cs typeface="Courier New"/>
              </a:rPr>
              <a:t>ALTER</a:t>
            </a:r>
            <a:r>
              <a:rPr dirty="0" sz="1800" spc="-50" b="1">
                <a:solidFill>
                  <a:srgbClr val="4E3629"/>
                </a:solidFill>
                <a:latin typeface="Courier New"/>
                <a:cs typeface="Courier New"/>
              </a:rPr>
              <a:t> </a:t>
            </a:r>
            <a:r>
              <a:rPr dirty="0" sz="1800" b="1">
                <a:solidFill>
                  <a:srgbClr val="4E3629"/>
                </a:solidFill>
                <a:latin typeface="Courier New"/>
                <a:cs typeface="Courier New"/>
              </a:rPr>
              <a:t>TABLE</a:t>
            </a:r>
            <a:r>
              <a:rPr dirty="0" sz="1800" spc="-45" b="1">
                <a:solidFill>
                  <a:srgbClr val="4E3629"/>
                </a:solidFill>
                <a:latin typeface="Courier New"/>
                <a:cs typeface="Courier New"/>
              </a:rPr>
              <a:t> </a:t>
            </a:r>
            <a:r>
              <a:rPr dirty="0" sz="1800" spc="-10" b="1">
                <a:solidFill>
                  <a:srgbClr val="4E3629"/>
                </a:solidFill>
                <a:latin typeface="Courier New"/>
                <a:cs typeface="Courier New"/>
              </a:rPr>
              <a:t>table_name</a:t>
            </a:r>
            <a:endParaRPr sz="1800">
              <a:latin typeface="Courier New"/>
              <a:cs typeface="Courier New"/>
            </a:endParaRPr>
          </a:p>
          <a:p>
            <a:pPr>
              <a:lnSpc>
                <a:spcPct val="100000"/>
              </a:lnSpc>
            </a:pPr>
            <a:r>
              <a:rPr dirty="0" sz="1800" b="1">
                <a:solidFill>
                  <a:srgbClr val="4E3629"/>
                </a:solidFill>
                <a:latin typeface="Courier New"/>
                <a:cs typeface="Courier New"/>
              </a:rPr>
              <a:t>ENABLE</a:t>
            </a:r>
            <a:r>
              <a:rPr dirty="0" sz="1800" spc="-85" b="1">
                <a:solidFill>
                  <a:srgbClr val="4E3629"/>
                </a:solidFill>
                <a:latin typeface="Courier New"/>
                <a:cs typeface="Courier New"/>
              </a:rPr>
              <a:t> </a:t>
            </a:r>
            <a:r>
              <a:rPr dirty="0" sz="1800" b="1">
                <a:solidFill>
                  <a:srgbClr val="4E3629"/>
                </a:solidFill>
                <a:latin typeface="Courier New"/>
                <a:cs typeface="Courier New"/>
              </a:rPr>
              <a:t>CONSTRAINT</a:t>
            </a:r>
            <a:r>
              <a:rPr dirty="0" sz="1800" spc="-75" b="1">
                <a:solidFill>
                  <a:srgbClr val="4E3629"/>
                </a:solidFill>
                <a:latin typeface="Courier New"/>
                <a:cs typeface="Courier New"/>
              </a:rPr>
              <a:t> </a:t>
            </a:r>
            <a:r>
              <a:rPr dirty="0" sz="1800" spc="-10" b="1">
                <a:solidFill>
                  <a:srgbClr val="4E3629"/>
                </a:solidFill>
                <a:latin typeface="Courier New"/>
                <a:cs typeface="Courier New"/>
              </a:rPr>
              <a:t>constraint_name;</a:t>
            </a:r>
            <a:endParaRPr sz="1800">
              <a:latin typeface="Courier New"/>
              <a:cs typeface="Courier New"/>
            </a:endParaRPr>
          </a:p>
        </p:txBody>
      </p:sp>
      <p:sp>
        <p:nvSpPr>
          <p:cNvPr id="6" name="object 6" descr=""/>
          <p:cNvSpPr txBox="1"/>
          <p:nvPr/>
        </p:nvSpPr>
        <p:spPr>
          <a:xfrm>
            <a:off x="405384" y="4488179"/>
            <a:ext cx="8347075" cy="574675"/>
          </a:xfrm>
          <a:prstGeom prst="rect">
            <a:avLst/>
          </a:prstGeom>
          <a:solidFill>
            <a:srgbClr val="9DBEC4">
              <a:alpha val="50199"/>
            </a:srgbClr>
          </a:solidFill>
        </p:spPr>
        <p:txBody>
          <a:bodyPr wrap="square" lIns="0" tIns="0" rIns="0" bIns="0" rtlCol="0" vert="horz">
            <a:spAutoFit/>
          </a:bodyPr>
          <a:lstStyle/>
          <a:p>
            <a:pPr>
              <a:lnSpc>
                <a:spcPts val="2045"/>
              </a:lnSpc>
            </a:pPr>
            <a:r>
              <a:rPr dirty="0" sz="1800" b="1">
                <a:solidFill>
                  <a:srgbClr val="4E3629"/>
                </a:solidFill>
                <a:latin typeface="Courier New"/>
                <a:cs typeface="Courier New"/>
              </a:rPr>
              <a:t>ALTER</a:t>
            </a:r>
            <a:r>
              <a:rPr dirty="0" sz="1800" spc="-60" b="1">
                <a:solidFill>
                  <a:srgbClr val="4E3629"/>
                </a:solidFill>
                <a:latin typeface="Courier New"/>
                <a:cs typeface="Courier New"/>
              </a:rPr>
              <a:t> </a:t>
            </a:r>
            <a:r>
              <a:rPr dirty="0" sz="1800" b="1">
                <a:solidFill>
                  <a:srgbClr val="4E3629"/>
                </a:solidFill>
                <a:latin typeface="Courier New"/>
                <a:cs typeface="Courier New"/>
              </a:rPr>
              <a:t>TABLE</a:t>
            </a:r>
            <a:r>
              <a:rPr dirty="0" sz="1800" spc="-45" b="1">
                <a:solidFill>
                  <a:srgbClr val="4E3629"/>
                </a:solidFill>
                <a:latin typeface="Courier New"/>
                <a:cs typeface="Courier New"/>
              </a:rPr>
              <a:t> </a:t>
            </a:r>
            <a:r>
              <a:rPr dirty="0" sz="1800" spc="-10" b="1">
                <a:solidFill>
                  <a:srgbClr val="4E3629"/>
                </a:solidFill>
                <a:latin typeface="Courier New"/>
                <a:cs typeface="Courier New"/>
              </a:rPr>
              <a:t>copy_departments</a:t>
            </a:r>
            <a:endParaRPr sz="1800">
              <a:latin typeface="Courier New"/>
              <a:cs typeface="Courier New"/>
            </a:endParaRPr>
          </a:p>
          <a:p>
            <a:pPr>
              <a:lnSpc>
                <a:spcPct val="100000"/>
              </a:lnSpc>
            </a:pPr>
            <a:r>
              <a:rPr dirty="0" sz="1800" b="1">
                <a:solidFill>
                  <a:srgbClr val="4E3629"/>
                </a:solidFill>
                <a:latin typeface="Courier New"/>
                <a:cs typeface="Courier New"/>
              </a:rPr>
              <a:t>ENABLE</a:t>
            </a:r>
            <a:r>
              <a:rPr dirty="0" sz="1800" spc="-85" b="1">
                <a:solidFill>
                  <a:srgbClr val="4E3629"/>
                </a:solidFill>
                <a:latin typeface="Courier New"/>
                <a:cs typeface="Courier New"/>
              </a:rPr>
              <a:t> </a:t>
            </a:r>
            <a:r>
              <a:rPr dirty="0" sz="1800" b="1">
                <a:solidFill>
                  <a:srgbClr val="4E3629"/>
                </a:solidFill>
                <a:latin typeface="Courier New"/>
                <a:cs typeface="Courier New"/>
              </a:rPr>
              <a:t>CONSTRAINT</a:t>
            </a:r>
            <a:r>
              <a:rPr dirty="0" sz="1800" spc="-75" b="1">
                <a:solidFill>
                  <a:srgbClr val="4E3629"/>
                </a:solidFill>
                <a:latin typeface="Courier New"/>
                <a:cs typeface="Courier New"/>
              </a:rPr>
              <a:t> </a:t>
            </a:r>
            <a:r>
              <a:rPr dirty="0" sz="1800" spc="-10" b="1">
                <a:solidFill>
                  <a:srgbClr val="4E3629"/>
                </a:solidFill>
                <a:latin typeface="Courier New"/>
                <a:cs typeface="Courier New"/>
              </a:rPr>
              <a:t>c_dept_dept_id_pk;</a:t>
            </a:r>
            <a:endParaRPr sz="1800">
              <a:latin typeface="Courier New"/>
              <a:cs typeface="Courier New"/>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61468" rIns="0" bIns="0" rtlCol="0" vert="horz">
            <a:spAutoFit/>
          </a:bodyPr>
          <a:lstStyle/>
          <a:p>
            <a:pPr marL="12700">
              <a:lnSpc>
                <a:spcPct val="100000"/>
              </a:lnSpc>
              <a:spcBef>
                <a:spcPts val="100"/>
              </a:spcBef>
            </a:pPr>
            <a:r>
              <a:rPr dirty="0" sz="3000" spc="-10"/>
              <a:t>Consideraciones</a:t>
            </a:r>
            <a:r>
              <a:rPr dirty="0" sz="3000" spc="-45"/>
              <a:t> </a:t>
            </a:r>
            <a:r>
              <a:rPr dirty="0" sz="3000"/>
              <a:t>sobre</a:t>
            </a:r>
            <a:r>
              <a:rPr dirty="0" sz="3000" spc="-60"/>
              <a:t> </a:t>
            </a:r>
            <a:r>
              <a:rPr dirty="0" sz="3000"/>
              <a:t>la</a:t>
            </a:r>
            <a:r>
              <a:rPr dirty="0" sz="3000" spc="-65"/>
              <a:t> </a:t>
            </a:r>
            <a:r>
              <a:rPr dirty="0" sz="3000"/>
              <a:t>Activación</a:t>
            </a:r>
            <a:r>
              <a:rPr dirty="0" sz="3000" spc="-90"/>
              <a:t> </a:t>
            </a:r>
            <a:r>
              <a:rPr dirty="0" sz="3000"/>
              <a:t>de</a:t>
            </a:r>
            <a:r>
              <a:rPr dirty="0" sz="3000" spc="-80"/>
              <a:t> </a:t>
            </a:r>
            <a:r>
              <a:rPr dirty="0" sz="3000" spc="-10"/>
              <a:t>Restricciones</a:t>
            </a:r>
            <a:endParaRPr sz="3000"/>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3</a:t>
            </a:r>
          </a:p>
          <a:p>
            <a:pPr marL="12700">
              <a:lnSpc>
                <a:spcPts val="965"/>
              </a:lnSpc>
            </a:pPr>
            <a:r>
              <a:rPr dirty="0"/>
              <a:t>Gestión</a:t>
            </a:r>
            <a:r>
              <a:rPr dirty="0" spc="-20"/>
              <a:t> </a:t>
            </a:r>
            <a:r>
              <a:rPr dirty="0"/>
              <a:t>de</a:t>
            </a:r>
            <a:r>
              <a:rPr dirty="0" spc="-40"/>
              <a:t> </a:t>
            </a:r>
            <a:r>
              <a:rPr dirty="0" spc="-10"/>
              <a:t>Restricciones</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21</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381889"/>
            <a:ext cx="8154034" cy="4272280"/>
          </a:xfrm>
          <a:prstGeom prst="rect">
            <a:avLst/>
          </a:prstGeom>
        </p:spPr>
        <p:txBody>
          <a:bodyPr wrap="square" lIns="0" tIns="97155" rIns="0" bIns="0" rtlCol="0" vert="horz">
            <a:spAutoFit/>
          </a:bodyPr>
          <a:lstStyle/>
          <a:p>
            <a:pPr marL="159385" marR="209550" indent="-147320">
              <a:lnSpc>
                <a:spcPct val="80000"/>
              </a:lnSpc>
              <a:spcBef>
                <a:spcPts val="765"/>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Si</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activa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4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restricción,</a:t>
            </a:r>
            <a:r>
              <a:rPr dirty="0" u="heavy" sz="2800" spc="-2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aplica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todos</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los</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datos</a:t>
            </a:r>
            <a:r>
              <a:rPr dirty="0" u="heavy" sz="2800" spc="-45">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de</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la</a:t>
            </a:r>
            <a:r>
              <a:rPr dirty="0" u="heavy" sz="2800" spc="-15">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tabla</a:t>
            </a:r>
            <a:endParaRPr sz="2800">
              <a:latin typeface="Calibri"/>
              <a:cs typeface="Calibri"/>
            </a:endParaRPr>
          </a:p>
          <a:p>
            <a:pPr marL="183515" indent="-170815">
              <a:lnSpc>
                <a:spcPct val="100000"/>
              </a:lnSpc>
              <a:spcBef>
                <a:spcPts val="135"/>
              </a:spcBef>
              <a:buClr>
                <a:srgbClr val="D1350F"/>
              </a:buClr>
              <a:buFont typeface="Arial MT"/>
              <a:buChar char="•"/>
              <a:tabLst>
                <a:tab pos="183515" algn="l"/>
              </a:tabLst>
            </a:pPr>
            <a:r>
              <a:rPr dirty="0" sz="2800" spc="-45">
                <a:solidFill>
                  <a:srgbClr val="4E3629"/>
                </a:solidFill>
                <a:latin typeface="Calibri"/>
                <a:cs typeface="Calibri"/>
              </a:rPr>
              <a:t>Todos </a:t>
            </a:r>
            <a:r>
              <a:rPr dirty="0" sz="2800">
                <a:solidFill>
                  <a:srgbClr val="4E3629"/>
                </a:solidFill>
                <a:latin typeface="Calibri"/>
                <a:cs typeface="Calibri"/>
              </a:rPr>
              <a:t>los</a:t>
            </a:r>
            <a:r>
              <a:rPr dirty="0" sz="2800" spc="-40">
                <a:solidFill>
                  <a:srgbClr val="4E3629"/>
                </a:solidFill>
                <a:latin typeface="Calibri"/>
                <a:cs typeface="Calibri"/>
              </a:rPr>
              <a:t> </a:t>
            </a:r>
            <a:r>
              <a:rPr dirty="0" sz="2800">
                <a:solidFill>
                  <a:srgbClr val="4E3629"/>
                </a:solidFill>
                <a:latin typeface="Calibri"/>
                <a:cs typeface="Calibri"/>
              </a:rPr>
              <a:t>datos</a:t>
            </a:r>
            <a:r>
              <a:rPr dirty="0" sz="2800" spc="-4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a:solidFill>
                  <a:srgbClr val="4E3629"/>
                </a:solidFill>
                <a:latin typeface="Calibri"/>
                <a:cs typeface="Calibri"/>
              </a:rPr>
              <a:t>tabla</a:t>
            </a:r>
            <a:r>
              <a:rPr dirty="0" sz="2800" spc="-40">
                <a:solidFill>
                  <a:srgbClr val="4E3629"/>
                </a:solidFill>
                <a:latin typeface="Calibri"/>
                <a:cs typeface="Calibri"/>
              </a:rPr>
              <a:t> </a:t>
            </a:r>
            <a:r>
              <a:rPr dirty="0" sz="2800">
                <a:solidFill>
                  <a:srgbClr val="4E3629"/>
                </a:solidFill>
                <a:latin typeface="Calibri"/>
                <a:cs typeface="Calibri"/>
              </a:rPr>
              <a:t>deben</a:t>
            </a:r>
            <a:r>
              <a:rPr dirty="0" sz="2800" spc="-35">
                <a:solidFill>
                  <a:srgbClr val="4E3629"/>
                </a:solidFill>
                <a:latin typeface="Calibri"/>
                <a:cs typeface="Calibri"/>
              </a:rPr>
              <a:t> </a:t>
            </a:r>
            <a:r>
              <a:rPr dirty="0" sz="2800">
                <a:solidFill>
                  <a:srgbClr val="4E3629"/>
                </a:solidFill>
                <a:latin typeface="Calibri"/>
                <a:cs typeface="Calibri"/>
              </a:rPr>
              <a:t>cumplir</a:t>
            </a:r>
            <a:r>
              <a:rPr dirty="0" sz="2800" spc="-25">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spc="-10">
                <a:solidFill>
                  <a:srgbClr val="4E3629"/>
                </a:solidFill>
                <a:latin typeface="Calibri"/>
                <a:cs typeface="Calibri"/>
              </a:rPr>
              <a:t>restricción</a:t>
            </a:r>
            <a:endParaRPr sz="2800">
              <a:latin typeface="Calibri"/>
              <a:cs typeface="Calibri"/>
            </a:endParaRPr>
          </a:p>
          <a:p>
            <a:pPr marL="159385" marR="5080" indent="-147320">
              <a:lnSpc>
                <a:spcPct val="80000"/>
              </a:lnSpc>
              <a:spcBef>
                <a:spcPts val="79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Si</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activa</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4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CLAVE</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UNIQUE</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4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restricción</a:t>
            </a:r>
            <a:r>
              <a:rPr dirty="0" u="heavy" sz="2800" spc="-4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PRIMARY</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spc="-70">
                <a:solidFill>
                  <a:srgbClr val="4E3629"/>
                </a:solidFill>
                <a:uFill>
                  <a:solidFill>
                    <a:srgbClr val="EC2814"/>
                  </a:solidFill>
                </a:uFill>
                <a:latin typeface="Calibri"/>
                <a:cs typeface="Calibri"/>
              </a:rPr>
              <a:t>KEY,</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crea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índice</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UNIQUE</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PRIMARY</a:t>
            </a:r>
            <a:r>
              <a:rPr dirty="0" u="heavy" sz="2800" spc="-45">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KEY</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spc="-10">
                <a:solidFill>
                  <a:srgbClr val="4E3629"/>
                </a:solidFill>
                <a:uFill>
                  <a:solidFill>
                    <a:srgbClr val="EC2814"/>
                  </a:solidFill>
                </a:uFill>
                <a:latin typeface="Calibri"/>
                <a:cs typeface="Calibri"/>
              </a:rPr>
              <a:t>automáticamente</a:t>
            </a:r>
            <a:endParaRPr sz="2800">
              <a:latin typeface="Calibri"/>
              <a:cs typeface="Calibri"/>
            </a:endParaRPr>
          </a:p>
          <a:p>
            <a:pPr marL="182880" marR="205740" indent="-170815">
              <a:lnSpc>
                <a:spcPct val="80000"/>
              </a:lnSpc>
              <a:spcBef>
                <a:spcPts val="810"/>
              </a:spcBef>
              <a:buClr>
                <a:srgbClr val="D1350F"/>
              </a:buClr>
              <a:buFont typeface="Arial MT"/>
              <a:buChar char="•"/>
              <a:tabLst>
                <a:tab pos="184785" algn="l"/>
              </a:tabLst>
            </a:pPr>
            <a:r>
              <a:rPr dirty="0" sz="2800">
                <a:solidFill>
                  <a:srgbClr val="4E3629"/>
                </a:solidFill>
                <a:latin typeface="Calibri"/>
                <a:cs typeface="Calibri"/>
              </a:rPr>
              <a:t>La</a:t>
            </a:r>
            <a:r>
              <a:rPr dirty="0" sz="2800" spc="-75">
                <a:solidFill>
                  <a:srgbClr val="4E3629"/>
                </a:solidFill>
                <a:latin typeface="Calibri"/>
                <a:cs typeface="Calibri"/>
              </a:rPr>
              <a:t> </a:t>
            </a:r>
            <a:r>
              <a:rPr dirty="0" sz="2800">
                <a:solidFill>
                  <a:srgbClr val="4E3629"/>
                </a:solidFill>
                <a:latin typeface="Calibri"/>
                <a:cs typeface="Calibri"/>
              </a:rPr>
              <a:t>activación</a:t>
            </a:r>
            <a:r>
              <a:rPr dirty="0" sz="2800" spc="-7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una</a:t>
            </a:r>
            <a:r>
              <a:rPr dirty="0" sz="2800" spc="-40">
                <a:solidFill>
                  <a:srgbClr val="4E3629"/>
                </a:solidFill>
                <a:latin typeface="Calibri"/>
                <a:cs typeface="Calibri"/>
              </a:rPr>
              <a:t> </a:t>
            </a:r>
            <a:r>
              <a:rPr dirty="0" sz="2800" spc="-10">
                <a:solidFill>
                  <a:srgbClr val="4E3629"/>
                </a:solidFill>
                <a:latin typeface="Calibri"/>
                <a:cs typeface="Calibri"/>
              </a:rPr>
              <a:t>restricción</a:t>
            </a:r>
            <a:r>
              <a:rPr dirty="0" sz="2800" spc="-50">
                <a:solidFill>
                  <a:srgbClr val="4E3629"/>
                </a:solidFill>
                <a:latin typeface="Calibri"/>
                <a:cs typeface="Calibri"/>
              </a:rPr>
              <a:t> </a:t>
            </a:r>
            <a:r>
              <a:rPr dirty="0" sz="2800">
                <a:solidFill>
                  <a:srgbClr val="4E3629"/>
                </a:solidFill>
                <a:latin typeface="Calibri"/>
                <a:cs typeface="Calibri"/>
              </a:rPr>
              <a:t>PRIMARY</a:t>
            </a:r>
            <a:r>
              <a:rPr dirty="0" sz="2800" spc="-55">
                <a:solidFill>
                  <a:srgbClr val="4E3629"/>
                </a:solidFill>
                <a:latin typeface="Calibri"/>
                <a:cs typeface="Calibri"/>
              </a:rPr>
              <a:t> </a:t>
            </a:r>
            <a:r>
              <a:rPr dirty="0" sz="2800" spc="-25">
                <a:solidFill>
                  <a:srgbClr val="4E3629"/>
                </a:solidFill>
                <a:latin typeface="Calibri"/>
                <a:cs typeface="Calibri"/>
              </a:rPr>
              <a:t>KEY </a:t>
            </a:r>
            <a:r>
              <a:rPr dirty="0" sz="2800" spc="-25">
                <a:solidFill>
                  <a:srgbClr val="4E3629"/>
                </a:solidFill>
                <a:latin typeface="Calibri"/>
                <a:cs typeface="Calibri"/>
              </a:rPr>
              <a:t>	</a:t>
            </a:r>
            <a:r>
              <a:rPr dirty="0" sz="2800">
                <a:solidFill>
                  <a:srgbClr val="4E3629"/>
                </a:solidFill>
                <a:latin typeface="Calibri"/>
                <a:cs typeface="Calibri"/>
              </a:rPr>
              <a:t>desactivada</a:t>
            </a:r>
            <a:r>
              <a:rPr dirty="0" sz="2800" spc="-65">
                <a:solidFill>
                  <a:srgbClr val="4E3629"/>
                </a:solidFill>
                <a:latin typeface="Calibri"/>
                <a:cs typeface="Calibri"/>
              </a:rPr>
              <a:t> </a:t>
            </a:r>
            <a:r>
              <a:rPr dirty="0" sz="2800">
                <a:solidFill>
                  <a:srgbClr val="4E3629"/>
                </a:solidFill>
                <a:latin typeface="Calibri"/>
                <a:cs typeface="Calibri"/>
              </a:rPr>
              <a:t>con</a:t>
            </a:r>
            <a:r>
              <a:rPr dirty="0" sz="2800" spc="-70">
                <a:solidFill>
                  <a:srgbClr val="4E3629"/>
                </a:solidFill>
                <a:latin typeface="Calibri"/>
                <a:cs typeface="Calibri"/>
              </a:rPr>
              <a:t> </a:t>
            </a:r>
            <a:r>
              <a:rPr dirty="0" sz="2800">
                <a:solidFill>
                  <a:srgbClr val="4E3629"/>
                </a:solidFill>
                <a:latin typeface="Calibri"/>
                <a:cs typeface="Calibri"/>
              </a:rPr>
              <a:t>la</a:t>
            </a:r>
            <a:r>
              <a:rPr dirty="0" sz="2800" spc="-80">
                <a:solidFill>
                  <a:srgbClr val="4E3629"/>
                </a:solidFill>
                <a:latin typeface="Calibri"/>
                <a:cs typeface="Calibri"/>
              </a:rPr>
              <a:t> </a:t>
            </a:r>
            <a:r>
              <a:rPr dirty="0" sz="2800">
                <a:solidFill>
                  <a:srgbClr val="4E3629"/>
                </a:solidFill>
                <a:latin typeface="Calibri"/>
                <a:cs typeface="Calibri"/>
              </a:rPr>
              <a:t>opción</a:t>
            </a:r>
            <a:r>
              <a:rPr dirty="0" sz="2800" spc="-55">
                <a:solidFill>
                  <a:srgbClr val="4E3629"/>
                </a:solidFill>
                <a:latin typeface="Calibri"/>
                <a:cs typeface="Calibri"/>
              </a:rPr>
              <a:t> </a:t>
            </a:r>
            <a:r>
              <a:rPr dirty="0" sz="2800">
                <a:solidFill>
                  <a:srgbClr val="4E3629"/>
                </a:solidFill>
                <a:latin typeface="Calibri"/>
                <a:cs typeface="Calibri"/>
              </a:rPr>
              <a:t>CASCADE</a:t>
            </a:r>
            <a:r>
              <a:rPr dirty="0" sz="2800" spc="-50">
                <a:solidFill>
                  <a:srgbClr val="4E3629"/>
                </a:solidFill>
                <a:latin typeface="Calibri"/>
                <a:cs typeface="Calibri"/>
              </a:rPr>
              <a:t> </a:t>
            </a:r>
            <a:r>
              <a:rPr dirty="0" sz="2800">
                <a:solidFill>
                  <a:srgbClr val="4E3629"/>
                </a:solidFill>
                <a:latin typeface="Calibri"/>
                <a:cs typeface="Calibri"/>
              </a:rPr>
              <a:t>no</a:t>
            </a:r>
            <a:r>
              <a:rPr dirty="0" sz="2800" spc="-60">
                <a:solidFill>
                  <a:srgbClr val="4E3629"/>
                </a:solidFill>
                <a:latin typeface="Calibri"/>
                <a:cs typeface="Calibri"/>
              </a:rPr>
              <a:t> </a:t>
            </a:r>
            <a:r>
              <a:rPr dirty="0" sz="2800">
                <a:solidFill>
                  <a:srgbClr val="4E3629"/>
                </a:solidFill>
                <a:latin typeface="Calibri"/>
                <a:cs typeface="Calibri"/>
              </a:rPr>
              <a:t>activa</a:t>
            </a:r>
            <a:r>
              <a:rPr dirty="0" sz="2800" spc="-80">
                <a:solidFill>
                  <a:srgbClr val="4E3629"/>
                </a:solidFill>
                <a:latin typeface="Calibri"/>
                <a:cs typeface="Calibri"/>
              </a:rPr>
              <a:t> </a:t>
            </a:r>
            <a:r>
              <a:rPr dirty="0" sz="2800" spc="-10">
                <a:solidFill>
                  <a:srgbClr val="4E3629"/>
                </a:solidFill>
                <a:latin typeface="Calibri"/>
                <a:cs typeface="Calibri"/>
              </a:rPr>
              <a:t>ninguna </a:t>
            </a:r>
            <a:r>
              <a:rPr dirty="0" sz="2800" spc="-10">
                <a:solidFill>
                  <a:srgbClr val="4E3629"/>
                </a:solidFill>
                <a:latin typeface="Calibri"/>
                <a:cs typeface="Calibri"/>
              </a:rPr>
              <a:t>	</a:t>
            </a:r>
            <a:r>
              <a:rPr dirty="0" sz="2800">
                <a:solidFill>
                  <a:srgbClr val="4E3629"/>
                </a:solidFill>
                <a:latin typeface="Calibri"/>
                <a:cs typeface="Calibri"/>
              </a:rPr>
              <a:t>clave</a:t>
            </a:r>
            <a:r>
              <a:rPr dirty="0" sz="2800" spc="-85">
                <a:solidFill>
                  <a:srgbClr val="4E3629"/>
                </a:solidFill>
                <a:latin typeface="Calibri"/>
                <a:cs typeface="Calibri"/>
              </a:rPr>
              <a:t> </a:t>
            </a:r>
            <a:r>
              <a:rPr dirty="0" sz="2800">
                <a:solidFill>
                  <a:srgbClr val="4E3629"/>
                </a:solidFill>
                <a:latin typeface="Calibri"/>
                <a:cs typeface="Calibri"/>
              </a:rPr>
              <a:t>ajena</a:t>
            </a:r>
            <a:r>
              <a:rPr dirty="0" sz="2800" spc="-70">
                <a:solidFill>
                  <a:srgbClr val="4E3629"/>
                </a:solidFill>
                <a:latin typeface="Calibri"/>
                <a:cs typeface="Calibri"/>
              </a:rPr>
              <a:t> </a:t>
            </a:r>
            <a:r>
              <a:rPr dirty="0" sz="2800">
                <a:solidFill>
                  <a:srgbClr val="4E3629"/>
                </a:solidFill>
                <a:latin typeface="Calibri"/>
                <a:cs typeface="Calibri"/>
              </a:rPr>
              <a:t>dependiente</a:t>
            </a:r>
            <a:r>
              <a:rPr dirty="0" sz="2800" spc="-4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a:solidFill>
                  <a:srgbClr val="4E3629"/>
                </a:solidFill>
                <a:latin typeface="Calibri"/>
                <a:cs typeface="Calibri"/>
              </a:rPr>
              <a:t>clave</a:t>
            </a:r>
            <a:r>
              <a:rPr dirty="0" sz="2800" spc="-70">
                <a:solidFill>
                  <a:srgbClr val="4E3629"/>
                </a:solidFill>
                <a:latin typeface="Calibri"/>
                <a:cs typeface="Calibri"/>
              </a:rPr>
              <a:t> </a:t>
            </a:r>
            <a:r>
              <a:rPr dirty="0" sz="2800" spc="-10">
                <a:solidFill>
                  <a:srgbClr val="4E3629"/>
                </a:solidFill>
                <a:latin typeface="Calibri"/>
                <a:cs typeface="Calibri"/>
              </a:rPr>
              <a:t>primaria</a:t>
            </a:r>
            <a:endParaRPr sz="2800">
              <a:latin typeface="Calibri"/>
              <a:cs typeface="Calibri"/>
            </a:endParaRPr>
          </a:p>
          <a:p>
            <a:pPr marL="182880" marR="1323340" indent="-170815">
              <a:lnSpc>
                <a:spcPct val="80000"/>
              </a:lnSpc>
              <a:spcBef>
                <a:spcPts val="805"/>
              </a:spcBef>
              <a:buClr>
                <a:srgbClr val="D1350F"/>
              </a:buClr>
              <a:buFont typeface="Arial MT"/>
              <a:buChar char="•"/>
              <a:tabLst>
                <a:tab pos="184785" algn="l"/>
              </a:tabLst>
            </a:pPr>
            <a:r>
              <a:rPr dirty="0" sz="2800">
                <a:solidFill>
                  <a:srgbClr val="4E3629"/>
                </a:solidFill>
                <a:latin typeface="Calibri"/>
                <a:cs typeface="Calibri"/>
              </a:rPr>
              <a:t>ENABLE</a:t>
            </a:r>
            <a:r>
              <a:rPr dirty="0" sz="2800" spc="-45">
                <a:solidFill>
                  <a:srgbClr val="4E3629"/>
                </a:solidFill>
                <a:latin typeface="Calibri"/>
                <a:cs typeface="Calibri"/>
              </a:rPr>
              <a:t> </a:t>
            </a:r>
            <a:r>
              <a:rPr dirty="0" sz="2800">
                <a:solidFill>
                  <a:srgbClr val="4E3629"/>
                </a:solidFill>
                <a:latin typeface="Calibri"/>
                <a:cs typeface="Calibri"/>
              </a:rPr>
              <a:t>vuelve</a:t>
            </a:r>
            <a:r>
              <a:rPr dirty="0" sz="2800" spc="-60">
                <a:solidFill>
                  <a:srgbClr val="4E3629"/>
                </a:solidFill>
                <a:latin typeface="Calibri"/>
                <a:cs typeface="Calibri"/>
              </a:rPr>
              <a:t> </a:t>
            </a:r>
            <a:r>
              <a:rPr dirty="0" sz="2800">
                <a:solidFill>
                  <a:srgbClr val="4E3629"/>
                </a:solidFill>
                <a:latin typeface="Calibri"/>
                <a:cs typeface="Calibri"/>
              </a:rPr>
              <a:t>a</a:t>
            </a:r>
            <a:r>
              <a:rPr dirty="0" sz="2800" spc="-50">
                <a:solidFill>
                  <a:srgbClr val="4E3629"/>
                </a:solidFill>
                <a:latin typeface="Calibri"/>
                <a:cs typeface="Calibri"/>
              </a:rPr>
              <a:t> </a:t>
            </a:r>
            <a:r>
              <a:rPr dirty="0" sz="2800">
                <a:solidFill>
                  <a:srgbClr val="4E3629"/>
                </a:solidFill>
                <a:latin typeface="Calibri"/>
                <a:cs typeface="Calibri"/>
              </a:rPr>
              <a:t>activar</a:t>
            </a:r>
            <a:r>
              <a:rPr dirty="0" sz="2800" spc="-75">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spc="-10">
                <a:solidFill>
                  <a:srgbClr val="4E3629"/>
                </a:solidFill>
                <a:latin typeface="Calibri"/>
                <a:cs typeface="Calibri"/>
              </a:rPr>
              <a:t>restricción</a:t>
            </a:r>
            <a:r>
              <a:rPr dirty="0" sz="2800" spc="-40">
                <a:solidFill>
                  <a:srgbClr val="4E3629"/>
                </a:solidFill>
                <a:latin typeface="Calibri"/>
                <a:cs typeface="Calibri"/>
              </a:rPr>
              <a:t> </a:t>
            </a:r>
            <a:r>
              <a:rPr dirty="0" sz="2800" spc="-10">
                <a:solidFill>
                  <a:srgbClr val="4E3629"/>
                </a:solidFill>
                <a:latin typeface="Calibri"/>
                <a:cs typeface="Calibri"/>
              </a:rPr>
              <a:t>después </a:t>
            </a:r>
            <a:r>
              <a:rPr dirty="0" sz="2800" spc="-10">
                <a:solidFill>
                  <a:srgbClr val="4E3629"/>
                </a:solidFill>
                <a:latin typeface="Calibri"/>
                <a:cs typeface="Calibri"/>
              </a:rPr>
              <a:t>	</a:t>
            </a:r>
            <a:r>
              <a:rPr dirty="0" sz="2800">
                <a:solidFill>
                  <a:srgbClr val="4E3629"/>
                </a:solidFill>
                <a:latin typeface="Calibri"/>
                <a:cs typeface="Calibri"/>
              </a:rPr>
              <a:t>de</a:t>
            </a:r>
            <a:r>
              <a:rPr dirty="0" sz="2800" spc="-25">
                <a:solidFill>
                  <a:srgbClr val="4E3629"/>
                </a:solidFill>
                <a:latin typeface="Calibri"/>
                <a:cs typeface="Calibri"/>
              </a:rPr>
              <a:t> </a:t>
            </a:r>
            <a:r>
              <a:rPr dirty="0" sz="2800" spc="-10">
                <a:solidFill>
                  <a:srgbClr val="4E3629"/>
                </a:solidFill>
                <a:latin typeface="Calibri"/>
                <a:cs typeface="Calibri"/>
              </a:rPr>
              <a:t>desactivarla</a:t>
            </a:r>
            <a:endParaRPr sz="280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10"/>
              <a:t>Restricciones</a:t>
            </a:r>
            <a:r>
              <a:rPr dirty="0" spc="-40"/>
              <a:t> </a:t>
            </a:r>
            <a:r>
              <a:rPr dirty="0"/>
              <a:t>en</a:t>
            </a:r>
            <a:r>
              <a:rPr dirty="0" spc="-60"/>
              <a:t> </a:t>
            </a:r>
            <a:r>
              <a:rPr dirty="0" spc="-10"/>
              <a:t>Cascada</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3</a:t>
            </a:r>
          </a:p>
          <a:p>
            <a:pPr marL="12700">
              <a:lnSpc>
                <a:spcPts val="965"/>
              </a:lnSpc>
            </a:pPr>
            <a:r>
              <a:rPr dirty="0"/>
              <a:t>Gestión</a:t>
            </a:r>
            <a:r>
              <a:rPr dirty="0" spc="-20"/>
              <a:t> </a:t>
            </a:r>
            <a:r>
              <a:rPr dirty="0"/>
              <a:t>de</a:t>
            </a:r>
            <a:r>
              <a:rPr dirty="0" spc="-40"/>
              <a:t> </a:t>
            </a:r>
            <a:r>
              <a:rPr dirty="0" spc="-10"/>
              <a:t>Restricciones</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22</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a:spLocks noGrp="1"/>
          </p:cNvSpPr>
          <p:nvPr>
            <p:ph type="body" idx="1"/>
          </p:nvPr>
        </p:nvSpPr>
        <p:spPr>
          <a:prstGeom prst="rect"/>
        </p:spPr>
        <p:txBody>
          <a:bodyPr wrap="square" lIns="0" tIns="97155" rIns="0" bIns="0" rtlCol="0" vert="horz">
            <a:spAutoFit/>
          </a:bodyPr>
          <a:lstStyle/>
          <a:p>
            <a:pPr marL="159385" marR="146050" indent="-147320">
              <a:lnSpc>
                <a:spcPct val="80000"/>
              </a:lnSpc>
              <a:spcBef>
                <a:spcPts val="765"/>
              </a:spcBef>
              <a:buClr>
                <a:srgbClr val="D1350F"/>
              </a:buClr>
              <a:buFont typeface="Arial MT"/>
              <a:buChar char="•"/>
              <a:tabLst>
                <a:tab pos="184785" algn="l"/>
              </a:tabLst>
            </a:pPr>
            <a:r>
              <a:rPr dirty="0" spc="-515"/>
              <a:t> </a:t>
            </a:r>
            <a:r>
              <a:rPr dirty="0"/>
              <a:t>Las</a:t>
            </a:r>
            <a:r>
              <a:rPr dirty="0" spc="-85"/>
              <a:t> </a:t>
            </a:r>
            <a:r>
              <a:rPr dirty="0" spc="-10"/>
              <a:t>restricciones</a:t>
            </a:r>
            <a:r>
              <a:rPr dirty="0" spc="-40"/>
              <a:t> </a:t>
            </a:r>
            <a:r>
              <a:rPr dirty="0"/>
              <a:t>de</a:t>
            </a:r>
            <a:r>
              <a:rPr dirty="0" spc="-65"/>
              <a:t> </a:t>
            </a:r>
            <a:r>
              <a:rPr dirty="0"/>
              <a:t>integridad</a:t>
            </a:r>
            <a:r>
              <a:rPr dirty="0" spc="-50"/>
              <a:t> </a:t>
            </a:r>
            <a:r>
              <a:rPr dirty="0" spc="-10"/>
              <a:t>referencial</a:t>
            </a:r>
            <a:r>
              <a:rPr dirty="0" spc="-75"/>
              <a:t> </a:t>
            </a:r>
            <a:r>
              <a:rPr dirty="0"/>
              <a:t>en</a:t>
            </a:r>
            <a:r>
              <a:rPr dirty="0" spc="-70"/>
              <a:t> </a:t>
            </a:r>
            <a:r>
              <a:rPr dirty="0" spc="-10"/>
              <a:t>cascada</a:t>
            </a:r>
            <a:r>
              <a:rPr dirty="0" u="none" spc="-10"/>
              <a:t> </a:t>
            </a:r>
            <a:r>
              <a:rPr dirty="0" u="none" spc="-10"/>
              <a:t>	</a:t>
            </a:r>
            <a:r>
              <a:rPr dirty="0"/>
              <a:t>definen</a:t>
            </a:r>
            <a:r>
              <a:rPr dirty="0" spc="-40"/>
              <a:t> </a:t>
            </a:r>
            <a:r>
              <a:rPr dirty="0"/>
              <a:t>las</a:t>
            </a:r>
            <a:r>
              <a:rPr dirty="0" spc="-50"/>
              <a:t> </a:t>
            </a:r>
            <a:r>
              <a:rPr dirty="0"/>
              <a:t>acciones</a:t>
            </a:r>
            <a:r>
              <a:rPr dirty="0" spc="-45"/>
              <a:t> </a:t>
            </a:r>
            <a:r>
              <a:rPr dirty="0"/>
              <a:t>que</a:t>
            </a:r>
            <a:r>
              <a:rPr dirty="0" spc="-30"/>
              <a:t> </a:t>
            </a:r>
            <a:r>
              <a:rPr dirty="0"/>
              <a:t>lleva</a:t>
            </a:r>
            <a:r>
              <a:rPr dirty="0" spc="-60"/>
              <a:t> </a:t>
            </a:r>
            <a:r>
              <a:rPr dirty="0"/>
              <a:t>a</a:t>
            </a:r>
            <a:r>
              <a:rPr dirty="0" spc="-55"/>
              <a:t> </a:t>
            </a:r>
            <a:r>
              <a:rPr dirty="0"/>
              <a:t>cabo</a:t>
            </a:r>
            <a:r>
              <a:rPr dirty="0" spc="-40"/>
              <a:t> </a:t>
            </a:r>
            <a:r>
              <a:rPr dirty="0"/>
              <a:t>el</a:t>
            </a:r>
            <a:r>
              <a:rPr dirty="0" spc="-60"/>
              <a:t> </a:t>
            </a:r>
            <a:r>
              <a:rPr dirty="0"/>
              <a:t>servidor</a:t>
            </a:r>
            <a:r>
              <a:rPr dirty="0" spc="-35"/>
              <a:t> </a:t>
            </a:r>
            <a:r>
              <a:rPr dirty="0" spc="-25"/>
              <a:t>de</a:t>
            </a:r>
            <a:r>
              <a:rPr dirty="0" u="none" spc="-25"/>
              <a:t> </a:t>
            </a:r>
            <a:r>
              <a:rPr dirty="0" u="none" spc="-25"/>
              <a:t>	</a:t>
            </a:r>
            <a:r>
              <a:rPr dirty="0"/>
              <a:t>base</a:t>
            </a:r>
            <a:r>
              <a:rPr dirty="0" spc="-80"/>
              <a:t> </a:t>
            </a:r>
            <a:r>
              <a:rPr dirty="0"/>
              <a:t>de</a:t>
            </a:r>
            <a:r>
              <a:rPr dirty="0" spc="-85"/>
              <a:t> </a:t>
            </a:r>
            <a:r>
              <a:rPr dirty="0"/>
              <a:t>datos</a:t>
            </a:r>
            <a:r>
              <a:rPr dirty="0" spc="-75"/>
              <a:t> </a:t>
            </a:r>
            <a:r>
              <a:rPr dirty="0"/>
              <a:t>cuando</a:t>
            </a:r>
            <a:r>
              <a:rPr dirty="0" spc="-60"/>
              <a:t> </a:t>
            </a:r>
            <a:r>
              <a:rPr dirty="0"/>
              <a:t>un</a:t>
            </a:r>
            <a:r>
              <a:rPr dirty="0" spc="-70"/>
              <a:t> </a:t>
            </a:r>
            <a:r>
              <a:rPr dirty="0"/>
              <a:t>usuario</a:t>
            </a:r>
            <a:r>
              <a:rPr dirty="0" spc="-50"/>
              <a:t> </a:t>
            </a:r>
            <a:r>
              <a:rPr dirty="0" spc="-10"/>
              <a:t>intenta</a:t>
            </a:r>
            <a:r>
              <a:rPr dirty="0" spc="-70"/>
              <a:t> </a:t>
            </a:r>
            <a:r>
              <a:rPr dirty="0"/>
              <a:t>suprimir</a:t>
            </a:r>
            <a:r>
              <a:rPr dirty="0" spc="-55"/>
              <a:t> </a:t>
            </a:r>
            <a:r>
              <a:rPr dirty="0" spc="-50"/>
              <a:t>o</a:t>
            </a:r>
            <a:r>
              <a:rPr dirty="0" u="none" spc="-50"/>
              <a:t> </a:t>
            </a:r>
            <a:r>
              <a:rPr dirty="0" u="none" spc="-50"/>
              <a:t>	</a:t>
            </a:r>
            <a:r>
              <a:rPr dirty="0"/>
              <a:t>actualizar</a:t>
            </a:r>
            <a:r>
              <a:rPr dirty="0" spc="-75"/>
              <a:t> </a:t>
            </a:r>
            <a:r>
              <a:rPr dirty="0"/>
              <a:t>una</a:t>
            </a:r>
            <a:r>
              <a:rPr dirty="0" spc="-55"/>
              <a:t> </a:t>
            </a:r>
            <a:r>
              <a:rPr dirty="0"/>
              <a:t>clave</a:t>
            </a:r>
            <a:r>
              <a:rPr dirty="0" spc="-70"/>
              <a:t> </a:t>
            </a:r>
            <a:r>
              <a:rPr dirty="0"/>
              <a:t>a</a:t>
            </a:r>
            <a:r>
              <a:rPr dirty="0" spc="-75"/>
              <a:t> </a:t>
            </a:r>
            <a:r>
              <a:rPr dirty="0"/>
              <a:t>la</a:t>
            </a:r>
            <a:r>
              <a:rPr dirty="0" spc="-65"/>
              <a:t> </a:t>
            </a:r>
            <a:r>
              <a:rPr dirty="0"/>
              <a:t>que</a:t>
            </a:r>
            <a:r>
              <a:rPr dirty="0" spc="-55"/>
              <a:t> </a:t>
            </a:r>
            <a:r>
              <a:rPr dirty="0"/>
              <a:t>apuntan</a:t>
            </a:r>
            <a:r>
              <a:rPr dirty="0" spc="-40"/>
              <a:t> </a:t>
            </a:r>
            <a:r>
              <a:rPr dirty="0"/>
              <a:t>las</a:t>
            </a:r>
            <a:r>
              <a:rPr dirty="0" spc="-60"/>
              <a:t> </a:t>
            </a:r>
            <a:r>
              <a:rPr dirty="0"/>
              <a:t>claves</a:t>
            </a:r>
            <a:r>
              <a:rPr dirty="0" spc="-70"/>
              <a:t> </a:t>
            </a:r>
            <a:r>
              <a:rPr dirty="0" spc="-10"/>
              <a:t>ajenas</a:t>
            </a:r>
            <a:r>
              <a:rPr dirty="0" u="none" spc="-10"/>
              <a:t> </a:t>
            </a:r>
            <a:r>
              <a:rPr dirty="0" u="none" spc="-10"/>
              <a:t>	</a:t>
            </a:r>
            <a:r>
              <a:rPr dirty="0" spc="-10"/>
              <a:t>existentes</a:t>
            </a:r>
          </a:p>
          <a:p>
            <a:pPr marL="182880" marR="5080" indent="-170815">
              <a:lnSpc>
                <a:spcPct val="80000"/>
              </a:lnSpc>
              <a:spcBef>
                <a:spcPts val="810"/>
              </a:spcBef>
              <a:buClr>
                <a:srgbClr val="D1350F"/>
              </a:buClr>
              <a:buFont typeface="Arial MT"/>
              <a:buChar char="•"/>
              <a:tabLst>
                <a:tab pos="184785" algn="l"/>
              </a:tabLst>
            </a:pPr>
            <a:r>
              <a:rPr dirty="0" u="none"/>
              <a:t>La</a:t>
            </a:r>
            <a:r>
              <a:rPr dirty="0" u="none" spc="-80"/>
              <a:t> </a:t>
            </a:r>
            <a:r>
              <a:rPr dirty="0" u="none"/>
              <a:t>cláusula</a:t>
            </a:r>
            <a:r>
              <a:rPr dirty="0" u="none" spc="-45"/>
              <a:t> </a:t>
            </a:r>
            <a:r>
              <a:rPr dirty="0" u="none"/>
              <a:t>CASCADE</a:t>
            </a:r>
            <a:r>
              <a:rPr dirty="0" u="none" spc="-45"/>
              <a:t> </a:t>
            </a:r>
            <a:r>
              <a:rPr dirty="0" u="none" spc="-10"/>
              <a:t>CONSTRAINTS</a:t>
            </a:r>
            <a:r>
              <a:rPr dirty="0" u="none" spc="-50"/>
              <a:t> </a:t>
            </a:r>
            <a:r>
              <a:rPr dirty="0" u="none"/>
              <a:t>se</a:t>
            </a:r>
            <a:r>
              <a:rPr dirty="0" u="none" spc="-70"/>
              <a:t> </a:t>
            </a:r>
            <a:r>
              <a:rPr dirty="0" u="none"/>
              <a:t>utiliza</a:t>
            </a:r>
            <a:r>
              <a:rPr dirty="0" u="none" spc="-60"/>
              <a:t> </a:t>
            </a:r>
            <a:r>
              <a:rPr dirty="0" u="none"/>
              <a:t>junto</a:t>
            </a:r>
            <a:r>
              <a:rPr dirty="0" u="none" spc="-50"/>
              <a:t> </a:t>
            </a:r>
            <a:r>
              <a:rPr dirty="0" u="none" spc="-25"/>
              <a:t>con </a:t>
            </a:r>
            <a:r>
              <a:rPr dirty="0" u="none" spc="-25"/>
              <a:t>	</a:t>
            </a:r>
            <a:r>
              <a:rPr dirty="0" u="none"/>
              <a:t>la</a:t>
            </a:r>
            <a:r>
              <a:rPr dirty="0" u="none" spc="-50"/>
              <a:t> </a:t>
            </a:r>
            <a:r>
              <a:rPr dirty="0" u="none"/>
              <a:t>cláusula</a:t>
            </a:r>
            <a:r>
              <a:rPr dirty="0" u="none" spc="-35"/>
              <a:t> </a:t>
            </a:r>
            <a:r>
              <a:rPr dirty="0" u="none"/>
              <a:t>DROP</a:t>
            </a:r>
            <a:r>
              <a:rPr dirty="0" u="none" spc="-35"/>
              <a:t> </a:t>
            </a:r>
            <a:r>
              <a:rPr dirty="0" u="none" spc="-10"/>
              <a:t>COLUMN</a:t>
            </a:r>
          </a:p>
          <a:p>
            <a:pPr marL="182880" marR="226060" indent="-170815">
              <a:lnSpc>
                <a:spcPct val="80000"/>
              </a:lnSpc>
              <a:spcBef>
                <a:spcPts val="795"/>
              </a:spcBef>
              <a:buClr>
                <a:srgbClr val="D1350F"/>
              </a:buClr>
              <a:buFont typeface="Arial MT"/>
              <a:buChar char="•"/>
              <a:tabLst>
                <a:tab pos="184785" algn="l"/>
              </a:tabLst>
            </a:pPr>
            <a:r>
              <a:rPr dirty="0" u="none"/>
              <a:t>Borra</a:t>
            </a:r>
            <a:r>
              <a:rPr dirty="0" u="none" spc="-75"/>
              <a:t> </a:t>
            </a:r>
            <a:r>
              <a:rPr dirty="0" u="none"/>
              <a:t>todas</a:t>
            </a:r>
            <a:r>
              <a:rPr dirty="0" u="none" spc="-65"/>
              <a:t> </a:t>
            </a:r>
            <a:r>
              <a:rPr dirty="0" u="none"/>
              <a:t>las</a:t>
            </a:r>
            <a:r>
              <a:rPr dirty="0" u="none" spc="-65"/>
              <a:t> </a:t>
            </a:r>
            <a:r>
              <a:rPr dirty="0" u="none" spc="-10"/>
              <a:t>restricciones</a:t>
            </a:r>
            <a:r>
              <a:rPr dirty="0" u="none" spc="-60"/>
              <a:t> </a:t>
            </a:r>
            <a:r>
              <a:rPr dirty="0" u="none"/>
              <a:t>de</a:t>
            </a:r>
            <a:r>
              <a:rPr dirty="0" u="none" spc="-60"/>
              <a:t> </a:t>
            </a:r>
            <a:r>
              <a:rPr dirty="0" u="none"/>
              <a:t>integridad</a:t>
            </a:r>
            <a:r>
              <a:rPr dirty="0" u="none" spc="-70"/>
              <a:t> </a:t>
            </a:r>
            <a:r>
              <a:rPr dirty="0" u="none" spc="-10"/>
              <a:t>referencial </a:t>
            </a:r>
            <a:r>
              <a:rPr dirty="0" u="none" spc="-10"/>
              <a:t>	</a:t>
            </a:r>
            <a:r>
              <a:rPr dirty="0" u="none"/>
              <a:t>que</a:t>
            </a:r>
            <a:r>
              <a:rPr dirty="0" u="none" spc="-40"/>
              <a:t> </a:t>
            </a:r>
            <a:r>
              <a:rPr dirty="0" u="none"/>
              <a:t>hacen</a:t>
            </a:r>
            <a:r>
              <a:rPr dirty="0" u="none" spc="-60"/>
              <a:t> </a:t>
            </a:r>
            <a:r>
              <a:rPr dirty="0" u="none" spc="-10"/>
              <a:t>referencia</a:t>
            </a:r>
            <a:r>
              <a:rPr dirty="0" u="none" spc="-65"/>
              <a:t> </a:t>
            </a:r>
            <a:r>
              <a:rPr dirty="0" u="none"/>
              <a:t>a</a:t>
            </a:r>
            <a:r>
              <a:rPr dirty="0" u="none" spc="-60"/>
              <a:t> </a:t>
            </a:r>
            <a:r>
              <a:rPr dirty="0" u="none"/>
              <a:t>las</a:t>
            </a:r>
            <a:r>
              <a:rPr dirty="0" u="none" spc="-65"/>
              <a:t> </a:t>
            </a:r>
            <a:r>
              <a:rPr dirty="0" u="none"/>
              <a:t>claves</a:t>
            </a:r>
            <a:r>
              <a:rPr dirty="0" u="none" spc="-70"/>
              <a:t> </a:t>
            </a:r>
            <a:r>
              <a:rPr dirty="0" u="none"/>
              <a:t>primarias</a:t>
            </a:r>
            <a:r>
              <a:rPr dirty="0" u="none" spc="-35"/>
              <a:t> </a:t>
            </a:r>
            <a:r>
              <a:rPr dirty="0" u="none"/>
              <a:t>y</a:t>
            </a:r>
            <a:r>
              <a:rPr dirty="0" u="none" spc="-60"/>
              <a:t> </a:t>
            </a:r>
            <a:r>
              <a:rPr dirty="0" u="none" spc="-10"/>
              <a:t>únicas </a:t>
            </a:r>
            <a:r>
              <a:rPr dirty="0" u="none" spc="-10"/>
              <a:t>	</a:t>
            </a:r>
            <a:r>
              <a:rPr dirty="0" u="none"/>
              <a:t>definidas</a:t>
            </a:r>
            <a:r>
              <a:rPr dirty="0" u="none" spc="-55"/>
              <a:t> </a:t>
            </a:r>
            <a:r>
              <a:rPr dirty="0" u="none"/>
              <a:t>en</a:t>
            </a:r>
            <a:r>
              <a:rPr dirty="0" u="none" spc="-90"/>
              <a:t> </a:t>
            </a:r>
            <a:r>
              <a:rPr dirty="0" u="none"/>
              <a:t>las</a:t>
            </a:r>
            <a:r>
              <a:rPr dirty="0" u="none" spc="-75"/>
              <a:t> </a:t>
            </a:r>
            <a:r>
              <a:rPr dirty="0" u="none"/>
              <a:t>columnas</a:t>
            </a:r>
            <a:r>
              <a:rPr dirty="0" u="none" spc="-65"/>
              <a:t> </a:t>
            </a:r>
            <a:r>
              <a:rPr dirty="0" u="none" spc="-10"/>
              <a:t>borradas</a:t>
            </a:r>
          </a:p>
          <a:p>
            <a:pPr marL="182880" marR="1191895" indent="-170815">
              <a:lnSpc>
                <a:spcPct val="80000"/>
              </a:lnSpc>
              <a:spcBef>
                <a:spcPts val="805"/>
              </a:spcBef>
              <a:buClr>
                <a:srgbClr val="D1350F"/>
              </a:buClr>
              <a:buFont typeface="Arial MT"/>
              <a:buChar char="•"/>
              <a:tabLst>
                <a:tab pos="184785" algn="l"/>
              </a:tabLst>
            </a:pPr>
            <a:r>
              <a:rPr dirty="0" u="none"/>
              <a:t>Borra</a:t>
            </a:r>
            <a:r>
              <a:rPr dirty="0" u="none" spc="-70"/>
              <a:t> </a:t>
            </a:r>
            <a:r>
              <a:rPr dirty="0" u="none"/>
              <a:t>también</a:t>
            </a:r>
            <a:r>
              <a:rPr dirty="0" u="none" spc="-55"/>
              <a:t> </a:t>
            </a:r>
            <a:r>
              <a:rPr dirty="0" u="none"/>
              <a:t>todas</a:t>
            </a:r>
            <a:r>
              <a:rPr dirty="0" u="none" spc="-60"/>
              <a:t> </a:t>
            </a:r>
            <a:r>
              <a:rPr dirty="0" u="none"/>
              <a:t>las</a:t>
            </a:r>
            <a:r>
              <a:rPr dirty="0" u="none" spc="-65"/>
              <a:t> </a:t>
            </a:r>
            <a:r>
              <a:rPr dirty="0" u="none" spc="-10"/>
              <a:t>restricciones</a:t>
            </a:r>
            <a:r>
              <a:rPr dirty="0" u="none" spc="-55"/>
              <a:t> </a:t>
            </a:r>
            <a:r>
              <a:rPr dirty="0" u="none"/>
              <a:t>de</a:t>
            </a:r>
            <a:r>
              <a:rPr dirty="0" u="none" spc="-60"/>
              <a:t> </a:t>
            </a:r>
            <a:r>
              <a:rPr dirty="0" u="none" spc="-10"/>
              <a:t>varias </a:t>
            </a:r>
            <a:r>
              <a:rPr dirty="0" u="none" spc="-10"/>
              <a:t>	</a:t>
            </a:r>
            <a:r>
              <a:rPr dirty="0" u="none"/>
              <a:t>columnas</a:t>
            </a:r>
            <a:r>
              <a:rPr dirty="0" u="none" spc="-70"/>
              <a:t> </a:t>
            </a:r>
            <a:r>
              <a:rPr dirty="0" u="none"/>
              <a:t>definidas</a:t>
            </a:r>
            <a:r>
              <a:rPr dirty="0" u="none" spc="-70"/>
              <a:t> </a:t>
            </a:r>
            <a:r>
              <a:rPr dirty="0" u="none"/>
              <a:t>en</a:t>
            </a:r>
            <a:r>
              <a:rPr dirty="0" u="none" spc="-80"/>
              <a:t> </a:t>
            </a:r>
            <a:r>
              <a:rPr dirty="0" u="none"/>
              <a:t>las</a:t>
            </a:r>
            <a:r>
              <a:rPr dirty="0" u="none" spc="-90"/>
              <a:t> </a:t>
            </a:r>
            <a:r>
              <a:rPr dirty="0" u="none"/>
              <a:t>columnas</a:t>
            </a:r>
            <a:r>
              <a:rPr dirty="0" u="none" spc="-55"/>
              <a:t> </a:t>
            </a:r>
            <a:r>
              <a:rPr dirty="0" u="none" spc="-10"/>
              <a:t>borradas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10"/>
              <a:t>Restricciones</a:t>
            </a:r>
            <a:r>
              <a:rPr dirty="0" spc="-40"/>
              <a:t> </a:t>
            </a:r>
            <a:r>
              <a:rPr dirty="0"/>
              <a:t>en</a:t>
            </a:r>
            <a:r>
              <a:rPr dirty="0" spc="-60"/>
              <a:t> </a:t>
            </a:r>
            <a:r>
              <a:rPr dirty="0" spc="-10"/>
              <a:t>Cascada</a:t>
            </a:r>
          </a:p>
        </p:txBody>
      </p:sp>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3</a:t>
            </a:r>
          </a:p>
          <a:p>
            <a:pPr marL="12700">
              <a:lnSpc>
                <a:spcPts val="965"/>
              </a:lnSpc>
            </a:pPr>
            <a:r>
              <a:rPr dirty="0"/>
              <a:t>Gestión</a:t>
            </a:r>
            <a:r>
              <a:rPr dirty="0" spc="-20"/>
              <a:t> </a:t>
            </a:r>
            <a:r>
              <a:rPr dirty="0"/>
              <a:t>de</a:t>
            </a:r>
            <a:r>
              <a:rPr dirty="0" spc="-40"/>
              <a:t> </a:t>
            </a:r>
            <a:r>
              <a:rPr dirty="0" spc="-10"/>
              <a:t>Restricciones</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23</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7816850" cy="2474595"/>
          </a:xfrm>
          <a:prstGeom prst="rect">
            <a:avLst/>
          </a:prstGeom>
        </p:spPr>
        <p:txBody>
          <a:bodyPr wrap="square" lIns="0" tIns="59690" rIns="0" bIns="0" rtlCol="0" vert="horz">
            <a:spAutoFit/>
          </a:bodyPr>
          <a:lstStyle/>
          <a:p>
            <a:pPr marL="182880" marR="84455"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Si</a:t>
            </a:r>
            <a:r>
              <a:rPr dirty="0" sz="2800" spc="-75">
                <a:solidFill>
                  <a:srgbClr val="4E3629"/>
                </a:solidFill>
                <a:latin typeface="Calibri"/>
                <a:cs typeface="Calibri"/>
              </a:rPr>
              <a:t> </a:t>
            </a:r>
            <a:r>
              <a:rPr dirty="0" sz="2800">
                <a:solidFill>
                  <a:srgbClr val="4E3629"/>
                </a:solidFill>
                <a:latin typeface="Calibri"/>
                <a:cs typeface="Calibri"/>
              </a:rPr>
              <a:t>una</a:t>
            </a:r>
            <a:r>
              <a:rPr dirty="0" sz="2800" spc="-65">
                <a:solidFill>
                  <a:srgbClr val="4E3629"/>
                </a:solidFill>
                <a:latin typeface="Calibri"/>
                <a:cs typeface="Calibri"/>
              </a:rPr>
              <a:t> </a:t>
            </a:r>
            <a:r>
              <a:rPr dirty="0" sz="2800">
                <a:solidFill>
                  <a:srgbClr val="4E3629"/>
                </a:solidFill>
                <a:latin typeface="Calibri"/>
                <a:cs typeface="Calibri"/>
              </a:rPr>
              <a:t>sentencia</a:t>
            </a:r>
            <a:r>
              <a:rPr dirty="0" sz="2800" spc="-60">
                <a:solidFill>
                  <a:srgbClr val="4E3629"/>
                </a:solidFill>
                <a:latin typeface="Calibri"/>
                <a:cs typeface="Calibri"/>
              </a:rPr>
              <a:t> </a:t>
            </a:r>
            <a:r>
              <a:rPr dirty="0" sz="2800" spc="-25">
                <a:solidFill>
                  <a:srgbClr val="4E3629"/>
                </a:solidFill>
                <a:latin typeface="Calibri"/>
                <a:cs typeface="Calibri"/>
              </a:rPr>
              <a:t>ALTER</a:t>
            </a:r>
            <a:r>
              <a:rPr dirty="0" sz="2800" spc="-85">
                <a:solidFill>
                  <a:srgbClr val="4E3629"/>
                </a:solidFill>
                <a:latin typeface="Calibri"/>
                <a:cs typeface="Calibri"/>
              </a:rPr>
              <a:t> </a:t>
            </a:r>
            <a:r>
              <a:rPr dirty="0" sz="2800" spc="-25">
                <a:solidFill>
                  <a:srgbClr val="4E3629"/>
                </a:solidFill>
                <a:latin typeface="Calibri"/>
                <a:cs typeface="Calibri"/>
              </a:rPr>
              <a:t>TABLE</a:t>
            </a:r>
            <a:r>
              <a:rPr dirty="0" sz="2800" spc="-75">
                <a:solidFill>
                  <a:srgbClr val="4E3629"/>
                </a:solidFill>
                <a:latin typeface="Calibri"/>
                <a:cs typeface="Calibri"/>
              </a:rPr>
              <a:t> </a:t>
            </a:r>
            <a:r>
              <a:rPr dirty="0" sz="2800">
                <a:solidFill>
                  <a:srgbClr val="4E3629"/>
                </a:solidFill>
                <a:latin typeface="Calibri"/>
                <a:cs typeface="Calibri"/>
              </a:rPr>
              <a:t>no</a:t>
            </a:r>
            <a:r>
              <a:rPr dirty="0" sz="2800" spc="-65">
                <a:solidFill>
                  <a:srgbClr val="4E3629"/>
                </a:solidFill>
                <a:latin typeface="Calibri"/>
                <a:cs typeface="Calibri"/>
              </a:rPr>
              <a:t> </a:t>
            </a:r>
            <a:r>
              <a:rPr dirty="0" sz="2800">
                <a:solidFill>
                  <a:srgbClr val="4E3629"/>
                </a:solidFill>
                <a:latin typeface="Calibri"/>
                <a:cs typeface="Calibri"/>
              </a:rPr>
              <a:t>incluye</a:t>
            </a:r>
            <a:r>
              <a:rPr dirty="0" sz="2800" spc="-55">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spc="-10">
                <a:solidFill>
                  <a:srgbClr val="4E3629"/>
                </a:solidFill>
                <a:latin typeface="Calibri"/>
                <a:cs typeface="Calibri"/>
              </a:rPr>
              <a:t>opción </a:t>
            </a:r>
            <a:r>
              <a:rPr dirty="0" sz="2800" spc="-10">
                <a:solidFill>
                  <a:srgbClr val="4E3629"/>
                </a:solidFill>
                <a:latin typeface="Calibri"/>
                <a:cs typeface="Calibri"/>
              </a:rPr>
              <a:t>	</a:t>
            </a:r>
            <a:r>
              <a:rPr dirty="0" sz="2800">
                <a:solidFill>
                  <a:srgbClr val="4E3629"/>
                </a:solidFill>
                <a:latin typeface="Calibri"/>
                <a:cs typeface="Calibri"/>
              </a:rPr>
              <a:t>CASCADE</a:t>
            </a:r>
            <a:r>
              <a:rPr dirty="0" sz="2800" spc="-85">
                <a:solidFill>
                  <a:srgbClr val="4E3629"/>
                </a:solidFill>
                <a:latin typeface="Calibri"/>
                <a:cs typeface="Calibri"/>
              </a:rPr>
              <a:t> </a:t>
            </a:r>
            <a:r>
              <a:rPr dirty="0" sz="2800" spc="-10">
                <a:solidFill>
                  <a:srgbClr val="4E3629"/>
                </a:solidFill>
                <a:latin typeface="Calibri"/>
                <a:cs typeface="Calibri"/>
              </a:rPr>
              <a:t>CONSTRAINTS,</a:t>
            </a:r>
            <a:r>
              <a:rPr dirty="0" sz="2800" spc="-55">
                <a:solidFill>
                  <a:srgbClr val="4E3629"/>
                </a:solidFill>
                <a:latin typeface="Calibri"/>
                <a:cs typeface="Calibri"/>
              </a:rPr>
              <a:t> </a:t>
            </a:r>
            <a:r>
              <a:rPr dirty="0" sz="2800">
                <a:solidFill>
                  <a:srgbClr val="4E3629"/>
                </a:solidFill>
                <a:latin typeface="Calibri"/>
                <a:cs typeface="Calibri"/>
              </a:rPr>
              <a:t>cualquier</a:t>
            </a:r>
            <a:r>
              <a:rPr dirty="0" sz="2800" spc="-70">
                <a:solidFill>
                  <a:srgbClr val="4E3629"/>
                </a:solidFill>
                <a:latin typeface="Calibri"/>
                <a:cs typeface="Calibri"/>
              </a:rPr>
              <a:t> </a:t>
            </a:r>
            <a:r>
              <a:rPr dirty="0" sz="2800" spc="-10">
                <a:solidFill>
                  <a:srgbClr val="4E3629"/>
                </a:solidFill>
                <a:latin typeface="Calibri"/>
                <a:cs typeface="Calibri"/>
              </a:rPr>
              <a:t>intento</a:t>
            </a:r>
            <a:r>
              <a:rPr dirty="0" sz="2800" spc="-70">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spc="-10">
                <a:solidFill>
                  <a:srgbClr val="4E3629"/>
                </a:solidFill>
                <a:latin typeface="Calibri"/>
                <a:cs typeface="Calibri"/>
              </a:rPr>
              <a:t>borrar </a:t>
            </a:r>
            <a:r>
              <a:rPr dirty="0" sz="2800" spc="-10">
                <a:solidFill>
                  <a:srgbClr val="4E3629"/>
                </a:solidFill>
                <a:latin typeface="Calibri"/>
                <a:cs typeface="Calibri"/>
              </a:rPr>
              <a:t>	</a:t>
            </a:r>
            <a:r>
              <a:rPr dirty="0" sz="2800">
                <a:solidFill>
                  <a:srgbClr val="4E3629"/>
                </a:solidFill>
                <a:latin typeface="Calibri"/>
                <a:cs typeface="Calibri"/>
              </a:rPr>
              <a:t>una</a:t>
            </a:r>
            <a:r>
              <a:rPr dirty="0" sz="2800" spc="-55">
                <a:solidFill>
                  <a:srgbClr val="4E3629"/>
                </a:solidFill>
                <a:latin typeface="Calibri"/>
                <a:cs typeface="Calibri"/>
              </a:rPr>
              <a:t> </a:t>
            </a:r>
            <a:r>
              <a:rPr dirty="0" sz="2800" spc="-10">
                <a:solidFill>
                  <a:srgbClr val="4E3629"/>
                </a:solidFill>
                <a:latin typeface="Calibri"/>
                <a:cs typeface="Calibri"/>
              </a:rPr>
              <a:t>restricción</a:t>
            </a:r>
            <a:r>
              <a:rPr dirty="0" sz="2800" spc="-4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clave</a:t>
            </a:r>
            <a:r>
              <a:rPr dirty="0" sz="2800" spc="-65">
                <a:solidFill>
                  <a:srgbClr val="4E3629"/>
                </a:solidFill>
                <a:latin typeface="Calibri"/>
                <a:cs typeface="Calibri"/>
              </a:rPr>
              <a:t> </a:t>
            </a:r>
            <a:r>
              <a:rPr dirty="0" sz="2800">
                <a:solidFill>
                  <a:srgbClr val="4E3629"/>
                </a:solidFill>
                <a:latin typeface="Calibri"/>
                <a:cs typeface="Calibri"/>
              </a:rPr>
              <a:t>primaria</a:t>
            </a:r>
            <a:r>
              <a:rPr dirty="0" sz="2800" spc="-50">
                <a:solidFill>
                  <a:srgbClr val="4E3629"/>
                </a:solidFill>
                <a:latin typeface="Calibri"/>
                <a:cs typeface="Calibri"/>
              </a:rPr>
              <a:t> </a:t>
            </a:r>
            <a:r>
              <a:rPr dirty="0" sz="2800">
                <a:solidFill>
                  <a:srgbClr val="4E3629"/>
                </a:solidFill>
                <a:latin typeface="Calibri"/>
                <a:cs typeface="Calibri"/>
              </a:rPr>
              <a:t>o</a:t>
            </a:r>
            <a:r>
              <a:rPr dirty="0" sz="2800" spc="-70">
                <a:solidFill>
                  <a:srgbClr val="4E3629"/>
                </a:solidFill>
                <a:latin typeface="Calibri"/>
                <a:cs typeface="Calibri"/>
              </a:rPr>
              <a:t> </a:t>
            </a:r>
            <a:r>
              <a:rPr dirty="0" sz="2800">
                <a:solidFill>
                  <a:srgbClr val="4E3629"/>
                </a:solidFill>
                <a:latin typeface="Calibri"/>
                <a:cs typeface="Calibri"/>
              </a:rPr>
              <a:t>varias</a:t>
            </a:r>
            <a:r>
              <a:rPr dirty="0" sz="2800" spc="-70">
                <a:solidFill>
                  <a:srgbClr val="4E3629"/>
                </a:solidFill>
                <a:latin typeface="Calibri"/>
                <a:cs typeface="Calibri"/>
              </a:rPr>
              <a:t> </a:t>
            </a:r>
            <a:r>
              <a:rPr dirty="0" sz="2800" spc="-10">
                <a:solidFill>
                  <a:srgbClr val="4E3629"/>
                </a:solidFill>
                <a:latin typeface="Calibri"/>
                <a:cs typeface="Calibri"/>
              </a:rPr>
              <a:t>columnas 	fallará</a:t>
            </a:r>
            <a:endParaRPr sz="2800">
              <a:latin typeface="Calibri"/>
              <a:cs typeface="Calibri"/>
            </a:endParaRPr>
          </a:p>
          <a:p>
            <a:pPr marL="182880" marR="5080" indent="-170815">
              <a:lnSpc>
                <a:spcPts val="3030"/>
              </a:lnSpc>
              <a:spcBef>
                <a:spcPts val="780"/>
              </a:spcBef>
              <a:buClr>
                <a:srgbClr val="D1350F"/>
              </a:buClr>
              <a:buFont typeface="Arial MT"/>
              <a:buChar char="•"/>
              <a:tabLst>
                <a:tab pos="184785" algn="l"/>
              </a:tabLst>
            </a:pPr>
            <a:r>
              <a:rPr dirty="0" sz="2800">
                <a:solidFill>
                  <a:srgbClr val="4E3629"/>
                </a:solidFill>
                <a:latin typeface="Calibri"/>
                <a:cs typeface="Calibri"/>
              </a:rPr>
              <a:t>Recuerde</a:t>
            </a:r>
            <a:r>
              <a:rPr dirty="0" sz="2800" spc="-65">
                <a:solidFill>
                  <a:srgbClr val="4E3629"/>
                </a:solidFill>
                <a:latin typeface="Calibri"/>
                <a:cs typeface="Calibri"/>
              </a:rPr>
              <a:t> </a:t>
            </a:r>
            <a:r>
              <a:rPr dirty="0" sz="2800">
                <a:solidFill>
                  <a:srgbClr val="4E3629"/>
                </a:solidFill>
                <a:latin typeface="Calibri"/>
                <a:cs typeface="Calibri"/>
              </a:rPr>
              <a:t>que</a:t>
            </a:r>
            <a:r>
              <a:rPr dirty="0" sz="2800" spc="-65">
                <a:solidFill>
                  <a:srgbClr val="4E3629"/>
                </a:solidFill>
                <a:latin typeface="Calibri"/>
                <a:cs typeface="Calibri"/>
              </a:rPr>
              <a:t> </a:t>
            </a:r>
            <a:r>
              <a:rPr dirty="0" sz="2800">
                <a:solidFill>
                  <a:srgbClr val="4E3629"/>
                </a:solidFill>
                <a:latin typeface="Calibri"/>
                <a:cs typeface="Calibri"/>
              </a:rPr>
              <a:t>no</a:t>
            </a:r>
            <a:r>
              <a:rPr dirty="0" sz="2800" spc="-60">
                <a:solidFill>
                  <a:srgbClr val="4E3629"/>
                </a:solidFill>
                <a:latin typeface="Calibri"/>
                <a:cs typeface="Calibri"/>
              </a:rPr>
              <a:t> </a:t>
            </a:r>
            <a:r>
              <a:rPr dirty="0" sz="2800">
                <a:solidFill>
                  <a:srgbClr val="4E3629"/>
                </a:solidFill>
                <a:latin typeface="Calibri"/>
                <a:cs typeface="Calibri"/>
              </a:rPr>
              <a:t>puede</a:t>
            </a:r>
            <a:r>
              <a:rPr dirty="0" sz="2800" spc="-50">
                <a:solidFill>
                  <a:srgbClr val="4E3629"/>
                </a:solidFill>
                <a:latin typeface="Calibri"/>
                <a:cs typeface="Calibri"/>
              </a:rPr>
              <a:t> </a:t>
            </a:r>
            <a:r>
              <a:rPr dirty="0" sz="2800">
                <a:solidFill>
                  <a:srgbClr val="4E3629"/>
                </a:solidFill>
                <a:latin typeface="Calibri"/>
                <a:cs typeface="Calibri"/>
              </a:rPr>
              <a:t>suprimir</a:t>
            </a:r>
            <a:r>
              <a:rPr dirty="0" sz="2800" spc="-45">
                <a:solidFill>
                  <a:srgbClr val="4E3629"/>
                </a:solidFill>
                <a:latin typeface="Calibri"/>
                <a:cs typeface="Calibri"/>
              </a:rPr>
              <a:t> </a:t>
            </a:r>
            <a:r>
              <a:rPr dirty="0" sz="2800">
                <a:solidFill>
                  <a:srgbClr val="4E3629"/>
                </a:solidFill>
                <a:latin typeface="Calibri"/>
                <a:cs typeface="Calibri"/>
              </a:rPr>
              <a:t>un</a:t>
            </a:r>
            <a:r>
              <a:rPr dirty="0" sz="2800" spc="-55">
                <a:solidFill>
                  <a:srgbClr val="4E3629"/>
                </a:solidFill>
                <a:latin typeface="Calibri"/>
                <a:cs typeface="Calibri"/>
              </a:rPr>
              <a:t> </a:t>
            </a:r>
            <a:r>
              <a:rPr dirty="0" sz="2800">
                <a:solidFill>
                  <a:srgbClr val="4E3629"/>
                </a:solidFill>
                <a:latin typeface="Calibri"/>
                <a:cs typeface="Calibri"/>
              </a:rPr>
              <a:t>valor</a:t>
            </a:r>
            <a:r>
              <a:rPr dirty="0" sz="2800" spc="-80">
                <a:solidFill>
                  <a:srgbClr val="4E3629"/>
                </a:solidFill>
                <a:latin typeface="Calibri"/>
                <a:cs typeface="Calibri"/>
              </a:rPr>
              <a:t> </a:t>
            </a:r>
            <a:r>
              <a:rPr dirty="0" sz="2800">
                <a:solidFill>
                  <a:srgbClr val="4E3629"/>
                </a:solidFill>
                <a:latin typeface="Calibri"/>
                <a:cs typeface="Calibri"/>
              </a:rPr>
              <a:t>principal</a:t>
            </a:r>
            <a:r>
              <a:rPr dirty="0" sz="2800" spc="-50">
                <a:solidFill>
                  <a:srgbClr val="4E3629"/>
                </a:solidFill>
                <a:latin typeface="Calibri"/>
                <a:cs typeface="Calibri"/>
              </a:rPr>
              <a:t> </a:t>
            </a:r>
            <a:r>
              <a:rPr dirty="0" sz="2800" spc="-25">
                <a:solidFill>
                  <a:srgbClr val="4E3629"/>
                </a:solidFill>
                <a:latin typeface="Calibri"/>
                <a:cs typeface="Calibri"/>
              </a:rPr>
              <a:t>si </a:t>
            </a:r>
            <a:r>
              <a:rPr dirty="0" sz="2800" spc="-25">
                <a:solidFill>
                  <a:srgbClr val="4E3629"/>
                </a:solidFill>
                <a:latin typeface="Calibri"/>
                <a:cs typeface="Calibri"/>
              </a:rPr>
              <a:t>	</a:t>
            </a:r>
            <a:r>
              <a:rPr dirty="0" sz="2800">
                <a:solidFill>
                  <a:srgbClr val="4E3629"/>
                </a:solidFill>
                <a:latin typeface="Calibri"/>
                <a:cs typeface="Calibri"/>
              </a:rPr>
              <a:t>existen</a:t>
            </a:r>
            <a:r>
              <a:rPr dirty="0" sz="2800" spc="-95">
                <a:solidFill>
                  <a:srgbClr val="4E3629"/>
                </a:solidFill>
                <a:latin typeface="Calibri"/>
                <a:cs typeface="Calibri"/>
              </a:rPr>
              <a:t> </a:t>
            </a:r>
            <a:r>
              <a:rPr dirty="0" sz="2800">
                <a:solidFill>
                  <a:srgbClr val="4E3629"/>
                </a:solidFill>
                <a:latin typeface="Calibri"/>
                <a:cs typeface="Calibri"/>
              </a:rPr>
              <a:t>valores</a:t>
            </a:r>
            <a:r>
              <a:rPr dirty="0" sz="2800" spc="-120">
                <a:solidFill>
                  <a:srgbClr val="4E3629"/>
                </a:solidFill>
                <a:latin typeface="Calibri"/>
                <a:cs typeface="Calibri"/>
              </a:rPr>
              <a:t> </a:t>
            </a:r>
            <a:r>
              <a:rPr dirty="0" sz="2800">
                <a:solidFill>
                  <a:srgbClr val="4E3629"/>
                </a:solidFill>
                <a:latin typeface="Calibri"/>
                <a:cs typeface="Calibri"/>
              </a:rPr>
              <a:t>secundarios</a:t>
            </a:r>
            <a:r>
              <a:rPr dirty="0" sz="2800" spc="-65">
                <a:solidFill>
                  <a:srgbClr val="4E3629"/>
                </a:solidFill>
                <a:latin typeface="Calibri"/>
                <a:cs typeface="Calibri"/>
              </a:rPr>
              <a:t> </a:t>
            </a:r>
            <a:r>
              <a:rPr dirty="0" sz="2800">
                <a:solidFill>
                  <a:srgbClr val="4E3629"/>
                </a:solidFill>
                <a:latin typeface="Calibri"/>
                <a:cs typeface="Calibri"/>
              </a:rPr>
              <a:t>en</a:t>
            </a:r>
            <a:r>
              <a:rPr dirty="0" sz="2800" spc="-100">
                <a:solidFill>
                  <a:srgbClr val="4E3629"/>
                </a:solidFill>
                <a:latin typeface="Calibri"/>
                <a:cs typeface="Calibri"/>
              </a:rPr>
              <a:t> </a:t>
            </a:r>
            <a:r>
              <a:rPr dirty="0" sz="2800">
                <a:solidFill>
                  <a:srgbClr val="4E3629"/>
                </a:solidFill>
                <a:latin typeface="Calibri"/>
                <a:cs typeface="Calibri"/>
              </a:rPr>
              <a:t>otras</a:t>
            </a:r>
            <a:r>
              <a:rPr dirty="0" sz="2800" spc="-105">
                <a:solidFill>
                  <a:srgbClr val="4E3629"/>
                </a:solidFill>
                <a:latin typeface="Calibri"/>
                <a:cs typeface="Calibri"/>
              </a:rPr>
              <a:t> </a:t>
            </a:r>
            <a:r>
              <a:rPr dirty="0" sz="2800" spc="-10">
                <a:solidFill>
                  <a:srgbClr val="4E3629"/>
                </a:solidFill>
                <a:latin typeface="Calibri"/>
                <a:cs typeface="Calibri"/>
              </a:rPr>
              <a:t>tablas</a:t>
            </a:r>
            <a:endParaRPr sz="2800">
              <a:latin typeface="Calibri"/>
              <a:cs typeface="Calibri"/>
            </a:endParaRPr>
          </a:p>
        </p:txBody>
      </p:sp>
      <p:sp>
        <p:nvSpPr>
          <p:cNvPr id="4" name="object 4" descr=""/>
          <p:cNvSpPr txBox="1"/>
          <p:nvPr/>
        </p:nvSpPr>
        <p:spPr>
          <a:xfrm>
            <a:off x="405384" y="4072128"/>
            <a:ext cx="8345805" cy="574675"/>
          </a:xfrm>
          <a:prstGeom prst="rect">
            <a:avLst/>
          </a:prstGeom>
          <a:solidFill>
            <a:srgbClr val="9DBEC4">
              <a:alpha val="50199"/>
            </a:srgbClr>
          </a:solidFill>
        </p:spPr>
        <p:txBody>
          <a:bodyPr wrap="square" lIns="0" tIns="0" rIns="0" bIns="0" rtlCol="0" vert="horz">
            <a:spAutoFit/>
          </a:bodyPr>
          <a:lstStyle/>
          <a:p>
            <a:pPr>
              <a:lnSpc>
                <a:spcPts val="2045"/>
              </a:lnSpc>
            </a:pPr>
            <a:r>
              <a:rPr dirty="0" sz="1800" b="1">
                <a:solidFill>
                  <a:srgbClr val="4E3629"/>
                </a:solidFill>
                <a:latin typeface="Courier New"/>
                <a:cs typeface="Courier New"/>
              </a:rPr>
              <a:t>ALTER</a:t>
            </a:r>
            <a:r>
              <a:rPr dirty="0" sz="1800" spc="-50" b="1">
                <a:solidFill>
                  <a:srgbClr val="4E3629"/>
                </a:solidFill>
                <a:latin typeface="Courier New"/>
                <a:cs typeface="Courier New"/>
              </a:rPr>
              <a:t> </a:t>
            </a:r>
            <a:r>
              <a:rPr dirty="0" sz="1800" b="1">
                <a:solidFill>
                  <a:srgbClr val="4E3629"/>
                </a:solidFill>
                <a:latin typeface="Courier New"/>
                <a:cs typeface="Courier New"/>
              </a:rPr>
              <a:t>TABLE</a:t>
            </a:r>
            <a:r>
              <a:rPr dirty="0" sz="1800" spc="-45" b="1">
                <a:solidFill>
                  <a:srgbClr val="4E3629"/>
                </a:solidFill>
                <a:latin typeface="Courier New"/>
                <a:cs typeface="Courier New"/>
              </a:rPr>
              <a:t> </a:t>
            </a:r>
            <a:r>
              <a:rPr dirty="0" sz="1800" spc="-10" b="1">
                <a:solidFill>
                  <a:srgbClr val="4E3629"/>
                </a:solidFill>
                <a:latin typeface="Courier New"/>
                <a:cs typeface="Courier New"/>
              </a:rPr>
              <a:t>table_name</a:t>
            </a:r>
            <a:endParaRPr sz="1800">
              <a:latin typeface="Courier New"/>
              <a:cs typeface="Courier New"/>
            </a:endParaRPr>
          </a:p>
          <a:p>
            <a:pPr>
              <a:lnSpc>
                <a:spcPct val="100000"/>
              </a:lnSpc>
            </a:pPr>
            <a:r>
              <a:rPr dirty="0" sz="1800" b="1">
                <a:solidFill>
                  <a:srgbClr val="4E3629"/>
                </a:solidFill>
                <a:latin typeface="Courier New"/>
                <a:cs typeface="Courier New"/>
              </a:rPr>
              <a:t>DROP(column</a:t>
            </a:r>
            <a:r>
              <a:rPr dirty="0" sz="1800" spc="-100" b="1">
                <a:solidFill>
                  <a:srgbClr val="4E3629"/>
                </a:solidFill>
                <a:latin typeface="Courier New"/>
                <a:cs typeface="Courier New"/>
              </a:rPr>
              <a:t> </a:t>
            </a:r>
            <a:r>
              <a:rPr dirty="0" sz="1800" b="1">
                <a:solidFill>
                  <a:srgbClr val="4E3629"/>
                </a:solidFill>
                <a:latin typeface="Courier New"/>
                <a:cs typeface="Courier New"/>
              </a:rPr>
              <a:t>name(s))</a:t>
            </a:r>
            <a:r>
              <a:rPr dirty="0" sz="1800" spc="-85" b="1">
                <a:solidFill>
                  <a:srgbClr val="4E3629"/>
                </a:solidFill>
                <a:latin typeface="Courier New"/>
                <a:cs typeface="Courier New"/>
              </a:rPr>
              <a:t> </a:t>
            </a:r>
            <a:r>
              <a:rPr dirty="0" sz="1800" b="1">
                <a:solidFill>
                  <a:srgbClr val="4E3629"/>
                </a:solidFill>
                <a:latin typeface="Courier New"/>
                <a:cs typeface="Courier New"/>
              </a:rPr>
              <a:t>CASCADE</a:t>
            </a:r>
            <a:r>
              <a:rPr dirty="0" sz="1800" spc="-75" b="1">
                <a:solidFill>
                  <a:srgbClr val="4E3629"/>
                </a:solidFill>
                <a:latin typeface="Courier New"/>
                <a:cs typeface="Courier New"/>
              </a:rPr>
              <a:t> </a:t>
            </a:r>
            <a:r>
              <a:rPr dirty="0" sz="1800" spc="-10" b="1">
                <a:solidFill>
                  <a:srgbClr val="4E3629"/>
                </a:solidFill>
                <a:latin typeface="Courier New"/>
                <a:cs typeface="Courier New"/>
              </a:rPr>
              <a:t>CONSTRAINTS;</a:t>
            </a:r>
            <a:endParaRPr sz="1800">
              <a:latin typeface="Courier New"/>
              <a:cs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10"/>
              <a:t>Visualización</a:t>
            </a:r>
            <a:r>
              <a:rPr dirty="0" spc="-50"/>
              <a:t> </a:t>
            </a:r>
            <a:r>
              <a:rPr dirty="0"/>
              <a:t>de</a:t>
            </a:r>
            <a:r>
              <a:rPr dirty="0" spc="-70"/>
              <a:t> </a:t>
            </a:r>
            <a:r>
              <a:rPr dirty="0" spc="-10"/>
              <a:t>Restricciones</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3</a:t>
            </a:r>
          </a:p>
          <a:p>
            <a:pPr marL="12700">
              <a:lnSpc>
                <a:spcPts val="965"/>
              </a:lnSpc>
            </a:pPr>
            <a:r>
              <a:rPr dirty="0"/>
              <a:t>Gestión</a:t>
            </a:r>
            <a:r>
              <a:rPr dirty="0" spc="-20"/>
              <a:t> </a:t>
            </a:r>
            <a:r>
              <a:rPr dirty="0"/>
              <a:t>de</a:t>
            </a:r>
            <a:r>
              <a:rPr dirty="0" spc="-40"/>
              <a:t> </a:t>
            </a:r>
            <a:r>
              <a:rPr dirty="0" spc="-10"/>
              <a:t>Restricciones</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25</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7244080" cy="2576195"/>
          </a:xfrm>
          <a:prstGeom prst="rect">
            <a:avLst/>
          </a:prstGeom>
        </p:spPr>
        <p:txBody>
          <a:bodyPr wrap="square" lIns="0" tIns="59690" rIns="0" bIns="0" rtlCol="0" vert="horz">
            <a:spAutoFit/>
          </a:bodyPr>
          <a:lstStyle/>
          <a:p>
            <a:pPr marL="182880" marR="14605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Después</a:t>
            </a:r>
            <a:r>
              <a:rPr dirty="0" sz="2800" spc="-55">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a:solidFill>
                  <a:srgbClr val="4E3629"/>
                </a:solidFill>
                <a:latin typeface="Calibri"/>
                <a:cs typeface="Calibri"/>
              </a:rPr>
              <a:t>crear</a:t>
            </a:r>
            <a:r>
              <a:rPr dirty="0" sz="2800" spc="-85">
                <a:solidFill>
                  <a:srgbClr val="4E3629"/>
                </a:solidFill>
                <a:latin typeface="Calibri"/>
                <a:cs typeface="Calibri"/>
              </a:rPr>
              <a:t> </a:t>
            </a:r>
            <a:r>
              <a:rPr dirty="0" sz="2800">
                <a:solidFill>
                  <a:srgbClr val="4E3629"/>
                </a:solidFill>
                <a:latin typeface="Calibri"/>
                <a:cs typeface="Calibri"/>
              </a:rPr>
              <a:t>una</a:t>
            </a:r>
            <a:r>
              <a:rPr dirty="0" sz="2800" spc="-70">
                <a:solidFill>
                  <a:srgbClr val="4E3629"/>
                </a:solidFill>
                <a:latin typeface="Calibri"/>
                <a:cs typeface="Calibri"/>
              </a:rPr>
              <a:t> </a:t>
            </a:r>
            <a:r>
              <a:rPr dirty="0" sz="2800">
                <a:solidFill>
                  <a:srgbClr val="4E3629"/>
                </a:solidFill>
                <a:latin typeface="Calibri"/>
                <a:cs typeface="Calibri"/>
              </a:rPr>
              <a:t>tabla,</a:t>
            </a:r>
            <a:r>
              <a:rPr dirty="0" sz="2800" spc="-75">
                <a:solidFill>
                  <a:srgbClr val="4E3629"/>
                </a:solidFill>
                <a:latin typeface="Calibri"/>
                <a:cs typeface="Calibri"/>
              </a:rPr>
              <a:t> </a:t>
            </a:r>
            <a:r>
              <a:rPr dirty="0" sz="2800">
                <a:solidFill>
                  <a:srgbClr val="4E3629"/>
                </a:solidFill>
                <a:latin typeface="Calibri"/>
                <a:cs typeface="Calibri"/>
              </a:rPr>
              <a:t>puede</a:t>
            </a:r>
            <a:r>
              <a:rPr dirty="0" sz="2800" spc="-60">
                <a:solidFill>
                  <a:srgbClr val="4E3629"/>
                </a:solidFill>
                <a:latin typeface="Calibri"/>
                <a:cs typeface="Calibri"/>
              </a:rPr>
              <a:t> </a:t>
            </a:r>
            <a:r>
              <a:rPr dirty="0" sz="2800">
                <a:solidFill>
                  <a:srgbClr val="4E3629"/>
                </a:solidFill>
                <a:latin typeface="Calibri"/>
                <a:cs typeface="Calibri"/>
              </a:rPr>
              <a:t>confirmar</a:t>
            </a:r>
            <a:r>
              <a:rPr dirty="0" sz="2800" spc="-75">
                <a:solidFill>
                  <a:srgbClr val="4E3629"/>
                </a:solidFill>
                <a:latin typeface="Calibri"/>
                <a:cs typeface="Calibri"/>
              </a:rPr>
              <a:t> </a:t>
            </a:r>
            <a:r>
              <a:rPr dirty="0" sz="2800" spc="-25">
                <a:solidFill>
                  <a:srgbClr val="4E3629"/>
                </a:solidFill>
                <a:latin typeface="Calibri"/>
                <a:cs typeface="Calibri"/>
              </a:rPr>
              <a:t>su </a:t>
            </a:r>
            <a:r>
              <a:rPr dirty="0" sz="2800" spc="-25">
                <a:solidFill>
                  <a:srgbClr val="4E3629"/>
                </a:solidFill>
                <a:latin typeface="Calibri"/>
                <a:cs typeface="Calibri"/>
              </a:rPr>
              <a:t>	</a:t>
            </a:r>
            <a:r>
              <a:rPr dirty="0" sz="2800" spc="-10">
                <a:solidFill>
                  <a:srgbClr val="4E3629"/>
                </a:solidFill>
                <a:latin typeface="Calibri"/>
                <a:cs typeface="Calibri"/>
              </a:rPr>
              <a:t>existencia</a:t>
            </a:r>
            <a:r>
              <a:rPr dirty="0" sz="2800" spc="-80">
                <a:solidFill>
                  <a:srgbClr val="4E3629"/>
                </a:solidFill>
                <a:latin typeface="Calibri"/>
                <a:cs typeface="Calibri"/>
              </a:rPr>
              <a:t> </a:t>
            </a:r>
            <a:r>
              <a:rPr dirty="0" sz="2800">
                <a:solidFill>
                  <a:srgbClr val="4E3629"/>
                </a:solidFill>
                <a:latin typeface="Calibri"/>
                <a:cs typeface="Calibri"/>
              </a:rPr>
              <a:t>emitiendo</a:t>
            </a:r>
            <a:r>
              <a:rPr dirty="0" sz="2800" spc="-65">
                <a:solidFill>
                  <a:srgbClr val="4E3629"/>
                </a:solidFill>
                <a:latin typeface="Calibri"/>
                <a:cs typeface="Calibri"/>
              </a:rPr>
              <a:t> </a:t>
            </a:r>
            <a:r>
              <a:rPr dirty="0" sz="2800">
                <a:solidFill>
                  <a:srgbClr val="4E3629"/>
                </a:solidFill>
                <a:latin typeface="Calibri"/>
                <a:cs typeface="Calibri"/>
              </a:rPr>
              <a:t>un</a:t>
            </a:r>
            <a:r>
              <a:rPr dirty="0" sz="2800" spc="-70">
                <a:solidFill>
                  <a:srgbClr val="4E3629"/>
                </a:solidFill>
                <a:latin typeface="Calibri"/>
                <a:cs typeface="Calibri"/>
              </a:rPr>
              <a:t> </a:t>
            </a:r>
            <a:r>
              <a:rPr dirty="0" sz="2800">
                <a:solidFill>
                  <a:srgbClr val="4E3629"/>
                </a:solidFill>
                <a:latin typeface="Calibri"/>
                <a:cs typeface="Calibri"/>
              </a:rPr>
              <a:t>comando</a:t>
            </a:r>
            <a:r>
              <a:rPr dirty="0" sz="2800" spc="-70">
                <a:solidFill>
                  <a:srgbClr val="4E3629"/>
                </a:solidFill>
                <a:latin typeface="Calibri"/>
                <a:cs typeface="Calibri"/>
              </a:rPr>
              <a:t> </a:t>
            </a:r>
            <a:r>
              <a:rPr dirty="0" sz="2800" spc="-10">
                <a:solidFill>
                  <a:srgbClr val="4E3629"/>
                </a:solidFill>
                <a:latin typeface="Calibri"/>
                <a:cs typeface="Calibri"/>
              </a:rPr>
              <a:t>DESCRIBE</a:t>
            </a:r>
            <a:endParaRPr sz="2800">
              <a:latin typeface="Calibri"/>
              <a:cs typeface="Calibri"/>
            </a:endParaRPr>
          </a:p>
          <a:p>
            <a:pPr marL="182880" marR="71755"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única</a:t>
            </a:r>
            <a:r>
              <a:rPr dirty="0" sz="2800" spc="-30">
                <a:solidFill>
                  <a:srgbClr val="4E3629"/>
                </a:solidFill>
                <a:latin typeface="Calibri"/>
                <a:cs typeface="Calibri"/>
              </a:rPr>
              <a:t> </a:t>
            </a:r>
            <a:r>
              <a:rPr dirty="0" sz="2800" spc="-10">
                <a:solidFill>
                  <a:srgbClr val="4E3629"/>
                </a:solidFill>
                <a:latin typeface="Calibri"/>
                <a:cs typeface="Calibri"/>
              </a:rPr>
              <a:t>restricción</a:t>
            </a:r>
            <a:r>
              <a:rPr dirty="0" sz="2800" spc="-35">
                <a:solidFill>
                  <a:srgbClr val="4E3629"/>
                </a:solidFill>
                <a:latin typeface="Calibri"/>
                <a:cs typeface="Calibri"/>
              </a:rPr>
              <a:t> </a:t>
            </a:r>
            <a:r>
              <a:rPr dirty="0" sz="2800">
                <a:solidFill>
                  <a:srgbClr val="4E3629"/>
                </a:solidFill>
                <a:latin typeface="Calibri"/>
                <a:cs typeface="Calibri"/>
              </a:rPr>
              <a:t>que</a:t>
            </a:r>
            <a:r>
              <a:rPr dirty="0" sz="2800" spc="-35">
                <a:solidFill>
                  <a:srgbClr val="4E3629"/>
                </a:solidFill>
                <a:latin typeface="Calibri"/>
                <a:cs typeface="Calibri"/>
              </a:rPr>
              <a:t> </a:t>
            </a:r>
            <a:r>
              <a:rPr dirty="0" sz="2800">
                <a:solidFill>
                  <a:srgbClr val="4E3629"/>
                </a:solidFill>
                <a:latin typeface="Calibri"/>
                <a:cs typeface="Calibri"/>
              </a:rPr>
              <a:t>se</a:t>
            </a:r>
            <a:r>
              <a:rPr dirty="0" sz="2800" spc="-55">
                <a:solidFill>
                  <a:srgbClr val="4E3629"/>
                </a:solidFill>
                <a:latin typeface="Calibri"/>
                <a:cs typeface="Calibri"/>
              </a:rPr>
              <a:t> </a:t>
            </a:r>
            <a:r>
              <a:rPr dirty="0" sz="2800">
                <a:solidFill>
                  <a:srgbClr val="4E3629"/>
                </a:solidFill>
                <a:latin typeface="Calibri"/>
                <a:cs typeface="Calibri"/>
              </a:rPr>
              <a:t>puede</a:t>
            </a:r>
            <a:r>
              <a:rPr dirty="0" sz="2800" spc="-25">
                <a:solidFill>
                  <a:srgbClr val="4E3629"/>
                </a:solidFill>
                <a:latin typeface="Calibri"/>
                <a:cs typeface="Calibri"/>
              </a:rPr>
              <a:t> </a:t>
            </a:r>
            <a:r>
              <a:rPr dirty="0" sz="2800">
                <a:solidFill>
                  <a:srgbClr val="4E3629"/>
                </a:solidFill>
                <a:latin typeface="Calibri"/>
                <a:cs typeface="Calibri"/>
              </a:rPr>
              <a:t>verificar</a:t>
            </a:r>
            <a:r>
              <a:rPr dirty="0" sz="2800" spc="-70">
                <a:solidFill>
                  <a:srgbClr val="4E3629"/>
                </a:solidFill>
                <a:latin typeface="Calibri"/>
                <a:cs typeface="Calibri"/>
              </a:rPr>
              <a:t> </a:t>
            </a:r>
            <a:r>
              <a:rPr dirty="0" sz="2800">
                <a:solidFill>
                  <a:srgbClr val="4E3629"/>
                </a:solidFill>
                <a:latin typeface="Calibri"/>
                <a:cs typeface="Calibri"/>
              </a:rPr>
              <a:t>con</a:t>
            </a:r>
            <a:r>
              <a:rPr dirty="0" sz="2800" spc="-55">
                <a:solidFill>
                  <a:srgbClr val="4E3629"/>
                </a:solidFill>
                <a:latin typeface="Calibri"/>
                <a:cs typeface="Calibri"/>
              </a:rPr>
              <a:t> </a:t>
            </a:r>
            <a:r>
              <a:rPr dirty="0" sz="2800" spc="-25">
                <a:solidFill>
                  <a:srgbClr val="4E3629"/>
                </a:solidFill>
                <a:latin typeface="Calibri"/>
                <a:cs typeface="Calibri"/>
              </a:rPr>
              <a:t>el </a:t>
            </a:r>
            <a:r>
              <a:rPr dirty="0" sz="2800" spc="-25">
                <a:solidFill>
                  <a:srgbClr val="4E3629"/>
                </a:solidFill>
                <a:latin typeface="Calibri"/>
                <a:cs typeface="Calibri"/>
              </a:rPr>
              <a:t>	</a:t>
            </a:r>
            <a:r>
              <a:rPr dirty="0" sz="2800">
                <a:solidFill>
                  <a:srgbClr val="4E3629"/>
                </a:solidFill>
                <a:latin typeface="Calibri"/>
                <a:cs typeface="Calibri"/>
              </a:rPr>
              <a:t>comando</a:t>
            </a:r>
            <a:r>
              <a:rPr dirty="0" sz="2800" spc="-50">
                <a:solidFill>
                  <a:srgbClr val="4E3629"/>
                </a:solidFill>
                <a:latin typeface="Calibri"/>
                <a:cs typeface="Calibri"/>
              </a:rPr>
              <a:t> </a:t>
            </a:r>
            <a:r>
              <a:rPr dirty="0" sz="2800">
                <a:solidFill>
                  <a:srgbClr val="4E3629"/>
                </a:solidFill>
                <a:latin typeface="Calibri"/>
                <a:cs typeface="Calibri"/>
              </a:rPr>
              <a:t>DESCRIBE</a:t>
            </a:r>
            <a:r>
              <a:rPr dirty="0" sz="2800" spc="-80">
                <a:solidFill>
                  <a:srgbClr val="4E3629"/>
                </a:solidFill>
                <a:latin typeface="Calibri"/>
                <a:cs typeface="Calibri"/>
              </a:rPr>
              <a:t> </a:t>
            </a:r>
            <a:r>
              <a:rPr dirty="0" sz="2800">
                <a:solidFill>
                  <a:srgbClr val="4E3629"/>
                </a:solidFill>
                <a:latin typeface="Calibri"/>
                <a:cs typeface="Calibri"/>
              </a:rPr>
              <a:t>es</a:t>
            </a:r>
            <a:r>
              <a:rPr dirty="0" sz="2800" spc="-65">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spc="-10">
                <a:solidFill>
                  <a:srgbClr val="4E3629"/>
                </a:solidFill>
                <a:latin typeface="Calibri"/>
                <a:cs typeface="Calibri"/>
              </a:rPr>
              <a:t>restricción</a:t>
            </a:r>
            <a:r>
              <a:rPr dirty="0" sz="2800" spc="-45">
                <a:solidFill>
                  <a:srgbClr val="4E3629"/>
                </a:solidFill>
                <a:latin typeface="Calibri"/>
                <a:cs typeface="Calibri"/>
              </a:rPr>
              <a:t> </a:t>
            </a:r>
            <a:r>
              <a:rPr dirty="0" sz="2800">
                <a:solidFill>
                  <a:srgbClr val="4E3629"/>
                </a:solidFill>
                <a:latin typeface="Calibri"/>
                <a:cs typeface="Calibri"/>
              </a:rPr>
              <a:t>NOT</a:t>
            </a:r>
            <a:r>
              <a:rPr dirty="0" sz="2800" spc="-70">
                <a:solidFill>
                  <a:srgbClr val="4E3629"/>
                </a:solidFill>
                <a:latin typeface="Calibri"/>
                <a:cs typeface="Calibri"/>
              </a:rPr>
              <a:t> </a:t>
            </a:r>
            <a:r>
              <a:rPr dirty="0" sz="2800" spc="-20">
                <a:solidFill>
                  <a:srgbClr val="4E3629"/>
                </a:solidFill>
                <a:latin typeface="Calibri"/>
                <a:cs typeface="Calibri"/>
              </a:rPr>
              <a:t>NULL</a:t>
            </a:r>
            <a:endParaRPr sz="2800">
              <a:latin typeface="Calibri"/>
              <a:cs typeface="Calibri"/>
            </a:endParaRPr>
          </a:p>
          <a:p>
            <a:pPr marL="182880" marR="5080" indent="-170815">
              <a:lnSpc>
                <a:spcPts val="3030"/>
              </a:lnSpc>
              <a:spcBef>
                <a:spcPts val="790"/>
              </a:spcBef>
              <a:buClr>
                <a:srgbClr val="D1350F"/>
              </a:buClr>
              <a:buFont typeface="Arial MT"/>
              <a:buChar char="•"/>
              <a:tabLst>
                <a:tab pos="184785" algn="l"/>
              </a:tabLst>
            </a:pPr>
            <a:r>
              <a:rPr dirty="0" sz="2800">
                <a:solidFill>
                  <a:srgbClr val="4E3629"/>
                </a:solidFill>
                <a:latin typeface="Calibri"/>
                <a:cs typeface="Calibri"/>
              </a:rPr>
              <a:t>La</a:t>
            </a:r>
            <a:r>
              <a:rPr dirty="0" sz="2800" spc="-70">
                <a:solidFill>
                  <a:srgbClr val="4E3629"/>
                </a:solidFill>
                <a:latin typeface="Calibri"/>
                <a:cs typeface="Calibri"/>
              </a:rPr>
              <a:t> </a:t>
            </a:r>
            <a:r>
              <a:rPr dirty="0" sz="2800" spc="-10">
                <a:solidFill>
                  <a:srgbClr val="4E3629"/>
                </a:solidFill>
                <a:latin typeface="Calibri"/>
                <a:cs typeface="Calibri"/>
              </a:rPr>
              <a:t>restricción</a:t>
            </a:r>
            <a:r>
              <a:rPr dirty="0" sz="2800" spc="-40">
                <a:solidFill>
                  <a:srgbClr val="4E3629"/>
                </a:solidFill>
                <a:latin typeface="Calibri"/>
                <a:cs typeface="Calibri"/>
              </a:rPr>
              <a:t> </a:t>
            </a:r>
            <a:r>
              <a:rPr dirty="0" sz="2800">
                <a:solidFill>
                  <a:srgbClr val="4E3629"/>
                </a:solidFill>
                <a:latin typeface="Calibri"/>
                <a:cs typeface="Calibri"/>
              </a:rPr>
              <a:t>NOT</a:t>
            </a:r>
            <a:r>
              <a:rPr dirty="0" sz="2800" spc="-60">
                <a:solidFill>
                  <a:srgbClr val="4E3629"/>
                </a:solidFill>
                <a:latin typeface="Calibri"/>
                <a:cs typeface="Calibri"/>
              </a:rPr>
              <a:t> </a:t>
            </a:r>
            <a:r>
              <a:rPr dirty="0" sz="2800">
                <a:solidFill>
                  <a:srgbClr val="4E3629"/>
                </a:solidFill>
                <a:latin typeface="Calibri"/>
                <a:cs typeface="Calibri"/>
              </a:rPr>
              <a:t>NULL</a:t>
            </a:r>
            <a:r>
              <a:rPr dirty="0" sz="2800" spc="-50">
                <a:solidFill>
                  <a:srgbClr val="4E3629"/>
                </a:solidFill>
                <a:latin typeface="Calibri"/>
                <a:cs typeface="Calibri"/>
              </a:rPr>
              <a:t> </a:t>
            </a:r>
            <a:r>
              <a:rPr dirty="0" sz="2800">
                <a:solidFill>
                  <a:srgbClr val="4E3629"/>
                </a:solidFill>
                <a:latin typeface="Calibri"/>
                <a:cs typeface="Calibri"/>
              </a:rPr>
              <a:t>también</a:t>
            </a:r>
            <a:r>
              <a:rPr dirty="0" sz="2800" spc="-45">
                <a:solidFill>
                  <a:srgbClr val="4E3629"/>
                </a:solidFill>
                <a:latin typeface="Calibri"/>
                <a:cs typeface="Calibri"/>
              </a:rPr>
              <a:t> </a:t>
            </a:r>
            <a:r>
              <a:rPr dirty="0" sz="2800">
                <a:solidFill>
                  <a:srgbClr val="4E3629"/>
                </a:solidFill>
                <a:latin typeface="Calibri"/>
                <a:cs typeface="Calibri"/>
              </a:rPr>
              <a:t>aparece</a:t>
            </a:r>
            <a:r>
              <a:rPr dirty="0" sz="2800" spc="-65">
                <a:solidFill>
                  <a:srgbClr val="4E3629"/>
                </a:solidFill>
                <a:latin typeface="Calibri"/>
                <a:cs typeface="Calibri"/>
              </a:rPr>
              <a:t> </a:t>
            </a:r>
            <a:r>
              <a:rPr dirty="0" sz="2800">
                <a:solidFill>
                  <a:srgbClr val="4E3629"/>
                </a:solidFill>
                <a:latin typeface="Calibri"/>
                <a:cs typeface="Calibri"/>
              </a:rPr>
              <a:t>en</a:t>
            </a:r>
            <a:r>
              <a:rPr dirty="0" sz="2800" spc="-65">
                <a:solidFill>
                  <a:srgbClr val="4E3629"/>
                </a:solidFill>
                <a:latin typeface="Calibri"/>
                <a:cs typeface="Calibri"/>
              </a:rPr>
              <a:t> </a:t>
            </a:r>
            <a:r>
              <a:rPr dirty="0" sz="2800" spc="-25">
                <a:solidFill>
                  <a:srgbClr val="4E3629"/>
                </a:solidFill>
                <a:latin typeface="Calibri"/>
                <a:cs typeface="Calibri"/>
              </a:rPr>
              <a:t>el </a:t>
            </a:r>
            <a:r>
              <a:rPr dirty="0" sz="2800" spc="-25">
                <a:solidFill>
                  <a:srgbClr val="4E3629"/>
                </a:solidFill>
                <a:latin typeface="Calibri"/>
                <a:cs typeface="Calibri"/>
              </a:rPr>
              <a:t>	</a:t>
            </a:r>
            <a:r>
              <a:rPr dirty="0" sz="2800">
                <a:solidFill>
                  <a:srgbClr val="4E3629"/>
                </a:solidFill>
                <a:latin typeface="Calibri"/>
                <a:cs typeface="Calibri"/>
              </a:rPr>
              <a:t>diccionario</a:t>
            </a:r>
            <a:r>
              <a:rPr dirty="0" sz="2800" spc="-70">
                <a:solidFill>
                  <a:srgbClr val="4E3629"/>
                </a:solidFill>
                <a:latin typeface="Calibri"/>
                <a:cs typeface="Calibri"/>
              </a:rPr>
              <a:t> </a:t>
            </a:r>
            <a:r>
              <a:rPr dirty="0" sz="2800">
                <a:solidFill>
                  <a:srgbClr val="4E3629"/>
                </a:solidFill>
                <a:latin typeface="Calibri"/>
                <a:cs typeface="Calibri"/>
              </a:rPr>
              <a:t>de</a:t>
            </a:r>
            <a:r>
              <a:rPr dirty="0" sz="2800" spc="-85">
                <a:solidFill>
                  <a:srgbClr val="4E3629"/>
                </a:solidFill>
                <a:latin typeface="Calibri"/>
                <a:cs typeface="Calibri"/>
              </a:rPr>
              <a:t> </a:t>
            </a:r>
            <a:r>
              <a:rPr dirty="0" sz="2800">
                <a:solidFill>
                  <a:srgbClr val="4E3629"/>
                </a:solidFill>
                <a:latin typeface="Calibri"/>
                <a:cs typeface="Calibri"/>
              </a:rPr>
              <a:t>datos</a:t>
            </a:r>
            <a:r>
              <a:rPr dirty="0" sz="2800" spc="-80">
                <a:solidFill>
                  <a:srgbClr val="4E3629"/>
                </a:solidFill>
                <a:latin typeface="Calibri"/>
                <a:cs typeface="Calibri"/>
              </a:rPr>
              <a:t> </a:t>
            </a:r>
            <a:r>
              <a:rPr dirty="0" sz="2800">
                <a:solidFill>
                  <a:srgbClr val="4E3629"/>
                </a:solidFill>
                <a:latin typeface="Calibri"/>
                <a:cs typeface="Calibri"/>
              </a:rPr>
              <a:t>como</a:t>
            </a:r>
            <a:r>
              <a:rPr dirty="0" sz="2800" spc="-75">
                <a:solidFill>
                  <a:srgbClr val="4E3629"/>
                </a:solidFill>
                <a:latin typeface="Calibri"/>
                <a:cs typeface="Calibri"/>
              </a:rPr>
              <a:t> </a:t>
            </a:r>
            <a:r>
              <a:rPr dirty="0" sz="2800">
                <a:solidFill>
                  <a:srgbClr val="4E3629"/>
                </a:solidFill>
                <a:latin typeface="Calibri"/>
                <a:cs typeface="Calibri"/>
              </a:rPr>
              <a:t>una</a:t>
            </a:r>
            <a:r>
              <a:rPr dirty="0" sz="2800" spc="-75">
                <a:solidFill>
                  <a:srgbClr val="4E3629"/>
                </a:solidFill>
                <a:latin typeface="Calibri"/>
                <a:cs typeface="Calibri"/>
              </a:rPr>
              <a:t> </a:t>
            </a:r>
            <a:r>
              <a:rPr dirty="0" sz="2800" spc="-10">
                <a:solidFill>
                  <a:srgbClr val="4E3629"/>
                </a:solidFill>
                <a:latin typeface="Calibri"/>
                <a:cs typeface="Calibri"/>
              </a:rPr>
              <a:t>restricción</a:t>
            </a:r>
            <a:r>
              <a:rPr dirty="0" sz="2800" spc="-70">
                <a:solidFill>
                  <a:srgbClr val="4E3629"/>
                </a:solidFill>
                <a:latin typeface="Calibri"/>
                <a:cs typeface="Calibri"/>
              </a:rPr>
              <a:t> </a:t>
            </a:r>
            <a:r>
              <a:rPr dirty="0" sz="2800" spc="-10">
                <a:solidFill>
                  <a:srgbClr val="4E3629"/>
                </a:solidFill>
                <a:latin typeface="Calibri"/>
                <a:cs typeface="Calibri"/>
              </a:rPr>
              <a:t>CHECK</a:t>
            </a:r>
            <a:endParaRPr sz="280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E0E2E1"/>
          </a:solidFill>
        </p:spPr>
        <p:txBody>
          <a:bodyPr wrap="square" lIns="0" tIns="0" rIns="0" bIns="0" rtlCol="0"/>
          <a:lstStyle/>
          <a:p/>
        </p:txBody>
      </p:sp>
      <p:sp>
        <p:nvSpPr>
          <p:cNvPr id="3" name="object 3" descr=""/>
          <p:cNvSpPr/>
          <p:nvPr/>
        </p:nvSpPr>
        <p:spPr>
          <a:xfrm>
            <a:off x="1390366" y="1850606"/>
            <a:ext cx="3053080" cy="380365"/>
          </a:xfrm>
          <a:custGeom>
            <a:avLst/>
            <a:gdLst/>
            <a:ahLst/>
            <a:cxnLst/>
            <a:rect l="l" t="t" r="r" b="b"/>
            <a:pathLst>
              <a:path w="3053079" h="380364">
                <a:moveTo>
                  <a:pt x="2957951" y="0"/>
                </a:moveTo>
                <a:lnTo>
                  <a:pt x="95022" y="0"/>
                </a:lnTo>
                <a:lnTo>
                  <a:pt x="66895" y="10642"/>
                </a:lnTo>
                <a:lnTo>
                  <a:pt x="41049" y="39529"/>
                </a:lnTo>
                <a:lnTo>
                  <a:pt x="19764" y="82099"/>
                </a:lnTo>
                <a:lnTo>
                  <a:pt x="5321" y="133791"/>
                </a:lnTo>
                <a:lnTo>
                  <a:pt x="0" y="190044"/>
                </a:lnTo>
                <a:lnTo>
                  <a:pt x="5321" y="246298"/>
                </a:lnTo>
                <a:lnTo>
                  <a:pt x="19764" y="297990"/>
                </a:lnTo>
                <a:lnTo>
                  <a:pt x="41049" y="340560"/>
                </a:lnTo>
                <a:lnTo>
                  <a:pt x="66895" y="369447"/>
                </a:lnTo>
                <a:lnTo>
                  <a:pt x="95022" y="380089"/>
                </a:lnTo>
                <a:lnTo>
                  <a:pt x="2957951" y="380089"/>
                </a:lnTo>
                <a:lnTo>
                  <a:pt x="3011924" y="340560"/>
                </a:lnTo>
                <a:lnTo>
                  <a:pt x="3033209" y="297990"/>
                </a:lnTo>
                <a:lnTo>
                  <a:pt x="3047653" y="246298"/>
                </a:lnTo>
                <a:lnTo>
                  <a:pt x="3052974" y="190044"/>
                </a:lnTo>
                <a:lnTo>
                  <a:pt x="3047653" y="133791"/>
                </a:lnTo>
                <a:lnTo>
                  <a:pt x="3033209" y="82099"/>
                </a:lnTo>
                <a:lnTo>
                  <a:pt x="3011924" y="39529"/>
                </a:lnTo>
                <a:lnTo>
                  <a:pt x="2986078" y="10642"/>
                </a:lnTo>
                <a:lnTo>
                  <a:pt x="2957951" y="0"/>
                </a:lnTo>
                <a:close/>
              </a:path>
            </a:pathLst>
          </a:custGeom>
          <a:solidFill>
            <a:srgbClr val="FACD5A"/>
          </a:solidFill>
        </p:spPr>
        <p:txBody>
          <a:bodyPr wrap="square" lIns="0" tIns="0" rIns="0" bIns="0" rtlCol="0"/>
          <a:lstStyle/>
          <a:p/>
        </p:txBody>
      </p:sp>
      <p:pic>
        <p:nvPicPr>
          <p:cNvPr id="4" name="object 4" descr=""/>
          <p:cNvPicPr/>
          <p:nvPr/>
        </p:nvPicPr>
        <p:blipFill>
          <a:blip r:embed="rId2" cstate="print"/>
          <a:stretch>
            <a:fillRect/>
          </a:stretch>
        </p:blipFill>
        <p:spPr>
          <a:xfrm>
            <a:off x="0" y="0"/>
            <a:ext cx="9144000" cy="254507"/>
          </a:xfrm>
          <a:prstGeom prst="rect">
            <a:avLst/>
          </a:prstGeom>
        </p:spPr>
      </p:pic>
      <p:pic>
        <p:nvPicPr>
          <p:cNvPr id="5" name="object 5" descr=""/>
          <p:cNvPicPr/>
          <p:nvPr/>
        </p:nvPicPr>
        <p:blipFill>
          <a:blip r:embed="rId3" cstate="print"/>
          <a:stretch>
            <a:fillRect/>
          </a:stretch>
        </p:blipFill>
        <p:spPr>
          <a:xfrm>
            <a:off x="405384" y="6178295"/>
            <a:ext cx="1258824" cy="420624"/>
          </a:xfrm>
          <a:prstGeom prst="rect">
            <a:avLst/>
          </a:prstGeom>
        </p:spPr>
      </p:pic>
      <p:sp>
        <p:nvSpPr>
          <p:cNvPr id="6" name="object 6"/>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10"/>
              <a:t>Visualización</a:t>
            </a:r>
            <a:r>
              <a:rPr dirty="0" spc="-50"/>
              <a:t> </a:t>
            </a:r>
            <a:r>
              <a:rPr dirty="0"/>
              <a:t>de</a:t>
            </a:r>
            <a:r>
              <a:rPr dirty="0" spc="-70"/>
              <a:t> </a:t>
            </a:r>
            <a:r>
              <a:rPr dirty="0" spc="-10"/>
              <a:t>Restricciones</a:t>
            </a:r>
          </a:p>
        </p:txBody>
      </p:sp>
      <p:sp>
        <p:nvSpPr>
          <p:cNvPr id="10" name="object 10"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3</a:t>
            </a:r>
          </a:p>
          <a:p>
            <a:pPr marL="12700">
              <a:lnSpc>
                <a:spcPts val="965"/>
              </a:lnSpc>
            </a:pPr>
            <a:r>
              <a:rPr dirty="0"/>
              <a:t>Gestión</a:t>
            </a:r>
            <a:r>
              <a:rPr dirty="0" spc="-20"/>
              <a:t> </a:t>
            </a:r>
            <a:r>
              <a:rPr dirty="0"/>
              <a:t>de</a:t>
            </a:r>
            <a:r>
              <a:rPr dirty="0" spc="-40"/>
              <a:t> </a:t>
            </a:r>
            <a:r>
              <a:rPr dirty="0" spc="-10"/>
              <a:t>Restricciones</a:t>
            </a:r>
          </a:p>
        </p:txBody>
      </p:sp>
      <p:sp>
        <p:nvSpPr>
          <p:cNvPr id="11" name="object 11"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26</a:t>
            </a:r>
          </a:p>
        </p:txBody>
      </p:sp>
      <p:sp>
        <p:nvSpPr>
          <p:cNvPr id="12" name="object 12"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7" name="object 7" descr=""/>
          <p:cNvSpPr txBox="1"/>
          <p:nvPr/>
        </p:nvSpPr>
        <p:spPr>
          <a:xfrm>
            <a:off x="483552" y="1415417"/>
            <a:ext cx="7927975" cy="836294"/>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spc="-10">
                <a:solidFill>
                  <a:srgbClr val="4E3629"/>
                </a:solidFill>
                <a:latin typeface="Calibri"/>
                <a:cs typeface="Calibri"/>
              </a:rPr>
              <a:t>Para</a:t>
            </a:r>
            <a:r>
              <a:rPr dirty="0" sz="2800" spc="-65">
                <a:solidFill>
                  <a:srgbClr val="4E3629"/>
                </a:solidFill>
                <a:latin typeface="Calibri"/>
                <a:cs typeface="Calibri"/>
              </a:rPr>
              <a:t> </a:t>
            </a:r>
            <a:r>
              <a:rPr dirty="0" sz="2800">
                <a:solidFill>
                  <a:srgbClr val="4E3629"/>
                </a:solidFill>
                <a:latin typeface="Calibri"/>
                <a:cs typeface="Calibri"/>
              </a:rPr>
              <a:t>ver</a:t>
            </a:r>
            <a:r>
              <a:rPr dirty="0" sz="2800" spc="-75">
                <a:solidFill>
                  <a:srgbClr val="4E3629"/>
                </a:solidFill>
                <a:latin typeface="Calibri"/>
                <a:cs typeface="Calibri"/>
              </a:rPr>
              <a:t> </a:t>
            </a:r>
            <a:r>
              <a:rPr dirty="0" sz="2800">
                <a:solidFill>
                  <a:srgbClr val="4E3629"/>
                </a:solidFill>
                <a:latin typeface="Calibri"/>
                <a:cs typeface="Calibri"/>
              </a:rPr>
              <a:t>todas</a:t>
            </a:r>
            <a:r>
              <a:rPr dirty="0" sz="2800" spc="-60">
                <a:solidFill>
                  <a:srgbClr val="4E3629"/>
                </a:solidFill>
                <a:latin typeface="Calibri"/>
                <a:cs typeface="Calibri"/>
              </a:rPr>
              <a:t> </a:t>
            </a:r>
            <a:r>
              <a:rPr dirty="0" sz="2800">
                <a:solidFill>
                  <a:srgbClr val="4E3629"/>
                </a:solidFill>
                <a:latin typeface="Calibri"/>
                <a:cs typeface="Calibri"/>
              </a:rPr>
              <a:t>las</a:t>
            </a:r>
            <a:r>
              <a:rPr dirty="0" sz="2800" spc="-60">
                <a:solidFill>
                  <a:srgbClr val="4E3629"/>
                </a:solidFill>
                <a:latin typeface="Calibri"/>
                <a:cs typeface="Calibri"/>
              </a:rPr>
              <a:t> </a:t>
            </a:r>
            <a:r>
              <a:rPr dirty="0" sz="2800" spc="-10">
                <a:solidFill>
                  <a:srgbClr val="4E3629"/>
                </a:solidFill>
                <a:latin typeface="Calibri"/>
                <a:cs typeface="Calibri"/>
              </a:rPr>
              <a:t>restricciones</a:t>
            </a:r>
            <a:r>
              <a:rPr dirty="0" sz="2800" spc="-4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tabla,</a:t>
            </a:r>
            <a:r>
              <a:rPr dirty="0" sz="2800" spc="-75">
                <a:solidFill>
                  <a:srgbClr val="4E3629"/>
                </a:solidFill>
                <a:latin typeface="Calibri"/>
                <a:cs typeface="Calibri"/>
              </a:rPr>
              <a:t> </a:t>
            </a:r>
            <a:r>
              <a:rPr dirty="0" sz="2800">
                <a:solidFill>
                  <a:srgbClr val="4E3629"/>
                </a:solidFill>
                <a:latin typeface="Calibri"/>
                <a:cs typeface="Calibri"/>
              </a:rPr>
              <a:t>consulte</a:t>
            </a:r>
            <a:r>
              <a:rPr dirty="0" sz="2800" spc="-45">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a:solidFill>
                  <a:srgbClr val="4E3629"/>
                </a:solidFill>
                <a:latin typeface="Calibri"/>
                <a:cs typeface="Calibri"/>
              </a:rPr>
              <a:t>tabla</a:t>
            </a:r>
            <a:r>
              <a:rPr dirty="0" sz="2800" spc="-55">
                <a:solidFill>
                  <a:srgbClr val="4E3629"/>
                </a:solidFill>
                <a:latin typeface="Calibri"/>
                <a:cs typeface="Calibri"/>
              </a:rPr>
              <a:t> </a:t>
            </a:r>
            <a:r>
              <a:rPr dirty="0" sz="2800" spc="-10">
                <a:solidFill>
                  <a:srgbClr val="4E3629"/>
                </a:solidFill>
                <a:latin typeface="Calibri"/>
                <a:cs typeface="Calibri"/>
              </a:rPr>
              <a:t>USER_CONSTRAINTS</a:t>
            </a:r>
            <a:endParaRPr sz="2800">
              <a:latin typeface="Calibri"/>
              <a:cs typeface="Calibri"/>
            </a:endParaRPr>
          </a:p>
        </p:txBody>
      </p:sp>
      <p:graphicFrame>
        <p:nvGraphicFramePr>
          <p:cNvPr id="8" name="object 8" descr=""/>
          <p:cNvGraphicFramePr>
            <a:graphicFrameLocks noGrp="1"/>
          </p:cNvGraphicFramePr>
          <p:nvPr/>
        </p:nvGraphicFramePr>
        <p:xfrm>
          <a:off x="798512" y="3668024"/>
          <a:ext cx="7501255" cy="1021080"/>
        </p:xfrm>
        <a:graphic>
          <a:graphicData uri="http://schemas.openxmlformats.org/drawingml/2006/table">
            <a:tbl>
              <a:tblPr firstRow="1" bandRow="1">
                <a:tableStyleId>{2D5ABB26-0587-4C30-8999-92F81FD0307C}</a:tableStyleId>
              </a:tblPr>
              <a:tblGrid>
                <a:gridCol w="1852930"/>
                <a:gridCol w="1852930"/>
                <a:gridCol w="1852930"/>
                <a:gridCol w="1852929"/>
              </a:tblGrid>
              <a:tr h="340360">
                <a:tc>
                  <a:txBody>
                    <a:bodyPr/>
                    <a:lstStyle/>
                    <a:p>
                      <a:pPr marL="71755">
                        <a:lnSpc>
                          <a:spcPct val="100000"/>
                        </a:lnSpc>
                        <a:spcBef>
                          <a:spcPts val="280"/>
                        </a:spcBef>
                      </a:pPr>
                      <a:r>
                        <a:rPr dirty="0" sz="1600" spc="-10" b="1">
                          <a:solidFill>
                            <a:srgbClr val="4E3629"/>
                          </a:solidFill>
                          <a:latin typeface="Calibri"/>
                          <a:cs typeface="Calibri"/>
                        </a:rPr>
                        <a:t>CONSTRAINT_NAME</a:t>
                      </a:r>
                      <a:endParaRPr sz="1600">
                        <a:latin typeface="Calibri"/>
                        <a:cs typeface="Calibri"/>
                      </a:endParaRPr>
                    </a:p>
                  </a:txBody>
                  <a:tcPr marL="0" marR="0" marB="0" marT="3556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280"/>
                        </a:spcBef>
                      </a:pPr>
                      <a:r>
                        <a:rPr dirty="0" sz="1600" spc="-10" b="1">
                          <a:solidFill>
                            <a:srgbClr val="4E3629"/>
                          </a:solidFill>
                          <a:latin typeface="Calibri"/>
                          <a:cs typeface="Calibri"/>
                        </a:rPr>
                        <a:t>TABLE_NAME</a:t>
                      </a:r>
                      <a:endParaRPr sz="1600">
                        <a:latin typeface="Calibri"/>
                        <a:cs typeface="Calibri"/>
                      </a:endParaRPr>
                    </a:p>
                  </a:txBody>
                  <a:tcPr marL="0" marR="0" marB="0" marT="3556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280"/>
                        </a:spcBef>
                      </a:pPr>
                      <a:r>
                        <a:rPr dirty="0" sz="1600" spc="-10" b="1">
                          <a:solidFill>
                            <a:srgbClr val="4E3629"/>
                          </a:solidFill>
                          <a:latin typeface="Calibri"/>
                          <a:cs typeface="Calibri"/>
                        </a:rPr>
                        <a:t>CONSTRAINT_TYPE</a:t>
                      </a:r>
                      <a:endParaRPr sz="1600">
                        <a:latin typeface="Calibri"/>
                        <a:cs typeface="Calibri"/>
                      </a:endParaRPr>
                    </a:p>
                  </a:txBody>
                  <a:tcPr marL="0" marR="0" marB="0" marT="3556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280"/>
                        </a:spcBef>
                      </a:pPr>
                      <a:r>
                        <a:rPr dirty="0" sz="1600" spc="-10" b="1">
                          <a:solidFill>
                            <a:srgbClr val="4E3629"/>
                          </a:solidFill>
                          <a:latin typeface="Calibri"/>
                          <a:cs typeface="Calibri"/>
                        </a:rPr>
                        <a:t>STATUS</a:t>
                      </a:r>
                      <a:endParaRPr sz="1600">
                        <a:latin typeface="Calibri"/>
                        <a:cs typeface="Calibri"/>
                      </a:endParaRPr>
                    </a:p>
                  </a:txBody>
                  <a:tcPr marL="0" marR="0" marB="0" marT="3556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40360">
                <a:tc>
                  <a:txBody>
                    <a:bodyPr/>
                    <a:lstStyle/>
                    <a:p>
                      <a:pPr marL="71755">
                        <a:lnSpc>
                          <a:spcPct val="100000"/>
                        </a:lnSpc>
                        <a:spcBef>
                          <a:spcPts val="280"/>
                        </a:spcBef>
                      </a:pPr>
                      <a:r>
                        <a:rPr dirty="0" sz="1600" spc="-10">
                          <a:solidFill>
                            <a:srgbClr val="4E3629"/>
                          </a:solidFill>
                          <a:latin typeface="Calibri"/>
                          <a:cs typeface="Calibri"/>
                        </a:rPr>
                        <a:t>COPY_EMP_PK</a:t>
                      </a:r>
                      <a:endParaRPr sz="1600">
                        <a:latin typeface="Calibri"/>
                        <a:cs typeface="Calibri"/>
                      </a:endParaRPr>
                    </a:p>
                  </a:txBody>
                  <a:tcPr marL="0" marR="0" marB="0" marT="3556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280"/>
                        </a:spcBef>
                      </a:pPr>
                      <a:r>
                        <a:rPr dirty="0" sz="1600" spc="-10">
                          <a:solidFill>
                            <a:srgbClr val="4E3629"/>
                          </a:solidFill>
                          <a:latin typeface="Calibri"/>
                          <a:cs typeface="Calibri"/>
                        </a:rPr>
                        <a:t>COPY_EMPLOYEES</a:t>
                      </a:r>
                      <a:endParaRPr sz="1600">
                        <a:latin typeface="Calibri"/>
                        <a:cs typeface="Calibri"/>
                      </a:endParaRPr>
                    </a:p>
                  </a:txBody>
                  <a:tcPr marL="0" marR="0" marB="0" marT="3556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120">
                        <a:lnSpc>
                          <a:spcPct val="100000"/>
                        </a:lnSpc>
                        <a:spcBef>
                          <a:spcPts val="280"/>
                        </a:spcBef>
                      </a:pPr>
                      <a:r>
                        <a:rPr dirty="0" sz="1600" spc="-50">
                          <a:solidFill>
                            <a:srgbClr val="4E3629"/>
                          </a:solidFill>
                          <a:latin typeface="Calibri"/>
                          <a:cs typeface="Calibri"/>
                        </a:rPr>
                        <a:t>P</a:t>
                      </a:r>
                      <a:endParaRPr sz="1600">
                        <a:latin typeface="Calibri"/>
                        <a:cs typeface="Calibri"/>
                      </a:endParaRPr>
                    </a:p>
                  </a:txBody>
                  <a:tcPr marL="0" marR="0" marB="0" marT="3556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120">
                        <a:lnSpc>
                          <a:spcPct val="100000"/>
                        </a:lnSpc>
                        <a:spcBef>
                          <a:spcPts val="280"/>
                        </a:spcBef>
                      </a:pPr>
                      <a:r>
                        <a:rPr dirty="0" sz="1600" spc="-10">
                          <a:solidFill>
                            <a:srgbClr val="4E3629"/>
                          </a:solidFill>
                          <a:latin typeface="Calibri"/>
                          <a:cs typeface="Calibri"/>
                        </a:rPr>
                        <a:t>ENABLED</a:t>
                      </a:r>
                      <a:endParaRPr sz="1600">
                        <a:latin typeface="Calibri"/>
                        <a:cs typeface="Calibri"/>
                      </a:endParaRPr>
                    </a:p>
                  </a:txBody>
                  <a:tcPr marL="0" marR="0" marB="0" marT="3556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340360">
                <a:tc>
                  <a:txBody>
                    <a:bodyPr/>
                    <a:lstStyle/>
                    <a:p>
                      <a:pPr marL="71120">
                        <a:lnSpc>
                          <a:spcPct val="100000"/>
                        </a:lnSpc>
                        <a:spcBef>
                          <a:spcPts val="280"/>
                        </a:spcBef>
                      </a:pPr>
                      <a:r>
                        <a:rPr dirty="0" sz="1600" spc="-10">
                          <a:solidFill>
                            <a:srgbClr val="4E3629"/>
                          </a:solidFill>
                          <a:latin typeface="Calibri"/>
                          <a:cs typeface="Calibri"/>
                        </a:rPr>
                        <a:t>CDEPT_DEPT_ID_FK</a:t>
                      </a:r>
                      <a:endParaRPr sz="1600">
                        <a:latin typeface="Calibri"/>
                        <a:cs typeface="Calibri"/>
                      </a:endParaRPr>
                    </a:p>
                  </a:txBody>
                  <a:tcPr marL="0" marR="0" marB="0" marT="355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ct val="100000"/>
                        </a:lnSpc>
                        <a:spcBef>
                          <a:spcPts val="280"/>
                        </a:spcBef>
                      </a:pPr>
                      <a:r>
                        <a:rPr dirty="0" sz="1600" spc="-10">
                          <a:solidFill>
                            <a:srgbClr val="4E3629"/>
                          </a:solidFill>
                          <a:latin typeface="Calibri"/>
                          <a:cs typeface="Calibri"/>
                        </a:rPr>
                        <a:t>COPY_EMPLOYEES</a:t>
                      </a:r>
                      <a:endParaRPr sz="1600">
                        <a:latin typeface="Calibri"/>
                        <a:cs typeface="Calibri"/>
                      </a:endParaRPr>
                    </a:p>
                  </a:txBody>
                  <a:tcPr marL="0" marR="0" marB="0" marT="355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ct val="100000"/>
                        </a:lnSpc>
                        <a:spcBef>
                          <a:spcPts val="280"/>
                        </a:spcBef>
                      </a:pPr>
                      <a:r>
                        <a:rPr dirty="0" sz="1600" spc="-50">
                          <a:solidFill>
                            <a:srgbClr val="4E3629"/>
                          </a:solidFill>
                          <a:latin typeface="Calibri"/>
                          <a:cs typeface="Calibri"/>
                        </a:rPr>
                        <a:t>R</a:t>
                      </a:r>
                      <a:endParaRPr sz="1600">
                        <a:latin typeface="Calibri"/>
                        <a:cs typeface="Calibri"/>
                      </a:endParaRPr>
                    </a:p>
                  </a:txBody>
                  <a:tcPr marL="0" marR="0" marB="0" marT="355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ct val="100000"/>
                        </a:lnSpc>
                        <a:spcBef>
                          <a:spcPts val="280"/>
                        </a:spcBef>
                      </a:pPr>
                      <a:r>
                        <a:rPr dirty="0" sz="1600" spc="-10">
                          <a:solidFill>
                            <a:srgbClr val="4E3629"/>
                          </a:solidFill>
                          <a:latin typeface="Calibri"/>
                          <a:cs typeface="Calibri"/>
                        </a:rPr>
                        <a:t>ENABLED</a:t>
                      </a:r>
                      <a:endParaRPr sz="1600">
                        <a:latin typeface="Calibri"/>
                        <a:cs typeface="Calibri"/>
                      </a:endParaRPr>
                    </a:p>
                  </a:txBody>
                  <a:tcPr marL="0" marR="0" marB="0" marT="355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9" name="object 9" descr=""/>
          <p:cNvSpPr txBox="1"/>
          <p:nvPr/>
        </p:nvSpPr>
        <p:spPr>
          <a:xfrm>
            <a:off x="405384" y="2459735"/>
            <a:ext cx="8345805" cy="957580"/>
          </a:xfrm>
          <a:prstGeom prst="rect">
            <a:avLst/>
          </a:prstGeom>
          <a:solidFill>
            <a:srgbClr val="9DBEC4">
              <a:alpha val="50199"/>
            </a:srgbClr>
          </a:solidFill>
        </p:spPr>
        <p:txBody>
          <a:bodyPr wrap="square" lIns="0" tIns="39370" rIns="0" bIns="0" rtlCol="0" vert="horz">
            <a:spAutoFit/>
          </a:bodyPr>
          <a:lstStyle/>
          <a:p>
            <a:pPr marR="285750">
              <a:lnSpc>
                <a:spcPct val="100000"/>
              </a:lnSpc>
              <a:spcBef>
                <a:spcPts val="310"/>
              </a:spcBef>
            </a:pPr>
            <a:r>
              <a:rPr dirty="0" sz="1800" b="1">
                <a:solidFill>
                  <a:srgbClr val="4E3629"/>
                </a:solidFill>
                <a:latin typeface="Courier New"/>
                <a:cs typeface="Courier New"/>
              </a:rPr>
              <a:t>SELECT</a:t>
            </a:r>
            <a:r>
              <a:rPr dirty="0" sz="1800" spc="-125" b="1">
                <a:solidFill>
                  <a:srgbClr val="4E3629"/>
                </a:solidFill>
                <a:latin typeface="Courier New"/>
                <a:cs typeface="Courier New"/>
              </a:rPr>
              <a:t> </a:t>
            </a:r>
            <a:r>
              <a:rPr dirty="0" sz="1800" b="1">
                <a:solidFill>
                  <a:srgbClr val="4E3629"/>
                </a:solidFill>
                <a:latin typeface="Courier New"/>
                <a:cs typeface="Courier New"/>
              </a:rPr>
              <a:t>constraint_name,</a:t>
            </a:r>
            <a:r>
              <a:rPr dirty="0" sz="1800" spc="-110" b="1">
                <a:solidFill>
                  <a:srgbClr val="4E3629"/>
                </a:solidFill>
                <a:latin typeface="Courier New"/>
                <a:cs typeface="Courier New"/>
              </a:rPr>
              <a:t> </a:t>
            </a:r>
            <a:r>
              <a:rPr dirty="0" sz="1800" b="1">
                <a:solidFill>
                  <a:srgbClr val="4E3629"/>
                </a:solidFill>
                <a:latin typeface="Courier New"/>
                <a:cs typeface="Courier New"/>
              </a:rPr>
              <a:t>table_name,</a:t>
            </a:r>
            <a:r>
              <a:rPr dirty="0" sz="1800" spc="-120" b="1">
                <a:solidFill>
                  <a:srgbClr val="4E3629"/>
                </a:solidFill>
                <a:latin typeface="Courier New"/>
                <a:cs typeface="Courier New"/>
              </a:rPr>
              <a:t> </a:t>
            </a:r>
            <a:r>
              <a:rPr dirty="0" sz="1800" b="1">
                <a:solidFill>
                  <a:srgbClr val="4E3629"/>
                </a:solidFill>
                <a:latin typeface="Courier New"/>
                <a:cs typeface="Courier New"/>
              </a:rPr>
              <a:t>constraint_type,</a:t>
            </a:r>
            <a:r>
              <a:rPr dirty="0" sz="1800" spc="-120" b="1">
                <a:solidFill>
                  <a:srgbClr val="4E3629"/>
                </a:solidFill>
                <a:latin typeface="Courier New"/>
                <a:cs typeface="Courier New"/>
              </a:rPr>
              <a:t> </a:t>
            </a:r>
            <a:r>
              <a:rPr dirty="0" sz="1800" spc="-10" b="1">
                <a:solidFill>
                  <a:srgbClr val="4E3629"/>
                </a:solidFill>
                <a:latin typeface="Courier New"/>
                <a:cs typeface="Courier New"/>
              </a:rPr>
              <a:t>status </a:t>
            </a: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USER_CONSTRAINTS</a:t>
            </a:r>
            <a:endParaRPr sz="1800">
              <a:latin typeface="Courier New"/>
              <a:cs typeface="Courier New"/>
            </a:endParaRPr>
          </a:p>
          <a:p>
            <a:pPr>
              <a:lnSpc>
                <a:spcPct val="100000"/>
              </a:lnSpc>
            </a:pPr>
            <a:r>
              <a:rPr dirty="0" sz="1800" b="1">
                <a:solidFill>
                  <a:srgbClr val="4E3629"/>
                </a:solidFill>
                <a:latin typeface="Courier New"/>
                <a:cs typeface="Courier New"/>
              </a:rPr>
              <a:t>WHERE</a:t>
            </a:r>
            <a:r>
              <a:rPr dirty="0" sz="1800" spc="-85" b="1">
                <a:solidFill>
                  <a:srgbClr val="4E3629"/>
                </a:solidFill>
                <a:latin typeface="Courier New"/>
                <a:cs typeface="Courier New"/>
              </a:rPr>
              <a:t> </a:t>
            </a:r>
            <a:r>
              <a:rPr dirty="0" sz="1800" b="1">
                <a:solidFill>
                  <a:srgbClr val="4E3629"/>
                </a:solidFill>
                <a:latin typeface="Courier New"/>
                <a:cs typeface="Courier New"/>
              </a:rPr>
              <a:t>table_name</a:t>
            </a:r>
            <a:r>
              <a:rPr dirty="0" sz="1800" spc="-70" b="1">
                <a:solidFill>
                  <a:srgbClr val="4E3629"/>
                </a:solidFill>
                <a:latin typeface="Courier New"/>
                <a:cs typeface="Courier New"/>
              </a:rPr>
              <a:t> </a:t>
            </a:r>
            <a:r>
              <a:rPr dirty="0" sz="1800" spc="-10" b="1">
                <a:solidFill>
                  <a:srgbClr val="4E3629"/>
                </a:solidFill>
                <a:latin typeface="Courier New"/>
                <a:cs typeface="Courier New"/>
              </a:rPr>
              <a:t>='COPY_EMPLOYEES';</a:t>
            </a:r>
            <a:endParaRPr sz="1800">
              <a:latin typeface="Courier New"/>
              <a:cs typeface="Courier New"/>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Consulta</a:t>
            </a:r>
            <a:r>
              <a:rPr dirty="0" spc="-135"/>
              <a:t> </a:t>
            </a:r>
            <a:r>
              <a:rPr dirty="0" spc="-10"/>
              <a:t>USER_CONSTRAINTS</a:t>
            </a:r>
          </a:p>
        </p:txBody>
      </p:sp>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14-</a:t>
            </a:r>
            <a:r>
              <a:rPr dirty="0" spc="-50"/>
              <a:t>3</a:t>
            </a:r>
          </a:p>
          <a:p>
            <a:pPr marL="12700">
              <a:lnSpc>
                <a:spcPts val="965"/>
              </a:lnSpc>
            </a:pPr>
            <a:r>
              <a:rPr dirty="0"/>
              <a:t>Gestión</a:t>
            </a:r>
            <a:r>
              <a:rPr dirty="0" spc="-20"/>
              <a:t> </a:t>
            </a:r>
            <a:r>
              <a:rPr dirty="0"/>
              <a:t>de</a:t>
            </a:r>
            <a:r>
              <a:rPr dirty="0" spc="-40"/>
              <a:t> </a:t>
            </a:r>
            <a:r>
              <a:rPr dirty="0" spc="-10"/>
              <a:t>Restricciones</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27</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8001000" cy="1979295"/>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Los</a:t>
            </a:r>
            <a:r>
              <a:rPr dirty="0" sz="2800" spc="-40">
                <a:solidFill>
                  <a:srgbClr val="4E3629"/>
                </a:solidFill>
                <a:latin typeface="Calibri"/>
                <a:cs typeface="Calibri"/>
              </a:rPr>
              <a:t> </a:t>
            </a:r>
            <a:r>
              <a:rPr dirty="0" sz="2800">
                <a:solidFill>
                  <a:srgbClr val="4E3629"/>
                </a:solidFill>
                <a:latin typeface="Calibri"/>
                <a:cs typeface="Calibri"/>
              </a:rPr>
              <a:t>tipos</a:t>
            </a:r>
            <a:r>
              <a:rPr dirty="0" sz="2800" spc="-35">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spc="-10">
                <a:solidFill>
                  <a:srgbClr val="4E3629"/>
                </a:solidFill>
                <a:latin typeface="Calibri"/>
                <a:cs typeface="Calibri"/>
              </a:rPr>
              <a:t>restricción</a:t>
            </a:r>
            <a:r>
              <a:rPr dirty="0" sz="2800" spc="-20">
                <a:solidFill>
                  <a:srgbClr val="4E3629"/>
                </a:solidFill>
                <a:latin typeface="Calibri"/>
                <a:cs typeface="Calibri"/>
              </a:rPr>
              <a:t> </a:t>
            </a:r>
            <a:r>
              <a:rPr dirty="0" sz="2800">
                <a:solidFill>
                  <a:srgbClr val="4E3629"/>
                </a:solidFill>
                <a:latin typeface="Calibri"/>
                <a:cs typeface="Calibri"/>
              </a:rPr>
              <a:t>que</a:t>
            </a:r>
            <a:r>
              <a:rPr dirty="0" sz="2800" spc="-35">
                <a:solidFill>
                  <a:srgbClr val="4E3629"/>
                </a:solidFill>
                <a:latin typeface="Calibri"/>
                <a:cs typeface="Calibri"/>
              </a:rPr>
              <a:t> </a:t>
            </a:r>
            <a:r>
              <a:rPr dirty="0" sz="2800">
                <a:solidFill>
                  <a:srgbClr val="4E3629"/>
                </a:solidFill>
                <a:latin typeface="Calibri"/>
                <a:cs typeface="Calibri"/>
              </a:rPr>
              <a:t>aparecen</a:t>
            </a:r>
            <a:r>
              <a:rPr dirty="0" sz="2800" spc="-50">
                <a:solidFill>
                  <a:srgbClr val="4E3629"/>
                </a:solidFill>
                <a:latin typeface="Calibri"/>
                <a:cs typeface="Calibri"/>
              </a:rPr>
              <a:t> </a:t>
            </a:r>
            <a:r>
              <a:rPr dirty="0" sz="2800">
                <a:solidFill>
                  <a:srgbClr val="4E3629"/>
                </a:solidFill>
                <a:latin typeface="Calibri"/>
                <a:cs typeface="Calibri"/>
              </a:rPr>
              <a:t>en</a:t>
            </a:r>
            <a:r>
              <a:rPr dirty="0" sz="2800" spc="-45">
                <a:solidFill>
                  <a:srgbClr val="4E3629"/>
                </a:solidFill>
                <a:latin typeface="Calibri"/>
                <a:cs typeface="Calibri"/>
              </a:rPr>
              <a:t> </a:t>
            </a:r>
            <a:r>
              <a:rPr dirty="0" sz="2800">
                <a:solidFill>
                  <a:srgbClr val="4E3629"/>
                </a:solidFill>
                <a:latin typeface="Calibri"/>
                <a:cs typeface="Calibri"/>
              </a:rPr>
              <a:t>el</a:t>
            </a:r>
            <a:r>
              <a:rPr dirty="0" sz="2800" spc="-50">
                <a:solidFill>
                  <a:srgbClr val="4E3629"/>
                </a:solidFill>
                <a:latin typeface="Calibri"/>
                <a:cs typeface="Calibri"/>
              </a:rPr>
              <a:t> </a:t>
            </a:r>
            <a:r>
              <a:rPr dirty="0" sz="2800" spc="-10">
                <a:solidFill>
                  <a:srgbClr val="4E3629"/>
                </a:solidFill>
                <a:latin typeface="Calibri"/>
                <a:cs typeface="Calibri"/>
              </a:rPr>
              <a:t>diccionario </a:t>
            </a:r>
            <a:r>
              <a:rPr dirty="0" sz="2800" spc="-10">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a:solidFill>
                  <a:srgbClr val="4E3629"/>
                </a:solidFill>
                <a:latin typeface="Calibri"/>
                <a:cs typeface="Calibri"/>
              </a:rPr>
              <a:t>datos</a:t>
            </a:r>
            <a:r>
              <a:rPr dirty="0" sz="2800" spc="-80">
                <a:solidFill>
                  <a:srgbClr val="4E3629"/>
                </a:solidFill>
                <a:latin typeface="Calibri"/>
                <a:cs typeface="Calibri"/>
              </a:rPr>
              <a:t> </a:t>
            </a:r>
            <a:r>
              <a:rPr dirty="0" sz="2800" spc="-20">
                <a:solidFill>
                  <a:srgbClr val="4E3629"/>
                </a:solidFill>
                <a:latin typeface="Calibri"/>
                <a:cs typeface="Calibri"/>
              </a:rPr>
              <a:t>son:</a:t>
            </a:r>
            <a:endParaRPr sz="2800">
              <a:latin typeface="Calibri"/>
              <a:cs typeface="Calibri"/>
            </a:endParaRPr>
          </a:p>
          <a:p>
            <a:pPr marL="355600">
              <a:lnSpc>
                <a:spcPct val="100000"/>
              </a:lnSpc>
              <a:spcBef>
                <a:spcPts val="95"/>
              </a:spcBef>
            </a:pPr>
            <a:r>
              <a:rPr dirty="0" sz="2400" spc="80">
                <a:solidFill>
                  <a:srgbClr val="D1350F"/>
                </a:solidFill>
                <a:latin typeface="Calibri"/>
                <a:cs typeface="Calibri"/>
              </a:rPr>
              <a:t>−</a:t>
            </a:r>
            <a:r>
              <a:rPr dirty="0" sz="2400" spc="80">
                <a:solidFill>
                  <a:srgbClr val="4E3629"/>
                </a:solidFill>
                <a:latin typeface="Calibri"/>
                <a:cs typeface="Calibri"/>
              </a:rPr>
              <a:t>P</a:t>
            </a:r>
            <a:r>
              <a:rPr dirty="0" sz="2400" spc="-55">
                <a:solidFill>
                  <a:srgbClr val="4E3629"/>
                </a:solidFill>
                <a:latin typeface="Calibri"/>
                <a:cs typeface="Calibri"/>
              </a:rPr>
              <a:t> </a:t>
            </a:r>
            <a:r>
              <a:rPr dirty="0" sz="2400">
                <a:solidFill>
                  <a:srgbClr val="4E3629"/>
                </a:solidFill>
                <a:latin typeface="Calibri"/>
                <a:cs typeface="Calibri"/>
              </a:rPr>
              <a:t>–</a:t>
            </a:r>
            <a:r>
              <a:rPr dirty="0" sz="2400" spc="-45">
                <a:solidFill>
                  <a:srgbClr val="4E3629"/>
                </a:solidFill>
                <a:latin typeface="Calibri"/>
                <a:cs typeface="Calibri"/>
              </a:rPr>
              <a:t> </a:t>
            </a:r>
            <a:r>
              <a:rPr dirty="0" sz="2400">
                <a:solidFill>
                  <a:srgbClr val="4E3629"/>
                </a:solidFill>
                <a:latin typeface="Calibri"/>
                <a:cs typeface="Calibri"/>
              </a:rPr>
              <a:t>PRIMARY</a:t>
            </a:r>
            <a:r>
              <a:rPr dirty="0" sz="2400" spc="-65">
                <a:solidFill>
                  <a:srgbClr val="4E3629"/>
                </a:solidFill>
                <a:latin typeface="Calibri"/>
                <a:cs typeface="Calibri"/>
              </a:rPr>
              <a:t> </a:t>
            </a:r>
            <a:r>
              <a:rPr dirty="0" sz="2400" spc="-30">
                <a:solidFill>
                  <a:srgbClr val="4E3629"/>
                </a:solidFill>
                <a:latin typeface="Calibri"/>
                <a:cs typeface="Calibri"/>
              </a:rPr>
              <a:t>KEY;</a:t>
            </a:r>
            <a:r>
              <a:rPr dirty="0" sz="2400" spc="-55">
                <a:solidFill>
                  <a:srgbClr val="4E3629"/>
                </a:solidFill>
                <a:latin typeface="Calibri"/>
                <a:cs typeface="Calibri"/>
              </a:rPr>
              <a:t> </a:t>
            </a:r>
            <a:r>
              <a:rPr dirty="0" sz="2400">
                <a:solidFill>
                  <a:srgbClr val="4E3629"/>
                </a:solidFill>
                <a:latin typeface="Calibri"/>
                <a:cs typeface="Calibri"/>
              </a:rPr>
              <a:t>R</a:t>
            </a:r>
            <a:r>
              <a:rPr dirty="0" sz="2400" spc="-50">
                <a:solidFill>
                  <a:srgbClr val="4E3629"/>
                </a:solidFill>
                <a:latin typeface="Calibri"/>
                <a:cs typeface="Calibri"/>
              </a:rPr>
              <a:t> </a:t>
            </a:r>
            <a:r>
              <a:rPr dirty="0" sz="2400">
                <a:solidFill>
                  <a:srgbClr val="4E3629"/>
                </a:solidFill>
                <a:latin typeface="Calibri"/>
                <a:cs typeface="Calibri"/>
              </a:rPr>
              <a:t>–</a:t>
            </a:r>
            <a:r>
              <a:rPr dirty="0" sz="2400" spc="-45">
                <a:solidFill>
                  <a:srgbClr val="4E3629"/>
                </a:solidFill>
                <a:latin typeface="Calibri"/>
                <a:cs typeface="Calibri"/>
              </a:rPr>
              <a:t> </a:t>
            </a:r>
            <a:r>
              <a:rPr dirty="0" sz="2400">
                <a:solidFill>
                  <a:srgbClr val="4E3629"/>
                </a:solidFill>
                <a:latin typeface="Calibri"/>
                <a:cs typeface="Calibri"/>
              </a:rPr>
              <a:t>REFERENCES</a:t>
            </a:r>
            <a:r>
              <a:rPr dirty="0" sz="2400" spc="-80">
                <a:solidFill>
                  <a:srgbClr val="4E3629"/>
                </a:solidFill>
                <a:latin typeface="Calibri"/>
                <a:cs typeface="Calibri"/>
              </a:rPr>
              <a:t> </a:t>
            </a:r>
            <a:r>
              <a:rPr dirty="0" sz="2400">
                <a:solidFill>
                  <a:srgbClr val="4E3629"/>
                </a:solidFill>
                <a:latin typeface="Calibri"/>
                <a:cs typeface="Calibri"/>
              </a:rPr>
              <a:t>(clave</a:t>
            </a:r>
            <a:r>
              <a:rPr dirty="0" sz="2400" spc="-55">
                <a:solidFill>
                  <a:srgbClr val="4E3629"/>
                </a:solidFill>
                <a:latin typeface="Calibri"/>
                <a:cs typeface="Calibri"/>
              </a:rPr>
              <a:t> </a:t>
            </a:r>
            <a:r>
              <a:rPr dirty="0" sz="2400" spc="-10">
                <a:solidFill>
                  <a:srgbClr val="4E3629"/>
                </a:solidFill>
                <a:latin typeface="Calibri"/>
                <a:cs typeface="Calibri"/>
              </a:rPr>
              <a:t>ajena);</a:t>
            </a:r>
            <a:endParaRPr sz="2400">
              <a:latin typeface="Calibri"/>
              <a:cs typeface="Calibri"/>
            </a:endParaRPr>
          </a:p>
          <a:p>
            <a:pPr marL="355600">
              <a:lnSpc>
                <a:spcPct val="100000"/>
              </a:lnSpc>
              <a:spcBef>
                <a:spcPts val="110"/>
              </a:spcBef>
            </a:pPr>
            <a:r>
              <a:rPr dirty="0" sz="2400" spc="80">
                <a:solidFill>
                  <a:srgbClr val="D1350F"/>
                </a:solidFill>
                <a:latin typeface="Calibri"/>
                <a:cs typeface="Calibri"/>
              </a:rPr>
              <a:t>−</a:t>
            </a:r>
            <a:r>
              <a:rPr dirty="0" sz="2400" spc="80">
                <a:solidFill>
                  <a:srgbClr val="4E3629"/>
                </a:solidFill>
                <a:latin typeface="Calibri"/>
                <a:cs typeface="Calibri"/>
              </a:rPr>
              <a:t>C</a:t>
            </a:r>
            <a:r>
              <a:rPr dirty="0" sz="2400" spc="-70">
                <a:solidFill>
                  <a:srgbClr val="4E3629"/>
                </a:solidFill>
                <a:latin typeface="Calibri"/>
                <a:cs typeface="Calibri"/>
              </a:rPr>
              <a:t> </a:t>
            </a:r>
            <a:r>
              <a:rPr dirty="0" sz="2400">
                <a:solidFill>
                  <a:srgbClr val="4E3629"/>
                </a:solidFill>
                <a:latin typeface="Calibri"/>
                <a:cs typeface="Calibri"/>
              </a:rPr>
              <a:t>–</a:t>
            </a:r>
            <a:r>
              <a:rPr dirty="0" sz="2400" spc="-50">
                <a:solidFill>
                  <a:srgbClr val="4E3629"/>
                </a:solidFill>
                <a:latin typeface="Calibri"/>
                <a:cs typeface="Calibri"/>
              </a:rPr>
              <a:t> </a:t>
            </a:r>
            <a:r>
              <a:rPr dirty="0" sz="2400">
                <a:solidFill>
                  <a:srgbClr val="4E3629"/>
                </a:solidFill>
                <a:latin typeface="Calibri"/>
                <a:cs typeface="Calibri"/>
              </a:rPr>
              <a:t>restricción</a:t>
            </a:r>
            <a:r>
              <a:rPr dirty="0" sz="2400" spc="-80">
                <a:solidFill>
                  <a:srgbClr val="4E3629"/>
                </a:solidFill>
                <a:latin typeface="Calibri"/>
                <a:cs typeface="Calibri"/>
              </a:rPr>
              <a:t> </a:t>
            </a:r>
            <a:r>
              <a:rPr dirty="0" sz="2400">
                <a:solidFill>
                  <a:srgbClr val="4E3629"/>
                </a:solidFill>
                <a:latin typeface="Calibri"/>
                <a:cs typeface="Calibri"/>
              </a:rPr>
              <a:t>CHECK</a:t>
            </a:r>
            <a:r>
              <a:rPr dirty="0" sz="2400" spc="-75">
                <a:solidFill>
                  <a:srgbClr val="4E3629"/>
                </a:solidFill>
                <a:latin typeface="Calibri"/>
                <a:cs typeface="Calibri"/>
              </a:rPr>
              <a:t> </a:t>
            </a:r>
            <a:r>
              <a:rPr dirty="0" sz="2400">
                <a:solidFill>
                  <a:srgbClr val="4E3629"/>
                </a:solidFill>
                <a:latin typeface="Calibri"/>
                <a:cs typeface="Calibri"/>
              </a:rPr>
              <a:t>(incluida</a:t>
            </a:r>
            <a:r>
              <a:rPr dirty="0" sz="2400" spc="-65">
                <a:solidFill>
                  <a:srgbClr val="4E3629"/>
                </a:solidFill>
                <a:latin typeface="Calibri"/>
                <a:cs typeface="Calibri"/>
              </a:rPr>
              <a:t> </a:t>
            </a:r>
            <a:r>
              <a:rPr dirty="0" sz="2400">
                <a:solidFill>
                  <a:srgbClr val="4E3629"/>
                </a:solidFill>
                <a:latin typeface="Calibri"/>
                <a:cs typeface="Calibri"/>
              </a:rPr>
              <a:t>NOT</a:t>
            </a:r>
            <a:r>
              <a:rPr dirty="0" sz="2400" spc="-65">
                <a:solidFill>
                  <a:srgbClr val="4E3629"/>
                </a:solidFill>
                <a:latin typeface="Calibri"/>
                <a:cs typeface="Calibri"/>
              </a:rPr>
              <a:t> </a:t>
            </a:r>
            <a:r>
              <a:rPr dirty="0" sz="2400" spc="-10">
                <a:solidFill>
                  <a:srgbClr val="4E3629"/>
                </a:solidFill>
                <a:latin typeface="Calibri"/>
                <a:cs typeface="Calibri"/>
              </a:rPr>
              <a:t>NULL);</a:t>
            </a:r>
            <a:endParaRPr sz="2400">
              <a:latin typeface="Calibri"/>
              <a:cs typeface="Calibri"/>
            </a:endParaRPr>
          </a:p>
          <a:p>
            <a:pPr marL="355600">
              <a:lnSpc>
                <a:spcPct val="100000"/>
              </a:lnSpc>
              <a:spcBef>
                <a:spcPts val="110"/>
              </a:spcBef>
            </a:pPr>
            <a:r>
              <a:rPr dirty="0" sz="2400" spc="80">
                <a:solidFill>
                  <a:srgbClr val="D1350F"/>
                </a:solidFill>
                <a:latin typeface="Calibri"/>
                <a:cs typeface="Calibri"/>
              </a:rPr>
              <a:t>−</a:t>
            </a:r>
            <a:r>
              <a:rPr dirty="0" sz="2400" spc="80">
                <a:solidFill>
                  <a:srgbClr val="4E3629"/>
                </a:solidFill>
                <a:latin typeface="Calibri"/>
                <a:cs typeface="Calibri"/>
              </a:rPr>
              <a:t>U</a:t>
            </a:r>
            <a:r>
              <a:rPr dirty="0" sz="2400" spc="-15">
                <a:solidFill>
                  <a:srgbClr val="4E3629"/>
                </a:solidFill>
                <a:latin typeface="Calibri"/>
                <a:cs typeface="Calibri"/>
              </a:rPr>
              <a:t> </a:t>
            </a:r>
            <a:r>
              <a:rPr dirty="0" sz="2400">
                <a:solidFill>
                  <a:srgbClr val="4E3629"/>
                </a:solidFill>
                <a:latin typeface="Calibri"/>
                <a:cs typeface="Calibri"/>
              </a:rPr>
              <a:t>– </a:t>
            </a:r>
            <a:r>
              <a:rPr dirty="0" sz="2400" spc="-10">
                <a:solidFill>
                  <a:srgbClr val="4E3629"/>
                </a:solidFill>
                <a:latin typeface="Calibri"/>
                <a:cs typeface="Calibri"/>
              </a:rPr>
              <a:t>UNIQUE</a:t>
            </a:r>
            <a:endParaRPr sz="2400">
              <a:latin typeface="Calibri"/>
              <a:cs typeface="Calibri"/>
            </a:endParaRPr>
          </a:p>
        </p:txBody>
      </p:sp>
      <p:graphicFrame>
        <p:nvGraphicFramePr>
          <p:cNvPr id="4" name="object 4" descr=""/>
          <p:cNvGraphicFramePr>
            <a:graphicFrameLocks noGrp="1"/>
          </p:cNvGraphicFramePr>
          <p:nvPr/>
        </p:nvGraphicFramePr>
        <p:xfrm>
          <a:off x="798512" y="3668024"/>
          <a:ext cx="7501255" cy="1021080"/>
        </p:xfrm>
        <a:graphic>
          <a:graphicData uri="http://schemas.openxmlformats.org/drawingml/2006/table">
            <a:tbl>
              <a:tblPr firstRow="1" bandRow="1">
                <a:tableStyleId>{2D5ABB26-0587-4C30-8999-92F81FD0307C}</a:tableStyleId>
              </a:tblPr>
              <a:tblGrid>
                <a:gridCol w="1852930"/>
                <a:gridCol w="1852930"/>
                <a:gridCol w="1852930"/>
                <a:gridCol w="1852929"/>
              </a:tblGrid>
              <a:tr h="340360">
                <a:tc>
                  <a:txBody>
                    <a:bodyPr/>
                    <a:lstStyle/>
                    <a:p>
                      <a:pPr marL="71755">
                        <a:lnSpc>
                          <a:spcPct val="100000"/>
                        </a:lnSpc>
                        <a:spcBef>
                          <a:spcPts val="280"/>
                        </a:spcBef>
                      </a:pPr>
                      <a:r>
                        <a:rPr dirty="0" sz="1600" spc="-10" b="1">
                          <a:solidFill>
                            <a:srgbClr val="4E3629"/>
                          </a:solidFill>
                          <a:latin typeface="Calibri"/>
                          <a:cs typeface="Calibri"/>
                        </a:rPr>
                        <a:t>CONSTRAINT_NAME</a:t>
                      </a:r>
                      <a:endParaRPr sz="1600">
                        <a:latin typeface="Calibri"/>
                        <a:cs typeface="Calibri"/>
                      </a:endParaRPr>
                    </a:p>
                  </a:txBody>
                  <a:tcPr marL="0" marR="0" marB="0" marT="3556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280"/>
                        </a:spcBef>
                      </a:pPr>
                      <a:r>
                        <a:rPr dirty="0" sz="1600" spc="-10" b="1">
                          <a:solidFill>
                            <a:srgbClr val="4E3629"/>
                          </a:solidFill>
                          <a:latin typeface="Calibri"/>
                          <a:cs typeface="Calibri"/>
                        </a:rPr>
                        <a:t>TABLE_NAME</a:t>
                      </a:r>
                      <a:endParaRPr sz="1600">
                        <a:latin typeface="Calibri"/>
                        <a:cs typeface="Calibri"/>
                      </a:endParaRPr>
                    </a:p>
                  </a:txBody>
                  <a:tcPr marL="0" marR="0" marB="0" marT="3556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280"/>
                        </a:spcBef>
                      </a:pPr>
                      <a:r>
                        <a:rPr dirty="0" sz="1600" spc="-10" b="1">
                          <a:solidFill>
                            <a:srgbClr val="4E3629"/>
                          </a:solidFill>
                          <a:latin typeface="Calibri"/>
                          <a:cs typeface="Calibri"/>
                        </a:rPr>
                        <a:t>CONSTRAINT_TYPE</a:t>
                      </a:r>
                      <a:endParaRPr sz="1600">
                        <a:latin typeface="Calibri"/>
                        <a:cs typeface="Calibri"/>
                      </a:endParaRPr>
                    </a:p>
                  </a:txBody>
                  <a:tcPr marL="0" marR="0" marB="0" marT="3556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280"/>
                        </a:spcBef>
                      </a:pPr>
                      <a:r>
                        <a:rPr dirty="0" sz="1600" spc="-10" b="1">
                          <a:solidFill>
                            <a:srgbClr val="4E3629"/>
                          </a:solidFill>
                          <a:latin typeface="Calibri"/>
                          <a:cs typeface="Calibri"/>
                        </a:rPr>
                        <a:t>STATUS</a:t>
                      </a:r>
                      <a:endParaRPr sz="1600">
                        <a:latin typeface="Calibri"/>
                        <a:cs typeface="Calibri"/>
                      </a:endParaRPr>
                    </a:p>
                  </a:txBody>
                  <a:tcPr marL="0" marR="0" marB="0" marT="3556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40360">
                <a:tc>
                  <a:txBody>
                    <a:bodyPr/>
                    <a:lstStyle/>
                    <a:p>
                      <a:pPr marL="71755">
                        <a:lnSpc>
                          <a:spcPct val="100000"/>
                        </a:lnSpc>
                        <a:spcBef>
                          <a:spcPts val="280"/>
                        </a:spcBef>
                      </a:pPr>
                      <a:r>
                        <a:rPr dirty="0" sz="1600" spc="-10">
                          <a:solidFill>
                            <a:srgbClr val="4E3629"/>
                          </a:solidFill>
                          <a:latin typeface="Calibri"/>
                          <a:cs typeface="Calibri"/>
                        </a:rPr>
                        <a:t>COPY_EMP_PK</a:t>
                      </a:r>
                      <a:endParaRPr sz="1600">
                        <a:latin typeface="Calibri"/>
                        <a:cs typeface="Calibri"/>
                      </a:endParaRPr>
                    </a:p>
                  </a:txBody>
                  <a:tcPr marL="0" marR="0" marB="0" marT="3556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280"/>
                        </a:spcBef>
                      </a:pPr>
                      <a:r>
                        <a:rPr dirty="0" sz="1600" spc="-10">
                          <a:solidFill>
                            <a:srgbClr val="4E3629"/>
                          </a:solidFill>
                          <a:latin typeface="Calibri"/>
                          <a:cs typeface="Calibri"/>
                        </a:rPr>
                        <a:t>COPY_EMPLOYEES</a:t>
                      </a:r>
                      <a:endParaRPr sz="1600">
                        <a:latin typeface="Calibri"/>
                        <a:cs typeface="Calibri"/>
                      </a:endParaRPr>
                    </a:p>
                  </a:txBody>
                  <a:tcPr marL="0" marR="0" marB="0" marT="3556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120">
                        <a:lnSpc>
                          <a:spcPct val="100000"/>
                        </a:lnSpc>
                        <a:spcBef>
                          <a:spcPts val="280"/>
                        </a:spcBef>
                      </a:pPr>
                      <a:r>
                        <a:rPr dirty="0" sz="1600" spc="-50">
                          <a:solidFill>
                            <a:srgbClr val="4E3629"/>
                          </a:solidFill>
                          <a:latin typeface="Calibri"/>
                          <a:cs typeface="Calibri"/>
                        </a:rPr>
                        <a:t>P</a:t>
                      </a:r>
                      <a:endParaRPr sz="1600">
                        <a:latin typeface="Calibri"/>
                        <a:cs typeface="Calibri"/>
                      </a:endParaRPr>
                    </a:p>
                  </a:txBody>
                  <a:tcPr marL="0" marR="0" marB="0" marT="3556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120">
                        <a:lnSpc>
                          <a:spcPct val="100000"/>
                        </a:lnSpc>
                        <a:spcBef>
                          <a:spcPts val="280"/>
                        </a:spcBef>
                      </a:pPr>
                      <a:r>
                        <a:rPr dirty="0" sz="1600" spc="-10">
                          <a:solidFill>
                            <a:srgbClr val="4E3629"/>
                          </a:solidFill>
                          <a:latin typeface="Calibri"/>
                          <a:cs typeface="Calibri"/>
                        </a:rPr>
                        <a:t>ENABLED</a:t>
                      </a:r>
                      <a:endParaRPr sz="1600">
                        <a:latin typeface="Calibri"/>
                        <a:cs typeface="Calibri"/>
                      </a:endParaRPr>
                    </a:p>
                  </a:txBody>
                  <a:tcPr marL="0" marR="0" marB="0" marT="3556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340360">
                <a:tc>
                  <a:txBody>
                    <a:bodyPr/>
                    <a:lstStyle/>
                    <a:p>
                      <a:pPr marL="71120">
                        <a:lnSpc>
                          <a:spcPct val="100000"/>
                        </a:lnSpc>
                        <a:spcBef>
                          <a:spcPts val="280"/>
                        </a:spcBef>
                      </a:pPr>
                      <a:r>
                        <a:rPr dirty="0" sz="1600" spc="-10">
                          <a:solidFill>
                            <a:srgbClr val="4E3629"/>
                          </a:solidFill>
                          <a:latin typeface="Calibri"/>
                          <a:cs typeface="Calibri"/>
                        </a:rPr>
                        <a:t>CDEPT_DEPT_ID_FK</a:t>
                      </a:r>
                      <a:endParaRPr sz="1600">
                        <a:latin typeface="Calibri"/>
                        <a:cs typeface="Calibri"/>
                      </a:endParaRPr>
                    </a:p>
                  </a:txBody>
                  <a:tcPr marL="0" marR="0" marB="0" marT="355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ct val="100000"/>
                        </a:lnSpc>
                        <a:spcBef>
                          <a:spcPts val="280"/>
                        </a:spcBef>
                      </a:pPr>
                      <a:r>
                        <a:rPr dirty="0" sz="1600" spc="-10">
                          <a:solidFill>
                            <a:srgbClr val="4E3629"/>
                          </a:solidFill>
                          <a:latin typeface="Calibri"/>
                          <a:cs typeface="Calibri"/>
                        </a:rPr>
                        <a:t>COPY_EMPLOYEES</a:t>
                      </a:r>
                      <a:endParaRPr sz="1600">
                        <a:latin typeface="Calibri"/>
                        <a:cs typeface="Calibri"/>
                      </a:endParaRPr>
                    </a:p>
                  </a:txBody>
                  <a:tcPr marL="0" marR="0" marB="0" marT="355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ct val="100000"/>
                        </a:lnSpc>
                        <a:spcBef>
                          <a:spcPts val="280"/>
                        </a:spcBef>
                      </a:pPr>
                      <a:r>
                        <a:rPr dirty="0" sz="1600" spc="-50">
                          <a:solidFill>
                            <a:srgbClr val="4E3629"/>
                          </a:solidFill>
                          <a:latin typeface="Calibri"/>
                          <a:cs typeface="Calibri"/>
                        </a:rPr>
                        <a:t>R</a:t>
                      </a:r>
                      <a:endParaRPr sz="1600">
                        <a:latin typeface="Calibri"/>
                        <a:cs typeface="Calibri"/>
                      </a:endParaRPr>
                    </a:p>
                  </a:txBody>
                  <a:tcPr marL="0" marR="0" marB="0" marT="355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ct val="100000"/>
                        </a:lnSpc>
                        <a:spcBef>
                          <a:spcPts val="280"/>
                        </a:spcBef>
                      </a:pPr>
                      <a:r>
                        <a:rPr dirty="0" sz="1600" spc="-10">
                          <a:solidFill>
                            <a:srgbClr val="4E3629"/>
                          </a:solidFill>
                          <a:latin typeface="Calibri"/>
                          <a:cs typeface="Calibri"/>
                        </a:rPr>
                        <a:t>ENABLED</a:t>
                      </a:r>
                      <a:endParaRPr sz="1600">
                        <a:latin typeface="Calibri"/>
                        <a:cs typeface="Calibri"/>
                      </a:endParaRPr>
                    </a:p>
                  </a:txBody>
                  <a:tcPr marL="0" marR="0" marB="0" marT="355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Oracle Academy</dc:creator>
  <dc:title>PowerPoint Presentation</dc:title>
  <dcterms:created xsi:type="dcterms:W3CDTF">2025-06-01T17:57:19Z</dcterms:created>
  <dcterms:modified xsi:type="dcterms:W3CDTF">2025-06-01T17:57:19Z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2025-02-24T00:00:00Z</vt:filetime>
  </property>
  <property fmtid="{D5CDD505-2E9C-101B-9397-08002B2CF9AE}" pid="3" name="Creator">
    <vt:lpwstr>Acrobat PDFMaker 20 for PowerPoint</vt:lpwstr>
  </property>
  <property fmtid="{D5CDD505-2E9C-101B-9397-08002B2CF9AE}" pid="4" name="LastSaved">
    <vt:filetime>2025-06-01T00:00:00Z</vt:filetime>
  </property>
  <property fmtid="{D5CDD505-2E9C-101B-9397-08002B2CF9AE}" pid="5" name="Producer">
    <vt:lpwstr>macOS Version 15.2 (Build 24C101) Quartz PDFContext</vt:lpwstr>
  </property>
</Properties>
</file>