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Default Extension="jpg" ContentType="image/jpg"/>
  <Default Extension="png" ContentType="image/png"/>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9144000" cy="6858000"/>
  <p:notesSz cx="9144000" cy="6858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s>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19:08:59</a:t>
            </a:r>
          </a:p>
          <a:p>
            <a:r>
              <a:t>--------------------------------------------</a:t>
            </a:r>
          </a:p>
          <a:p>
            <a:r>
              <a:t>Aunque una tabla solo puede tener una clave PRIMARIA, puede estar formada por más de una columna. Esto se denomina una CLAVE PRIMARIA compuesta.</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19:09:06</a:t>
            </a:r>
          </a:p>
          <a:p>
            <a:r>
              <a:t>--------------------------------------------</a:t>
            </a:r>
          </a:p>
          <a:p>
            <a:r>
              <a:t>NOTA: al definir una clave ajena en el nivel de columna, las palabras "foreign key" NO se incluyen.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19:09:07</a:t>
            </a:r>
          </a:p>
          <a:p>
            <a:r>
              <a:t>--------------------------------------------</a:t>
            </a:r>
          </a:p>
          <a:p>
            <a:r>
              <a:t>NOTA: al definir una clave ajena en el nivel de columna, las palabras "foreign key" ESTÁN incluidas antes del nombre de la tabla y columna que tiene la restricción.</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19:09:09</a:t>
            </a:r>
          </a:p>
          <a:p>
            <a:r>
              <a:t>--------------------------------------------</a:t>
            </a:r>
          </a:p>
          <a:p>
            <a:r>
              <a:t>NOTA: cuando se ha definido la clave ajena con ON CASCADE DELETE, no se emite ninguna advertencia de que la supresión de filas de la tabla principal significará que las filas dependientes de la tabla secundaria también se suprimirán.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300" b="0" i="0">
                <a:solidFill>
                  <a:srgbClr val="4E3629"/>
                </a:solidFill>
                <a:latin typeface="Calibri"/>
                <a:cs typeface="Calibri"/>
              </a:defRPr>
            </a:lvl1pPr>
          </a:lstStyle>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800" b="0" i="0">
                <a:solidFill>
                  <a:srgbClr val="4E3629"/>
                </a:solidFill>
                <a:latin typeface="Calibri"/>
                <a:cs typeface="Calibri"/>
              </a:defRPr>
            </a:lvl1pPr>
          </a:lstStyle>
          <a:p/>
        </p:txBody>
      </p:sp>
      <p:sp>
        <p:nvSpPr>
          <p:cNvPr id="4" name="Holder 4"/>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Holder 5"/>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10"/>
              <a:t> </a:t>
            </a:r>
            <a:r>
              <a:rPr dirty="0"/>
              <a:t>14-</a:t>
            </a:r>
            <a:r>
              <a:rPr dirty="0" spc="-50"/>
              <a:t>2</a:t>
            </a:r>
          </a:p>
          <a:p>
            <a:pPr marL="12700" marR="5080">
              <a:lnSpc>
                <a:spcPts val="919"/>
              </a:lnSpc>
              <a:spcBef>
                <a:spcPts val="60"/>
              </a:spcBef>
            </a:pPr>
            <a:r>
              <a:rPr dirty="0" spc="-10"/>
              <a:t>Restricciones</a:t>
            </a:r>
            <a:r>
              <a:rPr dirty="0" spc="55"/>
              <a:t> </a:t>
            </a:r>
            <a:r>
              <a:rPr dirty="0"/>
              <a:t>PRIMARY</a:t>
            </a:r>
            <a:r>
              <a:rPr dirty="0" spc="-30"/>
              <a:t> </a:t>
            </a:r>
            <a:r>
              <a:rPr dirty="0" spc="-20"/>
              <a:t>KEY,</a:t>
            </a:r>
            <a:r>
              <a:rPr dirty="0" spc="500"/>
              <a:t> </a:t>
            </a:r>
            <a:r>
              <a:rPr dirty="0"/>
              <a:t>FOREIGN</a:t>
            </a:r>
            <a:r>
              <a:rPr dirty="0" spc="-40"/>
              <a:t> </a:t>
            </a:r>
            <a:r>
              <a:rPr dirty="0"/>
              <a:t>KEY</a:t>
            </a:r>
            <a:r>
              <a:rPr dirty="0" spc="-20"/>
              <a:t> </a:t>
            </a:r>
            <a:r>
              <a:rPr dirty="0"/>
              <a:t>y</a:t>
            </a:r>
            <a:r>
              <a:rPr dirty="0" spc="-5"/>
              <a:t> </a:t>
            </a:r>
            <a:r>
              <a:rPr dirty="0" spc="-20"/>
              <a:t>CHECK</a:t>
            </a:r>
          </a:p>
        </p:txBody>
      </p:sp>
      <p:sp>
        <p:nvSpPr>
          <p:cNvPr id="6" name="Holder 6"/>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4E3629"/>
                </a:solidFill>
                <a:latin typeface="Calibri"/>
                <a:cs typeface="Calibri"/>
              </a:defRPr>
            </a:lvl1pPr>
          </a:lstStyle>
          <a:p/>
        </p:txBody>
      </p:sp>
      <p:sp>
        <p:nvSpPr>
          <p:cNvPr id="3" name="Holder 3"/>
          <p:cNvSpPr>
            <a:spLocks noGrp="1"/>
          </p:cNvSpPr>
          <p:nvPr>
            <p:ph type="body" idx="1"/>
          </p:nvPr>
        </p:nvSpPr>
        <p:spPr/>
        <p:txBody>
          <a:bodyPr lIns="0" tIns="0" rIns="0" bIns="0"/>
          <a:lstStyle>
            <a:lvl1pPr>
              <a:defRPr sz="2800" b="0" i="0">
                <a:solidFill>
                  <a:srgbClr val="4E3629"/>
                </a:solidFill>
                <a:latin typeface="Calibri"/>
                <a:cs typeface="Calibri"/>
              </a:defRPr>
            </a:lvl1pPr>
          </a:lstStyle>
          <a:p/>
        </p:txBody>
      </p:sp>
      <p:sp>
        <p:nvSpPr>
          <p:cNvPr id="4" name="Holder 4"/>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Holder 5"/>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10"/>
              <a:t> </a:t>
            </a:r>
            <a:r>
              <a:rPr dirty="0"/>
              <a:t>14-</a:t>
            </a:r>
            <a:r>
              <a:rPr dirty="0" spc="-50"/>
              <a:t>2</a:t>
            </a:r>
          </a:p>
          <a:p>
            <a:pPr marL="12700" marR="5080">
              <a:lnSpc>
                <a:spcPts val="919"/>
              </a:lnSpc>
              <a:spcBef>
                <a:spcPts val="60"/>
              </a:spcBef>
            </a:pPr>
            <a:r>
              <a:rPr dirty="0" spc="-10"/>
              <a:t>Restricciones</a:t>
            </a:r>
            <a:r>
              <a:rPr dirty="0" spc="55"/>
              <a:t> </a:t>
            </a:r>
            <a:r>
              <a:rPr dirty="0"/>
              <a:t>PRIMARY</a:t>
            </a:r>
            <a:r>
              <a:rPr dirty="0" spc="-30"/>
              <a:t> </a:t>
            </a:r>
            <a:r>
              <a:rPr dirty="0" spc="-20"/>
              <a:t>KEY,</a:t>
            </a:r>
            <a:r>
              <a:rPr dirty="0" spc="500"/>
              <a:t> </a:t>
            </a:r>
            <a:r>
              <a:rPr dirty="0"/>
              <a:t>FOREIGN</a:t>
            </a:r>
            <a:r>
              <a:rPr dirty="0" spc="-40"/>
              <a:t> </a:t>
            </a:r>
            <a:r>
              <a:rPr dirty="0"/>
              <a:t>KEY</a:t>
            </a:r>
            <a:r>
              <a:rPr dirty="0" spc="-20"/>
              <a:t> </a:t>
            </a:r>
            <a:r>
              <a:rPr dirty="0"/>
              <a:t>y</a:t>
            </a:r>
            <a:r>
              <a:rPr dirty="0" spc="-5"/>
              <a:t> </a:t>
            </a:r>
            <a:r>
              <a:rPr dirty="0" spc="-20"/>
              <a:t>CHECK</a:t>
            </a:r>
          </a:p>
        </p:txBody>
      </p:sp>
      <p:sp>
        <p:nvSpPr>
          <p:cNvPr id="6" name="Holder 6"/>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4E3629"/>
                </a:solidFill>
                <a:latin typeface="Calibri"/>
                <a:cs typeface="Calibri"/>
              </a:defRPr>
            </a:lvl1pPr>
          </a:lstStyle>
          <a:p/>
        </p:txBody>
      </p:sp>
      <p:sp>
        <p:nvSpPr>
          <p:cNvPr id="3" name="Holder 3"/>
          <p:cNvSpPr>
            <a:spLocks noGrp="1"/>
          </p:cNvSpPr>
          <p:nvPr>
            <p:ph idx="2" sz="half"/>
          </p:nvPr>
        </p:nvSpPr>
        <p:spPr>
          <a:xfrm>
            <a:off x="457200" y="1577340"/>
            <a:ext cx="3977640" cy="4526280"/>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4709160" y="1577340"/>
            <a:ext cx="3977640" cy="4526280"/>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6" name="Holder 6"/>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10"/>
              <a:t> </a:t>
            </a:r>
            <a:r>
              <a:rPr dirty="0"/>
              <a:t>14-</a:t>
            </a:r>
            <a:r>
              <a:rPr dirty="0" spc="-50"/>
              <a:t>2</a:t>
            </a:r>
          </a:p>
          <a:p>
            <a:pPr marL="12700" marR="5080">
              <a:lnSpc>
                <a:spcPts val="919"/>
              </a:lnSpc>
              <a:spcBef>
                <a:spcPts val="60"/>
              </a:spcBef>
            </a:pPr>
            <a:r>
              <a:rPr dirty="0" spc="-10"/>
              <a:t>Restricciones</a:t>
            </a:r>
            <a:r>
              <a:rPr dirty="0" spc="55"/>
              <a:t> </a:t>
            </a:r>
            <a:r>
              <a:rPr dirty="0"/>
              <a:t>PRIMARY</a:t>
            </a:r>
            <a:r>
              <a:rPr dirty="0" spc="-30"/>
              <a:t> </a:t>
            </a:r>
            <a:r>
              <a:rPr dirty="0" spc="-20"/>
              <a:t>KEY,</a:t>
            </a:r>
            <a:r>
              <a:rPr dirty="0" spc="500"/>
              <a:t> </a:t>
            </a:r>
            <a:r>
              <a:rPr dirty="0"/>
              <a:t>FOREIGN</a:t>
            </a:r>
            <a:r>
              <a:rPr dirty="0" spc="-40"/>
              <a:t> </a:t>
            </a:r>
            <a:r>
              <a:rPr dirty="0"/>
              <a:t>KEY</a:t>
            </a:r>
            <a:r>
              <a:rPr dirty="0" spc="-20"/>
              <a:t> </a:t>
            </a:r>
            <a:r>
              <a:rPr dirty="0"/>
              <a:t>y</a:t>
            </a:r>
            <a:r>
              <a:rPr dirty="0" spc="-5"/>
              <a:t> </a:t>
            </a:r>
            <a:r>
              <a:rPr dirty="0" spc="-20"/>
              <a:t>CHECK</a:t>
            </a:r>
          </a:p>
        </p:txBody>
      </p:sp>
      <p:sp>
        <p:nvSpPr>
          <p:cNvPr id="7" name="Holder 7"/>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4E3629"/>
                </a:solidFill>
                <a:latin typeface="Calibri"/>
                <a:cs typeface="Calibri"/>
              </a:defRPr>
            </a:lvl1pPr>
          </a:lstStyle>
          <a:p/>
        </p:txBody>
      </p:sp>
      <p:sp>
        <p:nvSpPr>
          <p:cNvPr id="3" name="Holder 3"/>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4" name="Holder 4"/>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10"/>
              <a:t> </a:t>
            </a:r>
            <a:r>
              <a:rPr dirty="0"/>
              <a:t>14-</a:t>
            </a:r>
            <a:r>
              <a:rPr dirty="0" spc="-50"/>
              <a:t>2</a:t>
            </a:r>
          </a:p>
          <a:p>
            <a:pPr marL="12700" marR="5080">
              <a:lnSpc>
                <a:spcPts val="919"/>
              </a:lnSpc>
              <a:spcBef>
                <a:spcPts val="60"/>
              </a:spcBef>
            </a:pPr>
            <a:r>
              <a:rPr dirty="0" spc="-10"/>
              <a:t>Restricciones</a:t>
            </a:r>
            <a:r>
              <a:rPr dirty="0" spc="55"/>
              <a:t> </a:t>
            </a:r>
            <a:r>
              <a:rPr dirty="0"/>
              <a:t>PRIMARY</a:t>
            </a:r>
            <a:r>
              <a:rPr dirty="0" spc="-30"/>
              <a:t> </a:t>
            </a:r>
            <a:r>
              <a:rPr dirty="0" spc="-20"/>
              <a:t>KEY,</a:t>
            </a:r>
            <a:r>
              <a:rPr dirty="0" spc="500"/>
              <a:t> </a:t>
            </a:r>
            <a:r>
              <a:rPr dirty="0"/>
              <a:t>FOREIGN</a:t>
            </a:r>
            <a:r>
              <a:rPr dirty="0" spc="-40"/>
              <a:t> </a:t>
            </a:r>
            <a:r>
              <a:rPr dirty="0"/>
              <a:t>KEY</a:t>
            </a:r>
            <a:r>
              <a:rPr dirty="0" spc="-20"/>
              <a:t> </a:t>
            </a:r>
            <a:r>
              <a:rPr dirty="0"/>
              <a:t>y</a:t>
            </a:r>
            <a:r>
              <a:rPr dirty="0" spc="-5"/>
              <a:t> </a:t>
            </a:r>
            <a:r>
              <a:rPr dirty="0" spc="-20"/>
              <a:t>CHECK</a:t>
            </a:r>
          </a:p>
        </p:txBody>
      </p:sp>
      <p:sp>
        <p:nvSpPr>
          <p:cNvPr id="5" name="Holder 5"/>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Holder 3"/>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10"/>
              <a:t> </a:t>
            </a:r>
            <a:r>
              <a:rPr dirty="0"/>
              <a:t>14-</a:t>
            </a:r>
            <a:r>
              <a:rPr dirty="0" spc="-50"/>
              <a:t>2</a:t>
            </a:r>
          </a:p>
          <a:p>
            <a:pPr marL="12700" marR="5080">
              <a:lnSpc>
                <a:spcPts val="919"/>
              </a:lnSpc>
              <a:spcBef>
                <a:spcPts val="60"/>
              </a:spcBef>
            </a:pPr>
            <a:r>
              <a:rPr dirty="0" spc="-10"/>
              <a:t>Restricciones</a:t>
            </a:r>
            <a:r>
              <a:rPr dirty="0" spc="55"/>
              <a:t> </a:t>
            </a:r>
            <a:r>
              <a:rPr dirty="0"/>
              <a:t>PRIMARY</a:t>
            </a:r>
            <a:r>
              <a:rPr dirty="0" spc="-30"/>
              <a:t> </a:t>
            </a:r>
            <a:r>
              <a:rPr dirty="0" spc="-20"/>
              <a:t>KEY,</a:t>
            </a:r>
            <a:r>
              <a:rPr dirty="0" spc="500"/>
              <a:t> </a:t>
            </a:r>
            <a:r>
              <a:rPr dirty="0"/>
              <a:t>FOREIGN</a:t>
            </a:r>
            <a:r>
              <a:rPr dirty="0" spc="-40"/>
              <a:t> </a:t>
            </a:r>
            <a:r>
              <a:rPr dirty="0"/>
              <a:t>KEY</a:t>
            </a:r>
            <a:r>
              <a:rPr dirty="0" spc="-20"/>
              <a:t> </a:t>
            </a:r>
            <a:r>
              <a:rPr dirty="0"/>
              <a:t>y</a:t>
            </a:r>
            <a:r>
              <a:rPr dirty="0" spc="-5"/>
              <a:t> </a:t>
            </a:r>
            <a:r>
              <a:rPr dirty="0" spc="-20"/>
              <a:t>CHECK</a:t>
            </a:r>
          </a:p>
        </p:txBody>
      </p:sp>
      <p:sp>
        <p:nvSpPr>
          <p:cNvPr id="4" name="Holder 4"/>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jpg"/><Relationship Id="rId8"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E0E2E1"/>
          </a:solidFill>
        </p:spPr>
        <p:txBody>
          <a:bodyPr wrap="square" lIns="0" tIns="0" rIns="0" bIns="0" rtlCol="0"/>
          <a:lstStyle/>
          <a:p/>
        </p:txBody>
      </p:sp>
      <p:pic>
        <p:nvPicPr>
          <p:cNvPr id="17" name="bg object 17"/>
          <p:cNvPicPr/>
          <p:nvPr/>
        </p:nvPicPr>
        <p:blipFill>
          <a:blip r:embed="rId7" cstate="print"/>
          <a:stretch>
            <a:fillRect/>
          </a:stretch>
        </p:blipFill>
        <p:spPr>
          <a:xfrm>
            <a:off x="0" y="0"/>
            <a:ext cx="9144000" cy="254507"/>
          </a:xfrm>
          <a:prstGeom prst="rect">
            <a:avLst/>
          </a:prstGeom>
        </p:spPr>
      </p:pic>
      <p:pic>
        <p:nvPicPr>
          <p:cNvPr id="18" name="bg object 18"/>
          <p:cNvPicPr/>
          <p:nvPr/>
        </p:nvPicPr>
        <p:blipFill>
          <a:blip r:embed="rId8" cstate="print"/>
          <a:stretch>
            <a:fillRect/>
          </a:stretch>
        </p:blipFill>
        <p:spPr>
          <a:xfrm>
            <a:off x="405384" y="6178295"/>
            <a:ext cx="1258824" cy="420624"/>
          </a:xfrm>
          <a:prstGeom prst="rect">
            <a:avLst/>
          </a:prstGeom>
        </p:spPr>
      </p:pic>
      <p:sp>
        <p:nvSpPr>
          <p:cNvPr id="2" name="Holder 2"/>
          <p:cNvSpPr>
            <a:spLocks noGrp="1"/>
          </p:cNvSpPr>
          <p:nvPr>
            <p:ph type="title"/>
          </p:nvPr>
        </p:nvSpPr>
        <p:spPr>
          <a:xfrm>
            <a:off x="392112" y="385319"/>
            <a:ext cx="6489065" cy="894080"/>
          </a:xfrm>
          <a:prstGeom prst="rect">
            <a:avLst/>
          </a:prstGeom>
        </p:spPr>
        <p:txBody>
          <a:bodyPr wrap="square" lIns="0" tIns="0" rIns="0" bIns="0">
            <a:spAutoFit/>
          </a:bodyPr>
          <a:lstStyle>
            <a:lvl1pPr>
              <a:defRPr sz="3300" b="0" i="0">
                <a:solidFill>
                  <a:srgbClr val="4E3629"/>
                </a:solidFill>
                <a:latin typeface="Calibri"/>
                <a:cs typeface="Calibri"/>
              </a:defRPr>
            </a:lvl1pPr>
          </a:lstStyle>
          <a:p/>
        </p:txBody>
      </p:sp>
      <p:sp>
        <p:nvSpPr>
          <p:cNvPr id="3" name="Holder 3"/>
          <p:cNvSpPr>
            <a:spLocks noGrp="1"/>
          </p:cNvSpPr>
          <p:nvPr>
            <p:ph type="body" idx="1"/>
          </p:nvPr>
        </p:nvSpPr>
        <p:spPr>
          <a:xfrm>
            <a:off x="483552" y="1415417"/>
            <a:ext cx="8082280" cy="2576195"/>
          </a:xfrm>
          <a:prstGeom prst="rect">
            <a:avLst/>
          </a:prstGeom>
        </p:spPr>
        <p:txBody>
          <a:bodyPr wrap="square" lIns="0" tIns="0" rIns="0" bIns="0">
            <a:spAutoFit/>
          </a:bodyPr>
          <a:lstStyle>
            <a:lvl1pPr>
              <a:defRPr sz="2800" b="0" i="0">
                <a:solidFill>
                  <a:srgbClr val="4E3629"/>
                </a:solidFill>
                <a:latin typeface="Calibri"/>
                <a:cs typeface="Calibri"/>
              </a:defRPr>
            </a:lvl1pPr>
          </a:lstStyle>
          <a:p/>
        </p:txBody>
      </p:sp>
      <p:sp>
        <p:nvSpPr>
          <p:cNvPr id="4" name="Holder 4"/>
          <p:cNvSpPr>
            <a:spLocks noGrp="1"/>
          </p:cNvSpPr>
          <p:nvPr>
            <p:ph type="ftr" idx="5" sz="quarter"/>
          </p:nvPr>
        </p:nvSpPr>
        <p:spPr>
          <a:xfrm>
            <a:off x="5172119" y="6589648"/>
            <a:ext cx="3222625" cy="133984"/>
          </a:xfrm>
          <a:prstGeom prst="rect">
            <a:avLst/>
          </a:prstGeom>
        </p:spPr>
        <p:txBody>
          <a:bodyPr wrap="square" lIns="0" tIns="0" rIns="0" bIns="0">
            <a:spAutoFit/>
          </a:bodyPr>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Holder 5"/>
          <p:cNvSpPr>
            <a:spLocks noGrp="1"/>
          </p:cNvSpPr>
          <p:nvPr>
            <p:ph type="dt" idx="6" sz="half"/>
          </p:nvPr>
        </p:nvSpPr>
        <p:spPr>
          <a:xfrm>
            <a:off x="2874191" y="6449092"/>
            <a:ext cx="1253489" cy="367029"/>
          </a:xfrm>
          <a:prstGeom prst="rect">
            <a:avLst/>
          </a:prstGeom>
        </p:spPr>
        <p:txBody>
          <a:bodyPr wrap="square" lIns="0" tIns="0" rIns="0" bIns="0">
            <a:spAutoFit/>
          </a:bodyPr>
          <a:lstStyle>
            <a:lvl1pPr>
              <a:defRPr sz="850" b="0" i="0">
                <a:solidFill>
                  <a:srgbClr val="4E3629"/>
                </a:solidFill>
                <a:latin typeface="Calibri"/>
                <a:cs typeface="Calibri"/>
              </a:defRPr>
            </a:lvl1pPr>
          </a:lstStyle>
          <a:p>
            <a:pPr marL="12700">
              <a:lnSpc>
                <a:spcPts val="855"/>
              </a:lnSpc>
            </a:pPr>
            <a:r>
              <a:rPr dirty="0"/>
              <a:t>DP</a:t>
            </a:r>
            <a:r>
              <a:rPr dirty="0" spc="-10"/>
              <a:t> </a:t>
            </a:r>
            <a:r>
              <a:rPr dirty="0"/>
              <a:t>14-</a:t>
            </a:r>
            <a:r>
              <a:rPr dirty="0" spc="-50"/>
              <a:t>2</a:t>
            </a:r>
          </a:p>
          <a:p>
            <a:pPr marL="12700" marR="5080">
              <a:lnSpc>
                <a:spcPts val="919"/>
              </a:lnSpc>
              <a:spcBef>
                <a:spcPts val="60"/>
              </a:spcBef>
            </a:pPr>
            <a:r>
              <a:rPr dirty="0" spc="-10"/>
              <a:t>Restricciones</a:t>
            </a:r>
            <a:r>
              <a:rPr dirty="0" spc="55"/>
              <a:t> </a:t>
            </a:r>
            <a:r>
              <a:rPr dirty="0"/>
              <a:t>PRIMARY</a:t>
            </a:r>
            <a:r>
              <a:rPr dirty="0" spc="-30"/>
              <a:t> </a:t>
            </a:r>
            <a:r>
              <a:rPr dirty="0" spc="-20"/>
              <a:t>KEY,</a:t>
            </a:r>
            <a:r>
              <a:rPr dirty="0" spc="500"/>
              <a:t> </a:t>
            </a:r>
            <a:r>
              <a:rPr dirty="0"/>
              <a:t>FOREIGN</a:t>
            </a:r>
            <a:r>
              <a:rPr dirty="0" spc="-40"/>
              <a:t> </a:t>
            </a:r>
            <a:r>
              <a:rPr dirty="0"/>
              <a:t>KEY</a:t>
            </a:r>
            <a:r>
              <a:rPr dirty="0" spc="-20"/>
              <a:t> </a:t>
            </a:r>
            <a:r>
              <a:rPr dirty="0"/>
              <a:t>y</a:t>
            </a:r>
            <a:r>
              <a:rPr dirty="0" spc="-5"/>
              <a:t> </a:t>
            </a:r>
            <a:r>
              <a:rPr dirty="0" spc="-20"/>
              <a:t>CHECK</a:t>
            </a:r>
          </a:p>
        </p:txBody>
      </p:sp>
      <p:sp>
        <p:nvSpPr>
          <p:cNvPr id="6" name="Holder 6"/>
          <p:cNvSpPr>
            <a:spLocks noGrp="1"/>
          </p:cNvSpPr>
          <p:nvPr>
            <p:ph type="sldNum" idx="7" sz="quarter"/>
          </p:nvPr>
        </p:nvSpPr>
        <p:spPr>
          <a:xfrm>
            <a:off x="8725090" y="6567768"/>
            <a:ext cx="217170" cy="152400"/>
          </a:xfrm>
          <a:prstGeom prst="rect">
            <a:avLst/>
          </a:prstGeom>
        </p:spPr>
        <p:txBody>
          <a:bodyPr wrap="square" lIns="0" tIns="0" rIns="0" bIns="0">
            <a:spAutoFit/>
          </a:bodyPr>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1.xml"/><Relationship Id="rId6" Type="http://schemas.openxmlformats.org/officeDocument/2006/relationships/slide" Target="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slide" Target="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xml"/><Relationship Id="rId5" Type="http://schemas.openxmlformats.org/officeDocument/2006/relationships/slide" Target="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slide" Target="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slide" Target="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slide" Target="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slide" Target="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slide" Target="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1.jpg"/><Relationship Id="rId5" Type="http://schemas.openxmlformats.org/officeDocument/2006/relationships/image" Target="../media/image2.png"/><Relationship Id="rId6" Type="http://schemas.openxmlformats.org/officeDocument/2006/relationships/notesSlide" Target="../notesSlides/notesSlide9.xml"/><Relationship Id="rId7" Type="http://schemas.openxmlformats.org/officeDocument/2006/relationships/slide" Target="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0.xml"/><Relationship Id="rId5" Type="http://schemas.openxmlformats.org/officeDocument/2006/relationships/slide" Target="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slide" Target="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2.xml"/><Relationship Id="rId5" Type="http://schemas.openxmlformats.org/officeDocument/2006/relationships/slide" Target="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slide" Target="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slide" Target="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slide" Target="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slide" Target="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slide" Target="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slide" Target="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slide" Target="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slide" Target="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slide" Target="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slide" Target="slide2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0" y="0"/>
            <a:ext cx="9144000" cy="6858000"/>
            <a:chOff x="0" y="0"/>
            <a:chExt cx="9144000" cy="6858000"/>
          </a:xfrm>
        </p:grpSpPr>
        <p:pic>
          <p:nvPicPr>
            <p:cNvPr id="3" name="object 3" descr=""/>
            <p:cNvPicPr/>
            <p:nvPr/>
          </p:nvPicPr>
          <p:blipFill>
            <a:blip r:embed="rId2" cstate="print"/>
            <a:stretch>
              <a:fillRect/>
            </a:stretch>
          </p:blipFill>
          <p:spPr>
            <a:xfrm>
              <a:off x="0" y="0"/>
              <a:ext cx="9144000" cy="6858000"/>
            </a:xfrm>
            <a:prstGeom prst="rect">
              <a:avLst/>
            </a:prstGeom>
          </p:spPr>
        </p:pic>
        <p:sp>
          <p:nvSpPr>
            <p:cNvPr id="4" name="object 4" descr=""/>
            <p:cNvSpPr/>
            <p:nvPr/>
          </p:nvSpPr>
          <p:spPr>
            <a:xfrm>
              <a:off x="560831" y="702563"/>
              <a:ext cx="8022590" cy="5453380"/>
            </a:xfrm>
            <a:custGeom>
              <a:avLst/>
              <a:gdLst/>
              <a:ahLst/>
              <a:cxnLst/>
              <a:rect l="l" t="t" r="r" b="b"/>
              <a:pathLst>
                <a:path w="8022590" h="5453380">
                  <a:moveTo>
                    <a:pt x="8022335" y="0"/>
                  </a:moveTo>
                  <a:lnTo>
                    <a:pt x="0" y="0"/>
                  </a:lnTo>
                  <a:lnTo>
                    <a:pt x="0" y="5452872"/>
                  </a:lnTo>
                  <a:lnTo>
                    <a:pt x="8022335" y="5452872"/>
                  </a:lnTo>
                  <a:lnTo>
                    <a:pt x="8022335" y="0"/>
                  </a:lnTo>
                  <a:close/>
                </a:path>
              </a:pathLst>
            </a:custGeom>
            <a:solidFill>
              <a:srgbClr val="E0E2E1"/>
            </a:solidFill>
          </p:spPr>
          <p:txBody>
            <a:bodyPr wrap="square" lIns="0" tIns="0" rIns="0" bIns="0" rtlCol="0"/>
            <a:lstStyle/>
            <a:p/>
          </p:txBody>
        </p:sp>
        <p:pic>
          <p:nvPicPr>
            <p:cNvPr id="5" name="object 5" descr=""/>
            <p:cNvPicPr/>
            <p:nvPr/>
          </p:nvPicPr>
          <p:blipFill>
            <a:blip r:embed="rId3" cstate="print"/>
            <a:stretch>
              <a:fillRect/>
            </a:stretch>
          </p:blipFill>
          <p:spPr>
            <a:xfrm>
              <a:off x="970787" y="5570219"/>
              <a:ext cx="1258824" cy="420623"/>
            </a:xfrm>
            <a:prstGeom prst="rect">
              <a:avLst/>
            </a:prstGeom>
          </p:spPr>
        </p:pic>
      </p:grpSp>
      <p:sp>
        <p:nvSpPr>
          <p:cNvPr id="6" name="object 6" descr=""/>
          <p:cNvSpPr txBox="1"/>
          <p:nvPr/>
        </p:nvSpPr>
        <p:spPr>
          <a:xfrm>
            <a:off x="5057819" y="6562597"/>
            <a:ext cx="3222625" cy="155575"/>
          </a:xfrm>
          <a:prstGeom prst="rect">
            <a:avLst/>
          </a:prstGeom>
        </p:spPr>
        <p:txBody>
          <a:bodyPr wrap="square" lIns="0" tIns="12700" rIns="0" bIns="0" rtlCol="0" vert="horz">
            <a:spAutoFit/>
          </a:bodyPr>
          <a:lstStyle/>
          <a:p>
            <a:pPr marL="12700">
              <a:lnSpc>
                <a:spcPct val="100000"/>
              </a:lnSpc>
              <a:spcBef>
                <a:spcPts val="100"/>
              </a:spcBef>
            </a:pPr>
            <a:r>
              <a:rPr dirty="0" sz="850">
                <a:solidFill>
                  <a:srgbClr val="FDF0D9"/>
                </a:solidFill>
                <a:latin typeface="Calibri"/>
                <a:cs typeface="Calibri"/>
              </a:rPr>
              <a:t>Copyright</a:t>
            </a:r>
            <a:r>
              <a:rPr dirty="0" sz="850" spc="-35">
                <a:solidFill>
                  <a:srgbClr val="FDF0D9"/>
                </a:solidFill>
                <a:latin typeface="Calibri"/>
                <a:cs typeface="Calibri"/>
              </a:rPr>
              <a:t> </a:t>
            </a:r>
            <a:r>
              <a:rPr dirty="0" sz="850">
                <a:solidFill>
                  <a:srgbClr val="FDF0D9"/>
                </a:solidFill>
                <a:latin typeface="Calibri"/>
                <a:cs typeface="Calibri"/>
              </a:rPr>
              <a:t>©</a:t>
            </a:r>
            <a:r>
              <a:rPr dirty="0" sz="850" spc="-40">
                <a:solidFill>
                  <a:srgbClr val="FDF0D9"/>
                </a:solidFill>
                <a:latin typeface="Calibri"/>
                <a:cs typeface="Calibri"/>
              </a:rPr>
              <a:t> </a:t>
            </a:r>
            <a:r>
              <a:rPr dirty="0" sz="850">
                <a:solidFill>
                  <a:srgbClr val="FDF0D9"/>
                </a:solidFill>
                <a:latin typeface="Calibri"/>
                <a:cs typeface="Calibri"/>
              </a:rPr>
              <a:t>2020,</a:t>
            </a:r>
            <a:r>
              <a:rPr dirty="0" sz="850" spc="-45">
                <a:solidFill>
                  <a:srgbClr val="FDF0D9"/>
                </a:solidFill>
                <a:latin typeface="Calibri"/>
                <a:cs typeface="Calibri"/>
              </a:rPr>
              <a:t> </a:t>
            </a:r>
            <a:r>
              <a:rPr dirty="0" sz="850">
                <a:solidFill>
                  <a:srgbClr val="FDF0D9"/>
                </a:solidFill>
                <a:latin typeface="Calibri"/>
                <a:cs typeface="Calibri"/>
              </a:rPr>
              <a:t>Oracle</a:t>
            </a:r>
            <a:r>
              <a:rPr dirty="0" sz="850" spc="-30">
                <a:solidFill>
                  <a:srgbClr val="FDF0D9"/>
                </a:solidFill>
                <a:latin typeface="Calibri"/>
                <a:cs typeface="Calibri"/>
              </a:rPr>
              <a:t> </a:t>
            </a:r>
            <a:r>
              <a:rPr dirty="0" sz="850">
                <a:solidFill>
                  <a:srgbClr val="FDF0D9"/>
                </a:solidFill>
                <a:latin typeface="Calibri"/>
                <a:cs typeface="Calibri"/>
              </a:rPr>
              <a:t>y/o</a:t>
            </a:r>
            <a:r>
              <a:rPr dirty="0" sz="850" spc="-30">
                <a:solidFill>
                  <a:srgbClr val="FDF0D9"/>
                </a:solidFill>
                <a:latin typeface="Calibri"/>
                <a:cs typeface="Calibri"/>
              </a:rPr>
              <a:t> </a:t>
            </a:r>
            <a:r>
              <a:rPr dirty="0" sz="850">
                <a:solidFill>
                  <a:srgbClr val="FDF0D9"/>
                </a:solidFill>
                <a:latin typeface="Calibri"/>
                <a:cs typeface="Calibri"/>
              </a:rPr>
              <a:t>sus</a:t>
            </a:r>
            <a:r>
              <a:rPr dirty="0" sz="850" spc="-35">
                <a:solidFill>
                  <a:srgbClr val="FDF0D9"/>
                </a:solidFill>
                <a:latin typeface="Calibri"/>
                <a:cs typeface="Calibri"/>
              </a:rPr>
              <a:t> </a:t>
            </a:r>
            <a:r>
              <a:rPr dirty="0" sz="850">
                <a:solidFill>
                  <a:srgbClr val="FDF0D9"/>
                </a:solidFill>
                <a:latin typeface="Calibri"/>
                <a:cs typeface="Calibri"/>
              </a:rPr>
              <a:t>filiales.</a:t>
            </a:r>
            <a:r>
              <a:rPr dirty="0" sz="850" spc="-10">
                <a:solidFill>
                  <a:srgbClr val="FDF0D9"/>
                </a:solidFill>
                <a:latin typeface="Calibri"/>
                <a:cs typeface="Calibri"/>
              </a:rPr>
              <a:t> </a:t>
            </a:r>
            <a:r>
              <a:rPr dirty="0" sz="850">
                <a:solidFill>
                  <a:srgbClr val="FDF0D9"/>
                </a:solidFill>
                <a:latin typeface="Calibri"/>
                <a:cs typeface="Calibri"/>
              </a:rPr>
              <a:t>Todos</a:t>
            </a:r>
            <a:r>
              <a:rPr dirty="0" sz="850" spc="-35">
                <a:solidFill>
                  <a:srgbClr val="FDF0D9"/>
                </a:solidFill>
                <a:latin typeface="Calibri"/>
                <a:cs typeface="Calibri"/>
              </a:rPr>
              <a:t> </a:t>
            </a:r>
            <a:r>
              <a:rPr dirty="0" sz="850">
                <a:solidFill>
                  <a:srgbClr val="FDF0D9"/>
                </a:solidFill>
                <a:latin typeface="Calibri"/>
                <a:cs typeface="Calibri"/>
              </a:rPr>
              <a:t>los</a:t>
            </a:r>
            <a:r>
              <a:rPr dirty="0" sz="850" spc="-25">
                <a:solidFill>
                  <a:srgbClr val="FDF0D9"/>
                </a:solidFill>
                <a:latin typeface="Calibri"/>
                <a:cs typeface="Calibri"/>
              </a:rPr>
              <a:t> </a:t>
            </a:r>
            <a:r>
              <a:rPr dirty="0" sz="850">
                <a:solidFill>
                  <a:srgbClr val="FDF0D9"/>
                </a:solidFill>
                <a:latin typeface="Calibri"/>
                <a:cs typeface="Calibri"/>
              </a:rPr>
              <a:t>derechos</a:t>
            </a:r>
            <a:r>
              <a:rPr dirty="0" sz="850" spc="-5">
                <a:solidFill>
                  <a:srgbClr val="FDF0D9"/>
                </a:solidFill>
                <a:latin typeface="Calibri"/>
                <a:cs typeface="Calibri"/>
              </a:rPr>
              <a:t> </a:t>
            </a:r>
            <a:r>
              <a:rPr dirty="0" sz="850" spc="-10">
                <a:solidFill>
                  <a:srgbClr val="FDF0D9"/>
                </a:solidFill>
                <a:latin typeface="Calibri"/>
                <a:cs typeface="Calibri"/>
              </a:rPr>
              <a:t>reservados.</a:t>
            </a:r>
            <a:endParaRPr sz="850">
              <a:latin typeface="Calibri"/>
              <a:cs typeface="Calibri"/>
            </a:endParaRPr>
          </a:p>
        </p:txBody>
      </p:sp>
      <p:sp>
        <p:nvSpPr>
          <p:cNvPr id="7" name="object 7"/>
          <p:cNvSpPr txBox="1">
            <a:spLocks noGrp="1"/>
          </p:cNvSpPr>
          <p:nvPr>
            <p:ph type="title"/>
          </p:nvPr>
        </p:nvSpPr>
        <p:spPr>
          <a:xfrm>
            <a:off x="958315" y="862895"/>
            <a:ext cx="7047865" cy="1342390"/>
          </a:xfrm>
          <a:prstGeom prst="rect"/>
        </p:spPr>
        <p:txBody>
          <a:bodyPr wrap="square" lIns="0" tIns="153670" rIns="0" bIns="0" rtlCol="0" vert="horz">
            <a:spAutoFit/>
          </a:bodyPr>
          <a:lstStyle/>
          <a:p>
            <a:pPr marL="12700" marR="5080">
              <a:lnSpc>
                <a:spcPts val="4610"/>
              </a:lnSpc>
              <a:spcBef>
                <a:spcPts val="1210"/>
              </a:spcBef>
            </a:pPr>
            <a:r>
              <a:rPr dirty="0" sz="4800"/>
              <a:t>Database</a:t>
            </a:r>
            <a:r>
              <a:rPr dirty="0" sz="4800" spc="-190"/>
              <a:t> </a:t>
            </a:r>
            <a:r>
              <a:rPr dirty="0" sz="4800" spc="-20"/>
              <a:t>Programming</a:t>
            </a:r>
            <a:r>
              <a:rPr dirty="0" sz="4800" spc="-185"/>
              <a:t> </a:t>
            </a:r>
            <a:r>
              <a:rPr dirty="0" sz="4800" spc="-20"/>
              <a:t>with </a:t>
            </a:r>
            <a:r>
              <a:rPr dirty="0" sz="4800" spc="-25"/>
              <a:t>SQL</a:t>
            </a:r>
            <a:endParaRPr sz="4800"/>
          </a:p>
        </p:txBody>
      </p:sp>
      <p:sp>
        <p:nvSpPr>
          <p:cNvPr id="8" name="object 8" descr=""/>
          <p:cNvSpPr txBox="1"/>
          <p:nvPr/>
        </p:nvSpPr>
        <p:spPr>
          <a:xfrm>
            <a:off x="962879" y="2400950"/>
            <a:ext cx="6389370" cy="888365"/>
          </a:xfrm>
          <a:prstGeom prst="rect">
            <a:avLst/>
          </a:prstGeom>
        </p:spPr>
        <p:txBody>
          <a:bodyPr wrap="square" lIns="0" tIns="78105" rIns="0" bIns="0" rtlCol="0" vert="horz">
            <a:spAutoFit/>
          </a:bodyPr>
          <a:lstStyle/>
          <a:p>
            <a:pPr marL="12700">
              <a:lnSpc>
                <a:spcPct val="100000"/>
              </a:lnSpc>
              <a:spcBef>
                <a:spcPts val="615"/>
              </a:spcBef>
            </a:pPr>
            <a:r>
              <a:rPr dirty="0" sz="2400" spc="-10" b="1">
                <a:solidFill>
                  <a:srgbClr val="4E3629"/>
                </a:solidFill>
                <a:latin typeface="Calibri"/>
                <a:cs typeface="Calibri"/>
              </a:rPr>
              <a:t>14-</a:t>
            </a:r>
            <a:r>
              <a:rPr dirty="0" sz="2400" spc="-50" b="1">
                <a:solidFill>
                  <a:srgbClr val="4E3629"/>
                </a:solidFill>
                <a:latin typeface="Calibri"/>
                <a:cs typeface="Calibri"/>
              </a:rPr>
              <a:t>2</a:t>
            </a:r>
            <a:endParaRPr sz="2400">
              <a:latin typeface="Calibri"/>
              <a:cs typeface="Calibri"/>
            </a:endParaRPr>
          </a:p>
          <a:p>
            <a:pPr marL="12700">
              <a:lnSpc>
                <a:spcPct val="100000"/>
              </a:lnSpc>
              <a:spcBef>
                <a:spcPts val="515"/>
              </a:spcBef>
            </a:pPr>
            <a:r>
              <a:rPr dirty="0" sz="2400" spc="-10" b="1">
                <a:solidFill>
                  <a:srgbClr val="4E3629"/>
                </a:solidFill>
                <a:latin typeface="Calibri"/>
                <a:cs typeface="Calibri"/>
              </a:rPr>
              <a:t>Restricciones</a:t>
            </a:r>
            <a:r>
              <a:rPr dirty="0" sz="2400" spc="-70" b="1">
                <a:solidFill>
                  <a:srgbClr val="4E3629"/>
                </a:solidFill>
                <a:latin typeface="Calibri"/>
                <a:cs typeface="Calibri"/>
              </a:rPr>
              <a:t> </a:t>
            </a:r>
            <a:r>
              <a:rPr dirty="0" sz="2400" b="1">
                <a:solidFill>
                  <a:srgbClr val="4E3629"/>
                </a:solidFill>
                <a:latin typeface="Calibri"/>
                <a:cs typeface="Calibri"/>
              </a:rPr>
              <a:t>PRIMARY</a:t>
            </a:r>
            <a:r>
              <a:rPr dirty="0" sz="2400" spc="-45" b="1">
                <a:solidFill>
                  <a:srgbClr val="4E3629"/>
                </a:solidFill>
                <a:latin typeface="Calibri"/>
                <a:cs typeface="Calibri"/>
              </a:rPr>
              <a:t> </a:t>
            </a:r>
            <a:r>
              <a:rPr dirty="0" sz="2400" spc="-60" b="1">
                <a:solidFill>
                  <a:srgbClr val="4E3629"/>
                </a:solidFill>
                <a:latin typeface="Calibri"/>
                <a:cs typeface="Calibri"/>
              </a:rPr>
              <a:t>KEY,</a:t>
            </a:r>
            <a:r>
              <a:rPr dirty="0" sz="2400" spc="-40" b="1">
                <a:solidFill>
                  <a:srgbClr val="4E3629"/>
                </a:solidFill>
                <a:latin typeface="Calibri"/>
                <a:cs typeface="Calibri"/>
              </a:rPr>
              <a:t> </a:t>
            </a:r>
            <a:r>
              <a:rPr dirty="0" sz="2400" b="1">
                <a:solidFill>
                  <a:srgbClr val="4E3629"/>
                </a:solidFill>
                <a:latin typeface="Calibri"/>
                <a:cs typeface="Calibri"/>
              </a:rPr>
              <a:t>FOREIGN</a:t>
            </a:r>
            <a:r>
              <a:rPr dirty="0" sz="2400" spc="-70" b="1">
                <a:solidFill>
                  <a:srgbClr val="4E3629"/>
                </a:solidFill>
                <a:latin typeface="Calibri"/>
                <a:cs typeface="Calibri"/>
              </a:rPr>
              <a:t> </a:t>
            </a:r>
            <a:r>
              <a:rPr dirty="0" sz="2400" b="1">
                <a:solidFill>
                  <a:srgbClr val="4E3629"/>
                </a:solidFill>
                <a:latin typeface="Calibri"/>
                <a:cs typeface="Calibri"/>
              </a:rPr>
              <a:t>KEY</a:t>
            </a:r>
            <a:r>
              <a:rPr dirty="0" sz="2400" spc="-30" b="1">
                <a:solidFill>
                  <a:srgbClr val="4E3629"/>
                </a:solidFill>
                <a:latin typeface="Calibri"/>
                <a:cs typeface="Calibri"/>
              </a:rPr>
              <a:t> </a:t>
            </a:r>
            <a:r>
              <a:rPr dirty="0" sz="2400" b="1">
                <a:solidFill>
                  <a:srgbClr val="4E3629"/>
                </a:solidFill>
                <a:latin typeface="Calibri"/>
                <a:cs typeface="Calibri"/>
              </a:rPr>
              <a:t>y</a:t>
            </a:r>
            <a:r>
              <a:rPr dirty="0" sz="2400" spc="-55" b="1">
                <a:solidFill>
                  <a:srgbClr val="4E3629"/>
                </a:solidFill>
                <a:latin typeface="Calibri"/>
                <a:cs typeface="Calibri"/>
              </a:rPr>
              <a:t> </a:t>
            </a:r>
            <a:r>
              <a:rPr dirty="0" sz="2400" spc="-10" b="1">
                <a:solidFill>
                  <a:srgbClr val="4E3629"/>
                </a:solidFill>
                <a:latin typeface="Calibri"/>
                <a:cs typeface="Calibri"/>
              </a:rPr>
              <a:t>CHECK</a:t>
            </a:r>
            <a:endParaRPr sz="2400">
              <a:latin typeface="Calibri"/>
              <a:cs typeface="Calibri"/>
            </a:endParaRPr>
          </a:p>
        </p:txBody>
      </p:sp>
      <p:pic>
        <p:nvPicPr>
          <p:cNvPr id="9" name="object 9" descr=""/>
          <p:cNvPicPr/>
          <p:nvPr/>
        </p:nvPicPr>
        <p:blipFill>
          <a:blip r:embed="rId4" cstate="print"/>
          <a:stretch>
            <a:fillRect/>
          </a:stretch>
        </p:blipFill>
        <p:spPr>
          <a:xfrm>
            <a:off x="3698747" y="3485388"/>
            <a:ext cx="5058156" cy="296570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spc="-10"/>
              <a:t>Restricciones</a:t>
            </a:r>
            <a:r>
              <a:rPr dirty="0" spc="-125"/>
              <a:t> </a:t>
            </a:r>
            <a:r>
              <a:rPr dirty="0"/>
              <a:t>PRIMARY</a:t>
            </a:r>
            <a:r>
              <a:rPr dirty="0" spc="-110"/>
              <a:t> </a:t>
            </a:r>
            <a:r>
              <a:rPr dirty="0" spc="-25"/>
              <a:t>KEY</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2</a:t>
            </a:r>
          </a:p>
          <a:p>
            <a:pPr marL="12700" marR="5080">
              <a:lnSpc>
                <a:spcPts val="919"/>
              </a:lnSpc>
              <a:spcBef>
                <a:spcPts val="60"/>
              </a:spcBef>
            </a:pPr>
            <a:r>
              <a:rPr dirty="0" spc="-10"/>
              <a:t>Restricciones</a:t>
            </a:r>
            <a:r>
              <a:rPr dirty="0" spc="55"/>
              <a:t> </a:t>
            </a:r>
            <a:r>
              <a:rPr dirty="0"/>
              <a:t>PRIMARY</a:t>
            </a:r>
            <a:r>
              <a:rPr dirty="0" spc="-30"/>
              <a:t> </a:t>
            </a:r>
            <a:r>
              <a:rPr dirty="0" spc="-20"/>
              <a:t>KEY,</a:t>
            </a:r>
            <a:r>
              <a:rPr dirty="0" spc="500"/>
              <a:t> </a:t>
            </a:r>
            <a:r>
              <a:rPr dirty="0"/>
              <a:t>FOREIGN</a:t>
            </a:r>
            <a:r>
              <a:rPr dirty="0" spc="-40"/>
              <a:t> </a:t>
            </a:r>
            <a:r>
              <a:rPr dirty="0"/>
              <a:t>KEY</a:t>
            </a:r>
            <a:r>
              <a:rPr dirty="0" spc="-20"/>
              <a:t> </a:t>
            </a:r>
            <a:r>
              <a:rPr dirty="0"/>
              <a:t>y</a:t>
            </a:r>
            <a:r>
              <a:rPr dirty="0" spc="-5"/>
              <a:t> </a:t>
            </a:r>
            <a:r>
              <a:rPr dirty="0" spc="-20"/>
              <a:t>CHECK</a:t>
            </a: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5</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8136890" cy="4436110"/>
          </a:xfrm>
          <a:prstGeom prst="rect">
            <a:avLst/>
          </a:prstGeom>
        </p:spPr>
        <p:txBody>
          <a:bodyPr wrap="square" lIns="0" tIns="59690" rIns="0" bIns="0" rtlCol="0" vert="horz">
            <a:spAutoFit/>
          </a:bodyPr>
          <a:lstStyle/>
          <a:p>
            <a:pPr marL="159385" marR="60960" indent="-147320">
              <a:lnSpc>
                <a:spcPts val="3030"/>
              </a:lnSpc>
              <a:spcBef>
                <a:spcPts val="470"/>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5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restricción</a:t>
            </a:r>
            <a:r>
              <a:rPr dirty="0" u="heavy" sz="2800" spc="-1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PRIMARY</a:t>
            </a:r>
            <a:r>
              <a:rPr dirty="0" u="heavy" sz="2800" spc="-3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KEY</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es</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2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regla</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que</a:t>
            </a:r>
            <a:r>
              <a:rPr dirty="0" u="heavy" sz="2800" spc="-25">
                <a:solidFill>
                  <a:srgbClr val="4E3629"/>
                </a:solidFill>
                <a:uFill>
                  <a:solidFill>
                    <a:srgbClr val="EC2814"/>
                  </a:solidFill>
                </a:uFill>
                <a:latin typeface="Calibri"/>
                <a:cs typeface="Calibri"/>
              </a:rPr>
              <a:t> los</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valores</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columna</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o</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combinación</a:t>
            </a:r>
            <a:r>
              <a:rPr dirty="0" u="heavy" sz="2800" spc="-4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de</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columnas</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deben</a:t>
            </a:r>
            <a:r>
              <a:rPr dirty="0" u="heavy" sz="2800" spc="-5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identificar</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forma</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única</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cada</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fila</a:t>
            </a:r>
            <a:r>
              <a:rPr dirty="0" u="heavy" sz="2800" spc="-8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de</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una</a:t>
            </a:r>
            <a:r>
              <a:rPr dirty="0" u="heavy" sz="2800" spc="-2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tabla</a:t>
            </a:r>
            <a:endParaRPr sz="2800">
              <a:latin typeface="Calibri"/>
              <a:cs typeface="Calibri"/>
            </a:endParaRPr>
          </a:p>
          <a:p>
            <a:pPr marL="182880" marR="422275" indent="-170815">
              <a:lnSpc>
                <a:spcPts val="3030"/>
              </a:lnSpc>
              <a:spcBef>
                <a:spcPts val="780"/>
              </a:spcBef>
              <a:buClr>
                <a:srgbClr val="D1350F"/>
              </a:buClr>
              <a:buFont typeface="Arial MT"/>
              <a:buChar char="•"/>
              <a:tabLst>
                <a:tab pos="184785" algn="l"/>
              </a:tabLst>
            </a:pPr>
            <a:r>
              <a:rPr dirty="0" sz="2800">
                <a:solidFill>
                  <a:srgbClr val="4E3629"/>
                </a:solidFill>
                <a:latin typeface="Calibri"/>
                <a:cs typeface="Calibri"/>
              </a:rPr>
              <a:t>No</a:t>
            </a:r>
            <a:r>
              <a:rPr dirty="0" sz="2800" spc="-50">
                <a:solidFill>
                  <a:srgbClr val="4E3629"/>
                </a:solidFill>
                <a:latin typeface="Calibri"/>
                <a:cs typeface="Calibri"/>
              </a:rPr>
              <a:t> </a:t>
            </a:r>
            <a:r>
              <a:rPr dirty="0" sz="2800">
                <a:solidFill>
                  <a:srgbClr val="4E3629"/>
                </a:solidFill>
                <a:latin typeface="Calibri"/>
                <a:cs typeface="Calibri"/>
              </a:rPr>
              <a:t>puede</a:t>
            </a:r>
            <a:r>
              <a:rPr dirty="0" sz="2800" spc="-40">
                <a:solidFill>
                  <a:srgbClr val="4E3629"/>
                </a:solidFill>
                <a:latin typeface="Calibri"/>
                <a:cs typeface="Calibri"/>
              </a:rPr>
              <a:t> </a:t>
            </a:r>
            <a:r>
              <a:rPr dirty="0" sz="2800">
                <a:solidFill>
                  <a:srgbClr val="4E3629"/>
                </a:solidFill>
                <a:latin typeface="Calibri"/>
                <a:cs typeface="Calibri"/>
              </a:rPr>
              <a:t>aparece</a:t>
            </a:r>
            <a:r>
              <a:rPr dirty="0" sz="2800" spc="-60">
                <a:solidFill>
                  <a:srgbClr val="4E3629"/>
                </a:solidFill>
                <a:latin typeface="Calibri"/>
                <a:cs typeface="Calibri"/>
              </a:rPr>
              <a:t> </a:t>
            </a:r>
            <a:r>
              <a:rPr dirty="0" sz="2800">
                <a:solidFill>
                  <a:srgbClr val="4E3629"/>
                </a:solidFill>
                <a:latin typeface="Calibri"/>
                <a:cs typeface="Calibri"/>
              </a:rPr>
              <a:t>ningún</a:t>
            </a:r>
            <a:r>
              <a:rPr dirty="0" sz="2800" spc="-30">
                <a:solidFill>
                  <a:srgbClr val="4E3629"/>
                </a:solidFill>
                <a:latin typeface="Calibri"/>
                <a:cs typeface="Calibri"/>
              </a:rPr>
              <a:t> </a:t>
            </a:r>
            <a:r>
              <a:rPr dirty="0" sz="2800">
                <a:solidFill>
                  <a:srgbClr val="4E3629"/>
                </a:solidFill>
                <a:latin typeface="Calibri"/>
                <a:cs typeface="Calibri"/>
              </a:rPr>
              <a:t>valor</a:t>
            </a:r>
            <a:r>
              <a:rPr dirty="0" sz="2800" spc="-7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clave</a:t>
            </a:r>
            <a:r>
              <a:rPr dirty="0" sz="2800" spc="-60">
                <a:solidFill>
                  <a:srgbClr val="4E3629"/>
                </a:solidFill>
                <a:latin typeface="Calibri"/>
                <a:cs typeface="Calibri"/>
              </a:rPr>
              <a:t> </a:t>
            </a:r>
            <a:r>
              <a:rPr dirty="0" sz="2800">
                <a:solidFill>
                  <a:srgbClr val="4E3629"/>
                </a:solidFill>
                <a:latin typeface="Calibri"/>
                <a:cs typeface="Calibri"/>
              </a:rPr>
              <a:t>primaria</a:t>
            </a:r>
            <a:r>
              <a:rPr dirty="0" sz="2800" spc="-40">
                <a:solidFill>
                  <a:srgbClr val="4E3629"/>
                </a:solidFill>
                <a:latin typeface="Calibri"/>
                <a:cs typeface="Calibri"/>
              </a:rPr>
              <a:t> </a:t>
            </a:r>
            <a:r>
              <a:rPr dirty="0" sz="2800" spc="-25">
                <a:solidFill>
                  <a:srgbClr val="4E3629"/>
                </a:solidFill>
                <a:latin typeface="Calibri"/>
                <a:cs typeface="Calibri"/>
              </a:rPr>
              <a:t>en </a:t>
            </a:r>
            <a:r>
              <a:rPr dirty="0" sz="2800" spc="-25">
                <a:solidFill>
                  <a:srgbClr val="4E3629"/>
                </a:solidFill>
                <a:latin typeface="Calibri"/>
                <a:cs typeface="Calibri"/>
              </a:rPr>
              <a:t>	</a:t>
            </a:r>
            <a:r>
              <a:rPr dirty="0" sz="2800">
                <a:solidFill>
                  <a:srgbClr val="4E3629"/>
                </a:solidFill>
                <a:latin typeface="Calibri"/>
                <a:cs typeface="Calibri"/>
              </a:rPr>
              <a:t>más</a:t>
            </a:r>
            <a:r>
              <a:rPr dirty="0" sz="2800" spc="-25">
                <a:solidFill>
                  <a:srgbClr val="4E3629"/>
                </a:solidFill>
                <a:latin typeface="Calibri"/>
                <a:cs typeface="Calibri"/>
              </a:rPr>
              <a:t> </a:t>
            </a:r>
            <a:r>
              <a:rPr dirty="0" sz="2800">
                <a:solidFill>
                  <a:srgbClr val="4E3629"/>
                </a:solidFill>
                <a:latin typeface="Calibri"/>
                <a:cs typeface="Calibri"/>
              </a:rPr>
              <a:t>de</a:t>
            </a:r>
            <a:r>
              <a:rPr dirty="0" sz="2800" spc="-30">
                <a:solidFill>
                  <a:srgbClr val="4E3629"/>
                </a:solidFill>
                <a:latin typeface="Calibri"/>
                <a:cs typeface="Calibri"/>
              </a:rPr>
              <a:t> </a:t>
            </a:r>
            <a:r>
              <a:rPr dirty="0" sz="2800">
                <a:solidFill>
                  <a:srgbClr val="4E3629"/>
                </a:solidFill>
                <a:latin typeface="Calibri"/>
                <a:cs typeface="Calibri"/>
              </a:rPr>
              <a:t>una fila</a:t>
            </a:r>
            <a:r>
              <a:rPr dirty="0" sz="2800" spc="-35">
                <a:solidFill>
                  <a:srgbClr val="4E3629"/>
                </a:solidFill>
                <a:latin typeface="Calibri"/>
                <a:cs typeface="Calibri"/>
              </a:rPr>
              <a:t> </a:t>
            </a:r>
            <a:r>
              <a:rPr dirty="0" sz="2800">
                <a:solidFill>
                  <a:srgbClr val="4E3629"/>
                </a:solidFill>
                <a:latin typeface="Calibri"/>
                <a:cs typeface="Calibri"/>
              </a:rPr>
              <a:t>de</a:t>
            </a:r>
            <a:r>
              <a:rPr dirty="0" sz="2800" spc="-20">
                <a:solidFill>
                  <a:srgbClr val="4E3629"/>
                </a:solidFill>
                <a:latin typeface="Calibri"/>
                <a:cs typeface="Calibri"/>
              </a:rPr>
              <a:t> </a:t>
            </a:r>
            <a:r>
              <a:rPr dirty="0" sz="2800">
                <a:solidFill>
                  <a:srgbClr val="4E3629"/>
                </a:solidFill>
                <a:latin typeface="Calibri"/>
                <a:cs typeface="Calibri"/>
              </a:rPr>
              <a:t>la</a:t>
            </a:r>
            <a:r>
              <a:rPr dirty="0" sz="2800" spc="-30">
                <a:solidFill>
                  <a:srgbClr val="4E3629"/>
                </a:solidFill>
                <a:latin typeface="Calibri"/>
                <a:cs typeface="Calibri"/>
              </a:rPr>
              <a:t> </a:t>
            </a:r>
            <a:r>
              <a:rPr dirty="0" sz="2800" spc="-10">
                <a:solidFill>
                  <a:srgbClr val="4E3629"/>
                </a:solidFill>
                <a:latin typeface="Calibri"/>
                <a:cs typeface="Calibri"/>
              </a:rPr>
              <a:t>tabla</a:t>
            </a:r>
            <a:endParaRPr sz="2800">
              <a:latin typeface="Calibri"/>
              <a:cs typeface="Calibri"/>
            </a:endParaRPr>
          </a:p>
          <a:p>
            <a:pPr marL="182880" marR="777875" indent="-170815">
              <a:lnSpc>
                <a:spcPts val="3030"/>
              </a:lnSpc>
              <a:spcBef>
                <a:spcPts val="795"/>
              </a:spcBef>
              <a:buClr>
                <a:srgbClr val="D1350F"/>
              </a:buClr>
              <a:buFont typeface="Arial MT"/>
              <a:buChar char="•"/>
              <a:tabLst>
                <a:tab pos="184785" algn="l"/>
              </a:tabLst>
            </a:pPr>
            <a:r>
              <a:rPr dirty="0" sz="2800" spc="-10">
                <a:solidFill>
                  <a:srgbClr val="4E3629"/>
                </a:solidFill>
                <a:latin typeface="Calibri"/>
                <a:cs typeface="Calibri"/>
              </a:rPr>
              <a:t>Para</a:t>
            </a:r>
            <a:r>
              <a:rPr dirty="0" sz="2800" spc="-80">
                <a:solidFill>
                  <a:srgbClr val="4E3629"/>
                </a:solidFill>
                <a:latin typeface="Calibri"/>
                <a:cs typeface="Calibri"/>
              </a:rPr>
              <a:t> </a:t>
            </a:r>
            <a:r>
              <a:rPr dirty="0" sz="2800">
                <a:solidFill>
                  <a:srgbClr val="4E3629"/>
                </a:solidFill>
                <a:latin typeface="Calibri"/>
                <a:cs typeface="Calibri"/>
              </a:rPr>
              <a:t>cumplir</a:t>
            </a:r>
            <a:r>
              <a:rPr dirty="0" sz="2800" spc="-55">
                <a:solidFill>
                  <a:srgbClr val="4E3629"/>
                </a:solidFill>
                <a:latin typeface="Calibri"/>
                <a:cs typeface="Calibri"/>
              </a:rPr>
              <a:t> </a:t>
            </a:r>
            <a:r>
              <a:rPr dirty="0" sz="2800">
                <a:solidFill>
                  <a:srgbClr val="4E3629"/>
                </a:solidFill>
                <a:latin typeface="Calibri"/>
                <a:cs typeface="Calibri"/>
              </a:rPr>
              <a:t>una</a:t>
            </a:r>
            <a:r>
              <a:rPr dirty="0" sz="2800" spc="-55">
                <a:solidFill>
                  <a:srgbClr val="4E3629"/>
                </a:solidFill>
                <a:latin typeface="Calibri"/>
                <a:cs typeface="Calibri"/>
              </a:rPr>
              <a:t> </a:t>
            </a:r>
            <a:r>
              <a:rPr dirty="0" sz="2800" spc="-10">
                <a:solidFill>
                  <a:srgbClr val="4E3629"/>
                </a:solidFill>
                <a:latin typeface="Calibri"/>
                <a:cs typeface="Calibri"/>
              </a:rPr>
              <a:t>restricción</a:t>
            </a:r>
            <a:r>
              <a:rPr dirty="0" sz="2800" spc="-70">
                <a:solidFill>
                  <a:srgbClr val="4E3629"/>
                </a:solidFill>
                <a:latin typeface="Calibri"/>
                <a:cs typeface="Calibri"/>
              </a:rPr>
              <a:t> </a:t>
            </a:r>
            <a:r>
              <a:rPr dirty="0" sz="2800">
                <a:solidFill>
                  <a:srgbClr val="4E3629"/>
                </a:solidFill>
                <a:latin typeface="Calibri"/>
                <a:cs typeface="Calibri"/>
              </a:rPr>
              <a:t>PRIMARY</a:t>
            </a:r>
            <a:r>
              <a:rPr dirty="0" sz="2800" spc="-65">
                <a:solidFill>
                  <a:srgbClr val="4E3629"/>
                </a:solidFill>
                <a:latin typeface="Calibri"/>
                <a:cs typeface="Calibri"/>
              </a:rPr>
              <a:t> </a:t>
            </a:r>
            <a:r>
              <a:rPr dirty="0" sz="2800" spc="-70">
                <a:solidFill>
                  <a:srgbClr val="4E3629"/>
                </a:solidFill>
                <a:latin typeface="Calibri"/>
                <a:cs typeface="Calibri"/>
              </a:rPr>
              <a:t>KEY,</a:t>
            </a:r>
            <a:r>
              <a:rPr dirty="0" sz="2800" spc="-85">
                <a:solidFill>
                  <a:srgbClr val="4E3629"/>
                </a:solidFill>
                <a:latin typeface="Calibri"/>
                <a:cs typeface="Calibri"/>
              </a:rPr>
              <a:t> </a:t>
            </a:r>
            <a:r>
              <a:rPr dirty="0" sz="2800">
                <a:solidFill>
                  <a:srgbClr val="4E3629"/>
                </a:solidFill>
                <a:latin typeface="Calibri"/>
                <a:cs typeface="Calibri"/>
              </a:rPr>
              <a:t>las</a:t>
            </a:r>
            <a:r>
              <a:rPr dirty="0" sz="2800" spc="-90">
                <a:solidFill>
                  <a:srgbClr val="4E3629"/>
                </a:solidFill>
                <a:latin typeface="Calibri"/>
                <a:cs typeface="Calibri"/>
              </a:rPr>
              <a:t> </a:t>
            </a:r>
            <a:r>
              <a:rPr dirty="0" sz="2800" spc="-25">
                <a:solidFill>
                  <a:srgbClr val="4E3629"/>
                </a:solidFill>
                <a:latin typeface="Calibri"/>
                <a:cs typeface="Calibri"/>
              </a:rPr>
              <a:t>dos </a:t>
            </a:r>
            <a:r>
              <a:rPr dirty="0" sz="2800" spc="-25">
                <a:solidFill>
                  <a:srgbClr val="4E3629"/>
                </a:solidFill>
                <a:latin typeface="Calibri"/>
                <a:cs typeface="Calibri"/>
              </a:rPr>
              <a:t>	</a:t>
            </a:r>
            <a:r>
              <a:rPr dirty="0" sz="2800">
                <a:solidFill>
                  <a:srgbClr val="4E3629"/>
                </a:solidFill>
                <a:latin typeface="Calibri"/>
                <a:cs typeface="Calibri"/>
              </a:rPr>
              <a:t>condiciones</a:t>
            </a:r>
            <a:r>
              <a:rPr dirty="0" sz="2800" spc="-75">
                <a:solidFill>
                  <a:srgbClr val="4E3629"/>
                </a:solidFill>
                <a:latin typeface="Calibri"/>
                <a:cs typeface="Calibri"/>
              </a:rPr>
              <a:t> </a:t>
            </a:r>
            <a:r>
              <a:rPr dirty="0" sz="2800">
                <a:solidFill>
                  <a:srgbClr val="4E3629"/>
                </a:solidFill>
                <a:latin typeface="Calibri"/>
                <a:cs typeface="Calibri"/>
              </a:rPr>
              <a:t>siguientes</a:t>
            </a:r>
            <a:r>
              <a:rPr dirty="0" sz="2800" spc="-75">
                <a:solidFill>
                  <a:srgbClr val="4E3629"/>
                </a:solidFill>
                <a:latin typeface="Calibri"/>
                <a:cs typeface="Calibri"/>
              </a:rPr>
              <a:t> </a:t>
            </a:r>
            <a:r>
              <a:rPr dirty="0" sz="2800">
                <a:solidFill>
                  <a:srgbClr val="4E3629"/>
                </a:solidFill>
                <a:latin typeface="Calibri"/>
                <a:cs typeface="Calibri"/>
              </a:rPr>
              <a:t>deben</a:t>
            </a:r>
            <a:r>
              <a:rPr dirty="0" sz="2800" spc="-85">
                <a:solidFill>
                  <a:srgbClr val="4E3629"/>
                </a:solidFill>
                <a:latin typeface="Calibri"/>
                <a:cs typeface="Calibri"/>
              </a:rPr>
              <a:t> </a:t>
            </a:r>
            <a:r>
              <a:rPr dirty="0" sz="2800">
                <a:solidFill>
                  <a:srgbClr val="4E3629"/>
                </a:solidFill>
                <a:latin typeface="Calibri"/>
                <a:cs typeface="Calibri"/>
              </a:rPr>
              <a:t>ser</a:t>
            </a:r>
            <a:r>
              <a:rPr dirty="0" sz="2800" spc="-90">
                <a:solidFill>
                  <a:srgbClr val="4E3629"/>
                </a:solidFill>
                <a:latin typeface="Calibri"/>
                <a:cs typeface="Calibri"/>
              </a:rPr>
              <a:t> </a:t>
            </a:r>
            <a:r>
              <a:rPr dirty="0" sz="2800" spc="-10">
                <a:solidFill>
                  <a:srgbClr val="4E3629"/>
                </a:solidFill>
                <a:latin typeface="Calibri"/>
                <a:cs typeface="Calibri"/>
              </a:rPr>
              <a:t>verdaderas:</a:t>
            </a:r>
            <a:endParaRPr sz="2800">
              <a:latin typeface="Calibri"/>
              <a:cs typeface="Calibri"/>
            </a:endParaRPr>
          </a:p>
          <a:p>
            <a:pPr marL="530860" marR="5080" indent="-175260">
              <a:lnSpc>
                <a:spcPts val="2590"/>
              </a:lnSpc>
              <a:spcBef>
                <a:spcPts val="409"/>
              </a:spcBef>
            </a:pPr>
            <a:r>
              <a:rPr dirty="0" sz="2400">
                <a:solidFill>
                  <a:srgbClr val="D1350F"/>
                </a:solidFill>
                <a:latin typeface="Calibri"/>
                <a:cs typeface="Calibri"/>
              </a:rPr>
              <a:t>−</a:t>
            </a:r>
            <a:r>
              <a:rPr dirty="0" u="heavy" sz="2400">
                <a:solidFill>
                  <a:srgbClr val="4E3629"/>
                </a:solidFill>
                <a:uFill>
                  <a:solidFill>
                    <a:srgbClr val="EC2814"/>
                  </a:solidFill>
                </a:uFill>
                <a:latin typeface="Calibri"/>
                <a:cs typeface="Calibri"/>
              </a:rPr>
              <a:t>Ninguna</a:t>
            </a:r>
            <a:r>
              <a:rPr dirty="0" u="heavy" sz="2400" spc="-45">
                <a:solidFill>
                  <a:srgbClr val="4E3629"/>
                </a:solidFill>
                <a:uFill>
                  <a:solidFill>
                    <a:srgbClr val="EC2814"/>
                  </a:solidFill>
                </a:uFill>
                <a:latin typeface="Calibri"/>
                <a:cs typeface="Calibri"/>
              </a:rPr>
              <a:t> </a:t>
            </a:r>
            <a:r>
              <a:rPr dirty="0" u="heavy" sz="2400">
                <a:solidFill>
                  <a:srgbClr val="4E3629"/>
                </a:solidFill>
                <a:uFill>
                  <a:solidFill>
                    <a:srgbClr val="EC2814"/>
                  </a:solidFill>
                </a:uFill>
                <a:latin typeface="Calibri"/>
                <a:cs typeface="Calibri"/>
              </a:rPr>
              <a:t>columna</a:t>
            </a:r>
            <a:r>
              <a:rPr dirty="0" u="heavy" sz="2400" spc="-50">
                <a:solidFill>
                  <a:srgbClr val="4E3629"/>
                </a:solidFill>
                <a:uFill>
                  <a:solidFill>
                    <a:srgbClr val="EC2814"/>
                  </a:solidFill>
                </a:uFill>
                <a:latin typeface="Calibri"/>
                <a:cs typeface="Calibri"/>
              </a:rPr>
              <a:t> </a:t>
            </a:r>
            <a:r>
              <a:rPr dirty="0" u="heavy" sz="2400">
                <a:solidFill>
                  <a:srgbClr val="4E3629"/>
                </a:solidFill>
                <a:uFill>
                  <a:solidFill>
                    <a:srgbClr val="EC2814"/>
                  </a:solidFill>
                </a:uFill>
                <a:latin typeface="Calibri"/>
                <a:cs typeface="Calibri"/>
              </a:rPr>
              <a:t>que</a:t>
            </a:r>
            <a:r>
              <a:rPr dirty="0" u="heavy" sz="2400" spc="-35">
                <a:solidFill>
                  <a:srgbClr val="4E3629"/>
                </a:solidFill>
                <a:uFill>
                  <a:solidFill>
                    <a:srgbClr val="EC2814"/>
                  </a:solidFill>
                </a:uFill>
                <a:latin typeface="Calibri"/>
                <a:cs typeface="Calibri"/>
              </a:rPr>
              <a:t> </a:t>
            </a:r>
            <a:r>
              <a:rPr dirty="0" u="heavy" sz="2400">
                <a:solidFill>
                  <a:srgbClr val="4E3629"/>
                </a:solidFill>
                <a:uFill>
                  <a:solidFill>
                    <a:srgbClr val="EC2814"/>
                  </a:solidFill>
                </a:uFill>
                <a:latin typeface="Calibri"/>
                <a:cs typeface="Calibri"/>
              </a:rPr>
              <a:t>forme</a:t>
            </a:r>
            <a:r>
              <a:rPr dirty="0" u="heavy" sz="2400" spc="-40">
                <a:solidFill>
                  <a:srgbClr val="4E3629"/>
                </a:solidFill>
                <a:uFill>
                  <a:solidFill>
                    <a:srgbClr val="EC2814"/>
                  </a:solidFill>
                </a:uFill>
                <a:latin typeface="Calibri"/>
                <a:cs typeface="Calibri"/>
              </a:rPr>
              <a:t> </a:t>
            </a:r>
            <a:r>
              <a:rPr dirty="0" u="heavy" sz="2400">
                <a:solidFill>
                  <a:srgbClr val="4E3629"/>
                </a:solidFill>
                <a:uFill>
                  <a:solidFill>
                    <a:srgbClr val="EC2814"/>
                  </a:solidFill>
                </a:uFill>
                <a:latin typeface="Calibri"/>
                <a:cs typeface="Calibri"/>
              </a:rPr>
              <a:t>parte</a:t>
            </a:r>
            <a:r>
              <a:rPr dirty="0" u="heavy" sz="2400" spc="-45">
                <a:solidFill>
                  <a:srgbClr val="4E3629"/>
                </a:solidFill>
                <a:uFill>
                  <a:solidFill>
                    <a:srgbClr val="EC2814"/>
                  </a:solidFill>
                </a:uFill>
                <a:latin typeface="Calibri"/>
                <a:cs typeface="Calibri"/>
              </a:rPr>
              <a:t> </a:t>
            </a:r>
            <a:r>
              <a:rPr dirty="0" u="heavy" sz="2400">
                <a:solidFill>
                  <a:srgbClr val="4E3629"/>
                </a:solidFill>
                <a:uFill>
                  <a:solidFill>
                    <a:srgbClr val="EC2814"/>
                  </a:solidFill>
                </a:uFill>
                <a:latin typeface="Calibri"/>
                <a:cs typeface="Calibri"/>
              </a:rPr>
              <a:t>de</a:t>
            </a:r>
            <a:r>
              <a:rPr dirty="0" u="heavy" sz="2400" spc="-35">
                <a:solidFill>
                  <a:srgbClr val="4E3629"/>
                </a:solidFill>
                <a:uFill>
                  <a:solidFill>
                    <a:srgbClr val="EC2814"/>
                  </a:solidFill>
                </a:uFill>
                <a:latin typeface="Calibri"/>
                <a:cs typeface="Calibri"/>
              </a:rPr>
              <a:t> </a:t>
            </a:r>
            <a:r>
              <a:rPr dirty="0" u="heavy" sz="2400">
                <a:solidFill>
                  <a:srgbClr val="4E3629"/>
                </a:solidFill>
                <a:uFill>
                  <a:solidFill>
                    <a:srgbClr val="EC2814"/>
                  </a:solidFill>
                </a:uFill>
                <a:latin typeface="Calibri"/>
                <a:cs typeface="Calibri"/>
              </a:rPr>
              <a:t>la</a:t>
            </a:r>
            <a:r>
              <a:rPr dirty="0" u="heavy" sz="2400" spc="-50">
                <a:solidFill>
                  <a:srgbClr val="4E3629"/>
                </a:solidFill>
                <a:uFill>
                  <a:solidFill>
                    <a:srgbClr val="EC2814"/>
                  </a:solidFill>
                </a:uFill>
                <a:latin typeface="Calibri"/>
                <a:cs typeface="Calibri"/>
              </a:rPr>
              <a:t> </a:t>
            </a:r>
            <a:r>
              <a:rPr dirty="0" u="heavy" sz="2400">
                <a:solidFill>
                  <a:srgbClr val="4E3629"/>
                </a:solidFill>
                <a:uFill>
                  <a:solidFill>
                    <a:srgbClr val="EC2814"/>
                  </a:solidFill>
                </a:uFill>
                <a:latin typeface="Calibri"/>
                <a:cs typeface="Calibri"/>
              </a:rPr>
              <a:t>clave</a:t>
            </a:r>
            <a:r>
              <a:rPr dirty="0" u="heavy" sz="2400" spc="-40">
                <a:solidFill>
                  <a:srgbClr val="4E3629"/>
                </a:solidFill>
                <a:uFill>
                  <a:solidFill>
                    <a:srgbClr val="EC2814"/>
                  </a:solidFill>
                </a:uFill>
                <a:latin typeface="Calibri"/>
                <a:cs typeface="Calibri"/>
              </a:rPr>
              <a:t> </a:t>
            </a:r>
            <a:r>
              <a:rPr dirty="0" u="heavy" sz="2400">
                <a:solidFill>
                  <a:srgbClr val="4E3629"/>
                </a:solidFill>
                <a:uFill>
                  <a:solidFill>
                    <a:srgbClr val="EC2814"/>
                  </a:solidFill>
                </a:uFill>
                <a:latin typeface="Calibri"/>
                <a:cs typeface="Calibri"/>
              </a:rPr>
              <a:t>primaria</a:t>
            </a:r>
            <a:r>
              <a:rPr dirty="0" u="heavy" sz="2400" spc="-60">
                <a:solidFill>
                  <a:srgbClr val="4E3629"/>
                </a:solidFill>
                <a:uFill>
                  <a:solidFill>
                    <a:srgbClr val="EC2814"/>
                  </a:solidFill>
                </a:uFill>
                <a:latin typeface="Calibri"/>
                <a:cs typeface="Calibri"/>
              </a:rPr>
              <a:t> </a:t>
            </a:r>
            <a:r>
              <a:rPr dirty="0" u="heavy" sz="2400" spc="-10">
                <a:solidFill>
                  <a:srgbClr val="4E3629"/>
                </a:solidFill>
                <a:uFill>
                  <a:solidFill>
                    <a:srgbClr val="EC2814"/>
                  </a:solidFill>
                </a:uFill>
                <a:latin typeface="Calibri"/>
                <a:cs typeface="Calibri"/>
              </a:rPr>
              <a:t>puede</a:t>
            </a:r>
            <a:r>
              <a:rPr dirty="0" sz="2400" spc="-10">
                <a:solidFill>
                  <a:srgbClr val="4E3629"/>
                </a:solidFill>
                <a:latin typeface="Calibri"/>
                <a:cs typeface="Calibri"/>
              </a:rPr>
              <a:t> </a:t>
            </a:r>
            <a:r>
              <a:rPr dirty="0" u="heavy" sz="2400">
                <a:solidFill>
                  <a:srgbClr val="4E3629"/>
                </a:solidFill>
                <a:uFill>
                  <a:solidFill>
                    <a:srgbClr val="EC2814"/>
                  </a:solidFill>
                </a:uFill>
                <a:latin typeface="Calibri"/>
                <a:cs typeface="Calibri"/>
              </a:rPr>
              <a:t>contener</a:t>
            </a:r>
            <a:r>
              <a:rPr dirty="0" u="heavy" sz="2400" spc="-80">
                <a:solidFill>
                  <a:srgbClr val="4E3629"/>
                </a:solidFill>
                <a:uFill>
                  <a:solidFill>
                    <a:srgbClr val="EC2814"/>
                  </a:solidFill>
                </a:uFill>
                <a:latin typeface="Calibri"/>
                <a:cs typeface="Calibri"/>
              </a:rPr>
              <a:t> </a:t>
            </a:r>
            <a:r>
              <a:rPr dirty="0" u="heavy" sz="2400">
                <a:solidFill>
                  <a:srgbClr val="4E3629"/>
                </a:solidFill>
                <a:uFill>
                  <a:solidFill>
                    <a:srgbClr val="EC2814"/>
                  </a:solidFill>
                </a:uFill>
                <a:latin typeface="Calibri"/>
                <a:cs typeface="Calibri"/>
              </a:rPr>
              <a:t>un</a:t>
            </a:r>
            <a:r>
              <a:rPr dirty="0" u="heavy" sz="2400" spc="-85">
                <a:solidFill>
                  <a:srgbClr val="4E3629"/>
                </a:solidFill>
                <a:uFill>
                  <a:solidFill>
                    <a:srgbClr val="EC2814"/>
                  </a:solidFill>
                </a:uFill>
                <a:latin typeface="Calibri"/>
                <a:cs typeface="Calibri"/>
              </a:rPr>
              <a:t> </a:t>
            </a:r>
            <a:r>
              <a:rPr dirty="0" u="heavy" sz="2400">
                <a:solidFill>
                  <a:srgbClr val="4E3629"/>
                </a:solidFill>
                <a:uFill>
                  <a:solidFill>
                    <a:srgbClr val="EC2814"/>
                  </a:solidFill>
                </a:uFill>
                <a:latin typeface="Calibri"/>
                <a:cs typeface="Calibri"/>
              </a:rPr>
              <a:t>valor</a:t>
            </a:r>
            <a:r>
              <a:rPr dirty="0" u="heavy" sz="2400" spc="-80">
                <a:solidFill>
                  <a:srgbClr val="4E3629"/>
                </a:solidFill>
                <a:uFill>
                  <a:solidFill>
                    <a:srgbClr val="EC2814"/>
                  </a:solidFill>
                </a:uFill>
                <a:latin typeface="Calibri"/>
                <a:cs typeface="Calibri"/>
              </a:rPr>
              <a:t> </a:t>
            </a:r>
            <a:r>
              <a:rPr dirty="0" u="heavy" sz="2400" spc="-20">
                <a:solidFill>
                  <a:srgbClr val="4E3629"/>
                </a:solidFill>
                <a:uFill>
                  <a:solidFill>
                    <a:srgbClr val="EC2814"/>
                  </a:solidFill>
                </a:uFill>
                <a:latin typeface="Calibri"/>
                <a:cs typeface="Calibri"/>
              </a:rPr>
              <a:t>nulo</a:t>
            </a:r>
            <a:endParaRPr sz="2400">
              <a:latin typeface="Calibri"/>
              <a:cs typeface="Calibri"/>
            </a:endParaRPr>
          </a:p>
          <a:p>
            <a:pPr marL="355600">
              <a:lnSpc>
                <a:spcPct val="100000"/>
              </a:lnSpc>
              <a:spcBef>
                <a:spcPts val="70"/>
              </a:spcBef>
            </a:pPr>
            <a:r>
              <a:rPr dirty="0" sz="2400">
                <a:solidFill>
                  <a:srgbClr val="D1350F"/>
                </a:solidFill>
                <a:latin typeface="Calibri"/>
                <a:cs typeface="Calibri"/>
              </a:rPr>
              <a:t>−</a:t>
            </a:r>
            <a:r>
              <a:rPr dirty="0" u="heavy" sz="2400">
                <a:solidFill>
                  <a:srgbClr val="4E3629"/>
                </a:solidFill>
                <a:uFill>
                  <a:solidFill>
                    <a:srgbClr val="EC2814"/>
                  </a:solidFill>
                </a:uFill>
                <a:latin typeface="Calibri"/>
                <a:cs typeface="Calibri"/>
              </a:rPr>
              <a:t>Una</a:t>
            </a:r>
            <a:r>
              <a:rPr dirty="0" u="heavy" sz="2400" spc="-35">
                <a:solidFill>
                  <a:srgbClr val="4E3629"/>
                </a:solidFill>
                <a:uFill>
                  <a:solidFill>
                    <a:srgbClr val="EC2814"/>
                  </a:solidFill>
                </a:uFill>
                <a:latin typeface="Calibri"/>
                <a:cs typeface="Calibri"/>
              </a:rPr>
              <a:t> </a:t>
            </a:r>
            <a:r>
              <a:rPr dirty="0" u="heavy" sz="2400">
                <a:solidFill>
                  <a:srgbClr val="4E3629"/>
                </a:solidFill>
                <a:uFill>
                  <a:solidFill>
                    <a:srgbClr val="EC2814"/>
                  </a:solidFill>
                </a:uFill>
                <a:latin typeface="Calibri"/>
                <a:cs typeface="Calibri"/>
              </a:rPr>
              <a:t>tabla</a:t>
            </a:r>
            <a:r>
              <a:rPr dirty="0" u="heavy" sz="2400" spc="-45">
                <a:solidFill>
                  <a:srgbClr val="4E3629"/>
                </a:solidFill>
                <a:uFill>
                  <a:solidFill>
                    <a:srgbClr val="EC2814"/>
                  </a:solidFill>
                </a:uFill>
                <a:latin typeface="Calibri"/>
                <a:cs typeface="Calibri"/>
              </a:rPr>
              <a:t> </a:t>
            </a:r>
            <a:r>
              <a:rPr dirty="0" u="heavy" sz="2400">
                <a:solidFill>
                  <a:srgbClr val="4E3629"/>
                </a:solidFill>
                <a:uFill>
                  <a:solidFill>
                    <a:srgbClr val="EC2814"/>
                  </a:solidFill>
                </a:uFill>
                <a:latin typeface="Calibri"/>
                <a:cs typeface="Calibri"/>
              </a:rPr>
              <a:t>solo</a:t>
            </a:r>
            <a:r>
              <a:rPr dirty="0" u="heavy" sz="2400" spc="-35">
                <a:solidFill>
                  <a:srgbClr val="4E3629"/>
                </a:solidFill>
                <a:uFill>
                  <a:solidFill>
                    <a:srgbClr val="EC2814"/>
                  </a:solidFill>
                </a:uFill>
                <a:latin typeface="Calibri"/>
                <a:cs typeface="Calibri"/>
              </a:rPr>
              <a:t> </a:t>
            </a:r>
            <a:r>
              <a:rPr dirty="0" u="heavy" sz="2400">
                <a:solidFill>
                  <a:srgbClr val="4E3629"/>
                </a:solidFill>
                <a:uFill>
                  <a:solidFill>
                    <a:srgbClr val="EC2814"/>
                  </a:solidFill>
                </a:uFill>
                <a:latin typeface="Calibri"/>
                <a:cs typeface="Calibri"/>
              </a:rPr>
              <a:t>puede</a:t>
            </a:r>
            <a:r>
              <a:rPr dirty="0" u="heavy" sz="2400" spc="-30">
                <a:solidFill>
                  <a:srgbClr val="4E3629"/>
                </a:solidFill>
                <a:uFill>
                  <a:solidFill>
                    <a:srgbClr val="EC2814"/>
                  </a:solidFill>
                </a:uFill>
                <a:latin typeface="Calibri"/>
                <a:cs typeface="Calibri"/>
              </a:rPr>
              <a:t> </a:t>
            </a:r>
            <a:r>
              <a:rPr dirty="0" u="heavy" sz="2400">
                <a:solidFill>
                  <a:srgbClr val="4E3629"/>
                </a:solidFill>
                <a:uFill>
                  <a:solidFill>
                    <a:srgbClr val="EC2814"/>
                  </a:solidFill>
                </a:uFill>
                <a:latin typeface="Calibri"/>
                <a:cs typeface="Calibri"/>
              </a:rPr>
              <a:t>tener</a:t>
            </a:r>
            <a:r>
              <a:rPr dirty="0" u="heavy" sz="2400" spc="-25">
                <a:solidFill>
                  <a:srgbClr val="4E3629"/>
                </a:solidFill>
                <a:uFill>
                  <a:solidFill>
                    <a:srgbClr val="EC2814"/>
                  </a:solidFill>
                </a:uFill>
                <a:latin typeface="Calibri"/>
                <a:cs typeface="Calibri"/>
              </a:rPr>
              <a:t> </a:t>
            </a:r>
            <a:r>
              <a:rPr dirty="0" u="heavy" sz="2400">
                <a:solidFill>
                  <a:srgbClr val="4E3629"/>
                </a:solidFill>
                <a:uFill>
                  <a:solidFill>
                    <a:srgbClr val="EC2814"/>
                  </a:solidFill>
                </a:uFill>
                <a:latin typeface="Calibri"/>
                <a:cs typeface="Calibri"/>
              </a:rPr>
              <a:t>una</a:t>
            </a:r>
            <a:r>
              <a:rPr dirty="0" u="heavy" sz="2400" spc="-35">
                <a:solidFill>
                  <a:srgbClr val="4E3629"/>
                </a:solidFill>
                <a:uFill>
                  <a:solidFill>
                    <a:srgbClr val="EC2814"/>
                  </a:solidFill>
                </a:uFill>
                <a:latin typeface="Calibri"/>
                <a:cs typeface="Calibri"/>
              </a:rPr>
              <a:t> </a:t>
            </a:r>
            <a:r>
              <a:rPr dirty="0" u="heavy" sz="2400">
                <a:solidFill>
                  <a:srgbClr val="4E3629"/>
                </a:solidFill>
                <a:uFill>
                  <a:solidFill>
                    <a:srgbClr val="EC2814"/>
                  </a:solidFill>
                </a:uFill>
                <a:latin typeface="Calibri"/>
                <a:cs typeface="Calibri"/>
              </a:rPr>
              <a:t>clave</a:t>
            </a:r>
            <a:r>
              <a:rPr dirty="0" u="heavy" sz="2400" spc="-40">
                <a:solidFill>
                  <a:srgbClr val="4E3629"/>
                </a:solidFill>
                <a:uFill>
                  <a:solidFill>
                    <a:srgbClr val="EC2814"/>
                  </a:solidFill>
                </a:uFill>
                <a:latin typeface="Calibri"/>
                <a:cs typeface="Calibri"/>
              </a:rPr>
              <a:t> </a:t>
            </a:r>
            <a:r>
              <a:rPr dirty="0" u="heavy" sz="2400" spc="-10">
                <a:solidFill>
                  <a:srgbClr val="4E3629"/>
                </a:solidFill>
                <a:uFill>
                  <a:solidFill>
                    <a:srgbClr val="EC2814"/>
                  </a:solidFill>
                </a:uFill>
                <a:latin typeface="Calibri"/>
                <a:cs typeface="Calibri"/>
              </a:rPr>
              <a:t>primaria</a:t>
            </a:r>
            <a:endParaRPr sz="240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E0E2E1"/>
          </a:solidFill>
        </p:spPr>
        <p:txBody>
          <a:bodyPr wrap="square" lIns="0" tIns="0" rIns="0" bIns="0" rtlCol="0"/>
          <a:lstStyle/>
          <a:p/>
        </p:txBody>
      </p:sp>
      <p:sp>
        <p:nvSpPr>
          <p:cNvPr id="3" name="object 3" descr=""/>
          <p:cNvSpPr/>
          <p:nvPr/>
        </p:nvSpPr>
        <p:spPr>
          <a:xfrm>
            <a:off x="4156142" y="3591014"/>
            <a:ext cx="525145" cy="380365"/>
          </a:xfrm>
          <a:custGeom>
            <a:avLst/>
            <a:gdLst/>
            <a:ahLst/>
            <a:cxnLst/>
            <a:rect l="l" t="t" r="r" b="b"/>
            <a:pathLst>
              <a:path w="525145" h="380364">
                <a:moveTo>
                  <a:pt x="430052" y="0"/>
                </a:moveTo>
                <a:lnTo>
                  <a:pt x="95022" y="0"/>
                </a:lnTo>
                <a:lnTo>
                  <a:pt x="66895" y="10642"/>
                </a:lnTo>
                <a:lnTo>
                  <a:pt x="41049" y="39529"/>
                </a:lnTo>
                <a:lnTo>
                  <a:pt x="19764" y="82099"/>
                </a:lnTo>
                <a:lnTo>
                  <a:pt x="5321" y="133791"/>
                </a:lnTo>
                <a:lnTo>
                  <a:pt x="0" y="190044"/>
                </a:lnTo>
                <a:lnTo>
                  <a:pt x="5321" y="246298"/>
                </a:lnTo>
                <a:lnTo>
                  <a:pt x="19764" y="297990"/>
                </a:lnTo>
                <a:lnTo>
                  <a:pt x="41049" y="340560"/>
                </a:lnTo>
                <a:lnTo>
                  <a:pt x="66895" y="369447"/>
                </a:lnTo>
                <a:lnTo>
                  <a:pt x="95022" y="380089"/>
                </a:lnTo>
                <a:lnTo>
                  <a:pt x="430052" y="380089"/>
                </a:lnTo>
                <a:lnTo>
                  <a:pt x="484025" y="340560"/>
                </a:lnTo>
                <a:lnTo>
                  <a:pt x="505310" y="297990"/>
                </a:lnTo>
                <a:lnTo>
                  <a:pt x="519753" y="246298"/>
                </a:lnTo>
                <a:lnTo>
                  <a:pt x="525074" y="190044"/>
                </a:lnTo>
                <a:lnTo>
                  <a:pt x="519753" y="133791"/>
                </a:lnTo>
                <a:lnTo>
                  <a:pt x="505310" y="82099"/>
                </a:lnTo>
                <a:lnTo>
                  <a:pt x="484025" y="39529"/>
                </a:lnTo>
                <a:lnTo>
                  <a:pt x="458178" y="10642"/>
                </a:lnTo>
                <a:lnTo>
                  <a:pt x="430052" y="0"/>
                </a:lnTo>
                <a:close/>
              </a:path>
            </a:pathLst>
          </a:custGeom>
          <a:solidFill>
            <a:srgbClr val="FACD5A"/>
          </a:solidFill>
        </p:spPr>
        <p:txBody>
          <a:bodyPr wrap="square" lIns="0" tIns="0" rIns="0" bIns="0" rtlCol="0"/>
          <a:lstStyle/>
          <a:p/>
        </p:txBody>
      </p:sp>
      <p:pic>
        <p:nvPicPr>
          <p:cNvPr id="4" name="object 4" descr=""/>
          <p:cNvPicPr/>
          <p:nvPr/>
        </p:nvPicPr>
        <p:blipFill>
          <a:blip r:embed="rId2" cstate="print"/>
          <a:stretch>
            <a:fillRect/>
          </a:stretch>
        </p:blipFill>
        <p:spPr>
          <a:xfrm>
            <a:off x="0" y="0"/>
            <a:ext cx="9144000" cy="254507"/>
          </a:xfrm>
          <a:prstGeom prst="rect">
            <a:avLst/>
          </a:prstGeom>
        </p:spPr>
      </p:pic>
      <p:pic>
        <p:nvPicPr>
          <p:cNvPr id="5" name="object 5" descr=""/>
          <p:cNvPicPr/>
          <p:nvPr/>
        </p:nvPicPr>
        <p:blipFill>
          <a:blip r:embed="rId3" cstate="print"/>
          <a:stretch>
            <a:fillRect/>
          </a:stretch>
        </p:blipFill>
        <p:spPr>
          <a:xfrm>
            <a:off x="405384" y="6178295"/>
            <a:ext cx="1258824" cy="420624"/>
          </a:xfrm>
          <a:prstGeom prst="rect">
            <a:avLst/>
          </a:prstGeom>
        </p:spPr>
      </p:pic>
      <p:sp>
        <p:nvSpPr>
          <p:cNvPr id="6" name="object 6"/>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spc="-10"/>
              <a:t>Restricciones</a:t>
            </a:r>
            <a:r>
              <a:rPr dirty="0" spc="-125"/>
              <a:t> </a:t>
            </a:r>
            <a:r>
              <a:rPr dirty="0"/>
              <a:t>PRIMARY</a:t>
            </a:r>
            <a:r>
              <a:rPr dirty="0" spc="-110"/>
              <a:t> </a:t>
            </a:r>
            <a:r>
              <a:rPr dirty="0" spc="-25"/>
              <a:t>KEY</a:t>
            </a:r>
          </a:p>
        </p:txBody>
      </p:sp>
      <p:sp>
        <p:nvSpPr>
          <p:cNvPr id="8" name="object 8"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2</a:t>
            </a:r>
          </a:p>
          <a:p>
            <a:pPr marL="12700" marR="5080">
              <a:lnSpc>
                <a:spcPts val="919"/>
              </a:lnSpc>
              <a:spcBef>
                <a:spcPts val="60"/>
              </a:spcBef>
            </a:pPr>
            <a:r>
              <a:rPr dirty="0" spc="-10"/>
              <a:t>Restricciones</a:t>
            </a:r>
            <a:r>
              <a:rPr dirty="0" spc="55"/>
              <a:t> </a:t>
            </a:r>
            <a:r>
              <a:rPr dirty="0"/>
              <a:t>PRIMARY</a:t>
            </a:r>
            <a:r>
              <a:rPr dirty="0" spc="-30"/>
              <a:t> </a:t>
            </a:r>
            <a:r>
              <a:rPr dirty="0" spc="-20"/>
              <a:t>KEY,</a:t>
            </a:r>
            <a:r>
              <a:rPr dirty="0" spc="500"/>
              <a:t> </a:t>
            </a:r>
            <a:r>
              <a:rPr dirty="0"/>
              <a:t>FOREIGN</a:t>
            </a:r>
            <a:r>
              <a:rPr dirty="0" spc="-40"/>
              <a:t> </a:t>
            </a:r>
            <a:r>
              <a:rPr dirty="0"/>
              <a:t>KEY</a:t>
            </a:r>
            <a:r>
              <a:rPr dirty="0" spc="-20"/>
              <a:t> </a:t>
            </a:r>
            <a:r>
              <a:rPr dirty="0"/>
              <a:t>y</a:t>
            </a:r>
            <a:r>
              <a:rPr dirty="0" spc="-5"/>
              <a:t> </a:t>
            </a:r>
            <a:r>
              <a:rPr dirty="0" spc="-20"/>
              <a:t>CHECK</a:t>
            </a:r>
          </a:p>
        </p:txBody>
      </p:sp>
      <p:sp>
        <p:nvSpPr>
          <p:cNvPr id="9" name="object 9"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6</a:t>
            </a:r>
          </a:p>
        </p:txBody>
      </p:sp>
      <p:sp>
        <p:nvSpPr>
          <p:cNvPr id="10" name="object 10"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7" name="object 7" descr=""/>
          <p:cNvSpPr txBox="1"/>
          <p:nvPr/>
        </p:nvSpPr>
        <p:spPr>
          <a:xfrm>
            <a:off x="483552" y="1415417"/>
            <a:ext cx="8000365" cy="4213225"/>
          </a:xfrm>
          <a:prstGeom prst="rect">
            <a:avLst/>
          </a:prstGeom>
        </p:spPr>
        <p:txBody>
          <a:bodyPr wrap="square" lIns="0" tIns="59690" rIns="0" bIns="0" rtlCol="0" vert="horz">
            <a:spAutoFit/>
          </a:bodyPr>
          <a:lstStyle/>
          <a:p>
            <a:pPr marL="182880" marR="363855"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Las</a:t>
            </a:r>
            <a:r>
              <a:rPr dirty="0" sz="2800" spc="-65">
                <a:solidFill>
                  <a:srgbClr val="4E3629"/>
                </a:solidFill>
                <a:latin typeface="Calibri"/>
                <a:cs typeface="Calibri"/>
              </a:rPr>
              <a:t> </a:t>
            </a:r>
            <a:r>
              <a:rPr dirty="0" sz="2800" spc="-10">
                <a:solidFill>
                  <a:srgbClr val="4E3629"/>
                </a:solidFill>
                <a:latin typeface="Calibri"/>
                <a:cs typeface="Calibri"/>
              </a:rPr>
              <a:t>restricciones</a:t>
            </a:r>
            <a:r>
              <a:rPr dirty="0" sz="2800" spc="-25">
                <a:solidFill>
                  <a:srgbClr val="4E3629"/>
                </a:solidFill>
                <a:latin typeface="Calibri"/>
                <a:cs typeface="Calibri"/>
              </a:rPr>
              <a:t> </a:t>
            </a:r>
            <a:r>
              <a:rPr dirty="0" sz="2800">
                <a:solidFill>
                  <a:srgbClr val="4E3629"/>
                </a:solidFill>
                <a:latin typeface="Calibri"/>
                <a:cs typeface="Calibri"/>
              </a:rPr>
              <a:t>PRIMARY</a:t>
            </a:r>
            <a:r>
              <a:rPr dirty="0" sz="2800" spc="-40">
                <a:solidFill>
                  <a:srgbClr val="4E3629"/>
                </a:solidFill>
                <a:latin typeface="Calibri"/>
                <a:cs typeface="Calibri"/>
              </a:rPr>
              <a:t> </a:t>
            </a:r>
            <a:r>
              <a:rPr dirty="0" sz="2800">
                <a:solidFill>
                  <a:srgbClr val="4E3629"/>
                </a:solidFill>
                <a:latin typeface="Calibri"/>
                <a:cs typeface="Calibri"/>
              </a:rPr>
              <a:t>KEY</a:t>
            </a:r>
            <a:r>
              <a:rPr dirty="0" sz="2800" spc="-65">
                <a:solidFill>
                  <a:srgbClr val="4E3629"/>
                </a:solidFill>
                <a:latin typeface="Calibri"/>
                <a:cs typeface="Calibri"/>
              </a:rPr>
              <a:t> </a:t>
            </a:r>
            <a:r>
              <a:rPr dirty="0" u="heavy" sz="2800">
                <a:solidFill>
                  <a:srgbClr val="4E3629"/>
                </a:solidFill>
                <a:uFill>
                  <a:solidFill>
                    <a:srgbClr val="EC2814"/>
                  </a:solidFill>
                </a:uFill>
                <a:latin typeface="Calibri"/>
                <a:cs typeface="Calibri"/>
              </a:rPr>
              <a:t>se</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pueden</a:t>
            </a:r>
            <a:r>
              <a:rPr dirty="0" u="heavy" sz="2800" spc="-3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definir</a:t>
            </a:r>
            <a:r>
              <a:rPr dirty="0" u="heavy" sz="2800" spc="-4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en</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nivel</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columna</a:t>
            </a:r>
            <a:r>
              <a:rPr dirty="0" u="heavy" sz="2800" spc="-2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o</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5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tabla</a:t>
            </a:r>
            <a:endParaRPr sz="2800">
              <a:latin typeface="Calibri"/>
              <a:cs typeface="Calibri"/>
            </a:endParaRPr>
          </a:p>
          <a:p>
            <a:pPr marL="182880" marR="110871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Sin</a:t>
            </a:r>
            <a:r>
              <a:rPr dirty="0" sz="2800" spc="-45">
                <a:solidFill>
                  <a:srgbClr val="4E3629"/>
                </a:solidFill>
                <a:latin typeface="Calibri"/>
                <a:cs typeface="Calibri"/>
              </a:rPr>
              <a:t> </a:t>
            </a:r>
            <a:r>
              <a:rPr dirty="0" sz="2800" spc="-10">
                <a:solidFill>
                  <a:srgbClr val="4E3629"/>
                </a:solidFill>
                <a:latin typeface="Calibri"/>
                <a:cs typeface="Calibri"/>
              </a:rPr>
              <a:t>embargo,</a:t>
            </a:r>
            <a:r>
              <a:rPr dirty="0" sz="2800" spc="-40">
                <a:solidFill>
                  <a:srgbClr val="4E3629"/>
                </a:solidFill>
                <a:latin typeface="Calibri"/>
                <a:cs typeface="Calibri"/>
              </a:rPr>
              <a:t> </a:t>
            </a:r>
            <a:r>
              <a:rPr dirty="0" sz="2800">
                <a:solidFill>
                  <a:srgbClr val="4E3629"/>
                </a:solidFill>
                <a:latin typeface="Calibri"/>
                <a:cs typeface="Calibri"/>
              </a:rPr>
              <a:t>si</a:t>
            </a:r>
            <a:r>
              <a:rPr dirty="0" sz="2800" spc="-50">
                <a:solidFill>
                  <a:srgbClr val="4E3629"/>
                </a:solidFill>
                <a:latin typeface="Calibri"/>
                <a:cs typeface="Calibri"/>
              </a:rPr>
              <a:t> </a:t>
            </a:r>
            <a:r>
              <a:rPr dirty="0" sz="2800">
                <a:solidFill>
                  <a:srgbClr val="4E3629"/>
                </a:solidFill>
                <a:latin typeface="Calibri"/>
                <a:cs typeface="Calibri"/>
              </a:rPr>
              <a:t>se</a:t>
            </a:r>
            <a:r>
              <a:rPr dirty="0" sz="2800" spc="-50">
                <a:solidFill>
                  <a:srgbClr val="4E3629"/>
                </a:solidFill>
                <a:latin typeface="Calibri"/>
                <a:cs typeface="Calibri"/>
              </a:rPr>
              <a:t> </a:t>
            </a:r>
            <a:r>
              <a:rPr dirty="0" sz="2800">
                <a:solidFill>
                  <a:srgbClr val="4E3629"/>
                </a:solidFill>
                <a:latin typeface="Calibri"/>
                <a:cs typeface="Calibri"/>
              </a:rPr>
              <a:t>crea</a:t>
            </a:r>
            <a:r>
              <a:rPr dirty="0" sz="2800" spc="-50">
                <a:solidFill>
                  <a:srgbClr val="4E3629"/>
                </a:solidFill>
                <a:latin typeface="Calibri"/>
                <a:cs typeface="Calibri"/>
              </a:rPr>
              <a:t> </a:t>
            </a:r>
            <a:r>
              <a:rPr dirty="0" sz="2800">
                <a:solidFill>
                  <a:srgbClr val="4E3629"/>
                </a:solidFill>
                <a:latin typeface="Calibri"/>
                <a:cs typeface="Calibri"/>
              </a:rPr>
              <a:t>una</a:t>
            </a:r>
            <a:r>
              <a:rPr dirty="0" sz="2800" spc="-35">
                <a:solidFill>
                  <a:srgbClr val="4E3629"/>
                </a:solidFill>
                <a:latin typeface="Calibri"/>
                <a:cs typeface="Calibri"/>
              </a:rPr>
              <a:t> </a:t>
            </a:r>
            <a:r>
              <a:rPr dirty="0" sz="2800" spc="-10">
                <a:solidFill>
                  <a:srgbClr val="4E3629"/>
                </a:solidFill>
                <a:latin typeface="Calibri"/>
                <a:cs typeface="Calibri"/>
              </a:rPr>
              <a:t>CLAVE</a:t>
            </a:r>
            <a:r>
              <a:rPr dirty="0" sz="2800" spc="-55">
                <a:solidFill>
                  <a:srgbClr val="4E3629"/>
                </a:solidFill>
                <a:latin typeface="Calibri"/>
                <a:cs typeface="Calibri"/>
              </a:rPr>
              <a:t> </a:t>
            </a:r>
            <a:r>
              <a:rPr dirty="0" sz="2800" spc="-10">
                <a:solidFill>
                  <a:srgbClr val="4E3629"/>
                </a:solidFill>
                <a:latin typeface="Calibri"/>
                <a:cs typeface="Calibri"/>
              </a:rPr>
              <a:t>PRIMARIA 	compuesta,</a:t>
            </a:r>
            <a:r>
              <a:rPr dirty="0" sz="2800" spc="-25">
                <a:solidFill>
                  <a:srgbClr val="4E3629"/>
                </a:solidFill>
                <a:latin typeface="Calibri"/>
                <a:cs typeface="Calibri"/>
              </a:rPr>
              <a:t> </a:t>
            </a:r>
            <a:r>
              <a:rPr dirty="0" sz="2800">
                <a:solidFill>
                  <a:srgbClr val="4E3629"/>
                </a:solidFill>
                <a:latin typeface="Calibri"/>
                <a:cs typeface="Calibri"/>
              </a:rPr>
              <a:t>se</a:t>
            </a:r>
            <a:r>
              <a:rPr dirty="0" sz="2800" spc="-50">
                <a:solidFill>
                  <a:srgbClr val="4E3629"/>
                </a:solidFill>
                <a:latin typeface="Calibri"/>
                <a:cs typeface="Calibri"/>
              </a:rPr>
              <a:t> </a:t>
            </a:r>
            <a:r>
              <a:rPr dirty="0" sz="2800">
                <a:solidFill>
                  <a:srgbClr val="4E3629"/>
                </a:solidFill>
                <a:latin typeface="Calibri"/>
                <a:cs typeface="Calibri"/>
              </a:rPr>
              <a:t>debe</a:t>
            </a:r>
            <a:r>
              <a:rPr dirty="0" sz="2800" spc="-45">
                <a:solidFill>
                  <a:srgbClr val="4E3629"/>
                </a:solidFill>
                <a:latin typeface="Calibri"/>
                <a:cs typeface="Calibri"/>
              </a:rPr>
              <a:t> </a:t>
            </a:r>
            <a:r>
              <a:rPr dirty="0" sz="2800">
                <a:solidFill>
                  <a:srgbClr val="4E3629"/>
                </a:solidFill>
                <a:latin typeface="Calibri"/>
                <a:cs typeface="Calibri"/>
              </a:rPr>
              <a:t>definir</a:t>
            </a:r>
            <a:r>
              <a:rPr dirty="0" sz="2800" spc="-35">
                <a:solidFill>
                  <a:srgbClr val="4E3629"/>
                </a:solidFill>
                <a:latin typeface="Calibri"/>
                <a:cs typeface="Calibri"/>
              </a:rPr>
              <a:t> </a:t>
            </a:r>
            <a:r>
              <a:rPr dirty="0" sz="2800">
                <a:solidFill>
                  <a:srgbClr val="4E3629"/>
                </a:solidFill>
                <a:latin typeface="Calibri"/>
                <a:cs typeface="Calibri"/>
              </a:rPr>
              <a:t>en</a:t>
            </a:r>
            <a:r>
              <a:rPr dirty="0" sz="2800" spc="-60">
                <a:solidFill>
                  <a:srgbClr val="4E3629"/>
                </a:solidFill>
                <a:latin typeface="Calibri"/>
                <a:cs typeface="Calibri"/>
              </a:rPr>
              <a:t> </a:t>
            </a:r>
            <a:r>
              <a:rPr dirty="0" sz="2800">
                <a:solidFill>
                  <a:srgbClr val="4E3629"/>
                </a:solidFill>
                <a:latin typeface="Calibri"/>
                <a:cs typeface="Calibri"/>
              </a:rPr>
              <a:t>el</a:t>
            </a:r>
            <a:r>
              <a:rPr dirty="0" sz="2800" spc="-60">
                <a:solidFill>
                  <a:srgbClr val="4E3629"/>
                </a:solidFill>
                <a:latin typeface="Calibri"/>
                <a:cs typeface="Calibri"/>
              </a:rPr>
              <a:t> </a:t>
            </a:r>
            <a:r>
              <a:rPr dirty="0" sz="2800">
                <a:solidFill>
                  <a:srgbClr val="4E3629"/>
                </a:solidFill>
                <a:latin typeface="Calibri"/>
                <a:cs typeface="Calibri"/>
              </a:rPr>
              <a:t>nivel</a:t>
            </a:r>
            <a:r>
              <a:rPr dirty="0" sz="2800" spc="-55">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spc="-10">
                <a:solidFill>
                  <a:srgbClr val="4E3629"/>
                </a:solidFill>
                <a:latin typeface="Calibri"/>
                <a:cs typeface="Calibri"/>
              </a:rPr>
              <a:t>tabla</a:t>
            </a:r>
            <a:endParaRPr sz="2800">
              <a:latin typeface="Calibri"/>
              <a:cs typeface="Calibri"/>
            </a:endParaRPr>
          </a:p>
          <a:p>
            <a:pPr marL="182880" marR="948055" indent="-170815">
              <a:lnSpc>
                <a:spcPts val="3030"/>
              </a:lnSpc>
              <a:spcBef>
                <a:spcPts val="790"/>
              </a:spcBef>
              <a:buClr>
                <a:srgbClr val="D1350F"/>
              </a:buClr>
              <a:buFont typeface="Arial MT"/>
              <a:buChar char="•"/>
              <a:tabLst>
                <a:tab pos="184785" algn="l"/>
              </a:tabLst>
            </a:pPr>
            <a:r>
              <a:rPr dirty="0" sz="2800">
                <a:solidFill>
                  <a:srgbClr val="4E3629"/>
                </a:solidFill>
                <a:latin typeface="Calibri"/>
                <a:cs typeface="Calibri"/>
              </a:rPr>
              <a:t>Al</a:t>
            </a:r>
            <a:r>
              <a:rPr dirty="0" sz="2800" spc="-75">
                <a:solidFill>
                  <a:srgbClr val="4E3629"/>
                </a:solidFill>
                <a:latin typeface="Calibri"/>
                <a:cs typeface="Calibri"/>
              </a:rPr>
              <a:t> </a:t>
            </a:r>
            <a:r>
              <a:rPr dirty="0" sz="2800">
                <a:solidFill>
                  <a:srgbClr val="4E3629"/>
                </a:solidFill>
                <a:latin typeface="Calibri"/>
                <a:cs typeface="Calibri"/>
              </a:rPr>
              <a:t>definir</a:t>
            </a:r>
            <a:r>
              <a:rPr dirty="0" sz="2800" spc="-60">
                <a:solidFill>
                  <a:srgbClr val="4E3629"/>
                </a:solidFill>
                <a:latin typeface="Calibri"/>
                <a:cs typeface="Calibri"/>
              </a:rPr>
              <a:t> </a:t>
            </a:r>
            <a:r>
              <a:rPr dirty="0" sz="2800">
                <a:solidFill>
                  <a:srgbClr val="4E3629"/>
                </a:solidFill>
                <a:latin typeface="Calibri"/>
                <a:cs typeface="Calibri"/>
              </a:rPr>
              <a:t>columnas</a:t>
            </a:r>
            <a:r>
              <a:rPr dirty="0" sz="2800" spc="-50">
                <a:solidFill>
                  <a:srgbClr val="4E3629"/>
                </a:solidFill>
                <a:latin typeface="Calibri"/>
                <a:cs typeface="Calibri"/>
              </a:rPr>
              <a:t> </a:t>
            </a:r>
            <a:r>
              <a:rPr dirty="0" sz="2800">
                <a:solidFill>
                  <a:srgbClr val="4E3629"/>
                </a:solidFill>
                <a:latin typeface="Calibri"/>
                <a:cs typeface="Calibri"/>
              </a:rPr>
              <a:t>PRIMARY</a:t>
            </a:r>
            <a:r>
              <a:rPr dirty="0" sz="2800" spc="-65">
                <a:solidFill>
                  <a:srgbClr val="4E3629"/>
                </a:solidFill>
                <a:latin typeface="Calibri"/>
                <a:cs typeface="Calibri"/>
              </a:rPr>
              <a:t> </a:t>
            </a:r>
            <a:r>
              <a:rPr dirty="0" sz="2800" spc="-70">
                <a:solidFill>
                  <a:srgbClr val="4E3629"/>
                </a:solidFill>
                <a:latin typeface="Calibri"/>
                <a:cs typeface="Calibri"/>
              </a:rPr>
              <a:t>KEY,</a:t>
            </a:r>
            <a:r>
              <a:rPr dirty="0" sz="2800" spc="-80">
                <a:solidFill>
                  <a:srgbClr val="4E3629"/>
                </a:solidFill>
                <a:latin typeface="Calibri"/>
                <a:cs typeface="Calibri"/>
              </a:rPr>
              <a:t> </a:t>
            </a:r>
            <a:r>
              <a:rPr dirty="0" sz="2800">
                <a:solidFill>
                  <a:srgbClr val="4E3629"/>
                </a:solidFill>
                <a:latin typeface="Calibri"/>
                <a:cs typeface="Calibri"/>
              </a:rPr>
              <a:t>es</a:t>
            </a:r>
            <a:r>
              <a:rPr dirty="0" sz="2800" spc="-75">
                <a:solidFill>
                  <a:srgbClr val="4E3629"/>
                </a:solidFill>
                <a:latin typeface="Calibri"/>
                <a:cs typeface="Calibri"/>
              </a:rPr>
              <a:t> </a:t>
            </a:r>
            <a:r>
              <a:rPr dirty="0" sz="2800">
                <a:solidFill>
                  <a:srgbClr val="4E3629"/>
                </a:solidFill>
                <a:latin typeface="Calibri"/>
                <a:cs typeface="Calibri"/>
              </a:rPr>
              <a:t>una</a:t>
            </a:r>
            <a:r>
              <a:rPr dirty="0" sz="2800" spc="-50">
                <a:solidFill>
                  <a:srgbClr val="4E3629"/>
                </a:solidFill>
                <a:latin typeface="Calibri"/>
                <a:cs typeface="Calibri"/>
              </a:rPr>
              <a:t> </a:t>
            </a:r>
            <a:r>
              <a:rPr dirty="0" sz="2800" spc="-10">
                <a:solidFill>
                  <a:srgbClr val="4E3629"/>
                </a:solidFill>
                <a:latin typeface="Calibri"/>
                <a:cs typeface="Calibri"/>
              </a:rPr>
              <a:t>buena </a:t>
            </a:r>
            <a:r>
              <a:rPr dirty="0" sz="2800" spc="-10">
                <a:solidFill>
                  <a:srgbClr val="4E3629"/>
                </a:solidFill>
                <a:latin typeface="Calibri"/>
                <a:cs typeface="Calibri"/>
              </a:rPr>
              <a:t>	</a:t>
            </a:r>
            <a:r>
              <a:rPr dirty="0" sz="2800">
                <a:solidFill>
                  <a:srgbClr val="4E3629"/>
                </a:solidFill>
                <a:latin typeface="Calibri"/>
                <a:cs typeface="Calibri"/>
              </a:rPr>
              <a:t>práctica</a:t>
            </a:r>
            <a:r>
              <a:rPr dirty="0" sz="2800" spc="-60">
                <a:solidFill>
                  <a:srgbClr val="4E3629"/>
                </a:solidFill>
                <a:latin typeface="Calibri"/>
                <a:cs typeface="Calibri"/>
              </a:rPr>
              <a:t> </a:t>
            </a:r>
            <a:r>
              <a:rPr dirty="0" sz="2800">
                <a:solidFill>
                  <a:srgbClr val="4E3629"/>
                </a:solidFill>
                <a:latin typeface="Calibri"/>
                <a:cs typeface="Calibri"/>
              </a:rPr>
              <a:t>utilizar</a:t>
            </a:r>
            <a:r>
              <a:rPr dirty="0" sz="2800" spc="-60">
                <a:solidFill>
                  <a:srgbClr val="4E3629"/>
                </a:solidFill>
                <a:latin typeface="Calibri"/>
                <a:cs typeface="Calibri"/>
              </a:rPr>
              <a:t> </a:t>
            </a:r>
            <a:r>
              <a:rPr dirty="0" sz="2800">
                <a:solidFill>
                  <a:srgbClr val="4E3629"/>
                </a:solidFill>
                <a:latin typeface="Calibri"/>
                <a:cs typeface="Calibri"/>
              </a:rPr>
              <a:t>el</a:t>
            </a:r>
            <a:r>
              <a:rPr dirty="0" sz="2800" spc="-75">
                <a:solidFill>
                  <a:srgbClr val="4E3629"/>
                </a:solidFill>
                <a:latin typeface="Calibri"/>
                <a:cs typeface="Calibri"/>
              </a:rPr>
              <a:t> </a:t>
            </a:r>
            <a:r>
              <a:rPr dirty="0" sz="2800">
                <a:solidFill>
                  <a:srgbClr val="4E3629"/>
                </a:solidFill>
                <a:latin typeface="Calibri"/>
                <a:cs typeface="Calibri"/>
              </a:rPr>
              <a:t>sufijo</a:t>
            </a:r>
            <a:r>
              <a:rPr dirty="0" sz="2800" spc="-60">
                <a:solidFill>
                  <a:srgbClr val="4E3629"/>
                </a:solidFill>
                <a:latin typeface="Calibri"/>
                <a:cs typeface="Calibri"/>
              </a:rPr>
              <a:t> </a:t>
            </a:r>
            <a:r>
              <a:rPr dirty="0" sz="2800">
                <a:solidFill>
                  <a:srgbClr val="4E3629"/>
                </a:solidFill>
                <a:latin typeface="Calibri"/>
                <a:cs typeface="Calibri"/>
              </a:rPr>
              <a:t>_pk</a:t>
            </a:r>
            <a:r>
              <a:rPr dirty="0" sz="2800" spc="-45">
                <a:solidFill>
                  <a:srgbClr val="4E3629"/>
                </a:solidFill>
                <a:latin typeface="Calibri"/>
                <a:cs typeface="Calibri"/>
              </a:rPr>
              <a:t> </a:t>
            </a:r>
            <a:r>
              <a:rPr dirty="0" sz="2800">
                <a:solidFill>
                  <a:srgbClr val="4E3629"/>
                </a:solidFill>
                <a:latin typeface="Calibri"/>
                <a:cs typeface="Calibri"/>
              </a:rPr>
              <a:t>en</a:t>
            </a:r>
            <a:r>
              <a:rPr dirty="0" sz="2800" spc="-65">
                <a:solidFill>
                  <a:srgbClr val="4E3629"/>
                </a:solidFill>
                <a:latin typeface="Calibri"/>
                <a:cs typeface="Calibri"/>
              </a:rPr>
              <a:t> </a:t>
            </a:r>
            <a:r>
              <a:rPr dirty="0" sz="2800">
                <a:solidFill>
                  <a:srgbClr val="4E3629"/>
                </a:solidFill>
                <a:latin typeface="Calibri"/>
                <a:cs typeface="Calibri"/>
              </a:rPr>
              <a:t>el</a:t>
            </a:r>
            <a:r>
              <a:rPr dirty="0" sz="2800" spc="-80">
                <a:solidFill>
                  <a:srgbClr val="4E3629"/>
                </a:solidFill>
                <a:latin typeface="Calibri"/>
                <a:cs typeface="Calibri"/>
              </a:rPr>
              <a:t> </a:t>
            </a:r>
            <a:r>
              <a:rPr dirty="0" sz="2800">
                <a:solidFill>
                  <a:srgbClr val="4E3629"/>
                </a:solidFill>
                <a:latin typeface="Calibri"/>
                <a:cs typeface="Calibri"/>
              </a:rPr>
              <a:t>nombre</a:t>
            </a:r>
            <a:r>
              <a:rPr dirty="0" sz="2800" spc="-45">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spc="-10">
                <a:solidFill>
                  <a:srgbClr val="4E3629"/>
                </a:solidFill>
                <a:latin typeface="Calibri"/>
                <a:cs typeface="Calibri"/>
              </a:rPr>
              <a:t>restricción</a:t>
            </a:r>
            <a:endParaRPr sz="2800">
              <a:latin typeface="Calibri"/>
              <a:cs typeface="Calibri"/>
            </a:endParaRPr>
          </a:p>
          <a:p>
            <a:pPr marL="182880" marR="5080" indent="-170815">
              <a:lnSpc>
                <a:spcPts val="3030"/>
              </a:lnSpc>
              <a:spcBef>
                <a:spcPts val="775"/>
              </a:spcBef>
              <a:buClr>
                <a:srgbClr val="D1350F"/>
              </a:buClr>
              <a:buFont typeface="Arial MT"/>
              <a:buChar char="•"/>
              <a:tabLst>
                <a:tab pos="184785" algn="l"/>
              </a:tabLst>
            </a:pPr>
            <a:r>
              <a:rPr dirty="0" sz="2800">
                <a:solidFill>
                  <a:srgbClr val="4E3629"/>
                </a:solidFill>
                <a:latin typeface="Calibri"/>
                <a:cs typeface="Calibri"/>
              </a:rPr>
              <a:t>Por</a:t>
            </a:r>
            <a:r>
              <a:rPr dirty="0" sz="2800" spc="-65">
                <a:solidFill>
                  <a:srgbClr val="4E3629"/>
                </a:solidFill>
                <a:latin typeface="Calibri"/>
                <a:cs typeface="Calibri"/>
              </a:rPr>
              <a:t> </a:t>
            </a:r>
            <a:r>
              <a:rPr dirty="0" sz="2800">
                <a:solidFill>
                  <a:srgbClr val="4E3629"/>
                </a:solidFill>
                <a:latin typeface="Calibri"/>
                <a:cs typeface="Calibri"/>
              </a:rPr>
              <a:t>ejemplo,</a:t>
            </a:r>
            <a:r>
              <a:rPr dirty="0" sz="2800" spc="-55">
                <a:solidFill>
                  <a:srgbClr val="4E3629"/>
                </a:solidFill>
                <a:latin typeface="Calibri"/>
                <a:cs typeface="Calibri"/>
              </a:rPr>
              <a:t> </a:t>
            </a:r>
            <a:r>
              <a:rPr dirty="0" sz="2800">
                <a:solidFill>
                  <a:srgbClr val="4E3629"/>
                </a:solidFill>
                <a:latin typeface="Calibri"/>
                <a:cs typeface="Calibri"/>
              </a:rPr>
              <a:t>el</a:t>
            </a:r>
            <a:r>
              <a:rPr dirty="0" sz="2800" spc="-85">
                <a:solidFill>
                  <a:srgbClr val="4E3629"/>
                </a:solidFill>
                <a:latin typeface="Calibri"/>
                <a:cs typeface="Calibri"/>
              </a:rPr>
              <a:t> </a:t>
            </a:r>
            <a:r>
              <a:rPr dirty="0" sz="2800">
                <a:solidFill>
                  <a:srgbClr val="4E3629"/>
                </a:solidFill>
                <a:latin typeface="Calibri"/>
                <a:cs typeface="Calibri"/>
              </a:rPr>
              <a:t>nombre</a:t>
            </a:r>
            <a:r>
              <a:rPr dirty="0" sz="2800" spc="-50">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spc="-10">
                <a:solidFill>
                  <a:srgbClr val="4E3629"/>
                </a:solidFill>
                <a:latin typeface="Calibri"/>
                <a:cs typeface="Calibri"/>
              </a:rPr>
              <a:t>restricción</a:t>
            </a:r>
            <a:r>
              <a:rPr dirty="0" sz="2800" spc="-50">
                <a:solidFill>
                  <a:srgbClr val="4E3629"/>
                </a:solidFill>
                <a:latin typeface="Calibri"/>
                <a:cs typeface="Calibri"/>
              </a:rPr>
              <a:t> </a:t>
            </a:r>
            <a:r>
              <a:rPr dirty="0" sz="2800">
                <a:solidFill>
                  <a:srgbClr val="4E3629"/>
                </a:solidFill>
                <a:latin typeface="Calibri"/>
                <a:cs typeface="Calibri"/>
              </a:rPr>
              <a:t>para</a:t>
            </a:r>
            <a:r>
              <a:rPr dirty="0" sz="2800" spc="-65">
                <a:solidFill>
                  <a:srgbClr val="4E3629"/>
                </a:solidFill>
                <a:latin typeface="Calibri"/>
                <a:cs typeface="Calibri"/>
              </a:rPr>
              <a:t> </a:t>
            </a:r>
            <a:r>
              <a:rPr dirty="0" sz="2800">
                <a:solidFill>
                  <a:srgbClr val="4E3629"/>
                </a:solidFill>
                <a:latin typeface="Calibri"/>
                <a:cs typeface="Calibri"/>
              </a:rPr>
              <a:t>la</a:t>
            </a:r>
            <a:r>
              <a:rPr dirty="0" sz="2800" spc="-70">
                <a:solidFill>
                  <a:srgbClr val="4E3629"/>
                </a:solidFill>
                <a:latin typeface="Calibri"/>
                <a:cs typeface="Calibri"/>
              </a:rPr>
              <a:t> </a:t>
            </a:r>
            <a:r>
              <a:rPr dirty="0" sz="2800" spc="-10">
                <a:solidFill>
                  <a:srgbClr val="4E3629"/>
                </a:solidFill>
                <a:latin typeface="Calibri"/>
                <a:cs typeface="Calibri"/>
              </a:rPr>
              <a:t>columna </a:t>
            </a:r>
            <a:r>
              <a:rPr dirty="0" sz="2800" spc="-10">
                <a:solidFill>
                  <a:srgbClr val="4E3629"/>
                </a:solidFill>
                <a:latin typeface="Calibri"/>
                <a:cs typeface="Calibri"/>
              </a:rPr>
              <a:t>	</a:t>
            </a:r>
            <a:r>
              <a:rPr dirty="0" sz="2800">
                <a:solidFill>
                  <a:srgbClr val="4E3629"/>
                </a:solidFill>
                <a:latin typeface="Calibri"/>
                <a:cs typeface="Calibri"/>
              </a:rPr>
              <a:t>PRIMARY</a:t>
            </a:r>
            <a:r>
              <a:rPr dirty="0" sz="2800" spc="-50">
                <a:solidFill>
                  <a:srgbClr val="4E3629"/>
                </a:solidFill>
                <a:latin typeface="Calibri"/>
                <a:cs typeface="Calibri"/>
              </a:rPr>
              <a:t> </a:t>
            </a:r>
            <a:r>
              <a:rPr dirty="0" sz="2800">
                <a:solidFill>
                  <a:srgbClr val="4E3629"/>
                </a:solidFill>
                <a:latin typeface="Calibri"/>
                <a:cs typeface="Calibri"/>
              </a:rPr>
              <a:t>KEY</a:t>
            </a:r>
            <a:r>
              <a:rPr dirty="0" sz="2800" spc="-65">
                <a:solidFill>
                  <a:srgbClr val="4E3629"/>
                </a:solidFill>
                <a:latin typeface="Calibri"/>
                <a:cs typeface="Calibri"/>
              </a:rPr>
              <a:t> </a:t>
            </a:r>
            <a:r>
              <a:rPr dirty="0" sz="2800">
                <a:solidFill>
                  <a:srgbClr val="4E3629"/>
                </a:solidFill>
                <a:latin typeface="Calibri"/>
                <a:cs typeface="Calibri"/>
              </a:rPr>
              <a:t>denominada</a:t>
            </a:r>
            <a:r>
              <a:rPr dirty="0" sz="2800" spc="-25">
                <a:solidFill>
                  <a:srgbClr val="4E3629"/>
                </a:solidFill>
                <a:latin typeface="Calibri"/>
                <a:cs typeface="Calibri"/>
              </a:rPr>
              <a:t> </a:t>
            </a:r>
            <a:r>
              <a:rPr dirty="0" sz="2800" spc="-10">
                <a:solidFill>
                  <a:srgbClr val="4E3629"/>
                </a:solidFill>
                <a:latin typeface="Calibri"/>
                <a:cs typeface="Calibri"/>
              </a:rPr>
              <a:t>client_number</a:t>
            </a:r>
            <a:r>
              <a:rPr dirty="0" sz="2800" spc="-20">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spc="-10">
                <a:solidFill>
                  <a:srgbClr val="4E3629"/>
                </a:solidFill>
                <a:latin typeface="Calibri"/>
                <a:cs typeface="Calibri"/>
              </a:rPr>
              <a:t>tabla </a:t>
            </a:r>
            <a:r>
              <a:rPr dirty="0" sz="2800" spc="-10">
                <a:solidFill>
                  <a:srgbClr val="4E3629"/>
                </a:solidFill>
                <a:latin typeface="Calibri"/>
                <a:cs typeface="Calibri"/>
              </a:rPr>
              <a:t>	</a:t>
            </a:r>
            <a:r>
              <a:rPr dirty="0" sz="2800">
                <a:solidFill>
                  <a:srgbClr val="4E3629"/>
                </a:solidFill>
                <a:latin typeface="Calibri"/>
                <a:cs typeface="Calibri"/>
              </a:rPr>
              <a:t>llamada</a:t>
            </a:r>
            <a:r>
              <a:rPr dirty="0" sz="2800" spc="-55">
                <a:solidFill>
                  <a:srgbClr val="4E3629"/>
                </a:solidFill>
                <a:latin typeface="Calibri"/>
                <a:cs typeface="Calibri"/>
              </a:rPr>
              <a:t> </a:t>
            </a:r>
            <a:r>
              <a:rPr dirty="0" sz="2800">
                <a:solidFill>
                  <a:srgbClr val="4E3629"/>
                </a:solidFill>
                <a:latin typeface="Calibri"/>
                <a:cs typeface="Calibri"/>
              </a:rPr>
              <a:t>CLIENTS</a:t>
            </a:r>
            <a:r>
              <a:rPr dirty="0" sz="2800" spc="-55">
                <a:solidFill>
                  <a:srgbClr val="4E3629"/>
                </a:solidFill>
                <a:latin typeface="Calibri"/>
                <a:cs typeface="Calibri"/>
              </a:rPr>
              <a:t> </a:t>
            </a:r>
            <a:r>
              <a:rPr dirty="0" sz="2800">
                <a:solidFill>
                  <a:srgbClr val="4E3629"/>
                </a:solidFill>
                <a:latin typeface="Calibri"/>
                <a:cs typeface="Calibri"/>
              </a:rPr>
              <a:t>podría</a:t>
            </a:r>
            <a:r>
              <a:rPr dirty="0" sz="2800" spc="-40">
                <a:solidFill>
                  <a:srgbClr val="4E3629"/>
                </a:solidFill>
                <a:latin typeface="Calibri"/>
                <a:cs typeface="Calibri"/>
              </a:rPr>
              <a:t> </a:t>
            </a:r>
            <a:r>
              <a:rPr dirty="0" sz="2800">
                <a:solidFill>
                  <a:srgbClr val="4E3629"/>
                </a:solidFill>
                <a:latin typeface="Calibri"/>
                <a:cs typeface="Calibri"/>
              </a:rPr>
              <a:t>ser</a:t>
            </a:r>
            <a:r>
              <a:rPr dirty="0" sz="2800" spc="-50">
                <a:solidFill>
                  <a:srgbClr val="4E3629"/>
                </a:solidFill>
                <a:latin typeface="Calibri"/>
                <a:cs typeface="Calibri"/>
              </a:rPr>
              <a:t> </a:t>
            </a:r>
            <a:r>
              <a:rPr dirty="0" sz="2800" spc="-10">
                <a:solidFill>
                  <a:srgbClr val="4E3629"/>
                </a:solidFill>
                <a:latin typeface="Calibri"/>
                <a:cs typeface="Calibri"/>
              </a:rPr>
              <a:t>clients_client_num_pk</a:t>
            </a:r>
            <a:endParaRPr sz="280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spc="-10"/>
              <a:t>Restricciones</a:t>
            </a:r>
            <a:r>
              <a:rPr dirty="0" spc="-125"/>
              <a:t> </a:t>
            </a:r>
            <a:r>
              <a:rPr dirty="0"/>
              <a:t>PRIMARY</a:t>
            </a:r>
            <a:r>
              <a:rPr dirty="0" spc="-110"/>
              <a:t> </a:t>
            </a:r>
            <a:r>
              <a:rPr dirty="0" spc="-25"/>
              <a:t>KEY</a:t>
            </a:r>
          </a:p>
        </p:txBody>
      </p:sp>
      <p:sp>
        <p:nvSpPr>
          <p:cNvPr id="6" name="object 6"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2</a:t>
            </a:r>
          </a:p>
          <a:p>
            <a:pPr marL="12700" marR="5080">
              <a:lnSpc>
                <a:spcPts val="919"/>
              </a:lnSpc>
              <a:spcBef>
                <a:spcPts val="60"/>
              </a:spcBef>
            </a:pPr>
            <a:r>
              <a:rPr dirty="0" spc="-10"/>
              <a:t>Restricciones</a:t>
            </a:r>
            <a:r>
              <a:rPr dirty="0" spc="55"/>
              <a:t> </a:t>
            </a:r>
            <a:r>
              <a:rPr dirty="0"/>
              <a:t>PRIMARY</a:t>
            </a:r>
            <a:r>
              <a:rPr dirty="0" spc="-30"/>
              <a:t> </a:t>
            </a:r>
            <a:r>
              <a:rPr dirty="0" spc="-20"/>
              <a:t>KEY,</a:t>
            </a:r>
            <a:r>
              <a:rPr dirty="0" spc="500"/>
              <a:t> </a:t>
            </a:r>
            <a:r>
              <a:rPr dirty="0"/>
              <a:t>FOREIGN</a:t>
            </a:r>
            <a:r>
              <a:rPr dirty="0" spc="-40"/>
              <a:t> </a:t>
            </a:r>
            <a:r>
              <a:rPr dirty="0"/>
              <a:t>KEY</a:t>
            </a:r>
            <a:r>
              <a:rPr dirty="0" spc="-20"/>
              <a:t> </a:t>
            </a:r>
            <a:r>
              <a:rPr dirty="0"/>
              <a:t>y</a:t>
            </a:r>
            <a:r>
              <a:rPr dirty="0" spc="-5"/>
              <a:t> </a:t>
            </a:r>
            <a:r>
              <a:rPr dirty="0" spc="-20"/>
              <a:t>CHECK</a:t>
            </a:r>
          </a:p>
        </p:txBody>
      </p:sp>
      <p:sp>
        <p:nvSpPr>
          <p:cNvPr id="7" name="object 7"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7</a:t>
            </a:r>
          </a:p>
        </p:txBody>
      </p:sp>
      <p:sp>
        <p:nvSpPr>
          <p:cNvPr id="8" name="object 8"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387985"/>
            <a:ext cx="7769859" cy="1056640"/>
          </a:xfrm>
          <a:prstGeom prst="rect">
            <a:avLst/>
          </a:prstGeom>
        </p:spPr>
        <p:txBody>
          <a:bodyPr wrap="square" lIns="0" tIns="89535" rIns="0" bIns="0" rtlCol="0" vert="horz">
            <a:spAutoFit/>
          </a:bodyPr>
          <a:lstStyle/>
          <a:p>
            <a:pPr marL="184785" marR="5080" indent="-172720">
              <a:lnSpc>
                <a:spcPts val="2500"/>
              </a:lnSpc>
              <a:spcBef>
                <a:spcPts val="705"/>
              </a:spcBef>
              <a:buClr>
                <a:srgbClr val="D1350F"/>
              </a:buClr>
              <a:buFont typeface="Arial MT"/>
              <a:buChar char="•"/>
              <a:tabLst>
                <a:tab pos="184785" algn="l"/>
              </a:tabLst>
            </a:pPr>
            <a:r>
              <a:rPr dirty="0" sz="2600">
                <a:solidFill>
                  <a:srgbClr val="4E3629"/>
                </a:solidFill>
                <a:latin typeface="Calibri"/>
                <a:cs typeface="Calibri"/>
              </a:rPr>
              <a:t>En</a:t>
            </a:r>
            <a:r>
              <a:rPr dirty="0" sz="2600" spc="-55">
                <a:solidFill>
                  <a:srgbClr val="4E3629"/>
                </a:solidFill>
                <a:latin typeface="Calibri"/>
                <a:cs typeface="Calibri"/>
              </a:rPr>
              <a:t> </a:t>
            </a:r>
            <a:r>
              <a:rPr dirty="0" sz="2600">
                <a:solidFill>
                  <a:srgbClr val="4E3629"/>
                </a:solidFill>
                <a:latin typeface="Calibri"/>
                <a:cs typeface="Calibri"/>
              </a:rPr>
              <a:t>una</a:t>
            </a:r>
            <a:r>
              <a:rPr dirty="0" sz="2600" spc="-65">
                <a:solidFill>
                  <a:srgbClr val="4E3629"/>
                </a:solidFill>
                <a:latin typeface="Calibri"/>
                <a:cs typeface="Calibri"/>
              </a:rPr>
              <a:t> </a:t>
            </a:r>
            <a:r>
              <a:rPr dirty="0" sz="2600">
                <a:solidFill>
                  <a:srgbClr val="4E3629"/>
                </a:solidFill>
                <a:latin typeface="Calibri"/>
                <a:cs typeface="Calibri"/>
              </a:rPr>
              <a:t>sentencia</a:t>
            </a:r>
            <a:r>
              <a:rPr dirty="0" sz="2600" spc="-85">
                <a:solidFill>
                  <a:srgbClr val="4E3629"/>
                </a:solidFill>
                <a:latin typeface="Calibri"/>
                <a:cs typeface="Calibri"/>
              </a:rPr>
              <a:t> </a:t>
            </a:r>
            <a:r>
              <a:rPr dirty="0" sz="2600" spc="-30">
                <a:solidFill>
                  <a:srgbClr val="4E3629"/>
                </a:solidFill>
                <a:latin typeface="Calibri"/>
                <a:cs typeface="Calibri"/>
              </a:rPr>
              <a:t>CREATE</a:t>
            </a:r>
            <a:r>
              <a:rPr dirty="0" sz="2600" spc="-75">
                <a:solidFill>
                  <a:srgbClr val="4E3629"/>
                </a:solidFill>
                <a:latin typeface="Calibri"/>
                <a:cs typeface="Calibri"/>
              </a:rPr>
              <a:t> </a:t>
            </a:r>
            <a:r>
              <a:rPr dirty="0" sz="2600" spc="-25">
                <a:solidFill>
                  <a:srgbClr val="4E3629"/>
                </a:solidFill>
                <a:latin typeface="Calibri"/>
                <a:cs typeface="Calibri"/>
              </a:rPr>
              <a:t>TABLE,</a:t>
            </a:r>
            <a:r>
              <a:rPr dirty="0" sz="2600" spc="-75">
                <a:solidFill>
                  <a:srgbClr val="4E3629"/>
                </a:solidFill>
                <a:latin typeface="Calibri"/>
                <a:cs typeface="Calibri"/>
              </a:rPr>
              <a:t> </a:t>
            </a:r>
            <a:r>
              <a:rPr dirty="0" sz="2600">
                <a:solidFill>
                  <a:srgbClr val="4E3629"/>
                </a:solidFill>
                <a:latin typeface="Calibri"/>
                <a:cs typeface="Calibri"/>
              </a:rPr>
              <a:t>la</a:t>
            </a:r>
            <a:r>
              <a:rPr dirty="0" sz="2600" spc="-50">
                <a:solidFill>
                  <a:srgbClr val="4E3629"/>
                </a:solidFill>
                <a:latin typeface="Calibri"/>
                <a:cs typeface="Calibri"/>
              </a:rPr>
              <a:t> </a:t>
            </a:r>
            <a:r>
              <a:rPr dirty="0" sz="2600">
                <a:solidFill>
                  <a:srgbClr val="4E3629"/>
                </a:solidFill>
                <a:latin typeface="Calibri"/>
                <a:cs typeface="Calibri"/>
              </a:rPr>
              <a:t>sintaxis</a:t>
            </a:r>
            <a:r>
              <a:rPr dirty="0" sz="2600" spc="-60">
                <a:solidFill>
                  <a:srgbClr val="4E3629"/>
                </a:solidFill>
                <a:latin typeface="Calibri"/>
                <a:cs typeface="Calibri"/>
              </a:rPr>
              <a:t> </a:t>
            </a:r>
            <a:r>
              <a:rPr dirty="0" sz="2600">
                <a:solidFill>
                  <a:srgbClr val="4E3629"/>
                </a:solidFill>
                <a:latin typeface="Calibri"/>
                <a:cs typeface="Calibri"/>
              </a:rPr>
              <a:t>de</a:t>
            </a:r>
            <a:r>
              <a:rPr dirty="0" sz="2600" spc="-65">
                <a:solidFill>
                  <a:srgbClr val="4E3629"/>
                </a:solidFill>
                <a:latin typeface="Calibri"/>
                <a:cs typeface="Calibri"/>
              </a:rPr>
              <a:t> </a:t>
            </a:r>
            <a:r>
              <a:rPr dirty="0" sz="2600" spc="-10">
                <a:solidFill>
                  <a:srgbClr val="4E3629"/>
                </a:solidFill>
                <a:latin typeface="Calibri"/>
                <a:cs typeface="Calibri"/>
              </a:rPr>
              <a:t>restricción </a:t>
            </a:r>
            <a:r>
              <a:rPr dirty="0" sz="2600">
                <a:solidFill>
                  <a:srgbClr val="4E3629"/>
                </a:solidFill>
                <a:latin typeface="Calibri"/>
                <a:cs typeface="Calibri"/>
              </a:rPr>
              <a:t>PRIMARY</a:t>
            </a:r>
            <a:r>
              <a:rPr dirty="0" sz="2600" spc="-65">
                <a:solidFill>
                  <a:srgbClr val="4E3629"/>
                </a:solidFill>
                <a:latin typeface="Calibri"/>
                <a:cs typeface="Calibri"/>
              </a:rPr>
              <a:t> </a:t>
            </a:r>
            <a:r>
              <a:rPr dirty="0" sz="2600">
                <a:solidFill>
                  <a:srgbClr val="4E3629"/>
                </a:solidFill>
                <a:latin typeface="Calibri"/>
                <a:cs typeface="Calibri"/>
              </a:rPr>
              <a:t>KEY</a:t>
            </a:r>
            <a:r>
              <a:rPr dirty="0" sz="2600" spc="-35">
                <a:solidFill>
                  <a:srgbClr val="4E3629"/>
                </a:solidFill>
                <a:latin typeface="Calibri"/>
                <a:cs typeface="Calibri"/>
              </a:rPr>
              <a:t> </a:t>
            </a:r>
            <a:r>
              <a:rPr dirty="0" sz="2600">
                <a:solidFill>
                  <a:srgbClr val="4E3629"/>
                </a:solidFill>
                <a:latin typeface="Calibri"/>
                <a:cs typeface="Calibri"/>
              </a:rPr>
              <a:t>en</a:t>
            </a:r>
            <a:r>
              <a:rPr dirty="0" sz="2600" spc="-35">
                <a:solidFill>
                  <a:srgbClr val="4E3629"/>
                </a:solidFill>
                <a:latin typeface="Calibri"/>
                <a:cs typeface="Calibri"/>
              </a:rPr>
              <a:t> </a:t>
            </a:r>
            <a:r>
              <a:rPr dirty="0" sz="2600">
                <a:solidFill>
                  <a:srgbClr val="4E3629"/>
                </a:solidFill>
                <a:latin typeface="Calibri"/>
                <a:cs typeface="Calibri"/>
              </a:rPr>
              <a:t>el</a:t>
            </a:r>
            <a:r>
              <a:rPr dirty="0" sz="2600" spc="-30">
                <a:solidFill>
                  <a:srgbClr val="4E3629"/>
                </a:solidFill>
                <a:latin typeface="Calibri"/>
                <a:cs typeface="Calibri"/>
              </a:rPr>
              <a:t> </a:t>
            </a:r>
            <a:r>
              <a:rPr dirty="0" sz="2600">
                <a:solidFill>
                  <a:srgbClr val="4E3629"/>
                </a:solidFill>
                <a:latin typeface="Calibri"/>
                <a:cs typeface="Calibri"/>
              </a:rPr>
              <a:t>nivel</a:t>
            </a:r>
            <a:r>
              <a:rPr dirty="0" sz="2600" spc="-30">
                <a:solidFill>
                  <a:srgbClr val="4E3629"/>
                </a:solidFill>
                <a:latin typeface="Calibri"/>
                <a:cs typeface="Calibri"/>
              </a:rPr>
              <a:t> </a:t>
            </a:r>
            <a:r>
              <a:rPr dirty="0" sz="2600">
                <a:solidFill>
                  <a:srgbClr val="4E3629"/>
                </a:solidFill>
                <a:latin typeface="Calibri"/>
                <a:cs typeface="Calibri"/>
              </a:rPr>
              <a:t>de</a:t>
            </a:r>
            <a:r>
              <a:rPr dirty="0" sz="2600" spc="-35">
                <a:solidFill>
                  <a:srgbClr val="4E3629"/>
                </a:solidFill>
                <a:latin typeface="Calibri"/>
                <a:cs typeface="Calibri"/>
              </a:rPr>
              <a:t> </a:t>
            </a:r>
            <a:r>
              <a:rPr dirty="0" sz="2600">
                <a:solidFill>
                  <a:srgbClr val="4E3629"/>
                </a:solidFill>
                <a:latin typeface="Calibri"/>
                <a:cs typeface="Calibri"/>
              </a:rPr>
              <a:t>columna</a:t>
            </a:r>
            <a:r>
              <a:rPr dirty="0" sz="2600" spc="-40">
                <a:solidFill>
                  <a:srgbClr val="4E3629"/>
                </a:solidFill>
                <a:latin typeface="Calibri"/>
                <a:cs typeface="Calibri"/>
              </a:rPr>
              <a:t> </a:t>
            </a:r>
            <a:r>
              <a:rPr dirty="0" sz="2600">
                <a:solidFill>
                  <a:srgbClr val="4E3629"/>
                </a:solidFill>
                <a:latin typeface="Calibri"/>
                <a:cs typeface="Calibri"/>
              </a:rPr>
              <a:t>se</a:t>
            </a:r>
            <a:r>
              <a:rPr dirty="0" sz="2600" spc="-35">
                <a:solidFill>
                  <a:srgbClr val="4E3629"/>
                </a:solidFill>
                <a:latin typeface="Calibri"/>
                <a:cs typeface="Calibri"/>
              </a:rPr>
              <a:t> </a:t>
            </a:r>
            <a:r>
              <a:rPr dirty="0" sz="2600">
                <a:solidFill>
                  <a:srgbClr val="4E3629"/>
                </a:solidFill>
                <a:latin typeface="Calibri"/>
                <a:cs typeface="Calibri"/>
              </a:rPr>
              <a:t>indica</a:t>
            </a:r>
            <a:r>
              <a:rPr dirty="0" sz="2600" spc="-35">
                <a:solidFill>
                  <a:srgbClr val="4E3629"/>
                </a:solidFill>
                <a:latin typeface="Calibri"/>
                <a:cs typeface="Calibri"/>
              </a:rPr>
              <a:t> </a:t>
            </a:r>
            <a:r>
              <a:rPr dirty="0" sz="2600">
                <a:solidFill>
                  <a:srgbClr val="4E3629"/>
                </a:solidFill>
                <a:latin typeface="Calibri"/>
                <a:cs typeface="Calibri"/>
              </a:rPr>
              <a:t>de</a:t>
            </a:r>
            <a:r>
              <a:rPr dirty="0" sz="2600" spc="-35">
                <a:solidFill>
                  <a:srgbClr val="4E3629"/>
                </a:solidFill>
                <a:latin typeface="Calibri"/>
                <a:cs typeface="Calibri"/>
              </a:rPr>
              <a:t> </a:t>
            </a:r>
            <a:r>
              <a:rPr dirty="0" sz="2600" spc="-25">
                <a:solidFill>
                  <a:srgbClr val="4E3629"/>
                </a:solidFill>
                <a:latin typeface="Calibri"/>
                <a:cs typeface="Calibri"/>
              </a:rPr>
              <a:t>la </a:t>
            </a:r>
            <a:r>
              <a:rPr dirty="0" sz="2600">
                <a:solidFill>
                  <a:srgbClr val="4E3629"/>
                </a:solidFill>
                <a:latin typeface="Calibri"/>
                <a:cs typeface="Calibri"/>
              </a:rPr>
              <a:t>siguiente</a:t>
            </a:r>
            <a:r>
              <a:rPr dirty="0" sz="2600" spc="-110">
                <a:solidFill>
                  <a:srgbClr val="4E3629"/>
                </a:solidFill>
                <a:latin typeface="Calibri"/>
                <a:cs typeface="Calibri"/>
              </a:rPr>
              <a:t> </a:t>
            </a:r>
            <a:r>
              <a:rPr dirty="0" sz="2600" spc="-10">
                <a:solidFill>
                  <a:srgbClr val="4E3629"/>
                </a:solidFill>
                <a:latin typeface="Calibri"/>
                <a:cs typeface="Calibri"/>
              </a:rPr>
              <a:t>forma:</a:t>
            </a:r>
            <a:endParaRPr sz="2600">
              <a:latin typeface="Calibri"/>
              <a:cs typeface="Calibri"/>
            </a:endParaRPr>
          </a:p>
        </p:txBody>
      </p:sp>
      <p:sp>
        <p:nvSpPr>
          <p:cNvPr id="4" name="object 4" descr=""/>
          <p:cNvSpPr txBox="1"/>
          <p:nvPr/>
        </p:nvSpPr>
        <p:spPr>
          <a:xfrm>
            <a:off x="483552" y="3696845"/>
            <a:ext cx="7839709" cy="2108200"/>
          </a:xfrm>
          <a:prstGeom prst="rect">
            <a:avLst/>
          </a:prstGeom>
        </p:spPr>
        <p:txBody>
          <a:bodyPr wrap="square" lIns="0" tIns="88900" rIns="0" bIns="0" rtlCol="0" vert="horz">
            <a:spAutoFit/>
          </a:bodyPr>
          <a:lstStyle/>
          <a:p>
            <a:pPr algn="just" marL="184785" marR="5080" indent="-172720">
              <a:lnSpc>
                <a:spcPts val="2500"/>
              </a:lnSpc>
              <a:spcBef>
                <a:spcPts val="700"/>
              </a:spcBef>
              <a:buClr>
                <a:srgbClr val="D1350F"/>
              </a:buClr>
              <a:buFont typeface="Arial MT"/>
              <a:buChar char="•"/>
              <a:tabLst>
                <a:tab pos="184785" algn="l"/>
              </a:tabLst>
            </a:pPr>
            <a:r>
              <a:rPr dirty="0" sz="2600" spc="-50">
                <a:solidFill>
                  <a:srgbClr val="4E3629"/>
                </a:solidFill>
                <a:latin typeface="Calibri"/>
                <a:cs typeface="Calibri"/>
              </a:rPr>
              <a:t>Tenga</a:t>
            </a:r>
            <a:r>
              <a:rPr dirty="0" sz="2600" spc="-65">
                <a:solidFill>
                  <a:srgbClr val="4E3629"/>
                </a:solidFill>
                <a:latin typeface="Calibri"/>
                <a:cs typeface="Calibri"/>
              </a:rPr>
              <a:t> </a:t>
            </a:r>
            <a:r>
              <a:rPr dirty="0" sz="2600">
                <a:solidFill>
                  <a:srgbClr val="4E3629"/>
                </a:solidFill>
                <a:latin typeface="Calibri"/>
                <a:cs typeface="Calibri"/>
              </a:rPr>
              <a:t>en</a:t>
            </a:r>
            <a:r>
              <a:rPr dirty="0" sz="2600" spc="-50">
                <a:solidFill>
                  <a:srgbClr val="4E3629"/>
                </a:solidFill>
                <a:latin typeface="Calibri"/>
                <a:cs typeface="Calibri"/>
              </a:rPr>
              <a:t> </a:t>
            </a:r>
            <a:r>
              <a:rPr dirty="0" sz="2600">
                <a:solidFill>
                  <a:srgbClr val="4E3629"/>
                </a:solidFill>
                <a:latin typeface="Calibri"/>
                <a:cs typeface="Calibri"/>
              </a:rPr>
              <a:t>cuenta</a:t>
            </a:r>
            <a:r>
              <a:rPr dirty="0" sz="2600" spc="-60">
                <a:solidFill>
                  <a:srgbClr val="4E3629"/>
                </a:solidFill>
                <a:latin typeface="Calibri"/>
                <a:cs typeface="Calibri"/>
              </a:rPr>
              <a:t> </a:t>
            </a:r>
            <a:r>
              <a:rPr dirty="0" sz="2600">
                <a:solidFill>
                  <a:srgbClr val="4E3629"/>
                </a:solidFill>
                <a:latin typeface="Calibri"/>
                <a:cs typeface="Calibri"/>
              </a:rPr>
              <a:t>que</a:t>
            </a:r>
            <a:r>
              <a:rPr dirty="0" sz="2600" spc="-55">
                <a:solidFill>
                  <a:srgbClr val="4E3629"/>
                </a:solidFill>
                <a:latin typeface="Calibri"/>
                <a:cs typeface="Calibri"/>
              </a:rPr>
              <a:t> </a:t>
            </a:r>
            <a:r>
              <a:rPr dirty="0" sz="2600">
                <a:solidFill>
                  <a:srgbClr val="4E3629"/>
                </a:solidFill>
                <a:latin typeface="Calibri"/>
                <a:cs typeface="Calibri"/>
              </a:rPr>
              <a:t>el</a:t>
            </a:r>
            <a:r>
              <a:rPr dirty="0" sz="2600" spc="-45">
                <a:solidFill>
                  <a:srgbClr val="4E3629"/>
                </a:solidFill>
                <a:latin typeface="Calibri"/>
                <a:cs typeface="Calibri"/>
              </a:rPr>
              <a:t> </a:t>
            </a:r>
            <a:r>
              <a:rPr dirty="0" sz="2600">
                <a:solidFill>
                  <a:srgbClr val="4E3629"/>
                </a:solidFill>
                <a:latin typeface="Calibri"/>
                <a:cs typeface="Calibri"/>
              </a:rPr>
              <a:t>nivel</a:t>
            </a:r>
            <a:r>
              <a:rPr dirty="0" sz="2600" spc="-60">
                <a:solidFill>
                  <a:srgbClr val="4E3629"/>
                </a:solidFill>
                <a:latin typeface="Calibri"/>
                <a:cs typeface="Calibri"/>
              </a:rPr>
              <a:t> </a:t>
            </a:r>
            <a:r>
              <a:rPr dirty="0" sz="2600">
                <a:solidFill>
                  <a:srgbClr val="4E3629"/>
                </a:solidFill>
                <a:latin typeface="Calibri"/>
                <a:cs typeface="Calibri"/>
              </a:rPr>
              <a:t>de</a:t>
            </a:r>
            <a:r>
              <a:rPr dirty="0" sz="2600" spc="-55">
                <a:solidFill>
                  <a:srgbClr val="4E3629"/>
                </a:solidFill>
                <a:latin typeface="Calibri"/>
                <a:cs typeface="Calibri"/>
              </a:rPr>
              <a:t> </a:t>
            </a:r>
            <a:r>
              <a:rPr dirty="0" sz="2600">
                <a:solidFill>
                  <a:srgbClr val="4E3629"/>
                </a:solidFill>
                <a:latin typeface="Calibri"/>
                <a:cs typeface="Calibri"/>
              </a:rPr>
              <a:t>columna</a:t>
            </a:r>
            <a:r>
              <a:rPr dirty="0" sz="2600" spc="-35">
                <a:solidFill>
                  <a:srgbClr val="4E3629"/>
                </a:solidFill>
                <a:latin typeface="Calibri"/>
                <a:cs typeface="Calibri"/>
              </a:rPr>
              <a:t> </a:t>
            </a:r>
            <a:r>
              <a:rPr dirty="0" sz="2600">
                <a:solidFill>
                  <a:srgbClr val="4E3629"/>
                </a:solidFill>
                <a:latin typeface="Calibri"/>
                <a:cs typeface="Calibri"/>
              </a:rPr>
              <a:t>simplemente</a:t>
            </a:r>
            <a:r>
              <a:rPr dirty="0" sz="2600" spc="-70">
                <a:solidFill>
                  <a:srgbClr val="4E3629"/>
                </a:solidFill>
                <a:latin typeface="Calibri"/>
                <a:cs typeface="Calibri"/>
              </a:rPr>
              <a:t> </a:t>
            </a:r>
            <a:r>
              <a:rPr dirty="0" sz="2600" spc="-25">
                <a:solidFill>
                  <a:srgbClr val="4E3629"/>
                </a:solidFill>
                <a:latin typeface="Calibri"/>
                <a:cs typeface="Calibri"/>
              </a:rPr>
              <a:t>se </a:t>
            </a:r>
            <a:r>
              <a:rPr dirty="0" sz="2600">
                <a:solidFill>
                  <a:srgbClr val="4E3629"/>
                </a:solidFill>
                <a:latin typeface="Calibri"/>
                <a:cs typeface="Calibri"/>
              </a:rPr>
              <a:t>refiere</a:t>
            </a:r>
            <a:r>
              <a:rPr dirty="0" sz="2600" spc="-70">
                <a:solidFill>
                  <a:srgbClr val="4E3629"/>
                </a:solidFill>
                <a:latin typeface="Calibri"/>
                <a:cs typeface="Calibri"/>
              </a:rPr>
              <a:t> </a:t>
            </a:r>
            <a:r>
              <a:rPr dirty="0" sz="2600">
                <a:solidFill>
                  <a:srgbClr val="4E3629"/>
                </a:solidFill>
                <a:latin typeface="Calibri"/>
                <a:cs typeface="Calibri"/>
              </a:rPr>
              <a:t>al</a:t>
            </a:r>
            <a:r>
              <a:rPr dirty="0" sz="2600" spc="-45">
                <a:solidFill>
                  <a:srgbClr val="4E3629"/>
                </a:solidFill>
                <a:latin typeface="Calibri"/>
                <a:cs typeface="Calibri"/>
              </a:rPr>
              <a:t> </a:t>
            </a:r>
            <a:r>
              <a:rPr dirty="0" sz="2600">
                <a:solidFill>
                  <a:srgbClr val="4E3629"/>
                </a:solidFill>
                <a:latin typeface="Calibri"/>
                <a:cs typeface="Calibri"/>
              </a:rPr>
              <a:t>área</a:t>
            </a:r>
            <a:r>
              <a:rPr dirty="0" sz="2600" spc="-40">
                <a:solidFill>
                  <a:srgbClr val="4E3629"/>
                </a:solidFill>
                <a:latin typeface="Calibri"/>
                <a:cs typeface="Calibri"/>
              </a:rPr>
              <a:t> </a:t>
            </a:r>
            <a:r>
              <a:rPr dirty="0" sz="2600">
                <a:solidFill>
                  <a:srgbClr val="4E3629"/>
                </a:solidFill>
                <a:latin typeface="Calibri"/>
                <a:cs typeface="Calibri"/>
              </a:rPr>
              <a:t>de</a:t>
            </a:r>
            <a:r>
              <a:rPr dirty="0" sz="2600" spc="-60">
                <a:solidFill>
                  <a:srgbClr val="4E3629"/>
                </a:solidFill>
                <a:latin typeface="Calibri"/>
                <a:cs typeface="Calibri"/>
              </a:rPr>
              <a:t> </a:t>
            </a:r>
            <a:r>
              <a:rPr dirty="0" sz="2600">
                <a:solidFill>
                  <a:srgbClr val="4E3629"/>
                </a:solidFill>
                <a:latin typeface="Calibri"/>
                <a:cs typeface="Calibri"/>
              </a:rPr>
              <a:t>la</a:t>
            </a:r>
            <a:r>
              <a:rPr dirty="0" sz="2600" spc="-45">
                <a:solidFill>
                  <a:srgbClr val="4E3629"/>
                </a:solidFill>
                <a:latin typeface="Calibri"/>
                <a:cs typeface="Calibri"/>
              </a:rPr>
              <a:t> </a:t>
            </a:r>
            <a:r>
              <a:rPr dirty="0" sz="2600">
                <a:solidFill>
                  <a:srgbClr val="4E3629"/>
                </a:solidFill>
                <a:latin typeface="Calibri"/>
                <a:cs typeface="Calibri"/>
              </a:rPr>
              <a:t>sentencia</a:t>
            </a:r>
            <a:r>
              <a:rPr dirty="0" sz="2600" spc="-80">
                <a:solidFill>
                  <a:srgbClr val="4E3629"/>
                </a:solidFill>
                <a:latin typeface="Calibri"/>
                <a:cs typeface="Calibri"/>
              </a:rPr>
              <a:t> </a:t>
            </a:r>
            <a:r>
              <a:rPr dirty="0" sz="2600" spc="-30">
                <a:solidFill>
                  <a:srgbClr val="4E3629"/>
                </a:solidFill>
                <a:latin typeface="Calibri"/>
                <a:cs typeface="Calibri"/>
              </a:rPr>
              <a:t>CREATE</a:t>
            </a:r>
            <a:r>
              <a:rPr dirty="0" sz="2600" spc="-65">
                <a:solidFill>
                  <a:srgbClr val="4E3629"/>
                </a:solidFill>
                <a:latin typeface="Calibri"/>
                <a:cs typeface="Calibri"/>
              </a:rPr>
              <a:t> </a:t>
            </a:r>
            <a:r>
              <a:rPr dirty="0" sz="2600" spc="-30">
                <a:solidFill>
                  <a:srgbClr val="4E3629"/>
                </a:solidFill>
                <a:latin typeface="Calibri"/>
                <a:cs typeface="Calibri"/>
              </a:rPr>
              <a:t>TABLE</a:t>
            </a:r>
            <a:r>
              <a:rPr dirty="0" sz="2600" spc="-70">
                <a:solidFill>
                  <a:srgbClr val="4E3629"/>
                </a:solidFill>
                <a:latin typeface="Calibri"/>
                <a:cs typeface="Calibri"/>
              </a:rPr>
              <a:t> </a:t>
            </a:r>
            <a:r>
              <a:rPr dirty="0" sz="2600">
                <a:solidFill>
                  <a:srgbClr val="4E3629"/>
                </a:solidFill>
                <a:latin typeface="Calibri"/>
                <a:cs typeface="Calibri"/>
              </a:rPr>
              <a:t>en</a:t>
            </a:r>
            <a:r>
              <a:rPr dirty="0" sz="2600" spc="-65">
                <a:solidFill>
                  <a:srgbClr val="4E3629"/>
                </a:solidFill>
                <a:latin typeface="Calibri"/>
                <a:cs typeface="Calibri"/>
              </a:rPr>
              <a:t> </a:t>
            </a:r>
            <a:r>
              <a:rPr dirty="0" sz="2600">
                <a:solidFill>
                  <a:srgbClr val="4E3629"/>
                </a:solidFill>
                <a:latin typeface="Calibri"/>
                <a:cs typeface="Calibri"/>
              </a:rPr>
              <a:t>el</a:t>
            </a:r>
            <a:r>
              <a:rPr dirty="0" sz="2600" spc="-45">
                <a:solidFill>
                  <a:srgbClr val="4E3629"/>
                </a:solidFill>
                <a:latin typeface="Calibri"/>
                <a:cs typeface="Calibri"/>
              </a:rPr>
              <a:t> </a:t>
            </a:r>
            <a:r>
              <a:rPr dirty="0" sz="2600">
                <a:solidFill>
                  <a:srgbClr val="4E3629"/>
                </a:solidFill>
                <a:latin typeface="Calibri"/>
                <a:cs typeface="Calibri"/>
              </a:rPr>
              <a:t>que</a:t>
            </a:r>
            <a:r>
              <a:rPr dirty="0" sz="2600" spc="-65">
                <a:solidFill>
                  <a:srgbClr val="4E3629"/>
                </a:solidFill>
                <a:latin typeface="Calibri"/>
                <a:cs typeface="Calibri"/>
              </a:rPr>
              <a:t> </a:t>
            </a:r>
            <a:r>
              <a:rPr dirty="0" sz="2600" spc="-25">
                <a:solidFill>
                  <a:srgbClr val="4E3629"/>
                </a:solidFill>
                <a:latin typeface="Calibri"/>
                <a:cs typeface="Calibri"/>
              </a:rPr>
              <a:t>las </a:t>
            </a:r>
            <a:r>
              <a:rPr dirty="0" sz="2600">
                <a:solidFill>
                  <a:srgbClr val="4E3629"/>
                </a:solidFill>
                <a:latin typeface="Calibri"/>
                <a:cs typeface="Calibri"/>
              </a:rPr>
              <a:t>columnas</a:t>
            </a:r>
            <a:r>
              <a:rPr dirty="0" sz="2600" spc="-90">
                <a:solidFill>
                  <a:srgbClr val="4E3629"/>
                </a:solidFill>
                <a:latin typeface="Calibri"/>
                <a:cs typeface="Calibri"/>
              </a:rPr>
              <a:t> </a:t>
            </a:r>
            <a:r>
              <a:rPr dirty="0" sz="2600">
                <a:solidFill>
                  <a:srgbClr val="4E3629"/>
                </a:solidFill>
                <a:latin typeface="Calibri"/>
                <a:cs typeface="Calibri"/>
              </a:rPr>
              <a:t>están</a:t>
            </a:r>
            <a:r>
              <a:rPr dirty="0" sz="2600" spc="-100">
                <a:solidFill>
                  <a:srgbClr val="4E3629"/>
                </a:solidFill>
                <a:latin typeface="Calibri"/>
                <a:cs typeface="Calibri"/>
              </a:rPr>
              <a:t> </a:t>
            </a:r>
            <a:r>
              <a:rPr dirty="0" sz="2600" spc="-10">
                <a:solidFill>
                  <a:srgbClr val="4E3629"/>
                </a:solidFill>
                <a:latin typeface="Calibri"/>
                <a:cs typeface="Calibri"/>
              </a:rPr>
              <a:t>definidas</a:t>
            </a:r>
            <a:endParaRPr sz="2600">
              <a:latin typeface="Calibri"/>
              <a:cs typeface="Calibri"/>
            </a:endParaRPr>
          </a:p>
          <a:p>
            <a:pPr marL="184785" marR="486409" indent="-172720">
              <a:lnSpc>
                <a:spcPts val="2500"/>
              </a:lnSpc>
              <a:spcBef>
                <a:spcPts val="785"/>
              </a:spcBef>
              <a:buClr>
                <a:srgbClr val="D1350F"/>
              </a:buClr>
              <a:buFont typeface="Arial MT"/>
              <a:buChar char="•"/>
              <a:tabLst>
                <a:tab pos="184785" algn="l"/>
              </a:tabLst>
            </a:pPr>
            <a:r>
              <a:rPr dirty="0" sz="2600">
                <a:solidFill>
                  <a:srgbClr val="4E3629"/>
                </a:solidFill>
                <a:latin typeface="Calibri"/>
                <a:cs typeface="Calibri"/>
              </a:rPr>
              <a:t>El</a:t>
            </a:r>
            <a:r>
              <a:rPr dirty="0" sz="2600" spc="-30">
                <a:solidFill>
                  <a:srgbClr val="4E3629"/>
                </a:solidFill>
                <a:latin typeface="Calibri"/>
                <a:cs typeface="Calibri"/>
              </a:rPr>
              <a:t> </a:t>
            </a:r>
            <a:r>
              <a:rPr dirty="0" sz="2600">
                <a:solidFill>
                  <a:srgbClr val="4E3629"/>
                </a:solidFill>
                <a:latin typeface="Calibri"/>
                <a:cs typeface="Calibri"/>
              </a:rPr>
              <a:t>nivel</a:t>
            </a:r>
            <a:r>
              <a:rPr dirty="0" sz="2600" spc="-35">
                <a:solidFill>
                  <a:srgbClr val="4E3629"/>
                </a:solidFill>
                <a:latin typeface="Calibri"/>
                <a:cs typeface="Calibri"/>
              </a:rPr>
              <a:t> </a:t>
            </a:r>
            <a:r>
              <a:rPr dirty="0" sz="2600">
                <a:solidFill>
                  <a:srgbClr val="4E3629"/>
                </a:solidFill>
                <a:latin typeface="Calibri"/>
                <a:cs typeface="Calibri"/>
              </a:rPr>
              <a:t>de</a:t>
            </a:r>
            <a:r>
              <a:rPr dirty="0" sz="2600" spc="-45">
                <a:solidFill>
                  <a:srgbClr val="4E3629"/>
                </a:solidFill>
                <a:latin typeface="Calibri"/>
                <a:cs typeface="Calibri"/>
              </a:rPr>
              <a:t> </a:t>
            </a:r>
            <a:r>
              <a:rPr dirty="0" sz="2600">
                <a:solidFill>
                  <a:srgbClr val="4E3629"/>
                </a:solidFill>
                <a:latin typeface="Calibri"/>
                <a:cs typeface="Calibri"/>
              </a:rPr>
              <a:t>tabla</a:t>
            </a:r>
            <a:r>
              <a:rPr dirty="0" sz="2600" spc="-25">
                <a:solidFill>
                  <a:srgbClr val="4E3629"/>
                </a:solidFill>
                <a:latin typeface="Calibri"/>
                <a:cs typeface="Calibri"/>
              </a:rPr>
              <a:t> </a:t>
            </a:r>
            <a:r>
              <a:rPr dirty="0" sz="2600">
                <a:solidFill>
                  <a:srgbClr val="4E3629"/>
                </a:solidFill>
                <a:latin typeface="Calibri"/>
                <a:cs typeface="Calibri"/>
              </a:rPr>
              <a:t>hace</a:t>
            </a:r>
            <a:r>
              <a:rPr dirty="0" sz="2600" spc="-50">
                <a:solidFill>
                  <a:srgbClr val="4E3629"/>
                </a:solidFill>
                <a:latin typeface="Calibri"/>
                <a:cs typeface="Calibri"/>
              </a:rPr>
              <a:t> </a:t>
            </a:r>
            <a:r>
              <a:rPr dirty="0" sz="2600" spc="-10">
                <a:solidFill>
                  <a:srgbClr val="4E3629"/>
                </a:solidFill>
                <a:latin typeface="Calibri"/>
                <a:cs typeface="Calibri"/>
              </a:rPr>
              <a:t>referencia</a:t>
            </a:r>
            <a:r>
              <a:rPr dirty="0" sz="2600" spc="-65">
                <a:solidFill>
                  <a:srgbClr val="4E3629"/>
                </a:solidFill>
                <a:latin typeface="Calibri"/>
                <a:cs typeface="Calibri"/>
              </a:rPr>
              <a:t> </a:t>
            </a:r>
            <a:r>
              <a:rPr dirty="0" sz="2600">
                <a:solidFill>
                  <a:srgbClr val="4E3629"/>
                </a:solidFill>
                <a:latin typeface="Calibri"/>
                <a:cs typeface="Calibri"/>
              </a:rPr>
              <a:t>a</a:t>
            </a:r>
            <a:r>
              <a:rPr dirty="0" sz="2600" spc="-30">
                <a:solidFill>
                  <a:srgbClr val="4E3629"/>
                </a:solidFill>
                <a:latin typeface="Calibri"/>
                <a:cs typeface="Calibri"/>
              </a:rPr>
              <a:t> </a:t>
            </a:r>
            <a:r>
              <a:rPr dirty="0" sz="2600">
                <a:solidFill>
                  <a:srgbClr val="4E3629"/>
                </a:solidFill>
                <a:latin typeface="Calibri"/>
                <a:cs typeface="Calibri"/>
              </a:rPr>
              <a:t>la</a:t>
            </a:r>
            <a:r>
              <a:rPr dirty="0" sz="2600" spc="-25">
                <a:solidFill>
                  <a:srgbClr val="4E3629"/>
                </a:solidFill>
                <a:latin typeface="Calibri"/>
                <a:cs typeface="Calibri"/>
              </a:rPr>
              <a:t> </a:t>
            </a:r>
            <a:r>
              <a:rPr dirty="0" sz="2600">
                <a:solidFill>
                  <a:srgbClr val="4E3629"/>
                </a:solidFill>
                <a:latin typeface="Calibri"/>
                <a:cs typeface="Calibri"/>
              </a:rPr>
              <a:t>última</a:t>
            </a:r>
            <a:r>
              <a:rPr dirty="0" sz="2600" spc="-25">
                <a:solidFill>
                  <a:srgbClr val="4E3629"/>
                </a:solidFill>
                <a:latin typeface="Calibri"/>
                <a:cs typeface="Calibri"/>
              </a:rPr>
              <a:t> </a:t>
            </a:r>
            <a:r>
              <a:rPr dirty="0" sz="2600">
                <a:solidFill>
                  <a:srgbClr val="4E3629"/>
                </a:solidFill>
                <a:latin typeface="Calibri"/>
                <a:cs typeface="Calibri"/>
              </a:rPr>
              <a:t>línea</a:t>
            </a:r>
            <a:r>
              <a:rPr dirty="0" sz="2600" spc="-45">
                <a:solidFill>
                  <a:srgbClr val="4E3629"/>
                </a:solidFill>
                <a:latin typeface="Calibri"/>
                <a:cs typeface="Calibri"/>
              </a:rPr>
              <a:t> </a:t>
            </a:r>
            <a:r>
              <a:rPr dirty="0" sz="2600">
                <a:solidFill>
                  <a:srgbClr val="4E3629"/>
                </a:solidFill>
                <a:latin typeface="Calibri"/>
                <a:cs typeface="Calibri"/>
              </a:rPr>
              <a:t>de</a:t>
            </a:r>
            <a:r>
              <a:rPr dirty="0" sz="2600" spc="-40">
                <a:solidFill>
                  <a:srgbClr val="4E3629"/>
                </a:solidFill>
                <a:latin typeface="Calibri"/>
                <a:cs typeface="Calibri"/>
              </a:rPr>
              <a:t> </a:t>
            </a:r>
            <a:r>
              <a:rPr dirty="0" sz="2600" spc="-25">
                <a:solidFill>
                  <a:srgbClr val="4E3629"/>
                </a:solidFill>
                <a:latin typeface="Calibri"/>
                <a:cs typeface="Calibri"/>
              </a:rPr>
              <a:t>la </a:t>
            </a:r>
            <a:r>
              <a:rPr dirty="0" sz="2600">
                <a:solidFill>
                  <a:srgbClr val="4E3629"/>
                </a:solidFill>
                <a:latin typeface="Calibri"/>
                <a:cs typeface="Calibri"/>
              </a:rPr>
              <a:t>sentencia</a:t>
            </a:r>
            <a:r>
              <a:rPr dirty="0" sz="2600" spc="-80">
                <a:solidFill>
                  <a:srgbClr val="4E3629"/>
                </a:solidFill>
                <a:latin typeface="Calibri"/>
                <a:cs typeface="Calibri"/>
              </a:rPr>
              <a:t> </a:t>
            </a:r>
            <a:r>
              <a:rPr dirty="0" sz="2600">
                <a:solidFill>
                  <a:srgbClr val="4E3629"/>
                </a:solidFill>
                <a:latin typeface="Calibri"/>
                <a:cs typeface="Calibri"/>
              </a:rPr>
              <a:t>debajo</a:t>
            </a:r>
            <a:r>
              <a:rPr dirty="0" sz="2600" spc="-45">
                <a:solidFill>
                  <a:srgbClr val="4E3629"/>
                </a:solidFill>
                <a:latin typeface="Calibri"/>
                <a:cs typeface="Calibri"/>
              </a:rPr>
              <a:t> </a:t>
            </a:r>
            <a:r>
              <a:rPr dirty="0" sz="2600">
                <a:solidFill>
                  <a:srgbClr val="4E3629"/>
                </a:solidFill>
                <a:latin typeface="Calibri"/>
                <a:cs typeface="Calibri"/>
              </a:rPr>
              <a:t>de</a:t>
            </a:r>
            <a:r>
              <a:rPr dirty="0" sz="2600" spc="-65">
                <a:solidFill>
                  <a:srgbClr val="4E3629"/>
                </a:solidFill>
                <a:latin typeface="Calibri"/>
                <a:cs typeface="Calibri"/>
              </a:rPr>
              <a:t> </a:t>
            </a:r>
            <a:r>
              <a:rPr dirty="0" sz="2600">
                <a:solidFill>
                  <a:srgbClr val="4E3629"/>
                </a:solidFill>
                <a:latin typeface="Calibri"/>
                <a:cs typeface="Calibri"/>
              </a:rPr>
              <a:t>la</a:t>
            </a:r>
            <a:r>
              <a:rPr dirty="0" sz="2600" spc="-25">
                <a:solidFill>
                  <a:srgbClr val="4E3629"/>
                </a:solidFill>
                <a:latin typeface="Calibri"/>
                <a:cs typeface="Calibri"/>
              </a:rPr>
              <a:t> </a:t>
            </a:r>
            <a:r>
              <a:rPr dirty="0" sz="2600">
                <a:solidFill>
                  <a:srgbClr val="4E3629"/>
                </a:solidFill>
                <a:latin typeface="Calibri"/>
                <a:cs typeface="Calibri"/>
              </a:rPr>
              <a:t>lista</a:t>
            </a:r>
            <a:r>
              <a:rPr dirty="0" sz="2600" spc="-55">
                <a:solidFill>
                  <a:srgbClr val="4E3629"/>
                </a:solidFill>
                <a:latin typeface="Calibri"/>
                <a:cs typeface="Calibri"/>
              </a:rPr>
              <a:t> </a:t>
            </a:r>
            <a:r>
              <a:rPr dirty="0" sz="2600">
                <a:solidFill>
                  <a:srgbClr val="4E3629"/>
                </a:solidFill>
                <a:latin typeface="Calibri"/>
                <a:cs typeface="Calibri"/>
              </a:rPr>
              <a:t>de</a:t>
            </a:r>
            <a:r>
              <a:rPr dirty="0" sz="2600" spc="-50">
                <a:solidFill>
                  <a:srgbClr val="4E3629"/>
                </a:solidFill>
                <a:latin typeface="Calibri"/>
                <a:cs typeface="Calibri"/>
              </a:rPr>
              <a:t> </a:t>
            </a:r>
            <a:r>
              <a:rPr dirty="0" sz="2600">
                <a:solidFill>
                  <a:srgbClr val="4E3629"/>
                </a:solidFill>
                <a:latin typeface="Calibri"/>
                <a:cs typeface="Calibri"/>
              </a:rPr>
              <a:t>nombres</a:t>
            </a:r>
            <a:r>
              <a:rPr dirty="0" sz="2600" spc="-65">
                <a:solidFill>
                  <a:srgbClr val="4E3629"/>
                </a:solidFill>
                <a:latin typeface="Calibri"/>
                <a:cs typeface="Calibri"/>
              </a:rPr>
              <a:t> </a:t>
            </a:r>
            <a:r>
              <a:rPr dirty="0" sz="2600">
                <a:solidFill>
                  <a:srgbClr val="4E3629"/>
                </a:solidFill>
                <a:latin typeface="Calibri"/>
                <a:cs typeface="Calibri"/>
              </a:rPr>
              <a:t>de</a:t>
            </a:r>
            <a:r>
              <a:rPr dirty="0" sz="2600" spc="-50">
                <a:solidFill>
                  <a:srgbClr val="4E3629"/>
                </a:solidFill>
                <a:latin typeface="Calibri"/>
                <a:cs typeface="Calibri"/>
              </a:rPr>
              <a:t> </a:t>
            </a:r>
            <a:r>
              <a:rPr dirty="0" sz="2600" spc="-10">
                <a:solidFill>
                  <a:srgbClr val="4E3629"/>
                </a:solidFill>
                <a:latin typeface="Calibri"/>
                <a:cs typeface="Calibri"/>
              </a:rPr>
              <a:t>columna individuales</a:t>
            </a:r>
            <a:endParaRPr sz="2600">
              <a:latin typeface="Calibri"/>
              <a:cs typeface="Calibri"/>
            </a:endParaRPr>
          </a:p>
        </p:txBody>
      </p:sp>
      <p:sp>
        <p:nvSpPr>
          <p:cNvPr id="5" name="object 5" descr=""/>
          <p:cNvSpPr txBox="1"/>
          <p:nvPr/>
        </p:nvSpPr>
        <p:spPr>
          <a:xfrm>
            <a:off x="417576" y="2430779"/>
            <a:ext cx="8345805" cy="1327785"/>
          </a:xfrm>
          <a:prstGeom prst="rect">
            <a:avLst/>
          </a:prstGeom>
          <a:solidFill>
            <a:srgbClr val="9DBEC4">
              <a:alpha val="50199"/>
            </a:srgbClr>
          </a:solidFill>
        </p:spPr>
        <p:txBody>
          <a:bodyPr wrap="square" lIns="0" tIns="0" rIns="0" bIns="0" rtlCol="0" vert="horz">
            <a:spAutoFit/>
          </a:bodyPr>
          <a:lstStyle/>
          <a:p>
            <a:pPr>
              <a:lnSpc>
                <a:spcPts val="1770"/>
              </a:lnSpc>
            </a:pPr>
            <a:r>
              <a:rPr dirty="0" sz="1800" b="1">
                <a:solidFill>
                  <a:srgbClr val="4E3629"/>
                </a:solidFill>
                <a:latin typeface="Courier New"/>
                <a:cs typeface="Courier New"/>
              </a:rPr>
              <a:t>CREATE</a:t>
            </a:r>
            <a:r>
              <a:rPr dirty="0" sz="1800" spc="-55" b="1">
                <a:solidFill>
                  <a:srgbClr val="4E3629"/>
                </a:solidFill>
                <a:latin typeface="Courier New"/>
                <a:cs typeface="Courier New"/>
              </a:rPr>
              <a:t> </a:t>
            </a:r>
            <a:r>
              <a:rPr dirty="0" sz="1800" b="1">
                <a:solidFill>
                  <a:srgbClr val="4E3629"/>
                </a:solidFill>
                <a:latin typeface="Courier New"/>
                <a:cs typeface="Courier New"/>
              </a:rPr>
              <a:t>TABLE</a:t>
            </a:r>
            <a:r>
              <a:rPr dirty="0" sz="1800" spc="-50" b="1">
                <a:solidFill>
                  <a:srgbClr val="4E3629"/>
                </a:solidFill>
                <a:latin typeface="Courier New"/>
                <a:cs typeface="Courier New"/>
              </a:rPr>
              <a:t> </a:t>
            </a:r>
            <a:r>
              <a:rPr dirty="0" sz="1800" spc="-10" b="1">
                <a:solidFill>
                  <a:srgbClr val="4E3629"/>
                </a:solidFill>
                <a:latin typeface="Courier New"/>
                <a:cs typeface="Courier New"/>
              </a:rPr>
              <a:t>clients</a:t>
            </a:r>
            <a:endParaRPr sz="1800">
              <a:latin typeface="Courier New"/>
              <a:cs typeface="Courier New"/>
            </a:endParaRPr>
          </a:p>
          <a:p>
            <a:pPr>
              <a:lnSpc>
                <a:spcPct val="100000"/>
              </a:lnSpc>
            </a:pPr>
            <a:r>
              <a:rPr dirty="0" sz="1800" b="1">
                <a:solidFill>
                  <a:srgbClr val="4E3629"/>
                </a:solidFill>
                <a:latin typeface="Courier New"/>
                <a:cs typeface="Courier New"/>
              </a:rPr>
              <a:t>(client_number</a:t>
            </a:r>
            <a:r>
              <a:rPr dirty="0" sz="1800" spc="-120" b="1">
                <a:solidFill>
                  <a:srgbClr val="4E3629"/>
                </a:solidFill>
                <a:latin typeface="Courier New"/>
                <a:cs typeface="Courier New"/>
              </a:rPr>
              <a:t> </a:t>
            </a:r>
            <a:r>
              <a:rPr dirty="0" sz="1800" b="1">
                <a:solidFill>
                  <a:srgbClr val="4E3629"/>
                </a:solidFill>
                <a:latin typeface="Courier New"/>
                <a:cs typeface="Courier New"/>
              </a:rPr>
              <a:t>NUMBER(4)</a:t>
            </a:r>
            <a:r>
              <a:rPr dirty="0" sz="1800" spc="-110" b="1">
                <a:solidFill>
                  <a:srgbClr val="4E3629"/>
                </a:solidFill>
                <a:latin typeface="Courier New"/>
                <a:cs typeface="Courier New"/>
              </a:rPr>
              <a:t> </a:t>
            </a:r>
            <a:r>
              <a:rPr dirty="0" sz="1800" b="1">
                <a:solidFill>
                  <a:srgbClr val="D1350F"/>
                </a:solidFill>
                <a:latin typeface="Courier New"/>
                <a:cs typeface="Courier New"/>
              </a:rPr>
              <a:t>CONSTRAINT</a:t>
            </a:r>
            <a:r>
              <a:rPr dirty="0" sz="1800" spc="-105" b="1">
                <a:solidFill>
                  <a:srgbClr val="D1350F"/>
                </a:solidFill>
                <a:latin typeface="Courier New"/>
                <a:cs typeface="Courier New"/>
              </a:rPr>
              <a:t> </a:t>
            </a:r>
            <a:r>
              <a:rPr dirty="0" sz="1800" spc="-10" b="1">
                <a:solidFill>
                  <a:srgbClr val="D1350F"/>
                </a:solidFill>
                <a:latin typeface="Courier New"/>
                <a:cs typeface="Courier New"/>
              </a:rPr>
              <a:t>clients_client_num_pk</a:t>
            </a:r>
            <a:endParaRPr sz="1800">
              <a:latin typeface="Courier New"/>
              <a:cs typeface="Courier New"/>
            </a:endParaRPr>
          </a:p>
          <a:p>
            <a:pPr algn="ctr" marL="607695">
              <a:lnSpc>
                <a:spcPct val="100000"/>
              </a:lnSpc>
            </a:pPr>
            <a:r>
              <a:rPr dirty="0" sz="1800" b="1">
                <a:solidFill>
                  <a:srgbClr val="D1350F"/>
                </a:solidFill>
                <a:latin typeface="Courier New"/>
                <a:cs typeface="Courier New"/>
              </a:rPr>
              <a:t>PRIMARY</a:t>
            </a:r>
            <a:r>
              <a:rPr dirty="0" sz="1800" spc="-65" b="1">
                <a:solidFill>
                  <a:srgbClr val="D1350F"/>
                </a:solidFill>
                <a:latin typeface="Courier New"/>
                <a:cs typeface="Courier New"/>
              </a:rPr>
              <a:t> </a:t>
            </a:r>
            <a:r>
              <a:rPr dirty="0" sz="1800" spc="-20" b="1">
                <a:solidFill>
                  <a:srgbClr val="D1350F"/>
                </a:solidFill>
                <a:latin typeface="Courier New"/>
                <a:cs typeface="Courier New"/>
              </a:rPr>
              <a:t>KEY</a:t>
            </a:r>
            <a:r>
              <a:rPr dirty="0" sz="1800" spc="-20" b="1">
                <a:solidFill>
                  <a:srgbClr val="4E3629"/>
                </a:solidFill>
                <a:latin typeface="Courier New"/>
                <a:cs typeface="Courier New"/>
              </a:rPr>
              <a:t>,</a:t>
            </a:r>
            <a:endParaRPr sz="1800">
              <a:latin typeface="Courier New"/>
              <a:cs typeface="Courier New"/>
            </a:endParaRPr>
          </a:p>
          <a:p>
            <a:pPr marR="5060950">
              <a:lnSpc>
                <a:spcPct val="100000"/>
              </a:lnSpc>
            </a:pPr>
            <a:r>
              <a:rPr dirty="0" sz="1800" b="1">
                <a:solidFill>
                  <a:srgbClr val="4E3629"/>
                </a:solidFill>
                <a:latin typeface="Courier New"/>
                <a:cs typeface="Courier New"/>
              </a:rPr>
              <a:t>first_name</a:t>
            </a:r>
            <a:r>
              <a:rPr dirty="0" sz="1800" spc="-100" b="1">
                <a:solidFill>
                  <a:srgbClr val="4E3629"/>
                </a:solidFill>
                <a:latin typeface="Courier New"/>
                <a:cs typeface="Courier New"/>
              </a:rPr>
              <a:t> </a:t>
            </a:r>
            <a:r>
              <a:rPr dirty="0" sz="1800" spc="-10" b="1">
                <a:solidFill>
                  <a:srgbClr val="4E3629"/>
                </a:solidFill>
                <a:latin typeface="Courier New"/>
                <a:cs typeface="Courier New"/>
              </a:rPr>
              <a:t>VARCHAR2(14), </a:t>
            </a:r>
            <a:r>
              <a:rPr dirty="0" sz="1800" b="1">
                <a:solidFill>
                  <a:srgbClr val="4E3629"/>
                </a:solidFill>
                <a:latin typeface="Courier New"/>
                <a:cs typeface="Courier New"/>
              </a:rPr>
              <a:t>last_name</a:t>
            </a:r>
            <a:r>
              <a:rPr dirty="0" sz="1800" spc="-85" b="1">
                <a:solidFill>
                  <a:srgbClr val="4E3629"/>
                </a:solidFill>
                <a:latin typeface="Courier New"/>
                <a:cs typeface="Courier New"/>
              </a:rPr>
              <a:t> </a:t>
            </a:r>
            <a:r>
              <a:rPr dirty="0" sz="1800" spc="-10" b="1">
                <a:solidFill>
                  <a:srgbClr val="4E3629"/>
                </a:solidFill>
                <a:latin typeface="Courier New"/>
                <a:cs typeface="Courier New"/>
              </a:rPr>
              <a:t>VARCHAR2(13));</a:t>
            </a:r>
            <a:endParaRPr sz="1800">
              <a:latin typeface="Courier New"/>
              <a:cs typeface="Courier New"/>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spc="-10"/>
              <a:t>Restricciones</a:t>
            </a:r>
            <a:r>
              <a:rPr dirty="0" spc="-125"/>
              <a:t> </a:t>
            </a:r>
            <a:r>
              <a:rPr dirty="0"/>
              <a:t>PRIMARY</a:t>
            </a:r>
            <a:r>
              <a:rPr dirty="0" spc="-110"/>
              <a:t> </a:t>
            </a:r>
            <a:r>
              <a:rPr dirty="0" spc="-25"/>
              <a:t>KEY</a:t>
            </a:r>
          </a:p>
        </p:txBody>
      </p:sp>
      <p:sp>
        <p:nvSpPr>
          <p:cNvPr id="6" name="object 6"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2</a:t>
            </a:r>
          </a:p>
          <a:p>
            <a:pPr marL="12700" marR="5080">
              <a:lnSpc>
                <a:spcPts val="919"/>
              </a:lnSpc>
              <a:spcBef>
                <a:spcPts val="60"/>
              </a:spcBef>
            </a:pPr>
            <a:r>
              <a:rPr dirty="0" spc="-10"/>
              <a:t>Restricciones</a:t>
            </a:r>
            <a:r>
              <a:rPr dirty="0" spc="55"/>
              <a:t> </a:t>
            </a:r>
            <a:r>
              <a:rPr dirty="0"/>
              <a:t>PRIMARY</a:t>
            </a:r>
            <a:r>
              <a:rPr dirty="0" spc="-30"/>
              <a:t> </a:t>
            </a:r>
            <a:r>
              <a:rPr dirty="0" spc="-20"/>
              <a:t>KEY,</a:t>
            </a:r>
            <a:r>
              <a:rPr dirty="0" spc="500"/>
              <a:t> </a:t>
            </a:r>
            <a:r>
              <a:rPr dirty="0"/>
              <a:t>FOREIGN</a:t>
            </a:r>
            <a:r>
              <a:rPr dirty="0" spc="-40"/>
              <a:t> </a:t>
            </a:r>
            <a:r>
              <a:rPr dirty="0"/>
              <a:t>KEY</a:t>
            </a:r>
            <a:r>
              <a:rPr dirty="0" spc="-20"/>
              <a:t> </a:t>
            </a:r>
            <a:r>
              <a:rPr dirty="0"/>
              <a:t>y</a:t>
            </a:r>
            <a:r>
              <a:rPr dirty="0" spc="-5"/>
              <a:t> </a:t>
            </a:r>
            <a:r>
              <a:rPr dirty="0" spc="-20"/>
              <a:t>CHECK</a:t>
            </a:r>
          </a:p>
        </p:txBody>
      </p:sp>
      <p:sp>
        <p:nvSpPr>
          <p:cNvPr id="7" name="object 7"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8</a:t>
            </a:r>
          </a:p>
        </p:txBody>
      </p:sp>
      <p:sp>
        <p:nvSpPr>
          <p:cNvPr id="8" name="object 8"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7592695" cy="836294"/>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spc="-10">
                <a:solidFill>
                  <a:srgbClr val="4E3629"/>
                </a:solidFill>
                <a:latin typeface="Calibri"/>
                <a:cs typeface="Calibri"/>
              </a:rPr>
              <a:t>Para</a:t>
            </a:r>
            <a:r>
              <a:rPr dirty="0" sz="2800" spc="-55">
                <a:solidFill>
                  <a:srgbClr val="4E3629"/>
                </a:solidFill>
                <a:latin typeface="Calibri"/>
                <a:cs typeface="Calibri"/>
              </a:rPr>
              <a:t> </a:t>
            </a:r>
            <a:r>
              <a:rPr dirty="0" sz="2800">
                <a:solidFill>
                  <a:srgbClr val="4E3629"/>
                </a:solidFill>
                <a:latin typeface="Calibri"/>
                <a:cs typeface="Calibri"/>
              </a:rPr>
              <a:t>crear</a:t>
            </a:r>
            <a:r>
              <a:rPr dirty="0" sz="2800" spc="-60">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spc="-10">
                <a:solidFill>
                  <a:srgbClr val="4E3629"/>
                </a:solidFill>
                <a:latin typeface="Calibri"/>
                <a:cs typeface="Calibri"/>
              </a:rPr>
              <a:t>restricción</a:t>
            </a:r>
            <a:r>
              <a:rPr dirty="0" sz="2800" spc="-35">
                <a:solidFill>
                  <a:srgbClr val="4E3629"/>
                </a:solidFill>
                <a:latin typeface="Calibri"/>
                <a:cs typeface="Calibri"/>
              </a:rPr>
              <a:t> </a:t>
            </a:r>
            <a:r>
              <a:rPr dirty="0" sz="2800">
                <a:solidFill>
                  <a:srgbClr val="4E3629"/>
                </a:solidFill>
                <a:latin typeface="Calibri"/>
                <a:cs typeface="Calibri"/>
              </a:rPr>
              <a:t>PRIMARY</a:t>
            </a:r>
            <a:r>
              <a:rPr dirty="0" sz="2800" spc="-40">
                <a:solidFill>
                  <a:srgbClr val="4E3629"/>
                </a:solidFill>
                <a:latin typeface="Calibri"/>
                <a:cs typeface="Calibri"/>
              </a:rPr>
              <a:t> </a:t>
            </a:r>
            <a:r>
              <a:rPr dirty="0" sz="2800">
                <a:solidFill>
                  <a:srgbClr val="4E3629"/>
                </a:solidFill>
                <a:latin typeface="Calibri"/>
                <a:cs typeface="Calibri"/>
              </a:rPr>
              <a:t>KEY</a:t>
            </a:r>
            <a:r>
              <a:rPr dirty="0" sz="2800" spc="-60">
                <a:solidFill>
                  <a:srgbClr val="4E3629"/>
                </a:solidFill>
                <a:latin typeface="Calibri"/>
                <a:cs typeface="Calibri"/>
              </a:rPr>
              <a:t> </a:t>
            </a:r>
            <a:r>
              <a:rPr dirty="0" sz="2800">
                <a:solidFill>
                  <a:srgbClr val="4E3629"/>
                </a:solidFill>
                <a:latin typeface="Calibri"/>
                <a:cs typeface="Calibri"/>
              </a:rPr>
              <a:t>en</a:t>
            </a:r>
            <a:r>
              <a:rPr dirty="0" sz="2800" spc="-55">
                <a:solidFill>
                  <a:srgbClr val="4E3629"/>
                </a:solidFill>
                <a:latin typeface="Calibri"/>
                <a:cs typeface="Calibri"/>
              </a:rPr>
              <a:t> </a:t>
            </a:r>
            <a:r>
              <a:rPr dirty="0" sz="2800">
                <a:solidFill>
                  <a:srgbClr val="4E3629"/>
                </a:solidFill>
                <a:latin typeface="Calibri"/>
                <a:cs typeface="Calibri"/>
              </a:rPr>
              <a:t>el</a:t>
            </a:r>
            <a:r>
              <a:rPr dirty="0" sz="2800" spc="-65">
                <a:solidFill>
                  <a:srgbClr val="4E3629"/>
                </a:solidFill>
                <a:latin typeface="Calibri"/>
                <a:cs typeface="Calibri"/>
              </a:rPr>
              <a:t> </a:t>
            </a:r>
            <a:r>
              <a:rPr dirty="0" sz="2800">
                <a:solidFill>
                  <a:srgbClr val="4E3629"/>
                </a:solidFill>
                <a:latin typeface="Calibri"/>
                <a:cs typeface="Calibri"/>
              </a:rPr>
              <a:t>nivel</a:t>
            </a:r>
            <a:r>
              <a:rPr dirty="0" sz="2800" spc="-65">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tabla,</a:t>
            </a:r>
            <a:r>
              <a:rPr dirty="0" sz="2800" spc="-80">
                <a:solidFill>
                  <a:srgbClr val="4E3629"/>
                </a:solidFill>
                <a:latin typeface="Calibri"/>
                <a:cs typeface="Calibri"/>
              </a:rPr>
              <a:t> </a:t>
            </a:r>
            <a:r>
              <a:rPr dirty="0" sz="2800">
                <a:solidFill>
                  <a:srgbClr val="4E3629"/>
                </a:solidFill>
                <a:latin typeface="Calibri"/>
                <a:cs typeface="Calibri"/>
              </a:rPr>
              <a:t>la</a:t>
            </a:r>
            <a:r>
              <a:rPr dirty="0" sz="2800" spc="-90">
                <a:solidFill>
                  <a:srgbClr val="4E3629"/>
                </a:solidFill>
                <a:latin typeface="Calibri"/>
                <a:cs typeface="Calibri"/>
              </a:rPr>
              <a:t> </a:t>
            </a:r>
            <a:r>
              <a:rPr dirty="0" sz="2800">
                <a:solidFill>
                  <a:srgbClr val="4E3629"/>
                </a:solidFill>
                <a:latin typeface="Calibri"/>
                <a:cs typeface="Calibri"/>
              </a:rPr>
              <a:t>sintaxis</a:t>
            </a:r>
            <a:r>
              <a:rPr dirty="0" sz="2800" spc="-60">
                <a:solidFill>
                  <a:srgbClr val="4E3629"/>
                </a:solidFill>
                <a:latin typeface="Calibri"/>
                <a:cs typeface="Calibri"/>
              </a:rPr>
              <a:t> </a:t>
            </a:r>
            <a:r>
              <a:rPr dirty="0" sz="2800" spc="-25">
                <a:solidFill>
                  <a:srgbClr val="4E3629"/>
                </a:solidFill>
                <a:latin typeface="Calibri"/>
                <a:cs typeface="Calibri"/>
              </a:rPr>
              <a:t>es:</a:t>
            </a:r>
            <a:endParaRPr sz="2800">
              <a:latin typeface="Calibri"/>
              <a:cs typeface="Calibri"/>
            </a:endParaRPr>
          </a:p>
        </p:txBody>
      </p:sp>
      <p:sp>
        <p:nvSpPr>
          <p:cNvPr id="4" name="object 4" descr=""/>
          <p:cNvSpPr txBox="1"/>
          <p:nvPr/>
        </p:nvSpPr>
        <p:spPr>
          <a:xfrm>
            <a:off x="483552" y="4228721"/>
            <a:ext cx="7787640" cy="122047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spc="-40">
                <a:solidFill>
                  <a:srgbClr val="4E3629"/>
                </a:solidFill>
                <a:latin typeface="Calibri"/>
                <a:cs typeface="Calibri"/>
              </a:rPr>
              <a:t>Tenga</a:t>
            </a:r>
            <a:r>
              <a:rPr dirty="0" sz="2800" spc="-60">
                <a:solidFill>
                  <a:srgbClr val="4E3629"/>
                </a:solidFill>
                <a:latin typeface="Calibri"/>
                <a:cs typeface="Calibri"/>
              </a:rPr>
              <a:t> </a:t>
            </a:r>
            <a:r>
              <a:rPr dirty="0" sz="2800">
                <a:solidFill>
                  <a:srgbClr val="4E3629"/>
                </a:solidFill>
                <a:latin typeface="Calibri"/>
                <a:cs typeface="Calibri"/>
              </a:rPr>
              <a:t>en</a:t>
            </a:r>
            <a:r>
              <a:rPr dirty="0" sz="2800" spc="-50">
                <a:solidFill>
                  <a:srgbClr val="4E3629"/>
                </a:solidFill>
                <a:latin typeface="Calibri"/>
                <a:cs typeface="Calibri"/>
              </a:rPr>
              <a:t> </a:t>
            </a:r>
            <a:r>
              <a:rPr dirty="0" sz="2800">
                <a:solidFill>
                  <a:srgbClr val="4E3629"/>
                </a:solidFill>
                <a:latin typeface="Calibri"/>
                <a:cs typeface="Calibri"/>
              </a:rPr>
              <a:t>cuenta</a:t>
            </a:r>
            <a:r>
              <a:rPr dirty="0" sz="2800" spc="-35">
                <a:solidFill>
                  <a:srgbClr val="4E3629"/>
                </a:solidFill>
                <a:latin typeface="Calibri"/>
                <a:cs typeface="Calibri"/>
              </a:rPr>
              <a:t> </a:t>
            </a:r>
            <a:r>
              <a:rPr dirty="0" sz="2800">
                <a:solidFill>
                  <a:srgbClr val="4E3629"/>
                </a:solidFill>
                <a:latin typeface="Calibri"/>
                <a:cs typeface="Calibri"/>
              </a:rPr>
              <a:t>que</a:t>
            </a:r>
            <a:r>
              <a:rPr dirty="0" sz="2800" spc="-40">
                <a:solidFill>
                  <a:srgbClr val="4E3629"/>
                </a:solidFill>
                <a:latin typeface="Calibri"/>
                <a:cs typeface="Calibri"/>
              </a:rPr>
              <a:t> </a:t>
            </a:r>
            <a:r>
              <a:rPr dirty="0" sz="2800">
                <a:solidFill>
                  <a:srgbClr val="4E3629"/>
                </a:solidFill>
                <a:latin typeface="Calibri"/>
                <a:cs typeface="Calibri"/>
              </a:rPr>
              <a:t>el</a:t>
            </a:r>
            <a:r>
              <a:rPr dirty="0" sz="2800" spc="-60">
                <a:solidFill>
                  <a:srgbClr val="4E3629"/>
                </a:solidFill>
                <a:latin typeface="Calibri"/>
                <a:cs typeface="Calibri"/>
              </a:rPr>
              <a:t> </a:t>
            </a:r>
            <a:r>
              <a:rPr dirty="0" sz="2800">
                <a:solidFill>
                  <a:srgbClr val="4E3629"/>
                </a:solidFill>
                <a:latin typeface="Calibri"/>
                <a:cs typeface="Calibri"/>
              </a:rPr>
              <a:t>nombre</a:t>
            </a:r>
            <a:r>
              <a:rPr dirty="0" sz="2800" spc="-3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spc="-10">
                <a:solidFill>
                  <a:srgbClr val="4E3629"/>
                </a:solidFill>
                <a:latin typeface="Calibri"/>
                <a:cs typeface="Calibri"/>
              </a:rPr>
              <a:t>columna </a:t>
            </a:r>
            <a:r>
              <a:rPr dirty="0" sz="2800" spc="-10">
                <a:solidFill>
                  <a:srgbClr val="4E3629"/>
                </a:solidFill>
                <a:latin typeface="Calibri"/>
                <a:cs typeface="Calibri"/>
              </a:rPr>
              <a:t>	</a:t>
            </a:r>
            <a:r>
              <a:rPr dirty="0" sz="2800">
                <a:solidFill>
                  <a:srgbClr val="4E3629"/>
                </a:solidFill>
                <a:latin typeface="Calibri"/>
                <a:cs typeface="Calibri"/>
              </a:rPr>
              <a:t>PRIMARY</a:t>
            </a:r>
            <a:r>
              <a:rPr dirty="0" sz="2800" spc="-30">
                <a:solidFill>
                  <a:srgbClr val="4E3629"/>
                </a:solidFill>
                <a:latin typeface="Calibri"/>
                <a:cs typeface="Calibri"/>
              </a:rPr>
              <a:t> </a:t>
            </a:r>
            <a:r>
              <a:rPr dirty="0" sz="2800">
                <a:solidFill>
                  <a:srgbClr val="4E3629"/>
                </a:solidFill>
                <a:latin typeface="Calibri"/>
                <a:cs typeface="Calibri"/>
              </a:rPr>
              <a:t>KEY</a:t>
            </a:r>
            <a:r>
              <a:rPr dirty="0" sz="2800" spc="-50">
                <a:solidFill>
                  <a:srgbClr val="4E3629"/>
                </a:solidFill>
                <a:latin typeface="Calibri"/>
                <a:cs typeface="Calibri"/>
              </a:rPr>
              <a:t> </a:t>
            </a:r>
            <a:r>
              <a:rPr dirty="0" sz="2800">
                <a:solidFill>
                  <a:srgbClr val="4E3629"/>
                </a:solidFill>
                <a:latin typeface="Calibri"/>
                <a:cs typeface="Calibri"/>
              </a:rPr>
              <a:t>sigue</a:t>
            </a:r>
            <a:r>
              <a:rPr dirty="0" sz="2800" spc="-35">
                <a:solidFill>
                  <a:srgbClr val="4E3629"/>
                </a:solidFill>
                <a:latin typeface="Calibri"/>
                <a:cs typeface="Calibri"/>
              </a:rPr>
              <a:t> </a:t>
            </a:r>
            <a:r>
              <a:rPr dirty="0" sz="2800">
                <a:solidFill>
                  <a:srgbClr val="4E3629"/>
                </a:solidFill>
                <a:latin typeface="Calibri"/>
                <a:cs typeface="Calibri"/>
              </a:rPr>
              <a:t>el</a:t>
            </a:r>
            <a:r>
              <a:rPr dirty="0" sz="2800" spc="-50">
                <a:solidFill>
                  <a:srgbClr val="4E3629"/>
                </a:solidFill>
                <a:latin typeface="Calibri"/>
                <a:cs typeface="Calibri"/>
              </a:rPr>
              <a:t> </a:t>
            </a:r>
            <a:r>
              <a:rPr dirty="0" sz="2800">
                <a:solidFill>
                  <a:srgbClr val="4E3629"/>
                </a:solidFill>
                <a:latin typeface="Calibri"/>
                <a:cs typeface="Calibri"/>
              </a:rPr>
              <a:t>tipo</a:t>
            </a:r>
            <a:r>
              <a:rPr dirty="0" sz="2800" spc="-35">
                <a:solidFill>
                  <a:srgbClr val="4E3629"/>
                </a:solidFill>
                <a:latin typeface="Calibri"/>
                <a:cs typeface="Calibri"/>
              </a:rPr>
              <a:t> </a:t>
            </a:r>
            <a:r>
              <a:rPr dirty="0" sz="2800">
                <a:solidFill>
                  <a:srgbClr val="4E3629"/>
                </a:solidFill>
                <a:latin typeface="Calibri"/>
                <a:cs typeface="Calibri"/>
              </a:rPr>
              <a:t>de</a:t>
            </a:r>
            <a:r>
              <a:rPr dirty="0" sz="2800" spc="-30">
                <a:solidFill>
                  <a:srgbClr val="4E3629"/>
                </a:solidFill>
                <a:latin typeface="Calibri"/>
                <a:cs typeface="Calibri"/>
              </a:rPr>
              <a:t> </a:t>
            </a:r>
            <a:r>
              <a:rPr dirty="0" sz="2800" spc="-10">
                <a:solidFill>
                  <a:srgbClr val="4E3629"/>
                </a:solidFill>
                <a:latin typeface="Calibri"/>
                <a:cs typeface="Calibri"/>
              </a:rPr>
              <a:t>restricción</a:t>
            </a:r>
            <a:r>
              <a:rPr dirty="0" sz="2800" spc="-30">
                <a:solidFill>
                  <a:srgbClr val="4E3629"/>
                </a:solidFill>
                <a:latin typeface="Calibri"/>
                <a:cs typeface="Calibri"/>
              </a:rPr>
              <a:t> </a:t>
            </a:r>
            <a:r>
              <a:rPr dirty="0" sz="2800">
                <a:solidFill>
                  <a:srgbClr val="4E3629"/>
                </a:solidFill>
                <a:latin typeface="Calibri"/>
                <a:cs typeface="Calibri"/>
              </a:rPr>
              <a:t>y</a:t>
            </a:r>
            <a:r>
              <a:rPr dirty="0" sz="2800" spc="-50">
                <a:solidFill>
                  <a:srgbClr val="4E3629"/>
                </a:solidFill>
                <a:latin typeface="Calibri"/>
                <a:cs typeface="Calibri"/>
              </a:rPr>
              <a:t> </a:t>
            </a:r>
            <a:r>
              <a:rPr dirty="0" sz="2800">
                <a:solidFill>
                  <a:srgbClr val="4E3629"/>
                </a:solidFill>
                <a:latin typeface="Calibri"/>
                <a:cs typeface="Calibri"/>
              </a:rPr>
              <a:t>está</a:t>
            </a:r>
            <a:r>
              <a:rPr dirty="0" sz="2800" spc="-30">
                <a:solidFill>
                  <a:srgbClr val="4E3629"/>
                </a:solidFill>
                <a:latin typeface="Calibri"/>
                <a:cs typeface="Calibri"/>
              </a:rPr>
              <a:t> </a:t>
            </a:r>
            <a:r>
              <a:rPr dirty="0" sz="2800" spc="-10">
                <a:solidFill>
                  <a:srgbClr val="4E3629"/>
                </a:solidFill>
                <a:latin typeface="Calibri"/>
                <a:cs typeface="Calibri"/>
              </a:rPr>
              <a:t>entre 	paréntesis</a:t>
            </a:r>
            <a:endParaRPr sz="2800">
              <a:latin typeface="Calibri"/>
              <a:cs typeface="Calibri"/>
            </a:endParaRPr>
          </a:p>
        </p:txBody>
      </p:sp>
      <p:sp>
        <p:nvSpPr>
          <p:cNvPr id="5" name="object 5" descr=""/>
          <p:cNvSpPr txBox="1"/>
          <p:nvPr/>
        </p:nvSpPr>
        <p:spPr>
          <a:xfrm>
            <a:off x="405384" y="2414016"/>
            <a:ext cx="8345805" cy="1569720"/>
          </a:xfrm>
          <a:prstGeom prst="rect">
            <a:avLst/>
          </a:prstGeom>
          <a:solidFill>
            <a:srgbClr val="9DBEC4">
              <a:alpha val="50199"/>
            </a:srgbClr>
          </a:solidFill>
        </p:spPr>
        <p:txBody>
          <a:bodyPr wrap="square" lIns="0" tIns="0" rIns="0" bIns="0" rtlCol="0" vert="horz">
            <a:spAutoFit/>
          </a:bodyPr>
          <a:lstStyle/>
          <a:p>
            <a:pPr algn="just">
              <a:lnSpc>
                <a:spcPts val="1645"/>
              </a:lnSpc>
            </a:pPr>
            <a:r>
              <a:rPr dirty="0" sz="1800" b="1">
                <a:solidFill>
                  <a:srgbClr val="4E3629"/>
                </a:solidFill>
                <a:latin typeface="Courier New"/>
                <a:cs typeface="Courier New"/>
              </a:rPr>
              <a:t>CREATE</a:t>
            </a:r>
            <a:r>
              <a:rPr dirty="0" sz="1800" spc="-55" b="1">
                <a:solidFill>
                  <a:srgbClr val="4E3629"/>
                </a:solidFill>
                <a:latin typeface="Courier New"/>
                <a:cs typeface="Courier New"/>
              </a:rPr>
              <a:t> </a:t>
            </a:r>
            <a:r>
              <a:rPr dirty="0" sz="1800" b="1">
                <a:solidFill>
                  <a:srgbClr val="4E3629"/>
                </a:solidFill>
                <a:latin typeface="Courier New"/>
                <a:cs typeface="Courier New"/>
              </a:rPr>
              <a:t>TABLE</a:t>
            </a:r>
            <a:r>
              <a:rPr dirty="0" sz="1800" spc="-50" b="1">
                <a:solidFill>
                  <a:srgbClr val="4E3629"/>
                </a:solidFill>
                <a:latin typeface="Courier New"/>
                <a:cs typeface="Courier New"/>
              </a:rPr>
              <a:t> </a:t>
            </a:r>
            <a:r>
              <a:rPr dirty="0" sz="1800" spc="-10" b="1">
                <a:solidFill>
                  <a:srgbClr val="4E3629"/>
                </a:solidFill>
                <a:latin typeface="Courier New"/>
                <a:cs typeface="Courier New"/>
              </a:rPr>
              <a:t>clients</a:t>
            </a:r>
            <a:endParaRPr sz="1800">
              <a:latin typeface="Courier New"/>
              <a:cs typeface="Courier New"/>
            </a:endParaRPr>
          </a:p>
          <a:p>
            <a:pPr algn="just" marL="136525" marR="4924425" indent="-137160">
              <a:lnSpc>
                <a:spcPct val="100000"/>
              </a:lnSpc>
            </a:pPr>
            <a:r>
              <a:rPr dirty="0" sz="1800" b="1">
                <a:solidFill>
                  <a:srgbClr val="4E3629"/>
                </a:solidFill>
                <a:latin typeface="Courier New"/>
                <a:cs typeface="Courier New"/>
              </a:rPr>
              <a:t>(client_number</a:t>
            </a:r>
            <a:r>
              <a:rPr dirty="0" sz="1800" spc="-130" b="1">
                <a:solidFill>
                  <a:srgbClr val="4E3629"/>
                </a:solidFill>
                <a:latin typeface="Courier New"/>
                <a:cs typeface="Courier New"/>
              </a:rPr>
              <a:t> </a:t>
            </a:r>
            <a:r>
              <a:rPr dirty="0" sz="1800" spc="-10" b="1">
                <a:solidFill>
                  <a:srgbClr val="4E3629"/>
                </a:solidFill>
                <a:latin typeface="Courier New"/>
                <a:cs typeface="Courier New"/>
              </a:rPr>
              <a:t>NUMBER(4), </a:t>
            </a:r>
            <a:r>
              <a:rPr dirty="0" sz="1800" b="1">
                <a:solidFill>
                  <a:srgbClr val="4E3629"/>
                </a:solidFill>
                <a:latin typeface="Courier New"/>
                <a:cs typeface="Courier New"/>
              </a:rPr>
              <a:t>first_name</a:t>
            </a:r>
            <a:r>
              <a:rPr dirty="0" sz="1800" spc="-100" b="1">
                <a:solidFill>
                  <a:srgbClr val="4E3629"/>
                </a:solidFill>
                <a:latin typeface="Courier New"/>
                <a:cs typeface="Courier New"/>
              </a:rPr>
              <a:t> </a:t>
            </a:r>
            <a:r>
              <a:rPr dirty="0" sz="1800" spc="-10" b="1">
                <a:solidFill>
                  <a:srgbClr val="4E3629"/>
                </a:solidFill>
                <a:latin typeface="Courier New"/>
                <a:cs typeface="Courier New"/>
              </a:rPr>
              <a:t>VARCHAR2(14), </a:t>
            </a:r>
            <a:r>
              <a:rPr dirty="0" sz="1800" b="1">
                <a:solidFill>
                  <a:srgbClr val="4E3629"/>
                </a:solidFill>
                <a:latin typeface="Courier New"/>
                <a:cs typeface="Courier New"/>
              </a:rPr>
              <a:t>last_name</a:t>
            </a:r>
            <a:r>
              <a:rPr dirty="0" sz="1800" spc="-95" b="1">
                <a:solidFill>
                  <a:srgbClr val="4E3629"/>
                </a:solidFill>
                <a:latin typeface="Courier New"/>
                <a:cs typeface="Courier New"/>
              </a:rPr>
              <a:t> </a:t>
            </a:r>
            <a:r>
              <a:rPr dirty="0" sz="1800" spc="-10" b="1">
                <a:solidFill>
                  <a:srgbClr val="4E3629"/>
                </a:solidFill>
                <a:latin typeface="Courier New"/>
                <a:cs typeface="Courier New"/>
              </a:rPr>
              <a:t>VARCHAR2(13),</a:t>
            </a:r>
            <a:endParaRPr sz="1800">
              <a:latin typeface="Courier New"/>
              <a:cs typeface="Courier New"/>
            </a:endParaRPr>
          </a:p>
          <a:p>
            <a:pPr algn="just" marR="2331720">
              <a:lnSpc>
                <a:spcPct val="100000"/>
              </a:lnSpc>
            </a:pPr>
            <a:r>
              <a:rPr dirty="0" sz="1800" b="1">
                <a:solidFill>
                  <a:srgbClr val="D1350F"/>
                </a:solidFill>
                <a:latin typeface="Courier New"/>
                <a:cs typeface="Courier New"/>
              </a:rPr>
              <a:t>CONSTRAINT</a:t>
            </a:r>
            <a:r>
              <a:rPr dirty="0" sz="1800" spc="-130" b="1">
                <a:solidFill>
                  <a:srgbClr val="D1350F"/>
                </a:solidFill>
                <a:latin typeface="Courier New"/>
                <a:cs typeface="Courier New"/>
              </a:rPr>
              <a:t> </a:t>
            </a:r>
            <a:r>
              <a:rPr dirty="0" sz="1800" b="1">
                <a:solidFill>
                  <a:srgbClr val="D1350F"/>
                </a:solidFill>
                <a:latin typeface="Courier New"/>
                <a:cs typeface="Courier New"/>
              </a:rPr>
              <a:t>clients_client_num_pk</a:t>
            </a:r>
            <a:r>
              <a:rPr dirty="0" sz="1800" spc="-125" b="1">
                <a:solidFill>
                  <a:srgbClr val="D1350F"/>
                </a:solidFill>
                <a:latin typeface="Courier New"/>
                <a:cs typeface="Courier New"/>
              </a:rPr>
              <a:t> </a:t>
            </a:r>
            <a:r>
              <a:rPr dirty="0" sz="1800" b="1">
                <a:solidFill>
                  <a:srgbClr val="D1350F"/>
                </a:solidFill>
                <a:latin typeface="Courier New"/>
                <a:cs typeface="Courier New"/>
              </a:rPr>
              <a:t>PRIMARY</a:t>
            </a:r>
            <a:r>
              <a:rPr dirty="0" sz="1800" spc="-114" b="1">
                <a:solidFill>
                  <a:srgbClr val="D1350F"/>
                </a:solidFill>
                <a:latin typeface="Courier New"/>
                <a:cs typeface="Courier New"/>
              </a:rPr>
              <a:t> </a:t>
            </a:r>
            <a:r>
              <a:rPr dirty="0" sz="1800" spc="-25" b="1">
                <a:solidFill>
                  <a:srgbClr val="D1350F"/>
                </a:solidFill>
                <a:latin typeface="Courier New"/>
                <a:cs typeface="Courier New"/>
              </a:rPr>
              <a:t>KEY </a:t>
            </a:r>
            <a:r>
              <a:rPr dirty="0" sz="1800" spc="-10" b="1">
                <a:solidFill>
                  <a:srgbClr val="D1350F"/>
                </a:solidFill>
                <a:latin typeface="Courier New"/>
                <a:cs typeface="Courier New"/>
              </a:rPr>
              <a:t>(client_number</a:t>
            </a:r>
            <a:r>
              <a:rPr dirty="0" sz="1800" spc="-10" b="1">
                <a:solidFill>
                  <a:srgbClr val="4E3629"/>
                </a:solidFill>
                <a:latin typeface="Courier New"/>
                <a:cs typeface="Courier New"/>
              </a:rPr>
              <a:t>));</a:t>
            </a:r>
            <a:endParaRPr sz="1800">
              <a:latin typeface="Courier New"/>
              <a:cs typeface="Courier New"/>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spc="-10"/>
              <a:t>Restricciones</a:t>
            </a:r>
            <a:r>
              <a:rPr dirty="0" spc="-125"/>
              <a:t> </a:t>
            </a:r>
            <a:r>
              <a:rPr dirty="0"/>
              <a:t>PRIMARY</a:t>
            </a:r>
            <a:r>
              <a:rPr dirty="0" spc="-110"/>
              <a:t> </a:t>
            </a:r>
            <a:r>
              <a:rPr dirty="0" spc="-25"/>
              <a:t>KEY</a:t>
            </a:r>
          </a:p>
        </p:txBody>
      </p:sp>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2</a:t>
            </a:r>
          </a:p>
          <a:p>
            <a:pPr marL="12700" marR="5080">
              <a:lnSpc>
                <a:spcPts val="919"/>
              </a:lnSpc>
              <a:spcBef>
                <a:spcPts val="60"/>
              </a:spcBef>
            </a:pPr>
            <a:r>
              <a:rPr dirty="0" spc="-10"/>
              <a:t>Restricciones</a:t>
            </a:r>
            <a:r>
              <a:rPr dirty="0" spc="55"/>
              <a:t> </a:t>
            </a:r>
            <a:r>
              <a:rPr dirty="0"/>
              <a:t>PRIMARY</a:t>
            </a:r>
            <a:r>
              <a:rPr dirty="0" spc="-30"/>
              <a:t> </a:t>
            </a:r>
            <a:r>
              <a:rPr dirty="0" spc="-20"/>
              <a:t>KEY,</a:t>
            </a:r>
            <a:r>
              <a:rPr dirty="0" spc="500"/>
              <a:t> </a:t>
            </a:r>
            <a:r>
              <a:rPr dirty="0"/>
              <a:t>FOREIGN</a:t>
            </a:r>
            <a:r>
              <a:rPr dirty="0" spc="-40"/>
              <a:t> </a:t>
            </a:r>
            <a:r>
              <a:rPr dirty="0"/>
              <a:t>KEY</a:t>
            </a:r>
            <a:r>
              <a:rPr dirty="0" spc="-20"/>
              <a:t> </a:t>
            </a:r>
            <a:r>
              <a:rPr dirty="0"/>
              <a:t>y</a:t>
            </a:r>
            <a:r>
              <a:rPr dirty="0" spc="-5"/>
              <a:t> </a:t>
            </a:r>
            <a:r>
              <a:rPr dirty="0" spc="-20"/>
              <a:t>CHECK</a:t>
            </a: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9</a:t>
            </a: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7770495" cy="2090420"/>
          </a:xfrm>
          <a:prstGeom prst="rect">
            <a:avLst/>
          </a:prstGeom>
        </p:spPr>
        <p:txBody>
          <a:bodyPr wrap="square" lIns="0" tIns="59690" rIns="0" bIns="0" rtlCol="0" vert="horz">
            <a:spAutoFit/>
          </a:bodyPr>
          <a:lstStyle/>
          <a:p>
            <a:pPr algn="just" marL="182880" marR="148590" indent="-170815">
              <a:lnSpc>
                <a:spcPts val="3030"/>
              </a:lnSpc>
              <a:spcBef>
                <a:spcPts val="470"/>
              </a:spcBef>
              <a:buClr>
                <a:srgbClr val="D1350F"/>
              </a:buClr>
              <a:buFont typeface="Arial MT"/>
              <a:buChar char="•"/>
              <a:tabLst>
                <a:tab pos="184785" algn="l"/>
              </a:tabLst>
            </a:pPr>
            <a:r>
              <a:rPr dirty="0" sz="2800" spc="-10">
                <a:solidFill>
                  <a:srgbClr val="4E3629"/>
                </a:solidFill>
                <a:latin typeface="Calibri"/>
                <a:cs typeface="Calibri"/>
              </a:rPr>
              <a:t>Para</a:t>
            </a:r>
            <a:r>
              <a:rPr dirty="0" sz="2800" spc="-100">
                <a:solidFill>
                  <a:srgbClr val="4E3629"/>
                </a:solidFill>
                <a:latin typeface="Calibri"/>
                <a:cs typeface="Calibri"/>
              </a:rPr>
              <a:t> </a:t>
            </a:r>
            <a:r>
              <a:rPr dirty="0" sz="2800">
                <a:solidFill>
                  <a:srgbClr val="4E3629"/>
                </a:solidFill>
                <a:latin typeface="Calibri"/>
                <a:cs typeface="Calibri"/>
              </a:rPr>
              <a:t>definir</a:t>
            </a:r>
            <a:r>
              <a:rPr dirty="0" sz="2800" spc="-75">
                <a:solidFill>
                  <a:srgbClr val="4E3629"/>
                </a:solidFill>
                <a:latin typeface="Calibri"/>
                <a:cs typeface="Calibri"/>
              </a:rPr>
              <a:t> </a:t>
            </a:r>
            <a:r>
              <a:rPr dirty="0" sz="2800">
                <a:solidFill>
                  <a:srgbClr val="4E3629"/>
                </a:solidFill>
                <a:latin typeface="Calibri"/>
                <a:cs typeface="Calibri"/>
              </a:rPr>
              <a:t>una</a:t>
            </a:r>
            <a:r>
              <a:rPr dirty="0" sz="2800" spc="-75">
                <a:solidFill>
                  <a:srgbClr val="4E3629"/>
                </a:solidFill>
                <a:latin typeface="Calibri"/>
                <a:cs typeface="Calibri"/>
              </a:rPr>
              <a:t> </a:t>
            </a:r>
            <a:r>
              <a:rPr dirty="0" sz="2800" spc="-10">
                <a:solidFill>
                  <a:srgbClr val="4E3629"/>
                </a:solidFill>
                <a:latin typeface="Calibri"/>
                <a:cs typeface="Calibri"/>
              </a:rPr>
              <a:t>CLAVE</a:t>
            </a:r>
            <a:r>
              <a:rPr dirty="0" sz="2800" spc="-100">
                <a:solidFill>
                  <a:srgbClr val="4E3629"/>
                </a:solidFill>
                <a:latin typeface="Calibri"/>
                <a:cs typeface="Calibri"/>
              </a:rPr>
              <a:t> </a:t>
            </a:r>
            <a:r>
              <a:rPr dirty="0" sz="2800">
                <a:solidFill>
                  <a:srgbClr val="4E3629"/>
                </a:solidFill>
                <a:latin typeface="Calibri"/>
                <a:cs typeface="Calibri"/>
              </a:rPr>
              <a:t>PRIMARIA</a:t>
            </a:r>
            <a:r>
              <a:rPr dirty="0" sz="2800" spc="-85">
                <a:solidFill>
                  <a:srgbClr val="4E3629"/>
                </a:solidFill>
                <a:latin typeface="Calibri"/>
                <a:cs typeface="Calibri"/>
              </a:rPr>
              <a:t> </a:t>
            </a:r>
            <a:r>
              <a:rPr dirty="0" sz="2800" spc="-10">
                <a:solidFill>
                  <a:srgbClr val="4E3629"/>
                </a:solidFill>
                <a:latin typeface="Calibri"/>
                <a:cs typeface="Calibri"/>
              </a:rPr>
              <a:t>compuesta,</a:t>
            </a:r>
            <a:r>
              <a:rPr dirty="0" sz="2800" spc="-65">
                <a:solidFill>
                  <a:srgbClr val="4E3629"/>
                </a:solidFill>
                <a:latin typeface="Calibri"/>
                <a:cs typeface="Calibri"/>
              </a:rPr>
              <a:t> </a:t>
            </a:r>
            <a:r>
              <a:rPr dirty="0" sz="2800" spc="-20">
                <a:solidFill>
                  <a:srgbClr val="4E3629"/>
                </a:solidFill>
                <a:latin typeface="Calibri"/>
                <a:cs typeface="Calibri"/>
              </a:rPr>
              <a:t>debe </a:t>
            </a:r>
            <a:r>
              <a:rPr dirty="0" sz="2800" spc="-20">
                <a:solidFill>
                  <a:srgbClr val="4E3629"/>
                </a:solidFill>
                <a:latin typeface="Calibri"/>
                <a:cs typeface="Calibri"/>
              </a:rPr>
              <a:t>	</a:t>
            </a:r>
            <a:r>
              <a:rPr dirty="0" sz="2800">
                <a:solidFill>
                  <a:srgbClr val="4E3629"/>
                </a:solidFill>
                <a:latin typeface="Calibri"/>
                <a:cs typeface="Calibri"/>
              </a:rPr>
              <a:t>definir</a:t>
            </a:r>
            <a:r>
              <a:rPr dirty="0" sz="2800" spc="-40">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spc="-10">
                <a:solidFill>
                  <a:srgbClr val="4E3629"/>
                </a:solidFill>
                <a:latin typeface="Calibri"/>
                <a:cs typeface="Calibri"/>
              </a:rPr>
              <a:t>restricción</a:t>
            </a:r>
            <a:r>
              <a:rPr dirty="0" sz="2800" spc="-35">
                <a:solidFill>
                  <a:srgbClr val="4E3629"/>
                </a:solidFill>
                <a:latin typeface="Calibri"/>
                <a:cs typeface="Calibri"/>
              </a:rPr>
              <a:t> </a:t>
            </a:r>
            <a:r>
              <a:rPr dirty="0" sz="2800">
                <a:solidFill>
                  <a:srgbClr val="4E3629"/>
                </a:solidFill>
                <a:latin typeface="Calibri"/>
                <a:cs typeface="Calibri"/>
              </a:rPr>
              <a:t>en</a:t>
            </a:r>
            <a:r>
              <a:rPr dirty="0" sz="2800" spc="-50">
                <a:solidFill>
                  <a:srgbClr val="4E3629"/>
                </a:solidFill>
                <a:latin typeface="Calibri"/>
                <a:cs typeface="Calibri"/>
              </a:rPr>
              <a:t> </a:t>
            </a:r>
            <a:r>
              <a:rPr dirty="0" sz="2800">
                <a:solidFill>
                  <a:srgbClr val="4E3629"/>
                </a:solidFill>
                <a:latin typeface="Calibri"/>
                <a:cs typeface="Calibri"/>
              </a:rPr>
              <a:t>el</a:t>
            </a:r>
            <a:r>
              <a:rPr dirty="0" sz="2800" spc="-70">
                <a:solidFill>
                  <a:srgbClr val="4E3629"/>
                </a:solidFill>
                <a:latin typeface="Calibri"/>
                <a:cs typeface="Calibri"/>
              </a:rPr>
              <a:t> </a:t>
            </a:r>
            <a:r>
              <a:rPr dirty="0" sz="2800">
                <a:solidFill>
                  <a:srgbClr val="4E3629"/>
                </a:solidFill>
                <a:latin typeface="Calibri"/>
                <a:cs typeface="Calibri"/>
              </a:rPr>
              <a:t>nivel</a:t>
            </a:r>
            <a:r>
              <a:rPr dirty="0" sz="2800" spc="-5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tabla</a:t>
            </a:r>
            <a:r>
              <a:rPr dirty="0" sz="2800" spc="-50">
                <a:solidFill>
                  <a:srgbClr val="4E3629"/>
                </a:solidFill>
                <a:latin typeface="Calibri"/>
                <a:cs typeface="Calibri"/>
              </a:rPr>
              <a:t> </a:t>
            </a:r>
            <a:r>
              <a:rPr dirty="0" sz="2800">
                <a:solidFill>
                  <a:srgbClr val="4E3629"/>
                </a:solidFill>
                <a:latin typeface="Calibri"/>
                <a:cs typeface="Calibri"/>
              </a:rPr>
              <a:t>en</a:t>
            </a:r>
            <a:r>
              <a:rPr dirty="0" sz="2800" spc="-50">
                <a:solidFill>
                  <a:srgbClr val="4E3629"/>
                </a:solidFill>
                <a:latin typeface="Calibri"/>
                <a:cs typeface="Calibri"/>
              </a:rPr>
              <a:t> </a:t>
            </a:r>
            <a:r>
              <a:rPr dirty="0" sz="2800">
                <a:solidFill>
                  <a:srgbClr val="4E3629"/>
                </a:solidFill>
                <a:latin typeface="Calibri"/>
                <a:cs typeface="Calibri"/>
              </a:rPr>
              <a:t>lugar</a:t>
            </a:r>
            <a:r>
              <a:rPr dirty="0" sz="2800" spc="-55">
                <a:solidFill>
                  <a:srgbClr val="4E3629"/>
                </a:solidFill>
                <a:latin typeface="Calibri"/>
                <a:cs typeface="Calibri"/>
              </a:rPr>
              <a:t> </a:t>
            </a:r>
            <a:r>
              <a:rPr dirty="0" sz="2800" spc="-25">
                <a:solidFill>
                  <a:srgbClr val="4E3629"/>
                </a:solidFill>
                <a:latin typeface="Calibri"/>
                <a:cs typeface="Calibri"/>
              </a:rPr>
              <a:t>del </a:t>
            </a:r>
            <a:r>
              <a:rPr dirty="0" sz="2800" spc="-25">
                <a:solidFill>
                  <a:srgbClr val="4E3629"/>
                </a:solidFill>
                <a:latin typeface="Calibri"/>
                <a:cs typeface="Calibri"/>
              </a:rPr>
              <a:t>	</a:t>
            </a:r>
            <a:r>
              <a:rPr dirty="0" sz="2800">
                <a:solidFill>
                  <a:srgbClr val="4E3629"/>
                </a:solidFill>
                <a:latin typeface="Calibri"/>
                <a:cs typeface="Calibri"/>
              </a:rPr>
              <a:t>nivel</a:t>
            </a:r>
            <a:r>
              <a:rPr dirty="0" sz="2800" spc="-50">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spc="-10">
                <a:solidFill>
                  <a:srgbClr val="4E3629"/>
                </a:solidFill>
                <a:latin typeface="Calibri"/>
                <a:cs typeface="Calibri"/>
              </a:rPr>
              <a:t>columna</a:t>
            </a:r>
            <a:endParaRPr sz="2800">
              <a:latin typeface="Calibri"/>
              <a:cs typeface="Calibri"/>
            </a:endParaRPr>
          </a:p>
          <a:p>
            <a:pPr algn="just" marL="182880" marR="5080" indent="-170815">
              <a:lnSpc>
                <a:spcPts val="3030"/>
              </a:lnSpc>
              <a:spcBef>
                <a:spcPts val="785"/>
              </a:spcBef>
              <a:buClr>
                <a:srgbClr val="D1350F"/>
              </a:buClr>
              <a:buFont typeface="Arial MT"/>
              <a:buChar char="•"/>
              <a:tabLst>
                <a:tab pos="184785" algn="l"/>
              </a:tabLst>
            </a:pPr>
            <a:r>
              <a:rPr dirty="0" sz="2800">
                <a:solidFill>
                  <a:srgbClr val="4E3629"/>
                </a:solidFill>
                <a:latin typeface="Calibri"/>
                <a:cs typeface="Calibri"/>
              </a:rPr>
              <a:t>A</a:t>
            </a:r>
            <a:r>
              <a:rPr dirty="0" sz="2800" spc="-45">
                <a:solidFill>
                  <a:srgbClr val="4E3629"/>
                </a:solidFill>
                <a:latin typeface="Calibri"/>
                <a:cs typeface="Calibri"/>
              </a:rPr>
              <a:t> </a:t>
            </a:r>
            <a:r>
              <a:rPr dirty="0" sz="2800" spc="-10">
                <a:solidFill>
                  <a:srgbClr val="4E3629"/>
                </a:solidFill>
                <a:latin typeface="Calibri"/>
                <a:cs typeface="Calibri"/>
              </a:rPr>
              <a:t>continuación</a:t>
            </a:r>
            <a:r>
              <a:rPr dirty="0" sz="2800" spc="-30">
                <a:solidFill>
                  <a:srgbClr val="4E3629"/>
                </a:solidFill>
                <a:latin typeface="Calibri"/>
                <a:cs typeface="Calibri"/>
              </a:rPr>
              <a:t> </a:t>
            </a:r>
            <a:r>
              <a:rPr dirty="0" sz="2800">
                <a:solidFill>
                  <a:srgbClr val="4E3629"/>
                </a:solidFill>
                <a:latin typeface="Calibri"/>
                <a:cs typeface="Calibri"/>
              </a:rPr>
              <a:t>se</a:t>
            </a:r>
            <a:r>
              <a:rPr dirty="0" sz="2800" spc="-55">
                <a:solidFill>
                  <a:srgbClr val="4E3629"/>
                </a:solidFill>
                <a:latin typeface="Calibri"/>
                <a:cs typeface="Calibri"/>
              </a:rPr>
              <a:t> </a:t>
            </a:r>
            <a:r>
              <a:rPr dirty="0" sz="2800" spc="-10">
                <a:solidFill>
                  <a:srgbClr val="4E3629"/>
                </a:solidFill>
                <a:latin typeface="Calibri"/>
                <a:cs typeface="Calibri"/>
              </a:rPr>
              <a:t>muestra</a:t>
            </a:r>
            <a:r>
              <a:rPr dirty="0" sz="2800" spc="-30">
                <a:solidFill>
                  <a:srgbClr val="4E3629"/>
                </a:solidFill>
                <a:latin typeface="Calibri"/>
                <a:cs typeface="Calibri"/>
              </a:rPr>
              <a:t> </a:t>
            </a:r>
            <a:r>
              <a:rPr dirty="0" sz="2800">
                <a:solidFill>
                  <a:srgbClr val="4E3629"/>
                </a:solidFill>
                <a:latin typeface="Calibri"/>
                <a:cs typeface="Calibri"/>
              </a:rPr>
              <a:t>un</a:t>
            </a:r>
            <a:r>
              <a:rPr dirty="0" sz="2800" spc="-40">
                <a:solidFill>
                  <a:srgbClr val="4E3629"/>
                </a:solidFill>
                <a:latin typeface="Calibri"/>
                <a:cs typeface="Calibri"/>
              </a:rPr>
              <a:t> </a:t>
            </a:r>
            <a:r>
              <a:rPr dirty="0" sz="2800">
                <a:solidFill>
                  <a:srgbClr val="4E3629"/>
                </a:solidFill>
                <a:latin typeface="Calibri"/>
                <a:cs typeface="Calibri"/>
              </a:rPr>
              <a:t>ejemplo</a:t>
            </a:r>
            <a:r>
              <a:rPr dirty="0" sz="2800" spc="-45">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spc="-10">
                <a:solidFill>
                  <a:srgbClr val="4E3629"/>
                </a:solidFill>
                <a:latin typeface="Calibri"/>
                <a:cs typeface="Calibri"/>
              </a:rPr>
              <a:t>restricción </a:t>
            </a:r>
            <a:r>
              <a:rPr dirty="0" sz="2800" spc="-10">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a:solidFill>
                  <a:srgbClr val="4E3629"/>
                </a:solidFill>
                <a:latin typeface="Calibri"/>
                <a:cs typeface="Calibri"/>
              </a:rPr>
              <a:t>clave</a:t>
            </a:r>
            <a:r>
              <a:rPr dirty="0" sz="2800" spc="-85">
                <a:solidFill>
                  <a:srgbClr val="4E3629"/>
                </a:solidFill>
                <a:latin typeface="Calibri"/>
                <a:cs typeface="Calibri"/>
              </a:rPr>
              <a:t> </a:t>
            </a:r>
            <a:r>
              <a:rPr dirty="0" sz="2800">
                <a:solidFill>
                  <a:srgbClr val="4E3629"/>
                </a:solidFill>
                <a:latin typeface="Calibri"/>
                <a:cs typeface="Calibri"/>
              </a:rPr>
              <a:t>primaria</a:t>
            </a:r>
            <a:r>
              <a:rPr dirty="0" sz="2800" spc="-65">
                <a:solidFill>
                  <a:srgbClr val="4E3629"/>
                </a:solidFill>
                <a:latin typeface="Calibri"/>
                <a:cs typeface="Calibri"/>
              </a:rPr>
              <a:t> </a:t>
            </a:r>
            <a:r>
              <a:rPr dirty="0" sz="2800" spc="-10">
                <a:solidFill>
                  <a:srgbClr val="4E3629"/>
                </a:solidFill>
                <a:latin typeface="Calibri"/>
                <a:cs typeface="Calibri"/>
              </a:rPr>
              <a:t>compuesta:</a:t>
            </a:r>
            <a:endParaRPr sz="2800">
              <a:latin typeface="Calibri"/>
              <a:cs typeface="Calibri"/>
            </a:endParaRPr>
          </a:p>
        </p:txBody>
      </p:sp>
      <p:sp>
        <p:nvSpPr>
          <p:cNvPr id="4" name="object 4" descr=""/>
          <p:cNvSpPr txBox="1"/>
          <p:nvPr/>
        </p:nvSpPr>
        <p:spPr>
          <a:xfrm>
            <a:off x="405384" y="3691128"/>
            <a:ext cx="8345805" cy="2024380"/>
          </a:xfrm>
          <a:prstGeom prst="rect">
            <a:avLst/>
          </a:prstGeom>
          <a:solidFill>
            <a:srgbClr val="9DBEC4">
              <a:alpha val="50199"/>
            </a:srgbClr>
          </a:solidFill>
        </p:spPr>
        <p:txBody>
          <a:bodyPr wrap="square" lIns="0" tIns="24765" rIns="0" bIns="0" rtlCol="0" vert="horz">
            <a:spAutoFit/>
          </a:bodyPr>
          <a:lstStyle/>
          <a:p>
            <a:pPr marR="4378960">
              <a:lnSpc>
                <a:spcPct val="100000"/>
              </a:lnSpc>
              <a:spcBef>
                <a:spcPts val="195"/>
              </a:spcBef>
            </a:pPr>
            <a:r>
              <a:rPr dirty="0" sz="1800" b="1">
                <a:solidFill>
                  <a:srgbClr val="4E3629"/>
                </a:solidFill>
                <a:latin typeface="Courier New"/>
                <a:cs typeface="Courier New"/>
              </a:rPr>
              <a:t>CREATE</a:t>
            </a:r>
            <a:r>
              <a:rPr dirty="0" sz="1800" spc="-55" b="1">
                <a:solidFill>
                  <a:srgbClr val="4E3629"/>
                </a:solidFill>
                <a:latin typeface="Courier New"/>
                <a:cs typeface="Courier New"/>
              </a:rPr>
              <a:t> </a:t>
            </a:r>
            <a:r>
              <a:rPr dirty="0" sz="1800" b="1">
                <a:solidFill>
                  <a:srgbClr val="4E3629"/>
                </a:solidFill>
                <a:latin typeface="Courier New"/>
                <a:cs typeface="Courier New"/>
              </a:rPr>
              <a:t>TABLE</a:t>
            </a:r>
            <a:r>
              <a:rPr dirty="0" sz="1800" spc="-50" b="1">
                <a:solidFill>
                  <a:srgbClr val="4E3629"/>
                </a:solidFill>
                <a:latin typeface="Courier New"/>
                <a:cs typeface="Courier New"/>
              </a:rPr>
              <a:t> </a:t>
            </a:r>
            <a:r>
              <a:rPr dirty="0" sz="1800" spc="-10" b="1">
                <a:solidFill>
                  <a:srgbClr val="4E3629"/>
                </a:solidFill>
                <a:latin typeface="Courier New"/>
                <a:cs typeface="Courier New"/>
              </a:rPr>
              <a:t>copy_job_history </a:t>
            </a:r>
            <a:r>
              <a:rPr dirty="0" sz="1800" b="1">
                <a:solidFill>
                  <a:srgbClr val="4E3629"/>
                </a:solidFill>
                <a:latin typeface="Courier New"/>
                <a:cs typeface="Courier New"/>
              </a:rPr>
              <a:t>(employee_id</a:t>
            </a:r>
            <a:r>
              <a:rPr dirty="0" sz="1800" spc="-105" b="1">
                <a:solidFill>
                  <a:srgbClr val="4E3629"/>
                </a:solidFill>
                <a:latin typeface="Courier New"/>
                <a:cs typeface="Courier New"/>
              </a:rPr>
              <a:t> </a:t>
            </a:r>
            <a:r>
              <a:rPr dirty="0" sz="1800" spc="-10" b="1">
                <a:solidFill>
                  <a:srgbClr val="4E3629"/>
                </a:solidFill>
                <a:latin typeface="Courier New"/>
                <a:cs typeface="Courier New"/>
              </a:rPr>
              <a:t>NUMBER(6,0),</a:t>
            </a:r>
            <a:endParaRPr sz="1800">
              <a:latin typeface="Courier New"/>
              <a:cs typeface="Courier New"/>
            </a:endParaRPr>
          </a:p>
          <a:p>
            <a:pPr marL="136525" marR="5469890">
              <a:lnSpc>
                <a:spcPct val="100000"/>
              </a:lnSpc>
            </a:pPr>
            <a:r>
              <a:rPr dirty="0" sz="1800" b="1">
                <a:solidFill>
                  <a:srgbClr val="4E3629"/>
                </a:solidFill>
                <a:latin typeface="Courier New"/>
                <a:cs typeface="Courier New"/>
              </a:rPr>
              <a:t>start_date</a:t>
            </a:r>
            <a:r>
              <a:rPr dirty="0" sz="1800" spc="-100" b="1">
                <a:solidFill>
                  <a:srgbClr val="4E3629"/>
                </a:solidFill>
                <a:latin typeface="Courier New"/>
                <a:cs typeface="Courier New"/>
              </a:rPr>
              <a:t> </a:t>
            </a:r>
            <a:r>
              <a:rPr dirty="0" sz="1800" spc="-10" b="1">
                <a:solidFill>
                  <a:srgbClr val="4E3629"/>
                </a:solidFill>
                <a:latin typeface="Courier New"/>
                <a:cs typeface="Courier New"/>
              </a:rPr>
              <a:t>DATE, </a:t>
            </a:r>
            <a:r>
              <a:rPr dirty="0" sz="1800" b="1">
                <a:solidFill>
                  <a:srgbClr val="4E3629"/>
                </a:solidFill>
                <a:latin typeface="Courier New"/>
                <a:cs typeface="Courier New"/>
              </a:rPr>
              <a:t>job_id</a:t>
            </a:r>
            <a:r>
              <a:rPr dirty="0" sz="1800" spc="-60" b="1">
                <a:solidFill>
                  <a:srgbClr val="4E3629"/>
                </a:solidFill>
                <a:latin typeface="Courier New"/>
                <a:cs typeface="Courier New"/>
              </a:rPr>
              <a:t> </a:t>
            </a:r>
            <a:r>
              <a:rPr dirty="0" sz="1800" spc="-10" b="1">
                <a:solidFill>
                  <a:srgbClr val="4E3629"/>
                </a:solidFill>
                <a:latin typeface="Courier New"/>
                <a:cs typeface="Courier New"/>
              </a:rPr>
              <a:t>VARCHAR2(10),</a:t>
            </a:r>
            <a:endParaRPr sz="1800">
              <a:latin typeface="Courier New"/>
              <a:cs typeface="Courier New"/>
            </a:endParaRPr>
          </a:p>
          <a:p>
            <a:pPr marL="136525">
              <a:lnSpc>
                <a:spcPct val="100000"/>
              </a:lnSpc>
            </a:pPr>
            <a:r>
              <a:rPr dirty="0" sz="1800" b="1">
                <a:solidFill>
                  <a:srgbClr val="4E3629"/>
                </a:solidFill>
                <a:latin typeface="Courier New"/>
                <a:cs typeface="Courier New"/>
              </a:rPr>
              <a:t>department_id</a:t>
            </a:r>
            <a:r>
              <a:rPr dirty="0" sz="1800" spc="-125" b="1">
                <a:solidFill>
                  <a:srgbClr val="4E3629"/>
                </a:solidFill>
                <a:latin typeface="Courier New"/>
                <a:cs typeface="Courier New"/>
              </a:rPr>
              <a:t> </a:t>
            </a:r>
            <a:r>
              <a:rPr dirty="0" sz="1800" spc="-10" b="1">
                <a:solidFill>
                  <a:srgbClr val="4E3629"/>
                </a:solidFill>
                <a:latin typeface="Courier New"/>
                <a:cs typeface="Courier New"/>
              </a:rPr>
              <a:t>NUMBER(4,0),</a:t>
            </a:r>
            <a:endParaRPr sz="1800">
              <a:latin typeface="Courier New"/>
              <a:cs typeface="Courier New"/>
            </a:endParaRPr>
          </a:p>
          <a:p>
            <a:pPr marR="147955">
              <a:lnSpc>
                <a:spcPct val="100000"/>
              </a:lnSpc>
            </a:pPr>
            <a:r>
              <a:rPr dirty="0" sz="1800" b="1">
                <a:solidFill>
                  <a:srgbClr val="D1350F"/>
                </a:solidFill>
                <a:latin typeface="Courier New"/>
                <a:cs typeface="Courier New"/>
              </a:rPr>
              <a:t>CONSTRAINT</a:t>
            </a:r>
            <a:r>
              <a:rPr dirty="0" sz="1800" spc="-150" b="1">
                <a:solidFill>
                  <a:srgbClr val="D1350F"/>
                </a:solidFill>
                <a:latin typeface="Courier New"/>
                <a:cs typeface="Courier New"/>
              </a:rPr>
              <a:t> </a:t>
            </a:r>
            <a:r>
              <a:rPr dirty="0" sz="1800" b="1">
                <a:solidFill>
                  <a:srgbClr val="D1350F"/>
                </a:solidFill>
                <a:latin typeface="Courier New"/>
                <a:cs typeface="Courier New"/>
              </a:rPr>
              <a:t>copy_jhist_id_st_date_pk</a:t>
            </a:r>
            <a:r>
              <a:rPr dirty="0" sz="1800" spc="-130" b="1">
                <a:solidFill>
                  <a:srgbClr val="D1350F"/>
                </a:solidFill>
                <a:latin typeface="Courier New"/>
                <a:cs typeface="Courier New"/>
              </a:rPr>
              <a:t> </a:t>
            </a:r>
            <a:r>
              <a:rPr dirty="0" sz="1800" b="1">
                <a:solidFill>
                  <a:srgbClr val="D1350F"/>
                </a:solidFill>
                <a:latin typeface="Courier New"/>
                <a:cs typeface="Courier New"/>
              </a:rPr>
              <a:t>PRIMARY</a:t>
            </a:r>
            <a:r>
              <a:rPr dirty="0" sz="1800" spc="-135" b="1">
                <a:solidFill>
                  <a:srgbClr val="D1350F"/>
                </a:solidFill>
                <a:latin typeface="Courier New"/>
                <a:cs typeface="Courier New"/>
              </a:rPr>
              <a:t> </a:t>
            </a:r>
            <a:r>
              <a:rPr dirty="0" sz="1800" spc="-10" b="1">
                <a:solidFill>
                  <a:srgbClr val="D1350F"/>
                </a:solidFill>
                <a:latin typeface="Courier New"/>
                <a:cs typeface="Courier New"/>
              </a:rPr>
              <a:t>KEY(employee_id, start_date</a:t>
            </a:r>
            <a:r>
              <a:rPr dirty="0" sz="1800" spc="-10" b="1">
                <a:solidFill>
                  <a:srgbClr val="4E3629"/>
                </a:solidFill>
                <a:latin typeface="Courier New"/>
                <a:cs typeface="Courier New"/>
              </a:rPr>
              <a:t>));</a:t>
            </a:r>
            <a:endParaRPr sz="1800">
              <a:latin typeface="Courier New"/>
              <a:cs typeface="Courier New"/>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ts val="3420"/>
              </a:lnSpc>
              <a:spcBef>
                <a:spcPts val="100"/>
              </a:spcBef>
            </a:pPr>
            <a:r>
              <a:rPr dirty="0" sz="3000"/>
              <a:t>FOREIGN</a:t>
            </a:r>
            <a:r>
              <a:rPr dirty="0" sz="3000" spc="-90"/>
              <a:t> </a:t>
            </a:r>
            <a:r>
              <a:rPr dirty="0" sz="3000"/>
              <a:t>KEY</a:t>
            </a:r>
            <a:r>
              <a:rPr dirty="0" sz="3000" spc="-60"/>
              <a:t> </a:t>
            </a:r>
            <a:r>
              <a:rPr dirty="0" sz="3000" spc="-10"/>
              <a:t>(INTEGRIDAD</a:t>
            </a:r>
            <a:r>
              <a:rPr dirty="0" sz="3000" spc="-75"/>
              <a:t> </a:t>
            </a:r>
            <a:r>
              <a:rPr dirty="0" sz="3000" spc="-10"/>
              <a:t>REFERENCIAL)</a:t>
            </a:r>
            <a:endParaRPr sz="3000"/>
          </a:p>
          <a:p>
            <a:pPr marL="12700">
              <a:lnSpc>
                <a:spcPts val="3420"/>
              </a:lnSpc>
            </a:pPr>
            <a:r>
              <a:rPr dirty="0" sz="3000" spc="-10"/>
              <a:t>Restricciones</a:t>
            </a:r>
            <a:endParaRPr sz="3000"/>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2</a:t>
            </a:r>
          </a:p>
          <a:p>
            <a:pPr marL="12700" marR="5080">
              <a:lnSpc>
                <a:spcPts val="919"/>
              </a:lnSpc>
              <a:spcBef>
                <a:spcPts val="60"/>
              </a:spcBef>
            </a:pPr>
            <a:r>
              <a:rPr dirty="0" spc="-10"/>
              <a:t>Restricciones</a:t>
            </a:r>
            <a:r>
              <a:rPr dirty="0" spc="55"/>
              <a:t> </a:t>
            </a:r>
            <a:r>
              <a:rPr dirty="0"/>
              <a:t>PRIMARY</a:t>
            </a:r>
            <a:r>
              <a:rPr dirty="0" spc="-30"/>
              <a:t> </a:t>
            </a:r>
            <a:r>
              <a:rPr dirty="0" spc="-20"/>
              <a:t>KEY,</a:t>
            </a:r>
            <a:r>
              <a:rPr dirty="0" spc="500"/>
              <a:t> </a:t>
            </a:r>
            <a:r>
              <a:rPr dirty="0"/>
              <a:t>FOREIGN</a:t>
            </a:r>
            <a:r>
              <a:rPr dirty="0" spc="-40"/>
              <a:t> </a:t>
            </a:r>
            <a:r>
              <a:rPr dirty="0"/>
              <a:t>KEY</a:t>
            </a:r>
            <a:r>
              <a:rPr dirty="0" spc="-20"/>
              <a:t> </a:t>
            </a:r>
            <a:r>
              <a:rPr dirty="0"/>
              <a:t>y</a:t>
            </a:r>
            <a:r>
              <a:rPr dirty="0" spc="-5"/>
              <a:t> </a:t>
            </a:r>
            <a:r>
              <a:rPr dirty="0" spc="-20"/>
              <a:t>CHECK</a:t>
            </a: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10</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7964805" cy="296037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Las</a:t>
            </a:r>
            <a:r>
              <a:rPr dirty="0" sz="2800" spc="-60">
                <a:solidFill>
                  <a:srgbClr val="4E3629"/>
                </a:solidFill>
                <a:latin typeface="Calibri"/>
                <a:cs typeface="Calibri"/>
              </a:rPr>
              <a:t> </a:t>
            </a:r>
            <a:r>
              <a:rPr dirty="0" sz="2800" spc="-10">
                <a:solidFill>
                  <a:srgbClr val="4E3629"/>
                </a:solidFill>
                <a:latin typeface="Calibri"/>
                <a:cs typeface="Calibri"/>
              </a:rPr>
              <a:t>restricciones</a:t>
            </a:r>
            <a:r>
              <a:rPr dirty="0" sz="2800" spc="-20">
                <a:solidFill>
                  <a:srgbClr val="4E3629"/>
                </a:solidFill>
                <a:latin typeface="Calibri"/>
                <a:cs typeface="Calibri"/>
              </a:rPr>
              <a:t> </a:t>
            </a:r>
            <a:r>
              <a:rPr dirty="0" sz="2800">
                <a:solidFill>
                  <a:srgbClr val="4E3629"/>
                </a:solidFill>
                <a:latin typeface="Calibri"/>
                <a:cs typeface="Calibri"/>
              </a:rPr>
              <a:t>FOREIGN</a:t>
            </a:r>
            <a:r>
              <a:rPr dirty="0" sz="2800" spc="-55">
                <a:solidFill>
                  <a:srgbClr val="4E3629"/>
                </a:solidFill>
                <a:latin typeface="Calibri"/>
                <a:cs typeface="Calibri"/>
              </a:rPr>
              <a:t> </a:t>
            </a:r>
            <a:r>
              <a:rPr dirty="0" sz="2800">
                <a:solidFill>
                  <a:srgbClr val="4E3629"/>
                </a:solidFill>
                <a:latin typeface="Calibri"/>
                <a:cs typeface="Calibri"/>
              </a:rPr>
              <a:t>KEY</a:t>
            </a:r>
            <a:r>
              <a:rPr dirty="0" sz="2800" spc="-55">
                <a:solidFill>
                  <a:srgbClr val="4E3629"/>
                </a:solidFill>
                <a:latin typeface="Calibri"/>
                <a:cs typeface="Calibri"/>
              </a:rPr>
              <a:t> </a:t>
            </a:r>
            <a:r>
              <a:rPr dirty="0" sz="2800">
                <a:solidFill>
                  <a:srgbClr val="4E3629"/>
                </a:solidFill>
                <a:latin typeface="Calibri"/>
                <a:cs typeface="Calibri"/>
              </a:rPr>
              <a:t>también</a:t>
            </a:r>
            <a:r>
              <a:rPr dirty="0" sz="2800" spc="-35">
                <a:solidFill>
                  <a:srgbClr val="4E3629"/>
                </a:solidFill>
                <a:latin typeface="Calibri"/>
                <a:cs typeface="Calibri"/>
              </a:rPr>
              <a:t> </a:t>
            </a:r>
            <a:r>
              <a:rPr dirty="0" sz="2800">
                <a:solidFill>
                  <a:srgbClr val="4E3629"/>
                </a:solidFill>
                <a:latin typeface="Calibri"/>
                <a:cs typeface="Calibri"/>
              </a:rPr>
              <a:t>se</a:t>
            </a:r>
            <a:r>
              <a:rPr dirty="0" sz="2800" spc="-40">
                <a:solidFill>
                  <a:srgbClr val="4E3629"/>
                </a:solidFill>
                <a:latin typeface="Calibri"/>
                <a:cs typeface="Calibri"/>
              </a:rPr>
              <a:t> </a:t>
            </a:r>
            <a:r>
              <a:rPr dirty="0" sz="2800" spc="-10">
                <a:solidFill>
                  <a:srgbClr val="4E3629"/>
                </a:solidFill>
                <a:latin typeface="Calibri"/>
                <a:cs typeface="Calibri"/>
              </a:rPr>
              <a:t>denominan 	restricciones</a:t>
            </a:r>
            <a:r>
              <a:rPr dirty="0" sz="2800" spc="-55">
                <a:solidFill>
                  <a:srgbClr val="4E3629"/>
                </a:solidFill>
                <a:latin typeface="Calibri"/>
                <a:cs typeface="Calibri"/>
              </a:rPr>
              <a:t> </a:t>
            </a:r>
            <a:r>
              <a:rPr dirty="0" sz="2800">
                <a:solidFill>
                  <a:srgbClr val="4E3629"/>
                </a:solidFill>
                <a:latin typeface="Calibri"/>
                <a:cs typeface="Calibri"/>
              </a:rPr>
              <a:t>de</a:t>
            </a:r>
            <a:r>
              <a:rPr dirty="0" sz="2800" spc="-85">
                <a:solidFill>
                  <a:srgbClr val="4E3629"/>
                </a:solidFill>
                <a:latin typeface="Calibri"/>
                <a:cs typeface="Calibri"/>
              </a:rPr>
              <a:t> </a:t>
            </a:r>
            <a:r>
              <a:rPr dirty="0" sz="2800">
                <a:solidFill>
                  <a:srgbClr val="4E3629"/>
                </a:solidFill>
                <a:latin typeface="Calibri"/>
                <a:cs typeface="Calibri"/>
              </a:rPr>
              <a:t>"integridad</a:t>
            </a:r>
            <a:r>
              <a:rPr dirty="0" sz="2800" spc="-65">
                <a:solidFill>
                  <a:srgbClr val="4E3629"/>
                </a:solidFill>
                <a:latin typeface="Calibri"/>
                <a:cs typeface="Calibri"/>
              </a:rPr>
              <a:t> </a:t>
            </a:r>
            <a:r>
              <a:rPr dirty="0" sz="2800" spc="-10">
                <a:solidFill>
                  <a:srgbClr val="4E3629"/>
                </a:solidFill>
                <a:latin typeface="Calibri"/>
                <a:cs typeface="Calibri"/>
              </a:rPr>
              <a:t>referencial"</a:t>
            </a:r>
            <a:endParaRPr sz="2800">
              <a:latin typeface="Calibri"/>
              <a:cs typeface="Calibri"/>
            </a:endParaRPr>
          </a:p>
          <a:p>
            <a:pPr marL="159385" marR="55880" indent="-147320">
              <a:lnSpc>
                <a:spcPts val="3030"/>
              </a:lnSpc>
              <a:spcBef>
                <a:spcPts val="795"/>
              </a:spcBef>
              <a:buClr>
                <a:srgbClr val="D1350F"/>
              </a:buClr>
              <a:buFont typeface="Arial MT"/>
              <a:buChar char="•"/>
              <a:tabLst>
                <a:tab pos="184785" algn="l"/>
              </a:tabLst>
            </a:pPr>
            <a:r>
              <a:rPr dirty="0" u="heavy" sz="2800" spc="-51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Las</a:t>
            </a:r>
            <a:r>
              <a:rPr dirty="0" u="heavy" sz="2800" spc="-9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restricciones</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Foreign</a:t>
            </a:r>
            <a:r>
              <a:rPr dirty="0" u="heavy" sz="2800" spc="-8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Key</a:t>
            </a:r>
            <a:r>
              <a:rPr dirty="0" u="heavy" sz="2800" spc="-9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designan</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columna</a:t>
            </a:r>
            <a:r>
              <a:rPr dirty="0" u="heavy" sz="2800" spc="-50">
                <a:solidFill>
                  <a:srgbClr val="4E3629"/>
                </a:solidFill>
                <a:uFill>
                  <a:solidFill>
                    <a:srgbClr val="EC2814"/>
                  </a:solidFill>
                </a:uFill>
                <a:latin typeface="Calibri"/>
                <a:cs typeface="Calibri"/>
              </a:rPr>
              <a:t> o</a:t>
            </a:r>
            <a:r>
              <a:rPr dirty="0" sz="2800" spc="-50">
                <a:solidFill>
                  <a:srgbClr val="4E3629"/>
                </a:solidFill>
                <a:latin typeface="Calibri"/>
                <a:cs typeface="Calibri"/>
              </a:rPr>
              <a:t> </a:t>
            </a:r>
            <a:r>
              <a:rPr dirty="0" sz="2800" spc="-50">
                <a:solidFill>
                  <a:srgbClr val="4E3629"/>
                </a:solidFill>
                <a:latin typeface="Calibri"/>
                <a:cs typeface="Calibri"/>
              </a:rPr>
              <a:t>	</a:t>
            </a:r>
            <a:r>
              <a:rPr dirty="0" u="heavy" sz="2800">
                <a:solidFill>
                  <a:srgbClr val="4E3629"/>
                </a:solidFill>
                <a:uFill>
                  <a:solidFill>
                    <a:srgbClr val="EC2814"/>
                  </a:solidFill>
                </a:uFill>
                <a:latin typeface="Calibri"/>
                <a:cs typeface="Calibri"/>
              </a:rPr>
              <a:t>una</a:t>
            </a:r>
            <a:r>
              <a:rPr dirty="0" u="heavy" sz="2800" spc="-6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combinación</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columnas</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como</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clave</a:t>
            </a:r>
            <a:r>
              <a:rPr dirty="0" u="heavy" sz="2800" spc="-7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ajena</a:t>
            </a:r>
            <a:endParaRPr sz="2800">
              <a:latin typeface="Calibri"/>
              <a:cs typeface="Calibri"/>
            </a:endParaRPr>
          </a:p>
          <a:p>
            <a:pPr marL="159385" marR="170815" indent="-147320">
              <a:lnSpc>
                <a:spcPts val="3030"/>
              </a:lnSpc>
              <a:spcBef>
                <a:spcPts val="790"/>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clave</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ajena</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enlaza</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clave</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primaria</a:t>
            </a:r>
            <a:r>
              <a:rPr dirty="0" sz="2800" spc="-20">
                <a:solidFill>
                  <a:srgbClr val="4E3629"/>
                </a:solidFill>
                <a:latin typeface="Calibri"/>
                <a:cs typeface="Calibri"/>
              </a:rPr>
              <a:t> </a:t>
            </a:r>
            <a:r>
              <a:rPr dirty="0" sz="2800">
                <a:solidFill>
                  <a:srgbClr val="4E3629"/>
                </a:solidFill>
                <a:latin typeface="Calibri"/>
                <a:cs typeface="Calibri"/>
              </a:rPr>
              <a:t>(o</a:t>
            </a:r>
            <a:r>
              <a:rPr dirty="0" sz="2800" spc="-60">
                <a:solidFill>
                  <a:srgbClr val="4E3629"/>
                </a:solidFill>
                <a:latin typeface="Calibri"/>
                <a:cs typeface="Calibri"/>
              </a:rPr>
              <a:t> </a:t>
            </a:r>
            <a:r>
              <a:rPr dirty="0" sz="2800">
                <a:solidFill>
                  <a:srgbClr val="4E3629"/>
                </a:solidFill>
                <a:latin typeface="Calibri"/>
                <a:cs typeface="Calibri"/>
              </a:rPr>
              <a:t>una</a:t>
            </a:r>
            <a:r>
              <a:rPr dirty="0" sz="2800" spc="-20">
                <a:solidFill>
                  <a:srgbClr val="4E3629"/>
                </a:solidFill>
                <a:latin typeface="Calibri"/>
                <a:cs typeface="Calibri"/>
              </a:rPr>
              <a:t> </a:t>
            </a:r>
            <a:r>
              <a:rPr dirty="0" sz="2800" spc="-10">
                <a:solidFill>
                  <a:srgbClr val="4E3629"/>
                </a:solidFill>
                <a:latin typeface="Calibri"/>
                <a:cs typeface="Calibri"/>
              </a:rPr>
              <a:t>clave </a:t>
            </a:r>
            <a:r>
              <a:rPr dirty="0" sz="2800" spc="-10">
                <a:solidFill>
                  <a:srgbClr val="4E3629"/>
                </a:solidFill>
                <a:latin typeface="Calibri"/>
                <a:cs typeface="Calibri"/>
              </a:rPr>
              <a:t>	</a:t>
            </a:r>
            <a:r>
              <a:rPr dirty="0" sz="2800">
                <a:solidFill>
                  <a:srgbClr val="4E3629"/>
                </a:solidFill>
                <a:latin typeface="Calibri"/>
                <a:cs typeface="Calibri"/>
              </a:rPr>
              <a:t>única)</a:t>
            </a:r>
            <a:r>
              <a:rPr dirty="0" sz="2800" spc="-40">
                <a:solidFill>
                  <a:srgbClr val="4E3629"/>
                </a:solidFill>
                <a:latin typeface="Calibri"/>
                <a:cs typeface="Calibri"/>
              </a:rPr>
              <a:t> </a:t>
            </a:r>
            <a:r>
              <a:rPr dirty="0" u="heavy" sz="2800">
                <a:solidFill>
                  <a:srgbClr val="4E3629"/>
                </a:solidFill>
                <a:uFill>
                  <a:solidFill>
                    <a:srgbClr val="EC2814"/>
                  </a:solidFill>
                </a:uFill>
                <a:latin typeface="Calibri"/>
                <a:cs typeface="Calibri"/>
              </a:rPr>
              <a:t>en</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otra</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tabla</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y</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este</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enlace</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es</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base</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5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la</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relación</a:t>
            </a:r>
            <a:r>
              <a:rPr dirty="0" u="heavy" sz="2800" spc="-8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entre</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las</a:t>
            </a:r>
            <a:r>
              <a:rPr dirty="0" u="heavy" sz="2800" spc="-7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tablas</a:t>
            </a:r>
            <a:endParaRPr sz="2800">
              <a:latin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spc="-10"/>
              <a:t>Visualización</a:t>
            </a:r>
            <a:r>
              <a:rPr dirty="0" spc="-55"/>
              <a:t> </a:t>
            </a:r>
            <a:r>
              <a:rPr dirty="0"/>
              <a:t>de</a:t>
            </a:r>
            <a:r>
              <a:rPr dirty="0" spc="-85"/>
              <a:t> </a:t>
            </a:r>
            <a:r>
              <a:rPr dirty="0"/>
              <a:t>una</a:t>
            </a:r>
            <a:r>
              <a:rPr dirty="0" spc="-50"/>
              <a:t> </a:t>
            </a:r>
            <a:r>
              <a:rPr dirty="0"/>
              <a:t>Clave</a:t>
            </a:r>
            <a:r>
              <a:rPr dirty="0" spc="-85"/>
              <a:t> </a:t>
            </a:r>
            <a:r>
              <a:rPr dirty="0" spc="-10"/>
              <a:t>Ajena</a:t>
            </a:r>
          </a:p>
        </p:txBody>
      </p:sp>
      <p:sp>
        <p:nvSpPr>
          <p:cNvPr id="8" name="object 8"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2</a:t>
            </a:r>
          </a:p>
          <a:p>
            <a:pPr marL="12700" marR="5080">
              <a:lnSpc>
                <a:spcPts val="919"/>
              </a:lnSpc>
              <a:spcBef>
                <a:spcPts val="60"/>
              </a:spcBef>
            </a:pPr>
            <a:r>
              <a:rPr dirty="0" spc="-10"/>
              <a:t>Restricciones</a:t>
            </a:r>
            <a:r>
              <a:rPr dirty="0" spc="55"/>
              <a:t> </a:t>
            </a:r>
            <a:r>
              <a:rPr dirty="0"/>
              <a:t>PRIMARY</a:t>
            </a:r>
            <a:r>
              <a:rPr dirty="0" spc="-30"/>
              <a:t> </a:t>
            </a:r>
            <a:r>
              <a:rPr dirty="0" spc="-20"/>
              <a:t>KEY,</a:t>
            </a:r>
            <a:r>
              <a:rPr dirty="0" spc="500"/>
              <a:t> </a:t>
            </a:r>
            <a:r>
              <a:rPr dirty="0"/>
              <a:t>FOREIGN</a:t>
            </a:r>
            <a:r>
              <a:rPr dirty="0" spc="-40"/>
              <a:t> </a:t>
            </a:r>
            <a:r>
              <a:rPr dirty="0"/>
              <a:t>KEY</a:t>
            </a:r>
            <a:r>
              <a:rPr dirty="0" spc="-20"/>
              <a:t> </a:t>
            </a:r>
            <a:r>
              <a:rPr dirty="0"/>
              <a:t>y</a:t>
            </a:r>
            <a:r>
              <a:rPr dirty="0" spc="-5"/>
              <a:t> </a:t>
            </a:r>
            <a:r>
              <a:rPr dirty="0" spc="-20"/>
              <a:t>CHECK</a:t>
            </a:r>
          </a:p>
        </p:txBody>
      </p:sp>
      <p:sp>
        <p:nvSpPr>
          <p:cNvPr id="9" name="object 9"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12</a:t>
            </a:r>
          </a:p>
        </p:txBody>
      </p:sp>
      <p:sp>
        <p:nvSpPr>
          <p:cNvPr id="10" name="object 10"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8081009" cy="122047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En</a:t>
            </a:r>
            <a:r>
              <a:rPr dirty="0" sz="2800" spc="-55">
                <a:solidFill>
                  <a:srgbClr val="4E3629"/>
                </a:solidFill>
                <a:latin typeface="Calibri"/>
                <a:cs typeface="Calibri"/>
              </a:rPr>
              <a:t> </a:t>
            </a:r>
            <a:r>
              <a:rPr dirty="0" sz="2800">
                <a:solidFill>
                  <a:srgbClr val="4E3629"/>
                </a:solidFill>
                <a:latin typeface="Calibri"/>
                <a:cs typeface="Calibri"/>
              </a:rPr>
              <a:t>las</a:t>
            </a:r>
            <a:r>
              <a:rPr dirty="0" sz="2800" spc="-65">
                <a:solidFill>
                  <a:srgbClr val="4E3629"/>
                </a:solidFill>
                <a:latin typeface="Calibri"/>
                <a:cs typeface="Calibri"/>
              </a:rPr>
              <a:t> </a:t>
            </a:r>
            <a:r>
              <a:rPr dirty="0" sz="2800">
                <a:solidFill>
                  <a:srgbClr val="4E3629"/>
                </a:solidFill>
                <a:latin typeface="Calibri"/>
                <a:cs typeface="Calibri"/>
              </a:rPr>
              <a:t>tablas</a:t>
            </a:r>
            <a:r>
              <a:rPr dirty="0" sz="2800" spc="-50">
                <a:solidFill>
                  <a:srgbClr val="4E3629"/>
                </a:solidFill>
                <a:latin typeface="Calibri"/>
                <a:cs typeface="Calibri"/>
              </a:rPr>
              <a:t> </a:t>
            </a:r>
            <a:r>
              <a:rPr dirty="0" sz="2800" spc="-10">
                <a:solidFill>
                  <a:srgbClr val="4E3629"/>
                </a:solidFill>
                <a:latin typeface="Calibri"/>
                <a:cs typeface="Calibri"/>
              </a:rPr>
              <a:t>mostradas,</a:t>
            </a:r>
            <a:r>
              <a:rPr dirty="0" sz="2800" spc="-30">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clave</a:t>
            </a:r>
            <a:r>
              <a:rPr dirty="0" sz="2800" spc="-70">
                <a:solidFill>
                  <a:srgbClr val="4E3629"/>
                </a:solidFill>
                <a:latin typeface="Calibri"/>
                <a:cs typeface="Calibri"/>
              </a:rPr>
              <a:t> </a:t>
            </a:r>
            <a:r>
              <a:rPr dirty="0" sz="2800">
                <a:solidFill>
                  <a:srgbClr val="4E3629"/>
                </a:solidFill>
                <a:latin typeface="Calibri"/>
                <a:cs typeface="Calibri"/>
              </a:rPr>
              <a:t>primaria</a:t>
            </a:r>
            <a:r>
              <a:rPr dirty="0" sz="2800" spc="-4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spc="-10">
                <a:solidFill>
                  <a:srgbClr val="4E3629"/>
                </a:solidFill>
                <a:latin typeface="Calibri"/>
                <a:cs typeface="Calibri"/>
              </a:rPr>
              <a:t>tabla </a:t>
            </a:r>
            <a:r>
              <a:rPr dirty="0" sz="2800" spc="-10">
                <a:solidFill>
                  <a:srgbClr val="4E3629"/>
                </a:solidFill>
                <a:latin typeface="Calibri"/>
                <a:cs typeface="Calibri"/>
              </a:rPr>
              <a:t>	</a:t>
            </a:r>
            <a:r>
              <a:rPr dirty="0" sz="2800" spc="-25">
                <a:solidFill>
                  <a:srgbClr val="4E3629"/>
                </a:solidFill>
                <a:latin typeface="Calibri"/>
                <a:cs typeface="Calibri"/>
              </a:rPr>
              <a:t>DEPARTMENTS,</a:t>
            </a:r>
            <a:r>
              <a:rPr dirty="0" sz="2800" spc="-60">
                <a:solidFill>
                  <a:srgbClr val="4E3629"/>
                </a:solidFill>
                <a:latin typeface="Calibri"/>
                <a:cs typeface="Calibri"/>
              </a:rPr>
              <a:t> </a:t>
            </a:r>
            <a:r>
              <a:rPr dirty="0" sz="2800" spc="-10">
                <a:solidFill>
                  <a:srgbClr val="4E3629"/>
                </a:solidFill>
                <a:latin typeface="Calibri"/>
                <a:cs typeface="Calibri"/>
              </a:rPr>
              <a:t>department_id,</a:t>
            </a:r>
            <a:r>
              <a:rPr dirty="0" sz="2800" spc="-35">
                <a:solidFill>
                  <a:srgbClr val="4E3629"/>
                </a:solidFill>
                <a:latin typeface="Calibri"/>
                <a:cs typeface="Calibri"/>
              </a:rPr>
              <a:t> </a:t>
            </a:r>
            <a:r>
              <a:rPr dirty="0" sz="2800">
                <a:solidFill>
                  <a:srgbClr val="4E3629"/>
                </a:solidFill>
                <a:latin typeface="Calibri"/>
                <a:cs typeface="Calibri"/>
              </a:rPr>
              <a:t>también</a:t>
            </a:r>
            <a:r>
              <a:rPr dirty="0" sz="2800" spc="-65">
                <a:solidFill>
                  <a:srgbClr val="4E3629"/>
                </a:solidFill>
                <a:latin typeface="Calibri"/>
                <a:cs typeface="Calibri"/>
              </a:rPr>
              <a:t> </a:t>
            </a:r>
            <a:r>
              <a:rPr dirty="0" sz="2800">
                <a:solidFill>
                  <a:srgbClr val="4E3629"/>
                </a:solidFill>
                <a:latin typeface="Calibri"/>
                <a:cs typeface="Calibri"/>
              </a:rPr>
              <a:t>aparece</a:t>
            </a:r>
            <a:r>
              <a:rPr dirty="0" sz="2800" spc="-95">
                <a:solidFill>
                  <a:srgbClr val="4E3629"/>
                </a:solidFill>
                <a:latin typeface="Calibri"/>
                <a:cs typeface="Calibri"/>
              </a:rPr>
              <a:t> </a:t>
            </a:r>
            <a:r>
              <a:rPr dirty="0" sz="2800">
                <a:solidFill>
                  <a:srgbClr val="4E3629"/>
                </a:solidFill>
                <a:latin typeface="Calibri"/>
                <a:cs typeface="Calibri"/>
              </a:rPr>
              <a:t>en</a:t>
            </a:r>
            <a:r>
              <a:rPr dirty="0" sz="2800" spc="-75">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a:solidFill>
                  <a:srgbClr val="4E3629"/>
                </a:solidFill>
                <a:latin typeface="Calibri"/>
                <a:cs typeface="Calibri"/>
              </a:rPr>
              <a:t>tabla</a:t>
            </a:r>
            <a:r>
              <a:rPr dirty="0" sz="2800" spc="-80">
                <a:solidFill>
                  <a:srgbClr val="4E3629"/>
                </a:solidFill>
                <a:latin typeface="Calibri"/>
                <a:cs typeface="Calibri"/>
              </a:rPr>
              <a:t> </a:t>
            </a:r>
            <a:r>
              <a:rPr dirty="0" sz="2800" spc="-10">
                <a:solidFill>
                  <a:srgbClr val="4E3629"/>
                </a:solidFill>
                <a:latin typeface="Calibri"/>
                <a:cs typeface="Calibri"/>
              </a:rPr>
              <a:t>EMPLOYEES</a:t>
            </a:r>
            <a:r>
              <a:rPr dirty="0" sz="2800" spc="-80">
                <a:solidFill>
                  <a:srgbClr val="4E3629"/>
                </a:solidFill>
                <a:latin typeface="Calibri"/>
                <a:cs typeface="Calibri"/>
              </a:rPr>
              <a:t> </a:t>
            </a:r>
            <a:r>
              <a:rPr dirty="0" sz="2800">
                <a:solidFill>
                  <a:srgbClr val="4E3629"/>
                </a:solidFill>
                <a:latin typeface="Calibri"/>
                <a:cs typeface="Calibri"/>
              </a:rPr>
              <a:t>como</a:t>
            </a:r>
            <a:r>
              <a:rPr dirty="0" sz="2800" spc="-65">
                <a:solidFill>
                  <a:srgbClr val="4E3629"/>
                </a:solidFill>
                <a:latin typeface="Calibri"/>
                <a:cs typeface="Calibri"/>
              </a:rPr>
              <a:t> </a:t>
            </a:r>
            <a:r>
              <a:rPr dirty="0" sz="2800">
                <a:solidFill>
                  <a:srgbClr val="4E3629"/>
                </a:solidFill>
                <a:latin typeface="Calibri"/>
                <a:cs typeface="Calibri"/>
              </a:rPr>
              <a:t>una</a:t>
            </a:r>
            <a:r>
              <a:rPr dirty="0" sz="2800" spc="-65">
                <a:solidFill>
                  <a:srgbClr val="4E3629"/>
                </a:solidFill>
                <a:latin typeface="Calibri"/>
                <a:cs typeface="Calibri"/>
              </a:rPr>
              <a:t> </a:t>
            </a:r>
            <a:r>
              <a:rPr dirty="0" sz="2800">
                <a:solidFill>
                  <a:srgbClr val="4E3629"/>
                </a:solidFill>
                <a:latin typeface="Calibri"/>
                <a:cs typeface="Calibri"/>
              </a:rPr>
              <a:t>columna</a:t>
            </a:r>
            <a:r>
              <a:rPr dirty="0" sz="2800" spc="-50">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a:solidFill>
                  <a:srgbClr val="4E3629"/>
                </a:solidFill>
                <a:latin typeface="Calibri"/>
                <a:cs typeface="Calibri"/>
              </a:rPr>
              <a:t>clave</a:t>
            </a:r>
            <a:r>
              <a:rPr dirty="0" sz="2800" spc="-85">
                <a:solidFill>
                  <a:srgbClr val="4E3629"/>
                </a:solidFill>
                <a:latin typeface="Calibri"/>
                <a:cs typeface="Calibri"/>
              </a:rPr>
              <a:t> </a:t>
            </a:r>
            <a:r>
              <a:rPr dirty="0" sz="2800" spc="-10">
                <a:solidFill>
                  <a:srgbClr val="4E3629"/>
                </a:solidFill>
                <a:latin typeface="Calibri"/>
                <a:cs typeface="Calibri"/>
              </a:rPr>
              <a:t>ajena</a:t>
            </a:r>
            <a:endParaRPr sz="2800">
              <a:latin typeface="Calibri"/>
              <a:cs typeface="Calibri"/>
            </a:endParaRPr>
          </a:p>
        </p:txBody>
      </p:sp>
      <p:sp>
        <p:nvSpPr>
          <p:cNvPr id="4" name="object 4" descr=""/>
          <p:cNvSpPr txBox="1"/>
          <p:nvPr/>
        </p:nvSpPr>
        <p:spPr>
          <a:xfrm>
            <a:off x="659720" y="2816059"/>
            <a:ext cx="2122805" cy="269240"/>
          </a:xfrm>
          <a:prstGeom prst="rect">
            <a:avLst/>
          </a:prstGeom>
        </p:spPr>
        <p:txBody>
          <a:bodyPr wrap="square" lIns="0" tIns="12065" rIns="0" bIns="0" rtlCol="0" vert="horz">
            <a:spAutoFit/>
          </a:bodyPr>
          <a:lstStyle/>
          <a:p>
            <a:pPr marL="12700">
              <a:lnSpc>
                <a:spcPct val="100000"/>
              </a:lnSpc>
              <a:spcBef>
                <a:spcPts val="95"/>
              </a:spcBef>
            </a:pPr>
            <a:r>
              <a:rPr dirty="0" sz="1600" spc="-20" b="1">
                <a:solidFill>
                  <a:srgbClr val="4E3629"/>
                </a:solidFill>
                <a:latin typeface="Calibri"/>
                <a:cs typeface="Calibri"/>
              </a:rPr>
              <a:t>DEPARTMENTS:</a:t>
            </a:r>
            <a:r>
              <a:rPr dirty="0" sz="1600" b="1">
                <a:solidFill>
                  <a:srgbClr val="4E3629"/>
                </a:solidFill>
                <a:latin typeface="Calibri"/>
                <a:cs typeface="Calibri"/>
              </a:rPr>
              <a:t> </a:t>
            </a:r>
            <a:r>
              <a:rPr dirty="0" sz="1600" spc="-10" b="1">
                <a:solidFill>
                  <a:srgbClr val="4E3629"/>
                </a:solidFill>
                <a:latin typeface="Calibri"/>
                <a:cs typeface="Calibri"/>
              </a:rPr>
              <a:t>principal</a:t>
            </a:r>
            <a:endParaRPr sz="1600">
              <a:latin typeface="Calibri"/>
              <a:cs typeface="Calibri"/>
            </a:endParaRPr>
          </a:p>
        </p:txBody>
      </p:sp>
      <p:sp>
        <p:nvSpPr>
          <p:cNvPr id="5" name="object 5" descr=""/>
          <p:cNvSpPr txBox="1"/>
          <p:nvPr/>
        </p:nvSpPr>
        <p:spPr>
          <a:xfrm>
            <a:off x="659720" y="4198622"/>
            <a:ext cx="194373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E3629"/>
                </a:solidFill>
                <a:latin typeface="Calibri"/>
                <a:cs typeface="Calibri"/>
              </a:rPr>
              <a:t>EMPLOYEE:</a:t>
            </a:r>
            <a:r>
              <a:rPr dirty="0" sz="1600" spc="-60" b="1">
                <a:solidFill>
                  <a:srgbClr val="4E3629"/>
                </a:solidFill>
                <a:latin typeface="Calibri"/>
                <a:cs typeface="Calibri"/>
              </a:rPr>
              <a:t> </a:t>
            </a:r>
            <a:r>
              <a:rPr dirty="0" sz="1600" spc="-10" b="1">
                <a:solidFill>
                  <a:srgbClr val="4E3629"/>
                </a:solidFill>
                <a:latin typeface="Calibri"/>
                <a:cs typeface="Calibri"/>
              </a:rPr>
              <a:t>secundaria</a:t>
            </a:r>
            <a:endParaRPr sz="1600">
              <a:latin typeface="Calibri"/>
              <a:cs typeface="Calibri"/>
            </a:endParaRPr>
          </a:p>
        </p:txBody>
      </p:sp>
      <p:graphicFrame>
        <p:nvGraphicFramePr>
          <p:cNvPr id="6" name="object 6" descr=""/>
          <p:cNvGraphicFramePr>
            <a:graphicFrameLocks noGrp="1"/>
          </p:cNvGraphicFramePr>
          <p:nvPr/>
        </p:nvGraphicFramePr>
        <p:xfrm>
          <a:off x="798512" y="4499268"/>
          <a:ext cx="7601584" cy="1461770"/>
        </p:xfrm>
        <a:graphic>
          <a:graphicData uri="http://schemas.openxmlformats.org/drawingml/2006/table">
            <a:tbl>
              <a:tblPr firstRow="1" bandRow="1">
                <a:tableStyleId>{2D5ABB26-0587-4C30-8999-92F81FD0307C}</a:tableStyleId>
              </a:tblPr>
              <a:tblGrid>
                <a:gridCol w="1878330"/>
                <a:gridCol w="1878330"/>
                <a:gridCol w="1878330"/>
                <a:gridCol w="1878329"/>
              </a:tblGrid>
              <a:tr h="243204">
                <a:tc>
                  <a:txBody>
                    <a:bodyPr/>
                    <a:lstStyle/>
                    <a:p>
                      <a:pPr marL="71755">
                        <a:lnSpc>
                          <a:spcPts val="1820"/>
                        </a:lnSpc>
                      </a:pPr>
                      <a:r>
                        <a:rPr dirty="0" sz="1600" spc="-10" b="1">
                          <a:solidFill>
                            <a:srgbClr val="4E3629"/>
                          </a:solidFill>
                          <a:latin typeface="Calibri"/>
                          <a:cs typeface="Calibri"/>
                        </a:rPr>
                        <a:t>EMPLOYEE_ID</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spc="-10" b="1">
                          <a:solidFill>
                            <a:srgbClr val="4E3629"/>
                          </a:solidFill>
                          <a:latin typeface="Calibri"/>
                          <a:cs typeface="Calibri"/>
                        </a:rPr>
                        <a:t>FIRST_NAME</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spc="-10" b="1">
                          <a:solidFill>
                            <a:srgbClr val="4E3629"/>
                          </a:solidFill>
                          <a:latin typeface="Calibri"/>
                          <a:cs typeface="Calibri"/>
                        </a:rPr>
                        <a:t>LAST_NAME</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spc="-10" b="1">
                          <a:solidFill>
                            <a:srgbClr val="D1350F"/>
                          </a:solidFill>
                          <a:latin typeface="Calibri"/>
                          <a:cs typeface="Calibri"/>
                        </a:rPr>
                        <a:t>DEPARTMENT_ID</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243840">
                <a:tc>
                  <a:txBody>
                    <a:bodyPr/>
                    <a:lstStyle/>
                    <a:p>
                      <a:pPr marL="71755">
                        <a:lnSpc>
                          <a:spcPts val="1820"/>
                        </a:lnSpc>
                      </a:pPr>
                      <a:r>
                        <a:rPr dirty="0" sz="1600" spc="-25">
                          <a:solidFill>
                            <a:srgbClr val="4E3629"/>
                          </a:solidFill>
                          <a:latin typeface="Calibri"/>
                          <a:cs typeface="Calibri"/>
                        </a:rPr>
                        <a:t>100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820"/>
                        </a:lnSpc>
                      </a:pPr>
                      <a:r>
                        <a:rPr dirty="0" sz="1600" spc="-10">
                          <a:solidFill>
                            <a:srgbClr val="4E3629"/>
                          </a:solidFill>
                          <a:latin typeface="Calibri"/>
                          <a:cs typeface="Calibri"/>
                        </a:rPr>
                        <a:t>Steven</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820"/>
                        </a:lnSpc>
                      </a:pPr>
                      <a:r>
                        <a:rPr dirty="0" sz="1600" spc="-20">
                          <a:solidFill>
                            <a:srgbClr val="4E3629"/>
                          </a:solidFill>
                          <a:latin typeface="Calibri"/>
                          <a:cs typeface="Calibri"/>
                        </a:rPr>
                        <a:t>King</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820"/>
                        </a:lnSpc>
                      </a:pPr>
                      <a:r>
                        <a:rPr dirty="0" sz="1600" spc="-25">
                          <a:solidFill>
                            <a:srgbClr val="4E3629"/>
                          </a:solidFill>
                          <a:latin typeface="Calibri"/>
                          <a:cs typeface="Calibri"/>
                        </a:rPr>
                        <a:t>90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243204">
                <a:tc>
                  <a:txBody>
                    <a:bodyPr/>
                    <a:lstStyle/>
                    <a:p>
                      <a:pPr marL="72390">
                        <a:lnSpc>
                          <a:spcPts val="1820"/>
                        </a:lnSpc>
                      </a:pPr>
                      <a:r>
                        <a:rPr dirty="0" sz="1600" spc="-25">
                          <a:solidFill>
                            <a:srgbClr val="4E3629"/>
                          </a:solidFill>
                          <a:latin typeface="Calibri"/>
                          <a:cs typeface="Calibri"/>
                        </a:rPr>
                        <a:t>101</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10">
                          <a:solidFill>
                            <a:srgbClr val="4E3629"/>
                          </a:solidFill>
                          <a:latin typeface="Calibri"/>
                          <a:cs typeface="Calibri"/>
                        </a:rPr>
                        <a:t>Neena</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10">
                          <a:solidFill>
                            <a:srgbClr val="4E3629"/>
                          </a:solidFill>
                          <a:latin typeface="Calibri"/>
                          <a:cs typeface="Calibri"/>
                        </a:rPr>
                        <a:t>Kochhar</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25">
                          <a:solidFill>
                            <a:srgbClr val="4E3629"/>
                          </a:solidFill>
                          <a:latin typeface="Calibri"/>
                          <a:cs typeface="Calibri"/>
                        </a:rPr>
                        <a:t>90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840">
                <a:tc>
                  <a:txBody>
                    <a:bodyPr/>
                    <a:lstStyle/>
                    <a:p>
                      <a:pPr marL="72390">
                        <a:lnSpc>
                          <a:spcPts val="1820"/>
                        </a:lnSpc>
                      </a:pPr>
                      <a:r>
                        <a:rPr dirty="0" sz="1600" spc="-25">
                          <a:solidFill>
                            <a:srgbClr val="4E3629"/>
                          </a:solidFill>
                          <a:latin typeface="Calibri"/>
                          <a:cs typeface="Calibri"/>
                        </a:rPr>
                        <a:t>102</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25">
                          <a:solidFill>
                            <a:srgbClr val="4E3629"/>
                          </a:solidFill>
                          <a:latin typeface="Calibri"/>
                          <a:cs typeface="Calibri"/>
                        </a:rPr>
                        <a:t>Lex</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a:solidFill>
                            <a:srgbClr val="4E3629"/>
                          </a:solidFill>
                          <a:latin typeface="Calibri"/>
                          <a:cs typeface="Calibri"/>
                        </a:rPr>
                        <a:t>De</a:t>
                      </a:r>
                      <a:r>
                        <a:rPr dirty="0" sz="1600" spc="-15">
                          <a:solidFill>
                            <a:srgbClr val="4E3629"/>
                          </a:solidFill>
                          <a:latin typeface="Calibri"/>
                          <a:cs typeface="Calibri"/>
                        </a:rPr>
                        <a:t> </a:t>
                      </a:r>
                      <a:r>
                        <a:rPr dirty="0" sz="1600" spc="-20">
                          <a:solidFill>
                            <a:srgbClr val="4E3629"/>
                          </a:solidFill>
                          <a:latin typeface="Calibri"/>
                          <a:cs typeface="Calibri"/>
                        </a:rPr>
                        <a:t>Haan</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25">
                          <a:solidFill>
                            <a:srgbClr val="4E3629"/>
                          </a:solidFill>
                          <a:latin typeface="Calibri"/>
                          <a:cs typeface="Calibri"/>
                        </a:rPr>
                        <a:t>90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840">
                <a:tc>
                  <a:txBody>
                    <a:bodyPr/>
                    <a:lstStyle/>
                    <a:p>
                      <a:pPr marL="72390">
                        <a:lnSpc>
                          <a:spcPts val="1820"/>
                        </a:lnSpc>
                      </a:pPr>
                      <a:r>
                        <a:rPr dirty="0" sz="1600" spc="-25">
                          <a:solidFill>
                            <a:srgbClr val="4E3629"/>
                          </a:solidFill>
                          <a:latin typeface="Calibri"/>
                          <a:cs typeface="Calibri"/>
                        </a:rPr>
                        <a:t>205</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10">
                          <a:solidFill>
                            <a:srgbClr val="4E3629"/>
                          </a:solidFill>
                          <a:latin typeface="Calibri"/>
                          <a:cs typeface="Calibri"/>
                        </a:rPr>
                        <a:t>Shelley</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10">
                          <a:solidFill>
                            <a:srgbClr val="4E3629"/>
                          </a:solidFill>
                          <a:latin typeface="Calibri"/>
                          <a:cs typeface="Calibri"/>
                        </a:rPr>
                        <a:t>Higgins</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25">
                          <a:solidFill>
                            <a:srgbClr val="4E3629"/>
                          </a:solidFill>
                          <a:latin typeface="Calibri"/>
                          <a:cs typeface="Calibri"/>
                        </a:rPr>
                        <a:t>110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840">
                <a:tc>
                  <a:txBody>
                    <a:bodyPr/>
                    <a:lstStyle/>
                    <a:p>
                      <a:pPr marL="72390">
                        <a:lnSpc>
                          <a:spcPts val="1820"/>
                        </a:lnSpc>
                      </a:pPr>
                      <a:r>
                        <a:rPr dirty="0" sz="1600" spc="-25">
                          <a:solidFill>
                            <a:srgbClr val="4E3629"/>
                          </a:solidFill>
                          <a:latin typeface="Calibri"/>
                          <a:cs typeface="Calibri"/>
                        </a:rPr>
                        <a:t>206</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3025">
                        <a:lnSpc>
                          <a:spcPts val="1820"/>
                        </a:lnSpc>
                      </a:pPr>
                      <a:r>
                        <a:rPr dirty="0" sz="1600" spc="-10">
                          <a:solidFill>
                            <a:srgbClr val="4E3629"/>
                          </a:solidFill>
                          <a:latin typeface="Calibri"/>
                          <a:cs typeface="Calibri"/>
                        </a:rPr>
                        <a:t>William</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3025">
                        <a:lnSpc>
                          <a:spcPts val="1820"/>
                        </a:lnSpc>
                      </a:pPr>
                      <a:r>
                        <a:rPr dirty="0" sz="1600" spc="-10">
                          <a:solidFill>
                            <a:srgbClr val="4E3629"/>
                          </a:solidFill>
                          <a:latin typeface="Calibri"/>
                          <a:cs typeface="Calibri"/>
                        </a:rPr>
                        <a:t>Gietz</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3025">
                        <a:lnSpc>
                          <a:spcPts val="1820"/>
                        </a:lnSpc>
                      </a:pPr>
                      <a:r>
                        <a:rPr dirty="0" sz="1600" spc="-25">
                          <a:solidFill>
                            <a:srgbClr val="4E3629"/>
                          </a:solidFill>
                          <a:latin typeface="Calibri"/>
                          <a:cs typeface="Calibri"/>
                        </a:rPr>
                        <a:t>110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graphicFrame>
        <p:nvGraphicFramePr>
          <p:cNvPr id="7" name="object 7" descr=""/>
          <p:cNvGraphicFramePr>
            <a:graphicFrameLocks noGrp="1"/>
          </p:cNvGraphicFramePr>
          <p:nvPr/>
        </p:nvGraphicFramePr>
        <p:xfrm>
          <a:off x="809438" y="3047108"/>
          <a:ext cx="7601584" cy="974725"/>
        </p:xfrm>
        <a:graphic>
          <a:graphicData uri="http://schemas.openxmlformats.org/drawingml/2006/table">
            <a:tbl>
              <a:tblPr firstRow="1" bandRow="1">
                <a:tableStyleId>{2D5ABB26-0587-4C30-8999-92F81FD0307C}</a:tableStyleId>
              </a:tblPr>
              <a:tblGrid>
                <a:gridCol w="1894205"/>
                <a:gridCol w="1872615"/>
                <a:gridCol w="1872614"/>
                <a:gridCol w="1872614"/>
              </a:tblGrid>
              <a:tr h="243840">
                <a:tc>
                  <a:txBody>
                    <a:bodyPr/>
                    <a:lstStyle/>
                    <a:p>
                      <a:pPr marL="71755">
                        <a:lnSpc>
                          <a:spcPts val="1820"/>
                        </a:lnSpc>
                      </a:pPr>
                      <a:r>
                        <a:rPr dirty="0" sz="1600" spc="-10" b="1">
                          <a:solidFill>
                            <a:srgbClr val="D1350F"/>
                          </a:solidFill>
                          <a:latin typeface="Calibri"/>
                          <a:cs typeface="Calibri"/>
                        </a:rPr>
                        <a:t>DEPARTMENT_ID</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spc="-10" b="1">
                          <a:solidFill>
                            <a:srgbClr val="4E3629"/>
                          </a:solidFill>
                          <a:latin typeface="Calibri"/>
                          <a:cs typeface="Calibri"/>
                        </a:rPr>
                        <a:t>DEPT_NAME</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spc="-10" b="1">
                          <a:solidFill>
                            <a:srgbClr val="4E3629"/>
                          </a:solidFill>
                          <a:latin typeface="Calibri"/>
                          <a:cs typeface="Calibri"/>
                        </a:rPr>
                        <a:t>MANAGER_ID</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spc="-10" b="1">
                          <a:solidFill>
                            <a:srgbClr val="4E3629"/>
                          </a:solidFill>
                          <a:latin typeface="Calibri"/>
                          <a:cs typeface="Calibri"/>
                        </a:rPr>
                        <a:t>LOCATION_ID</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243204">
                <a:tc>
                  <a:txBody>
                    <a:bodyPr/>
                    <a:lstStyle/>
                    <a:p>
                      <a:pPr marL="71755">
                        <a:lnSpc>
                          <a:spcPts val="1820"/>
                        </a:lnSpc>
                      </a:pPr>
                      <a:r>
                        <a:rPr dirty="0" sz="1600" spc="-25">
                          <a:solidFill>
                            <a:srgbClr val="4E3629"/>
                          </a:solidFill>
                          <a:latin typeface="Calibri"/>
                          <a:cs typeface="Calibri"/>
                        </a:rPr>
                        <a:t>90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820"/>
                        </a:lnSpc>
                      </a:pPr>
                      <a:r>
                        <a:rPr dirty="0" sz="1600" spc="-10">
                          <a:solidFill>
                            <a:srgbClr val="4E3629"/>
                          </a:solidFill>
                          <a:latin typeface="Calibri"/>
                          <a:cs typeface="Calibri"/>
                        </a:rPr>
                        <a:t>Executive</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820"/>
                        </a:lnSpc>
                      </a:pPr>
                      <a:r>
                        <a:rPr dirty="0" sz="1600" spc="-25">
                          <a:solidFill>
                            <a:srgbClr val="4E3629"/>
                          </a:solidFill>
                          <a:latin typeface="Calibri"/>
                          <a:cs typeface="Calibri"/>
                        </a:rPr>
                        <a:t>100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820"/>
                        </a:lnSpc>
                      </a:pPr>
                      <a:r>
                        <a:rPr dirty="0" sz="1600" spc="-20">
                          <a:solidFill>
                            <a:srgbClr val="4E3629"/>
                          </a:solidFill>
                          <a:latin typeface="Calibri"/>
                          <a:cs typeface="Calibri"/>
                        </a:rPr>
                        <a:t>1700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243840">
                <a:tc>
                  <a:txBody>
                    <a:bodyPr/>
                    <a:lstStyle/>
                    <a:p>
                      <a:pPr marL="71755">
                        <a:lnSpc>
                          <a:spcPts val="1820"/>
                        </a:lnSpc>
                      </a:pPr>
                      <a:r>
                        <a:rPr dirty="0" sz="1600" spc="-25">
                          <a:solidFill>
                            <a:srgbClr val="4E3629"/>
                          </a:solidFill>
                          <a:latin typeface="Calibri"/>
                          <a:cs typeface="Calibri"/>
                        </a:rPr>
                        <a:t>110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10">
                          <a:solidFill>
                            <a:srgbClr val="4E3629"/>
                          </a:solidFill>
                          <a:latin typeface="Calibri"/>
                          <a:cs typeface="Calibri"/>
                        </a:rPr>
                        <a:t>Accounting</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25">
                          <a:solidFill>
                            <a:srgbClr val="4E3629"/>
                          </a:solidFill>
                          <a:latin typeface="Calibri"/>
                          <a:cs typeface="Calibri"/>
                        </a:rPr>
                        <a:t>205</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20">
                          <a:solidFill>
                            <a:srgbClr val="4E3629"/>
                          </a:solidFill>
                          <a:latin typeface="Calibri"/>
                          <a:cs typeface="Calibri"/>
                        </a:rPr>
                        <a:t>1700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840">
                <a:tc>
                  <a:txBody>
                    <a:bodyPr/>
                    <a:lstStyle/>
                    <a:p>
                      <a:pPr marL="71755">
                        <a:lnSpc>
                          <a:spcPts val="1820"/>
                        </a:lnSpc>
                      </a:pPr>
                      <a:r>
                        <a:rPr dirty="0" sz="1600" spc="-25">
                          <a:solidFill>
                            <a:srgbClr val="4E3629"/>
                          </a:solidFill>
                          <a:latin typeface="Calibri"/>
                          <a:cs typeface="Calibri"/>
                        </a:rPr>
                        <a:t>190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10">
                          <a:solidFill>
                            <a:srgbClr val="4E3629"/>
                          </a:solidFill>
                          <a:latin typeface="Calibri"/>
                          <a:cs typeface="Calibri"/>
                        </a:rPr>
                        <a:t>Contracting</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50">
                          <a:solidFill>
                            <a:srgbClr val="4E3629"/>
                          </a:solidFill>
                          <a:latin typeface="Calibri"/>
                          <a:cs typeface="Calibri"/>
                        </a:rPr>
                        <a: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20">
                          <a:solidFill>
                            <a:srgbClr val="4E3629"/>
                          </a:solidFill>
                          <a:latin typeface="Calibri"/>
                          <a:cs typeface="Calibri"/>
                        </a:rPr>
                        <a:t>1700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E0E2E1"/>
          </a:solidFill>
        </p:spPr>
        <p:txBody>
          <a:bodyPr wrap="square" lIns="0" tIns="0" rIns="0" bIns="0" rtlCol="0"/>
          <a:lstStyle/>
          <a:p/>
        </p:txBody>
      </p:sp>
      <p:pic>
        <p:nvPicPr>
          <p:cNvPr id="3" name="object 3" descr=""/>
          <p:cNvPicPr/>
          <p:nvPr/>
        </p:nvPicPr>
        <p:blipFill>
          <a:blip r:embed="rId2" cstate="print"/>
          <a:stretch>
            <a:fillRect/>
          </a:stretch>
        </p:blipFill>
        <p:spPr>
          <a:xfrm>
            <a:off x="6525350" y="4837862"/>
            <a:ext cx="204920" cy="216961"/>
          </a:xfrm>
          <a:prstGeom prst="rect">
            <a:avLst/>
          </a:prstGeom>
        </p:spPr>
      </p:pic>
      <p:pic>
        <p:nvPicPr>
          <p:cNvPr id="4" name="object 4" descr=""/>
          <p:cNvPicPr/>
          <p:nvPr/>
        </p:nvPicPr>
        <p:blipFill>
          <a:blip r:embed="rId3" cstate="print"/>
          <a:stretch>
            <a:fillRect/>
          </a:stretch>
        </p:blipFill>
        <p:spPr>
          <a:xfrm>
            <a:off x="876863" y="3435899"/>
            <a:ext cx="204921" cy="216961"/>
          </a:xfrm>
          <a:prstGeom prst="rect">
            <a:avLst/>
          </a:prstGeom>
        </p:spPr>
      </p:pic>
      <p:sp>
        <p:nvSpPr>
          <p:cNvPr id="5" name="object 5" descr=""/>
          <p:cNvSpPr/>
          <p:nvPr/>
        </p:nvSpPr>
        <p:spPr>
          <a:xfrm>
            <a:off x="668464" y="2234816"/>
            <a:ext cx="4213225" cy="380365"/>
          </a:xfrm>
          <a:custGeom>
            <a:avLst/>
            <a:gdLst/>
            <a:ahLst/>
            <a:cxnLst/>
            <a:rect l="l" t="t" r="r" b="b"/>
            <a:pathLst>
              <a:path w="4213225" h="380364">
                <a:moveTo>
                  <a:pt x="4118072" y="0"/>
                </a:moveTo>
                <a:lnTo>
                  <a:pt x="95022" y="0"/>
                </a:lnTo>
                <a:lnTo>
                  <a:pt x="66895" y="10642"/>
                </a:lnTo>
                <a:lnTo>
                  <a:pt x="41049" y="39529"/>
                </a:lnTo>
                <a:lnTo>
                  <a:pt x="19764" y="82099"/>
                </a:lnTo>
                <a:lnTo>
                  <a:pt x="5321" y="133791"/>
                </a:lnTo>
                <a:lnTo>
                  <a:pt x="0" y="190045"/>
                </a:lnTo>
                <a:lnTo>
                  <a:pt x="5321" y="246298"/>
                </a:lnTo>
                <a:lnTo>
                  <a:pt x="19764" y="297990"/>
                </a:lnTo>
                <a:lnTo>
                  <a:pt x="41049" y="340560"/>
                </a:lnTo>
                <a:lnTo>
                  <a:pt x="66895" y="369447"/>
                </a:lnTo>
                <a:lnTo>
                  <a:pt x="95022" y="380090"/>
                </a:lnTo>
                <a:lnTo>
                  <a:pt x="4118072" y="380090"/>
                </a:lnTo>
                <a:lnTo>
                  <a:pt x="4172045" y="340560"/>
                </a:lnTo>
                <a:lnTo>
                  <a:pt x="4193330" y="297990"/>
                </a:lnTo>
                <a:lnTo>
                  <a:pt x="4207774" y="246298"/>
                </a:lnTo>
                <a:lnTo>
                  <a:pt x="4213095" y="190045"/>
                </a:lnTo>
                <a:lnTo>
                  <a:pt x="4207774" y="133791"/>
                </a:lnTo>
                <a:lnTo>
                  <a:pt x="4193330" y="82099"/>
                </a:lnTo>
                <a:lnTo>
                  <a:pt x="4172045" y="39529"/>
                </a:lnTo>
                <a:lnTo>
                  <a:pt x="4146199" y="10642"/>
                </a:lnTo>
                <a:lnTo>
                  <a:pt x="4118072" y="0"/>
                </a:lnTo>
                <a:close/>
              </a:path>
            </a:pathLst>
          </a:custGeom>
          <a:solidFill>
            <a:srgbClr val="C885DA"/>
          </a:solidFill>
        </p:spPr>
        <p:txBody>
          <a:bodyPr wrap="square" lIns="0" tIns="0" rIns="0" bIns="0" rtlCol="0"/>
          <a:lstStyle/>
          <a:p/>
        </p:txBody>
      </p:sp>
      <p:sp>
        <p:nvSpPr>
          <p:cNvPr id="6" name="object 6" descr=""/>
          <p:cNvSpPr/>
          <p:nvPr/>
        </p:nvSpPr>
        <p:spPr>
          <a:xfrm>
            <a:off x="7102624" y="1850606"/>
            <a:ext cx="718185" cy="380365"/>
          </a:xfrm>
          <a:custGeom>
            <a:avLst/>
            <a:gdLst/>
            <a:ahLst/>
            <a:cxnLst/>
            <a:rect l="l" t="t" r="r" b="b"/>
            <a:pathLst>
              <a:path w="718184" h="380364">
                <a:moveTo>
                  <a:pt x="623079" y="0"/>
                </a:moveTo>
                <a:lnTo>
                  <a:pt x="95022" y="0"/>
                </a:lnTo>
                <a:lnTo>
                  <a:pt x="66896" y="10642"/>
                </a:lnTo>
                <a:lnTo>
                  <a:pt x="41050" y="39529"/>
                </a:lnTo>
                <a:lnTo>
                  <a:pt x="19764" y="82099"/>
                </a:lnTo>
                <a:lnTo>
                  <a:pt x="5321" y="133791"/>
                </a:lnTo>
                <a:lnTo>
                  <a:pt x="0" y="190045"/>
                </a:lnTo>
                <a:lnTo>
                  <a:pt x="5321" y="246298"/>
                </a:lnTo>
                <a:lnTo>
                  <a:pt x="19764" y="297990"/>
                </a:lnTo>
                <a:lnTo>
                  <a:pt x="41050" y="340560"/>
                </a:lnTo>
                <a:lnTo>
                  <a:pt x="66896" y="369447"/>
                </a:lnTo>
                <a:lnTo>
                  <a:pt x="95022" y="380090"/>
                </a:lnTo>
                <a:lnTo>
                  <a:pt x="623079" y="380090"/>
                </a:lnTo>
                <a:lnTo>
                  <a:pt x="677052" y="340560"/>
                </a:lnTo>
                <a:lnTo>
                  <a:pt x="698337" y="297990"/>
                </a:lnTo>
                <a:lnTo>
                  <a:pt x="712781" y="246298"/>
                </a:lnTo>
                <a:lnTo>
                  <a:pt x="718102" y="190045"/>
                </a:lnTo>
                <a:lnTo>
                  <a:pt x="712781" y="133791"/>
                </a:lnTo>
                <a:lnTo>
                  <a:pt x="698337" y="82099"/>
                </a:lnTo>
                <a:lnTo>
                  <a:pt x="677052" y="39529"/>
                </a:lnTo>
                <a:lnTo>
                  <a:pt x="651206" y="10642"/>
                </a:lnTo>
                <a:lnTo>
                  <a:pt x="623079" y="0"/>
                </a:lnTo>
                <a:close/>
              </a:path>
            </a:pathLst>
          </a:custGeom>
          <a:solidFill>
            <a:srgbClr val="C885DA"/>
          </a:solidFill>
        </p:spPr>
        <p:txBody>
          <a:bodyPr wrap="square" lIns="0" tIns="0" rIns="0" bIns="0" rtlCol="0"/>
          <a:lstStyle/>
          <a:p/>
        </p:txBody>
      </p:sp>
      <p:sp>
        <p:nvSpPr>
          <p:cNvPr id="7" name="object 7" descr=""/>
          <p:cNvSpPr/>
          <p:nvPr/>
        </p:nvSpPr>
        <p:spPr>
          <a:xfrm>
            <a:off x="1006476" y="1850606"/>
            <a:ext cx="2840990" cy="380365"/>
          </a:xfrm>
          <a:custGeom>
            <a:avLst/>
            <a:gdLst/>
            <a:ahLst/>
            <a:cxnLst/>
            <a:rect l="l" t="t" r="r" b="b"/>
            <a:pathLst>
              <a:path w="2840990" h="380364">
                <a:moveTo>
                  <a:pt x="2745784" y="0"/>
                </a:moveTo>
                <a:lnTo>
                  <a:pt x="95022" y="0"/>
                </a:lnTo>
                <a:lnTo>
                  <a:pt x="66895" y="10642"/>
                </a:lnTo>
                <a:lnTo>
                  <a:pt x="41049" y="39529"/>
                </a:lnTo>
                <a:lnTo>
                  <a:pt x="19764" y="82099"/>
                </a:lnTo>
                <a:lnTo>
                  <a:pt x="5321" y="133791"/>
                </a:lnTo>
                <a:lnTo>
                  <a:pt x="0" y="190044"/>
                </a:lnTo>
                <a:lnTo>
                  <a:pt x="5321" y="246298"/>
                </a:lnTo>
                <a:lnTo>
                  <a:pt x="19764" y="297990"/>
                </a:lnTo>
                <a:lnTo>
                  <a:pt x="41049" y="340560"/>
                </a:lnTo>
                <a:lnTo>
                  <a:pt x="66895" y="369447"/>
                </a:lnTo>
                <a:lnTo>
                  <a:pt x="95022" y="380089"/>
                </a:lnTo>
                <a:lnTo>
                  <a:pt x="2745784" y="380089"/>
                </a:lnTo>
                <a:lnTo>
                  <a:pt x="2799756" y="340560"/>
                </a:lnTo>
                <a:lnTo>
                  <a:pt x="2821042" y="297990"/>
                </a:lnTo>
                <a:lnTo>
                  <a:pt x="2835485" y="246298"/>
                </a:lnTo>
                <a:lnTo>
                  <a:pt x="2840806" y="190044"/>
                </a:lnTo>
                <a:lnTo>
                  <a:pt x="2835485" y="133791"/>
                </a:lnTo>
                <a:lnTo>
                  <a:pt x="2821042" y="82099"/>
                </a:lnTo>
                <a:lnTo>
                  <a:pt x="2799756" y="39529"/>
                </a:lnTo>
                <a:lnTo>
                  <a:pt x="2773910" y="10642"/>
                </a:lnTo>
                <a:lnTo>
                  <a:pt x="2745784" y="0"/>
                </a:lnTo>
                <a:close/>
              </a:path>
            </a:pathLst>
          </a:custGeom>
          <a:solidFill>
            <a:srgbClr val="7CC868"/>
          </a:solidFill>
        </p:spPr>
        <p:txBody>
          <a:bodyPr wrap="square" lIns="0" tIns="0" rIns="0" bIns="0" rtlCol="0"/>
          <a:lstStyle/>
          <a:p/>
        </p:txBody>
      </p:sp>
      <p:pic>
        <p:nvPicPr>
          <p:cNvPr id="8" name="object 8" descr=""/>
          <p:cNvPicPr/>
          <p:nvPr/>
        </p:nvPicPr>
        <p:blipFill>
          <a:blip r:embed="rId4" cstate="print"/>
          <a:stretch>
            <a:fillRect/>
          </a:stretch>
        </p:blipFill>
        <p:spPr>
          <a:xfrm>
            <a:off x="0" y="0"/>
            <a:ext cx="9144000" cy="254507"/>
          </a:xfrm>
          <a:prstGeom prst="rect">
            <a:avLst/>
          </a:prstGeom>
        </p:spPr>
      </p:pic>
      <p:pic>
        <p:nvPicPr>
          <p:cNvPr id="9" name="object 9" descr=""/>
          <p:cNvPicPr/>
          <p:nvPr/>
        </p:nvPicPr>
        <p:blipFill>
          <a:blip r:embed="rId5" cstate="print"/>
          <a:stretch>
            <a:fillRect/>
          </a:stretch>
        </p:blipFill>
        <p:spPr>
          <a:xfrm>
            <a:off x="405384" y="6178295"/>
            <a:ext cx="1258824" cy="420624"/>
          </a:xfrm>
          <a:prstGeom prst="rect">
            <a:avLst/>
          </a:prstGeom>
        </p:spPr>
      </p:pic>
      <p:sp>
        <p:nvSpPr>
          <p:cNvPr id="10" name="object 10" descr=""/>
          <p:cNvSpPr txBox="1"/>
          <p:nvPr/>
        </p:nvSpPr>
        <p:spPr>
          <a:xfrm>
            <a:off x="732290" y="4198660"/>
            <a:ext cx="1713864" cy="239395"/>
          </a:xfrm>
          <a:prstGeom prst="rect">
            <a:avLst/>
          </a:prstGeom>
        </p:spPr>
        <p:txBody>
          <a:bodyPr wrap="square" lIns="0" tIns="12700" rIns="0" bIns="0" rtlCol="0" vert="horz">
            <a:spAutoFit/>
          </a:bodyPr>
          <a:lstStyle/>
          <a:p>
            <a:pPr marL="12700">
              <a:lnSpc>
                <a:spcPct val="100000"/>
              </a:lnSpc>
              <a:spcBef>
                <a:spcPts val="100"/>
              </a:spcBef>
            </a:pPr>
            <a:r>
              <a:rPr dirty="0" sz="1400" spc="-10" b="1">
                <a:solidFill>
                  <a:srgbClr val="4E3629"/>
                </a:solidFill>
                <a:latin typeface="Calibri"/>
                <a:cs typeface="Calibri"/>
              </a:rPr>
              <a:t>EMPLOYEE:</a:t>
            </a:r>
            <a:r>
              <a:rPr dirty="0" sz="1400" spc="-55" b="1">
                <a:solidFill>
                  <a:srgbClr val="4E3629"/>
                </a:solidFill>
                <a:latin typeface="Calibri"/>
                <a:cs typeface="Calibri"/>
              </a:rPr>
              <a:t> </a:t>
            </a:r>
            <a:r>
              <a:rPr dirty="0" sz="1400" spc="-10" b="1">
                <a:solidFill>
                  <a:srgbClr val="4E3629"/>
                </a:solidFill>
                <a:latin typeface="Calibri"/>
                <a:cs typeface="Calibri"/>
              </a:rPr>
              <a:t>secundaria</a:t>
            </a:r>
            <a:endParaRPr sz="1400">
              <a:latin typeface="Calibri"/>
              <a:cs typeface="Calibri"/>
            </a:endParaRPr>
          </a:p>
        </p:txBody>
      </p:sp>
      <p:sp>
        <p:nvSpPr>
          <p:cNvPr id="11" name="object 11"/>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spc="-10"/>
              <a:t>Restricción</a:t>
            </a:r>
            <a:r>
              <a:rPr dirty="0" spc="-90"/>
              <a:t> </a:t>
            </a:r>
            <a:r>
              <a:rPr dirty="0"/>
              <a:t>de</a:t>
            </a:r>
            <a:r>
              <a:rPr dirty="0" spc="-90"/>
              <a:t> </a:t>
            </a:r>
            <a:r>
              <a:rPr dirty="0"/>
              <a:t>Integridad</a:t>
            </a:r>
            <a:r>
              <a:rPr dirty="0" spc="-80"/>
              <a:t> </a:t>
            </a:r>
            <a:r>
              <a:rPr dirty="0" spc="-10"/>
              <a:t>Referencial</a:t>
            </a:r>
          </a:p>
        </p:txBody>
      </p:sp>
      <p:sp>
        <p:nvSpPr>
          <p:cNvPr id="12" name="object 12" descr=""/>
          <p:cNvSpPr txBox="1"/>
          <p:nvPr/>
        </p:nvSpPr>
        <p:spPr>
          <a:xfrm>
            <a:off x="483552" y="1415417"/>
            <a:ext cx="7922895" cy="1640205"/>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spc="-10">
                <a:solidFill>
                  <a:srgbClr val="4E3629"/>
                </a:solidFill>
                <a:latin typeface="Calibri"/>
                <a:cs typeface="Calibri"/>
              </a:rPr>
              <a:t>Para</a:t>
            </a:r>
            <a:r>
              <a:rPr dirty="0" sz="2800" spc="-85">
                <a:solidFill>
                  <a:srgbClr val="4E3629"/>
                </a:solidFill>
                <a:latin typeface="Calibri"/>
                <a:cs typeface="Calibri"/>
              </a:rPr>
              <a:t> </a:t>
            </a:r>
            <a:r>
              <a:rPr dirty="0" sz="2800">
                <a:solidFill>
                  <a:srgbClr val="4E3629"/>
                </a:solidFill>
                <a:latin typeface="Calibri"/>
                <a:cs typeface="Calibri"/>
              </a:rPr>
              <a:t>cumplir</a:t>
            </a:r>
            <a:r>
              <a:rPr dirty="0" sz="2800" spc="-60">
                <a:solidFill>
                  <a:srgbClr val="4E3629"/>
                </a:solidFill>
                <a:latin typeface="Calibri"/>
                <a:cs typeface="Calibri"/>
              </a:rPr>
              <a:t> </a:t>
            </a:r>
            <a:r>
              <a:rPr dirty="0" sz="2800">
                <a:solidFill>
                  <a:srgbClr val="4E3629"/>
                </a:solidFill>
                <a:latin typeface="Calibri"/>
                <a:cs typeface="Calibri"/>
              </a:rPr>
              <a:t>una</a:t>
            </a:r>
            <a:r>
              <a:rPr dirty="0" sz="2800" spc="-60">
                <a:solidFill>
                  <a:srgbClr val="4E3629"/>
                </a:solidFill>
                <a:latin typeface="Calibri"/>
                <a:cs typeface="Calibri"/>
              </a:rPr>
              <a:t> </a:t>
            </a:r>
            <a:r>
              <a:rPr dirty="0" sz="2800" spc="-10">
                <a:solidFill>
                  <a:srgbClr val="4E3629"/>
                </a:solidFill>
                <a:latin typeface="Calibri"/>
                <a:cs typeface="Calibri"/>
              </a:rPr>
              <a:t>restricción</a:t>
            </a:r>
            <a:r>
              <a:rPr dirty="0" sz="2800" spc="-70">
                <a:solidFill>
                  <a:srgbClr val="4E3629"/>
                </a:solidFill>
                <a:latin typeface="Calibri"/>
                <a:cs typeface="Calibri"/>
              </a:rPr>
              <a:t> </a:t>
            </a:r>
            <a:r>
              <a:rPr dirty="0" sz="2800">
                <a:solidFill>
                  <a:srgbClr val="4E3629"/>
                </a:solidFill>
                <a:latin typeface="Calibri"/>
                <a:cs typeface="Calibri"/>
              </a:rPr>
              <a:t>de</a:t>
            </a:r>
            <a:r>
              <a:rPr dirty="0" sz="2800" spc="-80">
                <a:solidFill>
                  <a:srgbClr val="4E3629"/>
                </a:solidFill>
                <a:latin typeface="Calibri"/>
                <a:cs typeface="Calibri"/>
              </a:rPr>
              <a:t> </a:t>
            </a:r>
            <a:r>
              <a:rPr dirty="0" sz="2800">
                <a:solidFill>
                  <a:srgbClr val="4E3629"/>
                </a:solidFill>
                <a:latin typeface="Calibri"/>
                <a:cs typeface="Calibri"/>
              </a:rPr>
              <a:t>integridad</a:t>
            </a:r>
            <a:r>
              <a:rPr dirty="0" sz="2800" spc="-85">
                <a:solidFill>
                  <a:srgbClr val="4E3629"/>
                </a:solidFill>
                <a:latin typeface="Calibri"/>
                <a:cs typeface="Calibri"/>
              </a:rPr>
              <a:t> </a:t>
            </a:r>
            <a:r>
              <a:rPr dirty="0" sz="2800" spc="-10">
                <a:solidFill>
                  <a:srgbClr val="4E3629"/>
                </a:solidFill>
                <a:latin typeface="Calibri"/>
                <a:cs typeface="Calibri"/>
              </a:rPr>
              <a:t>referencial, </a:t>
            </a:r>
            <a:r>
              <a:rPr dirty="0" sz="2800" spc="-10">
                <a:solidFill>
                  <a:srgbClr val="4E3629"/>
                </a:solidFill>
                <a:latin typeface="Calibri"/>
                <a:cs typeface="Calibri"/>
              </a:rPr>
              <a:t>	</a:t>
            </a:r>
            <a:r>
              <a:rPr dirty="0" sz="2800">
                <a:solidFill>
                  <a:srgbClr val="4E3629"/>
                </a:solidFill>
                <a:latin typeface="Calibri"/>
                <a:cs typeface="Calibri"/>
              </a:rPr>
              <a:t>el</a:t>
            </a:r>
            <a:r>
              <a:rPr dirty="0" sz="2800" spc="-70">
                <a:solidFill>
                  <a:srgbClr val="4E3629"/>
                </a:solidFill>
                <a:latin typeface="Calibri"/>
                <a:cs typeface="Calibri"/>
              </a:rPr>
              <a:t> </a:t>
            </a:r>
            <a:r>
              <a:rPr dirty="0" sz="2800">
                <a:solidFill>
                  <a:srgbClr val="4E3629"/>
                </a:solidFill>
                <a:latin typeface="Calibri"/>
                <a:cs typeface="Calibri"/>
              </a:rPr>
              <a:t>valor</a:t>
            </a:r>
            <a:r>
              <a:rPr dirty="0" sz="2800" spc="-6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clave</a:t>
            </a:r>
            <a:r>
              <a:rPr dirty="0" sz="2800" spc="-55">
                <a:solidFill>
                  <a:srgbClr val="4E3629"/>
                </a:solidFill>
                <a:latin typeface="Calibri"/>
                <a:cs typeface="Calibri"/>
              </a:rPr>
              <a:t> </a:t>
            </a:r>
            <a:r>
              <a:rPr dirty="0" sz="2800">
                <a:solidFill>
                  <a:srgbClr val="4E3629"/>
                </a:solidFill>
                <a:latin typeface="Calibri"/>
                <a:cs typeface="Calibri"/>
              </a:rPr>
              <a:t>ajena</a:t>
            </a:r>
            <a:r>
              <a:rPr dirty="0" sz="2800" spc="-65">
                <a:solidFill>
                  <a:srgbClr val="4E3629"/>
                </a:solidFill>
                <a:latin typeface="Calibri"/>
                <a:cs typeface="Calibri"/>
              </a:rPr>
              <a:t> </a:t>
            </a:r>
            <a:r>
              <a:rPr dirty="0" sz="2800">
                <a:solidFill>
                  <a:srgbClr val="4E3629"/>
                </a:solidFill>
                <a:latin typeface="Calibri"/>
                <a:cs typeface="Calibri"/>
              </a:rPr>
              <a:t>debe</a:t>
            </a:r>
            <a:r>
              <a:rPr dirty="0" sz="2800" spc="-30">
                <a:solidFill>
                  <a:srgbClr val="4E3629"/>
                </a:solidFill>
                <a:latin typeface="Calibri"/>
                <a:cs typeface="Calibri"/>
              </a:rPr>
              <a:t> </a:t>
            </a:r>
            <a:r>
              <a:rPr dirty="0" sz="2800">
                <a:solidFill>
                  <a:srgbClr val="4E3629"/>
                </a:solidFill>
                <a:latin typeface="Calibri"/>
                <a:cs typeface="Calibri"/>
              </a:rPr>
              <a:t>coincidir</a:t>
            </a:r>
            <a:r>
              <a:rPr dirty="0" sz="2800" spc="-40">
                <a:solidFill>
                  <a:srgbClr val="4E3629"/>
                </a:solidFill>
                <a:latin typeface="Calibri"/>
                <a:cs typeface="Calibri"/>
              </a:rPr>
              <a:t> </a:t>
            </a:r>
            <a:r>
              <a:rPr dirty="0" sz="2800">
                <a:solidFill>
                  <a:srgbClr val="4E3629"/>
                </a:solidFill>
                <a:latin typeface="Calibri"/>
                <a:cs typeface="Calibri"/>
              </a:rPr>
              <a:t>con</a:t>
            </a:r>
            <a:r>
              <a:rPr dirty="0" sz="2800" spc="-50">
                <a:solidFill>
                  <a:srgbClr val="4E3629"/>
                </a:solidFill>
                <a:latin typeface="Calibri"/>
                <a:cs typeface="Calibri"/>
              </a:rPr>
              <a:t> </a:t>
            </a:r>
            <a:r>
              <a:rPr dirty="0" sz="2800">
                <a:solidFill>
                  <a:srgbClr val="4E3629"/>
                </a:solidFill>
                <a:latin typeface="Calibri"/>
                <a:cs typeface="Calibri"/>
              </a:rPr>
              <a:t>un</a:t>
            </a:r>
            <a:r>
              <a:rPr dirty="0" sz="2800" spc="-35">
                <a:solidFill>
                  <a:srgbClr val="4E3629"/>
                </a:solidFill>
                <a:latin typeface="Calibri"/>
                <a:cs typeface="Calibri"/>
              </a:rPr>
              <a:t> </a:t>
            </a:r>
            <a:r>
              <a:rPr dirty="0" sz="2800" spc="-10">
                <a:solidFill>
                  <a:srgbClr val="4E3629"/>
                </a:solidFill>
                <a:latin typeface="Calibri"/>
                <a:cs typeface="Calibri"/>
              </a:rPr>
              <a:t>valor 	existente</a:t>
            </a:r>
            <a:r>
              <a:rPr dirty="0" sz="2800" spc="-45">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a:solidFill>
                  <a:srgbClr val="4E3629"/>
                </a:solidFill>
                <a:latin typeface="Calibri"/>
                <a:cs typeface="Calibri"/>
              </a:rPr>
              <a:t>tabla</a:t>
            </a:r>
            <a:r>
              <a:rPr dirty="0" sz="2800" spc="-50">
                <a:solidFill>
                  <a:srgbClr val="4E3629"/>
                </a:solidFill>
                <a:latin typeface="Calibri"/>
                <a:cs typeface="Calibri"/>
              </a:rPr>
              <a:t> </a:t>
            </a:r>
            <a:r>
              <a:rPr dirty="0" sz="2800">
                <a:solidFill>
                  <a:srgbClr val="4E3629"/>
                </a:solidFill>
                <a:latin typeface="Calibri"/>
                <a:cs typeface="Calibri"/>
              </a:rPr>
              <a:t>principal</a:t>
            </a:r>
            <a:r>
              <a:rPr dirty="0" sz="2800" spc="-25">
                <a:solidFill>
                  <a:srgbClr val="4E3629"/>
                </a:solidFill>
                <a:latin typeface="Calibri"/>
                <a:cs typeface="Calibri"/>
              </a:rPr>
              <a:t> </a:t>
            </a:r>
            <a:r>
              <a:rPr dirty="0" sz="2800">
                <a:solidFill>
                  <a:srgbClr val="4E3629"/>
                </a:solidFill>
                <a:latin typeface="Calibri"/>
                <a:cs typeface="Calibri"/>
              </a:rPr>
              <a:t>o</a:t>
            </a:r>
            <a:r>
              <a:rPr dirty="0" sz="2800" spc="-55">
                <a:solidFill>
                  <a:srgbClr val="4E3629"/>
                </a:solidFill>
                <a:latin typeface="Calibri"/>
                <a:cs typeface="Calibri"/>
              </a:rPr>
              <a:t> </a:t>
            </a:r>
            <a:r>
              <a:rPr dirty="0" sz="2800">
                <a:solidFill>
                  <a:srgbClr val="4E3629"/>
                </a:solidFill>
                <a:latin typeface="Calibri"/>
                <a:cs typeface="Calibri"/>
              </a:rPr>
              <a:t>ser</a:t>
            </a:r>
            <a:r>
              <a:rPr dirty="0" sz="2800" spc="-45">
                <a:solidFill>
                  <a:srgbClr val="4E3629"/>
                </a:solidFill>
                <a:latin typeface="Calibri"/>
                <a:cs typeface="Calibri"/>
              </a:rPr>
              <a:t> </a:t>
            </a:r>
            <a:r>
              <a:rPr dirty="0" sz="2800">
                <a:solidFill>
                  <a:srgbClr val="4E3629"/>
                </a:solidFill>
                <a:latin typeface="Calibri"/>
                <a:cs typeface="Calibri"/>
              </a:rPr>
              <a:t>un</a:t>
            </a:r>
            <a:r>
              <a:rPr dirty="0" sz="2800" spc="-35">
                <a:solidFill>
                  <a:srgbClr val="4E3629"/>
                </a:solidFill>
                <a:latin typeface="Calibri"/>
                <a:cs typeface="Calibri"/>
              </a:rPr>
              <a:t> </a:t>
            </a:r>
            <a:r>
              <a:rPr dirty="0" sz="2800">
                <a:solidFill>
                  <a:srgbClr val="4E3629"/>
                </a:solidFill>
                <a:latin typeface="Calibri"/>
                <a:cs typeface="Calibri"/>
              </a:rPr>
              <a:t>valor</a:t>
            </a:r>
            <a:r>
              <a:rPr dirty="0" sz="2800" spc="-60">
                <a:solidFill>
                  <a:srgbClr val="4E3629"/>
                </a:solidFill>
                <a:latin typeface="Calibri"/>
                <a:cs typeface="Calibri"/>
              </a:rPr>
              <a:t> </a:t>
            </a:r>
            <a:r>
              <a:rPr dirty="0" sz="2800" spc="-20">
                <a:solidFill>
                  <a:srgbClr val="4E3629"/>
                </a:solidFill>
                <a:latin typeface="Calibri"/>
                <a:cs typeface="Calibri"/>
              </a:rPr>
              <a:t>NULL</a:t>
            </a:r>
            <a:endParaRPr sz="2800">
              <a:latin typeface="Calibri"/>
              <a:cs typeface="Calibri"/>
            </a:endParaRPr>
          </a:p>
          <a:p>
            <a:pPr marL="260985">
              <a:lnSpc>
                <a:spcPct val="100000"/>
              </a:lnSpc>
              <a:spcBef>
                <a:spcPts val="1570"/>
              </a:spcBef>
            </a:pPr>
            <a:r>
              <a:rPr dirty="0" sz="1400" spc="-20" b="1">
                <a:solidFill>
                  <a:srgbClr val="4E3629"/>
                </a:solidFill>
                <a:latin typeface="Calibri"/>
                <a:cs typeface="Calibri"/>
              </a:rPr>
              <a:t>DEPARTMENTS:</a:t>
            </a:r>
            <a:r>
              <a:rPr dirty="0" sz="1400" spc="50" b="1">
                <a:solidFill>
                  <a:srgbClr val="4E3629"/>
                </a:solidFill>
                <a:latin typeface="Calibri"/>
                <a:cs typeface="Calibri"/>
              </a:rPr>
              <a:t> </a:t>
            </a:r>
            <a:r>
              <a:rPr dirty="0" sz="1400" spc="-10" b="1">
                <a:solidFill>
                  <a:srgbClr val="4E3629"/>
                </a:solidFill>
                <a:latin typeface="Calibri"/>
                <a:cs typeface="Calibri"/>
              </a:rPr>
              <a:t>principal</a:t>
            </a:r>
            <a:endParaRPr sz="1400">
              <a:latin typeface="Calibri"/>
              <a:cs typeface="Calibri"/>
            </a:endParaRPr>
          </a:p>
        </p:txBody>
      </p:sp>
      <p:grpSp>
        <p:nvGrpSpPr>
          <p:cNvPr id="13" name="object 13" descr=""/>
          <p:cNvGrpSpPr/>
          <p:nvPr/>
        </p:nvGrpSpPr>
        <p:grpSpPr>
          <a:xfrm>
            <a:off x="128778" y="3304032"/>
            <a:ext cx="1243330" cy="624840"/>
            <a:chOff x="128778" y="3304032"/>
            <a:chExt cx="1243330" cy="624840"/>
          </a:xfrm>
        </p:grpSpPr>
        <p:sp>
          <p:nvSpPr>
            <p:cNvPr id="14" name="object 14" descr=""/>
            <p:cNvSpPr/>
            <p:nvPr/>
          </p:nvSpPr>
          <p:spPr>
            <a:xfrm>
              <a:off x="128778" y="3615690"/>
              <a:ext cx="505459" cy="0"/>
            </a:xfrm>
            <a:custGeom>
              <a:avLst/>
              <a:gdLst/>
              <a:ahLst/>
              <a:cxnLst/>
              <a:rect l="l" t="t" r="r" b="b"/>
              <a:pathLst>
                <a:path w="505459" h="0">
                  <a:moveTo>
                    <a:pt x="0" y="0"/>
                  </a:moveTo>
                  <a:lnTo>
                    <a:pt x="505206" y="0"/>
                  </a:lnTo>
                </a:path>
              </a:pathLst>
            </a:custGeom>
            <a:ln w="38100">
              <a:solidFill>
                <a:srgbClr val="FF0000"/>
              </a:solidFill>
            </a:ln>
          </p:spPr>
          <p:txBody>
            <a:bodyPr wrap="square" lIns="0" tIns="0" rIns="0" bIns="0" rtlCol="0"/>
            <a:lstStyle/>
            <a:p/>
          </p:txBody>
        </p:sp>
        <p:sp>
          <p:nvSpPr>
            <p:cNvPr id="15" name="object 15" descr=""/>
            <p:cNvSpPr/>
            <p:nvPr/>
          </p:nvSpPr>
          <p:spPr>
            <a:xfrm>
              <a:off x="614936" y="3558534"/>
              <a:ext cx="114300" cy="114300"/>
            </a:xfrm>
            <a:custGeom>
              <a:avLst/>
              <a:gdLst/>
              <a:ahLst/>
              <a:cxnLst/>
              <a:rect l="l" t="t" r="r" b="b"/>
              <a:pathLst>
                <a:path w="114300" h="114300">
                  <a:moveTo>
                    <a:pt x="0" y="0"/>
                  </a:moveTo>
                  <a:lnTo>
                    <a:pt x="0" y="114300"/>
                  </a:lnTo>
                  <a:lnTo>
                    <a:pt x="114300" y="57150"/>
                  </a:lnTo>
                  <a:lnTo>
                    <a:pt x="0" y="0"/>
                  </a:lnTo>
                  <a:close/>
                </a:path>
              </a:pathLst>
            </a:custGeom>
            <a:solidFill>
              <a:srgbClr val="FF0000"/>
            </a:solidFill>
          </p:spPr>
          <p:txBody>
            <a:bodyPr wrap="square" lIns="0" tIns="0" rIns="0" bIns="0" rtlCol="0"/>
            <a:lstStyle/>
            <a:p/>
          </p:txBody>
        </p:sp>
        <p:sp>
          <p:nvSpPr>
            <p:cNvPr id="16" name="object 16" descr=""/>
            <p:cNvSpPr/>
            <p:nvPr/>
          </p:nvSpPr>
          <p:spPr>
            <a:xfrm>
              <a:off x="729233" y="3323082"/>
              <a:ext cx="623570" cy="586740"/>
            </a:xfrm>
            <a:custGeom>
              <a:avLst/>
              <a:gdLst/>
              <a:ahLst/>
              <a:cxnLst/>
              <a:rect l="l" t="t" r="r" b="b"/>
              <a:pathLst>
                <a:path w="623569" h="586739">
                  <a:moveTo>
                    <a:pt x="0" y="293370"/>
                  </a:moveTo>
                  <a:lnTo>
                    <a:pt x="4079" y="245783"/>
                  </a:lnTo>
                  <a:lnTo>
                    <a:pt x="15888" y="200641"/>
                  </a:lnTo>
                  <a:lnTo>
                    <a:pt x="34786" y="158548"/>
                  </a:lnTo>
                  <a:lnTo>
                    <a:pt x="60132" y="120108"/>
                  </a:lnTo>
                  <a:lnTo>
                    <a:pt x="91282" y="85925"/>
                  </a:lnTo>
                  <a:lnTo>
                    <a:pt x="127597" y="56602"/>
                  </a:lnTo>
                  <a:lnTo>
                    <a:pt x="168433" y="32744"/>
                  </a:lnTo>
                  <a:lnTo>
                    <a:pt x="213150" y="14955"/>
                  </a:lnTo>
                  <a:lnTo>
                    <a:pt x="261105" y="3839"/>
                  </a:lnTo>
                  <a:lnTo>
                    <a:pt x="311658" y="0"/>
                  </a:lnTo>
                  <a:lnTo>
                    <a:pt x="362210" y="3839"/>
                  </a:lnTo>
                  <a:lnTo>
                    <a:pt x="410165" y="14955"/>
                  </a:lnTo>
                  <a:lnTo>
                    <a:pt x="454882" y="32744"/>
                  </a:lnTo>
                  <a:lnTo>
                    <a:pt x="495718" y="56602"/>
                  </a:lnTo>
                  <a:lnTo>
                    <a:pt x="532033" y="85925"/>
                  </a:lnTo>
                  <a:lnTo>
                    <a:pt x="563183" y="120108"/>
                  </a:lnTo>
                  <a:lnTo>
                    <a:pt x="588529" y="158548"/>
                  </a:lnTo>
                  <a:lnTo>
                    <a:pt x="607427" y="200641"/>
                  </a:lnTo>
                  <a:lnTo>
                    <a:pt x="619236" y="245783"/>
                  </a:lnTo>
                  <a:lnTo>
                    <a:pt x="623316" y="293370"/>
                  </a:lnTo>
                  <a:lnTo>
                    <a:pt x="619236" y="340956"/>
                  </a:lnTo>
                  <a:lnTo>
                    <a:pt x="607427" y="386098"/>
                  </a:lnTo>
                  <a:lnTo>
                    <a:pt x="588529" y="428191"/>
                  </a:lnTo>
                  <a:lnTo>
                    <a:pt x="563183" y="466631"/>
                  </a:lnTo>
                  <a:lnTo>
                    <a:pt x="532033" y="500814"/>
                  </a:lnTo>
                  <a:lnTo>
                    <a:pt x="495718" y="530137"/>
                  </a:lnTo>
                  <a:lnTo>
                    <a:pt x="454882" y="553995"/>
                  </a:lnTo>
                  <a:lnTo>
                    <a:pt x="410165" y="571784"/>
                  </a:lnTo>
                  <a:lnTo>
                    <a:pt x="362210" y="582900"/>
                  </a:lnTo>
                  <a:lnTo>
                    <a:pt x="311658" y="586740"/>
                  </a:lnTo>
                  <a:lnTo>
                    <a:pt x="261105" y="582900"/>
                  </a:lnTo>
                  <a:lnTo>
                    <a:pt x="213150" y="571784"/>
                  </a:lnTo>
                  <a:lnTo>
                    <a:pt x="168433" y="553995"/>
                  </a:lnTo>
                  <a:lnTo>
                    <a:pt x="127597" y="530137"/>
                  </a:lnTo>
                  <a:lnTo>
                    <a:pt x="91282" y="500814"/>
                  </a:lnTo>
                  <a:lnTo>
                    <a:pt x="60132" y="466631"/>
                  </a:lnTo>
                  <a:lnTo>
                    <a:pt x="34786" y="428191"/>
                  </a:lnTo>
                  <a:lnTo>
                    <a:pt x="15888" y="386098"/>
                  </a:lnTo>
                  <a:lnTo>
                    <a:pt x="4079" y="340956"/>
                  </a:lnTo>
                  <a:lnTo>
                    <a:pt x="0" y="293370"/>
                  </a:lnTo>
                  <a:close/>
                </a:path>
              </a:pathLst>
            </a:custGeom>
            <a:ln w="38100">
              <a:solidFill>
                <a:srgbClr val="FF0000"/>
              </a:solidFill>
            </a:ln>
          </p:spPr>
          <p:txBody>
            <a:bodyPr wrap="square" lIns="0" tIns="0" rIns="0" bIns="0" rtlCol="0"/>
            <a:lstStyle/>
            <a:p/>
          </p:txBody>
        </p:sp>
      </p:grpSp>
      <p:graphicFrame>
        <p:nvGraphicFramePr>
          <p:cNvPr id="17" name="object 17" descr=""/>
          <p:cNvGraphicFramePr>
            <a:graphicFrameLocks noGrp="1"/>
          </p:cNvGraphicFramePr>
          <p:nvPr/>
        </p:nvGraphicFramePr>
        <p:xfrm>
          <a:off x="812364" y="4578015"/>
          <a:ext cx="7601584" cy="1461135"/>
        </p:xfrm>
        <a:graphic>
          <a:graphicData uri="http://schemas.openxmlformats.org/drawingml/2006/table">
            <a:tbl>
              <a:tblPr firstRow="1" bandRow="1">
                <a:tableStyleId>{2D5ABB26-0587-4C30-8999-92F81FD0307C}</a:tableStyleId>
              </a:tblPr>
              <a:tblGrid>
                <a:gridCol w="1878330"/>
                <a:gridCol w="1878330"/>
                <a:gridCol w="1878330"/>
                <a:gridCol w="1878329"/>
              </a:tblGrid>
              <a:tr h="243204">
                <a:tc>
                  <a:txBody>
                    <a:bodyPr/>
                    <a:lstStyle/>
                    <a:p>
                      <a:pPr marL="71755">
                        <a:lnSpc>
                          <a:spcPts val="1820"/>
                        </a:lnSpc>
                      </a:pPr>
                      <a:r>
                        <a:rPr dirty="0" sz="1600" spc="-10" b="1">
                          <a:solidFill>
                            <a:srgbClr val="4E3629"/>
                          </a:solidFill>
                          <a:latin typeface="Calibri"/>
                          <a:cs typeface="Calibri"/>
                        </a:rPr>
                        <a:t>EMPLOYEE_ID</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spc="-10" b="1">
                          <a:solidFill>
                            <a:srgbClr val="4E3629"/>
                          </a:solidFill>
                          <a:latin typeface="Calibri"/>
                          <a:cs typeface="Calibri"/>
                        </a:rPr>
                        <a:t>FIRST_NAME</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spc="-10" b="1">
                          <a:solidFill>
                            <a:srgbClr val="4E3629"/>
                          </a:solidFill>
                          <a:latin typeface="Calibri"/>
                          <a:cs typeface="Calibri"/>
                        </a:rPr>
                        <a:t>LAST_NAME</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spc="-10" b="1">
                          <a:solidFill>
                            <a:srgbClr val="4E3629"/>
                          </a:solidFill>
                          <a:latin typeface="Calibri"/>
                          <a:cs typeface="Calibri"/>
                        </a:rPr>
                        <a:t>DEPARTMENT_ID</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243840">
                <a:tc>
                  <a:txBody>
                    <a:bodyPr/>
                    <a:lstStyle/>
                    <a:p>
                      <a:pPr marL="71755">
                        <a:lnSpc>
                          <a:spcPts val="1820"/>
                        </a:lnSpc>
                      </a:pPr>
                      <a:r>
                        <a:rPr dirty="0" sz="1600" spc="-25">
                          <a:solidFill>
                            <a:srgbClr val="4E3629"/>
                          </a:solidFill>
                          <a:latin typeface="Calibri"/>
                          <a:cs typeface="Calibri"/>
                        </a:rPr>
                        <a:t>100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820"/>
                        </a:lnSpc>
                      </a:pPr>
                      <a:r>
                        <a:rPr dirty="0" sz="1600" spc="-10">
                          <a:solidFill>
                            <a:srgbClr val="4E3629"/>
                          </a:solidFill>
                          <a:latin typeface="Calibri"/>
                          <a:cs typeface="Calibri"/>
                        </a:rPr>
                        <a:t>Steven</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820"/>
                        </a:lnSpc>
                      </a:pPr>
                      <a:r>
                        <a:rPr dirty="0" sz="1600" spc="-20">
                          <a:solidFill>
                            <a:srgbClr val="4E3629"/>
                          </a:solidFill>
                          <a:latin typeface="Calibri"/>
                          <a:cs typeface="Calibri"/>
                        </a:rPr>
                        <a:t>King</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820"/>
                        </a:lnSpc>
                      </a:pPr>
                      <a:r>
                        <a:rPr dirty="0" sz="1600" spc="-25">
                          <a:solidFill>
                            <a:srgbClr val="4E3629"/>
                          </a:solidFill>
                          <a:latin typeface="Calibri"/>
                          <a:cs typeface="Calibri"/>
                        </a:rPr>
                        <a:t>90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243204">
                <a:tc>
                  <a:txBody>
                    <a:bodyPr/>
                    <a:lstStyle/>
                    <a:p>
                      <a:pPr marL="72390">
                        <a:lnSpc>
                          <a:spcPts val="1820"/>
                        </a:lnSpc>
                      </a:pPr>
                      <a:r>
                        <a:rPr dirty="0" sz="1600" spc="-25">
                          <a:solidFill>
                            <a:srgbClr val="4E3629"/>
                          </a:solidFill>
                          <a:latin typeface="Calibri"/>
                          <a:cs typeface="Calibri"/>
                        </a:rPr>
                        <a:t>101</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10">
                          <a:solidFill>
                            <a:srgbClr val="4E3629"/>
                          </a:solidFill>
                          <a:latin typeface="Calibri"/>
                          <a:cs typeface="Calibri"/>
                        </a:rPr>
                        <a:t>Neena</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10">
                          <a:solidFill>
                            <a:srgbClr val="4E3629"/>
                          </a:solidFill>
                          <a:latin typeface="Calibri"/>
                          <a:cs typeface="Calibri"/>
                        </a:rPr>
                        <a:t>Kochhar</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25">
                          <a:solidFill>
                            <a:srgbClr val="4E3629"/>
                          </a:solidFill>
                          <a:latin typeface="Calibri"/>
                          <a:cs typeface="Calibri"/>
                        </a:rPr>
                        <a:t>90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840">
                <a:tc>
                  <a:txBody>
                    <a:bodyPr/>
                    <a:lstStyle/>
                    <a:p>
                      <a:pPr marL="72390">
                        <a:lnSpc>
                          <a:spcPts val="1820"/>
                        </a:lnSpc>
                      </a:pPr>
                      <a:r>
                        <a:rPr dirty="0" sz="1600" spc="-25">
                          <a:solidFill>
                            <a:srgbClr val="4E3629"/>
                          </a:solidFill>
                          <a:latin typeface="Calibri"/>
                          <a:cs typeface="Calibri"/>
                        </a:rPr>
                        <a:t>102</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25">
                          <a:solidFill>
                            <a:srgbClr val="4E3629"/>
                          </a:solidFill>
                          <a:latin typeface="Calibri"/>
                          <a:cs typeface="Calibri"/>
                        </a:rPr>
                        <a:t>Lex</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a:solidFill>
                            <a:srgbClr val="4E3629"/>
                          </a:solidFill>
                          <a:latin typeface="Calibri"/>
                          <a:cs typeface="Calibri"/>
                        </a:rPr>
                        <a:t>De</a:t>
                      </a:r>
                      <a:r>
                        <a:rPr dirty="0" sz="1600" spc="-15">
                          <a:solidFill>
                            <a:srgbClr val="4E3629"/>
                          </a:solidFill>
                          <a:latin typeface="Calibri"/>
                          <a:cs typeface="Calibri"/>
                        </a:rPr>
                        <a:t> </a:t>
                      </a:r>
                      <a:r>
                        <a:rPr dirty="0" sz="1600" spc="-20">
                          <a:solidFill>
                            <a:srgbClr val="4E3629"/>
                          </a:solidFill>
                          <a:latin typeface="Calibri"/>
                          <a:cs typeface="Calibri"/>
                        </a:rPr>
                        <a:t>Haan</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25">
                          <a:solidFill>
                            <a:srgbClr val="4E3629"/>
                          </a:solidFill>
                          <a:latin typeface="Calibri"/>
                          <a:cs typeface="Calibri"/>
                        </a:rPr>
                        <a:t>90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204">
                <a:tc>
                  <a:txBody>
                    <a:bodyPr/>
                    <a:lstStyle/>
                    <a:p>
                      <a:pPr marL="72390">
                        <a:lnSpc>
                          <a:spcPts val="1820"/>
                        </a:lnSpc>
                      </a:pPr>
                      <a:r>
                        <a:rPr dirty="0" sz="1600" spc="-25">
                          <a:solidFill>
                            <a:srgbClr val="4E3629"/>
                          </a:solidFill>
                          <a:latin typeface="Calibri"/>
                          <a:cs typeface="Calibri"/>
                        </a:rPr>
                        <a:t>205</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10">
                          <a:solidFill>
                            <a:srgbClr val="4E3629"/>
                          </a:solidFill>
                          <a:latin typeface="Calibri"/>
                          <a:cs typeface="Calibri"/>
                        </a:rPr>
                        <a:t>Shelley</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10">
                          <a:solidFill>
                            <a:srgbClr val="4E3629"/>
                          </a:solidFill>
                          <a:latin typeface="Calibri"/>
                          <a:cs typeface="Calibri"/>
                        </a:rPr>
                        <a:t>Higgins</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25">
                          <a:solidFill>
                            <a:srgbClr val="4E3629"/>
                          </a:solidFill>
                          <a:latin typeface="Calibri"/>
                          <a:cs typeface="Calibri"/>
                        </a:rPr>
                        <a:t>110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840">
                <a:tc>
                  <a:txBody>
                    <a:bodyPr/>
                    <a:lstStyle/>
                    <a:p>
                      <a:pPr marL="72390">
                        <a:lnSpc>
                          <a:spcPts val="1820"/>
                        </a:lnSpc>
                      </a:pPr>
                      <a:r>
                        <a:rPr dirty="0" sz="1600" spc="-25">
                          <a:solidFill>
                            <a:srgbClr val="4E3629"/>
                          </a:solidFill>
                          <a:latin typeface="Calibri"/>
                          <a:cs typeface="Calibri"/>
                        </a:rPr>
                        <a:t>206</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3025">
                        <a:lnSpc>
                          <a:spcPts val="1820"/>
                        </a:lnSpc>
                      </a:pPr>
                      <a:r>
                        <a:rPr dirty="0" sz="1600" spc="-10">
                          <a:solidFill>
                            <a:srgbClr val="4E3629"/>
                          </a:solidFill>
                          <a:latin typeface="Calibri"/>
                          <a:cs typeface="Calibri"/>
                        </a:rPr>
                        <a:t>William</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3025">
                        <a:lnSpc>
                          <a:spcPts val="1820"/>
                        </a:lnSpc>
                      </a:pPr>
                      <a:r>
                        <a:rPr dirty="0" sz="1600" spc="-10">
                          <a:solidFill>
                            <a:srgbClr val="4E3629"/>
                          </a:solidFill>
                          <a:latin typeface="Calibri"/>
                          <a:cs typeface="Calibri"/>
                        </a:rPr>
                        <a:t>Gietz</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3025">
                        <a:lnSpc>
                          <a:spcPts val="1820"/>
                        </a:lnSpc>
                      </a:pPr>
                      <a:r>
                        <a:rPr dirty="0" sz="1600" spc="-25">
                          <a:solidFill>
                            <a:srgbClr val="4E3629"/>
                          </a:solidFill>
                          <a:latin typeface="Calibri"/>
                          <a:cs typeface="Calibri"/>
                        </a:rPr>
                        <a:t>110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
        <p:nvSpPr>
          <p:cNvPr id="19" name="object 19"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2</a:t>
            </a:r>
          </a:p>
          <a:p>
            <a:pPr marL="12700" marR="5080">
              <a:lnSpc>
                <a:spcPts val="919"/>
              </a:lnSpc>
              <a:spcBef>
                <a:spcPts val="60"/>
              </a:spcBef>
            </a:pPr>
            <a:r>
              <a:rPr dirty="0" spc="-10"/>
              <a:t>Restricciones</a:t>
            </a:r>
            <a:r>
              <a:rPr dirty="0" spc="55"/>
              <a:t> </a:t>
            </a:r>
            <a:r>
              <a:rPr dirty="0"/>
              <a:t>PRIMARY</a:t>
            </a:r>
            <a:r>
              <a:rPr dirty="0" spc="-30"/>
              <a:t> </a:t>
            </a:r>
            <a:r>
              <a:rPr dirty="0" spc="-20"/>
              <a:t>KEY,</a:t>
            </a:r>
            <a:r>
              <a:rPr dirty="0" spc="500"/>
              <a:t> </a:t>
            </a:r>
            <a:r>
              <a:rPr dirty="0"/>
              <a:t>FOREIGN</a:t>
            </a:r>
            <a:r>
              <a:rPr dirty="0" spc="-40"/>
              <a:t> </a:t>
            </a:r>
            <a:r>
              <a:rPr dirty="0"/>
              <a:t>KEY</a:t>
            </a:r>
            <a:r>
              <a:rPr dirty="0" spc="-20"/>
              <a:t> </a:t>
            </a:r>
            <a:r>
              <a:rPr dirty="0"/>
              <a:t>y</a:t>
            </a:r>
            <a:r>
              <a:rPr dirty="0" spc="-5"/>
              <a:t> </a:t>
            </a:r>
            <a:r>
              <a:rPr dirty="0" spc="-20"/>
              <a:t>CHECK</a:t>
            </a:r>
          </a:p>
        </p:txBody>
      </p:sp>
      <p:sp>
        <p:nvSpPr>
          <p:cNvPr id="20" name="object 20"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13</a:t>
            </a:r>
          </a:p>
        </p:txBody>
      </p:sp>
      <p:sp>
        <p:nvSpPr>
          <p:cNvPr id="21" name="object 21"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graphicFrame>
        <p:nvGraphicFramePr>
          <p:cNvPr id="18" name="object 18" descr=""/>
          <p:cNvGraphicFramePr>
            <a:graphicFrameLocks noGrp="1"/>
          </p:cNvGraphicFramePr>
          <p:nvPr/>
        </p:nvGraphicFramePr>
        <p:xfrm>
          <a:off x="798513" y="3176052"/>
          <a:ext cx="7601584" cy="974089"/>
        </p:xfrm>
        <a:graphic>
          <a:graphicData uri="http://schemas.openxmlformats.org/drawingml/2006/table">
            <a:tbl>
              <a:tblPr firstRow="1" bandRow="1">
                <a:tableStyleId>{2D5ABB26-0587-4C30-8999-92F81FD0307C}</a:tableStyleId>
              </a:tblPr>
              <a:tblGrid>
                <a:gridCol w="1894205"/>
                <a:gridCol w="1872615"/>
                <a:gridCol w="1872614"/>
                <a:gridCol w="1872614"/>
              </a:tblGrid>
              <a:tr h="243204">
                <a:tc>
                  <a:txBody>
                    <a:bodyPr/>
                    <a:lstStyle/>
                    <a:p>
                      <a:pPr marL="71755">
                        <a:lnSpc>
                          <a:spcPts val="1820"/>
                        </a:lnSpc>
                      </a:pPr>
                      <a:r>
                        <a:rPr dirty="0" sz="1600" spc="-10" b="1">
                          <a:solidFill>
                            <a:srgbClr val="4E3629"/>
                          </a:solidFill>
                          <a:latin typeface="Calibri"/>
                          <a:cs typeface="Calibri"/>
                        </a:rPr>
                        <a:t>DEPARTMENT_ID</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spc="-10" b="1">
                          <a:solidFill>
                            <a:srgbClr val="4E3629"/>
                          </a:solidFill>
                          <a:latin typeface="Calibri"/>
                          <a:cs typeface="Calibri"/>
                        </a:rPr>
                        <a:t>DEPT_NAME</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spc="-10" b="1">
                          <a:solidFill>
                            <a:srgbClr val="4E3629"/>
                          </a:solidFill>
                          <a:latin typeface="Calibri"/>
                          <a:cs typeface="Calibri"/>
                        </a:rPr>
                        <a:t>MANAGER_ID</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spc="-10" b="1">
                          <a:solidFill>
                            <a:srgbClr val="4E3629"/>
                          </a:solidFill>
                          <a:latin typeface="Calibri"/>
                          <a:cs typeface="Calibri"/>
                        </a:rPr>
                        <a:t>LOCATION_ID</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243840">
                <a:tc>
                  <a:txBody>
                    <a:bodyPr/>
                    <a:lstStyle/>
                    <a:p>
                      <a:pPr marL="71755">
                        <a:lnSpc>
                          <a:spcPts val="1820"/>
                        </a:lnSpc>
                      </a:pPr>
                      <a:r>
                        <a:rPr dirty="0" sz="1600" spc="-25">
                          <a:solidFill>
                            <a:srgbClr val="4E3629"/>
                          </a:solidFill>
                          <a:latin typeface="Calibri"/>
                          <a:cs typeface="Calibri"/>
                        </a:rPr>
                        <a:t>90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820"/>
                        </a:lnSpc>
                      </a:pPr>
                      <a:r>
                        <a:rPr dirty="0" sz="1600" spc="-10">
                          <a:solidFill>
                            <a:srgbClr val="4E3629"/>
                          </a:solidFill>
                          <a:latin typeface="Calibri"/>
                          <a:cs typeface="Calibri"/>
                        </a:rPr>
                        <a:t>Executive</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820"/>
                        </a:lnSpc>
                      </a:pPr>
                      <a:r>
                        <a:rPr dirty="0" sz="1600" spc="-25">
                          <a:solidFill>
                            <a:srgbClr val="4E3629"/>
                          </a:solidFill>
                          <a:latin typeface="Calibri"/>
                          <a:cs typeface="Calibri"/>
                        </a:rPr>
                        <a:t>100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820"/>
                        </a:lnSpc>
                      </a:pPr>
                      <a:r>
                        <a:rPr dirty="0" sz="1600" spc="-20">
                          <a:solidFill>
                            <a:srgbClr val="4E3629"/>
                          </a:solidFill>
                          <a:latin typeface="Calibri"/>
                          <a:cs typeface="Calibri"/>
                        </a:rPr>
                        <a:t>1700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243204">
                <a:tc>
                  <a:txBody>
                    <a:bodyPr/>
                    <a:lstStyle/>
                    <a:p>
                      <a:pPr marL="71755">
                        <a:lnSpc>
                          <a:spcPts val="1820"/>
                        </a:lnSpc>
                      </a:pPr>
                      <a:r>
                        <a:rPr dirty="0" sz="1600" spc="-25">
                          <a:solidFill>
                            <a:srgbClr val="4E3629"/>
                          </a:solidFill>
                          <a:latin typeface="Calibri"/>
                          <a:cs typeface="Calibri"/>
                        </a:rPr>
                        <a:t>110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10">
                          <a:solidFill>
                            <a:srgbClr val="4E3629"/>
                          </a:solidFill>
                          <a:latin typeface="Calibri"/>
                          <a:cs typeface="Calibri"/>
                        </a:rPr>
                        <a:t>Accounting</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25">
                          <a:solidFill>
                            <a:srgbClr val="4E3629"/>
                          </a:solidFill>
                          <a:latin typeface="Calibri"/>
                          <a:cs typeface="Calibri"/>
                        </a:rPr>
                        <a:t>205</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20">
                          <a:solidFill>
                            <a:srgbClr val="4E3629"/>
                          </a:solidFill>
                          <a:latin typeface="Calibri"/>
                          <a:cs typeface="Calibri"/>
                        </a:rPr>
                        <a:t>1700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840">
                <a:tc>
                  <a:txBody>
                    <a:bodyPr/>
                    <a:lstStyle/>
                    <a:p>
                      <a:pPr marL="71755">
                        <a:lnSpc>
                          <a:spcPts val="1820"/>
                        </a:lnSpc>
                      </a:pPr>
                      <a:r>
                        <a:rPr dirty="0" sz="1600" spc="-25">
                          <a:solidFill>
                            <a:srgbClr val="4E3629"/>
                          </a:solidFill>
                          <a:latin typeface="Calibri"/>
                          <a:cs typeface="Calibri"/>
                        </a:rPr>
                        <a:t>190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10">
                          <a:solidFill>
                            <a:srgbClr val="4E3629"/>
                          </a:solidFill>
                          <a:latin typeface="Calibri"/>
                          <a:cs typeface="Calibri"/>
                        </a:rPr>
                        <a:t>Contracting</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50">
                          <a:solidFill>
                            <a:srgbClr val="4E3629"/>
                          </a:solidFill>
                          <a:latin typeface="Calibri"/>
                          <a:cs typeface="Calibri"/>
                        </a:rPr>
                        <a: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20">
                          <a:solidFill>
                            <a:srgbClr val="4E3629"/>
                          </a:solidFill>
                          <a:latin typeface="Calibri"/>
                          <a:cs typeface="Calibri"/>
                        </a:rPr>
                        <a:t>1700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E0E2E1"/>
          </a:solidFill>
        </p:spPr>
        <p:txBody>
          <a:bodyPr wrap="square" lIns="0" tIns="0" rIns="0" bIns="0" rtlCol="0"/>
          <a:lstStyle/>
          <a:p/>
        </p:txBody>
      </p:sp>
      <p:sp>
        <p:nvSpPr>
          <p:cNvPr id="3" name="object 3" descr=""/>
          <p:cNvSpPr/>
          <p:nvPr/>
        </p:nvSpPr>
        <p:spPr>
          <a:xfrm>
            <a:off x="746234" y="3868955"/>
            <a:ext cx="307340" cy="217170"/>
          </a:xfrm>
          <a:custGeom>
            <a:avLst/>
            <a:gdLst/>
            <a:ahLst/>
            <a:cxnLst/>
            <a:rect l="l" t="t" r="r" b="b"/>
            <a:pathLst>
              <a:path w="307340" h="217170">
                <a:moveTo>
                  <a:pt x="252838" y="0"/>
                </a:moveTo>
                <a:lnTo>
                  <a:pt x="54240" y="0"/>
                </a:lnTo>
                <a:lnTo>
                  <a:pt x="34323" y="9322"/>
                </a:lnTo>
                <a:lnTo>
                  <a:pt x="16950" y="33900"/>
                </a:lnTo>
                <a:lnTo>
                  <a:pt x="4661" y="68648"/>
                </a:lnTo>
                <a:lnTo>
                  <a:pt x="0" y="108480"/>
                </a:lnTo>
                <a:lnTo>
                  <a:pt x="4661" y="148313"/>
                </a:lnTo>
                <a:lnTo>
                  <a:pt x="16950" y="183061"/>
                </a:lnTo>
                <a:lnTo>
                  <a:pt x="34323" y="207639"/>
                </a:lnTo>
                <a:lnTo>
                  <a:pt x="54240" y="216961"/>
                </a:lnTo>
                <a:lnTo>
                  <a:pt x="252838" y="216961"/>
                </a:lnTo>
                <a:lnTo>
                  <a:pt x="272754" y="207639"/>
                </a:lnTo>
                <a:lnTo>
                  <a:pt x="290128" y="183061"/>
                </a:lnTo>
                <a:lnTo>
                  <a:pt x="302417" y="148313"/>
                </a:lnTo>
                <a:lnTo>
                  <a:pt x="307078" y="108480"/>
                </a:lnTo>
                <a:lnTo>
                  <a:pt x="302417" y="68648"/>
                </a:lnTo>
                <a:lnTo>
                  <a:pt x="290128" y="33900"/>
                </a:lnTo>
                <a:lnTo>
                  <a:pt x="272754" y="9322"/>
                </a:lnTo>
                <a:lnTo>
                  <a:pt x="252838" y="0"/>
                </a:lnTo>
                <a:close/>
              </a:path>
            </a:pathLst>
          </a:custGeom>
          <a:solidFill>
            <a:srgbClr val="FACD5A"/>
          </a:solidFill>
        </p:spPr>
        <p:txBody>
          <a:bodyPr wrap="square" lIns="0" tIns="0" rIns="0" bIns="0" rtlCol="0"/>
          <a:lstStyle/>
          <a:p/>
        </p:txBody>
      </p:sp>
      <p:pic>
        <p:nvPicPr>
          <p:cNvPr id="4" name="object 4" descr=""/>
          <p:cNvPicPr/>
          <p:nvPr/>
        </p:nvPicPr>
        <p:blipFill>
          <a:blip r:embed="rId2" cstate="print"/>
          <a:stretch>
            <a:fillRect/>
          </a:stretch>
        </p:blipFill>
        <p:spPr>
          <a:xfrm>
            <a:off x="0" y="0"/>
            <a:ext cx="9144000" cy="254507"/>
          </a:xfrm>
          <a:prstGeom prst="rect">
            <a:avLst/>
          </a:prstGeom>
        </p:spPr>
      </p:pic>
      <p:pic>
        <p:nvPicPr>
          <p:cNvPr id="5" name="object 5" descr=""/>
          <p:cNvPicPr/>
          <p:nvPr/>
        </p:nvPicPr>
        <p:blipFill>
          <a:blip r:embed="rId3" cstate="print"/>
          <a:stretch>
            <a:fillRect/>
          </a:stretch>
        </p:blipFill>
        <p:spPr>
          <a:xfrm>
            <a:off x="405384" y="6178295"/>
            <a:ext cx="1258824" cy="420624"/>
          </a:xfrm>
          <a:prstGeom prst="rect">
            <a:avLst/>
          </a:prstGeom>
        </p:spPr>
      </p:pic>
      <p:sp>
        <p:nvSpPr>
          <p:cNvPr id="6" name="object 6"/>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spc="-10"/>
              <a:t>Restricción</a:t>
            </a:r>
            <a:r>
              <a:rPr dirty="0" spc="-90"/>
              <a:t> </a:t>
            </a:r>
            <a:r>
              <a:rPr dirty="0"/>
              <a:t>de</a:t>
            </a:r>
            <a:r>
              <a:rPr dirty="0" spc="-90"/>
              <a:t> </a:t>
            </a:r>
            <a:r>
              <a:rPr dirty="0"/>
              <a:t>Integridad</a:t>
            </a:r>
            <a:r>
              <a:rPr dirty="0" spc="-80"/>
              <a:t> </a:t>
            </a:r>
            <a:r>
              <a:rPr dirty="0" spc="-10"/>
              <a:t>Referencial</a:t>
            </a:r>
          </a:p>
        </p:txBody>
      </p:sp>
      <p:sp>
        <p:nvSpPr>
          <p:cNvPr id="11" name="object 11"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2</a:t>
            </a:r>
          </a:p>
          <a:p>
            <a:pPr marL="12700" marR="5080">
              <a:lnSpc>
                <a:spcPts val="919"/>
              </a:lnSpc>
              <a:spcBef>
                <a:spcPts val="60"/>
              </a:spcBef>
            </a:pPr>
            <a:r>
              <a:rPr dirty="0" spc="-10"/>
              <a:t>Restricciones</a:t>
            </a:r>
            <a:r>
              <a:rPr dirty="0" spc="55"/>
              <a:t> </a:t>
            </a:r>
            <a:r>
              <a:rPr dirty="0"/>
              <a:t>PRIMARY</a:t>
            </a:r>
            <a:r>
              <a:rPr dirty="0" spc="-30"/>
              <a:t> </a:t>
            </a:r>
            <a:r>
              <a:rPr dirty="0" spc="-20"/>
              <a:t>KEY,</a:t>
            </a:r>
            <a:r>
              <a:rPr dirty="0" spc="500"/>
              <a:t> </a:t>
            </a:r>
            <a:r>
              <a:rPr dirty="0"/>
              <a:t>FOREIGN</a:t>
            </a:r>
            <a:r>
              <a:rPr dirty="0" spc="-40"/>
              <a:t> </a:t>
            </a:r>
            <a:r>
              <a:rPr dirty="0"/>
              <a:t>KEY</a:t>
            </a:r>
            <a:r>
              <a:rPr dirty="0" spc="-20"/>
              <a:t> </a:t>
            </a:r>
            <a:r>
              <a:rPr dirty="0"/>
              <a:t>y</a:t>
            </a:r>
            <a:r>
              <a:rPr dirty="0" spc="-5"/>
              <a:t> </a:t>
            </a:r>
            <a:r>
              <a:rPr dirty="0" spc="-20"/>
              <a:t>CHECK</a:t>
            </a:r>
          </a:p>
        </p:txBody>
      </p:sp>
      <p:sp>
        <p:nvSpPr>
          <p:cNvPr id="12" name="object 12"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14</a:t>
            </a:r>
          </a:p>
        </p:txBody>
      </p:sp>
      <p:sp>
        <p:nvSpPr>
          <p:cNvPr id="13" name="object 13"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7" name="object 7" descr=""/>
          <p:cNvSpPr txBox="1"/>
          <p:nvPr/>
        </p:nvSpPr>
        <p:spPr>
          <a:xfrm>
            <a:off x="483552" y="1415417"/>
            <a:ext cx="8053070" cy="1669414"/>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Puede</a:t>
            </a:r>
            <a:r>
              <a:rPr dirty="0" sz="2800" spc="-40">
                <a:solidFill>
                  <a:srgbClr val="4E3629"/>
                </a:solidFill>
                <a:latin typeface="Calibri"/>
                <a:cs typeface="Calibri"/>
              </a:rPr>
              <a:t> </a:t>
            </a:r>
            <a:r>
              <a:rPr dirty="0" sz="2800">
                <a:solidFill>
                  <a:srgbClr val="4E3629"/>
                </a:solidFill>
                <a:latin typeface="Calibri"/>
                <a:cs typeface="Calibri"/>
              </a:rPr>
              <a:t>existir</a:t>
            </a:r>
            <a:r>
              <a:rPr dirty="0" sz="2800" spc="-40">
                <a:solidFill>
                  <a:srgbClr val="4E3629"/>
                </a:solidFill>
                <a:latin typeface="Calibri"/>
                <a:cs typeface="Calibri"/>
              </a:rPr>
              <a:t> </a:t>
            </a:r>
            <a:r>
              <a:rPr dirty="0" sz="2800">
                <a:solidFill>
                  <a:srgbClr val="4E3629"/>
                </a:solidFill>
                <a:latin typeface="Calibri"/>
                <a:cs typeface="Calibri"/>
              </a:rPr>
              <a:t>un</a:t>
            </a:r>
            <a:r>
              <a:rPr dirty="0" sz="2800" spc="-40">
                <a:solidFill>
                  <a:srgbClr val="4E3629"/>
                </a:solidFill>
                <a:latin typeface="Calibri"/>
                <a:cs typeface="Calibri"/>
              </a:rPr>
              <a:t> </a:t>
            </a:r>
            <a:r>
              <a:rPr dirty="0" sz="2800">
                <a:solidFill>
                  <a:srgbClr val="4E3629"/>
                </a:solidFill>
                <a:latin typeface="Calibri"/>
                <a:cs typeface="Calibri"/>
              </a:rPr>
              <a:t>valor</a:t>
            </a:r>
            <a:r>
              <a:rPr dirty="0" sz="2800" spc="-65">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clave</a:t>
            </a:r>
            <a:r>
              <a:rPr dirty="0" sz="2800" spc="-55">
                <a:solidFill>
                  <a:srgbClr val="4E3629"/>
                </a:solidFill>
                <a:latin typeface="Calibri"/>
                <a:cs typeface="Calibri"/>
              </a:rPr>
              <a:t> </a:t>
            </a:r>
            <a:r>
              <a:rPr dirty="0" sz="2800">
                <a:solidFill>
                  <a:srgbClr val="4E3629"/>
                </a:solidFill>
                <a:latin typeface="Calibri"/>
                <a:cs typeface="Calibri"/>
              </a:rPr>
              <a:t>primaria</a:t>
            </a:r>
            <a:r>
              <a:rPr dirty="0" sz="2800" spc="-40">
                <a:solidFill>
                  <a:srgbClr val="4E3629"/>
                </a:solidFill>
                <a:latin typeface="Calibri"/>
                <a:cs typeface="Calibri"/>
              </a:rPr>
              <a:t> </a:t>
            </a:r>
            <a:r>
              <a:rPr dirty="0" sz="2800">
                <a:solidFill>
                  <a:srgbClr val="4E3629"/>
                </a:solidFill>
                <a:latin typeface="Calibri"/>
                <a:cs typeface="Calibri"/>
              </a:rPr>
              <a:t>sin</a:t>
            </a:r>
            <a:r>
              <a:rPr dirty="0" sz="2800" spc="-45">
                <a:solidFill>
                  <a:srgbClr val="4E3629"/>
                </a:solidFill>
                <a:latin typeface="Calibri"/>
                <a:cs typeface="Calibri"/>
              </a:rPr>
              <a:t> </a:t>
            </a:r>
            <a:r>
              <a:rPr dirty="0" sz="2800">
                <a:solidFill>
                  <a:srgbClr val="4E3629"/>
                </a:solidFill>
                <a:latin typeface="Calibri"/>
                <a:cs typeface="Calibri"/>
              </a:rPr>
              <a:t>un</a:t>
            </a:r>
            <a:r>
              <a:rPr dirty="0" sz="2800" spc="-40">
                <a:solidFill>
                  <a:srgbClr val="4E3629"/>
                </a:solidFill>
                <a:latin typeface="Calibri"/>
                <a:cs typeface="Calibri"/>
              </a:rPr>
              <a:t> </a:t>
            </a:r>
            <a:r>
              <a:rPr dirty="0" sz="2800">
                <a:solidFill>
                  <a:srgbClr val="4E3629"/>
                </a:solidFill>
                <a:latin typeface="Calibri"/>
                <a:cs typeface="Calibri"/>
              </a:rPr>
              <a:t>valor</a:t>
            </a:r>
            <a:r>
              <a:rPr dirty="0" sz="2800" spc="-75">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clave</a:t>
            </a:r>
            <a:r>
              <a:rPr dirty="0" sz="2800" spc="-95">
                <a:solidFill>
                  <a:srgbClr val="4E3629"/>
                </a:solidFill>
                <a:latin typeface="Calibri"/>
                <a:cs typeface="Calibri"/>
              </a:rPr>
              <a:t> </a:t>
            </a:r>
            <a:r>
              <a:rPr dirty="0" sz="2800">
                <a:solidFill>
                  <a:srgbClr val="4E3629"/>
                </a:solidFill>
                <a:latin typeface="Calibri"/>
                <a:cs typeface="Calibri"/>
              </a:rPr>
              <a:t>ajena</a:t>
            </a:r>
            <a:r>
              <a:rPr dirty="0" sz="2800" spc="-70">
                <a:solidFill>
                  <a:srgbClr val="4E3629"/>
                </a:solidFill>
                <a:latin typeface="Calibri"/>
                <a:cs typeface="Calibri"/>
              </a:rPr>
              <a:t> </a:t>
            </a:r>
            <a:r>
              <a:rPr dirty="0" sz="2800" spc="-10">
                <a:solidFill>
                  <a:srgbClr val="4E3629"/>
                </a:solidFill>
                <a:latin typeface="Calibri"/>
                <a:cs typeface="Calibri"/>
              </a:rPr>
              <a:t>correspondiente;</a:t>
            </a:r>
            <a:r>
              <a:rPr dirty="0" sz="2800" spc="-35">
                <a:solidFill>
                  <a:srgbClr val="4E3629"/>
                </a:solidFill>
                <a:latin typeface="Calibri"/>
                <a:cs typeface="Calibri"/>
              </a:rPr>
              <a:t> </a:t>
            </a:r>
            <a:r>
              <a:rPr dirty="0" sz="2800">
                <a:solidFill>
                  <a:srgbClr val="4E3629"/>
                </a:solidFill>
                <a:latin typeface="Calibri"/>
                <a:cs typeface="Calibri"/>
              </a:rPr>
              <a:t>sin</a:t>
            </a:r>
            <a:r>
              <a:rPr dirty="0" sz="2800" spc="-60">
                <a:solidFill>
                  <a:srgbClr val="4E3629"/>
                </a:solidFill>
                <a:latin typeface="Calibri"/>
                <a:cs typeface="Calibri"/>
              </a:rPr>
              <a:t> </a:t>
            </a:r>
            <a:r>
              <a:rPr dirty="0" sz="2800" spc="-10">
                <a:solidFill>
                  <a:srgbClr val="4E3629"/>
                </a:solidFill>
                <a:latin typeface="Calibri"/>
                <a:cs typeface="Calibri"/>
              </a:rPr>
              <a:t>embargo,</a:t>
            </a:r>
            <a:r>
              <a:rPr dirty="0" sz="2800" spc="-80">
                <a:solidFill>
                  <a:srgbClr val="4E3629"/>
                </a:solidFill>
                <a:latin typeface="Calibri"/>
                <a:cs typeface="Calibri"/>
              </a:rPr>
              <a:t> </a:t>
            </a:r>
            <a:r>
              <a:rPr dirty="0" sz="2800">
                <a:solidFill>
                  <a:srgbClr val="4E3629"/>
                </a:solidFill>
                <a:latin typeface="Calibri"/>
                <a:cs typeface="Calibri"/>
              </a:rPr>
              <a:t>una</a:t>
            </a:r>
            <a:r>
              <a:rPr dirty="0" sz="2800" spc="-45">
                <a:solidFill>
                  <a:srgbClr val="4E3629"/>
                </a:solidFill>
                <a:latin typeface="Calibri"/>
                <a:cs typeface="Calibri"/>
              </a:rPr>
              <a:t> </a:t>
            </a:r>
            <a:r>
              <a:rPr dirty="0" sz="2800" spc="-10">
                <a:solidFill>
                  <a:srgbClr val="4E3629"/>
                </a:solidFill>
                <a:latin typeface="Calibri"/>
                <a:cs typeface="Calibri"/>
              </a:rPr>
              <a:t>clave </a:t>
            </a:r>
            <a:r>
              <a:rPr dirty="0" sz="2800" spc="-10">
                <a:solidFill>
                  <a:srgbClr val="4E3629"/>
                </a:solidFill>
                <a:latin typeface="Calibri"/>
                <a:cs typeface="Calibri"/>
              </a:rPr>
              <a:t>	</a:t>
            </a:r>
            <a:r>
              <a:rPr dirty="0" sz="2800">
                <a:solidFill>
                  <a:srgbClr val="4E3629"/>
                </a:solidFill>
                <a:latin typeface="Calibri"/>
                <a:cs typeface="Calibri"/>
              </a:rPr>
              <a:t>ajena</a:t>
            </a:r>
            <a:r>
              <a:rPr dirty="0" sz="2800" spc="-60">
                <a:solidFill>
                  <a:srgbClr val="4E3629"/>
                </a:solidFill>
                <a:latin typeface="Calibri"/>
                <a:cs typeface="Calibri"/>
              </a:rPr>
              <a:t> </a:t>
            </a:r>
            <a:r>
              <a:rPr dirty="0" sz="2800">
                <a:solidFill>
                  <a:srgbClr val="4E3629"/>
                </a:solidFill>
                <a:latin typeface="Calibri"/>
                <a:cs typeface="Calibri"/>
              </a:rPr>
              <a:t>debe</a:t>
            </a:r>
            <a:r>
              <a:rPr dirty="0" sz="2800" spc="-50">
                <a:solidFill>
                  <a:srgbClr val="4E3629"/>
                </a:solidFill>
                <a:latin typeface="Calibri"/>
                <a:cs typeface="Calibri"/>
              </a:rPr>
              <a:t> </a:t>
            </a:r>
            <a:r>
              <a:rPr dirty="0" sz="2800">
                <a:solidFill>
                  <a:srgbClr val="4E3629"/>
                </a:solidFill>
                <a:latin typeface="Calibri"/>
                <a:cs typeface="Calibri"/>
              </a:rPr>
              <a:t>tener</a:t>
            </a:r>
            <a:r>
              <a:rPr dirty="0" sz="2800" spc="-65">
                <a:solidFill>
                  <a:srgbClr val="4E3629"/>
                </a:solidFill>
                <a:latin typeface="Calibri"/>
                <a:cs typeface="Calibri"/>
              </a:rPr>
              <a:t> </a:t>
            </a:r>
            <a:r>
              <a:rPr dirty="0" sz="2800">
                <a:solidFill>
                  <a:srgbClr val="4E3629"/>
                </a:solidFill>
                <a:latin typeface="Calibri"/>
                <a:cs typeface="Calibri"/>
              </a:rPr>
              <a:t>una</a:t>
            </a:r>
            <a:r>
              <a:rPr dirty="0" sz="2800" spc="-35">
                <a:solidFill>
                  <a:srgbClr val="4E3629"/>
                </a:solidFill>
                <a:latin typeface="Calibri"/>
                <a:cs typeface="Calibri"/>
              </a:rPr>
              <a:t> </a:t>
            </a:r>
            <a:r>
              <a:rPr dirty="0" sz="2800">
                <a:solidFill>
                  <a:srgbClr val="4E3629"/>
                </a:solidFill>
                <a:latin typeface="Calibri"/>
                <a:cs typeface="Calibri"/>
              </a:rPr>
              <a:t>clave</a:t>
            </a:r>
            <a:r>
              <a:rPr dirty="0" sz="2800" spc="-70">
                <a:solidFill>
                  <a:srgbClr val="4E3629"/>
                </a:solidFill>
                <a:latin typeface="Calibri"/>
                <a:cs typeface="Calibri"/>
              </a:rPr>
              <a:t> </a:t>
            </a:r>
            <a:r>
              <a:rPr dirty="0" sz="2800">
                <a:solidFill>
                  <a:srgbClr val="4E3629"/>
                </a:solidFill>
                <a:latin typeface="Calibri"/>
                <a:cs typeface="Calibri"/>
              </a:rPr>
              <a:t>primaria</a:t>
            </a:r>
            <a:r>
              <a:rPr dirty="0" sz="2800" spc="-50">
                <a:solidFill>
                  <a:srgbClr val="4E3629"/>
                </a:solidFill>
                <a:latin typeface="Calibri"/>
                <a:cs typeface="Calibri"/>
              </a:rPr>
              <a:t> </a:t>
            </a:r>
            <a:r>
              <a:rPr dirty="0" sz="2800" spc="-10">
                <a:solidFill>
                  <a:srgbClr val="4E3629"/>
                </a:solidFill>
                <a:latin typeface="Calibri"/>
                <a:cs typeface="Calibri"/>
              </a:rPr>
              <a:t>correspondiente</a:t>
            </a:r>
            <a:endParaRPr sz="2800">
              <a:latin typeface="Calibri"/>
              <a:cs typeface="Calibri"/>
            </a:endParaRPr>
          </a:p>
          <a:p>
            <a:pPr marL="260985">
              <a:lnSpc>
                <a:spcPct val="100000"/>
              </a:lnSpc>
              <a:spcBef>
                <a:spcPts val="1565"/>
              </a:spcBef>
            </a:pPr>
            <a:r>
              <a:rPr dirty="0" sz="1600" spc="-20" b="1">
                <a:solidFill>
                  <a:srgbClr val="4E3629"/>
                </a:solidFill>
                <a:latin typeface="Calibri"/>
                <a:cs typeface="Calibri"/>
              </a:rPr>
              <a:t>DEPARTMENTS:</a:t>
            </a:r>
            <a:r>
              <a:rPr dirty="0" sz="1600" b="1">
                <a:solidFill>
                  <a:srgbClr val="4E3629"/>
                </a:solidFill>
                <a:latin typeface="Calibri"/>
                <a:cs typeface="Calibri"/>
              </a:rPr>
              <a:t> </a:t>
            </a:r>
            <a:r>
              <a:rPr dirty="0" sz="1600" spc="-10" b="1">
                <a:solidFill>
                  <a:srgbClr val="4E3629"/>
                </a:solidFill>
                <a:latin typeface="Calibri"/>
                <a:cs typeface="Calibri"/>
              </a:rPr>
              <a:t>principal</a:t>
            </a:r>
            <a:endParaRPr sz="1600">
              <a:latin typeface="Calibri"/>
              <a:cs typeface="Calibri"/>
            </a:endParaRPr>
          </a:p>
        </p:txBody>
      </p:sp>
      <p:sp>
        <p:nvSpPr>
          <p:cNvPr id="8" name="object 8" descr=""/>
          <p:cNvSpPr txBox="1"/>
          <p:nvPr/>
        </p:nvSpPr>
        <p:spPr>
          <a:xfrm>
            <a:off x="732292" y="4198622"/>
            <a:ext cx="194373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E3629"/>
                </a:solidFill>
                <a:latin typeface="Calibri"/>
                <a:cs typeface="Calibri"/>
              </a:rPr>
              <a:t>EMPLOYEE:</a:t>
            </a:r>
            <a:r>
              <a:rPr dirty="0" sz="1600" spc="-60" b="1">
                <a:solidFill>
                  <a:srgbClr val="4E3629"/>
                </a:solidFill>
                <a:latin typeface="Calibri"/>
                <a:cs typeface="Calibri"/>
              </a:rPr>
              <a:t> </a:t>
            </a:r>
            <a:r>
              <a:rPr dirty="0" sz="1600" spc="-10" b="1">
                <a:solidFill>
                  <a:srgbClr val="4E3629"/>
                </a:solidFill>
                <a:latin typeface="Calibri"/>
                <a:cs typeface="Calibri"/>
              </a:rPr>
              <a:t>secundaria</a:t>
            </a:r>
            <a:endParaRPr sz="1600">
              <a:latin typeface="Calibri"/>
              <a:cs typeface="Calibri"/>
            </a:endParaRPr>
          </a:p>
        </p:txBody>
      </p:sp>
      <p:graphicFrame>
        <p:nvGraphicFramePr>
          <p:cNvPr id="9" name="object 9" descr=""/>
          <p:cNvGraphicFramePr>
            <a:graphicFrameLocks noGrp="1"/>
          </p:cNvGraphicFramePr>
          <p:nvPr/>
        </p:nvGraphicFramePr>
        <p:xfrm>
          <a:off x="667885" y="4516659"/>
          <a:ext cx="7601584" cy="1461135"/>
        </p:xfrm>
        <a:graphic>
          <a:graphicData uri="http://schemas.openxmlformats.org/drawingml/2006/table">
            <a:tbl>
              <a:tblPr firstRow="1" bandRow="1">
                <a:tableStyleId>{2D5ABB26-0587-4C30-8999-92F81FD0307C}</a:tableStyleId>
              </a:tblPr>
              <a:tblGrid>
                <a:gridCol w="1878330"/>
                <a:gridCol w="1878330"/>
                <a:gridCol w="1878330"/>
                <a:gridCol w="1878329"/>
              </a:tblGrid>
              <a:tr h="243204">
                <a:tc>
                  <a:txBody>
                    <a:bodyPr/>
                    <a:lstStyle/>
                    <a:p>
                      <a:pPr marL="71755">
                        <a:lnSpc>
                          <a:spcPts val="1820"/>
                        </a:lnSpc>
                      </a:pPr>
                      <a:r>
                        <a:rPr dirty="0" sz="1600" spc="-10" b="1">
                          <a:solidFill>
                            <a:srgbClr val="4E3629"/>
                          </a:solidFill>
                          <a:latin typeface="Calibri"/>
                          <a:cs typeface="Calibri"/>
                        </a:rPr>
                        <a:t>EMPLOYEE_ID</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spc="-10" b="1">
                          <a:solidFill>
                            <a:srgbClr val="4E3629"/>
                          </a:solidFill>
                          <a:latin typeface="Calibri"/>
                          <a:cs typeface="Calibri"/>
                        </a:rPr>
                        <a:t>FIRST_NAME</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spc="-10" b="1">
                          <a:solidFill>
                            <a:srgbClr val="4E3629"/>
                          </a:solidFill>
                          <a:latin typeface="Calibri"/>
                          <a:cs typeface="Calibri"/>
                        </a:rPr>
                        <a:t>LAST_NAME</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spc="-10" b="1">
                          <a:solidFill>
                            <a:srgbClr val="4E3629"/>
                          </a:solidFill>
                          <a:latin typeface="Calibri"/>
                          <a:cs typeface="Calibri"/>
                        </a:rPr>
                        <a:t>DEPARTMENT_ID</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243204">
                <a:tc>
                  <a:txBody>
                    <a:bodyPr/>
                    <a:lstStyle/>
                    <a:p>
                      <a:pPr marL="71755">
                        <a:lnSpc>
                          <a:spcPts val="1820"/>
                        </a:lnSpc>
                      </a:pPr>
                      <a:r>
                        <a:rPr dirty="0" sz="1600" spc="-25">
                          <a:solidFill>
                            <a:srgbClr val="4E3629"/>
                          </a:solidFill>
                          <a:latin typeface="Calibri"/>
                          <a:cs typeface="Calibri"/>
                        </a:rPr>
                        <a:t>100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820"/>
                        </a:lnSpc>
                      </a:pPr>
                      <a:r>
                        <a:rPr dirty="0" sz="1600" spc="-10">
                          <a:solidFill>
                            <a:srgbClr val="4E3629"/>
                          </a:solidFill>
                          <a:latin typeface="Calibri"/>
                          <a:cs typeface="Calibri"/>
                        </a:rPr>
                        <a:t>Steven</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820"/>
                        </a:lnSpc>
                      </a:pPr>
                      <a:r>
                        <a:rPr dirty="0" sz="1600" spc="-20">
                          <a:solidFill>
                            <a:srgbClr val="4E3629"/>
                          </a:solidFill>
                          <a:latin typeface="Calibri"/>
                          <a:cs typeface="Calibri"/>
                        </a:rPr>
                        <a:t>King</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820"/>
                        </a:lnSpc>
                      </a:pPr>
                      <a:r>
                        <a:rPr dirty="0" sz="1600" spc="-25">
                          <a:solidFill>
                            <a:srgbClr val="4E3629"/>
                          </a:solidFill>
                          <a:latin typeface="Calibri"/>
                          <a:cs typeface="Calibri"/>
                        </a:rPr>
                        <a:t>90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243840">
                <a:tc>
                  <a:txBody>
                    <a:bodyPr/>
                    <a:lstStyle/>
                    <a:p>
                      <a:pPr marL="72390">
                        <a:lnSpc>
                          <a:spcPts val="1820"/>
                        </a:lnSpc>
                      </a:pPr>
                      <a:r>
                        <a:rPr dirty="0" sz="1600" spc="-25">
                          <a:solidFill>
                            <a:srgbClr val="4E3629"/>
                          </a:solidFill>
                          <a:latin typeface="Calibri"/>
                          <a:cs typeface="Calibri"/>
                        </a:rPr>
                        <a:t>101</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10">
                          <a:solidFill>
                            <a:srgbClr val="4E3629"/>
                          </a:solidFill>
                          <a:latin typeface="Calibri"/>
                          <a:cs typeface="Calibri"/>
                        </a:rPr>
                        <a:t>Neena</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10">
                          <a:solidFill>
                            <a:srgbClr val="4E3629"/>
                          </a:solidFill>
                          <a:latin typeface="Calibri"/>
                          <a:cs typeface="Calibri"/>
                        </a:rPr>
                        <a:t>Kochhar</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25">
                          <a:solidFill>
                            <a:srgbClr val="4E3629"/>
                          </a:solidFill>
                          <a:latin typeface="Calibri"/>
                          <a:cs typeface="Calibri"/>
                        </a:rPr>
                        <a:t>90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204">
                <a:tc>
                  <a:txBody>
                    <a:bodyPr/>
                    <a:lstStyle/>
                    <a:p>
                      <a:pPr marL="72390">
                        <a:lnSpc>
                          <a:spcPts val="1820"/>
                        </a:lnSpc>
                      </a:pPr>
                      <a:r>
                        <a:rPr dirty="0" sz="1600" spc="-25">
                          <a:solidFill>
                            <a:srgbClr val="4E3629"/>
                          </a:solidFill>
                          <a:latin typeface="Calibri"/>
                          <a:cs typeface="Calibri"/>
                        </a:rPr>
                        <a:t>102</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25">
                          <a:solidFill>
                            <a:srgbClr val="4E3629"/>
                          </a:solidFill>
                          <a:latin typeface="Calibri"/>
                          <a:cs typeface="Calibri"/>
                        </a:rPr>
                        <a:t>Lex</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a:solidFill>
                            <a:srgbClr val="4E3629"/>
                          </a:solidFill>
                          <a:latin typeface="Calibri"/>
                          <a:cs typeface="Calibri"/>
                        </a:rPr>
                        <a:t>De</a:t>
                      </a:r>
                      <a:r>
                        <a:rPr dirty="0" sz="1600" spc="-15">
                          <a:solidFill>
                            <a:srgbClr val="4E3629"/>
                          </a:solidFill>
                          <a:latin typeface="Calibri"/>
                          <a:cs typeface="Calibri"/>
                        </a:rPr>
                        <a:t> </a:t>
                      </a:r>
                      <a:r>
                        <a:rPr dirty="0" sz="1600" spc="-20">
                          <a:solidFill>
                            <a:srgbClr val="4E3629"/>
                          </a:solidFill>
                          <a:latin typeface="Calibri"/>
                          <a:cs typeface="Calibri"/>
                        </a:rPr>
                        <a:t>Haan</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25">
                          <a:solidFill>
                            <a:srgbClr val="4E3629"/>
                          </a:solidFill>
                          <a:latin typeface="Calibri"/>
                          <a:cs typeface="Calibri"/>
                        </a:rPr>
                        <a:t>90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840">
                <a:tc>
                  <a:txBody>
                    <a:bodyPr/>
                    <a:lstStyle/>
                    <a:p>
                      <a:pPr marL="72390">
                        <a:lnSpc>
                          <a:spcPts val="1820"/>
                        </a:lnSpc>
                      </a:pPr>
                      <a:r>
                        <a:rPr dirty="0" sz="1600" spc="-25">
                          <a:solidFill>
                            <a:srgbClr val="4E3629"/>
                          </a:solidFill>
                          <a:latin typeface="Calibri"/>
                          <a:cs typeface="Calibri"/>
                        </a:rPr>
                        <a:t>205</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10">
                          <a:solidFill>
                            <a:srgbClr val="4E3629"/>
                          </a:solidFill>
                          <a:latin typeface="Calibri"/>
                          <a:cs typeface="Calibri"/>
                        </a:rPr>
                        <a:t>Shelley</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10">
                          <a:solidFill>
                            <a:srgbClr val="4E3629"/>
                          </a:solidFill>
                          <a:latin typeface="Calibri"/>
                          <a:cs typeface="Calibri"/>
                        </a:rPr>
                        <a:t>Higgins</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25">
                          <a:solidFill>
                            <a:srgbClr val="4E3629"/>
                          </a:solidFill>
                          <a:latin typeface="Calibri"/>
                          <a:cs typeface="Calibri"/>
                        </a:rPr>
                        <a:t>110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840">
                <a:tc>
                  <a:txBody>
                    <a:bodyPr/>
                    <a:lstStyle/>
                    <a:p>
                      <a:pPr marL="72390">
                        <a:lnSpc>
                          <a:spcPts val="1820"/>
                        </a:lnSpc>
                      </a:pPr>
                      <a:r>
                        <a:rPr dirty="0" sz="1600" spc="-25">
                          <a:solidFill>
                            <a:srgbClr val="4E3629"/>
                          </a:solidFill>
                          <a:latin typeface="Calibri"/>
                          <a:cs typeface="Calibri"/>
                        </a:rPr>
                        <a:t>206</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3025">
                        <a:lnSpc>
                          <a:spcPts val="1820"/>
                        </a:lnSpc>
                      </a:pPr>
                      <a:r>
                        <a:rPr dirty="0" sz="1600" spc="-10">
                          <a:solidFill>
                            <a:srgbClr val="4E3629"/>
                          </a:solidFill>
                          <a:latin typeface="Calibri"/>
                          <a:cs typeface="Calibri"/>
                        </a:rPr>
                        <a:t>William</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3025">
                        <a:lnSpc>
                          <a:spcPts val="1820"/>
                        </a:lnSpc>
                      </a:pPr>
                      <a:r>
                        <a:rPr dirty="0" sz="1600" spc="-10">
                          <a:solidFill>
                            <a:srgbClr val="4E3629"/>
                          </a:solidFill>
                          <a:latin typeface="Calibri"/>
                          <a:cs typeface="Calibri"/>
                        </a:rPr>
                        <a:t>Gietz</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3025">
                        <a:lnSpc>
                          <a:spcPts val="1820"/>
                        </a:lnSpc>
                      </a:pPr>
                      <a:r>
                        <a:rPr dirty="0" sz="1600" spc="-25">
                          <a:solidFill>
                            <a:srgbClr val="4E3629"/>
                          </a:solidFill>
                          <a:latin typeface="Calibri"/>
                          <a:cs typeface="Calibri"/>
                        </a:rPr>
                        <a:t>110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graphicFrame>
        <p:nvGraphicFramePr>
          <p:cNvPr id="10" name="object 10" descr=""/>
          <p:cNvGraphicFramePr>
            <a:graphicFrameLocks noGrp="1"/>
          </p:cNvGraphicFramePr>
          <p:nvPr/>
        </p:nvGraphicFramePr>
        <p:xfrm>
          <a:off x="667884" y="3121431"/>
          <a:ext cx="7601584" cy="974089"/>
        </p:xfrm>
        <a:graphic>
          <a:graphicData uri="http://schemas.openxmlformats.org/drawingml/2006/table">
            <a:tbl>
              <a:tblPr firstRow="1" bandRow="1">
                <a:tableStyleId>{2D5ABB26-0587-4C30-8999-92F81FD0307C}</a:tableStyleId>
              </a:tblPr>
              <a:tblGrid>
                <a:gridCol w="1894205"/>
                <a:gridCol w="1872615"/>
                <a:gridCol w="1872614"/>
                <a:gridCol w="1872614"/>
              </a:tblGrid>
              <a:tr h="243840">
                <a:tc>
                  <a:txBody>
                    <a:bodyPr/>
                    <a:lstStyle/>
                    <a:p>
                      <a:pPr marL="71755">
                        <a:lnSpc>
                          <a:spcPts val="1820"/>
                        </a:lnSpc>
                      </a:pPr>
                      <a:r>
                        <a:rPr dirty="0" sz="1600" spc="-10" b="1">
                          <a:solidFill>
                            <a:srgbClr val="4E3629"/>
                          </a:solidFill>
                          <a:latin typeface="Calibri"/>
                          <a:cs typeface="Calibri"/>
                        </a:rPr>
                        <a:t>DEPARTMENT_ID</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spc="-10" b="1">
                          <a:solidFill>
                            <a:srgbClr val="4E3629"/>
                          </a:solidFill>
                          <a:latin typeface="Calibri"/>
                          <a:cs typeface="Calibri"/>
                        </a:rPr>
                        <a:t>DEPT_NAME</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spc="-10" b="1">
                          <a:solidFill>
                            <a:srgbClr val="4E3629"/>
                          </a:solidFill>
                          <a:latin typeface="Calibri"/>
                          <a:cs typeface="Calibri"/>
                        </a:rPr>
                        <a:t>MANAGER_ID</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spc="-10" b="1">
                          <a:solidFill>
                            <a:srgbClr val="4E3629"/>
                          </a:solidFill>
                          <a:latin typeface="Calibri"/>
                          <a:cs typeface="Calibri"/>
                        </a:rPr>
                        <a:t>LOCATION_ID</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243204">
                <a:tc>
                  <a:txBody>
                    <a:bodyPr/>
                    <a:lstStyle/>
                    <a:p>
                      <a:pPr marL="71755">
                        <a:lnSpc>
                          <a:spcPts val="1820"/>
                        </a:lnSpc>
                      </a:pPr>
                      <a:r>
                        <a:rPr dirty="0" sz="1600" spc="-25">
                          <a:solidFill>
                            <a:srgbClr val="4E3629"/>
                          </a:solidFill>
                          <a:latin typeface="Calibri"/>
                          <a:cs typeface="Calibri"/>
                        </a:rPr>
                        <a:t>90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820"/>
                        </a:lnSpc>
                      </a:pPr>
                      <a:r>
                        <a:rPr dirty="0" sz="1600" spc="-10">
                          <a:solidFill>
                            <a:srgbClr val="4E3629"/>
                          </a:solidFill>
                          <a:latin typeface="Calibri"/>
                          <a:cs typeface="Calibri"/>
                        </a:rPr>
                        <a:t>Executive</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820"/>
                        </a:lnSpc>
                      </a:pPr>
                      <a:r>
                        <a:rPr dirty="0" sz="1600" spc="-25">
                          <a:solidFill>
                            <a:srgbClr val="4E3629"/>
                          </a:solidFill>
                          <a:latin typeface="Calibri"/>
                          <a:cs typeface="Calibri"/>
                        </a:rPr>
                        <a:t>100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820"/>
                        </a:lnSpc>
                      </a:pPr>
                      <a:r>
                        <a:rPr dirty="0" sz="1600" spc="-20">
                          <a:solidFill>
                            <a:srgbClr val="4E3629"/>
                          </a:solidFill>
                          <a:latin typeface="Calibri"/>
                          <a:cs typeface="Calibri"/>
                        </a:rPr>
                        <a:t>1700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243840">
                <a:tc>
                  <a:txBody>
                    <a:bodyPr/>
                    <a:lstStyle/>
                    <a:p>
                      <a:pPr marL="71755">
                        <a:lnSpc>
                          <a:spcPts val="1820"/>
                        </a:lnSpc>
                      </a:pPr>
                      <a:r>
                        <a:rPr dirty="0" sz="1600" spc="-25">
                          <a:solidFill>
                            <a:srgbClr val="4E3629"/>
                          </a:solidFill>
                          <a:latin typeface="Calibri"/>
                          <a:cs typeface="Calibri"/>
                        </a:rPr>
                        <a:t>110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10">
                          <a:solidFill>
                            <a:srgbClr val="4E3629"/>
                          </a:solidFill>
                          <a:latin typeface="Calibri"/>
                          <a:cs typeface="Calibri"/>
                        </a:rPr>
                        <a:t>Accounting</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25">
                          <a:solidFill>
                            <a:srgbClr val="4E3629"/>
                          </a:solidFill>
                          <a:latin typeface="Calibri"/>
                          <a:cs typeface="Calibri"/>
                        </a:rPr>
                        <a:t>205</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20">
                          <a:solidFill>
                            <a:srgbClr val="4E3629"/>
                          </a:solidFill>
                          <a:latin typeface="Calibri"/>
                          <a:cs typeface="Calibri"/>
                        </a:rPr>
                        <a:t>1700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204">
                <a:tc>
                  <a:txBody>
                    <a:bodyPr/>
                    <a:lstStyle/>
                    <a:p>
                      <a:pPr marL="71755">
                        <a:lnSpc>
                          <a:spcPts val="1820"/>
                        </a:lnSpc>
                      </a:pPr>
                      <a:r>
                        <a:rPr dirty="0" sz="1600" spc="-25">
                          <a:solidFill>
                            <a:srgbClr val="4E3629"/>
                          </a:solidFill>
                          <a:latin typeface="Calibri"/>
                          <a:cs typeface="Calibri"/>
                        </a:rPr>
                        <a:t>190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10">
                          <a:solidFill>
                            <a:srgbClr val="4E3629"/>
                          </a:solidFill>
                          <a:latin typeface="Calibri"/>
                          <a:cs typeface="Calibri"/>
                        </a:rPr>
                        <a:t>Contracting</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50">
                          <a:solidFill>
                            <a:srgbClr val="4E3629"/>
                          </a:solidFill>
                          <a:latin typeface="Calibri"/>
                          <a:cs typeface="Calibri"/>
                        </a:rPr>
                        <a: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20">
                          <a:solidFill>
                            <a:srgbClr val="4E3629"/>
                          </a:solidFill>
                          <a:latin typeface="Calibri"/>
                          <a:cs typeface="Calibri"/>
                        </a:rPr>
                        <a:t>1700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112" y="748031"/>
            <a:ext cx="7779384" cy="528320"/>
          </a:xfrm>
          <a:prstGeom prst="rect"/>
        </p:spPr>
        <p:txBody>
          <a:bodyPr wrap="square" lIns="0" tIns="12700" rIns="0" bIns="0" rtlCol="0" vert="horz">
            <a:spAutoFit/>
          </a:bodyPr>
          <a:lstStyle/>
          <a:p>
            <a:pPr marL="12700">
              <a:lnSpc>
                <a:spcPct val="100000"/>
              </a:lnSpc>
              <a:spcBef>
                <a:spcPts val="100"/>
              </a:spcBef>
            </a:pPr>
            <a:r>
              <a:rPr dirty="0"/>
              <a:t>Regla</a:t>
            </a:r>
            <a:r>
              <a:rPr dirty="0" spc="-90"/>
              <a:t> </a:t>
            </a:r>
            <a:r>
              <a:rPr dirty="0"/>
              <a:t>de</a:t>
            </a:r>
            <a:r>
              <a:rPr dirty="0" spc="-75"/>
              <a:t> </a:t>
            </a:r>
            <a:r>
              <a:rPr dirty="0" spc="-10"/>
              <a:t>Restricción</a:t>
            </a:r>
            <a:r>
              <a:rPr dirty="0" spc="-70"/>
              <a:t> </a:t>
            </a:r>
            <a:r>
              <a:rPr dirty="0"/>
              <a:t>de</a:t>
            </a:r>
            <a:r>
              <a:rPr dirty="0" spc="-90"/>
              <a:t> </a:t>
            </a:r>
            <a:r>
              <a:rPr dirty="0"/>
              <a:t>Integridad</a:t>
            </a:r>
            <a:r>
              <a:rPr dirty="0" spc="-60"/>
              <a:t> </a:t>
            </a:r>
            <a:r>
              <a:rPr dirty="0" spc="-10"/>
              <a:t>Referencial</a:t>
            </a:r>
          </a:p>
        </p:txBody>
      </p:sp>
      <p:sp>
        <p:nvSpPr>
          <p:cNvPr id="7" name="object 7"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2</a:t>
            </a:r>
          </a:p>
          <a:p>
            <a:pPr marL="12700" marR="5080">
              <a:lnSpc>
                <a:spcPts val="919"/>
              </a:lnSpc>
              <a:spcBef>
                <a:spcPts val="60"/>
              </a:spcBef>
            </a:pPr>
            <a:r>
              <a:rPr dirty="0" spc="-10"/>
              <a:t>Restricciones</a:t>
            </a:r>
            <a:r>
              <a:rPr dirty="0" spc="55"/>
              <a:t> </a:t>
            </a:r>
            <a:r>
              <a:rPr dirty="0"/>
              <a:t>PRIMARY</a:t>
            </a:r>
            <a:r>
              <a:rPr dirty="0" spc="-30"/>
              <a:t> </a:t>
            </a:r>
            <a:r>
              <a:rPr dirty="0" spc="-20"/>
              <a:t>KEY,</a:t>
            </a:r>
            <a:r>
              <a:rPr dirty="0" spc="500"/>
              <a:t> </a:t>
            </a:r>
            <a:r>
              <a:rPr dirty="0"/>
              <a:t>FOREIGN</a:t>
            </a:r>
            <a:r>
              <a:rPr dirty="0" spc="-40"/>
              <a:t> </a:t>
            </a:r>
            <a:r>
              <a:rPr dirty="0"/>
              <a:t>KEY</a:t>
            </a:r>
            <a:r>
              <a:rPr dirty="0" spc="-20"/>
              <a:t> </a:t>
            </a:r>
            <a:r>
              <a:rPr dirty="0"/>
              <a:t>y</a:t>
            </a:r>
            <a:r>
              <a:rPr dirty="0" spc="-5"/>
              <a:t> </a:t>
            </a:r>
            <a:r>
              <a:rPr dirty="0" spc="-20"/>
              <a:t>CHECK</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15</a:t>
            </a:r>
          </a:p>
        </p:txBody>
      </p:sp>
      <p:sp>
        <p:nvSpPr>
          <p:cNvPr id="9" name="object 9"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7821295" cy="1932939"/>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 pos="7204075" algn="l"/>
              </a:tabLst>
            </a:pP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regla</a:t>
            </a:r>
            <a:r>
              <a:rPr dirty="0" sz="2800" spc="-60">
                <a:solidFill>
                  <a:srgbClr val="4E3629"/>
                </a:solidFill>
                <a:latin typeface="Calibri"/>
                <a:cs typeface="Calibri"/>
              </a:rPr>
              <a:t> </a:t>
            </a:r>
            <a:r>
              <a:rPr dirty="0" sz="2800">
                <a:solidFill>
                  <a:srgbClr val="4E3629"/>
                </a:solidFill>
                <a:latin typeface="Calibri"/>
                <a:cs typeface="Calibri"/>
              </a:rPr>
              <a:t>es:</a:t>
            </a:r>
            <a:r>
              <a:rPr dirty="0" sz="2800" spc="-45">
                <a:solidFill>
                  <a:srgbClr val="4E3629"/>
                </a:solidFill>
                <a:latin typeface="Calibri"/>
                <a:cs typeface="Calibri"/>
              </a:rPr>
              <a:t> </a:t>
            </a:r>
            <a:r>
              <a:rPr dirty="0" u="heavy" sz="2800">
                <a:solidFill>
                  <a:srgbClr val="4E3629"/>
                </a:solidFill>
                <a:uFill>
                  <a:solidFill>
                    <a:srgbClr val="EC2814"/>
                  </a:solidFill>
                </a:uFill>
                <a:latin typeface="Calibri"/>
                <a:cs typeface="Calibri"/>
              </a:rPr>
              <a:t>antes</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definir</a:t>
            </a:r>
            <a:r>
              <a:rPr dirty="0" u="heavy" sz="2800" spc="-3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3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restricción</a:t>
            </a:r>
            <a:r>
              <a:rPr dirty="0" u="heavy" sz="2800" spc="-30">
                <a:solidFill>
                  <a:srgbClr val="4E3629"/>
                </a:solidFill>
                <a:uFill>
                  <a:solidFill>
                    <a:srgbClr val="EC2814"/>
                  </a:solidFill>
                </a:uFill>
                <a:latin typeface="Calibri"/>
                <a:cs typeface="Calibri"/>
              </a:rPr>
              <a:t> </a:t>
            </a:r>
            <a:r>
              <a:rPr dirty="0" u="heavy" sz="2800" spc="-35">
                <a:solidFill>
                  <a:srgbClr val="4E3629"/>
                </a:solidFill>
                <a:uFill>
                  <a:solidFill>
                    <a:srgbClr val="EC2814"/>
                  </a:solidFill>
                </a:uFill>
                <a:latin typeface="Calibri"/>
                <a:cs typeface="Calibri"/>
              </a:rPr>
              <a:t>de</a:t>
            </a:r>
            <a:r>
              <a:rPr dirty="0" sz="2800" spc="-35">
                <a:solidFill>
                  <a:srgbClr val="4E3629"/>
                </a:solidFill>
                <a:latin typeface="Calibri"/>
                <a:cs typeface="Calibri"/>
              </a:rPr>
              <a:t> </a:t>
            </a:r>
            <a:r>
              <a:rPr dirty="0" sz="2800" spc="-35">
                <a:solidFill>
                  <a:srgbClr val="4E3629"/>
                </a:solidFill>
                <a:latin typeface="Calibri"/>
                <a:cs typeface="Calibri"/>
              </a:rPr>
              <a:t>	</a:t>
            </a:r>
            <a:r>
              <a:rPr dirty="0" u="heavy" sz="2800">
                <a:solidFill>
                  <a:srgbClr val="4E3629"/>
                </a:solidFill>
                <a:uFill>
                  <a:solidFill>
                    <a:srgbClr val="EC2814"/>
                  </a:solidFill>
                </a:uFill>
                <a:latin typeface="Calibri"/>
                <a:cs typeface="Calibri"/>
              </a:rPr>
              <a:t>integridad</a:t>
            </a:r>
            <a:r>
              <a:rPr dirty="0" u="heavy" sz="2800" spc="-8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referencial</a:t>
            </a:r>
            <a:r>
              <a:rPr dirty="0" u="heavy" sz="2800" spc="-8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tabla</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secundaria,</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ya</a:t>
            </a:r>
            <a:r>
              <a:rPr dirty="0" u="heavy" sz="2800" spc="-70">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debe</a:t>
            </a:r>
            <a:r>
              <a:rPr dirty="0" sz="2800" spc="-20">
                <a:solidFill>
                  <a:srgbClr val="4E3629"/>
                </a:solidFill>
                <a:latin typeface="Calibri"/>
                <a:cs typeface="Calibri"/>
              </a:rPr>
              <a:t> </a:t>
            </a:r>
            <a:r>
              <a:rPr dirty="0" sz="2800" spc="-20">
                <a:solidFill>
                  <a:srgbClr val="4E3629"/>
                </a:solidFill>
                <a:latin typeface="Calibri"/>
                <a:cs typeface="Calibri"/>
              </a:rPr>
              <a:t>	</a:t>
            </a:r>
            <a:r>
              <a:rPr dirty="0" u="heavy" sz="2800">
                <a:solidFill>
                  <a:srgbClr val="4E3629"/>
                </a:solidFill>
                <a:uFill>
                  <a:solidFill>
                    <a:srgbClr val="EC2814"/>
                  </a:solidFill>
                </a:uFill>
                <a:latin typeface="Calibri"/>
                <a:cs typeface="Calibri"/>
              </a:rPr>
              <a:t>estar</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definida</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6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restricción</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UNIQUE</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o</a:t>
            </a:r>
            <a:r>
              <a:rPr dirty="0" u="heavy" sz="2800" spc="-7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PRIMARY</a:t>
            </a:r>
            <a:r>
              <a:rPr dirty="0" u="heavy" sz="2800">
                <a:solidFill>
                  <a:srgbClr val="4E3629"/>
                </a:solidFill>
                <a:uFill>
                  <a:solidFill>
                    <a:srgbClr val="EC2814"/>
                  </a:solidFill>
                </a:uFill>
                <a:latin typeface="Calibri"/>
                <a:cs typeface="Calibri"/>
              </a:rPr>
              <a:t>	a</a:t>
            </a:r>
            <a:r>
              <a:rPr dirty="0" u="heavy" sz="2800" spc="-5">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la</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que</a:t>
            </a:r>
            <a:r>
              <a:rPr dirty="0" u="heavy" sz="2800" spc="-1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hace</a:t>
            </a:r>
            <a:r>
              <a:rPr dirty="0" u="heavy" sz="2800" spc="-3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referencia</a:t>
            </a:r>
            <a:endParaRPr sz="2800">
              <a:latin typeface="Calibri"/>
              <a:cs typeface="Calibri"/>
            </a:endParaRPr>
          </a:p>
          <a:p>
            <a:pPr marL="188595">
              <a:lnSpc>
                <a:spcPct val="100000"/>
              </a:lnSpc>
              <a:spcBef>
                <a:spcPts val="605"/>
              </a:spcBef>
            </a:pPr>
            <a:r>
              <a:rPr dirty="0" sz="1600" spc="-20" b="1">
                <a:solidFill>
                  <a:srgbClr val="4E3629"/>
                </a:solidFill>
                <a:latin typeface="Calibri"/>
                <a:cs typeface="Calibri"/>
              </a:rPr>
              <a:t>DEPARTMENTS:</a:t>
            </a:r>
            <a:r>
              <a:rPr dirty="0" sz="1600" b="1">
                <a:solidFill>
                  <a:srgbClr val="4E3629"/>
                </a:solidFill>
                <a:latin typeface="Calibri"/>
                <a:cs typeface="Calibri"/>
              </a:rPr>
              <a:t> </a:t>
            </a:r>
            <a:r>
              <a:rPr dirty="0" sz="1600" spc="-10" b="1">
                <a:solidFill>
                  <a:srgbClr val="4E3629"/>
                </a:solidFill>
                <a:latin typeface="Calibri"/>
                <a:cs typeface="Calibri"/>
              </a:rPr>
              <a:t>principal</a:t>
            </a:r>
            <a:endParaRPr sz="1600">
              <a:latin typeface="Calibri"/>
              <a:cs typeface="Calibri"/>
            </a:endParaRPr>
          </a:p>
        </p:txBody>
      </p:sp>
      <p:sp>
        <p:nvSpPr>
          <p:cNvPr id="4" name="object 4" descr=""/>
          <p:cNvSpPr txBox="1"/>
          <p:nvPr/>
        </p:nvSpPr>
        <p:spPr>
          <a:xfrm>
            <a:off x="659721" y="4348789"/>
            <a:ext cx="194373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E3629"/>
                </a:solidFill>
                <a:latin typeface="Calibri"/>
                <a:cs typeface="Calibri"/>
              </a:rPr>
              <a:t>EMPLOYEE:</a:t>
            </a:r>
            <a:r>
              <a:rPr dirty="0" sz="1600" spc="-60" b="1">
                <a:solidFill>
                  <a:srgbClr val="4E3629"/>
                </a:solidFill>
                <a:latin typeface="Calibri"/>
                <a:cs typeface="Calibri"/>
              </a:rPr>
              <a:t> </a:t>
            </a:r>
            <a:r>
              <a:rPr dirty="0" sz="1600" spc="-10" b="1">
                <a:solidFill>
                  <a:srgbClr val="4E3629"/>
                </a:solidFill>
                <a:latin typeface="Calibri"/>
                <a:cs typeface="Calibri"/>
              </a:rPr>
              <a:t>secundaria</a:t>
            </a:r>
            <a:endParaRPr sz="1600">
              <a:latin typeface="Calibri"/>
              <a:cs typeface="Calibri"/>
            </a:endParaRPr>
          </a:p>
        </p:txBody>
      </p:sp>
      <p:graphicFrame>
        <p:nvGraphicFramePr>
          <p:cNvPr id="5" name="object 5" descr=""/>
          <p:cNvGraphicFramePr>
            <a:graphicFrameLocks noGrp="1"/>
          </p:cNvGraphicFramePr>
          <p:nvPr/>
        </p:nvGraphicFramePr>
        <p:xfrm>
          <a:off x="798512" y="4624424"/>
          <a:ext cx="7601584" cy="1461135"/>
        </p:xfrm>
        <a:graphic>
          <a:graphicData uri="http://schemas.openxmlformats.org/drawingml/2006/table">
            <a:tbl>
              <a:tblPr firstRow="1" bandRow="1">
                <a:tableStyleId>{2D5ABB26-0587-4C30-8999-92F81FD0307C}</a:tableStyleId>
              </a:tblPr>
              <a:tblGrid>
                <a:gridCol w="1878330"/>
                <a:gridCol w="1878330"/>
                <a:gridCol w="1878330"/>
                <a:gridCol w="1878329"/>
              </a:tblGrid>
              <a:tr h="243204">
                <a:tc>
                  <a:txBody>
                    <a:bodyPr/>
                    <a:lstStyle/>
                    <a:p>
                      <a:pPr marL="71755">
                        <a:lnSpc>
                          <a:spcPts val="1820"/>
                        </a:lnSpc>
                      </a:pPr>
                      <a:r>
                        <a:rPr dirty="0" sz="1600" spc="-10" b="1">
                          <a:solidFill>
                            <a:srgbClr val="4E3629"/>
                          </a:solidFill>
                          <a:latin typeface="Calibri"/>
                          <a:cs typeface="Calibri"/>
                        </a:rPr>
                        <a:t>EMPLOYEE_ID</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spc="-10" b="1">
                          <a:solidFill>
                            <a:srgbClr val="4E3629"/>
                          </a:solidFill>
                          <a:latin typeface="Calibri"/>
                          <a:cs typeface="Calibri"/>
                        </a:rPr>
                        <a:t>FIRST_NAME</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spc="-10" b="1">
                          <a:solidFill>
                            <a:srgbClr val="4E3629"/>
                          </a:solidFill>
                          <a:latin typeface="Calibri"/>
                          <a:cs typeface="Calibri"/>
                        </a:rPr>
                        <a:t>LAST_NAME</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spc="-10" b="1">
                          <a:solidFill>
                            <a:srgbClr val="4E3629"/>
                          </a:solidFill>
                          <a:latin typeface="Calibri"/>
                          <a:cs typeface="Calibri"/>
                        </a:rPr>
                        <a:t>DEPARTMENT_ID</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243204">
                <a:tc>
                  <a:txBody>
                    <a:bodyPr/>
                    <a:lstStyle/>
                    <a:p>
                      <a:pPr marL="71755">
                        <a:lnSpc>
                          <a:spcPts val="1820"/>
                        </a:lnSpc>
                      </a:pPr>
                      <a:r>
                        <a:rPr dirty="0" sz="1600" spc="-25">
                          <a:solidFill>
                            <a:srgbClr val="4E3629"/>
                          </a:solidFill>
                          <a:latin typeface="Calibri"/>
                          <a:cs typeface="Calibri"/>
                        </a:rPr>
                        <a:t>100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820"/>
                        </a:lnSpc>
                      </a:pPr>
                      <a:r>
                        <a:rPr dirty="0" sz="1600" spc="-10">
                          <a:solidFill>
                            <a:srgbClr val="4E3629"/>
                          </a:solidFill>
                          <a:latin typeface="Calibri"/>
                          <a:cs typeface="Calibri"/>
                        </a:rPr>
                        <a:t>Steven</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820"/>
                        </a:lnSpc>
                      </a:pPr>
                      <a:r>
                        <a:rPr dirty="0" sz="1600" spc="-20">
                          <a:solidFill>
                            <a:srgbClr val="4E3629"/>
                          </a:solidFill>
                          <a:latin typeface="Calibri"/>
                          <a:cs typeface="Calibri"/>
                        </a:rPr>
                        <a:t>King</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820"/>
                        </a:lnSpc>
                      </a:pPr>
                      <a:r>
                        <a:rPr dirty="0" sz="1600" spc="-25">
                          <a:solidFill>
                            <a:srgbClr val="4E3629"/>
                          </a:solidFill>
                          <a:latin typeface="Calibri"/>
                          <a:cs typeface="Calibri"/>
                        </a:rPr>
                        <a:t>90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243840">
                <a:tc>
                  <a:txBody>
                    <a:bodyPr/>
                    <a:lstStyle/>
                    <a:p>
                      <a:pPr marL="72390">
                        <a:lnSpc>
                          <a:spcPts val="1820"/>
                        </a:lnSpc>
                      </a:pPr>
                      <a:r>
                        <a:rPr dirty="0" sz="1600" spc="-25">
                          <a:solidFill>
                            <a:srgbClr val="4E3629"/>
                          </a:solidFill>
                          <a:latin typeface="Calibri"/>
                          <a:cs typeface="Calibri"/>
                        </a:rPr>
                        <a:t>101</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10">
                          <a:solidFill>
                            <a:srgbClr val="4E3629"/>
                          </a:solidFill>
                          <a:latin typeface="Calibri"/>
                          <a:cs typeface="Calibri"/>
                        </a:rPr>
                        <a:t>Neena</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10">
                          <a:solidFill>
                            <a:srgbClr val="4E3629"/>
                          </a:solidFill>
                          <a:latin typeface="Calibri"/>
                          <a:cs typeface="Calibri"/>
                        </a:rPr>
                        <a:t>Kochhar</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25">
                          <a:solidFill>
                            <a:srgbClr val="4E3629"/>
                          </a:solidFill>
                          <a:latin typeface="Calibri"/>
                          <a:cs typeface="Calibri"/>
                        </a:rPr>
                        <a:t>90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204">
                <a:tc>
                  <a:txBody>
                    <a:bodyPr/>
                    <a:lstStyle/>
                    <a:p>
                      <a:pPr marL="72390">
                        <a:lnSpc>
                          <a:spcPts val="1820"/>
                        </a:lnSpc>
                      </a:pPr>
                      <a:r>
                        <a:rPr dirty="0" sz="1600" spc="-25">
                          <a:solidFill>
                            <a:srgbClr val="4E3629"/>
                          </a:solidFill>
                          <a:latin typeface="Calibri"/>
                          <a:cs typeface="Calibri"/>
                        </a:rPr>
                        <a:t>102</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25">
                          <a:solidFill>
                            <a:srgbClr val="4E3629"/>
                          </a:solidFill>
                          <a:latin typeface="Calibri"/>
                          <a:cs typeface="Calibri"/>
                        </a:rPr>
                        <a:t>Lex</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a:solidFill>
                            <a:srgbClr val="4E3629"/>
                          </a:solidFill>
                          <a:latin typeface="Calibri"/>
                          <a:cs typeface="Calibri"/>
                        </a:rPr>
                        <a:t>De</a:t>
                      </a:r>
                      <a:r>
                        <a:rPr dirty="0" sz="1600" spc="-15">
                          <a:solidFill>
                            <a:srgbClr val="4E3629"/>
                          </a:solidFill>
                          <a:latin typeface="Calibri"/>
                          <a:cs typeface="Calibri"/>
                        </a:rPr>
                        <a:t> </a:t>
                      </a:r>
                      <a:r>
                        <a:rPr dirty="0" sz="1600" spc="-20">
                          <a:solidFill>
                            <a:srgbClr val="4E3629"/>
                          </a:solidFill>
                          <a:latin typeface="Calibri"/>
                          <a:cs typeface="Calibri"/>
                        </a:rPr>
                        <a:t>Haan</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25">
                          <a:solidFill>
                            <a:srgbClr val="4E3629"/>
                          </a:solidFill>
                          <a:latin typeface="Calibri"/>
                          <a:cs typeface="Calibri"/>
                        </a:rPr>
                        <a:t>90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840">
                <a:tc>
                  <a:txBody>
                    <a:bodyPr/>
                    <a:lstStyle/>
                    <a:p>
                      <a:pPr marL="72390">
                        <a:lnSpc>
                          <a:spcPts val="1820"/>
                        </a:lnSpc>
                      </a:pPr>
                      <a:r>
                        <a:rPr dirty="0" sz="1600" spc="-25">
                          <a:solidFill>
                            <a:srgbClr val="4E3629"/>
                          </a:solidFill>
                          <a:latin typeface="Calibri"/>
                          <a:cs typeface="Calibri"/>
                        </a:rPr>
                        <a:t>205</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10">
                          <a:solidFill>
                            <a:srgbClr val="4E3629"/>
                          </a:solidFill>
                          <a:latin typeface="Calibri"/>
                          <a:cs typeface="Calibri"/>
                        </a:rPr>
                        <a:t>Shelley</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10">
                          <a:solidFill>
                            <a:srgbClr val="4E3629"/>
                          </a:solidFill>
                          <a:latin typeface="Calibri"/>
                          <a:cs typeface="Calibri"/>
                        </a:rPr>
                        <a:t>Higgins</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25">
                          <a:solidFill>
                            <a:srgbClr val="4E3629"/>
                          </a:solidFill>
                          <a:latin typeface="Calibri"/>
                          <a:cs typeface="Calibri"/>
                        </a:rPr>
                        <a:t>110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840">
                <a:tc>
                  <a:txBody>
                    <a:bodyPr/>
                    <a:lstStyle/>
                    <a:p>
                      <a:pPr marL="72390">
                        <a:lnSpc>
                          <a:spcPts val="1820"/>
                        </a:lnSpc>
                      </a:pPr>
                      <a:r>
                        <a:rPr dirty="0" sz="1600" spc="-25">
                          <a:solidFill>
                            <a:srgbClr val="4E3629"/>
                          </a:solidFill>
                          <a:latin typeface="Calibri"/>
                          <a:cs typeface="Calibri"/>
                        </a:rPr>
                        <a:t>206</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3025">
                        <a:lnSpc>
                          <a:spcPts val="1820"/>
                        </a:lnSpc>
                      </a:pPr>
                      <a:r>
                        <a:rPr dirty="0" sz="1600" spc="-10">
                          <a:solidFill>
                            <a:srgbClr val="4E3629"/>
                          </a:solidFill>
                          <a:latin typeface="Calibri"/>
                          <a:cs typeface="Calibri"/>
                        </a:rPr>
                        <a:t>William</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3025">
                        <a:lnSpc>
                          <a:spcPts val="1820"/>
                        </a:lnSpc>
                      </a:pPr>
                      <a:r>
                        <a:rPr dirty="0" sz="1600" spc="-10">
                          <a:solidFill>
                            <a:srgbClr val="4E3629"/>
                          </a:solidFill>
                          <a:latin typeface="Calibri"/>
                          <a:cs typeface="Calibri"/>
                        </a:rPr>
                        <a:t>Gietz</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3025">
                        <a:lnSpc>
                          <a:spcPts val="1820"/>
                        </a:lnSpc>
                      </a:pPr>
                      <a:r>
                        <a:rPr dirty="0" sz="1600" spc="-25">
                          <a:solidFill>
                            <a:srgbClr val="4E3629"/>
                          </a:solidFill>
                          <a:latin typeface="Calibri"/>
                          <a:cs typeface="Calibri"/>
                        </a:rPr>
                        <a:t>110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graphicFrame>
        <p:nvGraphicFramePr>
          <p:cNvPr id="6" name="object 6" descr=""/>
          <p:cNvGraphicFramePr>
            <a:graphicFrameLocks noGrp="1"/>
          </p:cNvGraphicFramePr>
          <p:nvPr/>
        </p:nvGraphicFramePr>
        <p:xfrm>
          <a:off x="798512" y="3368060"/>
          <a:ext cx="7601584" cy="974089"/>
        </p:xfrm>
        <a:graphic>
          <a:graphicData uri="http://schemas.openxmlformats.org/drawingml/2006/table">
            <a:tbl>
              <a:tblPr firstRow="1" bandRow="1">
                <a:tableStyleId>{2D5ABB26-0587-4C30-8999-92F81FD0307C}</a:tableStyleId>
              </a:tblPr>
              <a:tblGrid>
                <a:gridCol w="1894205"/>
                <a:gridCol w="1872615"/>
                <a:gridCol w="1872614"/>
                <a:gridCol w="1872614"/>
              </a:tblGrid>
              <a:tr h="243840">
                <a:tc>
                  <a:txBody>
                    <a:bodyPr/>
                    <a:lstStyle/>
                    <a:p>
                      <a:pPr marL="71755">
                        <a:lnSpc>
                          <a:spcPts val="1820"/>
                        </a:lnSpc>
                      </a:pPr>
                      <a:r>
                        <a:rPr dirty="0" sz="1600" spc="-10" b="1">
                          <a:solidFill>
                            <a:srgbClr val="4E3629"/>
                          </a:solidFill>
                          <a:latin typeface="Calibri"/>
                          <a:cs typeface="Calibri"/>
                        </a:rPr>
                        <a:t>DEPARTMENT_ID</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spc="-10" b="1">
                          <a:solidFill>
                            <a:srgbClr val="4E3629"/>
                          </a:solidFill>
                          <a:latin typeface="Calibri"/>
                          <a:cs typeface="Calibri"/>
                        </a:rPr>
                        <a:t>DEPT_NAME</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spc="-10" b="1">
                          <a:solidFill>
                            <a:srgbClr val="4E3629"/>
                          </a:solidFill>
                          <a:latin typeface="Calibri"/>
                          <a:cs typeface="Calibri"/>
                        </a:rPr>
                        <a:t>MANAGER_ID</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spc="-10" b="1">
                          <a:solidFill>
                            <a:srgbClr val="4E3629"/>
                          </a:solidFill>
                          <a:latin typeface="Calibri"/>
                          <a:cs typeface="Calibri"/>
                        </a:rPr>
                        <a:t>LOCATION_ID</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243204">
                <a:tc>
                  <a:txBody>
                    <a:bodyPr/>
                    <a:lstStyle/>
                    <a:p>
                      <a:pPr marL="71755">
                        <a:lnSpc>
                          <a:spcPts val="1820"/>
                        </a:lnSpc>
                      </a:pPr>
                      <a:r>
                        <a:rPr dirty="0" sz="1600" spc="-25">
                          <a:solidFill>
                            <a:srgbClr val="4E3629"/>
                          </a:solidFill>
                          <a:latin typeface="Calibri"/>
                          <a:cs typeface="Calibri"/>
                        </a:rPr>
                        <a:t>90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820"/>
                        </a:lnSpc>
                      </a:pPr>
                      <a:r>
                        <a:rPr dirty="0" sz="1600" spc="-10">
                          <a:solidFill>
                            <a:srgbClr val="4E3629"/>
                          </a:solidFill>
                          <a:latin typeface="Calibri"/>
                          <a:cs typeface="Calibri"/>
                        </a:rPr>
                        <a:t>Executive</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820"/>
                        </a:lnSpc>
                      </a:pPr>
                      <a:r>
                        <a:rPr dirty="0" sz="1600" spc="-25">
                          <a:solidFill>
                            <a:srgbClr val="4E3629"/>
                          </a:solidFill>
                          <a:latin typeface="Calibri"/>
                          <a:cs typeface="Calibri"/>
                        </a:rPr>
                        <a:t>100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820"/>
                        </a:lnSpc>
                      </a:pPr>
                      <a:r>
                        <a:rPr dirty="0" sz="1600" spc="-20">
                          <a:solidFill>
                            <a:srgbClr val="4E3629"/>
                          </a:solidFill>
                          <a:latin typeface="Calibri"/>
                          <a:cs typeface="Calibri"/>
                        </a:rPr>
                        <a:t>1700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243840">
                <a:tc>
                  <a:txBody>
                    <a:bodyPr/>
                    <a:lstStyle/>
                    <a:p>
                      <a:pPr marL="71755">
                        <a:lnSpc>
                          <a:spcPts val="1820"/>
                        </a:lnSpc>
                      </a:pPr>
                      <a:r>
                        <a:rPr dirty="0" sz="1600" spc="-25">
                          <a:solidFill>
                            <a:srgbClr val="4E3629"/>
                          </a:solidFill>
                          <a:latin typeface="Calibri"/>
                          <a:cs typeface="Calibri"/>
                        </a:rPr>
                        <a:t>110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10">
                          <a:solidFill>
                            <a:srgbClr val="4E3629"/>
                          </a:solidFill>
                          <a:latin typeface="Calibri"/>
                          <a:cs typeface="Calibri"/>
                        </a:rPr>
                        <a:t>Accounting</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25">
                          <a:solidFill>
                            <a:srgbClr val="4E3629"/>
                          </a:solidFill>
                          <a:latin typeface="Calibri"/>
                          <a:cs typeface="Calibri"/>
                        </a:rPr>
                        <a:t>205</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20">
                          <a:solidFill>
                            <a:srgbClr val="4E3629"/>
                          </a:solidFill>
                          <a:latin typeface="Calibri"/>
                          <a:cs typeface="Calibri"/>
                        </a:rPr>
                        <a:t>1700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204">
                <a:tc>
                  <a:txBody>
                    <a:bodyPr/>
                    <a:lstStyle/>
                    <a:p>
                      <a:pPr marL="71755">
                        <a:lnSpc>
                          <a:spcPts val="1820"/>
                        </a:lnSpc>
                      </a:pPr>
                      <a:r>
                        <a:rPr dirty="0" sz="1600" spc="-25">
                          <a:solidFill>
                            <a:srgbClr val="4E3629"/>
                          </a:solidFill>
                          <a:latin typeface="Calibri"/>
                          <a:cs typeface="Calibri"/>
                        </a:rPr>
                        <a:t>190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10">
                          <a:solidFill>
                            <a:srgbClr val="4E3629"/>
                          </a:solidFill>
                          <a:latin typeface="Calibri"/>
                          <a:cs typeface="Calibri"/>
                        </a:rPr>
                        <a:t>Contracting</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50">
                          <a:solidFill>
                            <a:srgbClr val="4E3629"/>
                          </a:solidFill>
                          <a:latin typeface="Calibri"/>
                          <a:cs typeface="Calibri"/>
                        </a:rPr>
                        <a: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20">
                          <a:solidFill>
                            <a:srgbClr val="4E3629"/>
                          </a:solidFill>
                          <a:latin typeface="Calibri"/>
                          <a:cs typeface="Calibri"/>
                        </a:rPr>
                        <a:t>1700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E0E2E1"/>
          </a:solidFill>
        </p:spPr>
        <p:txBody>
          <a:bodyPr wrap="square" lIns="0" tIns="0" rIns="0" bIns="0" rtlCol="0"/>
          <a:lstStyle/>
          <a:p/>
        </p:txBody>
      </p:sp>
      <p:sp>
        <p:nvSpPr>
          <p:cNvPr id="3" name="object 3" descr=""/>
          <p:cNvSpPr/>
          <p:nvPr/>
        </p:nvSpPr>
        <p:spPr>
          <a:xfrm>
            <a:off x="4156142" y="1850606"/>
            <a:ext cx="447675" cy="380365"/>
          </a:xfrm>
          <a:custGeom>
            <a:avLst/>
            <a:gdLst/>
            <a:ahLst/>
            <a:cxnLst/>
            <a:rect l="l" t="t" r="r" b="b"/>
            <a:pathLst>
              <a:path w="447675" h="380364">
                <a:moveTo>
                  <a:pt x="352428" y="0"/>
                </a:moveTo>
                <a:lnTo>
                  <a:pt x="95022" y="0"/>
                </a:lnTo>
                <a:lnTo>
                  <a:pt x="66895" y="10642"/>
                </a:lnTo>
                <a:lnTo>
                  <a:pt x="41049" y="39529"/>
                </a:lnTo>
                <a:lnTo>
                  <a:pt x="19764" y="82099"/>
                </a:lnTo>
                <a:lnTo>
                  <a:pt x="5321" y="133791"/>
                </a:lnTo>
                <a:lnTo>
                  <a:pt x="0" y="190044"/>
                </a:lnTo>
                <a:lnTo>
                  <a:pt x="5321" y="246298"/>
                </a:lnTo>
                <a:lnTo>
                  <a:pt x="19764" y="297990"/>
                </a:lnTo>
                <a:lnTo>
                  <a:pt x="41049" y="340560"/>
                </a:lnTo>
                <a:lnTo>
                  <a:pt x="66895" y="369447"/>
                </a:lnTo>
                <a:lnTo>
                  <a:pt x="95022" y="380089"/>
                </a:lnTo>
                <a:lnTo>
                  <a:pt x="352428" y="380089"/>
                </a:lnTo>
                <a:lnTo>
                  <a:pt x="406401" y="340560"/>
                </a:lnTo>
                <a:lnTo>
                  <a:pt x="427686" y="297990"/>
                </a:lnTo>
                <a:lnTo>
                  <a:pt x="442130" y="246298"/>
                </a:lnTo>
                <a:lnTo>
                  <a:pt x="447451" y="190044"/>
                </a:lnTo>
                <a:lnTo>
                  <a:pt x="442130" y="133791"/>
                </a:lnTo>
                <a:lnTo>
                  <a:pt x="427686" y="82099"/>
                </a:lnTo>
                <a:lnTo>
                  <a:pt x="406401" y="39529"/>
                </a:lnTo>
                <a:lnTo>
                  <a:pt x="380555" y="10642"/>
                </a:lnTo>
                <a:lnTo>
                  <a:pt x="352428" y="0"/>
                </a:lnTo>
                <a:close/>
              </a:path>
            </a:pathLst>
          </a:custGeom>
          <a:solidFill>
            <a:srgbClr val="FACD5A"/>
          </a:solidFill>
        </p:spPr>
        <p:txBody>
          <a:bodyPr wrap="square" lIns="0" tIns="0" rIns="0" bIns="0" rtlCol="0"/>
          <a:lstStyle/>
          <a:p/>
        </p:txBody>
      </p:sp>
      <p:pic>
        <p:nvPicPr>
          <p:cNvPr id="4" name="object 4" descr=""/>
          <p:cNvPicPr/>
          <p:nvPr/>
        </p:nvPicPr>
        <p:blipFill>
          <a:blip r:embed="rId2" cstate="print"/>
          <a:stretch>
            <a:fillRect/>
          </a:stretch>
        </p:blipFill>
        <p:spPr>
          <a:xfrm>
            <a:off x="0" y="0"/>
            <a:ext cx="9144000" cy="254507"/>
          </a:xfrm>
          <a:prstGeom prst="rect">
            <a:avLst/>
          </a:prstGeom>
        </p:spPr>
      </p:pic>
      <p:pic>
        <p:nvPicPr>
          <p:cNvPr id="5" name="object 5" descr=""/>
          <p:cNvPicPr/>
          <p:nvPr/>
        </p:nvPicPr>
        <p:blipFill>
          <a:blip r:embed="rId3" cstate="print"/>
          <a:stretch>
            <a:fillRect/>
          </a:stretch>
        </p:blipFill>
        <p:spPr>
          <a:xfrm>
            <a:off x="405384" y="6178295"/>
            <a:ext cx="1258824" cy="420624"/>
          </a:xfrm>
          <a:prstGeom prst="rect">
            <a:avLst/>
          </a:prstGeom>
        </p:spPr>
      </p:pic>
      <p:sp>
        <p:nvSpPr>
          <p:cNvPr id="6" name="object 6"/>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spc="-10"/>
              <a:t>Restricción</a:t>
            </a:r>
            <a:r>
              <a:rPr dirty="0" spc="-100"/>
              <a:t> </a:t>
            </a:r>
            <a:r>
              <a:rPr dirty="0"/>
              <a:t>FOREIGN</a:t>
            </a:r>
            <a:r>
              <a:rPr dirty="0" spc="-100"/>
              <a:t> </a:t>
            </a:r>
            <a:r>
              <a:rPr dirty="0" spc="-25"/>
              <a:t>KEY</a:t>
            </a:r>
          </a:p>
        </p:txBody>
      </p:sp>
      <p:sp>
        <p:nvSpPr>
          <p:cNvPr id="8" name="object 8"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2</a:t>
            </a:r>
          </a:p>
          <a:p>
            <a:pPr marL="12700" marR="5080">
              <a:lnSpc>
                <a:spcPts val="919"/>
              </a:lnSpc>
              <a:spcBef>
                <a:spcPts val="60"/>
              </a:spcBef>
            </a:pPr>
            <a:r>
              <a:rPr dirty="0" spc="-10"/>
              <a:t>Restricciones</a:t>
            </a:r>
            <a:r>
              <a:rPr dirty="0" spc="55"/>
              <a:t> </a:t>
            </a:r>
            <a:r>
              <a:rPr dirty="0"/>
              <a:t>PRIMARY</a:t>
            </a:r>
            <a:r>
              <a:rPr dirty="0" spc="-30"/>
              <a:t> </a:t>
            </a:r>
            <a:r>
              <a:rPr dirty="0" spc="-20"/>
              <a:t>KEY,</a:t>
            </a:r>
            <a:r>
              <a:rPr dirty="0" spc="500"/>
              <a:t> </a:t>
            </a:r>
            <a:r>
              <a:rPr dirty="0"/>
              <a:t>FOREIGN</a:t>
            </a:r>
            <a:r>
              <a:rPr dirty="0" spc="-40"/>
              <a:t> </a:t>
            </a:r>
            <a:r>
              <a:rPr dirty="0"/>
              <a:t>KEY</a:t>
            </a:r>
            <a:r>
              <a:rPr dirty="0" spc="-20"/>
              <a:t> </a:t>
            </a:r>
            <a:r>
              <a:rPr dirty="0"/>
              <a:t>y</a:t>
            </a:r>
            <a:r>
              <a:rPr dirty="0" spc="-5"/>
              <a:t> </a:t>
            </a:r>
            <a:r>
              <a:rPr dirty="0" spc="-20"/>
              <a:t>CHECK</a:t>
            </a:r>
          </a:p>
        </p:txBody>
      </p:sp>
      <p:sp>
        <p:nvSpPr>
          <p:cNvPr id="9" name="object 9"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17</a:t>
            </a:r>
          </a:p>
        </p:txBody>
      </p:sp>
      <p:sp>
        <p:nvSpPr>
          <p:cNvPr id="10" name="object 10"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7" name="object 7" descr=""/>
          <p:cNvSpPr txBox="1"/>
          <p:nvPr/>
        </p:nvSpPr>
        <p:spPr>
          <a:xfrm>
            <a:off x="483552" y="1415417"/>
            <a:ext cx="8174355" cy="209042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spc="-10">
                <a:solidFill>
                  <a:srgbClr val="4E3629"/>
                </a:solidFill>
                <a:latin typeface="Calibri"/>
                <a:cs typeface="Calibri"/>
              </a:rPr>
              <a:t>Para</a:t>
            </a:r>
            <a:r>
              <a:rPr dirty="0" sz="2800" spc="-70">
                <a:solidFill>
                  <a:srgbClr val="4E3629"/>
                </a:solidFill>
                <a:latin typeface="Calibri"/>
                <a:cs typeface="Calibri"/>
              </a:rPr>
              <a:t> </a:t>
            </a:r>
            <a:r>
              <a:rPr dirty="0" sz="2800">
                <a:solidFill>
                  <a:srgbClr val="4E3629"/>
                </a:solidFill>
                <a:latin typeface="Calibri"/>
                <a:cs typeface="Calibri"/>
              </a:rPr>
              <a:t>definir</a:t>
            </a:r>
            <a:r>
              <a:rPr dirty="0" sz="2800" spc="-45">
                <a:solidFill>
                  <a:srgbClr val="4E3629"/>
                </a:solidFill>
                <a:latin typeface="Calibri"/>
                <a:cs typeface="Calibri"/>
              </a:rPr>
              <a:t> </a:t>
            </a:r>
            <a:r>
              <a:rPr dirty="0" sz="2800">
                <a:solidFill>
                  <a:srgbClr val="4E3629"/>
                </a:solidFill>
                <a:latin typeface="Calibri"/>
                <a:cs typeface="Calibri"/>
              </a:rPr>
              <a:t>una</a:t>
            </a:r>
            <a:r>
              <a:rPr dirty="0" sz="2800" spc="-45">
                <a:solidFill>
                  <a:srgbClr val="4E3629"/>
                </a:solidFill>
                <a:latin typeface="Calibri"/>
                <a:cs typeface="Calibri"/>
              </a:rPr>
              <a:t> </a:t>
            </a:r>
            <a:r>
              <a:rPr dirty="0" sz="2800" spc="-10">
                <a:solidFill>
                  <a:srgbClr val="4E3629"/>
                </a:solidFill>
                <a:latin typeface="Calibri"/>
                <a:cs typeface="Calibri"/>
              </a:rPr>
              <a:t>restricción</a:t>
            </a:r>
            <a:r>
              <a:rPr dirty="0" sz="2800" spc="-50">
                <a:solidFill>
                  <a:srgbClr val="4E3629"/>
                </a:solidFill>
                <a:latin typeface="Calibri"/>
                <a:cs typeface="Calibri"/>
              </a:rPr>
              <a:t> </a:t>
            </a:r>
            <a:r>
              <a:rPr dirty="0" sz="2800">
                <a:solidFill>
                  <a:srgbClr val="4E3629"/>
                </a:solidFill>
                <a:latin typeface="Calibri"/>
                <a:cs typeface="Calibri"/>
              </a:rPr>
              <a:t>FOREIGN</a:t>
            </a:r>
            <a:r>
              <a:rPr dirty="0" sz="2800" spc="-75">
                <a:solidFill>
                  <a:srgbClr val="4E3629"/>
                </a:solidFill>
                <a:latin typeface="Calibri"/>
                <a:cs typeface="Calibri"/>
              </a:rPr>
              <a:t> </a:t>
            </a:r>
            <a:r>
              <a:rPr dirty="0" sz="2800" spc="-70">
                <a:solidFill>
                  <a:srgbClr val="4E3629"/>
                </a:solidFill>
                <a:latin typeface="Calibri"/>
                <a:cs typeface="Calibri"/>
              </a:rPr>
              <a:t>KEY,</a:t>
            </a:r>
            <a:r>
              <a:rPr dirty="0" sz="2800" spc="-75">
                <a:solidFill>
                  <a:srgbClr val="4E3629"/>
                </a:solidFill>
                <a:latin typeface="Calibri"/>
                <a:cs typeface="Calibri"/>
              </a:rPr>
              <a:t> </a:t>
            </a:r>
            <a:r>
              <a:rPr dirty="0" sz="2800">
                <a:solidFill>
                  <a:srgbClr val="4E3629"/>
                </a:solidFill>
                <a:latin typeface="Calibri"/>
                <a:cs typeface="Calibri"/>
              </a:rPr>
              <a:t>es</a:t>
            </a:r>
            <a:r>
              <a:rPr dirty="0" sz="2800" spc="-75">
                <a:solidFill>
                  <a:srgbClr val="4E3629"/>
                </a:solidFill>
                <a:latin typeface="Calibri"/>
                <a:cs typeface="Calibri"/>
              </a:rPr>
              <a:t> </a:t>
            </a:r>
            <a:r>
              <a:rPr dirty="0" sz="2800">
                <a:solidFill>
                  <a:srgbClr val="4E3629"/>
                </a:solidFill>
                <a:latin typeface="Calibri"/>
                <a:cs typeface="Calibri"/>
              </a:rPr>
              <a:t>una</a:t>
            </a:r>
            <a:r>
              <a:rPr dirty="0" sz="2800" spc="-40">
                <a:solidFill>
                  <a:srgbClr val="4E3629"/>
                </a:solidFill>
                <a:latin typeface="Calibri"/>
                <a:cs typeface="Calibri"/>
              </a:rPr>
              <a:t> </a:t>
            </a:r>
            <a:r>
              <a:rPr dirty="0" sz="2800" spc="-10">
                <a:solidFill>
                  <a:srgbClr val="4E3629"/>
                </a:solidFill>
                <a:latin typeface="Calibri"/>
                <a:cs typeface="Calibri"/>
              </a:rPr>
              <a:t>buena </a:t>
            </a:r>
            <a:r>
              <a:rPr dirty="0" sz="2800" spc="-10">
                <a:solidFill>
                  <a:srgbClr val="4E3629"/>
                </a:solidFill>
                <a:latin typeface="Calibri"/>
                <a:cs typeface="Calibri"/>
              </a:rPr>
              <a:t>	</a:t>
            </a:r>
            <a:r>
              <a:rPr dirty="0" sz="2800">
                <a:solidFill>
                  <a:srgbClr val="4E3629"/>
                </a:solidFill>
                <a:latin typeface="Calibri"/>
                <a:cs typeface="Calibri"/>
              </a:rPr>
              <a:t>práctica</a:t>
            </a:r>
            <a:r>
              <a:rPr dirty="0" sz="2800" spc="-55">
                <a:solidFill>
                  <a:srgbClr val="4E3629"/>
                </a:solidFill>
                <a:latin typeface="Calibri"/>
                <a:cs typeface="Calibri"/>
              </a:rPr>
              <a:t> </a:t>
            </a:r>
            <a:r>
              <a:rPr dirty="0" sz="2800">
                <a:solidFill>
                  <a:srgbClr val="4E3629"/>
                </a:solidFill>
                <a:latin typeface="Calibri"/>
                <a:cs typeface="Calibri"/>
              </a:rPr>
              <a:t>utilizar</a:t>
            </a:r>
            <a:r>
              <a:rPr dirty="0" sz="2800" spc="-50">
                <a:solidFill>
                  <a:srgbClr val="4E3629"/>
                </a:solidFill>
                <a:latin typeface="Calibri"/>
                <a:cs typeface="Calibri"/>
              </a:rPr>
              <a:t> </a:t>
            </a:r>
            <a:r>
              <a:rPr dirty="0" sz="2800">
                <a:solidFill>
                  <a:srgbClr val="4E3629"/>
                </a:solidFill>
                <a:latin typeface="Calibri"/>
                <a:cs typeface="Calibri"/>
              </a:rPr>
              <a:t>el</a:t>
            </a:r>
            <a:r>
              <a:rPr dirty="0" sz="2800" spc="-70">
                <a:solidFill>
                  <a:srgbClr val="4E3629"/>
                </a:solidFill>
                <a:latin typeface="Calibri"/>
                <a:cs typeface="Calibri"/>
              </a:rPr>
              <a:t> </a:t>
            </a:r>
            <a:r>
              <a:rPr dirty="0" sz="2800">
                <a:solidFill>
                  <a:srgbClr val="4E3629"/>
                </a:solidFill>
                <a:latin typeface="Calibri"/>
                <a:cs typeface="Calibri"/>
              </a:rPr>
              <a:t>sufijo</a:t>
            </a:r>
            <a:r>
              <a:rPr dirty="0" sz="2800" spc="-50">
                <a:solidFill>
                  <a:srgbClr val="4E3629"/>
                </a:solidFill>
                <a:latin typeface="Calibri"/>
                <a:cs typeface="Calibri"/>
              </a:rPr>
              <a:t> </a:t>
            </a:r>
            <a:r>
              <a:rPr dirty="0" sz="2800">
                <a:solidFill>
                  <a:srgbClr val="4E3629"/>
                </a:solidFill>
                <a:latin typeface="Calibri"/>
                <a:cs typeface="Calibri"/>
              </a:rPr>
              <a:t>_fk</a:t>
            </a:r>
            <a:r>
              <a:rPr dirty="0" sz="2800" spc="-55">
                <a:solidFill>
                  <a:srgbClr val="4E3629"/>
                </a:solidFill>
                <a:latin typeface="Calibri"/>
                <a:cs typeface="Calibri"/>
              </a:rPr>
              <a:t> </a:t>
            </a:r>
            <a:r>
              <a:rPr dirty="0" sz="2800">
                <a:solidFill>
                  <a:srgbClr val="4E3629"/>
                </a:solidFill>
                <a:latin typeface="Calibri"/>
                <a:cs typeface="Calibri"/>
              </a:rPr>
              <a:t>en</a:t>
            </a:r>
            <a:r>
              <a:rPr dirty="0" sz="2800" spc="-55">
                <a:solidFill>
                  <a:srgbClr val="4E3629"/>
                </a:solidFill>
                <a:latin typeface="Calibri"/>
                <a:cs typeface="Calibri"/>
              </a:rPr>
              <a:t> </a:t>
            </a:r>
            <a:r>
              <a:rPr dirty="0" sz="2800">
                <a:solidFill>
                  <a:srgbClr val="4E3629"/>
                </a:solidFill>
                <a:latin typeface="Calibri"/>
                <a:cs typeface="Calibri"/>
              </a:rPr>
              <a:t>el</a:t>
            </a:r>
            <a:r>
              <a:rPr dirty="0" sz="2800" spc="-70">
                <a:solidFill>
                  <a:srgbClr val="4E3629"/>
                </a:solidFill>
                <a:latin typeface="Calibri"/>
                <a:cs typeface="Calibri"/>
              </a:rPr>
              <a:t> </a:t>
            </a:r>
            <a:r>
              <a:rPr dirty="0" sz="2800">
                <a:solidFill>
                  <a:srgbClr val="4E3629"/>
                </a:solidFill>
                <a:latin typeface="Calibri"/>
                <a:cs typeface="Calibri"/>
              </a:rPr>
              <a:t>nombre</a:t>
            </a:r>
            <a:r>
              <a:rPr dirty="0" sz="2800" spc="-40">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spc="-10">
                <a:solidFill>
                  <a:srgbClr val="4E3629"/>
                </a:solidFill>
                <a:latin typeface="Calibri"/>
                <a:cs typeface="Calibri"/>
              </a:rPr>
              <a:t>restricción</a:t>
            </a:r>
            <a:endParaRPr sz="2800">
              <a:latin typeface="Calibri"/>
              <a:cs typeface="Calibri"/>
            </a:endParaRPr>
          </a:p>
          <a:p>
            <a:pPr marL="182880" marR="17907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Por</a:t>
            </a:r>
            <a:r>
              <a:rPr dirty="0" sz="2800" spc="-65">
                <a:solidFill>
                  <a:srgbClr val="4E3629"/>
                </a:solidFill>
                <a:latin typeface="Calibri"/>
                <a:cs typeface="Calibri"/>
              </a:rPr>
              <a:t> </a:t>
            </a:r>
            <a:r>
              <a:rPr dirty="0" sz="2800">
                <a:solidFill>
                  <a:srgbClr val="4E3629"/>
                </a:solidFill>
                <a:latin typeface="Calibri"/>
                <a:cs typeface="Calibri"/>
              </a:rPr>
              <a:t>ejemplo,</a:t>
            </a:r>
            <a:r>
              <a:rPr dirty="0" sz="2800" spc="-55">
                <a:solidFill>
                  <a:srgbClr val="4E3629"/>
                </a:solidFill>
                <a:latin typeface="Calibri"/>
                <a:cs typeface="Calibri"/>
              </a:rPr>
              <a:t> </a:t>
            </a:r>
            <a:r>
              <a:rPr dirty="0" sz="2800">
                <a:solidFill>
                  <a:srgbClr val="4E3629"/>
                </a:solidFill>
                <a:latin typeface="Calibri"/>
                <a:cs typeface="Calibri"/>
              </a:rPr>
              <a:t>el</a:t>
            </a:r>
            <a:r>
              <a:rPr dirty="0" sz="2800" spc="-85">
                <a:solidFill>
                  <a:srgbClr val="4E3629"/>
                </a:solidFill>
                <a:latin typeface="Calibri"/>
                <a:cs typeface="Calibri"/>
              </a:rPr>
              <a:t> </a:t>
            </a:r>
            <a:r>
              <a:rPr dirty="0" sz="2800">
                <a:solidFill>
                  <a:srgbClr val="4E3629"/>
                </a:solidFill>
                <a:latin typeface="Calibri"/>
                <a:cs typeface="Calibri"/>
              </a:rPr>
              <a:t>nombre</a:t>
            </a:r>
            <a:r>
              <a:rPr dirty="0" sz="2800" spc="-50">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spc="-10">
                <a:solidFill>
                  <a:srgbClr val="4E3629"/>
                </a:solidFill>
                <a:latin typeface="Calibri"/>
                <a:cs typeface="Calibri"/>
              </a:rPr>
              <a:t>restricción</a:t>
            </a:r>
            <a:r>
              <a:rPr dirty="0" sz="2800" spc="-50">
                <a:solidFill>
                  <a:srgbClr val="4E3629"/>
                </a:solidFill>
                <a:latin typeface="Calibri"/>
                <a:cs typeface="Calibri"/>
              </a:rPr>
              <a:t> </a:t>
            </a:r>
            <a:r>
              <a:rPr dirty="0" sz="2800">
                <a:solidFill>
                  <a:srgbClr val="4E3629"/>
                </a:solidFill>
                <a:latin typeface="Calibri"/>
                <a:cs typeface="Calibri"/>
              </a:rPr>
              <a:t>para</a:t>
            </a:r>
            <a:r>
              <a:rPr dirty="0" sz="2800" spc="-65">
                <a:solidFill>
                  <a:srgbClr val="4E3629"/>
                </a:solidFill>
                <a:latin typeface="Calibri"/>
                <a:cs typeface="Calibri"/>
              </a:rPr>
              <a:t> </a:t>
            </a:r>
            <a:r>
              <a:rPr dirty="0" sz="2800">
                <a:solidFill>
                  <a:srgbClr val="4E3629"/>
                </a:solidFill>
                <a:latin typeface="Calibri"/>
                <a:cs typeface="Calibri"/>
              </a:rPr>
              <a:t>la</a:t>
            </a:r>
            <a:r>
              <a:rPr dirty="0" sz="2800" spc="-70">
                <a:solidFill>
                  <a:srgbClr val="4E3629"/>
                </a:solidFill>
                <a:latin typeface="Calibri"/>
                <a:cs typeface="Calibri"/>
              </a:rPr>
              <a:t> </a:t>
            </a:r>
            <a:r>
              <a:rPr dirty="0" sz="2800" spc="-10">
                <a:solidFill>
                  <a:srgbClr val="4E3629"/>
                </a:solidFill>
                <a:latin typeface="Calibri"/>
                <a:cs typeface="Calibri"/>
              </a:rPr>
              <a:t>columna </a:t>
            </a:r>
            <a:r>
              <a:rPr dirty="0" sz="2800" spc="-1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spc="-10">
                <a:solidFill>
                  <a:srgbClr val="4E3629"/>
                </a:solidFill>
                <a:latin typeface="Calibri"/>
                <a:cs typeface="Calibri"/>
              </a:rPr>
              <a:t>CLAVE</a:t>
            </a:r>
            <a:r>
              <a:rPr dirty="0" sz="2800" spc="-60">
                <a:solidFill>
                  <a:srgbClr val="4E3629"/>
                </a:solidFill>
                <a:latin typeface="Calibri"/>
                <a:cs typeface="Calibri"/>
              </a:rPr>
              <a:t> </a:t>
            </a:r>
            <a:r>
              <a:rPr dirty="0" sz="2800">
                <a:solidFill>
                  <a:srgbClr val="4E3629"/>
                </a:solidFill>
                <a:latin typeface="Calibri"/>
                <a:cs typeface="Calibri"/>
              </a:rPr>
              <a:t>AJENA</a:t>
            </a:r>
            <a:r>
              <a:rPr dirty="0" sz="2800" spc="-45">
                <a:solidFill>
                  <a:srgbClr val="4E3629"/>
                </a:solidFill>
                <a:latin typeface="Calibri"/>
                <a:cs typeface="Calibri"/>
              </a:rPr>
              <a:t> </a:t>
            </a:r>
            <a:r>
              <a:rPr dirty="0" sz="2800" spc="-10">
                <a:solidFill>
                  <a:srgbClr val="4E3629"/>
                </a:solidFill>
                <a:latin typeface="Calibri"/>
                <a:cs typeface="Calibri"/>
              </a:rPr>
              <a:t>department_id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tabla</a:t>
            </a:r>
            <a:r>
              <a:rPr dirty="0" sz="2800" spc="-45">
                <a:solidFill>
                  <a:srgbClr val="4E3629"/>
                </a:solidFill>
                <a:latin typeface="Calibri"/>
                <a:cs typeface="Calibri"/>
              </a:rPr>
              <a:t> </a:t>
            </a:r>
            <a:r>
              <a:rPr dirty="0" sz="2800" spc="-35">
                <a:solidFill>
                  <a:srgbClr val="4E3629"/>
                </a:solidFill>
                <a:latin typeface="Calibri"/>
                <a:cs typeface="Calibri"/>
              </a:rPr>
              <a:t>de </a:t>
            </a:r>
            <a:r>
              <a:rPr dirty="0" sz="2800" spc="-35">
                <a:solidFill>
                  <a:srgbClr val="4E3629"/>
                </a:solidFill>
                <a:latin typeface="Calibri"/>
                <a:cs typeface="Calibri"/>
              </a:rPr>
              <a:t>	</a:t>
            </a:r>
            <a:r>
              <a:rPr dirty="0" sz="2800">
                <a:solidFill>
                  <a:srgbClr val="4E3629"/>
                </a:solidFill>
                <a:latin typeface="Calibri"/>
                <a:cs typeface="Calibri"/>
              </a:rPr>
              <a:t>empleados</a:t>
            </a:r>
            <a:r>
              <a:rPr dirty="0" sz="2800" spc="-55">
                <a:solidFill>
                  <a:srgbClr val="4E3629"/>
                </a:solidFill>
                <a:latin typeface="Calibri"/>
                <a:cs typeface="Calibri"/>
              </a:rPr>
              <a:t> </a:t>
            </a:r>
            <a:r>
              <a:rPr dirty="0" sz="2800">
                <a:solidFill>
                  <a:srgbClr val="4E3629"/>
                </a:solidFill>
                <a:latin typeface="Calibri"/>
                <a:cs typeface="Calibri"/>
              </a:rPr>
              <a:t>podría</a:t>
            </a:r>
            <a:r>
              <a:rPr dirty="0" sz="2800" spc="-50">
                <a:solidFill>
                  <a:srgbClr val="4E3629"/>
                </a:solidFill>
                <a:latin typeface="Calibri"/>
                <a:cs typeface="Calibri"/>
              </a:rPr>
              <a:t> </a:t>
            </a:r>
            <a:r>
              <a:rPr dirty="0" sz="2800">
                <a:solidFill>
                  <a:srgbClr val="4E3629"/>
                </a:solidFill>
                <a:latin typeface="Calibri"/>
                <a:cs typeface="Calibri"/>
              </a:rPr>
              <a:t>ser</a:t>
            </a:r>
            <a:r>
              <a:rPr dirty="0" sz="2800" spc="-80">
                <a:solidFill>
                  <a:srgbClr val="4E3629"/>
                </a:solidFill>
                <a:latin typeface="Calibri"/>
                <a:cs typeface="Calibri"/>
              </a:rPr>
              <a:t> </a:t>
            </a:r>
            <a:r>
              <a:rPr dirty="0" sz="2800" spc="-10">
                <a:solidFill>
                  <a:srgbClr val="4E3629"/>
                </a:solidFill>
                <a:latin typeface="Calibri"/>
                <a:cs typeface="Calibri"/>
              </a:rPr>
              <a:t>emps_dept_id_fk</a:t>
            </a:r>
            <a:endParaRPr sz="2800">
              <a:latin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a:t>Sintaxis</a:t>
            </a:r>
            <a:r>
              <a:rPr dirty="0" spc="-90"/>
              <a:t> </a:t>
            </a:r>
            <a:r>
              <a:rPr dirty="0"/>
              <a:t>de</a:t>
            </a:r>
            <a:r>
              <a:rPr dirty="0" spc="-90"/>
              <a:t> </a:t>
            </a:r>
            <a:r>
              <a:rPr dirty="0" spc="-10"/>
              <a:t>Restricción</a:t>
            </a:r>
            <a:r>
              <a:rPr dirty="0" spc="-95"/>
              <a:t> </a:t>
            </a:r>
            <a:r>
              <a:rPr dirty="0"/>
              <a:t>FOREIGN</a:t>
            </a:r>
            <a:r>
              <a:rPr dirty="0" spc="-80"/>
              <a:t> </a:t>
            </a:r>
            <a:r>
              <a:rPr dirty="0" spc="-25"/>
              <a:t>KEY</a:t>
            </a:r>
          </a:p>
        </p:txBody>
      </p:sp>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2</a:t>
            </a:r>
          </a:p>
          <a:p>
            <a:pPr marL="12700" marR="5080">
              <a:lnSpc>
                <a:spcPts val="919"/>
              </a:lnSpc>
              <a:spcBef>
                <a:spcPts val="60"/>
              </a:spcBef>
            </a:pPr>
            <a:r>
              <a:rPr dirty="0" spc="-10"/>
              <a:t>Restricciones</a:t>
            </a:r>
            <a:r>
              <a:rPr dirty="0" spc="55"/>
              <a:t> </a:t>
            </a:r>
            <a:r>
              <a:rPr dirty="0"/>
              <a:t>PRIMARY</a:t>
            </a:r>
            <a:r>
              <a:rPr dirty="0" spc="-30"/>
              <a:t> </a:t>
            </a:r>
            <a:r>
              <a:rPr dirty="0" spc="-20"/>
              <a:t>KEY,</a:t>
            </a:r>
            <a:r>
              <a:rPr dirty="0" spc="500"/>
              <a:t> </a:t>
            </a:r>
            <a:r>
              <a:rPr dirty="0"/>
              <a:t>FOREIGN</a:t>
            </a:r>
            <a:r>
              <a:rPr dirty="0" spc="-40"/>
              <a:t> </a:t>
            </a:r>
            <a:r>
              <a:rPr dirty="0"/>
              <a:t>KEY</a:t>
            </a:r>
            <a:r>
              <a:rPr dirty="0" spc="-20"/>
              <a:t> </a:t>
            </a:r>
            <a:r>
              <a:rPr dirty="0"/>
              <a:t>y</a:t>
            </a:r>
            <a:r>
              <a:rPr dirty="0" spc="-5"/>
              <a:t> </a:t>
            </a:r>
            <a:r>
              <a:rPr dirty="0" spc="-20"/>
              <a:t>CHECK</a:t>
            </a: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18</a:t>
            </a: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a:spLocks noGrp="1"/>
          </p:cNvSpPr>
          <p:nvPr>
            <p:ph type="body" idx="1"/>
          </p:nvPr>
        </p:nvSpPr>
        <p:spPr>
          <a:prstGeom prst="rect"/>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a:t>La</a:t>
            </a:r>
            <a:r>
              <a:rPr dirty="0" spc="-85"/>
              <a:t> </a:t>
            </a:r>
            <a:r>
              <a:rPr dirty="0"/>
              <a:t>sintaxis</a:t>
            </a:r>
            <a:r>
              <a:rPr dirty="0" spc="-50"/>
              <a:t> </a:t>
            </a:r>
            <a:r>
              <a:rPr dirty="0"/>
              <a:t>para</a:t>
            </a:r>
            <a:r>
              <a:rPr dirty="0" spc="-80"/>
              <a:t> </a:t>
            </a:r>
            <a:r>
              <a:rPr dirty="0"/>
              <a:t>definir</a:t>
            </a:r>
            <a:r>
              <a:rPr dirty="0" spc="-60"/>
              <a:t> </a:t>
            </a:r>
            <a:r>
              <a:rPr dirty="0"/>
              <a:t>una</a:t>
            </a:r>
            <a:r>
              <a:rPr dirty="0" spc="-70"/>
              <a:t> </a:t>
            </a:r>
            <a:r>
              <a:rPr dirty="0" spc="-10"/>
              <a:t>restricción</a:t>
            </a:r>
            <a:r>
              <a:rPr dirty="0" spc="-50"/>
              <a:t> </a:t>
            </a:r>
            <a:r>
              <a:rPr dirty="0"/>
              <a:t>FOREIGN</a:t>
            </a:r>
            <a:r>
              <a:rPr dirty="0" spc="-85"/>
              <a:t> </a:t>
            </a:r>
            <a:r>
              <a:rPr dirty="0" spc="-25"/>
              <a:t>KEY </a:t>
            </a:r>
            <a:r>
              <a:rPr dirty="0" spc="-25"/>
              <a:t>	</a:t>
            </a:r>
            <a:r>
              <a:rPr dirty="0"/>
              <a:t>necesita</a:t>
            </a:r>
            <a:r>
              <a:rPr dirty="0" spc="-50"/>
              <a:t> </a:t>
            </a:r>
            <a:r>
              <a:rPr dirty="0"/>
              <a:t>una</a:t>
            </a:r>
            <a:r>
              <a:rPr dirty="0" spc="-45"/>
              <a:t> </a:t>
            </a:r>
            <a:r>
              <a:rPr dirty="0" spc="-10"/>
              <a:t>referencia</a:t>
            </a:r>
            <a:r>
              <a:rPr dirty="0" spc="-50"/>
              <a:t> </a:t>
            </a:r>
            <a:r>
              <a:rPr dirty="0"/>
              <a:t>a</a:t>
            </a:r>
            <a:r>
              <a:rPr dirty="0" spc="-55"/>
              <a:t> </a:t>
            </a:r>
            <a:r>
              <a:rPr dirty="0"/>
              <a:t>la</a:t>
            </a:r>
            <a:r>
              <a:rPr dirty="0" spc="-65"/>
              <a:t> </a:t>
            </a:r>
            <a:r>
              <a:rPr dirty="0"/>
              <a:t>tabla</a:t>
            </a:r>
            <a:r>
              <a:rPr dirty="0" spc="-45"/>
              <a:t> </a:t>
            </a:r>
            <a:r>
              <a:rPr dirty="0"/>
              <a:t>y</a:t>
            </a:r>
            <a:r>
              <a:rPr dirty="0" spc="-65"/>
              <a:t> </a:t>
            </a:r>
            <a:r>
              <a:rPr dirty="0"/>
              <a:t>columna</a:t>
            </a:r>
            <a:r>
              <a:rPr dirty="0" spc="-30"/>
              <a:t> </a:t>
            </a:r>
            <a:r>
              <a:rPr dirty="0"/>
              <a:t>de</a:t>
            </a:r>
            <a:r>
              <a:rPr dirty="0" spc="-50"/>
              <a:t> </a:t>
            </a:r>
            <a:r>
              <a:rPr dirty="0"/>
              <a:t>la</a:t>
            </a:r>
            <a:r>
              <a:rPr dirty="0" spc="-65"/>
              <a:t> </a:t>
            </a:r>
            <a:r>
              <a:rPr dirty="0" spc="-10"/>
              <a:t>tabla 	principal</a:t>
            </a:r>
          </a:p>
          <a:p>
            <a:pPr marL="182880" marR="22225" indent="-170815">
              <a:lnSpc>
                <a:spcPts val="3030"/>
              </a:lnSpc>
              <a:spcBef>
                <a:spcPts val="785"/>
              </a:spcBef>
              <a:buClr>
                <a:srgbClr val="D1350F"/>
              </a:buClr>
              <a:buFont typeface="Arial MT"/>
              <a:buChar char="•"/>
              <a:tabLst>
                <a:tab pos="184785" algn="l"/>
              </a:tabLst>
            </a:pPr>
            <a:r>
              <a:rPr dirty="0"/>
              <a:t>Una</a:t>
            </a:r>
            <a:r>
              <a:rPr dirty="0" spc="-60"/>
              <a:t> </a:t>
            </a:r>
            <a:r>
              <a:rPr dirty="0" spc="-10"/>
              <a:t>restricción</a:t>
            </a:r>
            <a:r>
              <a:rPr dirty="0" spc="-30"/>
              <a:t> </a:t>
            </a:r>
            <a:r>
              <a:rPr dirty="0"/>
              <a:t>FOREIGN</a:t>
            </a:r>
            <a:r>
              <a:rPr dirty="0" spc="-65"/>
              <a:t> </a:t>
            </a:r>
            <a:r>
              <a:rPr dirty="0"/>
              <a:t>KEY</a:t>
            </a:r>
            <a:r>
              <a:rPr dirty="0" spc="-65"/>
              <a:t> </a:t>
            </a:r>
            <a:r>
              <a:rPr dirty="0"/>
              <a:t>en</a:t>
            </a:r>
            <a:r>
              <a:rPr dirty="0" spc="-50"/>
              <a:t> </a:t>
            </a:r>
            <a:r>
              <a:rPr dirty="0"/>
              <a:t>una</a:t>
            </a:r>
            <a:r>
              <a:rPr dirty="0" spc="-45"/>
              <a:t> </a:t>
            </a:r>
            <a:r>
              <a:rPr dirty="0"/>
              <a:t>sentencia</a:t>
            </a:r>
            <a:r>
              <a:rPr dirty="0" spc="-40"/>
              <a:t> </a:t>
            </a:r>
            <a:r>
              <a:rPr dirty="0" spc="-10"/>
              <a:t>CREATE </a:t>
            </a:r>
            <a:r>
              <a:rPr dirty="0" spc="-10"/>
              <a:t>	</a:t>
            </a:r>
            <a:r>
              <a:rPr dirty="0" spc="-30"/>
              <a:t>TABLE</a:t>
            </a:r>
            <a:r>
              <a:rPr dirty="0" spc="-75"/>
              <a:t> </a:t>
            </a:r>
            <a:r>
              <a:rPr dirty="0"/>
              <a:t>se</a:t>
            </a:r>
            <a:r>
              <a:rPr dirty="0" spc="-50"/>
              <a:t> </a:t>
            </a:r>
            <a:r>
              <a:rPr dirty="0"/>
              <a:t>puede</a:t>
            </a:r>
            <a:r>
              <a:rPr dirty="0" spc="-40"/>
              <a:t> </a:t>
            </a:r>
            <a:r>
              <a:rPr dirty="0"/>
              <a:t>definir</a:t>
            </a:r>
            <a:r>
              <a:rPr dirty="0" spc="-40"/>
              <a:t> </a:t>
            </a:r>
            <a:r>
              <a:rPr dirty="0"/>
              <a:t>de</a:t>
            </a:r>
            <a:r>
              <a:rPr dirty="0" spc="-65"/>
              <a:t> </a:t>
            </a:r>
            <a:r>
              <a:rPr dirty="0"/>
              <a:t>la</a:t>
            </a:r>
            <a:r>
              <a:rPr dirty="0" spc="-55"/>
              <a:t> </a:t>
            </a:r>
            <a:r>
              <a:rPr dirty="0"/>
              <a:t>siguiente</a:t>
            </a:r>
            <a:r>
              <a:rPr dirty="0" spc="-50"/>
              <a:t> </a:t>
            </a:r>
            <a:r>
              <a:rPr dirty="0" spc="-10"/>
              <a:t>forma</a:t>
            </a:r>
          </a:p>
          <a:p>
            <a:pPr marL="183515" indent="-170815">
              <a:lnSpc>
                <a:spcPct val="100000"/>
              </a:lnSpc>
              <a:spcBef>
                <a:spcPts val="420"/>
              </a:spcBef>
              <a:buClr>
                <a:srgbClr val="D1350F"/>
              </a:buClr>
              <a:buFont typeface="Arial MT"/>
              <a:buChar char="•"/>
              <a:tabLst>
                <a:tab pos="183515" algn="l"/>
              </a:tabLst>
            </a:pPr>
            <a:r>
              <a:rPr dirty="0"/>
              <a:t>Ejemplo</a:t>
            </a:r>
            <a:r>
              <a:rPr dirty="0" spc="-50"/>
              <a:t> </a:t>
            </a:r>
            <a:r>
              <a:rPr dirty="0"/>
              <a:t>de</a:t>
            </a:r>
            <a:r>
              <a:rPr dirty="0" spc="-50"/>
              <a:t> </a:t>
            </a:r>
            <a:r>
              <a:rPr dirty="0"/>
              <a:t>sintaxis</a:t>
            </a:r>
            <a:r>
              <a:rPr dirty="0" spc="-45"/>
              <a:t> </a:t>
            </a:r>
            <a:r>
              <a:rPr dirty="0"/>
              <a:t>de</a:t>
            </a:r>
            <a:r>
              <a:rPr dirty="0" spc="-60"/>
              <a:t> </a:t>
            </a:r>
            <a:r>
              <a:rPr dirty="0"/>
              <a:t>nivel</a:t>
            </a:r>
            <a:r>
              <a:rPr dirty="0" spc="-55"/>
              <a:t> </a:t>
            </a:r>
            <a:r>
              <a:rPr dirty="0"/>
              <a:t>de</a:t>
            </a:r>
            <a:r>
              <a:rPr dirty="0" spc="-50"/>
              <a:t> </a:t>
            </a:r>
            <a:r>
              <a:rPr dirty="0" spc="-10"/>
              <a:t>columna:</a:t>
            </a:r>
          </a:p>
        </p:txBody>
      </p:sp>
      <p:sp>
        <p:nvSpPr>
          <p:cNvPr id="4" name="object 4" descr=""/>
          <p:cNvSpPr txBox="1"/>
          <p:nvPr/>
        </p:nvSpPr>
        <p:spPr>
          <a:xfrm>
            <a:off x="405384" y="4000500"/>
            <a:ext cx="8345805" cy="1955800"/>
          </a:xfrm>
          <a:prstGeom prst="rect">
            <a:avLst/>
          </a:prstGeom>
          <a:solidFill>
            <a:srgbClr val="9DBEC4">
              <a:alpha val="50199"/>
            </a:srgbClr>
          </a:solidFill>
        </p:spPr>
        <p:txBody>
          <a:bodyPr wrap="square" lIns="0" tIns="0" rIns="0" bIns="0" rtlCol="0" vert="horz">
            <a:spAutoFit/>
          </a:bodyPr>
          <a:lstStyle/>
          <a:p>
            <a:pPr>
              <a:lnSpc>
                <a:spcPts val="2085"/>
              </a:lnSpc>
            </a:pPr>
            <a:r>
              <a:rPr dirty="0" sz="1800" b="1">
                <a:solidFill>
                  <a:srgbClr val="4E3629"/>
                </a:solidFill>
                <a:latin typeface="Courier New"/>
                <a:cs typeface="Courier New"/>
              </a:rPr>
              <a:t>CREATE</a:t>
            </a:r>
            <a:r>
              <a:rPr dirty="0" sz="1800" spc="-55" b="1">
                <a:solidFill>
                  <a:srgbClr val="4E3629"/>
                </a:solidFill>
                <a:latin typeface="Courier New"/>
                <a:cs typeface="Courier New"/>
              </a:rPr>
              <a:t> </a:t>
            </a:r>
            <a:r>
              <a:rPr dirty="0" sz="1800" b="1">
                <a:solidFill>
                  <a:srgbClr val="4E3629"/>
                </a:solidFill>
                <a:latin typeface="Courier New"/>
                <a:cs typeface="Courier New"/>
              </a:rPr>
              <a:t>TABLE</a:t>
            </a:r>
            <a:r>
              <a:rPr dirty="0" sz="1800" spc="-50" b="1">
                <a:solidFill>
                  <a:srgbClr val="4E3629"/>
                </a:solidFill>
                <a:latin typeface="Courier New"/>
                <a:cs typeface="Courier New"/>
              </a:rPr>
              <a:t> </a:t>
            </a:r>
            <a:r>
              <a:rPr dirty="0" sz="1800" spc="-10" b="1">
                <a:solidFill>
                  <a:srgbClr val="4E3629"/>
                </a:solidFill>
                <a:latin typeface="Courier New"/>
                <a:cs typeface="Courier New"/>
              </a:rPr>
              <a:t>copy_employees</a:t>
            </a:r>
            <a:endParaRPr sz="1800">
              <a:latin typeface="Courier New"/>
              <a:cs typeface="Courier New"/>
            </a:endParaRPr>
          </a:p>
          <a:p>
            <a:pPr marL="136525" marR="148590" indent="-137160">
              <a:lnSpc>
                <a:spcPct val="100000"/>
              </a:lnSpc>
            </a:pPr>
            <a:r>
              <a:rPr dirty="0" sz="1800" b="1">
                <a:solidFill>
                  <a:srgbClr val="4E3629"/>
                </a:solidFill>
                <a:latin typeface="Courier New"/>
                <a:cs typeface="Courier New"/>
              </a:rPr>
              <a:t>(employee_id</a:t>
            </a:r>
            <a:r>
              <a:rPr dirty="0" sz="1800" spc="-90" b="1">
                <a:solidFill>
                  <a:srgbClr val="4E3629"/>
                </a:solidFill>
                <a:latin typeface="Courier New"/>
                <a:cs typeface="Courier New"/>
              </a:rPr>
              <a:t> </a:t>
            </a:r>
            <a:r>
              <a:rPr dirty="0" sz="1800" b="1">
                <a:solidFill>
                  <a:srgbClr val="4E3629"/>
                </a:solidFill>
                <a:latin typeface="Courier New"/>
                <a:cs typeface="Courier New"/>
              </a:rPr>
              <a:t>NUMBER(6,0)</a:t>
            </a:r>
            <a:r>
              <a:rPr dirty="0" sz="1800" spc="-100" b="1">
                <a:solidFill>
                  <a:srgbClr val="4E3629"/>
                </a:solidFill>
                <a:latin typeface="Courier New"/>
                <a:cs typeface="Courier New"/>
              </a:rPr>
              <a:t> </a:t>
            </a:r>
            <a:r>
              <a:rPr dirty="0" sz="1800" b="1">
                <a:solidFill>
                  <a:srgbClr val="4E3629"/>
                </a:solidFill>
                <a:latin typeface="Courier New"/>
                <a:cs typeface="Courier New"/>
              </a:rPr>
              <a:t>CONSTRAINT</a:t>
            </a:r>
            <a:r>
              <a:rPr dirty="0" sz="1800" spc="-105" b="1">
                <a:solidFill>
                  <a:srgbClr val="4E3629"/>
                </a:solidFill>
                <a:latin typeface="Courier New"/>
                <a:cs typeface="Courier New"/>
              </a:rPr>
              <a:t> </a:t>
            </a:r>
            <a:r>
              <a:rPr dirty="0" sz="1800" b="1">
                <a:solidFill>
                  <a:srgbClr val="4E3629"/>
                </a:solidFill>
                <a:latin typeface="Courier New"/>
                <a:cs typeface="Courier New"/>
              </a:rPr>
              <a:t>copy_emp_pk</a:t>
            </a:r>
            <a:r>
              <a:rPr dirty="0" sz="1800" spc="-100" b="1">
                <a:solidFill>
                  <a:srgbClr val="4E3629"/>
                </a:solidFill>
                <a:latin typeface="Courier New"/>
                <a:cs typeface="Courier New"/>
              </a:rPr>
              <a:t> </a:t>
            </a:r>
            <a:r>
              <a:rPr dirty="0" sz="1800" b="1">
                <a:solidFill>
                  <a:srgbClr val="4E3629"/>
                </a:solidFill>
                <a:latin typeface="Courier New"/>
                <a:cs typeface="Courier New"/>
              </a:rPr>
              <a:t>PRIMARY</a:t>
            </a:r>
            <a:r>
              <a:rPr dirty="0" sz="1800" spc="-100" b="1">
                <a:solidFill>
                  <a:srgbClr val="4E3629"/>
                </a:solidFill>
                <a:latin typeface="Courier New"/>
                <a:cs typeface="Courier New"/>
              </a:rPr>
              <a:t> </a:t>
            </a:r>
            <a:r>
              <a:rPr dirty="0" sz="1800" spc="-20" b="1">
                <a:solidFill>
                  <a:srgbClr val="4E3629"/>
                </a:solidFill>
                <a:latin typeface="Courier New"/>
                <a:cs typeface="Courier New"/>
              </a:rPr>
              <a:t>KEY, </a:t>
            </a:r>
            <a:r>
              <a:rPr dirty="0" sz="1800" b="1">
                <a:solidFill>
                  <a:srgbClr val="4E3629"/>
                </a:solidFill>
                <a:latin typeface="Courier New"/>
                <a:cs typeface="Courier New"/>
              </a:rPr>
              <a:t>first_name</a:t>
            </a:r>
            <a:r>
              <a:rPr dirty="0" sz="1800" spc="-100" b="1">
                <a:solidFill>
                  <a:srgbClr val="4E3629"/>
                </a:solidFill>
                <a:latin typeface="Courier New"/>
                <a:cs typeface="Courier New"/>
              </a:rPr>
              <a:t> </a:t>
            </a:r>
            <a:r>
              <a:rPr dirty="0" sz="1800" spc="-10" b="1">
                <a:solidFill>
                  <a:srgbClr val="4E3629"/>
                </a:solidFill>
                <a:latin typeface="Courier New"/>
                <a:cs typeface="Courier New"/>
              </a:rPr>
              <a:t>VARCHAR2(20),</a:t>
            </a:r>
            <a:endParaRPr sz="1800">
              <a:latin typeface="Courier New"/>
              <a:cs typeface="Courier New"/>
            </a:endParaRPr>
          </a:p>
          <a:p>
            <a:pPr marL="136525">
              <a:lnSpc>
                <a:spcPct val="100000"/>
              </a:lnSpc>
            </a:pPr>
            <a:r>
              <a:rPr dirty="0" sz="1800" b="1">
                <a:solidFill>
                  <a:srgbClr val="4E3629"/>
                </a:solidFill>
                <a:latin typeface="Courier New"/>
                <a:cs typeface="Courier New"/>
              </a:rPr>
              <a:t>last_name</a:t>
            </a:r>
            <a:r>
              <a:rPr dirty="0" sz="1800" spc="-95" b="1">
                <a:solidFill>
                  <a:srgbClr val="4E3629"/>
                </a:solidFill>
                <a:latin typeface="Courier New"/>
                <a:cs typeface="Courier New"/>
              </a:rPr>
              <a:t> </a:t>
            </a:r>
            <a:r>
              <a:rPr dirty="0" sz="1800" spc="-10" b="1">
                <a:solidFill>
                  <a:srgbClr val="4E3629"/>
                </a:solidFill>
                <a:latin typeface="Courier New"/>
                <a:cs typeface="Courier New"/>
              </a:rPr>
              <a:t>VARCHAR2(25),</a:t>
            </a:r>
            <a:endParaRPr sz="1800">
              <a:latin typeface="Courier New"/>
              <a:cs typeface="Courier New"/>
            </a:endParaRPr>
          </a:p>
          <a:p>
            <a:pPr marL="136525">
              <a:lnSpc>
                <a:spcPct val="100000"/>
              </a:lnSpc>
            </a:pPr>
            <a:r>
              <a:rPr dirty="0" sz="1800" b="1">
                <a:solidFill>
                  <a:srgbClr val="D1350F"/>
                </a:solidFill>
                <a:latin typeface="Courier New"/>
                <a:cs typeface="Courier New"/>
              </a:rPr>
              <a:t>department_id</a:t>
            </a:r>
            <a:r>
              <a:rPr dirty="0" sz="1800" spc="-125" b="1">
                <a:solidFill>
                  <a:srgbClr val="D1350F"/>
                </a:solidFill>
                <a:latin typeface="Courier New"/>
                <a:cs typeface="Courier New"/>
              </a:rPr>
              <a:t> </a:t>
            </a:r>
            <a:r>
              <a:rPr dirty="0" sz="1800" b="1">
                <a:solidFill>
                  <a:srgbClr val="D1350F"/>
                </a:solidFill>
                <a:latin typeface="Courier New"/>
                <a:cs typeface="Courier New"/>
              </a:rPr>
              <a:t>NUMBER(4,0)</a:t>
            </a:r>
            <a:r>
              <a:rPr dirty="0" sz="1800" spc="-114" b="1">
                <a:solidFill>
                  <a:srgbClr val="D1350F"/>
                </a:solidFill>
                <a:latin typeface="Courier New"/>
                <a:cs typeface="Courier New"/>
              </a:rPr>
              <a:t> </a:t>
            </a:r>
            <a:r>
              <a:rPr dirty="0" sz="1800" b="1">
                <a:solidFill>
                  <a:srgbClr val="D1350F"/>
                </a:solidFill>
                <a:latin typeface="Courier New"/>
                <a:cs typeface="Courier New"/>
              </a:rPr>
              <a:t>CONSTRAINT</a:t>
            </a:r>
            <a:r>
              <a:rPr dirty="0" sz="1800" spc="-110" b="1">
                <a:solidFill>
                  <a:srgbClr val="D1350F"/>
                </a:solidFill>
                <a:latin typeface="Courier New"/>
                <a:cs typeface="Courier New"/>
              </a:rPr>
              <a:t> </a:t>
            </a:r>
            <a:r>
              <a:rPr dirty="0" sz="1800" spc="-10" b="1">
                <a:solidFill>
                  <a:srgbClr val="D1350F"/>
                </a:solidFill>
                <a:latin typeface="Courier New"/>
                <a:cs typeface="Courier New"/>
              </a:rPr>
              <a:t>c_emps_dept_id_fk</a:t>
            </a:r>
            <a:endParaRPr sz="1800">
              <a:latin typeface="Courier New"/>
              <a:cs typeface="Courier New"/>
            </a:endParaRPr>
          </a:p>
          <a:p>
            <a:pPr marL="3152140">
              <a:lnSpc>
                <a:spcPct val="100000"/>
              </a:lnSpc>
            </a:pPr>
            <a:r>
              <a:rPr dirty="0" sz="1800" b="1">
                <a:solidFill>
                  <a:srgbClr val="D1350F"/>
                </a:solidFill>
                <a:latin typeface="Courier New"/>
                <a:cs typeface="Courier New"/>
              </a:rPr>
              <a:t>REFERENCES</a:t>
            </a:r>
            <a:r>
              <a:rPr dirty="0" sz="1800" spc="-110" b="1">
                <a:solidFill>
                  <a:srgbClr val="D1350F"/>
                </a:solidFill>
                <a:latin typeface="Courier New"/>
                <a:cs typeface="Courier New"/>
              </a:rPr>
              <a:t> </a:t>
            </a:r>
            <a:r>
              <a:rPr dirty="0" sz="1800" spc="-10" b="1">
                <a:solidFill>
                  <a:srgbClr val="D1350F"/>
                </a:solidFill>
                <a:latin typeface="Courier New"/>
                <a:cs typeface="Courier New"/>
              </a:rPr>
              <a:t>departments(department_id)</a:t>
            </a:r>
            <a:r>
              <a:rPr dirty="0" sz="1800" spc="-10" b="1">
                <a:solidFill>
                  <a:srgbClr val="4E3629"/>
                </a:solidFill>
                <a:latin typeface="Courier New"/>
                <a:cs typeface="Courier New"/>
              </a:rPr>
              <a:t>,</a:t>
            </a:r>
            <a:endParaRPr sz="1800">
              <a:latin typeface="Courier New"/>
              <a:cs typeface="Courier New"/>
            </a:endParaRPr>
          </a:p>
          <a:p>
            <a:pPr marL="135890">
              <a:lnSpc>
                <a:spcPct val="100000"/>
              </a:lnSpc>
            </a:pPr>
            <a:r>
              <a:rPr dirty="0" sz="1800" b="1">
                <a:solidFill>
                  <a:srgbClr val="4E3629"/>
                </a:solidFill>
                <a:latin typeface="Courier New"/>
                <a:cs typeface="Courier New"/>
              </a:rPr>
              <a:t>email</a:t>
            </a:r>
            <a:r>
              <a:rPr dirty="0" sz="1800" spc="-45" b="1">
                <a:solidFill>
                  <a:srgbClr val="4E3629"/>
                </a:solidFill>
                <a:latin typeface="Courier New"/>
                <a:cs typeface="Courier New"/>
              </a:rPr>
              <a:t> </a:t>
            </a:r>
            <a:r>
              <a:rPr dirty="0" sz="1800" spc="-10" b="1">
                <a:solidFill>
                  <a:srgbClr val="4E3629"/>
                </a:solidFill>
                <a:latin typeface="Courier New"/>
                <a:cs typeface="Courier New"/>
              </a:rPr>
              <a:t>VARCHAR2(25));</a:t>
            </a:r>
            <a:endParaRPr sz="1800">
              <a:latin typeface="Courier New"/>
              <a:cs typeface="Courier New"/>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a:t>Sintaxis</a:t>
            </a:r>
            <a:r>
              <a:rPr dirty="0" spc="-90"/>
              <a:t> </a:t>
            </a:r>
            <a:r>
              <a:rPr dirty="0"/>
              <a:t>de</a:t>
            </a:r>
            <a:r>
              <a:rPr dirty="0" spc="-90"/>
              <a:t> </a:t>
            </a:r>
            <a:r>
              <a:rPr dirty="0" spc="-10"/>
              <a:t>Restricción</a:t>
            </a:r>
            <a:r>
              <a:rPr dirty="0" spc="-95"/>
              <a:t> </a:t>
            </a:r>
            <a:r>
              <a:rPr dirty="0"/>
              <a:t>FOREIGN</a:t>
            </a:r>
            <a:r>
              <a:rPr dirty="0" spc="-80"/>
              <a:t> </a:t>
            </a:r>
            <a:r>
              <a:rPr dirty="0" spc="-25"/>
              <a:t>KEY</a:t>
            </a:r>
          </a:p>
        </p:txBody>
      </p:sp>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2</a:t>
            </a:r>
          </a:p>
          <a:p>
            <a:pPr marL="12700" marR="5080">
              <a:lnSpc>
                <a:spcPts val="919"/>
              </a:lnSpc>
              <a:spcBef>
                <a:spcPts val="60"/>
              </a:spcBef>
            </a:pPr>
            <a:r>
              <a:rPr dirty="0" spc="-10"/>
              <a:t>Restricciones</a:t>
            </a:r>
            <a:r>
              <a:rPr dirty="0" spc="55"/>
              <a:t> </a:t>
            </a:r>
            <a:r>
              <a:rPr dirty="0"/>
              <a:t>PRIMARY</a:t>
            </a:r>
            <a:r>
              <a:rPr dirty="0" spc="-30"/>
              <a:t> </a:t>
            </a:r>
            <a:r>
              <a:rPr dirty="0" spc="-20"/>
              <a:t>KEY,</a:t>
            </a:r>
            <a:r>
              <a:rPr dirty="0" spc="500"/>
              <a:t> </a:t>
            </a:r>
            <a:r>
              <a:rPr dirty="0"/>
              <a:t>FOREIGN</a:t>
            </a:r>
            <a:r>
              <a:rPr dirty="0" spc="-40"/>
              <a:t> </a:t>
            </a:r>
            <a:r>
              <a:rPr dirty="0"/>
              <a:t>KEY</a:t>
            </a:r>
            <a:r>
              <a:rPr dirty="0" spc="-20"/>
              <a:t> </a:t>
            </a:r>
            <a:r>
              <a:rPr dirty="0"/>
              <a:t>y</a:t>
            </a:r>
            <a:r>
              <a:rPr dirty="0" spc="-5"/>
              <a:t> </a:t>
            </a:r>
            <a:r>
              <a:rPr dirty="0" spc="-20"/>
              <a:t>CHECK</a:t>
            </a: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19</a:t>
            </a: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a:spLocks noGrp="1"/>
          </p:cNvSpPr>
          <p:nvPr>
            <p:ph type="body" idx="1"/>
          </p:nvPr>
        </p:nvSpPr>
        <p:spPr>
          <a:prstGeom prst="rect"/>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a:t>La</a:t>
            </a:r>
            <a:r>
              <a:rPr dirty="0" spc="-85"/>
              <a:t> </a:t>
            </a:r>
            <a:r>
              <a:rPr dirty="0"/>
              <a:t>sintaxis</a:t>
            </a:r>
            <a:r>
              <a:rPr dirty="0" spc="-50"/>
              <a:t> </a:t>
            </a:r>
            <a:r>
              <a:rPr dirty="0"/>
              <a:t>para</a:t>
            </a:r>
            <a:r>
              <a:rPr dirty="0" spc="-80"/>
              <a:t> </a:t>
            </a:r>
            <a:r>
              <a:rPr dirty="0"/>
              <a:t>definir</a:t>
            </a:r>
            <a:r>
              <a:rPr dirty="0" spc="-60"/>
              <a:t> </a:t>
            </a:r>
            <a:r>
              <a:rPr dirty="0"/>
              <a:t>una</a:t>
            </a:r>
            <a:r>
              <a:rPr dirty="0" spc="-70"/>
              <a:t> </a:t>
            </a:r>
            <a:r>
              <a:rPr dirty="0" spc="-10"/>
              <a:t>restricción</a:t>
            </a:r>
            <a:r>
              <a:rPr dirty="0" spc="-50"/>
              <a:t> </a:t>
            </a:r>
            <a:r>
              <a:rPr dirty="0"/>
              <a:t>FOREIGN</a:t>
            </a:r>
            <a:r>
              <a:rPr dirty="0" spc="-85"/>
              <a:t> </a:t>
            </a:r>
            <a:r>
              <a:rPr dirty="0" spc="-25"/>
              <a:t>KEY </a:t>
            </a:r>
            <a:r>
              <a:rPr dirty="0" spc="-25"/>
              <a:t>	</a:t>
            </a:r>
            <a:r>
              <a:rPr dirty="0"/>
              <a:t>necesita</a:t>
            </a:r>
            <a:r>
              <a:rPr dirty="0" spc="-50"/>
              <a:t> </a:t>
            </a:r>
            <a:r>
              <a:rPr dirty="0"/>
              <a:t>una</a:t>
            </a:r>
            <a:r>
              <a:rPr dirty="0" spc="-45"/>
              <a:t> </a:t>
            </a:r>
            <a:r>
              <a:rPr dirty="0" spc="-10"/>
              <a:t>referencia</a:t>
            </a:r>
            <a:r>
              <a:rPr dirty="0" spc="-50"/>
              <a:t> </a:t>
            </a:r>
            <a:r>
              <a:rPr dirty="0"/>
              <a:t>a</a:t>
            </a:r>
            <a:r>
              <a:rPr dirty="0" spc="-55"/>
              <a:t> </a:t>
            </a:r>
            <a:r>
              <a:rPr dirty="0"/>
              <a:t>la</a:t>
            </a:r>
            <a:r>
              <a:rPr dirty="0" spc="-65"/>
              <a:t> </a:t>
            </a:r>
            <a:r>
              <a:rPr dirty="0"/>
              <a:t>tabla</a:t>
            </a:r>
            <a:r>
              <a:rPr dirty="0" spc="-45"/>
              <a:t> </a:t>
            </a:r>
            <a:r>
              <a:rPr dirty="0"/>
              <a:t>y</a:t>
            </a:r>
            <a:r>
              <a:rPr dirty="0" spc="-65"/>
              <a:t> </a:t>
            </a:r>
            <a:r>
              <a:rPr dirty="0"/>
              <a:t>columna</a:t>
            </a:r>
            <a:r>
              <a:rPr dirty="0" spc="-30"/>
              <a:t> </a:t>
            </a:r>
            <a:r>
              <a:rPr dirty="0"/>
              <a:t>de</a:t>
            </a:r>
            <a:r>
              <a:rPr dirty="0" spc="-50"/>
              <a:t> </a:t>
            </a:r>
            <a:r>
              <a:rPr dirty="0"/>
              <a:t>la</a:t>
            </a:r>
            <a:r>
              <a:rPr dirty="0" spc="-65"/>
              <a:t> </a:t>
            </a:r>
            <a:r>
              <a:rPr dirty="0" spc="-10"/>
              <a:t>tabla 	principal</a:t>
            </a:r>
          </a:p>
          <a:p>
            <a:pPr marL="182880" marR="22225" indent="-170815">
              <a:lnSpc>
                <a:spcPts val="3030"/>
              </a:lnSpc>
              <a:spcBef>
                <a:spcPts val="785"/>
              </a:spcBef>
              <a:buClr>
                <a:srgbClr val="D1350F"/>
              </a:buClr>
              <a:buFont typeface="Arial MT"/>
              <a:buChar char="•"/>
              <a:tabLst>
                <a:tab pos="184785" algn="l"/>
              </a:tabLst>
            </a:pPr>
            <a:r>
              <a:rPr dirty="0"/>
              <a:t>Una</a:t>
            </a:r>
            <a:r>
              <a:rPr dirty="0" spc="-60"/>
              <a:t> </a:t>
            </a:r>
            <a:r>
              <a:rPr dirty="0" spc="-10"/>
              <a:t>restricción</a:t>
            </a:r>
            <a:r>
              <a:rPr dirty="0" spc="-30"/>
              <a:t> </a:t>
            </a:r>
            <a:r>
              <a:rPr dirty="0"/>
              <a:t>FOREIGN</a:t>
            </a:r>
            <a:r>
              <a:rPr dirty="0" spc="-65"/>
              <a:t> </a:t>
            </a:r>
            <a:r>
              <a:rPr dirty="0"/>
              <a:t>KEY</a:t>
            </a:r>
            <a:r>
              <a:rPr dirty="0" spc="-65"/>
              <a:t> </a:t>
            </a:r>
            <a:r>
              <a:rPr dirty="0"/>
              <a:t>en</a:t>
            </a:r>
            <a:r>
              <a:rPr dirty="0" spc="-50"/>
              <a:t> </a:t>
            </a:r>
            <a:r>
              <a:rPr dirty="0"/>
              <a:t>una</a:t>
            </a:r>
            <a:r>
              <a:rPr dirty="0" spc="-45"/>
              <a:t> </a:t>
            </a:r>
            <a:r>
              <a:rPr dirty="0"/>
              <a:t>sentencia</a:t>
            </a:r>
            <a:r>
              <a:rPr dirty="0" spc="-40"/>
              <a:t> </a:t>
            </a:r>
            <a:r>
              <a:rPr dirty="0" spc="-10"/>
              <a:t>CREATE </a:t>
            </a:r>
            <a:r>
              <a:rPr dirty="0" spc="-10"/>
              <a:t>	</a:t>
            </a:r>
            <a:r>
              <a:rPr dirty="0" spc="-30"/>
              <a:t>TABLE</a:t>
            </a:r>
            <a:r>
              <a:rPr dirty="0" spc="-75"/>
              <a:t> </a:t>
            </a:r>
            <a:r>
              <a:rPr dirty="0"/>
              <a:t>se</a:t>
            </a:r>
            <a:r>
              <a:rPr dirty="0" spc="-50"/>
              <a:t> </a:t>
            </a:r>
            <a:r>
              <a:rPr dirty="0"/>
              <a:t>puede</a:t>
            </a:r>
            <a:r>
              <a:rPr dirty="0" spc="-40"/>
              <a:t> </a:t>
            </a:r>
            <a:r>
              <a:rPr dirty="0"/>
              <a:t>definir</a:t>
            </a:r>
            <a:r>
              <a:rPr dirty="0" spc="-40"/>
              <a:t> </a:t>
            </a:r>
            <a:r>
              <a:rPr dirty="0"/>
              <a:t>de</a:t>
            </a:r>
            <a:r>
              <a:rPr dirty="0" spc="-65"/>
              <a:t> </a:t>
            </a:r>
            <a:r>
              <a:rPr dirty="0"/>
              <a:t>la</a:t>
            </a:r>
            <a:r>
              <a:rPr dirty="0" spc="-55"/>
              <a:t> </a:t>
            </a:r>
            <a:r>
              <a:rPr dirty="0"/>
              <a:t>siguiente</a:t>
            </a:r>
            <a:r>
              <a:rPr dirty="0" spc="-50"/>
              <a:t> </a:t>
            </a:r>
            <a:r>
              <a:rPr dirty="0" spc="-10"/>
              <a:t>forma</a:t>
            </a:r>
          </a:p>
          <a:p>
            <a:pPr marL="183515" indent="-170815">
              <a:lnSpc>
                <a:spcPct val="100000"/>
              </a:lnSpc>
              <a:spcBef>
                <a:spcPts val="420"/>
              </a:spcBef>
              <a:buClr>
                <a:srgbClr val="D1350F"/>
              </a:buClr>
              <a:buFont typeface="Arial MT"/>
              <a:buChar char="•"/>
              <a:tabLst>
                <a:tab pos="183515" algn="l"/>
              </a:tabLst>
            </a:pPr>
            <a:r>
              <a:rPr dirty="0"/>
              <a:t>Ejemplo</a:t>
            </a:r>
            <a:r>
              <a:rPr dirty="0" spc="-50"/>
              <a:t> </a:t>
            </a:r>
            <a:r>
              <a:rPr dirty="0"/>
              <a:t>de</a:t>
            </a:r>
            <a:r>
              <a:rPr dirty="0" spc="-50"/>
              <a:t> </a:t>
            </a:r>
            <a:r>
              <a:rPr dirty="0"/>
              <a:t>sintaxis</a:t>
            </a:r>
            <a:r>
              <a:rPr dirty="0" spc="-45"/>
              <a:t> </a:t>
            </a:r>
            <a:r>
              <a:rPr dirty="0"/>
              <a:t>de</a:t>
            </a:r>
            <a:r>
              <a:rPr dirty="0" spc="-60"/>
              <a:t> </a:t>
            </a:r>
            <a:r>
              <a:rPr dirty="0"/>
              <a:t>nivel</a:t>
            </a:r>
            <a:r>
              <a:rPr dirty="0" spc="-55"/>
              <a:t> </a:t>
            </a:r>
            <a:r>
              <a:rPr dirty="0"/>
              <a:t>de</a:t>
            </a:r>
            <a:r>
              <a:rPr dirty="0" spc="-50"/>
              <a:t> </a:t>
            </a:r>
            <a:r>
              <a:rPr dirty="0" spc="-10"/>
              <a:t>tabla:</a:t>
            </a:r>
          </a:p>
        </p:txBody>
      </p:sp>
      <p:sp>
        <p:nvSpPr>
          <p:cNvPr id="4" name="object 4" descr=""/>
          <p:cNvSpPr txBox="1"/>
          <p:nvPr/>
        </p:nvSpPr>
        <p:spPr>
          <a:xfrm>
            <a:off x="405384" y="4061459"/>
            <a:ext cx="8345805" cy="2005964"/>
          </a:xfrm>
          <a:prstGeom prst="rect">
            <a:avLst/>
          </a:prstGeom>
          <a:solidFill>
            <a:srgbClr val="9DBEC4">
              <a:alpha val="50199"/>
            </a:srgbClr>
          </a:solidFill>
        </p:spPr>
        <p:txBody>
          <a:bodyPr wrap="square" lIns="0" tIns="3810" rIns="0" bIns="0" rtlCol="0" vert="horz">
            <a:spAutoFit/>
          </a:bodyPr>
          <a:lstStyle/>
          <a:p>
            <a:pPr>
              <a:lnSpc>
                <a:spcPct val="100000"/>
              </a:lnSpc>
              <a:spcBef>
                <a:spcPts val="30"/>
              </a:spcBef>
            </a:pPr>
            <a:r>
              <a:rPr dirty="0" sz="1600" b="1">
                <a:solidFill>
                  <a:srgbClr val="4E3629"/>
                </a:solidFill>
                <a:latin typeface="Courier New"/>
                <a:cs typeface="Courier New"/>
              </a:rPr>
              <a:t>CREATE</a:t>
            </a:r>
            <a:r>
              <a:rPr dirty="0" sz="1600" spc="-45" b="1">
                <a:solidFill>
                  <a:srgbClr val="4E3629"/>
                </a:solidFill>
                <a:latin typeface="Courier New"/>
                <a:cs typeface="Courier New"/>
              </a:rPr>
              <a:t> </a:t>
            </a:r>
            <a:r>
              <a:rPr dirty="0" sz="1600" b="1">
                <a:solidFill>
                  <a:srgbClr val="4E3629"/>
                </a:solidFill>
                <a:latin typeface="Courier New"/>
                <a:cs typeface="Courier New"/>
              </a:rPr>
              <a:t>TABLE</a:t>
            </a:r>
            <a:r>
              <a:rPr dirty="0" sz="1600" spc="-35" b="1">
                <a:solidFill>
                  <a:srgbClr val="4E3629"/>
                </a:solidFill>
                <a:latin typeface="Courier New"/>
                <a:cs typeface="Courier New"/>
              </a:rPr>
              <a:t> </a:t>
            </a:r>
            <a:r>
              <a:rPr dirty="0" sz="1600" spc="-10" b="1">
                <a:solidFill>
                  <a:srgbClr val="4E3629"/>
                </a:solidFill>
                <a:latin typeface="Courier New"/>
                <a:cs typeface="Courier New"/>
              </a:rPr>
              <a:t>copy_employees</a:t>
            </a:r>
            <a:endParaRPr sz="1600">
              <a:latin typeface="Courier New"/>
              <a:cs typeface="Courier New"/>
            </a:endParaRPr>
          </a:p>
          <a:p>
            <a:pPr marL="120650" marR="1010285" indent="-121920">
              <a:lnSpc>
                <a:spcPct val="100000"/>
              </a:lnSpc>
            </a:pPr>
            <a:r>
              <a:rPr dirty="0" sz="1600" b="1">
                <a:solidFill>
                  <a:srgbClr val="4E3629"/>
                </a:solidFill>
                <a:latin typeface="Courier New"/>
                <a:cs typeface="Courier New"/>
              </a:rPr>
              <a:t>(employee_id</a:t>
            </a:r>
            <a:r>
              <a:rPr dirty="0" sz="1600" spc="-75" b="1">
                <a:solidFill>
                  <a:srgbClr val="4E3629"/>
                </a:solidFill>
                <a:latin typeface="Courier New"/>
                <a:cs typeface="Courier New"/>
              </a:rPr>
              <a:t> </a:t>
            </a:r>
            <a:r>
              <a:rPr dirty="0" sz="1600" b="1">
                <a:solidFill>
                  <a:srgbClr val="4E3629"/>
                </a:solidFill>
                <a:latin typeface="Courier New"/>
                <a:cs typeface="Courier New"/>
              </a:rPr>
              <a:t>NUMBER(6,0)</a:t>
            </a:r>
            <a:r>
              <a:rPr dirty="0" sz="1600" spc="-75" b="1">
                <a:solidFill>
                  <a:srgbClr val="4E3629"/>
                </a:solidFill>
                <a:latin typeface="Courier New"/>
                <a:cs typeface="Courier New"/>
              </a:rPr>
              <a:t> </a:t>
            </a:r>
            <a:r>
              <a:rPr dirty="0" sz="1600" b="1">
                <a:solidFill>
                  <a:srgbClr val="4E3629"/>
                </a:solidFill>
                <a:latin typeface="Courier New"/>
                <a:cs typeface="Courier New"/>
              </a:rPr>
              <a:t>CONSTRAINT</a:t>
            </a:r>
            <a:r>
              <a:rPr dirty="0" sz="1600" spc="-70" b="1">
                <a:solidFill>
                  <a:srgbClr val="4E3629"/>
                </a:solidFill>
                <a:latin typeface="Courier New"/>
                <a:cs typeface="Courier New"/>
              </a:rPr>
              <a:t> </a:t>
            </a:r>
            <a:r>
              <a:rPr dirty="0" sz="1600" b="1">
                <a:solidFill>
                  <a:srgbClr val="4E3629"/>
                </a:solidFill>
                <a:latin typeface="Courier New"/>
                <a:cs typeface="Courier New"/>
              </a:rPr>
              <a:t>copy_emp_pk</a:t>
            </a:r>
            <a:r>
              <a:rPr dirty="0" sz="1600" spc="-70" b="1">
                <a:solidFill>
                  <a:srgbClr val="4E3629"/>
                </a:solidFill>
                <a:latin typeface="Courier New"/>
                <a:cs typeface="Courier New"/>
              </a:rPr>
              <a:t> </a:t>
            </a:r>
            <a:r>
              <a:rPr dirty="0" sz="1600" b="1">
                <a:solidFill>
                  <a:srgbClr val="4E3629"/>
                </a:solidFill>
                <a:latin typeface="Courier New"/>
                <a:cs typeface="Courier New"/>
              </a:rPr>
              <a:t>PRIMARY</a:t>
            </a:r>
            <a:r>
              <a:rPr dirty="0" sz="1600" spc="-80" b="1">
                <a:solidFill>
                  <a:srgbClr val="4E3629"/>
                </a:solidFill>
                <a:latin typeface="Courier New"/>
                <a:cs typeface="Courier New"/>
              </a:rPr>
              <a:t> </a:t>
            </a:r>
            <a:r>
              <a:rPr dirty="0" sz="1600" spc="-20" b="1">
                <a:solidFill>
                  <a:srgbClr val="4E3629"/>
                </a:solidFill>
                <a:latin typeface="Courier New"/>
                <a:cs typeface="Courier New"/>
              </a:rPr>
              <a:t>KEY, </a:t>
            </a:r>
            <a:r>
              <a:rPr dirty="0" sz="1600" b="1">
                <a:solidFill>
                  <a:srgbClr val="4E3629"/>
                </a:solidFill>
                <a:latin typeface="Courier New"/>
                <a:cs typeface="Courier New"/>
              </a:rPr>
              <a:t>first_name</a:t>
            </a:r>
            <a:r>
              <a:rPr dirty="0" sz="1600" spc="-70" b="1">
                <a:solidFill>
                  <a:srgbClr val="4E3629"/>
                </a:solidFill>
                <a:latin typeface="Courier New"/>
                <a:cs typeface="Courier New"/>
              </a:rPr>
              <a:t> </a:t>
            </a:r>
            <a:r>
              <a:rPr dirty="0" sz="1600" spc="-10" b="1">
                <a:solidFill>
                  <a:srgbClr val="4E3629"/>
                </a:solidFill>
                <a:latin typeface="Courier New"/>
                <a:cs typeface="Courier New"/>
              </a:rPr>
              <a:t>VARCHAR2(20),</a:t>
            </a:r>
            <a:endParaRPr sz="1600">
              <a:latin typeface="Courier New"/>
              <a:cs typeface="Courier New"/>
            </a:endParaRPr>
          </a:p>
          <a:p>
            <a:pPr marL="120650" marR="5041265">
              <a:lnSpc>
                <a:spcPct val="100000"/>
              </a:lnSpc>
            </a:pPr>
            <a:r>
              <a:rPr dirty="0" sz="1600" b="1">
                <a:solidFill>
                  <a:srgbClr val="4E3629"/>
                </a:solidFill>
                <a:latin typeface="Courier New"/>
                <a:cs typeface="Courier New"/>
              </a:rPr>
              <a:t>last_name</a:t>
            </a:r>
            <a:r>
              <a:rPr dirty="0" sz="1600" spc="-75" b="1">
                <a:solidFill>
                  <a:srgbClr val="4E3629"/>
                </a:solidFill>
                <a:latin typeface="Courier New"/>
                <a:cs typeface="Courier New"/>
              </a:rPr>
              <a:t> </a:t>
            </a:r>
            <a:r>
              <a:rPr dirty="0" sz="1600" spc="-10" b="1">
                <a:solidFill>
                  <a:srgbClr val="4E3629"/>
                </a:solidFill>
                <a:latin typeface="Courier New"/>
                <a:cs typeface="Courier New"/>
              </a:rPr>
              <a:t>VARCHAR2(25), </a:t>
            </a:r>
            <a:r>
              <a:rPr dirty="0" sz="1600" b="1">
                <a:solidFill>
                  <a:srgbClr val="4E3629"/>
                </a:solidFill>
                <a:latin typeface="Courier New"/>
                <a:cs typeface="Courier New"/>
              </a:rPr>
              <a:t>department_id</a:t>
            </a:r>
            <a:r>
              <a:rPr dirty="0" sz="1600" spc="-100" b="1">
                <a:solidFill>
                  <a:srgbClr val="4E3629"/>
                </a:solidFill>
                <a:latin typeface="Courier New"/>
                <a:cs typeface="Courier New"/>
              </a:rPr>
              <a:t> </a:t>
            </a:r>
            <a:r>
              <a:rPr dirty="0" sz="1600" spc="-10" b="1">
                <a:solidFill>
                  <a:srgbClr val="4E3629"/>
                </a:solidFill>
                <a:latin typeface="Courier New"/>
                <a:cs typeface="Courier New"/>
              </a:rPr>
              <a:t>NUMBER(4,0), </a:t>
            </a:r>
            <a:r>
              <a:rPr dirty="0" sz="1600" b="1">
                <a:solidFill>
                  <a:srgbClr val="4E3629"/>
                </a:solidFill>
                <a:latin typeface="Courier New"/>
                <a:cs typeface="Courier New"/>
              </a:rPr>
              <a:t>email</a:t>
            </a:r>
            <a:r>
              <a:rPr dirty="0" sz="1600" spc="-40" b="1">
                <a:solidFill>
                  <a:srgbClr val="4E3629"/>
                </a:solidFill>
                <a:latin typeface="Courier New"/>
                <a:cs typeface="Courier New"/>
              </a:rPr>
              <a:t> </a:t>
            </a:r>
            <a:r>
              <a:rPr dirty="0" sz="1600" spc="-10" b="1">
                <a:solidFill>
                  <a:srgbClr val="4E3629"/>
                </a:solidFill>
                <a:latin typeface="Courier New"/>
                <a:cs typeface="Courier New"/>
              </a:rPr>
              <a:t>VARCHAR2(25),</a:t>
            </a:r>
            <a:endParaRPr sz="1600">
              <a:latin typeface="Courier New"/>
              <a:cs typeface="Courier New"/>
            </a:endParaRPr>
          </a:p>
          <a:p>
            <a:pPr marL="120650">
              <a:lnSpc>
                <a:spcPct val="100000"/>
              </a:lnSpc>
            </a:pPr>
            <a:r>
              <a:rPr dirty="0" sz="1600" b="1">
                <a:solidFill>
                  <a:srgbClr val="D1350F"/>
                </a:solidFill>
                <a:latin typeface="Courier New"/>
                <a:cs typeface="Courier New"/>
              </a:rPr>
              <a:t>CONSTRAINT</a:t>
            </a:r>
            <a:r>
              <a:rPr dirty="0" sz="1600" spc="-60" b="1">
                <a:solidFill>
                  <a:srgbClr val="D1350F"/>
                </a:solidFill>
                <a:latin typeface="Courier New"/>
                <a:cs typeface="Courier New"/>
              </a:rPr>
              <a:t> </a:t>
            </a:r>
            <a:r>
              <a:rPr dirty="0" sz="1600" b="1">
                <a:solidFill>
                  <a:srgbClr val="D1350F"/>
                </a:solidFill>
                <a:latin typeface="Courier New"/>
                <a:cs typeface="Courier New"/>
              </a:rPr>
              <a:t>c_emps_dept_id_fk</a:t>
            </a:r>
            <a:r>
              <a:rPr dirty="0" sz="1600" spc="-65" b="1">
                <a:solidFill>
                  <a:srgbClr val="D1350F"/>
                </a:solidFill>
                <a:latin typeface="Courier New"/>
                <a:cs typeface="Courier New"/>
              </a:rPr>
              <a:t> </a:t>
            </a:r>
            <a:r>
              <a:rPr dirty="0" sz="1600" b="1">
                <a:solidFill>
                  <a:srgbClr val="D1350F"/>
                </a:solidFill>
                <a:latin typeface="Courier New"/>
                <a:cs typeface="Courier New"/>
              </a:rPr>
              <a:t>FOREIGN</a:t>
            </a:r>
            <a:r>
              <a:rPr dirty="0" sz="1600" spc="-80" b="1">
                <a:solidFill>
                  <a:srgbClr val="D1350F"/>
                </a:solidFill>
                <a:latin typeface="Courier New"/>
                <a:cs typeface="Courier New"/>
              </a:rPr>
              <a:t> </a:t>
            </a:r>
            <a:r>
              <a:rPr dirty="0" sz="1600" b="1">
                <a:solidFill>
                  <a:srgbClr val="D1350F"/>
                </a:solidFill>
                <a:latin typeface="Courier New"/>
                <a:cs typeface="Courier New"/>
              </a:rPr>
              <a:t>KEY</a:t>
            </a:r>
            <a:r>
              <a:rPr dirty="0" sz="1600" spc="-75" b="1">
                <a:solidFill>
                  <a:srgbClr val="D1350F"/>
                </a:solidFill>
                <a:latin typeface="Courier New"/>
                <a:cs typeface="Courier New"/>
              </a:rPr>
              <a:t> </a:t>
            </a:r>
            <a:r>
              <a:rPr dirty="0" sz="1600" spc="-10" b="1">
                <a:solidFill>
                  <a:srgbClr val="D1350F"/>
                </a:solidFill>
                <a:latin typeface="Courier New"/>
                <a:cs typeface="Courier New"/>
              </a:rPr>
              <a:t>(department_id)</a:t>
            </a:r>
            <a:endParaRPr sz="1600">
              <a:latin typeface="Courier New"/>
              <a:cs typeface="Courier New"/>
            </a:endParaRPr>
          </a:p>
          <a:p>
            <a:pPr marL="3107690">
              <a:lnSpc>
                <a:spcPct val="100000"/>
              </a:lnSpc>
            </a:pPr>
            <a:r>
              <a:rPr dirty="0" sz="1600" b="1">
                <a:solidFill>
                  <a:srgbClr val="D1350F"/>
                </a:solidFill>
                <a:latin typeface="Courier New"/>
                <a:cs typeface="Courier New"/>
              </a:rPr>
              <a:t>REFERENCES</a:t>
            </a:r>
            <a:r>
              <a:rPr dirty="0" sz="1600" spc="-80" b="1">
                <a:solidFill>
                  <a:srgbClr val="D1350F"/>
                </a:solidFill>
                <a:latin typeface="Courier New"/>
                <a:cs typeface="Courier New"/>
              </a:rPr>
              <a:t> </a:t>
            </a:r>
            <a:r>
              <a:rPr dirty="0" sz="1600" spc="-10" b="1">
                <a:solidFill>
                  <a:srgbClr val="D1350F"/>
                </a:solidFill>
                <a:latin typeface="Courier New"/>
                <a:cs typeface="Courier New"/>
              </a:rPr>
              <a:t>departments(department_id)</a:t>
            </a:r>
            <a:r>
              <a:rPr dirty="0" sz="1600" spc="-10" b="1">
                <a:solidFill>
                  <a:srgbClr val="4E3629"/>
                </a:solidFill>
                <a:latin typeface="Courier New"/>
                <a:cs typeface="Courier New"/>
              </a:rPr>
              <a:t>);</a:t>
            </a:r>
            <a:endParaRPr sz="1600">
              <a:latin typeface="Courier New"/>
              <a:cs typeface="Courier New"/>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112" y="385319"/>
            <a:ext cx="8018145" cy="894080"/>
          </a:xfrm>
          <a:prstGeom prst="rect"/>
        </p:spPr>
        <p:txBody>
          <a:bodyPr wrap="square" lIns="0" tIns="64135" rIns="0" bIns="0" rtlCol="0" vert="horz">
            <a:spAutoFit/>
          </a:bodyPr>
          <a:lstStyle/>
          <a:p>
            <a:pPr marL="12700" marR="5080">
              <a:lnSpc>
                <a:spcPts val="3240"/>
              </a:lnSpc>
              <a:spcBef>
                <a:spcPts val="505"/>
              </a:spcBef>
            </a:pPr>
            <a:r>
              <a:rPr dirty="0" sz="3000"/>
              <a:t>ON</a:t>
            </a:r>
            <a:r>
              <a:rPr dirty="0" sz="3000" spc="-65"/>
              <a:t> </a:t>
            </a:r>
            <a:r>
              <a:rPr dirty="0" sz="3000"/>
              <a:t>DELETE</a:t>
            </a:r>
            <a:r>
              <a:rPr dirty="0" sz="3000" spc="-55"/>
              <a:t> </a:t>
            </a:r>
            <a:r>
              <a:rPr dirty="0" sz="3000"/>
              <a:t>CASCADE:</a:t>
            </a:r>
            <a:r>
              <a:rPr dirty="0" sz="3000" spc="-55"/>
              <a:t> </a:t>
            </a:r>
            <a:r>
              <a:rPr dirty="0" sz="3000" spc="-10"/>
              <a:t>Mantenimiento</a:t>
            </a:r>
            <a:r>
              <a:rPr dirty="0" sz="3000" spc="-65"/>
              <a:t> </a:t>
            </a:r>
            <a:r>
              <a:rPr dirty="0" sz="3000"/>
              <a:t>de</a:t>
            </a:r>
            <a:r>
              <a:rPr dirty="0" sz="3000" spc="-50"/>
              <a:t> </a:t>
            </a:r>
            <a:r>
              <a:rPr dirty="0" sz="3000" spc="-10"/>
              <a:t>Integridad Referencial</a:t>
            </a:r>
            <a:endParaRPr sz="3000"/>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2</a:t>
            </a:r>
          </a:p>
          <a:p>
            <a:pPr marL="12700" marR="5080">
              <a:lnSpc>
                <a:spcPts val="919"/>
              </a:lnSpc>
              <a:spcBef>
                <a:spcPts val="60"/>
              </a:spcBef>
            </a:pPr>
            <a:r>
              <a:rPr dirty="0" spc="-10"/>
              <a:t>Restricciones</a:t>
            </a:r>
            <a:r>
              <a:rPr dirty="0" spc="55"/>
              <a:t> </a:t>
            </a:r>
            <a:r>
              <a:rPr dirty="0"/>
              <a:t>PRIMARY</a:t>
            </a:r>
            <a:r>
              <a:rPr dirty="0" spc="-30"/>
              <a:t> </a:t>
            </a:r>
            <a:r>
              <a:rPr dirty="0" spc="-20"/>
              <a:t>KEY,</a:t>
            </a:r>
            <a:r>
              <a:rPr dirty="0" spc="500"/>
              <a:t> </a:t>
            </a:r>
            <a:r>
              <a:rPr dirty="0"/>
              <a:t>FOREIGN</a:t>
            </a:r>
            <a:r>
              <a:rPr dirty="0" spc="-40"/>
              <a:t> </a:t>
            </a:r>
            <a:r>
              <a:rPr dirty="0"/>
              <a:t>KEY</a:t>
            </a:r>
            <a:r>
              <a:rPr dirty="0" spc="-20"/>
              <a:t> </a:t>
            </a:r>
            <a:r>
              <a:rPr dirty="0"/>
              <a:t>y</a:t>
            </a:r>
            <a:r>
              <a:rPr dirty="0" spc="-5"/>
              <a:t> </a:t>
            </a:r>
            <a:r>
              <a:rPr dirty="0" spc="-20"/>
              <a:t>CHECK</a:t>
            </a: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20</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8130540" cy="4497070"/>
          </a:xfrm>
          <a:prstGeom prst="rect">
            <a:avLst/>
          </a:prstGeom>
        </p:spPr>
        <p:txBody>
          <a:bodyPr wrap="square" lIns="0" tIns="59690" rIns="0" bIns="0" rtlCol="0" vert="horz">
            <a:spAutoFit/>
          </a:bodyPr>
          <a:lstStyle/>
          <a:p>
            <a:pPr marL="182880" marR="15875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El</a:t>
            </a:r>
            <a:r>
              <a:rPr dirty="0" sz="2800" spc="-50">
                <a:solidFill>
                  <a:srgbClr val="4E3629"/>
                </a:solidFill>
                <a:latin typeface="Calibri"/>
                <a:cs typeface="Calibri"/>
              </a:rPr>
              <a:t> </a:t>
            </a:r>
            <a:r>
              <a:rPr dirty="0" sz="2800">
                <a:solidFill>
                  <a:srgbClr val="4E3629"/>
                </a:solidFill>
                <a:latin typeface="Calibri"/>
                <a:cs typeface="Calibri"/>
              </a:rPr>
              <a:t>uso</a:t>
            </a:r>
            <a:r>
              <a:rPr dirty="0" sz="2800" spc="-25">
                <a:solidFill>
                  <a:srgbClr val="4E3629"/>
                </a:solidFill>
                <a:latin typeface="Calibri"/>
                <a:cs typeface="Calibri"/>
              </a:rPr>
              <a:t> </a:t>
            </a:r>
            <a:r>
              <a:rPr dirty="0" sz="2800">
                <a:solidFill>
                  <a:srgbClr val="4E3629"/>
                </a:solidFill>
                <a:latin typeface="Calibri"/>
                <a:cs typeface="Calibri"/>
              </a:rPr>
              <a:t>de</a:t>
            </a:r>
            <a:r>
              <a:rPr dirty="0" sz="2800" spc="-30">
                <a:solidFill>
                  <a:srgbClr val="4E3629"/>
                </a:solidFill>
                <a:latin typeface="Calibri"/>
                <a:cs typeface="Calibri"/>
              </a:rPr>
              <a:t> </a:t>
            </a:r>
            <a:r>
              <a:rPr dirty="0" sz="2800">
                <a:solidFill>
                  <a:srgbClr val="4E3629"/>
                </a:solidFill>
                <a:latin typeface="Calibri"/>
                <a:cs typeface="Calibri"/>
              </a:rPr>
              <a:t>la</a:t>
            </a:r>
            <a:r>
              <a:rPr dirty="0" sz="2800" spc="-35">
                <a:solidFill>
                  <a:srgbClr val="4E3629"/>
                </a:solidFill>
                <a:latin typeface="Calibri"/>
                <a:cs typeface="Calibri"/>
              </a:rPr>
              <a:t> </a:t>
            </a:r>
            <a:r>
              <a:rPr dirty="0" sz="2800">
                <a:solidFill>
                  <a:srgbClr val="4E3629"/>
                </a:solidFill>
                <a:latin typeface="Calibri"/>
                <a:cs typeface="Calibri"/>
              </a:rPr>
              <a:t>opción</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ON</a:t>
            </a:r>
            <a:r>
              <a:rPr dirty="0" u="heavy" sz="2800" spc="-3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DELETE</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CASCADE</a:t>
            </a:r>
            <a:r>
              <a:rPr dirty="0" u="heavy" sz="2800" spc="-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al</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definir</a:t>
            </a:r>
            <a:r>
              <a:rPr dirty="0" u="heavy" sz="2800" spc="-2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una</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clave</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ajena</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permite</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supresión</a:t>
            </a:r>
            <a:r>
              <a:rPr dirty="0" u="heavy" sz="2800" spc="-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las</a:t>
            </a:r>
            <a:r>
              <a:rPr dirty="0" u="heavy" sz="2800" spc="-5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filas</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spc="-10">
                <a:solidFill>
                  <a:srgbClr val="4E3629"/>
                </a:solidFill>
                <a:uFill>
                  <a:solidFill>
                    <a:srgbClr val="EC2814"/>
                  </a:solidFill>
                </a:uFill>
                <a:latin typeface="Calibri"/>
                <a:cs typeface="Calibri"/>
              </a:rPr>
              <a:t>dependientes</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tabla</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secundaria</a:t>
            </a:r>
            <a:r>
              <a:rPr dirty="0" u="heavy" sz="2800" spc="-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cuando</a:t>
            </a:r>
            <a:r>
              <a:rPr dirty="0" u="heavy" sz="2800" spc="-4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se</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suprime</a:t>
            </a:r>
            <a:r>
              <a:rPr dirty="0" u="heavy" sz="2800" spc="-1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1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fila</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tabla</a:t>
            </a:r>
            <a:r>
              <a:rPr dirty="0" u="heavy" sz="2800" spc="-3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principal</a:t>
            </a:r>
            <a:endParaRPr sz="2800">
              <a:latin typeface="Calibri"/>
              <a:cs typeface="Calibri"/>
            </a:endParaRPr>
          </a:p>
          <a:p>
            <a:pPr marL="182880" marR="547370" indent="-170815">
              <a:lnSpc>
                <a:spcPts val="3030"/>
              </a:lnSpc>
              <a:spcBef>
                <a:spcPts val="780"/>
              </a:spcBef>
              <a:buClr>
                <a:srgbClr val="D1350F"/>
              </a:buClr>
              <a:buFont typeface="Arial MT"/>
              <a:buChar char="•"/>
              <a:tabLst>
                <a:tab pos="184785" algn="l"/>
              </a:tabLst>
            </a:pPr>
            <a:r>
              <a:rPr dirty="0" sz="2800">
                <a:solidFill>
                  <a:srgbClr val="4E3629"/>
                </a:solidFill>
                <a:latin typeface="Calibri"/>
                <a:cs typeface="Calibri"/>
              </a:rPr>
              <a:t>Si</a:t>
            </a:r>
            <a:r>
              <a:rPr dirty="0" sz="2800" spc="-45">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a:solidFill>
                  <a:srgbClr val="4E3629"/>
                </a:solidFill>
                <a:latin typeface="Calibri"/>
                <a:cs typeface="Calibri"/>
              </a:rPr>
              <a:t>clave</a:t>
            </a:r>
            <a:r>
              <a:rPr dirty="0" sz="2800" spc="-45">
                <a:solidFill>
                  <a:srgbClr val="4E3629"/>
                </a:solidFill>
                <a:latin typeface="Calibri"/>
                <a:cs typeface="Calibri"/>
              </a:rPr>
              <a:t> </a:t>
            </a:r>
            <a:r>
              <a:rPr dirty="0" sz="2800">
                <a:solidFill>
                  <a:srgbClr val="4E3629"/>
                </a:solidFill>
                <a:latin typeface="Calibri"/>
                <a:cs typeface="Calibri"/>
              </a:rPr>
              <a:t>ajena</a:t>
            </a:r>
            <a:r>
              <a:rPr dirty="0" sz="2800" spc="-50">
                <a:solidFill>
                  <a:srgbClr val="4E3629"/>
                </a:solidFill>
                <a:latin typeface="Calibri"/>
                <a:cs typeface="Calibri"/>
              </a:rPr>
              <a:t> </a:t>
            </a:r>
            <a:r>
              <a:rPr dirty="0" sz="2800">
                <a:solidFill>
                  <a:srgbClr val="4E3629"/>
                </a:solidFill>
                <a:latin typeface="Calibri"/>
                <a:cs typeface="Calibri"/>
              </a:rPr>
              <a:t>no</a:t>
            </a:r>
            <a:r>
              <a:rPr dirty="0" sz="2800" spc="-30">
                <a:solidFill>
                  <a:srgbClr val="4E3629"/>
                </a:solidFill>
                <a:latin typeface="Calibri"/>
                <a:cs typeface="Calibri"/>
              </a:rPr>
              <a:t> </a:t>
            </a:r>
            <a:r>
              <a:rPr dirty="0" sz="2800">
                <a:solidFill>
                  <a:srgbClr val="4E3629"/>
                </a:solidFill>
                <a:latin typeface="Calibri"/>
                <a:cs typeface="Calibri"/>
              </a:rPr>
              <a:t>tiene</a:t>
            </a:r>
            <a:r>
              <a:rPr dirty="0" sz="2800" spc="-35">
                <a:solidFill>
                  <a:srgbClr val="4E3629"/>
                </a:solidFill>
                <a:latin typeface="Calibri"/>
                <a:cs typeface="Calibri"/>
              </a:rPr>
              <a:t> </a:t>
            </a:r>
            <a:r>
              <a:rPr dirty="0" sz="2800">
                <a:solidFill>
                  <a:srgbClr val="4E3629"/>
                </a:solidFill>
                <a:latin typeface="Calibri"/>
                <a:cs typeface="Calibri"/>
              </a:rPr>
              <a:t>una</a:t>
            </a:r>
            <a:r>
              <a:rPr dirty="0" sz="2800" spc="-25">
                <a:solidFill>
                  <a:srgbClr val="4E3629"/>
                </a:solidFill>
                <a:latin typeface="Calibri"/>
                <a:cs typeface="Calibri"/>
              </a:rPr>
              <a:t> </a:t>
            </a:r>
            <a:r>
              <a:rPr dirty="0" sz="2800">
                <a:solidFill>
                  <a:srgbClr val="4E3629"/>
                </a:solidFill>
                <a:latin typeface="Calibri"/>
                <a:cs typeface="Calibri"/>
              </a:rPr>
              <a:t>opción</a:t>
            </a:r>
            <a:r>
              <a:rPr dirty="0" sz="2800" spc="-30">
                <a:solidFill>
                  <a:srgbClr val="4E3629"/>
                </a:solidFill>
                <a:latin typeface="Calibri"/>
                <a:cs typeface="Calibri"/>
              </a:rPr>
              <a:t> </a:t>
            </a:r>
            <a:r>
              <a:rPr dirty="0" sz="2800">
                <a:solidFill>
                  <a:srgbClr val="4E3629"/>
                </a:solidFill>
                <a:latin typeface="Calibri"/>
                <a:cs typeface="Calibri"/>
              </a:rPr>
              <a:t>ON</a:t>
            </a:r>
            <a:r>
              <a:rPr dirty="0" sz="2800" spc="-25">
                <a:solidFill>
                  <a:srgbClr val="4E3629"/>
                </a:solidFill>
                <a:latin typeface="Calibri"/>
                <a:cs typeface="Calibri"/>
              </a:rPr>
              <a:t> </a:t>
            </a:r>
            <a:r>
              <a:rPr dirty="0" sz="2800" spc="-10">
                <a:solidFill>
                  <a:srgbClr val="4E3629"/>
                </a:solidFill>
                <a:latin typeface="Calibri"/>
                <a:cs typeface="Calibri"/>
              </a:rPr>
              <a:t>DELETE </a:t>
            </a:r>
            <a:r>
              <a:rPr dirty="0" sz="2800" spc="-10">
                <a:solidFill>
                  <a:srgbClr val="4E3629"/>
                </a:solidFill>
                <a:latin typeface="Calibri"/>
                <a:cs typeface="Calibri"/>
              </a:rPr>
              <a:t>	</a:t>
            </a:r>
            <a:r>
              <a:rPr dirty="0" sz="2800">
                <a:solidFill>
                  <a:srgbClr val="4E3629"/>
                </a:solidFill>
                <a:latin typeface="Calibri"/>
                <a:cs typeface="Calibri"/>
              </a:rPr>
              <a:t>CASCADE,</a:t>
            </a:r>
            <a:r>
              <a:rPr dirty="0" sz="2800" spc="-15">
                <a:solidFill>
                  <a:srgbClr val="4E3629"/>
                </a:solidFill>
                <a:latin typeface="Calibri"/>
                <a:cs typeface="Calibri"/>
              </a:rPr>
              <a:t> </a:t>
            </a:r>
            <a:r>
              <a:rPr dirty="0" sz="2800">
                <a:solidFill>
                  <a:srgbClr val="4E3629"/>
                </a:solidFill>
                <a:latin typeface="Calibri"/>
                <a:cs typeface="Calibri"/>
              </a:rPr>
              <a:t>las</a:t>
            </a:r>
            <a:r>
              <a:rPr dirty="0" sz="2800" spc="-35">
                <a:solidFill>
                  <a:srgbClr val="4E3629"/>
                </a:solidFill>
                <a:latin typeface="Calibri"/>
                <a:cs typeface="Calibri"/>
              </a:rPr>
              <a:t> </a:t>
            </a:r>
            <a:r>
              <a:rPr dirty="0" sz="2800">
                <a:solidFill>
                  <a:srgbClr val="4E3629"/>
                </a:solidFill>
                <a:latin typeface="Calibri"/>
                <a:cs typeface="Calibri"/>
              </a:rPr>
              <a:t>filas</a:t>
            </a:r>
            <a:r>
              <a:rPr dirty="0" sz="2800" spc="-25">
                <a:solidFill>
                  <a:srgbClr val="4E3629"/>
                </a:solidFill>
                <a:latin typeface="Calibri"/>
                <a:cs typeface="Calibri"/>
              </a:rPr>
              <a:t> </a:t>
            </a:r>
            <a:r>
              <a:rPr dirty="0" sz="2800">
                <a:solidFill>
                  <a:srgbClr val="4E3629"/>
                </a:solidFill>
                <a:latin typeface="Calibri"/>
                <a:cs typeface="Calibri"/>
              </a:rPr>
              <a:t>a</a:t>
            </a:r>
            <a:r>
              <a:rPr dirty="0" sz="2800" spc="-45">
                <a:solidFill>
                  <a:srgbClr val="4E3629"/>
                </a:solidFill>
                <a:latin typeface="Calibri"/>
                <a:cs typeface="Calibri"/>
              </a:rPr>
              <a:t> </a:t>
            </a:r>
            <a:r>
              <a:rPr dirty="0" sz="2800">
                <a:solidFill>
                  <a:srgbClr val="4E3629"/>
                </a:solidFill>
                <a:latin typeface="Calibri"/>
                <a:cs typeface="Calibri"/>
              </a:rPr>
              <a:t>las</a:t>
            </a:r>
            <a:r>
              <a:rPr dirty="0" sz="2800" spc="-40">
                <a:solidFill>
                  <a:srgbClr val="4E3629"/>
                </a:solidFill>
                <a:latin typeface="Calibri"/>
                <a:cs typeface="Calibri"/>
              </a:rPr>
              <a:t> </a:t>
            </a:r>
            <a:r>
              <a:rPr dirty="0" sz="2800">
                <a:solidFill>
                  <a:srgbClr val="4E3629"/>
                </a:solidFill>
                <a:latin typeface="Calibri"/>
                <a:cs typeface="Calibri"/>
              </a:rPr>
              <a:t>que</a:t>
            </a:r>
            <a:r>
              <a:rPr dirty="0" sz="2800" spc="-10">
                <a:solidFill>
                  <a:srgbClr val="4E3629"/>
                </a:solidFill>
                <a:latin typeface="Calibri"/>
                <a:cs typeface="Calibri"/>
              </a:rPr>
              <a:t> </a:t>
            </a:r>
            <a:r>
              <a:rPr dirty="0" sz="2800">
                <a:solidFill>
                  <a:srgbClr val="4E3629"/>
                </a:solidFill>
                <a:latin typeface="Calibri"/>
                <a:cs typeface="Calibri"/>
              </a:rPr>
              <a:t>se</a:t>
            </a:r>
            <a:r>
              <a:rPr dirty="0" sz="2800" spc="-35">
                <a:solidFill>
                  <a:srgbClr val="4E3629"/>
                </a:solidFill>
                <a:latin typeface="Calibri"/>
                <a:cs typeface="Calibri"/>
              </a:rPr>
              <a:t> </a:t>
            </a:r>
            <a:r>
              <a:rPr dirty="0" sz="2800">
                <a:solidFill>
                  <a:srgbClr val="4E3629"/>
                </a:solidFill>
                <a:latin typeface="Calibri"/>
                <a:cs typeface="Calibri"/>
              </a:rPr>
              <a:t>hace</a:t>
            </a:r>
            <a:r>
              <a:rPr dirty="0" sz="2800" spc="-25">
                <a:solidFill>
                  <a:srgbClr val="4E3629"/>
                </a:solidFill>
                <a:latin typeface="Calibri"/>
                <a:cs typeface="Calibri"/>
              </a:rPr>
              <a:t> </a:t>
            </a:r>
            <a:r>
              <a:rPr dirty="0" sz="2800" spc="-20">
                <a:solidFill>
                  <a:srgbClr val="4E3629"/>
                </a:solidFill>
                <a:latin typeface="Calibri"/>
                <a:cs typeface="Calibri"/>
              </a:rPr>
              <a:t>referencia</a:t>
            </a:r>
            <a:r>
              <a:rPr dirty="0" sz="2800" spc="-45">
                <a:solidFill>
                  <a:srgbClr val="4E3629"/>
                </a:solidFill>
                <a:latin typeface="Calibri"/>
                <a:cs typeface="Calibri"/>
              </a:rPr>
              <a:t> </a:t>
            </a:r>
            <a:r>
              <a:rPr dirty="0" sz="2800">
                <a:solidFill>
                  <a:srgbClr val="4E3629"/>
                </a:solidFill>
                <a:latin typeface="Calibri"/>
                <a:cs typeface="Calibri"/>
              </a:rPr>
              <a:t>de</a:t>
            </a:r>
            <a:r>
              <a:rPr dirty="0" sz="2800" spc="-20">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a:solidFill>
                  <a:srgbClr val="4E3629"/>
                </a:solidFill>
                <a:latin typeface="Calibri"/>
                <a:cs typeface="Calibri"/>
              </a:rPr>
              <a:t>tabla</a:t>
            </a:r>
            <a:r>
              <a:rPr dirty="0" sz="2800" spc="-55">
                <a:solidFill>
                  <a:srgbClr val="4E3629"/>
                </a:solidFill>
                <a:latin typeface="Calibri"/>
                <a:cs typeface="Calibri"/>
              </a:rPr>
              <a:t> </a:t>
            </a:r>
            <a:r>
              <a:rPr dirty="0" sz="2800">
                <a:solidFill>
                  <a:srgbClr val="4E3629"/>
                </a:solidFill>
                <a:latin typeface="Calibri"/>
                <a:cs typeface="Calibri"/>
              </a:rPr>
              <a:t>principal</a:t>
            </a:r>
            <a:r>
              <a:rPr dirty="0" sz="2800" spc="-25">
                <a:solidFill>
                  <a:srgbClr val="4E3629"/>
                </a:solidFill>
                <a:latin typeface="Calibri"/>
                <a:cs typeface="Calibri"/>
              </a:rPr>
              <a:t> </a:t>
            </a:r>
            <a:r>
              <a:rPr dirty="0" sz="2800">
                <a:solidFill>
                  <a:srgbClr val="4E3629"/>
                </a:solidFill>
                <a:latin typeface="Calibri"/>
                <a:cs typeface="Calibri"/>
              </a:rPr>
              <a:t>no</a:t>
            </a:r>
            <a:r>
              <a:rPr dirty="0" sz="2800" spc="-45">
                <a:solidFill>
                  <a:srgbClr val="4E3629"/>
                </a:solidFill>
                <a:latin typeface="Calibri"/>
                <a:cs typeface="Calibri"/>
              </a:rPr>
              <a:t> </a:t>
            </a:r>
            <a:r>
              <a:rPr dirty="0" sz="2800">
                <a:solidFill>
                  <a:srgbClr val="4E3629"/>
                </a:solidFill>
                <a:latin typeface="Calibri"/>
                <a:cs typeface="Calibri"/>
              </a:rPr>
              <a:t>se</a:t>
            </a:r>
            <a:r>
              <a:rPr dirty="0" sz="2800" spc="-40">
                <a:solidFill>
                  <a:srgbClr val="4E3629"/>
                </a:solidFill>
                <a:latin typeface="Calibri"/>
                <a:cs typeface="Calibri"/>
              </a:rPr>
              <a:t> </a:t>
            </a:r>
            <a:r>
              <a:rPr dirty="0" sz="2800">
                <a:solidFill>
                  <a:srgbClr val="4E3629"/>
                </a:solidFill>
                <a:latin typeface="Calibri"/>
                <a:cs typeface="Calibri"/>
              </a:rPr>
              <a:t>pueden</a:t>
            </a:r>
            <a:r>
              <a:rPr dirty="0" sz="2800" spc="-25">
                <a:solidFill>
                  <a:srgbClr val="4E3629"/>
                </a:solidFill>
                <a:latin typeface="Calibri"/>
                <a:cs typeface="Calibri"/>
              </a:rPr>
              <a:t> </a:t>
            </a:r>
            <a:r>
              <a:rPr dirty="0" sz="2800" spc="-10">
                <a:solidFill>
                  <a:srgbClr val="4E3629"/>
                </a:solidFill>
                <a:latin typeface="Calibri"/>
                <a:cs typeface="Calibri"/>
              </a:rPr>
              <a:t>suprimir</a:t>
            </a:r>
            <a:endParaRPr sz="2800">
              <a:latin typeface="Calibri"/>
              <a:cs typeface="Calibri"/>
            </a:endParaRPr>
          </a:p>
          <a:p>
            <a:pPr marL="182880" marR="5080" indent="-170815">
              <a:lnSpc>
                <a:spcPts val="3030"/>
              </a:lnSpc>
              <a:spcBef>
                <a:spcPts val="785"/>
              </a:spcBef>
              <a:buClr>
                <a:srgbClr val="D1350F"/>
              </a:buClr>
              <a:buFont typeface="Arial MT"/>
              <a:buChar char="•"/>
              <a:tabLst>
                <a:tab pos="184785" algn="l"/>
              </a:tabLst>
            </a:pPr>
            <a:r>
              <a:rPr dirty="0" sz="2800">
                <a:solidFill>
                  <a:srgbClr val="4E3629"/>
                </a:solidFill>
                <a:latin typeface="Calibri"/>
                <a:cs typeface="Calibri"/>
              </a:rPr>
              <a:t>Es</a:t>
            </a:r>
            <a:r>
              <a:rPr dirty="0" sz="2800" spc="-50">
                <a:solidFill>
                  <a:srgbClr val="4E3629"/>
                </a:solidFill>
                <a:latin typeface="Calibri"/>
                <a:cs typeface="Calibri"/>
              </a:rPr>
              <a:t> </a:t>
            </a:r>
            <a:r>
              <a:rPr dirty="0" sz="2800" spc="-25">
                <a:solidFill>
                  <a:srgbClr val="4E3629"/>
                </a:solidFill>
                <a:latin typeface="Calibri"/>
                <a:cs typeface="Calibri"/>
              </a:rPr>
              <a:t>decir,</a:t>
            </a:r>
            <a:r>
              <a:rPr dirty="0" sz="2800" spc="-30">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spc="-10">
                <a:solidFill>
                  <a:srgbClr val="4E3629"/>
                </a:solidFill>
                <a:latin typeface="Calibri"/>
                <a:cs typeface="Calibri"/>
              </a:rPr>
              <a:t>restricción</a:t>
            </a:r>
            <a:r>
              <a:rPr dirty="0" sz="2800" spc="-25">
                <a:solidFill>
                  <a:srgbClr val="4E3629"/>
                </a:solidFill>
                <a:latin typeface="Calibri"/>
                <a:cs typeface="Calibri"/>
              </a:rPr>
              <a:t> </a:t>
            </a:r>
            <a:r>
              <a:rPr dirty="0" sz="2800">
                <a:solidFill>
                  <a:srgbClr val="4E3629"/>
                </a:solidFill>
                <a:latin typeface="Calibri"/>
                <a:cs typeface="Calibri"/>
              </a:rPr>
              <a:t>FOREIGN</a:t>
            </a:r>
            <a:r>
              <a:rPr dirty="0" sz="2800" spc="-50">
                <a:solidFill>
                  <a:srgbClr val="4E3629"/>
                </a:solidFill>
                <a:latin typeface="Calibri"/>
                <a:cs typeface="Calibri"/>
              </a:rPr>
              <a:t> </a:t>
            </a:r>
            <a:r>
              <a:rPr dirty="0" sz="2800">
                <a:solidFill>
                  <a:srgbClr val="4E3629"/>
                </a:solidFill>
                <a:latin typeface="Calibri"/>
                <a:cs typeface="Calibri"/>
              </a:rPr>
              <a:t>KEY</a:t>
            </a:r>
            <a:r>
              <a:rPr dirty="0" sz="2800" spc="-55">
                <a:solidFill>
                  <a:srgbClr val="4E3629"/>
                </a:solidFill>
                <a:latin typeface="Calibri"/>
                <a:cs typeface="Calibri"/>
              </a:rPr>
              <a:t> </a:t>
            </a:r>
            <a:r>
              <a:rPr dirty="0" sz="2800">
                <a:solidFill>
                  <a:srgbClr val="4E3629"/>
                </a:solidFill>
                <a:latin typeface="Calibri"/>
                <a:cs typeface="Calibri"/>
              </a:rPr>
              <a:t>de</a:t>
            </a:r>
            <a:r>
              <a:rPr dirty="0" sz="2800" spc="-35">
                <a:solidFill>
                  <a:srgbClr val="4E3629"/>
                </a:solidFill>
                <a:latin typeface="Calibri"/>
                <a:cs typeface="Calibri"/>
              </a:rPr>
              <a:t> </a:t>
            </a:r>
            <a:r>
              <a:rPr dirty="0" sz="2800">
                <a:solidFill>
                  <a:srgbClr val="4E3629"/>
                </a:solidFill>
                <a:latin typeface="Calibri"/>
                <a:cs typeface="Calibri"/>
              </a:rPr>
              <a:t>la</a:t>
            </a:r>
            <a:r>
              <a:rPr dirty="0" sz="2800" spc="-45">
                <a:solidFill>
                  <a:srgbClr val="4E3629"/>
                </a:solidFill>
                <a:latin typeface="Calibri"/>
                <a:cs typeface="Calibri"/>
              </a:rPr>
              <a:t> </a:t>
            </a:r>
            <a:r>
              <a:rPr dirty="0" sz="2800" spc="-10">
                <a:solidFill>
                  <a:srgbClr val="4E3629"/>
                </a:solidFill>
                <a:latin typeface="Calibri"/>
                <a:cs typeface="Calibri"/>
              </a:rPr>
              <a:t>tabla </a:t>
            </a:r>
            <a:r>
              <a:rPr dirty="0" sz="2800" spc="-10">
                <a:solidFill>
                  <a:srgbClr val="4E3629"/>
                </a:solidFill>
                <a:latin typeface="Calibri"/>
                <a:cs typeface="Calibri"/>
              </a:rPr>
              <a:t>	</a:t>
            </a:r>
            <a:r>
              <a:rPr dirty="0" sz="2800">
                <a:solidFill>
                  <a:srgbClr val="4E3629"/>
                </a:solidFill>
                <a:latin typeface="Calibri"/>
                <a:cs typeface="Calibri"/>
              </a:rPr>
              <a:t>secundaria</a:t>
            </a:r>
            <a:r>
              <a:rPr dirty="0" sz="2800" spc="-35">
                <a:solidFill>
                  <a:srgbClr val="4E3629"/>
                </a:solidFill>
                <a:latin typeface="Calibri"/>
                <a:cs typeface="Calibri"/>
              </a:rPr>
              <a:t> </a:t>
            </a:r>
            <a:r>
              <a:rPr dirty="0" sz="2800">
                <a:solidFill>
                  <a:srgbClr val="4E3629"/>
                </a:solidFill>
                <a:latin typeface="Calibri"/>
                <a:cs typeface="Calibri"/>
              </a:rPr>
              <a:t>incluye</a:t>
            </a:r>
            <a:r>
              <a:rPr dirty="0" sz="2800" spc="-30">
                <a:solidFill>
                  <a:srgbClr val="4E3629"/>
                </a:solidFill>
                <a:latin typeface="Calibri"/>
                <a:cs typeface="Calibri"/>
              </a:rPr>
              <a:t> </a:t>
            </a:r>
            <a:r>
              <a:rPr dirty="0" sz="2800">
                <a:solidFill>
                  <a:srgbClr val="4E3629"/>
                </a:solidFill>
                <a:latin typeface="Calibri"/>
                <a:cs typeface="Calibri"/>
              </a:rPr>
              <a:t>el</a:t>
            </a:r>
            <a:r>
              <a:rPr dirty="0" sz="2800" spc="-75">
                <a:solidFill>
                  <a:srgbClr val="4E3629"/>
                </a:solidFill>
                <a:latin typeface="Calibri"/>
                <a:cs typeface="Calibri"/>
              </a:rPr>
              <a:t> </a:t>
            </a:r>
            <a:r>
              <a:rPr dirty="0" sz="2800">
                <a:solidFill>
                  <a:srgbClr val="4E3629"/>
                </a:solidFill>
                <a:latin typeface="Calibri"/>
                <a:cs typeface="Calibri"/>
              </a:rPr>
              <a:t>permiso</a:t>
            </a:r>
            <a:r>
              <a:rPr dirty="0" sz="2800" spc="-25">
                <a:solidFill>
                  <a:srgbClr val="4E3629"/>
                </a:solidFill>
                <a:latin typeface="Calibri"/>
                <a:cs typeface="Calibri"/>
              </a:rPr>
              <a:t> </a:t>
            </a:r>
            <a:r>
              <a:rPr dirty="0" sz="2800">
                <a:solidFill>
                  <a:srgbClr val="4E3629"/>
                </a:solidFill>
                <a:latin typeface="Calibri"/>
                <a:cs typeface="Calibri"/>
              </a:rPr>
              <a:t>ON</a:t>
            </a:r>
            <a:r>
              <a:rPr dirty="0" sz="2800" spc="-55">
                <a:solidFill>
                  <a:srgbClr val="4E3629"/>
                </a:solidFill>
                <a:latin typeface="Calibri"/>
                <a:cs typeface="Calibri"/>
              </a:rPr>
              <a:t> </a:t>
            </a:r>
            <a:r>
              <a:rPr dirty="0" sz="2800">
                <a:solidFill>
                  <a:srgbClr val="4E3629"/>
                </a:solidFill>
                <a:latin typeface="Calibri"/>
                <a:cs typeface="Calibri"/>
              </a:rPr>
              <a:t>DELETE</a:t>
            </a:r>
            <a:r>
              <a:rPr dirty="0" sz="2800" spc="-70">
                <a:solidFill>
                  <a:srgbClr val="4E3629"/>
                </a:solidFill>
                <a:latin typeface="Calibri"/>
                <a:cs typeface="Calibri"/>
              </a:rPr>
              <a:t> </a:t>
            </a:r>
            <a:r>
              <a:rPr dirty="0" sz="2800" spc="-10">
                <a:solidFill>
                  <a:srgbClr val="4E3629"/>
                </a:solidFill>
                <a:latin typeface="Calibri"/>
                <a:cs typeface="Calibri"/>
              </a:rPr>
              <a:t>CASCADE </a:t>
            </a:r>
            <a:r>
              <a:rPr dirty="0" sz="2800" spc="-10">
                <a:solidFill>
                  <a:srgbClr val="4E3629"/>
                </a:solidFill>
                <a:latin typeface="Calibri"/>
                <a:cs typeface="Calibri"/>
              </a:rPr>
              <a:t>	</a:t>
            </a:r>
            <a:r>
              <a:rPr dirty="0" sz="2800">
                <a:solidFill>
                  <a:srgbClr val="4E3629"/>
                </a:solidFill>
                <a:latin typeface="Calibri"/>
                <a:cs typeface="Calibri"/>
              </a:rPr>
              <a:t>que</a:t>
            </a:r>
            <a:r>
              <a:rPr dirty="0" sz="2800" spc="-35">
                <a:solidFill>
                  <a:srgbClr val="4E3629"/>
                </a:solidFill>
                <a:latin typeface="Calibri"/>
                <a:cs typeface="Calibri"/>
              </a:rPr>
              <a:t> </a:t>
            </a:r>
            <a:r>
              <a:rPr dirty="0" sz="2800">
                <a:solidFill>
                  <a:srgbClr val="4E3629"/>
                </a:solidFill>
                <a:latin typeface="Calibri"/>
                <a:cs typeface="Calibri"/>
              </a:rPr>
              <a:t>permite</a:t>
            </a:r>
            <a:r>
              <a:rPr dirty="0" sz="2800" spc="-55">
                <a:solidFill>
                  <a:srgbClr val="4E3629"/>
                </a:solidFill>
                <a:latin typeface="Calibri"/>
                <a:cs typeface="Calibri"/>
              </a:rPr>
              <a:t> </a:t>
            </a:r>
            <a:r>
              <a:rPr dirty="0" sz="2800">
                <a:solidFill>
                  <a:srgbClr val="4E3629"/>
                </a:solidFill>
                <a:latin typeface="Calibri"/>
                <a:cs typeface="Calibri"/>
              </a:rPr>
              <a:t>a</a:t>
            </a:r>
            <a:r>
              <a:rPr dirty="0" sz="2800" spc="-50">
                <a:solidFill>
                  <a:srgbClr val="4E3629"/>
                </a:solidFill>
                <a:latin typeface="Calibri"/>
                <a:cs typeface="Calibri"/>
              </a:rPr>
              <a:t> </a:t>
            </a:r>
            <a:r>
              <a:rPr dirty="0" sz="2800">
                <a:solidFill>
                  <a:srgbClr val="4E3629"/>
                </a:solidFill>
                <a:latin typeface="Calibri"/>
                <a:cs typeface="Calibri"/>
              </a:rPr>
              <a:t>su</a:t>
            </a:r>
            <a:r>
              <a:rPr dirty="0" sz="2800" spc="-40">
                <a:solidFill>
                  <a:srgbClr val="4E3629"/>
                </a:solidFill>
                <a:latin typeface="Calibri"/>
                <a:cs typeface="Calibri"/>
              </a:rPr>
              <a:t> </a:t>
            </a:r>
            <a:r>
              <a:rPr dirty="0" sz="2800">
                <a:solidFill>
                  <a:srgbClr val="4E3629"/>
                </a:solidFill>
                <a:latin typeface="Calibri"/>
                <a:cs typeface="Calibri"/>
              </a:rPr>
              <a:t>principal</a:t>
            </a:r>
            <a:r>
              <a:rPr dirty="0" sz="2800" spc="-30">
                <a:solidFill>
                  <a:srgbClr val="4E3629"/>
                </a:solidFill>
                <a:latin typeface="Calibri"/>
                <a:cs typeface="Calibri"/>
              </a:rPr>
              <a:t> </a:t>
            </a:r>
            <a:r>
              <a:rPr dirty="0" sz="2800">
                <a:solidFill>
                  <a:srgbClr val="4E3629"/>
                </a:solidFill>
                <a:latin typeface="Calibri"/>
                <a:cs typeface="Calibri"/>
              </a:rPr>
              <a:t>suprimir</a:t>
            </a:r>
            <a:r>
              <a:rPr dirty="0" sz="2800" spc="-20">
                <a:solidFill>
                  <a:srgbClr val="4E3629"/>
                </a:solidFill>
                <a:latin typeface="Calibri"/>
                <a:cs typeface="Calibri"/>
              </a:rPr>
              <a:t> </a:t>
            </a:r>
            <a:r>
              <a:rPr dirty="0" sz="2800">
                <a:solidFill>
                  <a:srgbClr val="4E3629"/>
                </a:solidFill>
                <a:latin typeface="Calibri"/>
                <a:cs typeface="Calibri"/>
              </a:rPr>
              <a:t>las</a:t>
            </a:r>
            <a:r>
              <a:rPr dirty="0" sz="2800" spc="-50">
                <a:solidFill>
                  <a:srgbClr val="4E3629"/>
                </a:solidFill>
                <a:latin typeface="Calibri"/>
                <a:cs typeface="Calibri"/>
              </a:rPr>
              <a:t> </a:t>
            </a:r>
            <a:r>
              <a:rPr dirty="0" sz="2800">
                <a:solidFill>
                  <a:srgbClr val="4E3629"/>
                </a:solidFill>
                <a:latin typeface="Calibri"/>
                <a:cs typeface="Calibri"/>
              </a:rPr>
              <a:t>filas</a:t>
            </a:r>
            <a:r>
              <a:rPr dirty="0" sz="2800" spc="-60">
                <a:solidFill>
                  <a:srgbClr val="4E3629"/>
                </a:solidFill>
                <a:latin typeface="Calibri"/>
                <a:cs typeface="Calibri"/>
              </a:rPr>
              <a:t> </a:t>
            </a:r>
            <a:r>
              <a:rPr dirty="0" sz="2800">
                <a:solidFill>
                  <a:srgbClr val="4E3629"/>
                </a:solidFill>
                <a:latin typeface="Calibri"/>
                <a:cs typeface="Calibri"/>
              </a:rPr>
              <a:t>a</a:t>
            </a:r>
            <a:r>
              <a:rPr dirty="0" sz="2800" spc="-50">
                <a:solidFill>
                  <a:srgbClr val="4E3629"/>
                </a:solidFill>
                <a:latin typeface="Calibri"/>
                <a:cs typeface="Calibri"/>
              </a:rPr>
              <a:t> </a:t>
            </a:r>
            <a:r>
              <a:rPr dirty="0" sz="2800">
                <a:solidFill>
                  <a:srgbClr val="4E3629"/>
                </a:solidFill>
                <a:latin typeface="Calibri"/>
                <a:cs typeface="Calibri"/>
              </a:rPr>
              <a:t>las</a:t>
            </a:r>
            <a:r>
              <a:rPr dirty="0" sz="2800" spc="-60">
                <a:solidFill>
                  <a:srgbClr val="4E3629"/>
                </a:solidFill>
                <a:latin typeface="Calibri"/>
                <a:cs typeface="Calibri"/>
              </a:rPr>
              <a:t> </a:t>
            </a:r>
            <a:r>
              <a:rPr dirty="0" sz="2800">
                <a:solidFill>
                  <a:srgbClr val="4E3629"/>
                </a:solidFill>
                <a:latin typeface="Calibri"/>
                <a:cs typeface="Calibri"/>
              </a:rPr>
              <a:t>que</a:t>
            </a:r>
            <a:r>
              <a:rPr dirty="0" sz="2800" spc="-30">
                <a:solidFill>
                  <a:srgbClr val="4E3629"/>
                </a:solidFill>
                <a:latin typeface="Calibri"/>
                <a:cs typeface="Calibri"/>
              </a:rPr>
              <a:t> </a:t>
            </a:r>
            <a:r>
              <a:rPr dirty="0" sz="2800" spc="-25">
                <a:solidFill>
                  <a:srgbClr val="4E3629"/>
                </a:solidFill>
                <a:latin typeface="Calibri"/>
                <a:cs typeface="Calibri"/>
              </a:rPr>
              <a:t>se </a:t>
            </a:r>
            <a:r>
              <a:rPr dirty="0" sz="2800" spc="-25">
                <a:solidFill>
                  <a:srgbClr val="4E3629"/>
                </a:solidFill>
                <a:latin typeface="Calibri"/>
                <a:cs typeface="Calibri"/>
              </a:rPr>
              <a:t>	</a:t>
            </a:r>
            <a:r>
              <a:rPr dirty="0" sz="2800">
                <a:solidFill>
                  <a:srgbClr val="4E3629"/>
                </a:solidFill>
                <a:latin typeface="Calibri"/>
                <a:cs typeface="Calibri"/>
              </a:rPr>
              <a:t>hace</a:t>
            </a:r>
            <a:r>
              <a:rPr dirty="0" sz="2800" spc="-45">
                <a:solidFill>
                  <a:srgbClr val="4E3629"/>
                </a:solidFill>
                <a:latin typeface="Calibri"/>
                <a:cs typeface="Calibri"/>
              </a:rPr>
              <a:t> </a:t>
            </a:r>
            <a:r>
              <a:rPr dirty="0" sz="2800" spc="-10">
                <a:solidFill>
                  <a:srgbClr val="4E3629"/>
                </a:solidFill>
                <a:latin typeface="Calibri"/>
                <a:cs typeface="Calibri"/>
              </a:rPr>
              <a:t>referencia</a:t>
            </a:r>
            <a:endParaRPr sz="2800">
              <a:latin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a:t>Sintaxis</a:t>
            </a:r>
            <a:r>
              <a:rPr dirty="0" spc="-65"/>
              <a:t> </a:t>
            </a:r>
            <a:r>
              <a:rPr dirty="0"/>
              <a:t>de</a:t>
            </a:r>
            <a:r>
              <a:rPr dirty="0" spc="-70"/>
              <a:t> </a:t>
            </a:r>
            <a:r>
              <a:rPr dirty="0"/>
              <a:t>ON</a:t>
            </a:r>
            <a:r>
              <a:rPr dirty="0" spc="-75"/>
              <a:t> </a:t>
            </a:r>
            <a:r>
              <a:rPr dirty="0"/>
              <a:t>DELETE</a:t>
            </a:r>
            <a:r>
              <a:rPr dirty="0" spc="-75"/>
              <a:t> </a:t>
            </a:r>
            <a:r>
              <a:rPr dirty="0" spc="-10"/>
              <a:t>CASCADE</a:t>
            </a:r>
          </a:p>
        </p:txBody>
      </p:sp>
      <p:sp>
        <p:nvSpPr>
          <p:cNvPr id="6" name="object 6"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2</a:t>
            </a:r>
          </a:p>
          <a:p>
            <a:pPr marL="12700" marR="5080">
              <a:lnSpc>
                <a:spcPts val="919"/>
              </a:lnSpc>
              <a:spcBef>
                <a:spcPts val="60"/>
              </a:spcBef>
            </a:pPr>
            <a:r>
              <a:rPr dirty="0" spc="-10"/>
              <a:t>Restricciones</a:t>
            </a:r>
            <a:r>
              <a:rPr dirty="0" spc="55"/>
              <a:t> </a:t>
            </a:r>
            <a:r>
              <a:rPr dirty="0"/>
              <a:t>PRIMARY</a:t>
            </a:r>
            <a:r>
              <a:rPr dirty="0" spc="-30"/>
              <a:t> </a:t>
            </a:r>
            <a:r>
              <a:rPr dirty="0" spc="-20"/>
              <a:t>KEY,</a:t>
            </a:r>
            <a:r>
              <a:rPr dirty="0" spc="500"/>
              <a:t> </a:t>
            </a:r>
            <a:r>
              <a:rPr dirty="0"/>
              <a:t>FOREIGN</a:t>
            </a:r>
            <a:r>
              <a:rPr dirty="0" spc="-40"/>
              <a:t> </a:t>
            </a:r>
            <a:r>
              <a:rPr dirty="0"/>
              <a:t>KEY</a:t>
            </a:r>
            <a:r>
              <a:rPr dirty="0" spc="-20"/>
              <a:t> </a:t>
            </a:r>
            <a:r>
              <a:rPr dirty="0"/>
              <a:t>y</a:t>
            </a:r>
            <a:r>
              <a:rPr dirty="0" spc="-5"/>
              <a:t> </a:t>
            </a:r>
            <a:r>
              <a:rPr dirty="0" spc="-20"/>
              <a:t>CHECK</a:t>
            </a:r>
          </a:p>
        </p:txBody>
      </p:sp>
      <p:sp>
        <p:nvSpPr>
          <p:cNvPr id="7" name="object 7"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24</a:t>
            </a:r>
          </a:p>
        </p:txBody>
      </p:sp>
      <p:sp>
        <p:nvSpPr>
          <p:cNvPr id="8" name="object 8"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5816600" cy="452120"/>
          </a:xfrm>
          <a:prstGeom prst="rect">
            <a:avLst/>
          </a:prstGeom>
        </p:spPr>
        <p:txBody>
          <a:bodyPr wrap="square" lIns="0" tIns="12065" rIns="0" bIns="0" rtlCol="0" vert="horz">
            <a:spAutoFit/>
          </a:bodyPr>
          <a:lstStyle/>
          <a:p>
            <a:pPr marL="183515" indent="-170815">
              <a:lnSpc>
                <a:spcPct val="100000"/>
              </a:lnSpc>
              <a:spcBef>
                <a:spcPts val="95"/>
              </a:spcBef>
              <a:buClr>
                <a:srgbClr val="D1350F"/>
              </a:buClr>
              <a:buFont typeface="Arial MT"/>
              <a:buChar char="•"/>
              <a:tabLst>
                <a:tab pos="183515" algn="l"/>
              </a:tabLst>
            </a:pPr>
            <a:r>
              <a:rPr dirty="0" sz="2800" spc="-25">
                <a:solidFill>
                  <a:srgbClr val="4E3629"/>
                </a:solidFill>
                <a:latin typeface="Calibri"/>
                <a:cs typeface="Calibri"/>
              </a:rPr>
              <a:t>Tabla</a:t>
            </a:r>
            <a:r>
              <a:rPr dirty="0" sz="2800" spc="-65">
                <a:solidFill>
                  <a:srgbClr val="4E3629"/>
                </a:solidFill>
                <a:latin typeface="Calibri"/>
                <a:cs typeface="Calibri"/>
              </a:rPr>
              <a:t> </a:t>
            </a:r>
            <a:r>
              <a:rPr dirty="0" sz="2800">
                <a:solidFill>
                  <a:srgbClr val="4E3629"/>
                </a:solidFill>
                <a:latin typeface="Calibri"/>
                <a:cs typeface="Calibri"/>
              </a:rPr>
              <a:t>creada</a:t>
            </a:r>
            <a:r>
              <a:rPr dirty="0" sz="2800" spc="-50">
                <a:solidFill>
                  <a:srgbClr val="4E3629"/>
                </a:solidFill>
                <a:latin typeface="Calibri"/>
                <a:cs typeface="Calibri"/>
              </a:rPr>
              <a:t> </a:t>
            </a:r>
            <a:r>
              <a:rPr dirty="0" sz="2800">
                <a:solidFill>
                  <a:srgbClr val="4E3629"/>
                </a:solidFill>
                <a:latin typeface="Calibri"/>
                <a:cs typeface="Calibri"/>
              </a:rPr>
              <a:t>con</a:t>
            </a:r>
            <a:r>
              <a:rPr dirty="0" sz="2800" spc="-45">
                <a:solidFill>
                  <a:srgbClr val="4E3629"/>
                </a:solidFill>
                <a:latin typeface="Calibri"/>
                <a:cs typeface="Calibri"/>
              </a:rPr>
              <a:t> </a:t>
            </a:r>
            <a:r>
              <a:rPr dirty="0" sz="2800">
                <a:solidFill>
                  <a:srgbClr val="4E3629"/>
                </a:solidFill>
                <a:latin typeface="Calibri"/>
                <a:cs typeface="Calibri"/>
              </a:rPr>
              <a:t>ON</a:t>
            </a:r>
            <a:r>
              <a:rPr dirty="0" sz="2800" spc="-50">
                <a:solidFill>
                  <a:srgbClr val="4E3629"/>
                </a:solidFill>
                <a:latin typeface="Calibri"/>
                <a:cs typeface="Calibri"/>
              </a:rPr>
              <a:t> </a:t>
            </a:r>
            <a:r>
              <a:rPr dirty="0" sz="2800">
                <a:solidFill>
                  <a:srgbClr val="4E3629"/>
                </a:solidFill>
                <a:latin typeface="Calibri"/>
                <a:cs typeface="Calibri"/>
              </a:rPr>
              <a:t>DELETE</a:t>
            </a:r>
            <a:r>
              <a:rPr dirty="0" sz="2800" spc="-65">
                <a:solidFill>
                  <a:srgbClr val="4E3629"/>
                </a:solidFill>
                <a:latin typeface="Calibri"/>
                <a:cs typeface="Calibri"/>
              </a:rPr>
              <a:t> </a:t>
            </a:r>
            <a:r>
              <a:rPr dirty="0" sz="2800" spc="-10">
                <a:solidFill>
                  <a:srgbClr val="4E3629"/>
                </a:solidFill>
                <a:latin typeface="Calibri"/>
                <a:cs typeface="Calibri"/>
              </a:rPr>
              <a:t>CASCADE:</a:t>
            </a:r>
            <a:endParaRPr sz="2800">
              <a:latin typeface="Calibri"/>
              <a:cs typeface="Calibri"/>
            </a:endParaRPr>
          </a:p>
        </p:txBody>
      </p:sp>
      <p:sp>
        <p:nvSpPr>
          <p:cNvPr id="4" name="object 4" descr=""/>
          <p:cNvSpPr txBox="1"/>
          <p:nvPr/>
        </p:nvSpPr>
        <p:spPr>
          <a:xfrm>
            <a:off x="483552" y="3844673"/>
            <a:ext cx="7804784" cy="2088514"/>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El</a:t>
            </a:r>
            <a:r>
              <a:rPr dirty="0" sz="2800" spc="-70">
                <a:solidFill>
                  <a:srgbClr val="4E3629"/>
                </a:solidFill>
                <a:latin typeface="Calibri"/>
                <a:cs typeface="Calibri"/>
              </a:rPr>
              <a:t> </a:t>
            </a:r>
            <a:r>
              <a:rPr dirty="0" sz="2800" spc="-10">
                <a:solidFill>
                  <a:srgbClr val="4E3629"/>
                </a:solidFill>
                <a:latin typeface="Calibri"/>
                <a:cs typeface="Calibri"/>
              </a:rPr>
              <a:t>intento</a:t>
            </a:r>
            <a:r>
              <a:rPr dirty="0" sz="2800" spc="-5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supresión</a:t>
            </a:r>
            <a:r>
              <a:rPr dirty="0" sz="2800" spc="-25">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spc="-10">
                <a:solidFill>
                  <a:srgbClr val="4E3629"/>
                </a:solidFill>
                <a:latin typeface="Calibri"/>
                <a:cs typeface="Calibri"/>
              </a:rPr>
              <a:t>department_id</a:t>
            </a:r>
            <a:r>
              <a:rPr dirty="0" sz="2800" spc="-20">
                <a:solidFill>
                  <a:srgbClr val="4E3629"/>
                </a:solidFill>
                <a:latin typeface="Calibri"/>
                <a:cs typeface="Calibri"/>
              </a:rPr>
              <a:t> </a:t>
            </a:r>
            <a:r>
              <a:rPr dirty="0" sz="2800">
                <a:solidFill>
                  <a:srgbClr val="4E3629"/>
                </a:solidFill>
                <a:latin typeface="Calibri"/>
                <a:cs typeface="Calibri"/>
              </a:rPr>
              <a:t>110</a:t>
            </a:r>
            <a:r>
              <a:rPr dirty="0" sz="2800" spc="-40">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a:solidFill>
                  <a:srgbClr val="4E3629"/>
                </a:solidFill>
                <a:latin typeface="Calibri"/>
                <a:cs typeface="Calibri"/>
              </a:rPr>
              <a:t>tabla</a:t>
            </a:r>
            <a:r>
              <a:rPr dirty="0" sz="2800" spc="-65">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spc="-10">
                <a:solidFill>
                  <a:srgbClr val="4E3629"/>
                </a:solidFill>
                <a:latin typeface="Calibri"/>
                <a:cs typeface="Calibri"/>
              </a:rPr>
              <a:t>departamentos</a:t>
            </a:r>
            <a:r>
              <a:rPr dirty="0" sz="2800" spc="-40">
                <a:solidFill>
                  <a:srgbClr val="4E3629"/>
                </a:solidFill>
                <a:latin typeface="Calibri"/>
                <a:cs typeface="Calibri"/>
              </a:rPr>
              <a:t> </a:t>
            </a:r>
            <a:r>
              <a:rPr dirty="0" sz="2800">
                <a:solidFill>
                  <a:srgbClr val="4E3629"/>
                </a:solidFill>
                <a:latin typeface="Calibri"/>
                <a:cs typeface="Calibri"/>
              </a:rPr>
              <a:t>se</a:t>
            </a:r>
            <a:r>
              <a:rPr dirty="0" sz="2800" spc="-55">
                <a:solidFill>
                  <a:srgbClr val="4E3629"/>
                </a:solidFill>
                <a:latin typeface="Calibri"/>
                <a:cs typeface="Calibri"/>
              </a:rPr>
              <a:t> </a:t>
            </a:r>
            <a:r>
              <a:rPr dirty="0" sz="2800" spc="-10">
                <a:solidFill>
                  <a:srgbClr val="4E3629"/>
                </a:solidFill>
                <a:latin typeface="Calibri"/>
                <a:cs typeface="Calibri"/>
              </a:rPr>
              <a:t>realizará</a:t>
            </a:r>
            <a:r>
              <a:rPr dirty="0" sz="2800" spc="-70">
                <a:solidFill>
                  <a:srgbClr val="4E3629"/>
                </a:solidFill>
                <a:latin typeface="Calibri"/>
                <a:cs typeface="Calibri"/>
              </a:rPr>
              <a:t> </a:t>
            </a:r>
            <a:r>
              <a:rPr dirty="0" sz="2800" spc="-20">
                <a:solidFill>
                  <a:srgbClr val="4E3629"/>
                </a:solidFill>
                <a:latin typeface="Calibri"/>
                <a:cs typeface="Calibri"/>
              </a:rPr>
              <a:t>correctamente</a:t>
            </a:r>
            <a:r>
              <a:rPr dirty="0" sz="2800" spc="-75">
                <a:solidFill>
                  <a:srgbClr val="4E3629"/>
                </a:solidFill>
                <a:latin typeface="Calibri"/>
                <a:cs typeface="Calibri"/>
              </a:rPr>
              <a:t> </a:t>
            </a:r>
            <a:r>
              <a:rPr dirty="0" sz="2800" spc="-50">
                <a:solidFill>
                  <a:srgbClr val="4E3629"/>
                </a:solidFill>
                <a:latin typeface="Calibri"/>
                <a:cs typeface="Calibri"/>
              </a:rPr>
              <a:t>y </a:t>
            </a:r>
            <a:r>
              <a:rPr dirty="0" sz="2800" spc="-50">
                <a:solidFill>
                  <a:srgbClr val="4E3629"/>
                </a:solidFill>
                <a:latin typeface="Calibri"/>
                <a:cs typeface="Calibri"/>
              </a:rPr>
              <a:t>	</a:t>
            </a:r>
            <a:r>
              <a:rPr dirty="0" sz="2800">
                <a:solidFill>
                  <a:srgbClr val="4E3629"/>
                </a:solidFill>
                <a:latin typeface="Calibri"/>
                <a:cs typeface="Calibri"/>
              </a:rPr>
              <a:t>las</a:t>
            </a:r>
            <a:r>
              <a:rPr dirty="0" sz="2800" spc="-45">
                <a:solidFill>
                  <a:srgbClr val="4E3629"/>
                </a:solidFill>
                <a:latin typeface="Calibri"/>
                <a:cs typeface="Calibri"/>
              </a:rPr>
              <a:t> </a:t>
            </a:r>
            <a:r>
              <a:rPr dirty="0" sz="2800">
                <a:solidFill>
                  <a:srgbClr val="4E3629"/>
                </a:solidFill>
                <a:latin typeface="Calibri"/>
                <a:cs typeface="Calibri"/>
              </a:rPr>
              <a:t>filas</a:t>
            </a:r>
            <a:r>
              <a:rPr dirty="0" sz="2800" spc="-35">
                <a:solidFill>
                  <a:srgbClr val="4E3629"/>
                </a:solidFill>
                <a:latin typeface="Calibri"/>
                <a:cs typeface="Calibri"/>
              </a:rPr>
              <a:t> </a:t>
            </a:r>
            <a:r>
              <a:rPr dirty="0" sz="2800" spc="-10">
                <a:solidFill>
                  <a:srgbClr val="4E3629"/>
                </a:solidFill>
                <a:latin typeface="Calibri"/>
                <a:cs typeface="Calibri"/>
              </a:rPr>
              <a:t>dependientes </a:t>
            </a:r>
            <a:r>
              <a:rPr dirty="0" sz="2800">
                <a:solidFill>
                  <a:srgbClr val="4E3629"/>
                </a:solidFill>
                <a:latin typeface="Calibri"/>
                <a:cs typeface="Calibri"/>
              </a:rPr>
              <a:t>en</a:t>
            </a:r>
            <a:r>
              <a:rPr dirty="0" sz="2800" spc="-40">
                <a:solidFill>
                  <a:srgbClr val="4E3629"/>
                </a:solidFill>
                <a:latin typeface="Calibri"/>
                <a:cs typeface="Calibri"/>
              </a:rPr>
              <a:t> </a:t>
            </a:r>
            <a:r>
              <a:rPr dirty="0" sz="2800">
                <a:solidFill>
                  <a:srgbClr val="4E3629"/>
                </a:solidFill>
                <a:latin typeface="Calibri"/>
                <a:cs typeface="Calibri"/>
              </a:rPr>
              <a:t>la</a:t>
            </a:r>
            <a:r>
              <a:rPr dirty="0" sz="2800" spc="-40">
                <a:solidFill>
                  <a:srgbClr val="4E3629"/>
                </a:solidFill>
                <a:latin typeface="Calibri"/>
                <a:cs typeface="Calibri"/>
              </a:rPr>
              <a:t> </a:t>
            </a:r>
            <a:r>
              <a:rPr dirty="0" sz="2800">
                <a:solidFill>
                  <a:srgbClr val="4E3629"/>
                </a:solidFill>
                <a:latin typeface="Calibri"/>
                <a:cs typeface="Calibri"/>
              </a:rPr>
              <a:t>tabla</a:t>
            </a:r>
            <a:r>
              <a:rPr dirty="0" sz="2800" spc="-35">
                <a:solidFill>
                  <a:srgbClr val="4E3629"/>
                </a:solidFill>
                <a:latin typeface="Calibri"/>
                <a:cs typeface="Calibri"/>
              </a:rPr>
              <a:t> </a:t>
            </a:r>
            <a:r>
              <a:rPr dirty="0" sz="2800">
                <a:solidFill>
                  <a:srgbClr val="4E3629"/>
                </a:solidFill>
                <a:latin typeface="Calibri"/>
                <a:cs typeface="Calibri"/>
              </a:rPr>
              <a:t>de</a:t>
            </a:r>
            <a:r>
              <a:rPr dirty="0" sz="2800" spc="-35">
                <a:solidFill>
                  <a:srgbClr val="4E3629"/>
                </a:solidFill>
                <a:latin typeface="Calibri"/>
                <a:cs typeface="Calibri"/>
              </a:rPr>
              <a:t> </a:t>
            </a:r>
            <a:r>
              <a:rPr dirty="0" sz="2800" spc="-10">
                <a:solidFill>
                  <a:srgbClr val="4E3629"/>
                </a:solidFill>
                <a:latin typeface="Calibri"/>
                <a:cs typeface="Calibri"/>
              </a:rPr>
              <a:t>empleados </a:t>
            </a:r>
            <a:r>
              <a:rPr dirty="0" sz="2800" spc="-10">
                <a:solidFill>
                  <a:srgbClr val="4E3629"/>
                </a:solidFill>
                <a:latin typeface="Calibri"/>
                <a:cs typeface="Calibri"/>
              </a:rPr>
              <a:t>	</a:t>
            </a:r>
            <a:r>
              <a:rPr dirty="0" sz="2800">
                <a:solidFill>
                  <a:srgbClr val="4E3629"/>
                </a:solidFill>
                <a:latin typeface="Calibri"/>
                <a:cs typeface="Calibri"/>
              </a:rPr>
              <a:t>también</a:t>
            </a:r>
            <a:r>
              <a:rPr dirty="0" sz="2800" spc="-45">
                <a:solidFill>
                  <a:srgbClr val="4E3629"/>
                </a:solidFill>
                <a:latin typeface="Calibri"/>
                <a:cs typeface="Calibri"/>
              </a:rPr>
              <a:t> </a:t>
            </a:r>
            <a:r>
              <a:rPr dirty="0" sz="2800">
                <a:solidFill>
                  <a:srgbClr val="4E3629"/>
                </a:solidFill>
                <a:latin typeface="Calibri"/>
                <a:cs typeface="Calibri"/>
              </a:rPr>
              <a:t>se</a:t>
            </a:r>
            <a:r>
              <a:rPr dirty="0" sz="2800" spc="-60">
                <a:solidFill>
                  <a:srgbClr val="4E3629"/>
                </a:solidFill>
                <a:latin typeface="Calibri"/>
                <a:cs typeface="Calibri"/>
              </a:rPr>
              <a:t> </a:t>
            </a:r>
            <a:r>
              <a:rPr dirty="0" sz="2800" spc="-10">
                <a:solidFill>
                  <a:srgbClr val="4E3629"/>
                </a:solidFill>
                <a:latin typeface="Calibri"/>
                <a:cs typeface="Calibri"/>
              </a:rPr>
              <a:t>suprimirán</a:t>
            </a:r>
            <a:endParaRPr sz="2800">
              <a:latin typeface="Calibri"/>
              <a:cs typeface="Calibri"/>
            </a:endParaRPr>
          </a:p>
          <a:p>
            <a:pPr marL="183515" indent="-170815">
              <a:lnSpc>
                <a:spcPct val="100000"/>
              </a:lnSpc>
              <a:spcBef>
                <a:spcPts val="390"/>
              </a:spcBef>
              <a:buClr>
                <a:srgbClr val="D1350F"/>
              </a:buClr>
              <a:buFont typeface="Arial MT"/>
              <a:buChar char="•"/>
              <a:tabLst>
                <a:tab pos="183515" algn="l"/>
              </a:tabLst>
            </a:pPr>
            <a:r>
              <a:rPr dirty="0" sz="2800">
                <a:solidFill>
                  <a:srgbClr val="4E3629"/>
                </a:solidFill>
                <a:latin typeface="Calibri"/>
                <a:cs typeface="Calibri"/>
              </a:rPr>
              <a:t>1</a:t>
            </a:r>
            <a:r>
              <a:rPr dirty="0" sz="2800" spc="-10">
                <a:solidFill>
                  <a:srgbClr val="4E3629"/>
                </a:solidFill>
                <a:latin typeface="Calibri"/>
                <a:cs typeface="Calibri"/>
              </a:rPr>
              <a:t> </a:t>
            </a:r>
            <a:r>
              <a:rPr dirty="0" sz="2800">
                <a:solidFill>
                  <a:srgbClr val="4E3629"/>
                </a:solidFill>
                <a:latin typeface="Calibri"/>
                <a:cs typeface="Calibri"/>
              </a:rPr>
              <a:t>fila</a:t>
            </a:r>
            <a:r>
              <a:rPr dirty="0" sz="2800" spc="-15">
                <a:solidFill>
                  <a:srgbClr val="4E3629"/>
                </a:solidFill>
                <a:latin typeface="Calibri"/>
                <a:cs typeface="Calibri"/>
              </a:rPr>
              <a:t> </a:t>
            </a:r>
            <a:r>
              <a:rPr dirty="0" sz="2800" spc="-10">
                <a:solidFill>
                  <a:srgbClr val="4E3629"/>
                </a:solidFill>
                <a:latin typeface="Calibri"/>
                <a:cs typeface="Calibri"/>
              </a:rPr>
              <a:t>suprimida</a:t>
            </a:r>
            <a:endParaRPr sz="2800">
              <a:latin typeface="Calibri"/>
              <a:cs typeface="Calibri"/>
            </a:endParaRPr>
          </a:p>
        </p:txBody>
      </p:sp>
      <p:sp>
        <p:nvSpPr>
          <p:cNvPr id="5" name="object 5" descr=""/>
          <p:cNvSpPr txBox="1"/>
          <p:nvPr/>
        </p:nvSpPr>
        <p:spPr>
          <a:xfrm>
            <a:off x="405384" y="1879092"/>
            <a:ext cx="8345805" cy="2005964"/>
          </a:xfrm>
          <a:prstGeom prst="rect">
            <a:avLst/>
          </a:prstGeom>
          <a:solidFill>
            <a:srgbClr val="9DBEC4">
              <a:alpha val="50199"/>
            </a:srgbClr>
          </a:solidFill>
        </p:spPr>
        <p:txBody>
          <a:bodyPr wrap="square" lIns="0" tIns="3810" rIns="0" bIns="0" rtlCol="0" vert="horz">
            <a:spAutoFit/>
          </a:bodyPr>
          <a:lstStyle/>
          <a:p>
            <a:pPr>
              <a:lnSpc>
                <a:spcPct val="100000"/>
              </a:lnSpc>
              <a:spcBef>
                <a:spcPts val="30"/>
              </a:spcBef>
            </a:pPr>
            <a:r>
              <a:rPr dirty="0" sz="1600" b="1">
                <a:solidFill>
                  <a:srgbClr val="4E3629"/>
                </a:solidFill>
                <a:latin typeface="Courier New"/>
                <a:cs typeface="Courier New"/>
              </a:rPr>
              <a:t>CREATE</a:t>
            </a:r>
            <a:r>
              <a:rPr dirty="0" sz="1600" spc="-45" b="1">
                <a:solidFill>
                  <a:srgbClr val="4E3629"/>
                </a:solidFill>
                <a:latin typeface="Courier New"/>
                <a:cs typeface="Courier New"/>
              </a:rPr>
              <a:t> </a:t>
            </a:r>
            <a:r>
              <a:rPr dirty="0" sz="1600" b="1">
                <a:solidFill>
                  <a:srgbClr val="4E3629"/>
                </a:solidFill>
                <a:latin typeface="Courier New"/>
                <a:cs typeface="Courier New"/>
              </a:rPr>
              <a:t>TABLE</a:t>
            </a:r>
            <a:r>
              <a:rPr dirty="0" sz="1600" spc="-35" b="1">
                <a:solidFill>
                  <a:srgbClr val="4E3629"/>
                </a:solidFill>
                <a:latin typeface="Courier New"/>
                <a:cs typeface="Courier New"/>
              </a:rPr>
              <a:t> </a:t>
            </a:r>
            <a:r>
              <a:rPr dirty="0" sz="1600" spc="-10" b="1">
                <a:solidFill>
                  <a:srgbClr val="4E3629"/>
                </a:solidFill>
                <a:latin typeface="Courier New"/>
                <a:cs typeface="Courier New"/>
              </a:rPr>
              <a:t>copy_employees</a:t>
            </a:r>
            <a:endParaRPr sz="1600">
              <a:latin typeface="Courier New"/>
              <a:cs typeface="Courier New"/>
            </a:endParaRPr>
          </a:p>
          <a:p>
            <a:pPr marL="120650" marR="1010285" indent="-121920">
              <a:lnSpc>
                <a:spcPct val="100000"/>
              </a:lnSpc>
            </a:pPr>
            <a:r>
              <a:rPr dirty="0" sz="1600" b="1">
                <a:solidFill>
                  <a:srgbClr val="4E3629"/>
                </a:solidFill>
                <a:latin typeface="Courier New"/>
                <a:cs typeface="Courier New"/>
              </a:rPr>
              <a:t>(employee_id</a:t>
            </a:r>
            <a:r>
              <a:rPr dirty="0" sz="1600" spc="-75" b="1">
                <a:solidFill>
                  <a:srgbClr val="4E3629"/>
                </a:solidFill>
                <a:latin typeface="Courier New"/>
                <a:cs typeface="Courier New"/>
              </a:rPr>
              <a:t> </a:t>
            </a:r>
            <a:r>
              <a:rPr dirty="0" sz="1600" b="1">
                <a:solidFill>
                  <a:srgbClr val="4E3629"/>
                </a:solidFill>
                <a:latin typeface="Courier New"/>
                <a:cs typeface="Courier New"/>
              </a:rPr>
              <a:t>NUMBER(6,0)</a:t>
            </a:r>
            <a:r>
              <a:rPr dirty="0" sz="1600" spc="-75" b="1">
                <a:solidFill>
                  <a:srgbClr val="4E3629"/>
                </a:solidFill>
                <a:latin typeface="Courier New"/>
                <a:cs typeface="Courier New"/>
              </a:rPr>
              <a:t> </a:t>
            </a:r>
            <a:r>
              <a:rPr dirty="0" sz="1600" b="1">
                <a:solidFill>
                  <a:srgbClr val="4E3629"/>
                </a:solidFill>
                <a:latin typeface="Courier New"/>
                <a:cs typeface="Courier New"/>
              </a:rPr>
              <a:t>CONSTRAINT</a:t>
            </a:r>
            <a:r>
              <a:rPr dirty="0" sz="1600" spc="-70" b="1">
                <a:solidFill>
                  <a:srgbClr val="4E3629"/>
                </a:solidFill>
                <a:latin typeface="Courier New"/>
                <a:cs typeface="Courier New"/>
              </a:rPr>
              <a:t> </a:t>
            </a:r>
            <a:r>
              <a:rPr dirty="0" sz="1600" b="1">
                <a:solidFill>
                  <a:srgbClr val="4E3629"/>
                </a:solidFill>
                <a:latin typeface="Courier New"/>
                <a:cs typeface="Courier New"/>
              </a:rPr>
              <a:t>copy_emp_pk</a:t>
            </a:r>
            <a:r>
              <a:rPr dirty="0" sz="1600" spc="-70" b="1">
                <a:solidFill>
                  <a:srgbClr val="4E3629"/>
                </a:solidFill>
                <a:latin typeface="Courier New"/>
                <a:cs typeface="Courier New"/>
              </a:rPr>
              <a:t> </a:t>
            </a:r>
            <a:r>
              <a:rPr dirty="0" sz="1600" b="1">
                <a:solidFill>
                  <a:srgbClr val="4E3629"/>
                </a:solidFill>
                <a:latin typeface="Courier New"/>
                <a:cs typeface="Courier New"/>
              </a:rPr>
              <a:t>PRIMARY</a:t>
            </a:r>
            <a:r>
              <a:rPr dirty="0" sz="1600" spc="-80" b="1">
                <a:solidFill>
                  <a:srgbClr val="4E3629"/>
                </a:solidFill>
                <a:latin typeface="Courier New"/>
                <a:cs typeface="Courier New"/>
              </a:rPr>
              <a:t> </a:t>
            </a:r>
            <a:r>
              <a:rPr dirty="0" sz="1600" spc="-20" b="1">
                <a:solidFill>
                  <a:srgbClr val="4E3629"/>
                </a:solidFill>
                <a:latin typeface="Courier New"/>
                <a:cs typeface="Courier New"/>
              </a:rPr>
              <a:t>KEY, </a:t>
            </a:r>
            <a:r>
              <a:rPr dirty="0" sz="1600" b="1">
                <a:solidFill>
                  <a:srgbClr val="4E3629"/>
                </a:solidFill>
                <a:latin typeface="Courier New"/>
                <a:cs typeface="Courier New"/>
              </a:rPr>
              <a:t>first_name</a:t>
            </a:r>
            <a:r>
              <a:rPr dirty="0" sz="1600" spc="-70" b="1">
                <a:solidFill>
                  <a:srgbClr val="4E3629"/>
                </a:solidFill>
                <a:latin typeface="Courier New"/>
                <a:cs typeface="Courier New"/>
              </a:rPr>
              <a:t> </a:t>
            </a:r>
            <a:r>
              <a:rPr dirty="0" sz="1600" spc="-10" b="1">
                <a:solidFill>
                  <a:srgbClr val="4E3629"/>
                </a:solidFill>
                <a:latin typeface="Courier New"/>
                <a:cs typeface="Courier New"/>
              </a:rPr>
              <a:t>VARCHAR2(20),</a:t>
            </a:r>
            <a:endParaRPr sz="1600">
              <a:latin typeface="Courier New"/>
              <a:cs typeface="Courier New"/>
            </a:endParaRPr>
          </a:p>
          <a:p>
            <a:pPr marL="120650" marR="5041265">
              <a:lnSpc>
                <a:spcPct val="100000"/>
              </a:lnSpc>
            </a:pPr>
            <a:r>
              <a:rPr dirty="0" sz="1600" b="1">
                <a:solidFill>
                  <a:srgbClr val="4E3629"/>
                </a:solidFill>
                <a:latin typeface="Courier New"/>
                <a:cs typeface="Courier New"/>
              </a:rPr>
              <a:t>last_name</a:t>
            </a:r>
            <a:r>
              <a:rPr dirty="0" sz="1600" spc="-75" b="1">
                <a:solidFill>
                  <a:srgbClr val="4E3629"/>
                </a:solidFill>
                <a:latin typeface="Courier New"/>
                <a:cs typeface="Courier New"/>
              </a:rPr>
              <a:t> </a:t>
            </a:r>
            <a:r>
              <a:rPr dirty="0" sz="1600" spc="-10" b="1">
                <a:solidFill>
                  <a:srgbClr val="4E3629"/>
                </a:solidFill>
                <a:latin typeface="Courier New"/>
                <a:cs typeface="Courier New"/>
              </a:rPr>
              <a:t>VARCHAR2(25), </a:t>
            </a:r>
            <a:r>
              <a:rPr dirty="0" sz="1600" b="1">
                <a:solidFill>
                  <a:srgbClr val="4E3629"/>
                </a:solidFill>
                <a:latin typeface="Courier New"/>
                <a:cs typeface="Courier New"/>
              </a:rPr>
              <a:t>department_id</a:t>
            </a:r>
            <a:r>
              <a:rPr dirty="0" sz="1600" spc="-100" b="1">
                <a:solidFill>
                  <a:srgbClr val="4E3629"/>
                </a:solidFill>
                <a:latin typeface="Courier New"/>
                <a:cs typeface="Courier New"/>
              </a:rPr>
              <a:t> </a:t>
            </a:r>
            <a:r>
              <a:rPr dirty="0" sz="1600" spc="-10" b="1">
                <a:solidFill>
                  <a:srgbClr val="4E3629"/>
                </a:solidFill>
                <a:latin typeface="Courier New"/>
                <a:cs typeface="Courier New"/>
              </a:rPr>
              <a:t>NUMBER(4,0), </a:t>
            </a:r>
            <a:r>
              <a:rPr dirty="0" sz="1600" b="1">
                <a:solidFill>
                  <a:srgbClr val="4E3629"/>
                </a:solidFill>
                <a:latin typeface="Courier New"/>
                <a:cs typeface="Courier New"/>
              </a:rPr>
              <a:t>email</a:t>
            </a:r>
            <a:r>
              <a:rPr dirty="0" sz="1600" spc="-40" b="1">
                <a:solidFill>
                  <a:srgbClr val="4E3629"/>
                </a:solidFill>
                <a:latin typeface="Courier New"/>
                <a:cs typeface="Courier New"/>
              </a:rPr>
              <a:t> </a:t>
            </a:r>
            <a:r>
              <a:rPr dirty="0" sz="1600" spc="-10" b="1">
                <a:solidFill>
                  <a:srgbClr val="4E3629"/>
                </a:solidFill>
                <a:latin typeface="Courier New"/>
                <a:cs typeface="Courier New"/>
              </a:rPr>
              <a:t>VARCHAR2(25),</a:t>
            </a:r>
            <a:endParaRPr sz="1600">
              <a:latin typeface="Courier New"/>
              <a:cs typeface="Courier New"/>
            </a:endParaRPr>
          </a:p>
          <a:p>
            <a:pPr marL="487045" marR="277495" indent="-366395">
              <a:lnSpc>
                <a:spcPct val="100000"/>
              </a:lnSpc>
            </a:pPr>
            <a:r>
              <a:rPr dirty="0" sz="1600" b="1">
                <a:solidFill>
                  <a:srgbClr val="4E3629"/>
                </a:solidFill>
                <a:latin typeface="Courier New"/>
                <a:cs typeface="Courier New"/>
              </a:rPr>
              <a:t>CONSTRAINT</a:t>
            </a:r>
            <a:r>
              <a:rPr dirty="0" sz="1600" spc="-60" b="1">
                <a:solidFill>
                  <a:srgbClr val="4E3629"/>
                </a:solidFill>
                <a:latin typeface="Courier New"/>
                <a:cs typeface="Courier New"/>
              </a:rPr>
              <a:t> </a:t>
            </a:r>
            <a:r>
              <a:rPr dirty="0" sz="1600" b="1">
                <a:solidFill>
                  <a:srgbClr val="4E3629"/>
                </a:solidFill>
                <a:latin typeface="Courier New"/>
                <a:cs typeface="Courier New"/>
              </a:rPr>
              <a:t>cdept_dept_id_fk</a:t>
            </a:r>
            <a:r>
              <a:rPr dirty="0" sz="1600" spc="-65" b="1">
                <a:solidFill>
                  <a:srgbClr val="4E3629"/>
                </a:solidFill>
                <a:latin typeface="Courier New"/>
                <a:cs typeface="Courier New"/>
              </a:rPr>
              <a:t> </a:t>
            </a:r>
            <a:r>
              <a:rPr dirty="0" sz="1600" b="1">
                <a:solidFill>
                  <a:srgbClr val="4E3629"/>
                </a:solidFill>
                <a:latin typeface="Courier New"/>
                <a:cs typeface="Courier New"/>
              </a:rPr>
              <a:t>FOREIGN</a:t>
            </a:r>
            <a:r>
              <a:rPr dirty="0" sz="1600" spc="-70" b="1">
                <a:solidFill>
                  <a:srgbClr val="4E3629"/>
                </a:solidFill>
                <a:latin typeface="Courier New"/>
                <a:cs typeface="Courier New"/>
              </a:rPr>
              <a:t> </a:t>
            </a:r>
            <a:r>
              <a:rPr dirty="0" sz="1600" b="1">
                <a:solidFill>
                  <a:srgbClr val="4E3629"/>
                </a:solidFill>
                <a:latin typeface="Courier New"/>
                <a:cs typeface="Courier New"/>
              </a:rPr>
              <a:t>KEY</a:t>
            </a:r>
            <a:r>
              <a:rPr dirty="0" sz="1600" spc="-75" b="1">
                <a:solidFill>
                  <a:srgbClr val="4E3629"/>
                </a:solidFill>
                <a:latin typeface="Courier New"/>
                <a:cs typeface="Courier New"/>
              </a:rPr>
              <a:t> </a:t>
            </a:r>
            <a:r>
              <a:rPr dirty="0" sz="1600" spc="-10" b="1">
                <a:solidFill>
                  <a:srgbClr val="4E3629"/>
                </a:solidFill>
                <a:latin typeface="Courier New"/>
                <a:cs typeface="Courier New"/>
              </a:rPr>
              <a:t>(department_id) </a:t>
            </a:r>
            <a:r>
              <a:rPr dirty="0" sz="1600" b="1">
                <a:solidFill>
                  <a:srgbClr val="4E3629"/>
                </a:solidFill>
                <a:latin typeface="Courier New"/>
                <a:cs typeface="Courier New"/>
              </a:rPr>
              <a:t>REFERENCES</a:t>
            </a:r>
            <a:r>
              <a:rPr dirty="0" sz="1600" spc="-90" b="1">
                <a:solidFill>
                  <a:srgbClr val="4E3629"/>
                </a:solidFill>
                <a:latin typeface="Courier New"/>
                <a:cs typeface="Courier New"/>
              </a:rPr>
              <a:t> </a:t>
            </a:r>
            <a:r>
              <a:rPr dirty="0" sz="1600" b="1">
                <a:solidFill>
                  <a:srgbClr val="4E3629"/>
                </a:solidFill>
                <a:latin typeface="Courier New"/>
                <a:cs typeface="Courier New"/>
              </a:rPr>
              <a:t>copy_departments(department_id)</a:t>
            </a:r>
            <a:r>
              <a:rPr dirty="0" sz="1600" spc="-80" b="1">
                <a:solidFill>
                  <a:srgbClr val="4E3629"/>
                </a:solidFill>
                <a:latin typeface="Courier New"/>
                <a:cs typeface="Courier New"/>
              </a:rPr>
              <a:t> </a:t>
            </a:r>
            <a:r>
              <a:rPr dirty="0" sz="1600" b="1">
                <a:solidFill>
                  <a:srgbClr val="D1350F"/>
                </a:solidFill>
                <a:latin typeface="Courier New"/>
                <a:cs typeface="Courier New"/>
              </a:rPr>
              <a:t>ON</a:t>
            </a:r>
            <a:r>
              <a:rPr dirty="0" sz="1600" spc="-95" b="1">
                <a:solidFill>
                  <a:srgbClr val="D1350F"/>
                </a:solidFill>
                <a:latin typeface="Courier New"/>
                <a:cs typeface="Courier New"/>
              </a:rPr>
              <a:t> </a:t>
            </a:r>
            <a:r>
              <a:rPr dirty="0" sz="1600" b="1">
                <a:solidFill>
                  <a:srgbClr val="D1350F"/>
                </a:solidFill>
                <a:latin typeface="Courier New"/>
                <a:cs typeface="Courier New"/>
              </a:rPr>
              <a:t>DELETE</a:t>
            </a:r>
            <a:r>
              <a:rPr dirty="0" sz="1600" spc="-90" b="1">
                <a:solidFill>
                  <a:srgbClr val="D1350F"/>
                </a:solidFill>
                <a:latin typeface="Courier New"/>
                <a:cs typeface="Courier New"/>
              </a:rPr>
              <a:t> </a:t>
            </a:r>
            <a:r>
              <a:rPr dirty="0" sz="1600" spc="-10" b="1">
                <a:solidFill>
                  <a:srgbClr val="D1350F"/>
                </a:solidFill>
                <a:latin typeface="Courier New"/>
                <a:cs typeface="Courier New"/>
              </a:rPr>
              <a:t>CASCADE</a:t>
            </a:r>
            <a:r>
              <a:rPr dirty="0" sz="1600" spc="-10" b="1">
                <a:solidFill>
                  <a:srgbClr val="4E3629"/>
                </a:solidFill>
                <a:latin typeface="Courier New"/>
                <a:cs typeface="Courier New"/>
              </a:rPr>
              <a:t>);</a:t>
            </a:r>
            <a:endParaRPr sz="1600">
              <a:latin typeface="Courier New"/>
              <a:cs typeface="Courier New"/>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a:t>ON</a:t>
            </a:r>
            <a:r>
              <a:rPr dirty="0" spc="-50"/>
              <a:t> </a:t>
            </a:r>
            <a:r>
              <a:rPr dirty="0"/>
              <a:t>DELETE</a:t>
            </a:r>
            <a:r>
              <a:rPr dirty="0" spc="-45"/>
              <a:t> </a:t>
            </a:r>
            <a:r>
              <a:rPr dirty="0"/>
              <a:t>SET</a:t>
            </a:r>
            <a:r>
              <a:rPr dirty="0" spc="-30"/>
              <a:t> </a:t>
            </a:r>
            <a:r>
              <a:rPr dirty="0" spc="-20"/>
              <a:t>NULL</a:t>
            </a:r>
          </a:p>
        </p:txBody>
      </p:sp>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2</a:t>
            </a:r>
          </a:p>
          <a:p>
            <a:pPr marL="12700" marR="5080">
              <a:lnSpc>
                <a:spcPts val="919"/>
              </a:lnSpc>
              <a:spcBef>
                <a:spcPts val="60"/>
              </a:spcBef>
            </a:pPr>
            <a:r>
              <a:rPr dirty="0" spc="-10"/>
              <a:t>Restricciones</a:t>
            </a:r>
            <a:r>
              <a:rPr dirty="0" spc="55"/>
              <a:t> </a:t>
            </a:r>
            <a:r>
              <a:rPr dirty="0"/>
              <a:t>PRIMARY</a:t>
            </a:r>
            <a:r>
              <a:rPr dirty="0" spc="-30"/>
              <a:t> </a:t>
            </a:r>
            <a:r>
              <a:rPr dirty="0" spc="-20"/>
              <a:t>KEY,</a:t>
            </a:r>
            <a:r>
              <a:rPr dirty="0" spc="500"/>
              <a:t> </a:t>
            </a:r>
            <a:r>
              <a:rPr dirty="0"/>
              <a:t>FOREIGN</a:t>
            </a:r>
            <a:r>
              <a:rPr dirty="0" spc="-40"/>
              <a:t> </a:t>
            </a:r>
            <a:r>
              <a:rPr dirty="0"/>
              <a:t>KEY</a:t>
            </a:r>
            <a:r>
              <a:rPr dirty="0" spc="-20"/>
              <a:t> </a:t>
            </a:r>
            <a:r>
              <a:rPr dirty="0"/>
              <a:t>y</a:t>
            </a:r>
            <a:r>
              <a:rPr dirty="0" spc="-5"/>
              <a:t> </a:t>
            </a:r>
            <a:r>
              <a:rPr dirty="0" spc="-20"/>
              <a:t>CHECK</a:t>
            </a: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25</a:t>
            </a: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8046720" cy="1604645"/>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En</a:t>
            </a:r>
            <a:r>
              <a:rPr dirty="0" sz="2800" spc="-45">
                <a:solidFill>
                  <a:srgbClr val="4E3629"/>
                </a:solidFill>
                <a:latin typeface="Calibri"/>
                <a:cs typeface="Calibri"/>
              </a:rPr>
              <a:t> </a:t>
            </a:r>
            <a:r>
              <a:rPr dirty="0" sz="2800">
                <a:solidFill>
                  <a:srgbClr val="4E3629"/>
                </a:solidFill>
                <a:latin typeface="Calibri"/>
                <a:cs typeface="Calibri"/>
              </a:rPr>
              <a:t>lugar</a:t>
            </a:r>
            <a:r>
              <a:rPr dirty="0" sz="2800" spc="-60">
                <a:solidFill>
                  <a:srgbClr val="4E3629"/>
                </a:solidFill>
                <a:latin typeface="Calibri"/>
                <a:cs typeface="Calibri"/>
              </a:rPr>
              <a:t> </a:t>
            </a:r>
            <a:r>
              <a:rPr dirty="0" sz="2800">
                <a:solidFill>
                  <a:srgbClr val="4E3629"/>
                </a:solidFill>
                <a:latin typeface="Calibri"/>
                <a:cs typeface="Calibri"/>
              </a:rPr>
              <a:t>de</a:t>
            </a:r>
            <a:r>
              <a:rPr dirty="0" sz="2800" spc="-30">
                <a:solidFill>
                  <a:srgbClr val="4E3629"/>
                </a:solidFill>
                <a:latin typeface="Calibri"/>
                <a:cs typeface="Calibri"/>
              </a:rPr>
              <a:t> </a:t>
            </a:r>
            <a:r>
              <a:rPr dirty="0" sz="2800">
                <a:solidFill>
                  <a:srgbClr val="4E3629"/>
                </a:solidFill>
                <a:latin typeface="Calibri"/>
                <a:cs typeface="Calibri"/>
              </a:rPr>
              <a:t>que</a:t>
            </a:r>
            <a:r>
              <a:rPr dirty="0" sz="2800" spc="-20">
                <a:solidFill>
                  <a:srgbClr val="4E3629"/>
                </a:solidFill>
                <a:latin typeface="Calibri"/>
                <a:cs typeface="Calibri"/>
              </a:rPr>
              <a:t> </a:t>
            </a:r>
            <a:r>
              <a:rPr dirty="0" sz="2800">
                <a:solidFill>
                  <a:srgbClr val="4E3629"/>
                </a:solidFill>
                <a:latin typeface="Calibri"/>
                <a:cs typeface="Calibri"/>
              </a:rPr>
              <a:t>se</a:t>
            </a:r>
            <a:r>
              <a:rPr dirty="0" sz="2800" spc="-50">
                <a:solidFill>
                  <a:srgbClr val="4E3629"/>
                </a:solidFill>
                <a:latin typeface="Calibri"/>
                <a:cs typeface="Calibri"/>
              </a:rPr>
              <a:t> </a:t>
            </a:r>
            <a:r>
              <a:rPr dirty="0" sz="2800">
                <a:solidFill>
                  <a:srgbClr val="4E3629"/>
                </a:solidFill>
                <a:latin typeface="Calibri"/>
                <a:cs typeface="Calibri"/>
              </a:rPr>
              <a:t>supriman</a:t>
            </a:r>
            <a:r>
              <a:rPr dirty="0" sz="2800" spc="-5">
                <a:solidFill>
                  <a:srgbClr val="4E3629"/>
                </a:solidFill>
                <a:latin typeface="Calibri"/>
                <a:cs typeface="Calibri"/>
              </a:rPr>
              <a:t> </a:t>
            </a:r>
            <a:r>
              <a:rPr dirty="0" sz="2800">
                <a:solidFill>
                  <a:srgbClr val="4E3629"/>
                </a:solidFill>
                <a:latin typeface="Calibri"/>
                <a:cs typeface="Calibri"/>
              </a:rPr>
              <a:t>las</a:t>
            </a:r>
            <a:r>
              <a:rPr dirty="0" sz="2800" spc="-45">
                <a:solidFill>
                  <a:srgbClr val="4E3629"/>
                </a:solidFill>
                <a:latin typeface="Calibri"/>
                <a:cs typeface="Calibri"/>
              </a:rPr>
              <a:t> </a:t>
            </a:r>
            <a:r>
              <a:rPr dirty="0" sz="2800">
                <a:solidFill>
                  <a:srgbClr val="4E3629"/>
                </a:solidFill>
                <a:latin typeface="Calibri"/>
                <a:cs typeface="Calibri"/>
              </a:rPr>
              <a:t>filas</a:t>
            </a:r>
            <a:r>
              <a:rPr dirty="0" sz="2800" spc="-4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la</a:t>
            </a:r>
            <a:r>
              <a:rPr dirty="0" sz="2800" spc="-40">
                <a:solidFill>
                  <a:srgbClr val="4E3629"/>
                </a:solidFill>
                <a:latin typeface="Calibri"/>
                <a:cs typeface="Calibri"/>
              </a:rPr>
              <a:t> </a:t>
            </a:r>
            <a:r>
              <a:rPr dirty="0" sz="2800" spc="-10">
                <a:solidFill>
                  <a:srgbClr val="4E3629"/>
                </a:solidFill>
                <a:latin typeface="Calibri"/>
                <a:cs typeface="Calibri"/>
              </a:rPr>
              <a:t>tabla </a:t>
            </a:r>
            <a:r>
              <a:rPr dirty="0" sz="2800" spc="-10">
                <a:solidFill>
                  <a:srgbClr val="4E3629"/>
                </a:solidFill>
                <a:latin typeface="Calibri"/>
                <a:cs typeface="Calibri"/>
              </a:rPr>
              <a:t>	</a:t>
            </a:r>
            <a:r>
              <a:rPr dirty="0" sz="2800">
                <a:solidFill>
                  <a:srgbClr val="4E3629"/>
                </a:solidFill>
                <a:latin typeface="Calibri"/>
                <a:cs typeface="Calibri"/>
              </a:rPr>
              <a:t>secundaria</a:t>
            </a:r>
            <a:r>
              <a:rPr dirty="0" sz="2800" spc="-35">
                <a:solidFill>
                  <a:srgbClr val="4E3629"/>
                </a:solidFill>
                <a:latin typeface="Calibri"/>
                <a:cs typeface="Calibri"/>
              </a:rPr>
              <a:t> </a:t>
            </a:r>
            <a:r>
              <a:rPr dirty="0" sz="2800">
                <a:solidFill>
                  <a:srgbClr val="4E3629"/>
                </a:solidFill>
                <a:latin typeface="Calibri"/>
                <a:cs typeface="Calibri"/>
              </a:rPr>
              <a:t>al</a:t>
            </a:r>
            <a:r>
              <a:rPr dirty="0" sz="2800" spc="-60">
                <a:solidFill>
                  <a:srgbClr val="4E3629"/>
                </a:solidFill>
                <a:latin typeface="Calibri"/>
                <a:cs typeface="Calibri"/>
              </a:rPr>
              <a:t> </a:t>
            </a:r>
            <a:r>
              <a:rPr dirty="0" sz="2800">
                <a:solidFill>
                  <a:srgbClr val="4E3629"/>
                </a:solidFill>
                <a:latin typeface="Calibri"/>
                <a:cs typeface="Calibri"/>
              </a:rPr>
              <a:t>utilizar</a:t>
            </a:r>
            <a:r>
              <a:rPr dirty="0" sz="2800" spc="-50">
                <a:solidFill>
                  <a:srgbClr val="4E3629"/>
                </a:solidFill>
                <a:latin typeface="Calibri"/>
                <a:cs typeface="Calibri"/>
              </a:rPr>
              <a:t> </a:t>
            </a:r>
            <a:r>
              <a:rPr dirty="0" sz="2800">
                <a:solidFill>
                  <a:srgbClr val="4E3629"/>
                </a:solidFill>
                <a:latin typeface="Calibri"/>
                <a:cs typeface="Calibri"/>
              </a:rPr>
              <a:t>una</a:t>
            </a:r>
            <a:r>
              <a:rPr dirty="0" sz="2800" spc="-30">
                <a:solidFill>
                  <a:srgbClr val="4E3629"/>
                </a:solidFill>
                <a:latin typeface="Calibri"/>
                <a:cs typeface="Calibri"/>
              </a:rPr>
              <a:t> </a:t>
            </a:r>
            <a:r>
              <a:rPr dirty="0" sz="2800">
                <a:solidFill>
                  <a:srgbClr val="4E3629"/>
                </a:solidFill>
                <a:latin typeface="Calibri"/>
                <a:cs typeface="Calibri"/>
              </a:rPr>
              <a:t>opción</a:t>
            </a:r>
            <a:r>
              <a:rPr dirty="0" sz="2800" spc="-50">
                <a:solidFill>
                  <a:srgbClr val="4E3629"/>
                </a:solidFill>
                <a:latin typeface="Calibri"/>
                <a:cs typeface="Calibri"/>
              </a:rPr>
              <a:t> </a:t>
            </a:r>
            <a:r>
              <a:rPr dirty="0" sz="2800">
                <a:solidFill>
                  <a:srgbClr val="4E3629"/>
                </a:solidFill>
                <a:latin typeface="Calibri"/>
                <a:cs typeface="Calibri"/>
              </a:rPr>
              <a:t>ON</a:t>
            </a:r>
            <a:r>
              <a:rPr dirty="0" sz="2800" spc="-40">
                <a:solidFill>
                  <a:srgbClr val="4E3629"/>
                </a:solidFill>
                <a:latin typeface="Calibri"/>
                <a:cs typeface="Calibri"/>
              </a:rPr>
              <a:t> </a:t>
            </a:r>
            <a:r>
              <a:rPr dirty="0" sz="2800">
                <a:solidFill>
                  <a:srgbClr val="4E3629"/>
                </a:solidFill>
                <a:latin typeface="Calibri"/>
                <a:cs typeface="Calibri"/>
              </a:rPr>
              <a:t>DELETE</a:t>
            </a:r>
            <a:r>
              <a:rPr dirty="0" sz="2800" spc="-70">
                <a:solidFill>
                  <a:srgbClr val="4E3629"/>
                </a:solidFill>
                <a:latin typeface="Calibri"/>
                <a:cs typeface="Calibri"/>
              </a:rPr>
              <a:t> </a:t>
            </a:r>
            <a:r>
              <a:rPr dirty="0" sz="2800" spc="-10">
                <a:solidFill>
                  <a:srgbClr val="4E3629"/>
                </a:solidFill>
                <a:latin typeface="Calibri"/>
                <a:cs typeface="Calibri"/>
              </a:rPr>
              <a:t>CASCADE, </a:t>
            </a:r>
            <a:r>
              <a:rPr dirty="0" sz="2800" spc="-10">
                <a:solidFill>
                  <a:srgbClr val="4E3629"/>
                </a:solidFill>
                <a:latin typeface="Calibri"/>
                <a:cs typeface="Calibri"/>
              </a:rPr>
              <a:t>	</a:t>
            </a:r>
            <a:r>
              <a:rPr dirty="0" u="heavy" sz="2800">
                <a:solidFill>
                  <a:srgbClr val="4E3629"/>
                </a:solidFill>
                <a:uFill>
                  <a:solidFill>
                    <a:srgbClr val="EC2814"/>
                  </a:solidFill>
                </a:uFill>
                <a:latin typeface="Calibri"/>
                <a:cs typeface="Calibri"/>
              </a:rPr>
              <a:t>las</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filas</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secundarias</a:t>
            </a:r>
            <a:r>
              <a:rPr dirty="0" u="heavy" sz="2800" spc="-2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pueden</a:t>
            </a:r>
            <a:r>
              <a:rPr dirty="0" u="heavy" sz="2800" spc="-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rellenar</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con</a:t>
            </a:r>
            <a:r>
              <a:rPr dirty="0" u="heavy" sz="2800" spc="-4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valores</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a:solidFill>
                  <a:srgbClr val="4E3629"/>
                </a:solidFill>
                <a:uFill>
                  <a:solidFill>
                    <a:srgbClr val="EC2814"/>
                  </a:solidFill>
                </a:uFill>
                <a:latin typeface="Calibri"/>
                <a:cs typeface="Calibri"/>
              </a:rPr>
              <a:t>nulos</a:t>
            </a:r>
            <a:r>
              <a:rPr dirty="0" u="heavy" sz="2800" spc="-3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mediante</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opción</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ON</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DELETE</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SET</a:t>
            </a:r>
            <a:r>
              <a:rPr dirty="0" u="heavy" sz="2800" spc="-55">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NULL</a:t>
            </a:r>
            <a:endParaRPr sz="2800">
              <a:latin typeface="Calibri"/>
              <a:cs typeface="Calibri"/>
            </a:endParaRPr>
          </a:p>
        </p:txBody>
      </p:sp>
      <p:sp>
        <p:nvSpPr>
          <p:cNvPr id="4" name="object 4" descr=""/>
          <p:cNvSpPr txBox="1"/>
          <p:nvPr/>
        </p:nvSpPr>
        <p:spPr>
          <a:xfrm>
            <a:off x="405384" y="3177539"/>
            <a:ext cx="8345805" cy="2007235"/>
          </a:xfrm>
          <a:prstGeom prst="rect">
            <a:avLst/>
          </a:prstGeom>
          <a:solidFill>
            <a:srgbClr val="9DBEC4">
              <a:alpha val="50199"/>
            </a:srgbClr>
          </a:solidFill>
        </p:spPr>
        <p:txBody>
          <a:bodyPr wrap="square" lIns="0" tIns="5080" rIns="0" bIns="0" rtlCol="0" vert="horz">
            <a:spAutoFit/>
          </a:bodyPr>
          <a:lstStyle/>
          <a:p>
            <a:pPr>
              <a:lnSpc>
                <a:spcPct val="100000"/>
              </a:lnSpc>
              <a:spcBef>
                <a:spcPts val="40"/>
              </a:spcBef>
            </a:pPr>
            <a:r>
              <a:rPr dirty="0" sz="1600" b="1">
                <a:solidFill>
                  <a:srgbClr val="4E3629"/>
                </a:solidFill>
                <a:latin typeface="Courier New"/>
                <a:cs typeface="Courier New"/>
              </a:rPr>
              <a:t>CREATE</a:t>
            </a:r>
            <a:r>
              <a:rPr dirty="0" sz="1600" spc="-45" b="1">
                <a:solidFill>
                  <a:srgbClr val="4E3629"/>
                </a:solidFill>
                <a:latin typeface="Courier New"/>
                <a:cs typeface="Courier New"/>
              </a:rPr>
              <a:t> </a:t>
            </a:r>
            <a:r>
              <a:rPr dirty="0" sz="1600" b="1">
                <a:solidFill>
                  <a:srgbClr val="4E3629"/>
                </a:solidFill>
                <a:latin typeface="Courier New"/>
                <a:cs typeface="Courier New"/>
              </a:rPr>
              <a:t>TABLE</a:t>
            </a:r>
            <a:r>
              <a:rPr dirty="0" sz="1600" spc="-35" b="1">
                <a:solidFill>
                  <a:srgbClr val="4E3629"/>
                </a:solidFill>
                <a:latin typeface="Courier New"/>
                <a:cs typeface="Courier New"/>
              </a:rPr>
              <a:t> </a:t>
            </a:r>
            <a:r>
              <a:rPr dirty="0" sz="1600" spc="-10" b="1">
                <a:solidFill>
                  <a:srgbClr val="4E3629"/>
                </a:solidFill>
                <a:latin typeface="Courier New"/>
                <a:cs typeface="Courier New"/>
              </a:rPr>
              <a:t>copy_employees</a:t>
            </a:r>
            <a:endParaRPr sz="1600">
              <a:latin typeface="Courier New"/>
              <a:cs typeface="Courier New"/>
            </a:endParaRPr>
          </a:p>
          <a:p>
            <a:pPr marL="120650" marR="1010285" indent="-121920">
              <a:lnSpc>
                <a:spcPct val="100000"/>
              </a:lnSpc>
            </a:pPr>
            <a:r>
              <a:rPr dirty="0" sz="1600" b="1">
                <a:solidFill>
                  <a:srgbClr val="4E3629"/>
                </a:solidFill>
                <a:latin typeface="Courier New"/>
                <a:cs typeface="Courier New"/>
              </a:rPr>
              <a:t>(employee_id</a:t>
            </a:r>
            <a:r>
              <a:rPr dirty="0" sz="1600" spc="-75" b="1">
                <a:solidFill>
                  <a:srgbClr val="4E3629"/>
                </a:solidFill>
                <a:latin typeface="Courier New"/>
                <a:cs typeface="Courier New"/>
              </a:rPr>
              <a:t> </a:t>
            </a:r>
            <a:r>
              <a:rPr dirty="0" sz="1600" b="1">
                <a:solidFill>
                  <a:srgbClr val="4E3629"/>
                </a:solidFill>
                <a:latin typeface="Courier New"/>
                <a:cs typeface="Courier New"/>
              </a:rPr>
              <a:t>NUMBER(6,0)</a:t>
            </a:r>
            <a:r>
              <a:rPr dirty="0" sz="1600" spc="-75" b="1">
                <a:solidFill>
                  <a:srgbClr val="4E3629"/>
                </a:solidFill>
                <a:latin typeface="Courier New"/>
                <a:cs typeface="Courier New"/>
              </a:rPr>
              <a:t> </a:t>
            </a:r>
            <a:r>
              <a:rPr dirty="0" sz="1600" b="1">
                <a:solidFill>
                  <a:srgbClr val="4E3629"/>
                </a:solidFill>
                <a:latin typeface="Courier New"/>
                <a:cs typeface="Courier New"/>
              </a:rPr>
              <a:t>CONSTRAINT</a:t>
            </a:r>
            <a:r>
              <a:rPr dirty="0" sz="1600" spc="-70" b="1">
                <a:solidFill>
                  <a:srgbClr val="4E3629"/>
                </a:solidFill>
                <a:latin typeface="Courier New"/>
                <a:cs typeface="Courier New"/>
              </a:rPr>
              <a:t> </a:t>
            </a:r>
            <a:r>
              <a:rPr dirty="0" sz="1600" b="1">
                <a:solidFill>
                  <a:srgbClr val="4E3629"/>
                </a:solidFill>
                <a:latin typeface="Courier New"/>
                <a:cs typeface="Courier New"/>
              </a:rPr>
              <a:t>copy_emp_pk</a:t>
            </a:r>
            <a:r>
              <a:rPr dirty="0" sz="1600" spc="-70" b="1">
                <a:solidFill>
                  <a:srgbClr val="4E3629"/>
                </a:solidFill>
                <a:latin typeface="Courier New"/>
                <a:cs typeface="Courier New"/>
              </a:rPr>
              <a:t> </a:t>
            </a:r>
            <a:r>
              <a:rPr dirty="0" sz="1600" b="1">
                <a:solidFill>
                  <a:srgbClr val="4E3629"/>
                </a:solidFill>
                <a:latin typeface="Courier New"/>
                <a:cs typeface="Courier New"/>
              </a:rPr>
              <a:t>PRIMARY</a:t>
            </a:r>
            <a:r>
              <a:rPr dirty="0" sz="1600" spc="-80" b="1">
                <a:solidFill>
                  <a:srgbClr val="4E3629"/>
                </a:solidFill>
                <a:latin typeface="Courier New"/>
                <a:cs typeface="Courier New"/>
              </a:rPr>
              <a:t> </a:t>
            </a:r>
            <a:r>
              <a:rPr dirty="0" sz="1600" spc="-20" b="1">
                <a:solidFill>
                  <a:srgbClr val="4E3629"/>
                </a:solidFill>
                <a:latin typeface="Courier New"/>
                <a:cs typeface="Courier New"/>
              </a:rPr>
              <a:t>KEY, </a:t>
            </a:r>
            <a:r>
              <a:rPr dirty="0" sz="1600" b="1">
                <a:solidFill>
                  <a:srgbClr val="4E3629"/>
                </a:solidFill>
                <a:latin typeface="Courier New"/>
                <a:cs typeface="Courier New"/>
              </a:rPr>
              <a:t>first_name</a:t>
            </a:r>
            <a:r>
              <a:rPr dirty="0" sz="1600" spc="-70" b="1">
                <a:solidFill>
                  <a:srgbClr val="4E3629"/>
                </a:solidFill>
                <a:latin typeface="Courier New"/>
                <a:cs typeface="Courier New"/>
              </a:rPr>
              <a:t> </a:t>
            </a:r>
            <a:r>
              <a:rPr dirty="0" sz="1600" spc="-10" b="1">
                <a:solidFill>
                  <a:srgbClr val="4E3629"/>
                </a:solidFill>
                <a:latin typeface="Courier New"/>
                <a:cs typeface="Courier New"/>
              </a:rPr>
              <a:t>VARCHAR2(20),</a:t>
            </a:r>
            <a:endParaRPr sz="1600">
              <a:latin typeface="Courier New"/>
              <a:cs typeface="Courier New"/>
            </a:endParaRPr>
          </a:p>
          <a:p>
            <a:pPr marL="120650" marR="5041265">
              <a:lnSpc>
                <a:spcPct val="100000"/>
              </a:lnSpc>
            </a:pPr>
            <a:r>
              <a:rPr dirty="0" sz="1600" b="1">
                <a:solidFill>
                  <a:srgbClr val="4E3629"/>
                </a:solidFill>
                <a:latin typeface="Courier New"/>
                <a:cs typeface="Courier New"/>
              </a:rPr>
              <a:t>last_name</a:t>
            </a:r>
            <a:r>
              <a:rPr dirty="0" sz="1600" spc="-75" b="1">
                <a:solidFill>
                  <a:srgbClr val="4E3629"/>
                </a:solidFill>
                <a:latin typeface="Courier New"/>
                <a:cs typeface="Courier New"/>
              </a:rPr>
              <a:t> </a:t>
            </a:r>
            <a:r>
              <a:rPr dirty="0" sz="1600" spc="-10" b="1">
                <a:solidFill>
                  <a:srgbClr val="4E3629"/>
                </a:solidFill>
                <a:latin typeface="Courier New"/>
                <a:cs typeface="Courier New"/>
              </a:rPr>
              <a:t>VARCHAR2(25), </a:t>
            </a:r>
            <a:r>
              <a:rPr dirty="0" sz="1600" b="1">
                <a:solidFill>
                  <a:srgbClr val="4E3629"/>
                </a:solidFill>
                <a:latin typeface="Courier New"/>
                <a:cs typeface="Courier New"/>
              </a:rPr>
              <a:t>department_id</a:t>
            </a:r>
            <a:r>
              <a:rPr dirty="0" sz="1600" spc="-100" b="1">
                <a:solidFill>
                  <a:srgbClr val="4E3629"/>
                </a:solidFill>
                <a:latin typeface="Courier New"/>
                <a:cs typeface="Courier New"/>
              </a:rPr>
              <a:t> </a:t>
            </a:r>
            <a:r>
              <a:rPr dirty="0" sz="1600" spc="-10" b="1">
                <a:solidFill>
                  <a:srgbClr val="4E3629"/>
                </a:solidFill>
                <a:latin typeface="Courier New"/>
                <a:cs typeface="Courier New"/>
              </a:rPr>
              <a:t>NUMBER(4,0), </a:t>
            </a:r>
            <a:r>
              <a:rPr dirty="0" sz="1600" b="1">
                <a:solidFill>
                  <a:srgbClr val="4E3629"/>
                </a:solidFill>
                <a:latin typeface="Courier New"/>
                <a:cs typeface="Courier New"/>
              </a:rPr>
              <a:t>email</a:t>
            </a:r>
            <a:r>
              <a:rPr dirty="0" sz="1600" spc="-40" b="1">
                <a:solidFill>
                  <a:srgbClr val="4E3629"/>
                </a:solidFill>
                <a:latin typeface="Courier New"/>
                <a:cs typeface="Courier New"/>
              </a:rPr>
              <a:t> </a:t>
            </a:r>
            <a:r>
              <a:rPr dirty="0" sz="1600" spc="-10" b="1">
                <a:solidFill>
                  <a:srgbClr val="4E3629"/>
                </a:solidFill>
                <a:latin typeface="Courier New"/>
                <a:cs typeface="Courier New"/>
              </a:rPr>
              <a:t>VARCHAR2(25),</a:t>
            </a:r>
            <a:endParaRPr sz="1600">
              <a:latin typeface="Courier New"/>
              <a:cs typeface="Courier New"/>
            </a:endParaRPr>
          </a:p>
          <a:p>
            <a:pPr marL="487045" marR="155575" indent="-366395">
              <a:lnSpc>
                <a:spcPct val="100000"/>
              </a:lnSpc>
            </a:pPr>
            <a:r>
              <a:rPr dirty="0" sz="1600" b="1">
                <a:solidFill>
                  <a:srgbClr val="4E3629"/>
                </a:solidFill>
                <a:latin typeface="Courier New"/>
                <a:cs typeface="Courier New"/>
              </a:rPr>
              <a:t>CONSTRAINT</a:t>
            </a:r>
            <a:r>
              <a:rPr dirty="0" sz="1600" spc="-60" b="1">
                <a:solidFill>
                  <a:srgbClr val="4E3629"/>
                </a:solidFill>
                <a:latin typeface="Courier New"/>
                <a:cs typeface="Courier New"/>
              </a:rPr>
              <a:t> </a:t>
            </a:r>
            <a:r>
              <a:rPr dirty="0" sz="1600" b="1">
                <a:solidFill>
                  <a:srgbClr val="4E3629"/>
                </a:solidFill>
                <a:latin typeface="Courier New"/>
                <a:cs typeface="Courier New"/>
              </a:rPr>
              <a:t>cdept_dept_id_fk</a:t>
            </a:r>
            <a:r>
              <a:rPr dirty="0" sz="1600" spc="-65" b="1">
                <a:solidFill>
                  <a:srgbClr val="4E3629"/>
                </a:solidFill>
                <a:latin typeface="Courier New"/>
                <a:cs typeface="Courier New"/>
              </a:rPr>
              <a:t> </a:t>
            </a:r>
            <a:r>
              <a:rPr dirty="0" sz="1600" b="1">
                <a:solidFill>
                  <a:srgbClr val="4E3629"/>
                </a:solidFill>
                <a:latin typeface="Courier New"/>
                <a:cs typeface="Courier New"/>
              </a:rPr>
              <a:t>FOREIGN</a:t>
            </a:r>
            <a:r>
              <a:rPr dirty="0" sz="1600" spc="-70" b="1">
                <a:solidFill>
                  <a:srgbClr val="4E3629"/>
                </a:solidFill>
                <a:latin typeface="Courier New"/>
                <a:cs typeface="Courier New"/>
              </a:rPr>
              <a:t> </a:t>
            </a:r>
            <a:r>
              <a:rPr dirty="0" sz="1600" b="1">
                <a:solidFill>
                  <a:srgbClr val="4E3629"/>
                </a:solidFill>
                <a:latin typeface="Courier New"/>
                <a:cs typeface="Courier New"/>
              </a:rPr>
              <a:t>KEY</a:t>
            </a:r>
            <a:r>
              <a:rPr dirty="0" sz="1600" spc="-75" b="1">
                <a:solidFill>
                  <a:srgbClr val="4E3629"/>
                </a:solidFill>
                <a:latin typeface="Courier New"/>
                <a:cs typeface="Courier New"/>
              </a:rPr>
              <a:t> </a:t>
            </a:r>
            <a:r>
              <a:rPr dirty="0" sz="1600" spc="-10" b="1">
                <a:solidFill>
                  <a:srgbClr val="4E3629"/>
                </a:solidFill>
                <a:latin typeface="Courier New"/>
                <a:cs typeface="Courier New"/>
              </a:rPr>
              <a:t>(department_id)</a:t>
            </a:r>
            <a:r>
              <a:rPr dirty="0" sz="1600" spc="-10" b="1">
                <a:solidFill>
                  <a:srgbClr val="4E3629"/>
                </a:solidFill>
                <a:latin typeface="Courier New"/>
                <a:cs typeface="Courier New"/>
              </a:rPr>
              <a:t>  </a:t>
            </a:r>
            <a:r>
              <a:rPr dirty="0" sz="1600" b="1">
                <a:solidFill>
                  <a:srgbClr val="4E3629"/>
                </a:solidFill>
                <a:latin typeface="Courier New"/>
                <a:cs typeface="Courier New"/>
              </a:rPr>
              <a:t>REFERENCES</a:t>
            </a:r>
            <a:r>
              <a:rPr dirty="0" sz="1600" spc="-75" b="1">
                <a:solidFill>
                  <a:srgbClr val="4E3629"/>
                </a:solidFill>
                <a:latin typeface="Courier New"/>
                <a:cs typeface="Courier New"/>
              </a:rPr>
              <a:t> </a:t>
            </a:r>
            <a:r>
              <a:rPr dirty="0" sz="1600" b="1">
                <a:solidFill>
                  <a:srgbClr val="4E3629"/>
                </a:solidFill>
                <a:latin typeface="Courier New"/>
                <a:cs typeface="Courier New"/>
              </a:rPr>
              <a:t>copy_departments(department_id)</a:t>
            </a:r>
            <a:r>
              <a:rPr dirty="0" sz="1600" spc="-70" b="1">
                <a:solidFill>
                  <a:srgbClr val="4E3629"/>
                </a:solidFill>
                <a:latin typeface="Courier New"/>
                <a:cs typeface="Courier New"/>
              </a:rPr>
              <a:t> </a:t>
            </a:r>
            <a:r>
              <a:rPr dirty="0" sz="1600" b="1">
                <a:solidFill>
                  <a:srgbClr val="D1350F"/>
                </a:solidFill>
                <a:latin typeface="Courier New"/>
                <a:cs typeface="Courier New"/>
              </a:rPr>
              <a:t>ON</a:t>
            </a:r>
            <a:r>
              <a:rPr dirty="0" sz="1600" spc="-80" b="1">
                <a:solidFill>
                  <a:srgbClr val="D1350F"/>
                </a:solidFill>
                <a:latin typeface="Courier New"/>
                <a:cs typeface="Courier New"/>
              </a:rPr>
              <a:t> </a:t>
            </a:r>
            <a:r>
              <a:rPr dirty="0" sz="1600" b="1">
                <a:solidFill>
                  <a:srgbClr val="D1350F"/>
                </a:solidFill>
                <a:latin typeface="Courier New"/>
                <a:cs typeface="Courier New"/>
              </a:rPr>
              <a:t>DELETE</a:t>
            </a:r>
            <a:r>
              <a:rPr dirty="0" sz="1600" spc="-80" b="1">
                <a:solidFill>
                  <a:srgbClr val="D1350F"/>
                </a:solidFill>
                <a:latin typeface="Courier New"/>
                <a:cs typeface="Courier New"/>
              </a:rPr>
              <a:t> </a:t>
            </a:r>
            <a:r>
              <a:rPr dirty="0" sz="1600" b="1">
                <a:solidFill>
                  <a:srgbClr val="D1350F"/>
                </a:solidFill>
                <a:latin typeface="Courier New"/>
                <a:cs typeface="Courier New"/>
              </a:rPr>
              <a:t>SET</a:t>
            </a:r>
            <a:r>
              <a:rPr dirty="0" sz="1600" spc="-70" b="1">
                <a:solidFill>
                  <a:srgbClr val="D1350F"/>
                </a:solidFill>
                <a:latin typeface="Courier New"/>
                <a:cs typeface="Courier New"/>
              </a:rPr>
              <a:t> </a:t>
            </a:r>
            <a:r>
              <a:rPr dirty="0" sz="1600" spc="-10" b="1">
                <a:solidFill>
                  <a:srgbClr val="D1350F"/>
                </a:solidFill>
                <a:latin typeface="Courier New"/>
                <a:cs typeface="Courier New"/>
              </a:rPr>
              <a:t>NULL</a:t>
            </a:r>
            <a:r>
              <a:rPr dirty="0" sz="1600" spc="-10" b="1">
                <a:solidFill>
                  <a:srgbClr val="4E3629"/>
                </a:solidFill>
                <a:latin typeface="Courier New"/>
                <a:cs typeface="Courier New"/>
              </a:rPr>
              <a:t>);</a:t>
            </a:r>
            <a:endParaRPr sz="1600">
              <a:latin typeface="Courier New"/>
              <a:cs typeface="Courier New"/>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spc="-10"/>
              <a:t>Restricciones</a:t>
            </a:r>
            <a:r>
              <a:rPr dirty="0" spc="-80"/>
              <a:t> </a:t>
            </a:r>
            <a:r>
              <a:rPr dirty="0" spc="-10"/>
              <a:t>CHECK</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2</a:t>
            </a:r>
          </a:p>
          <a:p>
            <a:pPr marL="12700" marR="5080">
              <a:lnSpc>
                <a:spcPts val="919"/>
              </a:lnSpc>
              <a:spcBef>
                <a:spcPts val="60"/>
              </a:spcBef>
            </a:pPr>
            <a:r>
              <a:rPr dirty="0" spc="-10"/>
              <a:t>Restricciones</a:t>
            </a:r>
            <a:r>
              <a:rPr dirty="0" spc="55"/>
              <a:t> </a:t>
            </a:r>
            <a:r>
              <a:rPr dirty="0"/>
              <a:t>PRIMARY</a:t>
            </a:r>
            <a:r>
              <a:rPr dirty="0" spc="-30"/>
              <a:t> </a:t>
            </a:r>
            <a:r>
              <a:rPr dirty="0" spc="-20"/>
              <a:t>KEY,</a:t>
            </a:r>
            <a:r>
              <a:rPr dirty="0" spc="500"/>
              <a:t> </a:t>
            </a:r>
            <a:r>
              <a:rPr dirty="0"/>
              <a:t>FOREIGN</a:t>
            </a:r>
            <a:r>
              <a:rPr dirty="0" spc="-40"/>
              <a:t> </a:t>
            </a:r>
            <a:r>
              <a:rPr dirty="0"/>
              <a:t>KEY</a:t>
            </a:r>
            <a:r>
              <a:rPr dirty="0" spc="-20"/>
              <a:t> </a:t>
            </a:r>
            <a:r>
              <a:rPr dirty="0"/>
              <a:t>y</a:t>
            </a:r>
            <a:r>
              <a:rPr dirty="0" spc="-5"/>
              <a:t> </a:t>
            </a:r>
            <a:r>
              <a:rPr dirty="0" spc="-20"/>
              <a:t>CHECK</a:t>
            </a: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27</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8173720" cy="3344545"/>
          </a:xfrm>
          <a:prstGeom prst="rect">
            <a:avLst/>
          </a:prstGeom>
        </p:spPr>
        <p:txBody>
          <a:bodyPr wrap="square" lIns="0" tIns="59690" rIns="0" bIns="0" rtlCol="0" vert="horz">
            <a:spAutoFit/>
          </a:bodyPr>
          <a:lstStyle/>
          <a:p>
            <a:pPr marL="182880" marR="121285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La</a:t>
            </a:r>
            <a:r>
              <a:rPr dirty="0" sz="2800" spc="-90">
                <a:solidFill>
                  <a:srgbClr val="4E3629"/>
                </a:solidFill>
                <a:latin typeface="Calibri"/>
                <a:cs typeface="Calibri"/>
              </a:rPr>
              <a:t> </a:t>
            </a:r>
            <a:r>
              <a:rPr dirty="0" sz="2800" spc="-10">
                <a:solidFill>
                  <a:srgbClr val="4E3629"/>
                </a:solidFill>
                <a:latin typeface="Calibri"/>
                <a:cs typeface="Calibri"/>
              </a:rPr>
              <a:t>restricción</a:t>
            </a:r>
            <a:r>
              <a:rPr dirty="0" sz="2800" spc="-50">
                <a:solidFill>
                  <a:srgbClr val="4E3629"/>
                </a:solidFill>
                <a:latin typeface="Calibri"/>
                <a:cs typeface="Calibri"/>
              </a:rPr>
              <a:t> </a:t>
            </a:r>
            <a:r>
              <a:rPr dirty="0" u="heavy" sz="2800">
                <a:solidFill>
                  <a:srgbClr val="4E3629"/>
                </a:solidFill>
                <a:uFill>
                  <a:solidFill>
                    <a:srgbClr val="EC2814"/>
                  </a:solidFill>
                </a:uFill>
                <a:latin typeface="Calibri"/>
                <a:cs typeface="Calibri"/>
              </a:rPr>
              <a:t>CHECK</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define</a:t>
            </a:r>
            <a:r>
              <a:rPr dirty="0" u="heavy" sz="2800" spc="-7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explícitamente</a:t>
            </a:r>
            <a:r>
              <a:rPr dirty="0" u="heavy" sz="2800" spc="-5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una</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condición</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que</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debe</a:t>
            </a:r>
            <a:r>
              <a:rPr dirty="0" u="heavy" sz="2800" spc="-5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cumplir</a:t>
            </a:r>
            <a:endParaRPr sz="2800">
              <a:latin typeface="Calibri"/>
              <a:cs typeface="Calibri"/>
            </a:endParaRPr>
          </a:p>
          <a:p>
            <a:pPr marL="182880" marR="19050" indent="-170815">
              <a:lnSpc>
                <a:spcPts val="3030"/>
              </a:lnSpc>
              <a:spcBef>
                <a:spcPts val="795"/>
              </a:spcBef>
              <a:buClr>
                <a:srgbClr val="D1350F"/>
              </a:buClr>
              <a:buFont typeface="Arial MT"/>
              <a:buChar char="•"/>
              <a:tabLst>
                <a:tab pos="184785" algn="l"/>
              </a:tabLst>
            </a:pPr>
            <a:r>
              <a:rPr dirty="0" sz="2800" spc="-10">
                <a:solidFill>
                  <a:srgbClr val="4E3629"/>
                </a:solidFill>
                <a:latin typeface="Calibri"/>
                <a:cs typeface="Calibri"/>
              </a:rPr>
              <a:t>Para</a:t>
            </a:r>
            <a:r>
              <a:rPr dirty="0" sz="2800" spc="-50">
                <a:solidFill>
                  <a:srgbClr val="4E3629"/>
                </a:solidFill>
                <a:latin typeface="Calibri"/>
                <a:cs typeface="Calibri"/>
              </a:rPr>
              <a:t> </a:t>
            </a:r>
            <a:r>
              <a:rPr dirty="0" sz="2800">
                <a:solidFill>
                  <a:srgbClr val="4E3629"/>
                </a:solidFill>
                <a:latin typeface="Calibri"/>
                <a:cs typeface="Calibri"/>
              </a:rPr>
              <a:t>cumplir</a:t>
            </a:r>
            <a:r>
              <a:rPr dirty="0" sz="2800" spc="-20">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spc="-10">
                <a:solidFill>
                  <a:srgbClr val="4E3629"/>
                </a:solidFill>
                <a:latin typeface="Calibri"/>
                <a:cs typeface="Calibri"/>
              </a:rPr>
              <a:t>restricción,</a:t>
            </a:r>
            <a:r>
              <a:rPr dirty="0" sz="2800" spc="-20">
                <a:solidFill>
                  <a:srgbClr val="4E3629"/>
                </a:solidFill>
                <a:latin typeface="Calibri"/>
                <a:cs typeface="Calibri"/>
              </a:rPr>
              <a:t> </a:t>
            </a:r>
            <a:r>
              <a:rPr dirty="0" u="heavy" sz="2800">
                <a:solidFill>
                  <a:srgbClr val="4E3629"/>
                </a:solidFill>
                <a:uFill>
                  <a:solidFill>
                    <a:srgbClr val="EC2814"/>
                  </a:solidFill>
                </a:uFill>
                <a:latin typeface="Calibri"/>
                <a:cs typeface="Calibri"/>
              </a:rPr>
              <a:t>cada</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las</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filas</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4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la</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tabla</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debe</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hacer</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que</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condición</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sea</a:t>
            </a:r>
            <a:r>
              <a:rPr dirty="0" u="heavy" sz="2800" spc="-55">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True</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o</a:t>
            </a:r>
            <a:r>
              <a:rPr dirty="0" u="heavy" sz="2800" spc="-6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desconocid</a:t>
            </a:r>
            <a:r>
              <a:rPr dirty="0" sz="2800" spc="-10">
                <a:solidFill>
                  <a:srgbClr val="4E3629"/>
                </a:solidFill>
                <a:latin typeface="Calibri"/>
                <a:cs typeface="Calibri"/>
              </a:rPr>
              <a:t>a </a:t>
            </a:r>
            <a:r>
              <a:rPr dirty="0" sz="2800" spc="-10">
                <a:solidFill>
                  <a:srgbClr val="4E3629"/>
                </a:solidFill>
                <a:latin typeface="Calibri"/>
                <a:cs typeface="Calibri"/>
              </a:rPr>
              <a:t>	</a:t>
            </a:r>
            <a:r>
              <a:rPr dirty="0" sz="2800">
                <a:solidFill>
                  <a:srgbClr val="4E3629"/>
                </a:solidFill>
                <a:latin typeface="Calibri"/>
                <a:cs typeface="Calibri"/>
              </a:rPr>
              <a:t>(debido</a:t>
            </a:r>
            <a:r>
              <a:rPr dirty="0" sz="2800" spc="-30">
                <a:solidFill>
                  <a:srgbClr val="4E3629"/>
                </a:solidFill>
                <a:latin typeface="Calibri"/>
                <a:cs typeface="Calibri"/>
              </a:rPr>
              <a:t> </a:t>
            </a:r>
            <a:r>
              <a:rPr dirty="0" sz="2800">
                <a:solidFill>
                  <a:srgbClr val="4E3629"/>
                </a:solidFill>
                <a:latin typeface="Calibri"/>
                <a:cs typeface="Calibri"/>
              </a:rPr>
              <a:t>a</a:t>
            </a:r>
            <a:r>
              <a:rPr dirty="0" sz="2800" spc="-45">
                <a:solidFill>
                  <a:srgbClr val="4E3629"/>
                </a:solidFill>
                <a:latin typeface="Calibri"/>
                <a:cs typeface="Calibri"/>
              </a:rPr>
              <a:t> </a:t>
            </a:r>
            <a:r>
              <a:rPr dirty="0" sz="2800">
                <a:solidFill>
                  <a:srgbClr val="4E3629"/>
                </a:solidFill>
                <a:latin typeface="Calibri"/>
                <a:cs typeface="Calibri"/>
              </a:rPr>
              <a:t>un</a:t>
            </a:r>
            <a:r>
              <a:rPr dirty="0" sz="2800" spc="-35">
                <a:solidFill>
                  <a:srgbClr val="4E3629"/>
                </a:solidFill>
                <a:latin typeface="Calibri"/>
                <a:cs typeface="Calibri"/>
              </a:rPr>
              <a:t> </a:t>
            </a:r>
            <a:r>
              <a:rPr dirty="0" sz="2800">
                <a:solidFill>
                  <a:srgbClr val="4E3629"/>
                </a:solidFill>
                <a:latin typeface="Calibri"/>
                <a:cs typeface="Calibri"/>
              </a:rPr>
              <a:t>valor</a:t>
            </a:r>
            <a:r>
              <a:rPr dirty="0" sz="2800" spc="-55">
                <a:solidFill>
                  <a:srgbClr val="4E3629"/>
                </a:solidFill>
                <a:latin typeface="Calibri"/>
                <a:cs typeface="Calibri"/>
              </a:rPr>
              <a:t> </a:t>
            </a:r>
            <a:r>
              <a:rPr dirty="0" sz="2800" spc="-10">
                <a:solidFill>
                  <a:srgbClr val="4E3629"/>
                </a:solidFill>
                <a:latin typeface="Calibri"/>
                <a:cs typeface="Calibri"/>
              </a:rPr>
              <a:t>nulo)</a:t>
            </a:r>
            <a:endParaRPr sz="2800">
              <a:latin typeface="Calibri"/>
              <a:cs typeface="Calibri"/>
            </a:endParaRPr>
          </a:p>
          <a:p>
            <a:pPr marL="182880" marR="5080" indent="-170815">
              <a:lnSpc>
                <a:spcPts val="3030"/>
              </a:lnSpc>
              <a:spcBef>
                <a:spcPts val="785"/>
              </a:spcBef>
              <a:buClr>
                <a:srgbClr val="D1350F"/>
              </a:buClr>
              <a:buFont typeface="Arial MT"/>
              <a:buChar char="•"/>
              <a:tabLst>
                <a:tab pos="184785" algn="l"/>
              </a:tabLst>
            </a:pP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condición</a:t>
            </a:r>
            <a:r>
              <a:rPr dirty="0" sz="2800" spc="-3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una</a:t>
            </a:r>
            <a:r>
              <a:rPr dirty="0" sz="2800" spc="-25">
                <a:solidFill>
                  <a:srgbClr val="4E3629"/>
                </a:solidFill>
                <a:latin typeface="Calibri"/>
                <a:cs typeface="Calibri"/>
              </a:rPr>
              <a:t> </a:t>
            </a:r>
            <a:r>
              <a:rPr dirty="0" sz="2800" spc="-10">
                <a:solidFill>
                  <a:srgbClr val="4E3629"/>
                </a:solidFill>
                <a:latin typeface="Calibri"/>
                <a:cs typeface="Calibri"/>
              </a:rPr>
              <a:t>restricción</a:t>
            </a:r>
            <a:r>
              <a:rPr dirty="0" sz="2800" spc="-3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CHECK</a:t>
            </a:r>
            <a:r>
              <a:rPr dirty="0" sz="2800" spc="-50">
                <a:solidFill>
                  <a:srgbClr val="4E3629"/>
                </a:solidFill>
                <a:latin typeface="Calibri"/>
                <a:cs typeface="Calibri"/>
              </a:rPr>
              <a:t> </a:t>
            </a:r>
            <a:r>
              <a:rPr dirty="0" sz="2800">
                <a:solidFill>
                  <a:srgbClr val="4E3629"/>
                </a:solidFill>
                <a:latin typeface="Calibri"/>
                <a:cs typeface="Calibri"/>
              </a:rPr>
              <a:t>puede</a:t>
            </a:r>
            <a:r>
              <a:rPr dirty="0" sz="2800" spc="-35">
                <a:solidFill>
                  <a:srgbClr val="4E3629"/>
                </a:solidFill>
                <a:latin typeface="Calibri"/>
                <a:cs typeface="Calibri"/>
              </a:rPr>
              <a:t> </a:t>
            </a:r>
            <a:r>
              <a:rPr dirty="0" sz="2800" spc="-10">
                <a:solidFill>
                  <a:srgbClr val="4E3629"/>
                </a:solidFill>
                <a:latin typeface="Calibri"/>
                <a:cs typeface="Calibri"/>
              </a:rPr>
              <a:t>hacer 	referencia</a:t>
            </a:r>
            <a:r>
              <a:rPr dirty="0" sz="2800" spc="-60">
                <a:solidFill>
                  <a:srgbClr val="4E3629"/>
                </a:solidFill>
                <a:latin typeface="Calibri"/>
                <a:cs typeface="Calibri"/>
              </a:rPr>
              <a:t> </a:t>
            </a:r>
            <a:r>
              <a:rPr dirty="0" sz="2800">
                <a:solidFill>
                  <a:srgbClr val="4E3629"/>
                </a:solidFill>
                <a:latin typeface="Calibri"/>
                <a:cs typeface="Calibri"/>
              </a:rPr>
              <a:t>a</a:t>
            </a:r>
            <a:r>
              <a:rPr dirty="0" sz="2800" spc="-65">
                <a:solidFill>
                  <a:srgbClr val="4E3629"/>
                </a:solidFill>
                <a:latin typeface="Calibri"/>
                <a:cs typeface="Calibri"/>
              </a:rPr>
              <a:t> </a:t>
            </a:r>
            <a:r>
              <a:rPr dirty="0" sz="2800">
                <a:solidFill>
                  <a:srgbClr val="4E3629"/>
                </a:solidFill>
                <a:latin typeface="Calibri"/>
                <a:cs typeface="Calibri"/>
              </a:rPr>
              <a:t>cualquier</a:t>
            </a:r>
            <a:r>
              <a:rPr dirty="0" sz="2800" spc="-30">
                <a:solidFill>
                  <a:srgbClr val="4E3629"/>
                </a:solidFill>
                <a:latin typeface="Calibri"/>
                <a:cs typeface="Calibri"/>
              </a:rPr>
              <a:t> </a:t>
            </a:r>
            <a:r>
              <a:rPr dirty="0" sz="2800">
                <a:solidFill>
                  <a:srgbClr val="4E3629"/>
                </a:solidFill>
                <a:latin typeface="Calibri"/>
                <a:cs typeface="Calibri"/>
              </a:rPr>
              <a:t>columna</a:t>
            </a:r>
            <a:r>
              <a:rPr dirty="0" sz="2800" spc="-3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a:solidFill>
                  <a:srgbClr val="4E3629"/>
                </a:solidFill>
                <a:latin typeface="Calibri"/>
                <a:cs typeface="Calibri"/>
              </a:rPr>
              <a:t>tabla</a:t>
            </a:r>
            <a:r>
              <a:rPr dirty="0" sz="2800" spc="-40">
                <a:solidFill>
                  <a:srgbClr val="4E3629"/>
                </a:solidFill>
                <a:latin typeface="Calibri"/>
                <a:cs typeface="Calibri"/>
              </a:rPr>
              <a:t> </a:t>
            </a:r>
            <a:r>
              <a:rPr dirty="0" sz="2800" spc="-10">
                <a:solidFill>
                  <a:srgbClr val="4E3629"/>
                </a:solidFill>
                <a:latin typeface="Calibri"/>
                <a:cs typeface="Calibri"/>
              </a:rPr>
              <a:t>especificada, </a:t>
            </a:r>
            <a:r>
              <a:rPr dirty="0" sz="2800" spc="-10">
                <a:solidFill>
                  <a:srgbClr val="4E3629"/>
                </a:solidFill>
                <a:latin typeface="Calibri"/>
                <a:cs typeface="Calibri"/>
              </a:rPr>
              <a:t>	</a:t>
            </a:r>
            <a:r>
              <a:rPr dirty="0" sz="2800">
                <a:solidFill>
                  <a:srgbClr val="4E3629"/>
                </a:solidFill>
                <a:latin typeface="Calibri"/>
                <a:cs typeface="Calibri"/>
              </a:rPr>
              <a:t>pero</a:t>
            </a:r>
            <a:r>
              <a:rPr dirty="0" sz="2800" spc="-60">
                <a:solidFill>
                  <a:srgbClr val="4E3629"/>
                </a:solidFill>
                <a:latin typeface="Calibri"/>
                <a:cs typeface="Calibri"/>
              </a:rPr>
              <a:t> </a:t>
            </a:r>
            <a:r>
              <a:rPr dirty="0" sz="2800">
                <a:solidFill>
                  <a:srgbClr val="4E3629"/>
                </a:solidFill>
                <a:latin typeface="Calibri"/>
                <a:cs typeface="Calibri"/>
              </a:rPr>
              <a:t>no</a:t>
            </a:r>
            <a:r>
              <a:rPr dirty="0" sz="2800" spc="-60">
                <a:solidFill>
                  <a:srgbClr val="4E3629"/>
                </a:solidFill>
                <a:latin typeface="Calibri"/>
                <a:cs typeface="Calibri"/>
              </a:rPr>
              <a:t> </a:t>
            </a:r>
            <a:r>
              <a:rPr dirty="0" sz="2800">
                <a:solidFill>
                  <a:srgbClr val="4E3629"/>
                </a:solidFill>
                <a:latin typeface="Calibri"/>
                <a:cs typeface="Calibri"/>
              </a:rPr>
              <a:t>a</a:t>
            </a:r>
            <a:r>
              <a:rPr dirty="0" sz="2800" spc="-70">
                <a:solidFill>
                  <a:srgbClr val="4E3629"/>
                </a:solidFill>
                <a:latin typeface="Calibri"/>
                <a:cs typeface="Calibri"/>
              </a:rPr>
              <a:t> </a:t>
            </a:r>
            <a:r>
              <a:rPr dirty="0" sz="2800">
                <a:solidFill>
                  <a:srgbClr val="4E3629"/>
                </a:solidFill>
                <a:latin typeface="Calibri"/>
                <a:cs typeface="Calibri"/>
              </a:rPr>
              <a:t>columnas</a:t>
            </a:r>
            <a:r>
              <a:rPr dirty="0" sz="2800" spc="-5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otras</a:t>
            </a:r>
            <a:r>
              <a:rPr dirty="0" sz="2800" spc="-60">
                <a:solidFill>
                  <a:srgbClr val="4E3629"/>
                </a:solidFill>
                <a:latin typeface="Calibri"/>
                <a:cs typeface="Calibri"/>
              </a:rPr>
              <a:t> </a:t>
            </a:r>
            <a:r>
              <a:rPr dirty="0" sz="2800" spc="-10">
                <a:solidFill>
                  <a:srgbClr val="4E3629"/>
                </a:solidFill>
                <a:latin typeface="Calibri"/>
                <a:cs typeface="Calibri"/>
              </a:rPr>
              <a:t>tablas</a:t>
            </a:r>
            <a:endParaRPr sz="2800">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a:t>Ejemplo</a:t>
            </a:r>
            <a:r>
              <a:rPr dirty="0" spc="-70"/>
              <a:t> </a:t>
            </a:r>
            <a:r>
              <a:rPr dirty="0"/>
              <a:t>de</a:t>
            </a:r>
            <a:r>
              <a:rPr dirty="0" spc="-60"/>
              <a:t> </a:t>
            </a:r>
            <a:r>
              <a:rPr dirty="0" spc="-10"/>
              <a:t>Restricción</a:t>
            </a:r>
            <a:r>
              <a:rPr dirty="0" spc="-70"/>
              <a:t> </a:t>
            </a:r>
            <a:r>
              <a:rPr dirty="0" spc="-10"/>
              <a:t>CHECK</a:t>
            </a:r>
          </a:p>
        </p:txBody>
      </p:sp>
      <p:sp>
        <p:nvSpPr>
          <p:cNvPr id="3" name="object 3" descr=""/>
          <p:cNvSpPr txBox="1"/>
          <p:nvPr/>
        </p:nvSpPr>
        <p:spPr>
          <a:xfrm>
            <a:off x="483552" y="1415417"/>
            <a:ext cx="7830184" cy="836294"/>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Esta</a:t>
            </a:r>
            <a:r>
              <a:rPr dirty="0" sz="2800" spc="-70">
                <a:solidFill>
                  <a:srgbClr val="4E3629"/>
                </a:solidFill>
                <a:latin typeface="Calibri"/>
                <a:cs typeface="Calibri"/>
              </a:rPr>
              <a:t> </a:t>
            </a:r>
            <a:r>
              <a:rPr dirty="0" sz="2800" spc="-10">
                <a:solidFill>
                  <a:srgbClr val="4E3629"/>
                </a:solidFill>
                <a:latin typeface="Calibri"/>
                <a:cs typeface="Calibri"/>
              </a:rPr>
              <a:t>restricción</a:t>
            </a:r>
            <a:r>
              <a:rPr dirty="0" sz="2800" spc="-40">
                <a:solidFill>
                  <a:srgbClr val="4E3629"/>
                </a:solidFill>
                <a:latin typeface="Calibri"/>
                <a:cs typeface="Calibri"/>
              </a:rPr>
              <a:t> </a:t>
            </a:r>
            <a:r>
              <a:rPr dirty="0" sz="2800">
                <a:solidFill>
                  <a:srgbClr val="4E3629"/>
                </a:solidFill>
                <a:latin typeface="Calibri"/>
                <a:cs typeface="Calibri"/>
              </a:rPr>
              <a:t>CHECK</a:t>
            </a:r>
            <a:r>
              <a:rPr dirty="0" sz="2800" spc="-70">
                <a:solidFill>
                  <a:srgbClr val="4E3629"/>
                </a:solidFill>
                <a:latin typeface="Calibri"/>
                <a:cs typeface="Calibri"/>
              </a:rPr>
              <a:t> </a:t>
            </a:r>
            <a:r>
              <a:rPr dirty="0" sz="2800" spc="-20">
                <a:solidFill>
                  <a:srgbClr val="4E3629"/>
                </a:solidFill>
                <a:latin typeface="Calibri"/>
                <a:cs typeface="Calibri"/>
              </a:rPr>
              <a:t>garantiza</a:t>
            </a:r>
            <a:r>
              <a:rPr dirty="0" sz="2800" spc="-75">
                <a:solidFill>
                  <a:srgbClr val="4E3629"/>
                </a:solidFill>
                <a:latin typeface="Calibri"/>
                <a:cs typeface="Calibri"/>
              </a:rPr>
              <a:t> </a:t>
            </a:r>
            <a:r>
              <a:rPr dirty="0" sz="2800">
                <a:solidFill>
                  <a:srgbClr val="4E3629"/>
                </a:solidFill>
                <a:latin typeface="Calibri"/>
                <a:cs typeface="Calibri"/>
              </a:rPr>
              <a:t>que</a:t>
            </a:r>
            <a:r>
              <a:rPr dirty="0" sz="2800" spc="-45">
                <a:solidFill>
                  <a:srgbClr val="4E3629"/>
                </a:solidFill>
                <a:latin typeface="Calibri"/>
                <a:cs typeface="Calibri"/>
              </a:rPr>
              <a:t> </a:t>
            </a:r>
            <a:r>
              <a:rPr dirty="0" sz="2800">
                <a:solidFill>
                  <a:srgbClr val="4E3629"/>
                </a:solidFill>
                <a:latin typeface="Calibri"/>
                <a:cs typeface="Calibri"/>
              </a:rPr>
              <a:t>un</a:t>
            </a:r>
            <a:r>
              <a:rPr dirty="0" sz="2800" spc="-55">
                <a:solidFill>
                  <a:srgbClr val="4E3629"/>
                </a:solidFill>
                <a:latin typeface="Calibri"/>
                <a:cs typeface="Calibri"/>
              </a:rPr>
              <a:t> </a:t>
            </a:r>
            <a:r>
              <a:rPr dirty="0" sz="2800" spc="-10">
                <a:solidFill>
                  <a:srgbClr val="4E3629"/>
                </a:solidFill>
                <a:latin typeface="Calibri"/>
                <a:cs typeface="Calibri"/>
              </a:rPr>
              <a:t>valor 	introducido</a:t>
            </a:r>
            <a:r>
              <a:rPr dirty="0" sz="2800" spc="-55">
                <a:solidFill>
                  <a:srgbClr val="4E3629"/>
                </a:solidFill>
                <a:latin typeface="Calibri"/>
                <a:cs typeface="Calibri"/>
              </a:rPr>
              <a:t> </a:t>
            </a:r>
            <a:r>
              <a:rPr dirty="0" sz="2800">
                <a:solidFill>
                  <a:srgbClr val="4E3629"/>
                </a:solidFill>
                <a:latin typeface="Calibri"/>
                <a:cs typeface="Calibri"/>
              </a:rPr>
              <a:t>para</a:t>
            </a:r>
            <a:r>
              <a:rPr dirty="0" sz="2800" spc="-85">
                <a:solidFill>
                  <a:srgbClr val="4E3629"/>
                </a:solidFill>
                <a:latin typeface="Calibri"/>
                <a:cs typeface="Calibri"/>
              </a:rPr>
              <a:t> </a:t>
            </a:r>
            <a:r>
              <a:rPr dirty="0" sz="2800">
                <a:solidFill>
                  <a:srgbClr val="4E3629"/>
                </a:solidFill>
                <a:latin typeface="Calibri"/>
                <a:cs typeface="Calibri"/>
              </a:rPr>
              <a:t>end_date</a:t>
            </a:r>
            <a:r>
              <a:rPr dirty="0" sz="2800" spc="-85">
                <a:solidFill>
                  <a:srgbClr val="4E3629"/>
                </a:solidFill>
                <a:latin typeface="Calibri"/>
                <a:cs typeface="Calibri"/>
              </a:rPr>
              <a:t> </a:t>
            </a:r>
            <a:r>
              <a:rPr dirty="0" sz="2800">
                <a:solidFill>
                  <a:srgbClr val="4E3629"/>
                </a:solidFill>
                <a:latin typeface="Calibri"/>
                <a:cs typeface="Calibri"/>
              </a:rPr>
              <a:t>sea</a:t>
            </a:r>
            <a:r>
              <a:rPr dirty="0" sz="2800" spc="-90">
                <a:solidFill>
                  <a:srgbClr val="4E3629"/>
                </a:solidFill>
                <a:latin typeface="Calibri"/>
                <a:cs typeface="Calibri"/>
              </a:rPr>
              <a:t> </a:t>
            </a:r>
            <a:r>
              <a:rPr dirty="0" sz="2800">
                <a:solidFill>
                  <a:srgbClr val="4E3629"/>
                </a:solidFill>
                <a:latin typeface="Calibri"/>
                <a:cs typeface="Calibri"/>
              </a:rPr>
              <a:t>posterior</a:t>
            </a:r>
            <a:r>
              <a:rPr dirty="0" sz="2800" spc="-75">
                <a:solidFill>
                  <a:srgbClr val="4E3629"/>
                </a:solidFill>
                <a:latin typeface="Calibri"/>
                <a:cs typeface="Calibri"/>
              </a:rPr>
              <a:t> </a:t>
            </a:r>
            <a:r>
              <a:rPr dirty="0" sz="2800">
                <a:solidFill>
                  <a:srgbClr val="4E3629"/>
                </a:solidFill>
                <a:latin typeface="Calibri"/>
                <a:cs typeface="Calibri"/>
              </a:rPr>
              <a:t>a</a:t>
            </a:r>
            <a:r>
              <a:rPr dirty="0" sz="2800" spc="-90">
                <a:solidFill>
                  <a:srgbClr val="4E3629"/>
                </a:solidFill>
                <a:latin typeface="Calibri"/>
                <a:cs typeface="Calibri"/>
              </a:rPr>
              <a:t> </a:t>
            </a:r>
            <a:r>
              <a:rPr dirty="0" sz="2800" spc="-10">
                <a:solidFill>
                  <a:srgbClr val="4E3629"/>
                </a:solidFill>
                <a:latin typeface="Calibri"/>
                <a:cs typeface="Calibri"/>
              </a:rPr>
              <a:t>start_date</a:t>
            </a:r>
            <a:endParaRPr sz="2800">
              <a:latin typeface="Calibri"/>
              <a:cs typeface="Calibri"/>
            </a:endParaRPr>
          </a:p>
        </p:txBody>
      </p:sp>
      <p:sp>
        <p:nvSpPr>
          <p:cNvPr id="4" name="object 4" descr=""/>
          <p:cNvSpPr txBox="1"/>
          <p:nvPr/>
        </p:nvSpPr>
        <p:spPr>
          <a:xfrm>
            <a:off x="483552" y="4713353"/>
            <a:ext cx="7891780" cy="122047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Como</a:t>
            </a:r>
            <a:r>
              <a:rPr dirty="0" sz="2800" spc="-80">
                <a:solidFill>
                  <a:srgbClr val="4E3629"/>
                </a:solidFill>
                <a:latin typeface="Calibri"/>
                <a:cs typeface="Calibri"/>
              </a:rPr>
              <a:t> </a:t>
            </a:r>
            <a:r>
              <a:rPr dirty="0" sz="2800">
                <a:solidFill>
                  <a:srgbClr val="4E3629"/>
                </a:solidFill>
                <a:latin typeface="Calibri"/>
                <a:cs typeface="Calibri"/>
              </a:rPr>
              <a:t>esta</a:t>
            </a:r>
            <a:r>
              <a:rPr dirty="0" sz="2800" spc="-65">
                <a:solidFill>
                  <a:srgbClr val="4E3629"/>
                </a:solidFill>
                <a:latin typeface="Calibri"/>
                <a:cs typeface="Calibri"/>
              </a:rPr>
              <a:t> </a:t>
            </a:r>
            <a:r>
              <a:rPr dirty="0" sz="2800">
                <a:solidFill>
                  <a:srgbClr val="4E3629"/>
                </a:solidFill>
                <a:latin typeface="Calibri"/>
                <a:cs typeface="Calibri"/>
              </a:rPr>
              <a:t>RESTRICCIÓN</a:t>
            </a:r>
            <a:r>
              <a:rPr dirty="0" sz="2800" spc="-80">
                <a:solidFill>
                  <a:srgbClr val="4E3629"/>
                </a:solidFill>
                <a:latin typeface="Calibri"/>
                <a:cs typeface="Calibri"/>
              </a:rPr>
              <a:t> </a:t>
            </a:r>
            <a:r>
              <a:rPr dirty="0" sz="2800">
                <a:solidFill>
                  <a:srgbClr val="4E3629"/>
                </a:solidFill>
                <a:latin typeface="Calibri"/>
                <a:cs typeface="Calibri"/>
              </a:rPr>
              <a:t>CHECK</a:t>
            </a:r>
            <a:r>
              <a:rPr dirty="0" sz="2800" spc="-80">
                <a:solidFill>
                  <a:srgbClr val="4E3629"/>
                </a:solidFill>
                <a:latin typeface="Calibri"/>
                <a:cs typeface="Calibri"/>
              </a:rPr>
              <a:t> </a:t>
            </a:r>
            <a:r>
              <a:rPr dirty="0" sz="2800">
                <a:solidFill>
                  <a:srgbClr val="4E3629"/>
                </a:solidFill>
                <a:latin typeface="Calibri"/>
                <a:cs typeface="Calibri"/>
              </a:rPr>
              <a:t>hace</a:t>
            </a:r>
            <a:r>
              <a:rPr dirty="0" sz="2800" spc="-80">
                <a:solidFill>
                  <a:srgbClr val="4E3629"/>
                </a:solidFill>
                <a:latin typeface="Calibri"/>
                <a:cs typeface="Calibri"/>
              </a:rPr>
              <a:t> </a:t>
            </a:r>
            <a:r>
              <a:rPr dirty="0" sz="2800" spc="-10">
                <a:solidFill>
                  <a:srgbClr val="4E3629"/>
                </a:solidFill>
                <a:latin typeface="Calibri"/>
                <a:cs typeface="Calibri"/>
              </a:rPr>
              <a:t>referencia</a:t>
            </a:r>
            <a:r>
              <a:rPr dirty="0" sz="2800" spc="-75">
                <a:solidFill>
                  <a:srgbClr val="4E3629"/>
                </a:solidFill>
                <a:latin typeface="Calibri"/>
                <a:cs typeface="Calibri"/>
              </a:rPr>
              <a:t> </a:t>
            </a:r>
            <a:r>
              <a:rPr dirty="0" sz="2800">
                <a:solidFill>
                  <a:srgbClr val="4E3629"/>
                </a:solidFill>
                <a:latin typeface="Calibri"/>
                <a:cs typeface="Calibri"/>
              </a:rPr>
              <a:t>a</a:t>
            </a:r>
            <a:r>
              <a:rPr dirty="0" sz="2800" spc="-85">
                <a:solidFill>
                  <a:srgbClr val="4E3629"/>
                </a:solidFill>
                <a:latin typeface="Calibri"/>
                <a:cs typeface="Calibri"/>
              </a:rPr>
              <a:t> </a:t>
            </a:r>
            <a:r>
              <a:rPr dirty="0" sz="2800" spc="-25">
                <a:solidFill>
                  <a:srgbClr val="4E3629"/>
                </a:solidFill>
                <a:latin typeface="Calibri"/>
                <a:cs typeface="Calibri"/>
              </a:rPr>
              <a:t>dos </a:t>
            </a:r>
            <a:r>
              <a:rPr dirty="0" sz="2800" spc="-25">
                <a:solidFill>
                  <a:srgbClr val="4E3629"/>
                </a:solidFill>
                <a:latin typeface="Calibri"/>
                <a:cs typeface="Calibri"/>
              </a:rPr>
              <a:t>	</a:t>
            </a:r>
            <a:r>
              <a:rPr dirty="0" sz="2800">
                <a:solidFill>
                  <a:srgbClr val="4E3629"/>
                </a:solidFill>
                <a:latin typeface="Calibri"/>
                <a:cs typeface="Calibri"/>
              </a:rPr>
              <a:t>columnas</a:t>
            </a:r>
            <a:r>
              <a:rPr dirty="0" sz="2800" spc="-20">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a:solidFill>
                  <a:srgbClr val="4E3629"/>
                </a:solidFill>
                <a:latin typeface="Calibri"/>
                <a:cs typeface="Calibri"/>
              </a:rPr>
              <a:t>tabla,</a:t>
            </a:r>
            <a:r>
              <a:rPr dirty="0" sz="2800" spc="-35">
                <a:solidFill>
                  <a:srgbClr val="4E3629"/>
                </a:solidFill>
                <a:latin typeface="Calibri"/>
                <a:cs typeface="Calibri"/>
              </a:rPr>
              <a:t> </a:t>
            </a:r>
            <a:r>
              <a:rPr dirty="0" sz="2800">
                <a:solidFill>
                  <a:srgbClr val="4E3629"/>
                </a:solidFill>
                <a:latin typeface="Calibri"/>
                <a:cs typeface="Calibri"/>
              </a:rPr>
              <a:t>se</a:t>
            </a:r>
            <a:r>
              <a:rPr dirty="0" sz="2800" spc="-50">
                <a:solidFill>
                  <a:srgbClr val="4E3629"/>
                </a:solidFill>
                <a:latin typeface="Calibri"/>
                <a:cs typeface="Calibri"/>
              </a:rPr>
              <a:t> </a:t>
            </a:r>
            <a:r>
              <a:rPr dirty="0" sz="2800">
                <a:solidFill>
                  <a:srgbClr val="4E3629"/>
                </a:solidFill>
                <a:latin typeface="Calibri"/>
                <a:cs typeface="Calibri"/>
              </a:rPr>
              <a:t>DEBE</a:t>
            </a:r>
            <a:r>
              <a:rPr dirty="0" sz="2800" spc="-50">
                <a:solidFill>
                  <a:srgbClr val="4E3629"/>
                </a:solidFill>
                <a:latin typeface="Calibri"/>
                <a:cs typeface="Calibri"/>
              </a:rPr>
              <a:t> </a:t>
            </a:r>
            <a:r>
              <a:rPr dirty="0" sz="2800">
                <a:solidFill>
                  <a:srgbClr val="4E3629"/>
                </a:solidFill>
                <a:latin typeface="Calibri"/>
                <a:cs typeface="Calibri"/>
              </a:rPr>
              <a:t>definir</a:t>
            </a:r>
            <a:r>
              <a:rPr dirty="0" sz="2800" spc="-30">
                <a:solidFill>
                  <a:srgbClr val="4E3629"/>
                </a:solidFill>
                <a:latin typeface="Calibri"/>
                <a:cs typeface="Calibri"/>
              </a:rPr>
              <a:t> </a:t>
            </a:r>
            <a:r>
              <a:rPr dirty="0" sz="2800">
                <a:solidFill>
                  <a:srgbClr val="4E3629"/>
                </a:solidFill>
                <a:latin typeface="Calibri"/>
                <a:cs typeface="Calibri"/>
              </a:rPr>
              <a:t>en</a:t>
            </a:r>
            <a:r>
              <a:rPr dirty="0" sz="2800" spc="-45">
                <a:solidFill>
                  <a:srgbClr val="4E3629"/>
                </a:solidFill>
                <a:latin typeface="Calibri"/>
                <a:cs typeface="Calibri"/>
              </a:rPr>
              <a:t> </a:t>
            </a:r>
            <a:r>
              <a:rPr dirty="0" sz="2800">
                <a:solidFill>
                  <a:srgbClr val="4E3629"/>
                </a:solidFill>
                <a:latin typeface="Calibri"/>
                <a:cs typeface="Calibri"/>
              </a:rPr>
              <a:t>el</a:t>
            </a:r>
            <a:r>
              <a:rPr dirty="0" sz="2800" spc="-55">
                <a:solidFill>
                  <a:srgbClr val="4E3629"/>
                </a:solidFill>
                <a:latin typeface="Calibri"/>
                <a:cs typeface="Calibri"/>
              </a:rPr>
              <a:t> </a:t>
            </a:r>
            <a:r>
              <a:rPr dirty="0" sz="2800">
                <a:solidFill>
                  <a:srgbClr val="4E3629"/>
                </a:solidFill>
                <a:latin typeface="Calibri"/>
                <a:cs typeface="Calibri"/>
              </a:rPr>
              <a:t>nivel</a:t>
            </a:r>
            <a:r>
              <a:rPr dirty="0" sz="2800" spc="-55">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spc="-10">
                <a:solidFill>
                  <a:srgbClr val="4E3629"/>
                </a:solidFill>
                <a:latin typeface="Calibri"/>
                <a:cs typeface="Calibri"/>
              </a:rPr>
              <a:t>tabla</a:t>
            </a:r>
            <a:endParaRPr sz="2800">
              <a:latin typeface="Calibri"/>
              <a:cs typeface="Calibri"/>
            </a:endParaRPr>
          </a:p>
        </p:txBody>
      </p:sp>
      <p:sp>
        <p:nvSpPr>
          <p:cNvPr id="5" name="object 5" descr=""/>
          <p:cNvSpPr/>
          <p:nvPr/>
        </p:nvSpPr>
        <p:spPr>
          <a:xfrm>
            <a:off x="405384" y="2314955"/>
            <a:ext cx="8345805" cy="2472055"/>
          </a:xfrm>
          <a:custGeom>
            <a:avLst/>
            <a:gdLst/>
            <a:ahLst/>
            <a:cxnLst/>
            <a:rect l="l" t="t" r="r" b="b"/>
            <a:pathLst>
              <a:path w="8345805" h="2472054">
                <a:moveTo>
                  <a:pt x="8345424" y="0"/>
                </a:moveTo>
                <a:lnTo>
                  <a:pt x="0" y="0"/>
                </a:lnTo>
                <a:lnTo>
                  <a:pt x="0" y="2471928"/>
                </a:lnTo>
                <a:lnTo>
                  <a:pt x="8345424" y="2471928"/>
                </a:lnTo>
                <a:lnTo>
                  <a:pt x="8345424" y="0"/>
                </a:lnTo>
                <a:close/>
              </a:path>
            </a:pathLst>
          </a:custGeom>
          <a:solidFill>
            <a:srgbClr val="9DBEC4">
              <a:alpha val="50199"/>
            </a:srgbClr>
          </a:solidFill>
        </p:spPr>
        <p:txBody>
          <a:bodyPr wrap="square" lIns="0" tIns="0" rIns="0" bIns="0" rtlCol="0"/>
          <a:lstStyle/>
          <a:p/>
        </p:txBody>
      </p:sp>
      <p:sp>
        <p:nvSpPr>
          <p:cNvPr id="6" name="object 6" descr=""/>
          <p:cNvSpPr txBox="1"/>
          <p:nvPr/>
        </p:nvSpPr>
        <p:spPr>
          <a:xfrm>
            <a:off x="392112" y="2275873"/>
            <a:ext cx="7805420" cy="2494280"/>
          </a:xfrm>
          <a:prstGeom prst="rect">
            <a:avLst/>
          </a:prstGeom>
        </p:spPr>
        <p:txBody>
          <a:bodyPr wrap="square" lIns="0" tIns="12700" rIns="0" bIns="0" rtlCol="0" vert="horz">
            <a:spAutoFit/>
          </a:bodyPr>
          <a:lstStyle/>
          <a:p>
            <a:pPr marL="12700" marR="3825240">
              <a:lnSpc>
                <a:spcPct val="100000"/>
              </a:lnSpc>
              <a:spcBef>
                <a:spcPts val="100"/>
              </a:spcBef>
            </a:pPr>
            <a:r>
              <a:rPr dirty="0" sz="1800" b="1">
                <a:solidFill>
                  <a:srgbClr val="4E3629"/>
                </a:solidFill>
                <a:latin typeface="Courier New"/>
                <a:cs typeface="Courier New"/>
              </a:rPr>
              <a:t>CREATE</a:t>
            </a:r>
            <a:r>
              <a:rPr dirty="0" sz="1800" spc="-55" b="1">
                <a:solidFill>
                  <a:srgbClr val="4E3629"/>
                </a:solidFill>
                <a:latin typeface="Courier New"/>
                <a:cs typeface="Courier New"/>
              </a:rPr>
              <a:t> </a:t>
            </a:r>
            <a:r>
              <a:rPr dirty="0" sz="1800" b="1">
                <a:solidFill>
                  <a:srgbClr val="4E3629"/>
                </a:solidFill>
                <a:latin typeface="Courier New"/>
                <a:cs typeface="Courier New"/>
              </a:rPr>
              <a:t>TABLE</a:t>
            </a:r>
            <a:r>
              <a:rPr dirty="0" sz="1800" spc="-50" b="1">
                <a:solidFill>
                  <a:srgbClr val="4E3629"/>
                </a:solidFill>
                <a:latin typeface="Courier New"/>
                <a:cs typeface="Courier New"/>
              </a:rPr>
              <a:t> </a:t>
            </a:r>
            <a:r>
              <a:rPr dirty="0" sz="1800" spc="-10" b="1">
                <a:solidFill>
                  <a:srgbClr val="4E3629"/>
                </a:solidFill>
                <a:latin typeface="Courier New"/>
                <a:cs typeface="Courier New"/>
              </a:rPr>
              <a:t>copy_job_history </a:t>
            </a:r>
            <a:r>
              <a:rPr dirty="0" sz="1800" b="1">
                <a:solidFill>
                  <a:srgbClr val="4E3629"/>
                </a:solidFill>
                <a:latin typeface="Courier New"/>
                <a:cs typeface="Courier New"/>
              </a:rPr>
              <a:t>(employee_id</a:t>
            </a:r>
            <a:r>
              <a:rPr dirty="0" sz="1800" spc="-105" b="1">
                <a:solidFill>
                  <a:srgbClr val="4E3629"/>
                </a:solidFill>
                <a:latin typeface="Courier New"/>
                <a:cs typeface="Courier New"/>
              </a:rPr>
              <a:t> </a:t>
            </a:r>
            <a:r>
              <a:rPr dirty="0" sz="1800" spc="-10" b="1">
                <a:solidFill>
                  <a:srgbClr val="4E3629"/>
                </a:solidFill>
                <a:latin typeface="Courier New"/>
                <a:cs typeface="Courier New"/>
              </a:rPr>
              <a:t>NUMBER(6,0), </a:t>
            </a:r>
            <a:r>
              <a:rPr dirty="0" sz="1800" b="1">
                <a:solidFill>
                  <a:srgbClr val="4E3629"/>
                </a:solidFill>
                <a:latin typeface="Courier New"/>
                <a:cs typeface="Courier New"/>
              </a:rPr>
              <a:t>start_date</a:t>
            </a:r>
            <a:r>
              <a:rPr dirty="0" sz="1800" spc="-100" b="1">
                <a:solidFill>
                  <a:srgbClr val="4E3629"/>
                </a:solidFill>
                <a:latin typeface="Courier New"/>
                <a:cs typeface="Courier New"/>
              </a:rPr>
              <a:t> </a:t>
            </a:r>
            <a:r>
              <a:rPr dirty="0" sz="1800" spc="-10" b="1">
                <a:solidFill>
                  <a:srgbClr val="4E3629"/>
                </a:solidFill>
                <a:latin typeface="Courier New"/>
                <a:cs typeface="Courier New"/>
              </a:rPr>
              <a:t>DATE,</a:t>
            </a:r>
            <a:endParaRPr sz="1800">
              <a:latin typeface="Courier New"/>
              <a:cs typeface="Courier New"/>
            </a:endParaRPr>
          </a:p>
          <a:p>
            <a:pPr marL="149225" marR="4916805">
              <a:lnSpc>
                <a:spcPct val="100000"/>
              </a:lnSpc>
            </a:pPr>
            <a:r>
              <a:rPr dirty="0" sz="1800" b="1">
                <a:solidFill>
                  <a:srgbClr val="4E3629"/>
                </a:solidFill>
                <a:latin typeface="Courier New"/>
                <a:cs typeface="Courier New"/>
              </a:rPr>
              <a:t>end_date</a:t>
            </a:r>
            <a:r>
              <a:rPr dirty="0" sz="1800" spc="-80" b="1">
                <a:solidFill>
                  <a:srgbClr val="4E3629"/>
                </a:solidFill>
                <a:latin typeface="Courier New"/>
                <a:cs typeface="Courier New"/>
              </a:rPr>
              <a:t> </a:t>
            </a:r>
            <a:r>
              <a:rPr dirty="0" sz="1800" spc="-20" b="1">
                <a:solidFill>
                  <a:srgbClr val="4E3629"/>
                </a:solidFill>
                <a:latin typeface="Courier New"/>
                <a:cs typeface="Courier New"/>
              </a:rPr>
              <a:t>DATE, </a:t>
            </a:r>
            <a:r>
              <a:rPr dirty="0" sz="1800" b="1">
                <a:solidFill>
                  <a:srgbClr val="4E3629"/>
                </a:solidFill>
                <a:latin typeface="Courier New"/>
                <a:cs typeface="Courier New"/>
              </a:rPr>
              <a:t>job_id</a:t>
            </a:r>
            <a:r>
              <a:rPr dirty="0" sz="1800" spc="-60" b="1">
                <a:solidFill>
                  <a:srgbClr val="4E3629"/>
                </a:solidFill>
                <a:latin typeface="Courier New"/>
                <a:cs typeface="Courier New"/>
              </a:rPr>
              <a:t> </a:t>
            </a:r>
            <a:r>
              <a:rPr dirty="0" sz="1800" spc="-10" b="1">
                <a:solidFill>
                  <a:srgbClr val="4E3629"/>
                </a:solidFill>
                <a:latin typeface="Courier New"/>
                <a:cs typeface="Courier New"/>
              </a:rPr>
              <a:t>VARCHAR2(10),</a:t>
            </a:r>
            <a:endParaRPr sz="1800">
              <a:latin typeface="Courier New"/>
              <a:cs typeface="Courier New"/>
            </a:endParaRPr>
          </a:p>
          <a:p>
            <a:pPr marL="149225" marR="2870200">
              <a:lnSpc>
                <a:spcPct val="100000"/>
              </a:lnSpc>
            </a:pPr>
            <a:r>
              <a:rPr dirty="0" sz="1800" b="1">
                <a:solidFill>
                  <a:srgbClr val="4E3629"/>
                </a:solidFill>
                <a:latin typeface="Courier New"/>
                <a:cs typeface="Courier New"/>
              </a:rPr>
              <a:t>department_id</a:t>
            </a:r>
            <a:r>
              <a:rPr dirty="0" sz="1800" spc="-125" b="1">
                <a:solidFill>
                  <a:srgbClr val="4E3629"/>
                </a:solidFill>
                <a:latin typeface="Courier New"/>
                <a:cs typeface="Courier New"/>
              </a:rPr>
              <a:t> </a:t>
            </a:r>
            <a:r>
              <a:rPr dirty="0" sz="1800" spc="-10" b="1">
                <a:solidFill>
                  <a:srgbClr val="4E3629"/>
                </a:solidFill>
                <a:latin typeface="Courier New"/>
                <a:cs typeface="Courier New"/>
              </a:rPr>
              <a:t>NUMBER(4,0), </a:t>
            </a:r>
            <a:r>
              <a:rPr dirty="0" sz="1800" b="1">
                <a:solidFill>
                  <a:srgbClr val="4E3629"/>
                </a:solidFill>
                <a:latin typeface="Courier New"/>
                <a:cs typeface="Courier New"/>
              </a:rPr>
              <a:t>CONSTRAINT</a:t>
            </a:r>
            <a:r>
              <a:rPr dirty="0" sz="1800" spc="-110" b="1">
                <a:solidFill>
                  <a:srgbClr val="4E3629"/>
                </a:solidFill>
                <a:latin typeface="Courier New"/>
                <a:cs typeface="Courier New"/>
              </a:rPr>
              <a:t> </a:t>
            </a:r>
            <a:r>
              <a:rPr dirty="0" sz="1800" spc="-10" b="1">
                <a:solidFill>
                  <a:srgbClr val="4E3629"/>
                </a:solidFill>
                <a:latin typeface="Courier New"/>
                <a:cs typeface="Courier New"/>
              </a:rPr>
              <a:t>cjhist_emp_id_st_date_pk</a:t>
            </a:r>
            <a:endParaRPr sz="1800">
              <a:latin typeface="Courier New"/>
              <a:cs typeface="Courier New"/>
            </a:endParaRPr>
          </a:p>
          <a:p>
            <a:pPr marL="149225" marR="5080" indent="1363980">
              <a:lnSpc>
                <a:spcPct val="100000"/>
              </a:lnSpc>
            </a:pPr>
            <a:r>
              <a:rPr dirty="0" sz="1800" b="1">
                <a:solidFill>
                  <a:srgbClr val="4E3629"/>
                </a:solidFill>
                <a:latin typeface="Courier New"/>
                <a:cs typeface="Courier New"/>
              </a:rPr>
              <a:t>PRIMARY</a:t>
            </a:r>
            <a:r>
              <a:rPr dirty="0" sz="1800" spc="-110" b="1">
                <a:solidFill>
                  <a:srgbClr val="4E3629"/>
                </a:solidFill>
                <a:latin typeface="Courier New"/>
                <a:cs typeface="Courier New"/>
              </a:rPr>
              <a:t> </a:t>
            </a:r>
            <a:r>
              <a:rPr dirty="0" sz="1800" b="1">
                <a:solidFill>
                  <a:srgbClr val="4E3629"/>
                </a:solidFill>
                <a:latin typeface="Courier New"/>
                <a:cs typeface="Courier New"/>
              </a:rPr>
              <a:t>KEY(employee_id,</a:t>
            </a:r>
            <a:r>
              <a:rPr dirty="0" sz="1800" spc="-105" b="1">
                <a:solidFill>
                  <a:srgbClr val="4E3629"/>
                </a:solidFill>
                <a:latin typeface="Courier New"/>
                <a:cs typeface="Courier New"/>
              </a:rPr>
              <a:t> </a:t>
            </a:r>
            <a:r>
              <a:rPr dirty="0" sz="1800" spc="-10" b="1">
                <a:solidFill>
                  <a:srgbClr val="4E3629"/>
                </a:solidFill>
                <a:latin typeface="Courier New"/>
                <a:cs typeface="Courier New"/>
              </a:rPr>
              <a:t>start_date), </a:t>
            </a:r>
            <a:r>
              <a:rPr dirty="0" sz="1800" b="1">
                <a:solidFill>
                  <a:srgbClr val="D1350F"/>
                </a:solidFill>
                <a:latin typeface="Courier New"/>
                <a:cs typeface="Courier New"/>
              </a:rPr>
              <a:t>CONSTRAINT</a:t>
            </a:r>
            <a:r>
              <a:rPr dirty="0" sz="1800" spc="-90" b="1">
                <a:solidFill>
                  <a:srgbClr val="D1350F"/>
                </a:solidFill>
                <a:latin typeface="Courier New"/>
                <a:cs typeface="Courier New"/>
              </a:rPr>
              <a:t> </a:t>
            </a:r>
            <a:r>
              <a:rPr dirty="0" sz="1800" b="1">
                <a:solidFill>
                  <a:srgbClr val="D1350F"/>
                </a:solidFill>
                <a:latin typeface="Courier New"/>
                <a:cs typeface="Courier New"/>
              </a:rPr>
              <a:t>cjhist_end_ck</a:t>
            </a:r>
            <a:r>
              <a:rPr dirty="0" sz="1800" spc="-70" b="1">
                <a:solidFill>
                  <a:srgbClr val="D1350F"/>
                </a:solidFill>
                <a:latin typeface="Courier New"/>
                <a:cs typeface="Courier New"/>
              </a:rPr>
              <a:t> </a:t>
            </a:r>
            <a:r>
              <a:rPr dirty="0" sz="1800" b="1">
                <a:solidFill>
                  <a:srgbClr val="D1350F"/>
                </a:solidFill>
                <a:latin typeface="Courier New"/>
                <a:cs typeface="Courier New"/>
              </a:rPr>
              <a:t>CHECK</a:t>
            </a:r>
            <a:r>
              <a:rPr dirty="0" sz="1800" spc="-75" b="1">
                <a:solidFill>
                  <a:srgbClr val="D1350F"/>
                </a:solidFill>
                <a:latin typeface="Courier New"/>
                <a:cs typeface="Courier New"/>
              </a:rPr>
              <a:t> </a:t>
            </a:r>
            <a:r>
              <a:rPr dirty="0" sz="1800" b="1">
                <a:solidFill>
                  <a:srgbClr val="D1350F"/>
                </a:solidFill>
                <a:latin typeface="Courier New"/>
                <a:cs typeface="Courier New"/>
              </a:rPr>
              <a:t>(end_date</a:t>
            </a:r>
            <a:r>
              <a:rPr dirty="0" sz="1800" spc="-75" b="1">
                <a:solidFill>
                  <a:srgbClr val="D1350F"/>
                </a:solidFill>
                <a:latin typeface="Courier New"/>
                <a:cs typeface="Courier New"/>
              </a:rPr>
              <a:t> </a:t>
            </a:r>
            <a:r>
              <a:rPr dirty="0" sz="1800" b="1">
                <a:solidFill>
                  <a:srgbClr val="D1350F"/>
                </a:solidFill>
                <a:latin typeface="Courier New"/>
                <a:cs typeface="Courier New"/>
              </a:rPr>
              <a:t>&gt;</a:t>
            </a:r>
            <a:r>
              <a:rPr dirty="0" sz="1800" spc="-80" b="1">
                <a:solidFill>
                  <a:srgbClr val="D1350F"/>
                </a:solidFill>
                <a:latin typeface="Courier New"/>
                <a:cs typeface="Courier New"/>
              </a:rPr>
              <a:t> </a:t>
            </a:r>
            <a:r>
              <a:rPr dirty="0" sz="1800" spc="-10" b="1">
                <a:solidFill>
                  <a:srgbClr val="D1350F"/>
                </a:solidFill>
                <a:latin typeface="Courier New"/>
                <a:cs typeface="Courier New"/>
              </a:rPr>
              <a:t>start_date)</a:t>
            </a:r>
            <a:r>
              <a:rPr dirty="0" sz="1800" spc="-10" b="1">
                <a:solidFill>
                  <a:srgbClr val="4E3629"/>
                </a:solidFill>
                <a:latin typeface="Courier New"/>
                <a:cs typeface="Courier New"/>
              </a:rPr>
              <a:t>);</a:t>
            </a:r>
            <a:endParaRPr sz="1800">
              <a:latin typeface="Courier New"/>
              <a:cs typeface="Courier New"/>
            </a:endParaRPr>
          </a:p>
        </p:txBody>
      </p:sp>
      <p:sp>
        <p:nvSpPr>
          <p:cNvPr id="7" name="object 7"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2</a:t>
            </a:r>
          </a:p>
          <a:p>
            <a:pPr marL="12700" marR="5080">
              <a:lnSpc>
                <a:spcPts val="919"/>
              </a:lnSpc>
              <a:spcBef>
                <a:spcPts val="60"/>
              </a:spcBef>
            </a:pPr>
            <a:r>
              <a:rPr dirty="0" spc="-10"/>
              <a:t>Restricciones</a:t>
            </a:r>
            <a:r>
              <a:rPr dirty="0" spc="55"/>
              <a:t> </a:t>
            </a:r>
            <a:r>
              <a:rPr dirty="0"/>
              <a:t>PRIMARY</a:t>
            </a:r>
            <a:r>
              <a:rPr dirty="0" spc="-30"/>
              <a:t> </a:t>
            </a:r>
            <a:r>
              <a:rPr dirty="0" spc="-20"/>
              <a:t>KEY,</a:t>
            </a:r>
            <a:r>
              <a:rPr dirty="0" spc="500"/>
              <a:t> </a:t>
            </a:r>
            <a:r>
              <a:rPr dirty="0"/>
              <a:t>FOREIGN</a:t>
            </a:r>
            <a:r>
              <a:rPr dirty="0" spc="-40"/>
              <a:t> </a:t>
            </a:r>
            <a:r>
              <a:rPr dirty="0"/>
              <a:t>KEY</a:t>
            </a:r>
            <a:r>
              <a:rPr dirty="0" spc="-20"/>
              <a:t> </a:t>
            </a:r>
            <a:r>
              <a:rPr dirty="0"/>
              <a:t>y</a:t>
            </a:r>
            <a:r>
              <a:rPr dirty="0" spc="-5"/>
              <a:t> </a:t>
            </a:r>
            <a:r>
              <a:rPr dirty="0" spc="-20"/>
              <a:t>CHECK</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28</a:t>
            </a:r>
          </a:p>
        </p:txBody>
      </p:sp>
      <p:sp>
        <p:nvSpPr>
          <p:cNvPr id="9" name="object 9"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a:t>Condiciones</a:t>
            </a:r>
            <a:r>
              <a:rPr dirty="0" spc="-50"/>
              <a:t> </a:t>
            </a:r>
            <a:r>
              <a:rPr dirty="0"/>
              <a:t>de</a:t>
            </a:r>
            <a:r>
              <a:rPr dirty="0" spc="-70"/>
              <a:t> </a:t>
            </a:r>
            <a:r>
              <a:rPr dirty="0"/>
              <a:t>la</a:t>
            </a:r>
            <a:r>
              <a:rPr dirty="0" spc="-85"/>
              <a:t> </a:t>
            </a:r>
            <a:r>
              <a:rPr dirty="0" spc="-10"/>
              <a:t>Restricción</a:t>
            </a:r>
            <a:r>
              <a:rPr dirty="0" spc="-70"/>
              <a:t> </a:t>
            </a:r>
            <a:r>
              <a:rPr dirty="0" spc="-10"/>
              <a:t>CHECK</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2</a:t>
            </a:r>
          </a:p>
          <a:p>
            <a:pPr marL="12700" marR="5080">
              <a:lnSpc>
                <a:spcPts val="919"/>
              </a:lnSpc>
              <a:spcBef>
                <a:spcPts val="60"/>
              </a:spcBef>
            </a:pPr>
            <a:r>
              <a:rPr dirty="0" spc="-10"/>
              <a:t>Restricciones</a:t>
            </a:r>
            <a:r>
              <a:rPr dirty="0" spc="55"/>
              <a:t> </a:t>
            </a:r>
            <a:r>
              <a:rPr dirty="0"/>
              <a:t>PRIMARY</a:t>
            </a:r>
            <a:r>
              <a:rPr dirty="0" spc="-30"/>
              <a:t> </a:t>
            </a:r>
            <a:r>
              <a:rPr dirty="0" spc="-20"/>
              <a:t>KEY,</a:t>
            </a:r>
            <a:r>
              <a:rPr dirty="0" spc="500"/>
              <a:t> </a:t>
            </a:r>
            <a:r>
              <a:rPr dirty="0"/>
              <a:t>FOREIGN</a:t>
            </a:r>
            <a:r>
              <a:rPr dirty="0" spc="-40"/>
              <a:t> </a:t>
            </a:r>
            <a:r>
              <a:rPr dirty="0"/>
              <a:t>KEY</a:t>
            </a:r>
            <a:r>
              <a:rPr dirty="0" spc="-20"/>
              <a:t> </a:t>
            </a:r>
            <a:r>
              <a:rPr dirty="0"/>
              <a:t>y</a:t>
            </a:r>
            <a:r>
              <a:rPr dirty="0" spc="-5"/>
              <a:t> </a:t>
            </a:r>
            <a:r>
              <a:rPr dirty="0" spc="-20"/>
              <a:t>CHECK</a:t>
            </a: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29</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8058150" cy="3444875"/>
          </a:xfrm>
          <a:prstGeom prst="rect">
            <a:avLst/>
          </a:prstGeom>
        </p:spPr>
        <p:txBody>
          <a:bodyPr wrap="square" lIns="0" tIns="59690" rIns="0" bIns="0" rtlCol="0" vert="horz">
            <a:spAutoFit/>
          </a:bodyPr>
          <a:lstStyle/>
          <a:p>
            <a:pPr marL="159385" marR="294640" indent="-147320">
              <a:lnSpc>
                <a:spcPts val="3030"/>
              </a:lnSpc>
              <a:spcBef>
                <a:spcPts val="470"/>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5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restricción</a:t>
            </a:r>
            <a:r>
              <a:rPr dirty="0" u="heavy" sz="2800" spc="-2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CHECK</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solo</a:t>
            </a:r>
            <a:r>
              <a:rPr dirty="0" u="heavy" sz="2800" spc="-3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debe</a:t>
            </a:r>
            <a:r>
              <a:rPr dirty="0" u="heavy" sz="2800" spc="-3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estar</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fila</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a:t>
            </a:r>
            <a:r>
              <a:rPr dirty="0" u="heavy" sz="2800" spc="-4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la</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que</a:t>
            </a:r>
            <a:r>
              <a:rPr dirty="0" u="heavy" sz="2800" spc="-2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define</a:t>
            </a:r>
            <a:r>
              <a:rPr dirty="0" u="heavy" sz="2800" spc="-3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3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restricción</a:t>
            </a:r>
            <a:endParaRPr sz="2800">
              <a:latin typeface="Calibri"/>
              <a:cs typeface="Calibri"/>
            </a:endParaRPr>
          </a:p>
          <a:p>
            <a:pPr marL="182880" marR="11557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Una</a:t>
            </a:r>
            <a:r>
              <a:rPr dirty="0" sz="2800" spc="-55">
                <a:solidFill>
                  <a:srgbClr val="4E3629"/>
                </a:solidFill>
                <a:latin typeface="Calibri"/>
                <a:cs typeface="Calibri"/>
              </a:rPr>
              <a:t> </a:t>
            </a:r>
            <a:r>
              <a:rPr dirty="0" sz="2800" spc="-10">
                <a:solidFill>
                  <a:srgbClr val="4E3629"/>
                </a:solidFill>
                <a:latin typeface="Calibri"/>
                <a:cs typeface="Calibri"/>
              </a:rPr>
              <a:t>restricción</a:t>
            </a:r>
            <a:r>
              <a:rPr dirty="0" sz="2800" spc="-35">
                <a:solidFill>
                  <a:srgbClr val="4E3629"/>
                </a:solidFill>
                <a:latin typeface="Calibri"/>
                <a:cs typeface="Calibri"/>
              </a:rPr>
              <a:t> </a:t>
            </a:r>
            <a:r>
              <a:rPr dirty="0" sz="2800">
                <a:solidFill>
                  <a:srgbClr val="4E3629"/>
                </a:solidFill>
                <a:latin typeface="Calibri"/>
                <a:cs typeface="Calibri"/>
              </a:rPr>
              <a:t>CHECK</a:t>
            </a:r>
            <a:r>
              <a:rPr dirty="0" sz="2800" spc="-60">
                <a:solidFill>
                  <a:srgbClr val="4E3629"/>
                </a:solidFill>
                <a:latin typeface="Calibri"/>
                <a:cs typeface="Calibri"/>
              </a:rPr>
              <a:t> </a:t>
            </a:r>
            <a:r>
              <a:rPr dirty="0" sz="2800">
                <a:solidFill>
                  <a:srgbClr val="4E3629"/>
                </a:solidFill>
                <a:latin typeface="Calibri"/>
                <a:cs typeface="Calibri"/>
              </a:rPr>
              <a:t>no</a:t>
            </a:r>
            <a:r>
              <a:rPr dirty="0" sz="2800" spc="-45">
                <a:solidFill>
                  <a:srgbClr val="4E3629"/>
                </a:solidFill>
                <a:latin typeface="Calibri"/>
                <a:cs typeface="Calibri"/>
              </a:rPr>
              <a:t> </a:t>
            </a:r>
            <a:r>
              <a:rPr dirty="0" sz="2800">
                <a:solidFill>
                  <a:srgbClr val="4E3629"/>
                </a:solidFill>
                <a:latin typeface="Calibri"/>
                <a:cs typeface="Calibri"/>
              </a:rPr>
              <a:t>se</a:t>
            </a:r>
            <a:r>
              <a:rPr dirty="0" sz="2800" spc="-45">
                <a:solidFill>
                  <a:srgbClr val="4E3629"/>
                </a:solidFill>
                <a:latin typeface="Calibri"/>
                <a:cs typeface="Calibri"/>
              </a:rPr>
              <a:t> </a:t>
            </a:r>
            <a:r>
              <a:rPr dirty="0" sz="2800">
                <a:solidFill>
                  <a:srgbClr val="4E3629"/>
                </a:solidFill>
                <a:latin typeface="Calibri"/>
                <a:cs typeface="Calibri"/>
              </a:rPr>
              <a:t>puede</a:t>
            </a:r>
            <a:r>
              <a:rPr dirty="0" sz="2800" spc="-35">
                <a:solidFill>
                  <a:srgbClr val="4E3629"/>
                </a:solidFill>
                <a:latin typeface="Calibri"/>
                <a:cs typeface="Calibri"/>
              </a:rPr>
              <a:t> </a:t>
            </a:r>
            <a:r>
              <a:rPr dirty="0" sz="2800">
                <a:solidFill>
                  <a:srgbClr val="4E3629"/>
                </a:solidFill>
                <a:latin typeface="Calibri"/>
                <a:cs typeface="Calibri"/>
              </a:rPr>
              <a:t>utilizar</a:t>
            </a:r>
            <a:r>
              <a:rPr dirty="0" sz="2800" spc="-50">
                <a:solidFill>
                  <a:srgbClr val="4E3629"/>
                </a:solidFill>
                <a:latin typeface="Calibri"/>
                <a:cs typeface="Calibri"/>
              </a:rPr>
              <a:t> </a:t>
            </a:r>
            <a:r>
              <a:rPr dirty="0" sz="2800" spc="-25">
                <a:solidFill>
                  <a:srgbClr val="4E3629"/>
                </a:solidFill>
                <a:latin typeface="Calibri"/>
                <a:cs typeface="Calibri"/>
              </a:rPr>
              <a:t>en </a:t>
            </a:r>
            <a:r>
              <a:rPr dirty="0" sz="2800" spc="-25">
                <a:solidFill>
                  <a:srgbClr val="4E3629"/>
                </a:solidFill>
                <a:latin typeface="Calibri"/>
                <a:cs typeface="Calibri"/>
              </a:rPr>
              <a:t>	</a:t>
            </a:r>
            <a:r>
              <a:rPr dirty="0" sz="2800">
                <a:solidFill>
                  <a:srgbClr val="4E3629"/>
                </a:solidFill>
                <a:latin typeface="Calibri"/>
                <a:cs typeface="Calibri"/>
              </a:rPr>
              <a:t>consultas</a:t>
            </a:r>
            <a:r>
              <a:rPr dirty="0" sz="2800" spc="-60">
                <a:solidFill>
                  <a:srgbClr val="4E3629"/>
                </a:solidFill>
                <a:latin typeface="Calibri"/>
                <a:cs typeface="Calibri"/>
              </a:rPr>
              <a:t> </a:t>
            </a:r>
            <a:r>
              <a:rPr dirty="0" sz="2800">
                <a:solidFill>
                  <a:srgbClr val="4E3629"/>
                </a:solidFill>
                <a:latin typeface="Calibri"/>
                <a:cs typeface="Calibri"/>
              </a:rPr>
              <a:t>que</a:t>
            </a:r>
            <a:r>
              <a:rPr dirty="0" sz="2800" spc="-60">
                <a:solidFill>
                  <a:srgbClr val="4E3629"/>
                </a:solidFill>
                <a:latin typeface="Calibri"/>
                <a:cs typeface="Calibri"/>
              </a:rPr>
              <a:t> </a:t>
            </a:r>
            <a:r>
              <a:rPr dirty="0" sz="2800">
                <a:solidFill>
                  <a:srgbClr val="4E3629"/>
                </a:solidFill>
                <a:latin typeface="Calibri"/>
                <a:cs typeface="Calibri"/>
              </a:rPr>
              <a:t>hacen</a:t>
            </a:r>
            <a:r>
              <a:rPr dirty="0" sz="2800" spc="-85">
                <a:solidFill>
                  <a:srgbClr val="4E3629"/>
                </a:solidFill>
                <a:latin typeface="Calibri"/>
                <a:cs typeface="Calibri"/>
              </a:rPr>
              <a:t> </a:t>
            </a:r>
            <a:r>
              <a:rPr dirty="0" sz="2800" spc="-10">
                <a:solidFill>
                  <a:srgbClr val="4E3629"/>
                </a:solidFill>
                <a:latin typeface="Calibri"/>
                <a:cs typeface="Calibri"/>
              </a:rPr>
              <a:t>referencia</a:t>
            </a:r>
            <a:r>
              <a:rPr dirty="0" sz="2800" spc="-80">
                <a:solidFill>
                  <a:srgbClr val="4E3629"/>
                </a:solidFill>
                <a:latin typeface="Calibri"/>
                <a:cs typeface="Calibri"/>
              </a:rPr>
              <a:t> </a:t>
            </a:r>
            <a:r>
              <a:rPr dirty="0" sz="2800">
                <a:solidFill>
                  <a:srgbClr val="4E3629"/>
                </a:solidFill>
                <a:latin typeface="Calibri"/>
                <a:cs typeface="Calibri"/>
              </a:rPr>
              <a:t>a</a:t>
            </a:r>
            <a:r>
              <a:rPr dirty="0" sz="2800" spc="-90">
                <a:solidFill>
                  <a:srgbClr val="4E3629"/>
                </a:solidFill>
                <a:latin typeface="Calibri"/>
                <a:cs typeface="Calibri"/>
              </a:rPr>
              <a:t> </a:t>
            </a:r>
            <a:r>
              <a:rPr dirty="0" sz="2800">
                <a:solidFill>
                  <a:srgbClr val="4E3629"/>
                </a:solidFill>
                <a:latin typeface="Calibri"/>
                <a:cs typeface="Calibri"/>
              </a:rPr>
              <a:t>valores</a:t>
            </a:r>
            <a:r>
              <a:rPr dirty="0" sz="2800" spc="-85">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a:solidFill>
                  <a:srgbClr val="4E3629"/>
                </a:solidFill>
                <a:latin typeface="Calibri"/>
                <a:cs typeface="Calibri"/>
              </a:rPr>
              <a:t>otras</a:t>
            </a:r>
            <a:r>
              <a:rPr dirty="0" sz="2800" spc="-85">
                <a:solidFill>
                  <a:srgbClr val="4E3629"/>
                </a:solidFill>
                <a:latin typeface="Calibri"/>
                <a:cs typeface="Calibri"/>
              </a:rPr>
              <a:t> </a:t>
            </a:r>
            <a:r>
              <a:rPr dirty="0" sz="2800" spc="-10">
                <a:solidFill>
                  <a:srgbClr val="4E3629"/>
                </a:solidFill>
                <a:latin typeface="Calibri"/>
                <a:cs typeface="Calibri"/>
              </a:rPr>
              <a:t>filas</a:t>
            </a:r>
            <a:endParaRPr sz="2800">
              <a:latin typeface="Calibri"/>
              <a:cs typeface="Calibri"/>
            </a:endParaRPr>
          </a:p>
          <a:p>
            <a:pPr marL="182880" marR="5080" indent="-170815">
              <a:lnSpc>
                <a:spcPts val="3030"/>
              </a:lnSpc>
              <a:spcBef>
                <a:spcPts val="790"/>
              </a:spcBef>
              <a:buClr>
                <a:srgbClr val="D1350F"/>
              </a:buClr>
              <a:buFont typeface="Arial MT"/>
              <a:buChar char="•"/>
              <a:tabLst>
                <a:tab pos="184785" algn="l"/>
              </a:tabLst>
            </a:pPr>
            <a:r>
              <a:rPr dirty="0" sz="2800">
                <a:solidFill>
                  <a:srgbClr val="4E3629"/>
                </a:solidFill>
                <a:latin typeface="Calibri"/>
                <a:cs typeface="Calibri"/>
              </a:rPr>
              <a:t>La</a:t>
            </a:r>
            <a:r>
              <a:rPr dirty="0" sz="2800" spc="-70">
                <a:solidFill>
                  <a:srgbClr val="4E3629"/>
                </a:solidFill>
                <a:latin typeface="Calibri"/>
                <a:cs typeface="Calibri"/>
              </a:rPr>
              <a:t> </a:t>
            </a:r>
            <a:r>
              <a:rPr dirty="0" sz="2800" spc="-10">
                <a:solidFill>
                  <a:srgbClr val="4E3629"/>
                </a:solidFill>
                <a:latin typeface="Calibri"/>
                <a:cs typeface="Calibri"/>
              </a:rPr>
              <a:t>restricción</a:t>
            </a:r>
            <a:r>
              <a:rPr dirty="0" sz="2800" spc="-30">
                <a:solidFill>
                  <a:srgbClr val="4E3629"/>
                </a:solidFill>
                <a:latin typeface="Calibri"/>
                <a:cs typeface="Calibri"/>
              </a:rPr>
              <a:t> </a:t>
            </a:r>
            <a:r>
              <a:rPr dirty="0" sz="2800">
                <a:solidFill>
                  <a:srgbClr val="4E3629"/>
                </a:solidFill>
                <a:latin typeface="Calibri"/>
                <a:cs typeface="Calibri"/>
              </a:rPr>
              <a:t>CHECK</a:t>
            </a:r>
            <a:r>
              <a:rPr dirty="0" sz="2800" spc="-65">
                <a:solidFill>
                  <a:srgbClr val="4E3629"/>
                </a:solidFill>
                <a:latin typeface="Calibri"/>
                <a:cs typeface="Calibri"/>
              </a:rPr>
              <a:t> </a:t>
            </a:r>
            <a:r>
              <a:rPr dirty="0" sz="2800">
                <a:solidFill>
                  <a:srgbClr val="4E3629"/>
                </a:solidFill>
                <a:latin typeface="Calibri"/>
                <a:cs typeface="Calibri"/>
              </a:rPr>
              <a:t>no</a:t>
            </a:r>
            <a:r>
              <a:rPr dirty="0" sz="2800" spc="-45">
                <a:solidFill>
                  <a:srgbClr val="4E3629"/>
                </a:solidFill>
                <a:latin typeface="Calibri"/>
                <a:cs typeface="Calibri"/>
              </a:rPr>
              <a:t> </a:t>
            </a:r>
            <a:r>
              <a:rPr dirty="0" sz="2800">
                <a:solidFill>
                  <a:srgbClr val="4E3629"/>
                </a:solidFill>
                <a:latin typeface="Calibri"/>
                <a:cs typeface="Calibri"/>
              </a:rPr>
              <a:t>puede</a:t>
            </a:r>
            <a:r>
              <a:rPr dirty="0" sz="2800" spc="-40">
                <a:solidFill>
                  <a:srgbClr val="4E3629"/>
                </a:solidFill>
                <a:latin typeface="Calibri"/>
                <a:cs typeface="Calibri"/>
              </a:rPr>
              <a:t> </a:t>
            </a:r>
            <a:r>
              <a:rPr dirty="0" sz="2800">
                <a:solidFill>
                  <a:srgbClr val="4E3629"/>
                </a:solidFill>
                <a:latin typeface="Calibri"/>
                <a:cs typeface="Calibri"/>
              </a:rPr>
              <a:t>contener</a:t>
            </a:r>
            <a:r>
              <a:rPr dirty="0" sz="2800" spc="-50">
                <a:solidFill>
                  <a:srgbClr val="4E3629"/>
                </a:solidFill>
                <a:latin typeface="Calibri"/>
                <a:cs typeface="Calibri"/>
              </a:rPr>
              <a:t> </a:t>
            </a:r>
            <a:r>
              <a:rPr dirty="0" sz="2800">
                <a:solidFill>
                  <a:srgbClr val="4E3629"/>
                </a:solidFill>
                <a:latin typeface="Calibri"/>
                <a:cs typeface="Calibri"/>
              </a:rPr>
              <a:t>llamadas</a:t>
            </a:r>
            <a:r>
              <a:rPr dirty="0" sz="2800" spc="-55">
                <a:solidFill>
                  <a:srgbClr val="4E3629"/>
                </a:solidFill>
                <a:latin typeface="Calibri"/>
                <a:cs typeface="Calibri"/>
              </a:rPr>
              <a:t> </a:t>
            </a:r>
            <a:r>
              <a:rPr dirty="0" sz="2800">
                <a:solidFill>
                  <a:srgbClr val="4E3629"/>
                </a:solidFill>
                <a:latin typeface="Calibri"/>
                <a:cs typeface="Calibri"/>
              </a:rPr>
              <a:t>a</a:t>
            </a:r>
            <a:r>
              <a:rPr dirty="0" sz="2800" spc="-55">
                <a:solidFill>
                  <a:srgbClr val="4E3629"/>
                </a:solidFill>
                <a:latin typeface="Calibri"/>
                <a:cs typeface="Calibri"/>
              </a:rPr>
              <a:t> </a:t>
            </a:r>
            <a:r>
              <a:rPr dirty="0" sz="2800" spc="-25">
                <a:solidFill>
                  <a:srgbClr val="4E3629"/>
                </a:solidFill>
                <a:latin typeface="Calibri"/>
                <a:cs typeface="Calibri"/>
              </a:rPr>
              <a:t>las </a:t>
            </a:r>
            <a:r>
              <a:rPr dirty="0" sz="2800" spc="-25">
                <a:solidFill>
                  <a:srgbClr val="4E3629"/>
                </a:solidFill>
                <a:latin typeface="Calibri"/>
                <a:cs typeface="Calibri"/>
              </a:rPr>
              <a:t>	</a:t>
            </a:r>
            <a:r>
              <a:rPr dirty="0" sz="2800">
                <a:solidFill>
                  <a:srgbClr val="4E3629"/>
                </a:solidFill>
                <a:latin typeface="Calibri"/>
                <a:cs typeface="Calibri"/>
              </a:rPr>
              <a:t>funciones</a:t>
            </a:r>
            <a:r>
              <a:rPr dirty="0" sz="2800" spc="-50">
                <a:solidFill>
                  <a:srgbClr val="4E3629"/>
                </a:solidFill>
                <a:latin typeface="Calibri"/>
                <a:cs typeface="Calibri"/>
              </a:rPr>
              <a:t> </a:t>
            </a:r>
            <a:r>
              <a:rPr dirty="0" sz="2800" spc="-35">
                <a:solidFill>
                  <a:srgbClr val="4E3629"/>
                </a:solidFill>
                <a:latin typeface="Calibri"/>
                <a:cs typeface="Calibri"/>
              </a:rPr>
              <a:t>SYSDATE,</a:t>
            </a:r>
            <a:r>
              <a:rPr dirty="0" sz="2800" spc="-80">
                <a:solidFill>
                  <a:srgbClr val="4E3629"/>
                </a:solidFill>
                <a:latin typeface="Calibri"/>
                <a:cs typeface="Calibri"/>
              </a:rPr>
              <a:t> </a:t>
            </a:r>
            <a:r>
              <a:rPr dirty="0" sz="2800">
                <a:solidFill>
                  <a:srgbClr val="4E3629"/>
                </a:solidFill>
                <a:latin typeface="Calibri"/>
                <a:cs typeface="Calibri"/>
              </a:rPr>
              <a:t>UID,</a:t>
            </a:r>
            <a:r>
              <a:rPr dirty="0" sz="2800" spc="-80">
                <a:solidFill>
                  <a:srgbClr val="4E3629"/>
                </a:solidFill>
                <a:latin typeface="Calibri"/>
                <a:cs typeface="Calibri"/>
              </a:rPr>
              <a:t> </a:t>
            </a:r>
            <a:r>
              <a:rPr dirty="0" sz="2800">
                <a:solidFill>
                  <a:srgbClr val="4E3629"/>
                </a:solidFill>
                <a:latin typeface="Calibri"/>
                <a:cs typeface="Calibri"/>
              </a:rPr>
              <a:t>USER</a:t>
            </a:r>
            <a:r>
              <a:rPr dirty="0" sz="2800" spc="-75">
                <a:solidFill>
                  <a:srgbClr val="4E3629"/>
                </a:solidFill>
                <a:latin typeface="Calibri"/>
                <a:cs typeface="Calibri"/>
              </a:rPr>
              <a:t> </a:t>
            </a:r>
            <a:r>
              <a:rPr dirty="0" sz="2800">
                <a:solidFill>
                  <a:srgbClr val="4E3629"/>
                </a:solidFill>
                <a:latin typeface="Calibri"/>
                <a:cs typeface="Calibri"/>
              </a:rPr>
              <a:t>o</a:t>
            </a:r>
            <a:r>
              <a:rPr dirty="0" sz="2800" spc="-75">
                <a:solidFill>
                  <a:srgbClr val="4E3629"/>
                </a:solidFill>
                <a:latin typeface="Calibri"/>
                <a:cs typeface="Calibri"/>
              </a:rPr>
              <a:t> </a:t>
            </a:r>
            <a:r>
              <a:rPr dirty="0" sz="2800" spc="-10">
                <a:solidFill>
                  <a:srgbClr val="4E3629"/>
                </a:solidFill>
                <a:latin typeface="Calibri"/>
                <a:cs typeface="Calibri"/>
              </a:rPr>
              <a:t>USERENV</a:t>
            </a:r>
            <a:endParaRPr sz="2800">
              <a:latin typeface="Calibri"/>
              <a:cs typeface="Calibri"/>
            </a:endParaRPr>
          </a:p>
          <a:p>
            <a:pPr marL="182880" marR="799465" indent="-170815">
              <a:lnSpc>
                <a:spcPts val="3030"/>
              </a:lnSpc>
              <a:spcBef>
                <a:spcPts val="780"/>
              </a:spcBef>
              <a:buClr>
                <a:srgbClr val="D1350F"/>
              </a:buClr>
              <a:buFont typeface="Arial MT"/>
              <a:buChar char="•"/>
              <a:tabLst>
                <a:tab pos="184785" algn="l"/>
              </a:tabLst>
            </a:pP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sentencia</a:t>
            </a:r>
            <a:r>
              <a:rPr dirty="0" sz="2800" spc="-35">
                <a:solidFill>
                  <a:srgbClr val="4E3629"/>
                </a:solidFill>
                <a:latin typeface="Calibri"/>
                <a:cs typeface="Calibri"/>
              </a:rPr>
              <a:t> </a:t>
            </a:r>
            <a:r>
              <a:rPr dirty="0" sz="2800" spc="-30">
                <a:solidFill>
                  <a:srgbClr val="4E3629"/>
                </a:solidFill>
                <a:latin typeface="Calibri"/>
                <a:cs typeface="Calibri"/>
              </a:rPr>
              <a:t>CHECK(SYSDATE</a:t>
            </a:r>
            <a:r>
              <a:rPr dirty="0" sz="2800" spc="-50">
                <a:solidFill>
                  <a:srgbClr val="4E3629"/>
                </a:solidFill>
                <a:latin typeface="Calibri"/>
                <a:cs typeface="Calibri"/>
              </a:rPr>
              <a:t> </a:t>
            </a:r>
            <a:r>
              <a:rPr dirty="0" sz="2800" spc="-20">
                <a:solidFill>
                  <a:srgbClr val="4E3629"/>
                </a:solidFill>
                <a:latin typeface="Calibri"/>
                <a:cs typeface="Calibri"/>
              </a:rPr>
              <a:t>&gt;'05-</a:t>
            </a:r>
            <a:r>
              <a:rPr dirty="0" sz="2800" spc="-35">
                <a:solidFill>
                  <a:srgbClr val="4E3629"/>
                </a:solidFill>
                <a:latin typeface="Calibri"/>
                <a:cs typeface="Calibri"/>
              </a:rPr>
              <a:t>May-</a:t>
            </a:r>
            <a:r>
              <a:rPr dirty="0" sz="2800">
                <a:solidFill>
                  <a:srgbClr val="4E3629"/>
                </a:solidFill>
                <a:latin typeface="Calibri"/>
                <a:cs typeface="Calibri"/>
              </a:rPr>
              <a:t>1999')</a:t>
            </a:r>
            <a:r>
              <a:rPr dirty="0" sz="2800" spc="10">
                <a:solidFill>
                  <a:srgbClr val="4E3629"/>
                </a:solidFill>
                <a:latin typeface="Calibri"/>
                <a:cs typeface="Calibri"/>
              </a:rPr>
              <a:t> </a:t>
            </a:r>
            <a:r>
              <a:rPr dirty="0" sz="2800" spc="-25">
                <a:solidFill>
                  <a:srgbClr val="4E3629"/>
                </a:solidFill>
                <a:latin typeface="Calibri"/>
                <a:cs typeface="Calibri"/>
              </a:rPr>
              <a:t>no </a:t>
            </a:r>
            <a:r>
              <a:rPr dirty="0" sz="2800" spc="-25">
                <a:solidFill>
                  <a:srgbClr val="4E3629"/>
                </a:solidFill>
                <a:latin typeface="Calibri"/>
                <a:cs typeface="Calibri"/>
              </a:rPr>
              <a:t>	</a:t>
            </a:r>
            <a:r>
              <a:rPr dirty="0" sz="2800">
                <a:solidFill>
                  <a:srgbClr val="4E3629"/>
                </a:solidFill>
                <a:latin typeface="Calibri"/>
                <a:cs typeface="Calibri"/>
              </a:rPr>
              <a:t>está</a:t>
            </a:r>
            <a:r>
              <a:rPr dirty="0" sz="2800" spc="-100">
                <a:solidFill>
                  <a:srgbClr val="4E3629"/>
                </a:solidFill>
                <a:latin typeface="Calibri"/>
                <a:cs typeface="Calibri"/>
              </a:rPr>
              <a:t> </a:t>
            </a:r>
            <a:r>
              <a:rPr dirty="0" sz="2800" spc="-10">
                <a:solidFill>
                  <a:srgbClr val="4E3629"/>
                </a:solidFill>
                <a:latin typeface="Calibri"/>
                <a:cs typeface="Calibri"/>
              </a:rPr>
              <a:t>permitida</a:t>
            </a:r>
            <a:endParaRPr sz="2800">
              <a:latin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a:t>Condiciones</a:t>
            </a:r>
            <a:r>
              <a:rPr dirty="0" spc="-50"/>
              <a:t> </a:t>
            </a:r>
            <a:r>
              <a:rPr dirty="0"/>
              <a:t>de</a:t>
            </a:r>
            <a:r>
              <a:rPr dirty="0" spc="-70"/>
              <a:t> </a:t>
            </a:r>
            <a:r>
              <a:rPr dirty="0"/>
              <a:t>la</a:t>
            </a:r>
            <a:r>
              <a:rPr dirty="0" spc="-85"/>
              <a:t> </a:t>
            </a:r>
            <a:r>
              <a:rPr dirty="0" spc="-10"/>
              <a:t>Restricción</a:t>
            </a:r>
            <a:r>
              <a:rPr dirty="0" spc="-70"/>
              <a:t> </a:t>
            </a:r>
            <a:r>
              <a:rPr dirty="0" spc="-10"/>
              <a:t>CHECK</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2</a:t>
            </a:r>
          </a:p>
          <a:p>
            <a:pPr marL="12700" marR="5080">
              <a:lnSpc>
                <a:spcPts val="919"/>
              </a:lnSpc>
              <a:spcBef>
                <a:spcPts val="60"/>
              </a:spcBef>
            </a:pPr>
            <a:r>
              <a:rPr dirty="0" spc="-10"/>
              <a:t>Restricciones</a:t>
            </a:r>
            <a:r>
              <a:rPr dirty="0" spc="55"/>
              <a:t> </a:t>
            </a:r>
            <a:r>
              <a:rPr dirty="0"/>
              <a:t>PRIMARY</a:t>
            </a:r>
            <a:r>
              <a:rPr dirty="0" spc="-30"/>
              <a:t> </a:t>
            </a:r>
            <a:r>
              <a:rPr dirty="0" spc="-20"/>
              <a:t>KEY,</a:t>
            </a:r>
            <a:r>
              <a:rPr dirty="0" spc="500"/>
              <a:t> </a:t>
            </a:r>
            <a:r>
              <a:rPr dirty="0"/>
              <a:t>FOREIGN</a:t>
            </a:r>
            <a:r>
              <a:rPr dirty="0" spc="-40"/>
              <a:t> </a:t>
            </a:r>
            <a:r>
              <a:rPr dirty="0"/>
              <a:t>KEY</a:t>
            </a:r>
            <a:r>
              <a:rPr dirty="0" spc="-20"/>
              <a:t> </a:t>
            </a:r>
            <a:r>
              <a:rPr dirty="0"/>
              <a:t>y</a:t>
            </a:r>
            <a:r>
              <a:rPr dirty="0" spc="-5"/>
              <a:t> </a:t>
            </a:r>
            <a:r>
              <a:rPr dirty="0" spc="-20"/>
              <a:t>CHECK</a:t>
            </a: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30</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8102600" cy="3829050"/>
          </a:xfrm>
          <a:prstGeom prst="rect">
            <a:avLst/>
          </a:prstGeom>
        </p:spPr>
        <p:txBody>
          <a:bodyPr wrap="square" lIns="0" tIns="59690" rIns="0" bIns="0" rtlCol="0" vert="horz">
            <a:spAutoFit/>
          </a:bodyPr>
          <a:lstStyle/>
          <a:p>
            <a:pPr marL="182880" marR="127762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La</a:t>
            </a:r>
            <a:r>
              <a:rPr dirty="0" sz="2800" spc="-65">
                <a:solidFill>
                  <a:srgbClr val="4E3629"/>
                </a:solidFill>
                <a:latin typeface="Calibri"/>
                <a:cs typeface="Calibri"/>
              </a:rPr>
              <a:t> </a:t>
            </a:r>
            <a:r>
              <a:rPr dirty="0" sz="2800" spc="-10">
                <a:solidFill>
                  <a:srgbClr val="4E3629"/>
                </a:solidFill>
                <a:latin typeface="Calibri"/>
                <a:cs typeface="Calibri"/>
              </a:rPr>
              <a:t>restricción</a:t>
            </a:r>
            <a:r>
              <a:rPr dirty="0" sz="2800" spc="-35">
                <a:solidFill>
                  <a:srgbClr val="4E3629"/>
                </a:solidFill>
                <a:latin typeface="Calibri"/>
                <a:cs typeface="Calibri"/>
              </a:rPr>
              <a:t> </a:t>
            </a:r>
            <a:r>
              <a:rPr dirty="0" sz="2800">
                <a:solidFill>
                  <a:srgbClr val="4E3629"/>
                </a:solidFill>
                <a:latin typeface="Calibri"/>
                <a:cs typeface="Calibri"/>
              </a:rPr>
              <a:t>USER</a:t>
            </a:r>
            <a:r>
              <a:rPr dirty="0" sz="2800" spc="-50">
                <a:solidFill>
                  <a:srgbClr val="4E3629"/>
                </a:solidFill>
                <a:latin typeface="Calibri"/>
                <a:cs typeface="Calibri"/>
              </a:rPr>
              <a:t> </a:t>
            </a:r>
            <a:r>
              <a:rPr dirty="0" sz="2800">
                <a:solidFill>
                  <a:srgbClr val="4E3629"/>
                </a:solidFill>
                <a:latin typeface="Calibri"/>
                <a:cs typeface="Calibri"/>
              </a:rPr>
              <a:t>no</a:t>
            </a:r>
            <a:r>
              <a:rPr dirty="0" sz="2800" spc="-45">
                <a:solidFill>
                  <a:srgbClr val="4E3629"/>
                </a:solidFill>
                <a:latin typeface="Calibri"/>
                <a:cs typeface="Calibri"/>
              </a:rPr>
              <a:t> </a:t>
            </a:r>
            <a:r>
              <a:rPr dirty="0" sz="2800">
                <a:solidFill>
                  <a:srgbClr val="4E3629"/>
                </a:solidFill>
                <a:latin typeface="Calibri"/>
                <a:cs typeface="Calibri"/>
              </a:rPr>
              <a:t>puede</a:t>
            </a:r>
            <a:r>
              <a:rPr dirty="0" sz="2800" spc="-35">
                <a:solidFill>
                  <a:srgbClr val="4E3629"/>
                </a:solidFill>
                <a:latin typeface="Calibri"/>
                <a:cs typeface="Calibri"/>
              </a:rPr>
              <a:t> </a:t>
            </a:r>
            <a:r>
              <a:rPr dirty="0" sz="2800">
                <a:solidFill>
                  <a:srgbClr val="4E3629"/>
                </a:solidFill>
                <a:latin typeface="Calibri"/>
                <a:cs typeface="Calibri"/>
              </a:rPr>
              <a:t>utilizar</a:t>
            </a:r>
            <a:r>
              <a:rPr dirty="0" sz="2800" spc="-55">
                <a:solidFill>
                  <a:srgbClr val="4E3629"/>
                </a:solidFill>
                <a:latin typeface="Calibri"/>
                <a:cs typeface="Calibri"/>
              </a:rPr>
              <a:t> </a:t>
            </a:r>
            <a:r>
              <a:rPr dirty="0" sz="2800" spc="-25">
                <a:solidFill>
                  <a:srgbClr val="4E3629"/>
                </a:solidFill>
                <a:latin typeface="Calibri"/>
                <a:cs typeface="Calibri"/>
              </a:rPr>
              <a:t>las </a:t>
            </a:r>
            <a:r>
              <a:rPr dirty="0" sz="2800" spc="-25">
                <a:solidFill>
                  <a:srgbClr val="4E3629"/>
                </a:solidFill>
                <a:latin typeface="Calibri"/>
                <a:cs typeface="Calibri"/>
              </a:rPr>
              <a:t>	</a:t>
            </a:r>
            <a:r>
              <a:rPr dirty="0" sz="2800" spc="-10">
                <a:solidFill>
                  <a:srgbClr val="4E3629"/>
                </a:solidFill>
                <a:latin typeface="Calibri"/>
                <a:cs typeface="Calibri"/>
              </a:rPr>
              <a:t>pseudocolumnas</a:t>
            </a:r>
            <a:r>
              <a:rPr dirty="0" sz="2800" spc="-45">
                <a:solidFill>
                  <a:srgbClr val="4E3629"/>
                </a:solidFill>
                <a:latin typeface="Calibri"/>
                <a:cs typeface="Calibri"/>
              </a:rPr>
              <a:t> </a:t>
            </a:r>
            <a:r>
              <a:rPr dirty="0" sz="2800" spc="-20">
                <a:solidFill>
                  <a:srgbClr val="4E3629"/>
                </a:solidFill>
                <a:latin typeface="Calibri"/>
                <a:cs typeface="Calibri"/>
              </a:rPr>
              <a:t>CURRVAL,</a:t>
            </a:r>
            <a:r>
              <a:rPr dirty="0" sz="2800" spc="-80">
                <a:solidFill>
                  <a:srgbClr val="4E3629"/>
                </a:solidFill>
                <a:latin typeface="Calibri"/>
                <a:cs typeface="Calibri"/>
              </a:rPr>
              <a:t> </a:t>
            </a:r>
            <a:r>
              <a:rPr dirty="0" sz="2800">
                <a:solidFill>
                  <a:srgbClr val="4E3629"/>
                </a:solidFill>
                <a:latin typeface="Calibri"/>
                <a:cs typeface="Calibri"/>
              </a:rPr>
              <a:t>NEXTVAL,</a:t>
            </a:r>
            <a:r>
              <a:rPr dirty="0" sz="2800" spc="-80">
                <a:solidFill>
                  <a:srgbClr val="4E3629"/>
                </a:solidFill>
                <a:latin typeface="Calibri"/>
                <a:cs typeface="Calibri"/>
              </a:rPr>
              <a:t> </a:t>
            </a:r>
            <a:r>
              <a:rPr dirty="0" sz="2800">
                <a:solidFill>
                  <a:srgbClr val="4E3629"/>
                </a:solidFill>
                <a:latin typeface="Calibri"/>
                <a:cs typeface="Calibri"/>
              </a:rPr>
              <a:t>LEVEL</a:t>
            </a:r>
            <a:r>
              <a:rPr dirty="0" sz="2800" spc="-90">
                <a:solidFill>
                  <a:srgbClr val="4E3629"/>
                </a:solidFill>
                <a:latin typeface="Calibri"/>
                <a:cs typeface="Calibri"/>
              </a:rPr>
              <a:t> </a:t>
            </a:r>
            <a:r>
              <a:rPr dirty="0" sz="2800" spc="-50">
                <a:solidFill>
                  <a:srgbClr val="4E3629"/>
                </a:solidFill>
                <a:latin typeface="Calibri"/>
                <a:cs typeface="Calibri"/>
              </a:rPr>
              <a:t>o </a:t>
            </a:r>
            <a:r>
              <a:rPr dirty="0" sz="2800" spc="-50">
                <a:solidFill>
                  <a:srgbClr val="4E3629"/>
                </a:solidFill>
                <a:latin typeface="Calibri"/>
                <a:cs typeface="Calibri"/>
              </a:rPr>
              <a:t>	</a:t>
            </a:r>
            <a:r>
              <a:rPr dirty="0" sz="2800" spc="-10">
                <a:solidFill>
                  <a:srgbClr val="4E3629"/>
                </a:solidFill>
                <a:latin typeface="Calibri"/>
                <a:cs typeface="Calibri"/>
              </a:rPr>
              <a:t>ROWNUM</a:t>
            </a:r>
            <a:endParaRPr sz="2800">
              <a:latin typeface="Calibri"/>
              <a:cs typeface="Calibri"/>
            </a:endParaRPr>
          </a:p>
          <a:p>
            <a:pPr marL="183515" indent="-170815">
              <a:lnSpc>
                <a:spcPct val="100000"/>
              </a:lnSpc>
              <a:spcBef>
                <a:spcPts val="409"/>
              </a:spcBef>
              <a:buClr>
                <a:srgbClr val="D1350F"/>
              </a:buClr>
              <a:buFont typeface="Arial MT"/>
              <a:buChar char="•"/>
              <a:tabLst>
                <a:tab pos="183515" algn="l"/>
              </a:tabLst>
            </a:pPr>
            <a:r>
              <a:rPr dirty="0" sz="2800">
                <a:solidFill>
                  <a:srgbClr val="4E3629"/>
                </a:solidFill>
                <a:latin typeface="Calibri"/>
                <a:cs typeface="Calibri"/>
              </a:rPr>
              <a:t>La</a:t>
            </a:r>
            <a:r>
              <a:rPr dirty="0" sz="2800" spc="-80">
                <a:solidFill>
                  <a:srgbClr val="4E3629"/>
                </a:solidFill>
                <a:latin typeface="Calibri"/>
                <a:cs typeface="Calibri"/>
              </a:rPr>
              <a:t> </a:t>
            </a:r>
            <a:r>
              <a:rPr dirty="0" sz="2800">
                <a:solidFill>
                  <a:srgbClr val="4E3629"/>
                </a:solidFill>
                <a:latin typeface="Calibri"/>
                <a:cs typeface="Calibri"/>
              </a:rPr>
              <a:t>sentencia</a:t>
            </a:r>
            <a:r>
              <a:rPr dirty="0" sz="2800" spc="-55">
                <a:solidFill>
                  <a:srgbClr val="4E3629"/>
                </a:solidFill>
                <a:latin typeface="Calibri"/>
                <a:cs typeface="Calibri"/>
              </a:rPr>
              <a:t> </a:t>
            </a:r>
            <a:r>
              <a:rPr dirty="0" sz="2800" spc="-10">
                <a:solidFill>
                  <a:srgbClr val="4E3629"/>
                </a:solidFill>
                <a:latin typeface="Calibri"/>
                <a:cs typeface="Calibri"/>
              </a:rPr>
              <a:t>CHECK(NEXTVAL</a:t>
            </a:r>
            <a:r>
              <a:rPr dirty="0" sz="2800" spc="-55">
                <a:solidFill>
                  <a:srgbClr val="4E3629"/>
                </a:solidFill>
                <a:latin typeface="Calibri"/>
                <a:cs typeface="Calibri"/>
              </a:rPr>
              <a:t> </a:t>
            </a:r>
            <a:r>
              <a:rPr dirty="0" sz="2800">
                <a:solidFill>
                  <a:srgbClr val="4E3629"/>
                </a:solidFill>
                <a:latin typeface="Calibri"/>
                <a:cs typeface="Calibri"/>
              </a:rPr>
              <a:t>&gt;</a:t>
            </a:r>
            <a:r>
              <a:rPr dirty="0" sz="2800" spc="-60">
                <a:solidFill>
                  <a:srgbClr val="4E3629"/>
                </a:solidFill>
                <a:latin typeface="Calibri"/>
                <a:cs typeface="Calibri"/>
              </a:rPr>
              <a:t> </a:t>
            </a:r>
            <a:r>
              <a:rPr dirty="0" sz="2800">
                <a:solidFill>
                  <a:srgbClr val="4E3629"/>
                </a:solidFill>
                <a:latin typeface="Calibri"/>
                <a:cs typeface="Calibri"/>
              </a:rPr>
              <a:t>0)</a:t>
            </a:r>
            <a:r>
              <a:rPr dirty="0" sz="2800" spc="-60">
                <a:solidFill>
                  <a:srgbClr val="4E3629"/>
                </a:solidFill>
                <a:latin typeface="Calibri"/>
                <a:cs typeface="Calibri"/>
              </a:rPr>
              <a:t> </a:t>
            </a:r>
            <a:r>
              <a:rPr dirty="0" sz="2800">
                <a:solidFill>
                  <a:srgbClr val="4E3629"/>
                </a:solidFill>
                <a:latin typeface="Calibri"/>
                <a:cs typeface="Calibri"/>
              </a:rPr>
              <a:t>no</a:t>
            </a:r>
            <a:r>
              <a:rPr dirty="0" sz="2800" spc="-55">
                <a:solidFill>
                  <a:srgbClr val="4E3629"/>
                </a:solidFill>
                <a:latin typeface="Calibri"/>
                <a:cs typeface="Calibri"/>
              </a:rPr>
              <a:t> </a:t>
            </a:r>
            <a:r>
              <a:rPr dirty="0" sz="2800">
                <a:solidFill>
                  <a:srgbClr val="4E3629"/>
                </a:solidFill>
                <a:latin typeface="Calibri"/>
                <a:cs typeface="Calibri"/>
              </a:rPr>
              <a:t>está</a:t>
            </a:r>
            <a:r>
              <a:rPr dirty="0" sz="2800" spc="-70">
                <a:solidFill>
                  <a:srgbClr val="4E3629"/>
                </a:solidFill>
                <a:latin typeface="Calibri"/>
                <a:cs typeface="Calibri"/>
              </a:rPr>
              <a:t> </a:t>
            </a:r>
            <a:r>
              <a:rPr dirty="0" sz="2800" spc="-10">
                <a:solidFill>
                  <a:srgbClr val="4E3629"/>
                </a:solidFill>
                <a:latin typeface="Calibri"/>
                <a:cs typeface="Calibri"/>
              </a:rPr>
              <a:t>permitida</a:t>
            </a:r>
            <a:endParaRPr sz="2800">
              <a:latin typeface="Calibri"/>
              <a:cs typeface="Calibri"/>
            </a:endParaRPr>
          </a:p>
          <a:p>
            <a:pPr marL="182880" marR="660400" indent="-170815">
              <a:lnSpc>
                <a:spcPts val="3030"/>
              </a:lnSpc>
              <a:spcBef>
                <a:spcPts val="844"/>
              </a:spcBef>
              <a:buClr>
                <a:srgbClr val="D1350F"/>
              </a:buClr>
              <a:buFont typeface="Arial MT"/>
              <a:buChar char="•"/>
              <a:tabLst>
                <a:tab pos="184785" algn="l"/>
              </a:tabLst>
            </a:pPr>
            <a:r>
              <a:rPr dirty="0" sz="2800">
                <a:solidFill>
                  <a:srgbClr val="4E3629"/>
                </a:solidFill>
                <a:latin typeface="Calibri"/>
                <a:cs typeface="Calibri"/>
              </a:rPr>
              <a:t>Una</a:t>
            </a:r>
            <a:r>
              <a:rPr dirty="0" sz="2800" spc="-65">
                <a:solidFill>
                  <a:srgbClr val="4E3629"/>
                </a:solidFill>
                <a:latin typeface="Calibri"/>
                <a:cs typeface="Calibri"/>
              </a:rPr>
              <a:t> </a:t>
            </a:r>
            <a:r>
              <a:rPr dirty="0" sz="2800">
                <a:solidFill>
                  <a:srgbClr val="4E3629"/>
                </a:solidFill>
                <a:latin typeface="Calibri"/>
                <a:cs typeface="Calibri"/>
              </a:rPr>
              <a:t>sola</a:t>
            </a:r>
            <a:r>
              <a:rPr dirty="0" sz="2800" spc="-45">
                <a:solidFill>
                  <a:srgbClr val="4E3629"/>
                </a:solidFill>
                <a:latin typeface="Calibri"/>
                <a:cs typeface="Calibri"/>
              </a:rPr>
              <a:t> </a:t>
            </a:r>
            <a:r>
              <a:rPr dirty="0" sz="2800">
                <a:solidFill>
                  <a:srgbClr val="4E3629"/>
                </a:solidFill>
                <a:latin typeface="Calibri"/>
                <a:cs typeface="Calibri"/>
              </a:rPr>
              <a:t>columna</a:t>
            </a:r>
            <a:r>
              <a:rPr dirty="0" sz="2800" spc="-40">
                <a:solidFill>
                  <a:srgbClr val="4E3629"/>
                </a:solidFill>
                <a:latin typeface="Calibri"/>
                <a:cs typeface="Calibri"/>
              </a:rPr>
              <a:t> </a:t>
            </a:r>
            <a:r>
              <a:rPr dirty="0" sz="2800">
                <a:solidFill>
                  <a:srgbClr val="4E3629"/>
                </a:solidFill>
                <a:latin typeface="Calibri"/>
                <a:cs typeface="Calibri"/>
              </a:rPr>
              <a:t>puede</a:t>
            </a:r>
            <a:r>
              <a:rPr dirty="0" sz="2800" spc="-45">
                <a:solidFill>
                  <a:srgbClr val="4E3629"/>
                </a:solidFill>
                <a:latin typeface="Calibri"/>
                <a:cs typeface="Calibri"/>
              </a:rPr>
              <a:t> </a:t>
            </a:r>
            <a:r>
              <a:rPr dirty="0" sz="2800">
                <a:solidFill>
                  <a:srgbClr val="4E3629"/>
                </a:solidFill>
                <a:latin typeface="Calibri"/>
                <a:cs typeface="Calibri"/>
              </a:rPr>
              <a:t>tener</a:t>
            </a:r>
            <a:r>
              <a:rPr dirty="0" sz="2800" spc="-70">
                <a:solidFill>
                  <a:srgbClr val="4E3629"/>
                </a:solidFill>
                <a:latin typeface="Calibri"/>
                <a:cs typeface="Calibri"/>
              </a:rPr>
              <a:t> </a:t>
            </a:r>
            <a:r>
              <a:rPr dirty="0" sz="2800">
                <a:solidFill>
                  <a:srgbClr val="4E3629"/>
                </a:solidFill>
                <a:latin typeface="Calibri"/>
                <a:cs typeface="Calibri"/>
              </a:rPr>
              <a:t>varias</a:t>
            </a:r>
            <a:r>
              <a:rPr dirty="0" sz="2800" spc="-65">
                <a:solidFill>
                  <a:srgbClr val="4E3629"/>
                </a:solidFill>
                <a:latin typeface="Calibri"/>
                <a:cs typeface="Calibri"/>
              </a:rPr>
              <a:t> </a:t>
            </a:r>
            <a:r>
              <a:rPr dirty="0" sz="2800" spc="-10">
                <a:solidFill>
                  <a:srgbClr val="4E3629"/>
                </a:solidFill>
                <a:latin typeface="Calibri"/>
                <a:cs typeface="Calibri"/>
              </a:rPr>
              <a:t>restricciones </a:t>
            </a:r>
            <a:r>
              <a:rPr dirty="0" sz="2800" spc="-10">
                <a:solidFill>
                  <a:srgbClr val="4E3629"/>
                </a:solidFill>
                <a:latin typeface="Calibri"/>
                <a:cs typeface="Calibri"/>
              </a:rPr>
              <a:t>	</a:t>
            </a:r>
            <a:r>
              <a:rPr dirty="0" sz="2800">
                <a:solidFill>
                  <a:srgbClr val="4E3629"/>
                </a:solidFill>
                <a:latin typeface="Calibri"/>
                <a:cs typeface="Calibri"/>
              </a:rPr>
              <a:t>CHECK</a:t>
            </a:r>
            <a:r>
              <a:rPr dirty="0" sz="2800" spc="-65">
                <a:solidFill>
                  <a:srgbClr val="4E3629"/>
                </a:solidFill>
                <a:latin typeface="Calibri"/>
                <a:cs typeface="Calibri"/>
              </a:rPr>
              <a:t> </a:t>
            </a:r>
            <a:r>
              <a:rPr dirty="0" sz="2800">
                <a:solidFill>
                  <a:srgbClr val="4E3629"/>
                </a:solidFill>
                <a:latin typeface="Calibri"/>
                <a:cs typeface="Calibri"/>
              </a:rPr>
              <a:t>que</a:t>
            </a:r>
            <a:r>
              <a:rPr dirty="0" sz="2800" spc="-45">
                <a:solidFill>
                  <a:srgbClr val="4E3629"/>
                </a:solidFill>
                <a:latin typeface="Calibri"/>
                <a:cs typeface="Calibri"/>
              </a:rPr>
              <a:t> </a:t>
            </a:r>
            <a:r>
              <a:rPr dirty="0" sz="2800">
                <a:solidFill>
                  <a:srgbClr val="4E3629"/>
                </a:solidFill>
                <a:latin typeface="Calibri"/>
                <a:cs typeface="Calibri"/>
              </a:rPr>
              <a:t>hagan</a:t>
            </a:r>
            <a:r>
              <a:rPr dirty="0" sz="2800" spc="-65">
                <a:solidFill>
                  <a:srgbClr val="4E3629"/>
                </a:solidFill>
                <a:latin typeface="Calibri"/>
                <a:cs typeface="Calibri"/>
              </a:rPr>
              <a:t> </a:t>
            </a:r>
            <a:r>
              <a:rPr dirty="0" sz="2800" spc="-10">
                <a:solidFill>
                  <a:srgbClr val="4E3629"/>
                </a:solidFill>
                <a:latin typeface="Calibri"/>
                <a:cs typeface="Calibri"/>
              </a:rPr>
              <a:t>referencia</a:t>
            </a:r>
            <a:r>
              <a:rPr dirty="0" sz="2800" spc="-60">
                <a:solidFill>
                  <a:srgbClr val="4E3629"/>
                </a:solidFill>
                <a:latin typeface="Calibri"/>
                <a:cs typeface="Calibri"/>
              </a:rPr>
              <a:t> </a:t>
            </a:r>
            <a:r>
              <a:rPr dirty="0" sz="2800">
                <a:solidFill>
                  <a:srgbClr val="4E3629"/>
                </a:solidFill>
                <a:latin typeface="Calibri"/>
                <a:cs typeface="Calibri"/>
              </a:rPr>
              <a:t>a</a:t>
            </a:r>
            <a:r>
              <a:rPr dirty="0" sz="2800" spc="-70">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columna</a:t>
            </a:r>
            <a:r>
              <a:rPr dirty="0" sz="2800" spc="-35">
                <a:solidFill>
                  <a:srgbClr val="4E3629"/>
                </a:solidFill>
                <a:latin typeface="Calibri"/>
                <a:cs typeface="Calibri"/>
              </a:rPr>
              <a:t> </a:t>
            </a:r>
            <a:r>
              <a:rPr dirty="0" sz="2800">
                <a:solidFill>
                  <a:srgbClr val="4E3629"/>
                </a:solidFill>
                <a:latin typeface="Calibri"/>
                <a:cs typeface="Calibri"/>
              </a:rPr>
              <a:t>en</a:t>
            </a:r>
            <a:r>
              <a:rPr dirty="0" sz="2800" spc="-55">
                <a:solidFill>
                  <a:srgbClr val="4E3629"/>
                </a:solidFill>
                <a:latin typeface="Calibri"/>
                <a:cs typeface="Calibri"/>
              </a:rPr>
              <a:t> </a:t>
            </a:r>
            <a:r>
              <a:rPr dirty="0" sz="2800" spc="-25">
                <a:solidFill>
                  <a:srgbClr val="4E3629"/>
                </a:solidFill>
                <a:latin typeface="Calibri"/>
                <a:cs typeface="Calibri"/>
              </a:rPr>
              <a:t>su </a:t>
            </a:r>
            <a:r>
              <a:rPr dirty="0" sz="2800" spc="-25">
                <a:solidFill>
                  <a:srgbClr val="4E3629"/>
                </a:solidFill>
                <a:latin typeface="Calibri"/>
                <a:cs typeface="Calibri"/>
              </a:rPr>
              <a:t>	</a:t>
            </a:r>
            <a:r>
              <a:rPr dirty="0" sz="2800" spc="-10">
                <a:solidFill>
                  <a:srgbClr val="4E3629"/>
                </a:solidFill>
                <a:latin typeface="Calibri"/>
                <a:cs typeface="Calibri"/>
              </a:rPr>
              <a:t>definición</a:t>
            </a:r>
            <a:endParaRPr sz="2800">
              <a:latin typeface="Calibri"/>
              <a:cs typeface="Calibri"/>
            </a:endParaRPr>
          </a:p>
          <a:p>
            <a:pPr marL="182880" marR="5080" indent="-170815">
              <a:lnSpc>
                <a:spcPts val="3030"/>
              </a:lnSpc>
              <a:spcBef>
                <a:spcPts val="775"/>
              </a:spcBef>
              <a:buClr>
                <a:srgbClr val="D1350F"/>
              </a:buClr>
              <a:buFont typeface="Arial MT"/>
              <a:buChar char="•"/>
              <a:tabLst>
                <a:tab pos="184785" algn="l"/>
              </a:tabLst>
            </a:pPr>
            <a:r>
              <a:rPr dirty="0" sz="2800">
                <a:solidFill>
                  <a:srgbClr val="4E3629"/>
                </a:solidFill>
                <a:latin typeface="Calibri"/>
                <a:cs typeface="Calibri"/>
              </a:rPr>
              <a:t>No</a:t>
            </a:r>
            <a:r>
              <a:rPr dirty="0" sz="2800" spc="-55">
                <a:solidFill>
                  <a:srgbClr val="4E3629"/>
                </a:solidFill>
                <a:latin typeface="Calibri"/>
                <a:cs typeface="Calibri"/>
              </a:rPr>
              <a:t> </a:t>
            </a:r>
            <a:r>
              <a:rPr dirty="0" sz="2800">
                <a:solidFill>
                  <a:srgbClr val="4E3629"/>
                </a:solidFill>
                <a:latin typeface="Calibri"/>
                <a:cs typeface="Calibri"/>
              </a:rPr>
              <a:t>hay</a:t>
            </a:r>
            <a:r>
              <a:rPr dirty="0" sz="2800" spc="-70">
                <a:solidFill>
                  <a:srgbClr val="4E3629"/>
                </a:solidFill>
                <a:latin typeface="Calibri"/>
                <a:cs typeface="Calibri"/>
              </a:rPr>
              <a:t> </a:t>
            </a:r>
            <a:r>
              <a:rPr dirty="0" sz="2800">
                <a:solidFill>
                  <a:srgbClr val="4E3629"/>
                </a:solidFill>
                <a:latin typeface="Calibri"/>
                <a:cs typeface="Calibri"/>
              </a:rPr>
              <a:t>ningún</a:t>
            </a:r>
            <a:r>
              <a:rPr dirty="0" sz="2800" spc="-25">
                <a:solidFill>
                  <a:srgbClr val="4E3629"/>
                </a:solidFill>
                <a:latin typeface="Calibri"/>
                <a:cs typeface="Calibri"/>
              </a:rPr>
              <a:t> </a:t>
            </a:r>
            <a:r>
              <a:rPr dirty="0" sz="2800">
                <a:solidFill>
                  <a:srgbClr val="4E3629"/>
                </a:solidFill>
                <a:latin typeface="Calibri"/>
                <a:cs typeface="Calibri"/>
              </a:rPr>
              <a:t>límite</a:t>
            </a:r>
            <a:r>
              <a:rPr dirty="0" sz="2800" spc="-65">
                <a:solidFill>
                  <a:srgbClr val="4E3629"/>
                </a:solidFill>
                <a:latin typeface="Calibri"/>
                <a:cs typeface="Calibri"/>
              </a:rPr>
              <a:t> </a:t>
            </a:r>
            <a:r>
              <a:rPr dirty="0" sz="2800">
                <a:solidFill>
                  <a:srgbClr val="4E3629"/>
                </a:solidFill>
                <a:latin typeface="Calibri"/>
                <a:cs typeface="Calibri"/>
              </a:rPr>
              <a:t>en</a:t>
            </a:r>
            <a:r>
              <a:rPr dirty="0" sz="2800" spc="-55">
                <a:solidFill>
                  <a:srgbClr val="4E3629"/>
                </a:solidFill>
                <a:latin typeface="Calibri"/>
                <a:cs typeface="Calibri"/>
              </a:rPr>
              <a:t> </a:t>
            </a:r>
            <a:r>
              <a:rPr dirty="0" sz="2800">
                <a:solidFill>
                  <a:srgbClr val="4E3629"/>
                </a:solidFill>
                <a:latin typeface="Calibri"/>
                <a:cs typeface="Calibri"/>
              </a:rPr>
              <a:t>cuanto</a:t>
            </a:r>
            <a:r>
              <a:rPr dirty="0" sz="2800" spc="-55">
                <a:solidFill>
                  <a:srgbClr val="4E3629"/>
                </a:solidFill>
                <a:latin typeface="Calibri"/>
                <a:cs typeface="Calibri"/>
              </a:rPr>
              <a:t> </a:t>
            </a:r>
            <a:r>
              <a:rPr dirty="0" sz="2800">
                <a:solidFill>
                  <a:srgbClr val="4E3629"/>
                </a:solidFill>
                <a:latin typeface="Calibri"/>
                <a:cs typeface="Calibri"/>
              </a:rPr>
              <a:t>al</a:t>
            </a:r>
            <a:r>
              <a:rPr dirty="0" sz="2800" spc="-80">
                <a:solidFill>
                  <a:srgbClr val="4E3629"/>
                </a:solidFill>
                <a:latin typeface="Calibri"/>
                <a:cs typeface="Calibri"/>
              </a:rPr>
              <a:t> </a:t>
            </a:r>
            <a:r>
              <a:rPr dirty="0" sz="2800">
                <a:solidFill>
                  <a:srgbClr val="4E3629"/>
                </a:solidFill>
                <a:latin typeface="Calibri"/>
                <a:cs typeface="Calibri"/>
              </a:rPr>
              <a:t>número</a:t>
            </a:r>
            <a:r>
              <a:rPr dirty="0" sz="2800" spc="-35">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spc="-10">
                <a:solidFill>
                  <a:srgbClr val="4E3629"/>
                </a:solidFill>
                <a:latin typeface="Calibri"/>
                <a:cs typeface="Calibri"/>
              </a:rPr>
              <a:t>restricciones</a:t>
            </a:r>
            <a:r>
              <a:rPr dirty="0" sz="2800" spc="-25">
                <a:solidFill>
                  <a:srgbClr val="4E3629"/>
                </a:solidFill>
                <a:latin typeface="Calibri"/>
                <a:cs typeface="Calibri"/>
              </a:rPr>
              <a:t> </a:t>
            </a:r>
            <a:r>
              <a:rPr dirty="0" sz="2800">
                <a:solidFill>
                  <a:srgbClr val="4E3629"/>
                </a:solidFill>
                <a:latin typeface="Calibri"/>
                <a:cs typeface="Calibri"/>
              </a:rPr>
              <a:t>CHECK</a:t>
            </a:r>
            <a:r>
              <a:rPr dirty="0" sz="2800" spc="-55">
                <a:solidFill>
                  <a:srgbClr val="4E3629"/>
                </a:solidFill>
                <a:latin typeface="Calibri"/>
                <a:cs typeface="Calibri"/>
              </a:rPr>
              <a:t> </a:t>
            </a:r>
            <a:r>
              <a:rPr dirty="0" sz="2800">
                <a:solidFill>
                  <a:srgbClr val="4E3629"/>
                </a:solidFill>
                <a:latin typeface="Calibri"/>
                <a:cs typeface="Calibri"/>
              </a:rPr>
              <a:t>que</a:t>
            </a:r>
            <a:r>
              <a:rPr dirty="0" sz="2800" spc="-30">
                <a:solidFill>
                  <a:srgbClr val="4E3629"/>
                </a:solidFill>
                <a:latin typeface="Calibri"/>
                <a:cs typeface="Calibri"/>
              </a:rPr>
              <a:t> </a:t>
            </a:r>
            <a:r>
              <a:rPr dirty="0" sz="2800">
                <a:solidFill>
                  <a:srgbClr val="4E3629"/>
                </a:solidFill>
                <a:latin typeface="Calibri"/>
                <a:cs typeface="Calibri"/>
              </a:rPr>
              <a:t>puede</a:t>
            </a:r>
            <a:r>
              <a:rPr dirty="0" sz="2800" spc="-30">
                <a:solidFill>
                  <a:srgbClr val="4E3629"/>
                </a:solidFill>
                <a:latin typeface="Calibri"/>
                <a:cs typeface="Calibri"/>
              </a:rPr>
              <a:t> </a:t>
            </a:r>
            <a:r>
              <a:rPr dirty="0" sz="2800">
                <a:solidFill>
                  <a:srgbClr val="4E3629"/>
                </a:solidFill>
                <a:latin typeface="Calibri"/>
                <a:cs typeface="Calibri"/>
              </a:rPr>
              <a:t>definir</a:t>
            </a:r>
            <a:r>
              <a:rPr dirty="0" sz="2800" spc="-35">
                <a:solidFill>
                  <a:srgbClr val="4E3629"/>
                </a:solidFill>
                <a:latin typeface="Calibri"/>
                <a:cs typeface="Calibri"/>
              </a:rPr>
              <a:t> </a:t>
            </a:r>
            <a:r>
              <a:rPr dirty="0" sz="2800">
                <a:solidFill>
                  <a:srgbClr val="4E3629"/>
                </a:solidFill>
                <a:latin typeface="Calibri"/>
                <a:cs typeface="Calibri"/>
              </a:rPr>
              <a:t>en</a:t>
            </a:r>
            <a:r>
              <a:rPr dirty="0" sz="2800" spc="-60">
                <a:solidFill>
                  <a:srgbClr val="4E3629"/>
                </a:solidFill>
                <a:latin typeface="Calibri"/>
                <a:cs typeface="Calibri"/>
              </a:rPr>
              <a:t> </a:t>
            </a:r>
            <a:r>
              <a:rPr dirty="0" sz="2800">
                <a:solidFill>
                  <a:srgbClr val="4E3629"/>
                </a:solidFill>
                <a:latin typeface="Calibri"/>
                <a:cs typeface="Calibri"/>
              </a:rPr>
              <a:t>una</a:t>
            </a:r>
            <a:r>
              <a:rPr dirty="0" sz="2800" spc="-25">
                <a:solidFill>
                  <a:srgbClr val="4E3629"/>
                </a:solidFill>
                <a:latin typeface="Calibri"/>
                <a:cs typeface="Calibri"/>
              </a:rPr>
              <a:t> </a:t>
            </a:r>
            <a:r>
              <a:rPr dirty="0" sz="2800" spc="-10">
                <a:solidFill>
                  <a:srgbClr val="4E3629"/>
                </a:solidFill>
                <a:latin typeface="Calibri"/>
                <a:cs typeface="Calibri"/>
              </a:rPr>
              <a:t>columna</a:t>
            </a:r>
            <a:endParaRPr sz="2800">
              <a:latin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375411" rIns="0" bIns="0" rtlCol="0" vert="horz">
            <a:spAutoFit/>
          </a:bodyPr>
          <a:lstStyle/>
          <a:p>
            <a:pPr marL="12700">
              <a:lnSpc>
                <a:spcPct val="100000"/>
              </a:lnSpc>
              <a:spcBef>
                <a:spcPts val="100"/>
              </a:spcBef>
            </a:pPr>
            <a:r>
              <a:rPr dirty="0"/>
              <a:t>Sintaxis</a:t>
            </a:r>
            <a:r>
              <a:rPr dirty="0" spc="-90"/>
              <a:t> </a:t>
            </a:r>
            <a:r>
              <a:rPr dirty="0"/>
              <a:t>de</a:t>
            </a:r>
            <a:r>
              <a:rPr dirty="0" spc="-90"/>
              <a:t> </a:t>
            </a:r>
            <a:r>
              <a:rPr dirty="0" spc="-10"/>
              <a:t>Restricción</a:t>
            </a:r>
            <a:r>
              <a:rPr dirty="0" spc="-100"/>
              <a:t> </a:t>
            </a:r>
            <a:r>
              <a:rPr dirty="0" spc="-10"/>
              <a:t>CHECK</a:t>
            </a:r>
          </a:p>
        </p:txBody>
      </p:sp>
      <p:sp>
        <p:nvSpPr>
          <p:cNvPr id="7" name="object 7"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2</a:t>
            </a:r>
          </a:p>
          <a:p>
            <a:pPr marL="12700" marR="5080">
              <a:lnSpc>
                <a:spcPts val="919"/>
              </a:lnSpc>
              <a:spcBef>
                <a:spcPts val="60"/>
              </a:spcBef>
            </a:pPr>
            <a:r>
              <a:rPr dirty="0" spc="-10"/>
              <a:t>Restricciones</a:t>
            </a:r>
            <a:r>
              <a:rPr dirty="0" spc="55"/>
              <a:t> </a:t>
            </a:r>
            <a:r>
              <a:rPr dirty="0"/>
              <a:t>PRIMARY</a:t>
            </a:r>
            <a:r>
              <a:rPr dirty="0" spc="-30"/>
              <a:t> </a:t>
            </a:r>
            <a:r>
              <a:rPr dirty="0" spc="-20"/>
              <a:t>KEY,</a:t>
            </a:r>
            <a:r>
              <a:rPr dirty="0" spc="500"/>
              <a:t> </a:t>
            </a:r>
            <a:r>
              <a:rPr dirty="0"/>
              <a:t>FOREIGN</a:t>
            </a:r>
            <a:r>
              <a:rPr dirty="0" spc="-40"/>
              <a:t> </a:t>
            </a:r>
            <a:r>
              <a:rPr dirty="0"/>
              <a:t>KEY</a:t>
            </a:r>
            <a:r>
              <a:rPr dirty="0" spc="-20"/>
              <a:t> </a:t>
            </a:r>
            <a:r>
              <a:rPr dirty="0"/>
              <a:t>y</a:t>
            </a:r>
            <a:r>
              <a:rPr dirty="0" spc="-5"/>
              <a:t> </a:t>
            </a:r>
            <a:r>
              <a:rPr dirty="0" spc="-20"/>
              <a:t>CHECK</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31</a:t>
            </a:r>
          </a:p>
        </p:txBody>
      </p:sp>
      <p:sp>
        <p:nvSpPr>
          <p:cNvPr id="9" name="object 9"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7743190" cy="208915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Las</a:t>
            </a:r>
            <a:r>
              <a:rPr dirty="0" sz="2800" spc="-55">
                <a:solidFill>
                  <a:srgbClr val="4E3629"/>
                </a:solidFill>
                <a:latin typeface="Calibri"/>
                <a:cs typeface="Calibri"/>
              </a:rPr>
              <a:t> </a:t>
            </a:r>
            <a:r>
              <a:rPr dirty="0" sz="2800" spc="-10">
                <a:solidFill>
                  <a:srgbClr val="4E3629"/>
                </a:solidFill>
                <a:latin typeface="Calibri"/>
                <a:cs typeface="Calibri"/>
              </a:rPr>
              <a:t>restricciones </a:t>
            </a:r>
            <a:r>
              <a:rPr dirty="0" sz="2800">
                <a:solidFill>
                  <a:srgbClr val="4E3629"/>
                </a:solidFill>
                <a:latin typeface="Calibri"/>
                <a:cs typeface="Calibri"/>
              </a:rPr>
              <a:t>CHECK</a:t>
            </a:r>
            <a:r>
              <a:rPr dirty="0" sz="2800" spc="-45">
                <a:solidFill>
                  <a:srgbClr val="4E3629"/>
                </a:solidFill>
                <a:latin typeface="Calibri"/>
                <a:cs typeface="Calibri"/>
              </a:rPr>
              <a:t> </a:t>
            </a:r>
            <a:r>
              <a:rPr dirty="0" sz="2800">
                <a:solidFill>
                  <a:srgbClr val="4E3629"/>
                </a:solidFill>
                <a:latin typeface="Calibri"/>
                <a:cs typeface="Calibri"/>
              </a:rPr>
              <a:t>se</a:t>
            </a:r>
            <a:r>
              <a:rPr dirty="0" sz="2800" spc="-40">
                <a:solidFill>
                  <a:srgbClr val="4E3629"/>
                </a:solidFill>
                <a:latin typeface="Calibri"/>
                <a:cs typeface="Calibri"/>
              </a:rPr>
              <a:t> </a:t>
            </a:r>
            <a:r>
              <a:rPr dirty="0" sz="2800">
                <a:solidFill>
                  <a:srgbClr val="4E3629"/>
                </a:solidFill>
                <a:latin typeface="Calibri"/>
                <a:cs typeface="Calibri"/>
              </a:rPr>
              <a:t>pueden</a:t>
            </a:r>
            <a:r>
              <a:rPr dirty="0" sz="2800" spc="-15">
                <a:solidFill>
                  <a:srgbClr val="4E3629"/>
                </a:solidFill>
                <a:latin typeface="Calibri"/>
                <a:cs typeface="Calibri"/>
              </a:rPr>
              <a:t> </a:t>
            </a:r>
            <a:r>
              <a:rPr dirty="0" sz="2800">
                <a:solidFill>
                  <a:srgbClr val="4E3629"/>
                </a:solidFill>
                <a:latin typeface="Calibri"/>
                <a:cs typeface="Calibri"/>
              </a:rPr>
              <a:t>definir</a:t>
            </a:r>
            <a:r>
              <a:rPr dirty="0" sz="2800" spc="-25">
                <a:solidFill>
                  <a:srgbClr val="4E3629"/>
                </a:solidFill>
                <a:latin typeface="Calibri"/>
                <a:cs typeface="Calibri"/>
              </a:rPr>
              <a:t> </a:t>
            </a:r>
            <a:r>
              <a:rPr dirty="0" sz="2800">
                <a:solidFill>
                  <a:srgbClr val="4E3629"/>
                </a:solidFill>
                <a:latin typeface="Calibri"/>
                <a:cs typeface="Calibri"/>
              </a:rPr>
              <a:t>en</a:t>
            </a:r>
            <a:r>
              <a:rPr dirty="0" sz="2800" spc="-50">
                <a:solidFill>
                  <a:srgbClr val="4E3629"/>
                </a:solidFill>
                <a:latin typeface="Calibri"/>
                <a:cs typeface="Calibri"/>
              </a:rPr>
              <a:t> </a:t>
            </a:r>
            <a:r>
              <a:rPr dirty="0" sz="2800">
                <a:solidFill>
                  <a:srgbClr val="4E3629"/>
                </a:solidFill>
                <a:latin typeface="Calibri"/>
                <a:cs typeface="Calibri"/>
              </a:rPr>
              <a:t>el</a:t>
            </a:r>
            <a:r>
              <a:rPr dirty="0" sz="2800" spc="-55">
                <a:solidFill>
                  <a:srgbClr val="4E3629"/>
                </a:solidFill>
                <a:latin typeface="Calibri"/>
                <a:cs typeface="Calibri"/>
              </a:rPr>
              <a:t> </a:t>
            </a:r>
            <a:r>
              <a:rPr dirty="0" sz="2800" spc="-10">
                <a:solidFill>
                  <a:srgbClr val="4E3629"/>
                </a:solidFill>
                <a:latin typeface="Calibri"/>
                <a:cs typeface="Calibri"/>
              </a:rPr>
              <a:t>nivel </a:t>
            </a:r>
            <a:r>
              <a:rPr dirty="0" sz="2800" spc="-10">
                <a:solidFill>
                  <a:srgbClr val="4E3629"/>
                </a:solidFill>
                <a:latin typeface="Calibri"/>
                <a:cs typeface="Calibri"/>
              </a:rPr>
              <a:t>	</a:t>
            </a:r>
            <a:r>
              <a:rPr dirty="0" sz="2800">
                <a:solidFill>
                  <a:srgbClr val="4E3629"/>
                </a:solidFill>
                <a:latin typeface="Calibri"/>
                <a:cs typeface="Calibri"/>
              </a:rPr>
              <a:t>de</a:t>
            </a:r>
            <a:r>
              <a:rPr dirty="0" sz="2800" spc="-35">
                <a:solidFill>
                  <a:srgbClr val="4E3629"/>
                </a:solidFill>
                <a:latin typeface="Calibri"/>
                <a:cs typeface="Calibri"/>
              </a:rPr>
              <a:t> </a:t>
            </a:r>
            <a:r>
              <a:rPr dirty="0" sz="2800">
                <a:solidFill>
                  <a:srgbClr val="4E3629"/>
                </a:solidFill>
                <a:latin typeface="Calibri"/>
                <a:cs typeface="Calibri"/>
              </a:rPr>
              <a:t>tabla</a:t>
            </a:r>
            <a:r>
              <a:rPr dirty="0" sz="2800" spc="-40">
                <a:solidFill>
                  <a:srgbClr val="4E3629"/>
                </a:solidFill>
                <a:latin typeface="Calibri"/>
                <a:cs typeface="Calibri"/>
              </a:rPr>
              <a:t> </a:t>
            </a:r>
            <a:r>
              <a:rPr dirty="0" sz="2800">
                <a:solidFill>
                  <a:srgbClr val="4E3629"/>
                </a:solidFill>
                <a:latin typeface="Calibri"/>
                <a:cs typeface="Calibri"/>
              </a:rPr>
              <a:t>o</a:t>
            </a:r>
            <a:r>
              <a:rPr dirty="0" sz="2800" spc="-40">
                <a:solidFill>
                  <a:srgbClr val="4E3629"/>
                </a:solidFill>
                <a:latin typeface="Calibri"/>
                <a:cs typeface="Calibri"/>
              </a:rPr>
              <a:t> </a:t>
            </a:r>
            <a:r>
              <a:rPr dirty="0" sz="2800">
                <a:solidFill>
                  <a:srgbClr val="4E3629"/>
                </a:solidFill>
                <a:latin typeface="Calibri"/>
                <a:cs typeface="Calibri"/>
              </a:rPr>
              <a:t>de</a:t>
            </a:r>
            <a:r>
              <a:rPr dirty="0" sz="2800" spc="-35">
                <a:solidFill>
                  <a:srgbClr val="4E3629"/>
                </a:solidFill>
                <a:latin typeface="Calibri"/>
                <a:cs typeface="Calibri"/>
              </a:rPr>
              <a:t> </a:t>
            </a:r>
            <a:r>
              <a:rPr dirty="0" sz="2800" spc="-10">
                <a:solidFill>
                  <a:srgbClr val="4E3629"/>
                </a:solidFill>
                <a:latin typeface="Calibri"/>
                <a:cs typeface="Calibri"/>
              </a:rPr>
              <a:t>columna.</a:t>
            </a:r>
            <a:endParaRPr sz="2800">
              <a:latin typeface="Calibri"/>
              <a:cs typeface="Calibri"/>
            </a:endParaRPr>
          </a:p>
          <a:p>
            <a:pPr marL="182880" marR="363855"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La</a:t>
            </a:r>
            <a:r>
              <a:rPr dirty="0" sz="2800" spc="-75">
                <a:solidFill>
                  <a:srgbClr val="4E3629"/>
                </a:solidFill>
                <a:latin typeface="Calibri"/>
                <a:cs typeface="Calibri"/>
              </a:rPr>
              <a:t> </a:t>
            </a:r>
            <a:r>
              <a:rPr dirty="0" sz="2800">
                <a:solidFill>
                  <a:srgbClr val="4E3629"/>
                </a:solidFill>
                <a:latin typeface="Calibri"/>
                <a:cs typeface="Calibri"/>
              </a:rPr>
              <a:t>sintaxis</a:t>
            </a:r>
            <a:r>
              <a:rPr dirty="0" sz="2800" spc="-40">
                <a:solidFill>
                  <a:srgbClr val="4E3629"/>
                </a:solidFill>
                <a:latin typeface="Calibri"/>
                <a:cs typeface="Calibri"/>
              </a:rPr>
              <a:t> </a:t>
            </a:r>
            <a:r>
              <a:rPr dirty="0" sz="2800">
                <a:solidFill>
                  <a:srgbClr val="4E3629"/>
                </a:solidFill>
                <a:latin typeface="Calibri"/>
                <a:cs typeface="Calibri"/>
              </a:rPr>
              <a:t>para</a:t>
            </a:r>
            <a:r>
              <a:rPr dirty="0" sz="2800" spc="-70">
                <a:solidFill>
                  <a:srgbClr val="4E3629"/>
                </a:solidFill>
                <a:latin typeface="Calibri"/>
                <a:cs typeface="Calibri"/>
              </a:rPr>
              <a:t> </a:t>
            </a:r>
            <a:r>
              <a:rPr dirty="0" sz="2800">
                <a:solidFill>
                  <a:srgbClr val="4E3629"/>
                </a:solidFill>
                <a:latin typeface="Calibri"/>
                <a:cs typeface="Calibri"/>
              </a:rPr>
              <a:t>definir</a:t>
            </a:r>
            <a:r>
              <a:rPr dirty="0" sz="2800" spc="-50">
                <a:solidFill>
                  <a:srgbClr val="4E3629"/>
                </a:solidFill>
                <a:latin typeface="Calibri"/>
                <a:cs typeface="Calibri"/>
              </a:rPr>
              <a:t> </a:t>
            </a:r>
            <a:r>
              <a:rPr dirty="0" sz="2800">
                <a:solidFill>
                  <a:srgbClr val="4E3629"/>
                </a:solidFill>
                <a:latin typeface="Calibri"/>
                <a:cs typeface="Calibri"/>
              </a:rPr>
              <a:t>una</a:t>
            </a:r>
            <a:r>
              <a:rPr dirty="0" sz="2800" spc="-60">
                <a:solidFill>
                  <a:srgbClr val="4E3629"/>
                </a:solidFill>
                <a:latin typeface="Calibri"/>
                <a:cs typeface="Calibri"/>
              </a:rPr>
              <a:t> </a:t>
            </a:r>
            <a:r>
              <a:rPr dirty="0" sz="2800" spc="-10">
                <a:solidFill>
                  <a:srgbClr val="4E3629"/>
                </a:solidFill>
                <a:latin typeface="Calibri"/>
                <a:cs typeface="Calibri"/>
              </a:rPr>
              <a:t>restricción</a:t>
            </a:r>
            <a:r>
              <a:rPr dirty="0" sz="2800" spc="-40">
                <a:solidFill>
                  <a:srgbClr val="4E3629"/>
                </a:solidFill>
                <a:latin typeface="Calibri"/>
                <a:cs typeface="Calibri"/>
              </a:rPr>
              <a:t> </a:t>
            </a:r>
            <a:r>
              <a:rPr dirty="0" sz="2800">
                <a:solidFill>
                  <a:srgbClr val="4E3629"/>
                </a:solidFill>
                <a:latin typeface="Calibri"/>
                <a:cs typeface="Calibri"/>
              </a:rPr>
              <a:t>CHECK</a:t>
            </a:r>
            <a:r>
              <a:rPr dirty="0" sz="2800" spc="-70">
                <a:solidFill>
                  <a:srgbClr val="4E3629"/>
                </a:solidFill>
                <a:latin typeface="Calibri"/>
                <a:cs typeface="Calibri"/>
              </a:rPr>
              <a:t> </a:t>
            </a:r>
            <a:r>
              <a:rPr dirty="0" sz="2800">
                <a:solidFill>
                  <a:srgbClr val="4E3629"/>
                </a:solidFill>
                <a:latin typeface="Calibri"/>
                <a:cs typeface="Calibri"/>
              </a:rPr>
              <a:t>es</a:t>
            </a:r>
            <a:r>
              <a:rPr dirty="0" sz="2800" spc="-65">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spc="-10">
                <a:solidFill>
                  <a:srgbClr val="4E3629"/>
                </a:solidFill>
                <a:latin typeface="Calibri"/>
                <a:cs typeface="Calibri"/>
              </a:rPr>
              <a:t>siguiente:</a:t>
            </a:r>
            <a:endParaRPr sz="2800">
              <a:latin typeface="Calibri"/>
              <a:cs typeface="Calibri"/>
            </a:endParaRPr>
          </a:p>
          <a:p>
            <a:pPr marL="355600">
              <a:lnSpc>
                <a:spcPct val="100000"/>
              </a:lnSpc>
              <a:spcBef>
                <a:spcPts val="80"/>
              </a:spcBef>
            </a:pPr>
            <a:r>
              <a:rPr dirty="0" sz="2400">
                <a:solidFill>
                  <a:srgbClr val="D1350F"/>
                </a:solidFill>
                <a:latin typeface="Calibri"/>
                <a:cs typeface="Calibri"/>
              </a:rPr>
              <a:t>−</a:t>
            </a:r>
            <a:r>
              <a:rPr dirty="0" sz="2400">
                <a:solidFill>
                  <a:srgbClr val="4E3629"/>
                </a:solidFill>
                <a:latin typeface="Calibri"/>
                <a:cs typeface="Calibri"/>
              </a:rPr>
              <a:t>Sintaxis</a:t>
            </a:r>
            <a:r>
              <a:rPr dirty="0" sz="2400" spc="-45">
                <a:solidFill>
                  <a:srgbClr val="4E3629"/>
                </a:solidFill>
                <a:latin typeface="Calibri"/>
                <a:cs typeface="Calibri"/>
              </a:rPr>
              <a:t> </a:t>
            </a:r>
            <a:r>
              <a:rPr dirty="0" sz="2400">
                <a:solidFill>
                  <a:srgbClr val="4E3629"/>
                </a:solidFill>
                <a:latin typeface="Calibri"/>
                <a:cs typeface="Calibri"/>
              </a:rPr>
              <a:t>de</a:t>
            </a:r>
            <a:r>
              <a:rPr dirty="0" sz="2400" spc="-15">
                <a:solidFill>
                  <a:srgbClr val="4E3629"/>
                </a:solidFill>
                <a:latin typeface="Calibri"/>
                <a:cs typeface="Calibri"/>
              </a:rPr>
              <a:t> </a:t>
            </a:r>
            <a:r>
              <a:rPr dirty="0" sz="2400">
                <a:solidFill>
                  <a:srgbClr val="4E3629"/>
                </a:solidFill>
                <a:latin typeface="Calibri"/>
                <a:cs typeface="Calibri"/>
              </a:rPr>
              <a:t>nivel de</a:t>
            </a:r>
            <a:r>
              <a:rPr dirty="0" sz="2400" spc="-15">
                <a:solidFill>
                  <a:srgbClr val="4E3629"/>
                </a:solidFill>
                <a:latin typeface="Calibri"/>
                <a:cs typeface="Calibri"/>
              </a:rPr>
              <a:t> </a:t>
            </a:r>
            <a:r>
              <a:rPr dirty="0" sz="2400" spc="-10">
                <a:solidFill>
                  <a:srgbClr val="4E3629"/>
                </a:solidFill>
                <a:latin typeface="Calibri"/>
                <a:cs typeface="Calibri"/>
              </a:rPr>
              <a:t>columna:</a:t>
            </a:r>
            <a:endParaRPr sz="2400">
              <a:latin typeface="Calibri"/>
              <a:cs typeface="Calibri"/>
            </a:endParaRPr>
          </a:p>
        </p:txBody>
      </p:sp>
      <p:sp>
        <p:nvSpPr>
          <p:cNvPr id="4" name="object 4" descr=""/>
          <p:cNvSpPr txBox="1"/>
          <p:nvPr/>
        </p:nvSpPr>
        <p:spPr>
          <a:xfrm>
            <a:off x="826452" y="4359785"/>
            <a:ext cx="3320415" cy="391160"/>
          </a:xfrm>
          <a:prstGeom prst="rect">
            <a:avLst/>
          </a:prstGeom>
        </p:spPr>
        <p:txBody>
          <a:bodyPr wrap="square" lIns="0" tIns="12700" rIns="0" bIns="0" rtlCol="0" vert="horz">
            <a:spAutoFit/>
          </a:bodyPr>
          <a:lstStyle/>
          <a:p>
            <a:pPr marL="12700">
              <a:lnSpc>
                <a:spcPct val="100000"/>
              </a:lnSpc>
              <a:spcBef>
                <a:spcPts val="100"/>
              </a:spcBef>
            </a:pPr>
            <a:r>
              <a:rPr dirty="0" sz="2400">
                <a:solidFill>
                  <a:srgbClr val="D1350F"/>
                </a:solidFill>
                <a:latin typeface="Calibri"/>
                <a:cs typeface="Calibri"/>
              </a:rPr>
              <a:t>−</a:t>
            </a:r>
            <a:r>
              <a:rPr dirty="0" sz="2400">
                <a:solidFill>
                  <a:srgbClr val="4E3629"/>
                </a:solidFill>
                <a:latin typeface="Calibri"/>
                <a:cs typeface="Calibri"/>
              </a:rPr>
              <a:t>Sintaxis</a:t>
            </a:r>
            <a:r>
              <a:rPr dirty="0" sz="2400" spc="-45">
                <a:solidFill>
                  <a:srgbClr val="4E3629"/>
                </a:solidFill>
                <a:latin typeface="Calibri"/>
                <a:cs typeface="Calibri"/>
              </a:rPr>
              <a:t> </a:t>
            </a:r>
            <a:r>
              <a:rPr dirty="0" sz="2400">
                <a:solidFill>
                  <a:srgbClr val="4E3629"/>
                </a:solidFill>
                <a:latin typeface="Calibri"/>
                <a:cs typeface="Calibri"/>
              </a:rPr>
              <a:t>de</a:t>
            </a:r>
            <a:r>
              <a:rPr dirty="0" sz="2400" spc="-15">
                <a:solidFill>
                  <a:srgbClr val="4E3629"/>
                </a:solidFill>
                <a:latin typeface="Calibri"/>
                <a:cs typeface="Calibri"/>
              </a:rPr>
              <a:t> </a:t>
            </a:r>
            <a:r>
              <a:rPr dirty="0" sz="2400">
                <a:solidFill>
                  <a:srgbClr val="4E3629"/>
                </a:solidFill>
                <a:latin typeface="Calibri"/>
                <a:cs typeface="Calibri"/>
              </a:rPr>
              <a:t>nivel de</a:t>
            </a:r>
            <a:r>
              <a:rPr dirty="0" sz="2400" spc="-15">
                <a:solidFill>
                  <a:srgbClr val="4E3629"/>
                </a:solidFill>
                <a:latin typeface="Calibri"/>
                <a:cs typeface="Calibri"/>
              </a:rPr>
              <a:t> </a:t>
            </a:r>
            <a:r>
              <a:rPr dirty="0" sz="2400" spc="-10">
                <a:solidFill>
                  <a:srgbClr val="4E3629"/>
                </a:solidFill>
                <a:latin typeface="Calibri"/>
                <a:cs typeface="Calibri"/>
              </a:rPr>
              <a:t>tabla:</a:t>
            </a:r>
            <a:endParaRPr sz="2400">
              <a:latin typeface="Calibri"/>
              <a:cs typeface="Calibri"/>
            </a:endParaRPr>
          </a:p>
        </p:txBody>
      </p:sp>
      <p:sp>
        <p:nvSpPr>
          <p:cNvPr id="5" name="object 5" descr=""/>
          <p:cNvSpPr txBox="1"/>
          <p:nvPr/>
        </p:nvSpPr>
        <p:spPr>
          <a:xfrm>
            <a:off x="417576" y="3525011"/>
            <a:ext cx="8345805" cy="546100"/>
          </a:xfrm>
          <a:prstGeom prst="rect">
            <a:avLst/>
          </a:prstGeom>
          <a:solidFill>
            <a:srgbClr val="9DBEC4">
              <a:alpha val="50199"/>
            </a:srgbClr>
          </a:solidFill>
        </p:spPr>
        <p:txBody>
          <a:bodyPr wrap="square" lIns="0" tIns="0" rIns="0" bIns="0" rtlCol="0" vert="horz">
            <a:spAutoFit/>
          </a:bodyPr>
          <a:lstStyle/>
          <a:p>
            <a:pPr>
              <a:lnSpc>
                <a:spcPts val="1935"/>
              </a:lnSpc>
            </a:pPr>
            <a:r>
              <a:rPr dirty="0" sz="1800" b="1">
                <a:solidFill>
                  <a:srgbClr val="4E3629"/>
                </a:solidFill>
                <a:latin typeface="Courier New"/>
                <a:cs typeface="Courier New"/>
              </a:rPr>
              <a:t>salary</a:t>
            </a:r>
            <a:r>
              <a:rPr dirty="0" sz="1800" spc="-120" b="1">
                <a:solidFill>
                  <a:srgbClr val="4E3629"/>
                </a:solidFill>
                <a:latin typeface="Courier New"/>
                <a:cs typeface="Courier New"/>
              </a:rPr>
              <a:t> </a:t>
            </a:r>
            <a:r>
              <a:rPr dirty="0" sz="1800" b="1">
                <a:solidFill>
                  <a:srgbClr val="4E3629"/>
                </a:solidFill>
                <a:latin typeface="Courier New"/>
                <a:cs typeface="Courier New"/>
              </a:rPr>
              <a:t>NUMBER(8,2)</a:t>
            </a:r>
            <a:r>
              <a:rPr dirty="0" sz="1800" spc="-120" b="1">
                <a:solidFill>
                  <a:srgbClr val="4E3629"/>
                </a:solidFill>
                <a:latin typeface="Courier New"/>
                <a:cs typeface="Courier New"/>
              </a:rPr>
              <a:t> </a:t>
            </a:r>
            <a:r>
              <a:rPr dirty="0" sz="1800" b="1">
                <a:solidFill>
                  <a:srgbClr val="4E3629"/>
                </a:solidFill>
                <a:latin typeface="Courier New"/>
                <a:cs typeface="Courier New"/>
              </a:rPr>
              <a:t>CONSTRAINT</a:t>
            </a:r>
            <a:r>
              <a:rPr dirty="0" sz="1800" spc="-120" b="1">
                <a:solidFill>
                  <a:srgbClr val="4E3629"/>
                </a:solidFill>
                <a:latin typeface="Courier New"/>
                <a:cs typeface="Courier New"/>
              </a:rPr>
              <a:t> </a:t>
            </a:r>
            <a:r>
              <a:rPr dirty="0" sz="1800" b="1">
                <a:solidFill>
                  <a:srgbClr val="4E3629"/>
                </a:solidFill>
                <a:latin typeface="Courier New"/>
                <a:cs typeface="Courier New"/>
              </a:rPr>
              <a:t>employees_min_sal_ck</a:t>
            </a:r>
            <a:r>
              <a:rPr dirty="0" sz="1800" spc="-100" b="1">
                <a:solidFill>
                  <a:srgbClr val="4E3629"/>
                </a:solidFill>
                <a:latin typeface="Courier New"/>
                <a:cs typeface="Courier New"/>
              </a:rPr>
              <a:t> </a:t>
            </a:r>
            <a:r>
              <a:rPr dirty="0" sz="1800" spc="-10" b="1">
                <a:solidFill>
                  <a:srgbClr val="4E3629"/>
                </a:solidFill>
                <a:latin typeface="Courier New"/>
                <a:cs typeface="Courier New"/>
              </a:rPr>
              <a:t>CHECK</a:t>
            </a:r>
            <a:endParaRPr sz="1800">
              <a:latin typeface="Courier New"/>
              <a:cs typeface="Courier New"/>
            </a:endParaRPr>
          </a:p>
          <a:p>
            <a:pPr marL="4571365">
              <a:lnSpc>
                <a:spcPct val="100000"/>
              </a:lnSpc>
            </a:pPr>
            <a:r>
              <a:rPr dirty="0" sz="1800" b="1">
                <a:solidFill>
                  <a:srgbClr val="4E3629"/>
                </a:solidFill>
                <a:latin typeface="Courier New"/>
                <a:cs typeface="Courier New"/>
              </a:rPr>
              <a:t>(salary</a:t>
            </a:r>
            <a:r>
              <a:rPr dirty="0" sz="1800" spc="-40" b="1">
                <a:solidFill>
                  <a:srgbClr val="4E3629"/>
                </a:solidFill>
                <a:latin typeface="Courier New"/>
                <a:cs typeface="Courier New"/>
              </a:rPr>
              <a:t> </a:t>
            </a:r>
            <a:r>
              <a:rPr dirty="0" sz="1800" b="1">
                <a:solidFill>
                  <a:srgbClr val="4E3629"/>
                </a:solidFill>
                <a:latin typeface="Courier New"/>
                <a:cs typeface="Courier New"/>
              </a:rPr>
              <a:t>&gt;</a:t>
            </a:r>
            <a:r>
              <a:rPr dirty="0" sz="1800" spc="-40" b="1">
                <a:solidFill>
                  <a:srgbClr val="4E3629"/>
                </a:solidFill>
                <a:latin typeface="Courier New"/>
                <a:cs typeface="Courier New"/>
              </a:rPr>
              <a:t> </a:t>
            </a:r>
            <a:r>
              <a:rPr dirty="0" sz="1800" spc="-25" b="1">
                <a:solidFill>
                  <a:srgbClr val="4E3629"/>
                </a:solidFill>
                <a:latin typeface="Courier New"/>
                <a:cs typeface="Courier New"/>
              </a:rPr>
              <a:t>0)</a:t>
            </a:r>
            <a:endParaRPr sz="1800">
              <a:latin typeface="Courier New"/>
              <a:cs typeface="Courier New"/>
            </a:endParaRPr>
          </a:p>
        </p:txBody>
      </p:sp>
      <p:sp>
        <p:nvSpPr>
          <p:cNvPr id="6" name="object 6" descr=""/>
          <p:cNvSpPr txBox="1"/>
          <p:nvPr/>
        </p:nvSpPr>
        <p:spPr>
          <a:xfrm>
            <a:off x="417576" y="4864608"/>
            <a:ext cx="8345805" cy="546100"/>
          </a:xfrm>
          <a:prstGeom prst="rect">
            <a:avLst/>
          </a:prstGeom>
          <a:solidFill>
            <a:srgbClr val="9DBEC4">
              <a:alpha val="50199"/>
            </a:srgbClr>
          </a:solidFill>
        </p:spPr>
        <p:txBody>
          <a:bodyPr wrap="square" lIns="0" tIns="107950" rIns="0" bIns="0" rtlCol="0" vert="horz">
            <a:spAutoFit/>
          </a:bodyPr>
          <a:lstStyle/>
          <a:p>
            <a:pPr>
              <a:lnSpc>
                <a:spcPct val="100000"/>
              </a:lnSpc>
              <a:spcBef>
                <a:spcPts val="850"/>
              </a:spcBef>
            </a:pPr>
            <a:r>
              <a:rPr dirty="0" sz="1800" b="1">
                <a:solidFill>
                  <a:srgbClr val="4E3629"/>
                </a:solidFill>
                <a:latin typeface="Courier New"/>
                <a:cs typeface="Courier New"/>
              </a:rPr>
              <a:t>CONSTRAINT</a:t>
            </a:r>
            <a:r>
              <a:rPr dirty="0" sz="1800" spc="-95" b="1">
                <a:solidFill>
                  <a:srgbClr val="4E3629"/>
                </a:solidFill>
                <a:latin typeface="Courier New"/>
                <a:cs typeface="Courier New"/>
              </a:rPr>
              <a:t> </a:t>
            </a:r>
            <a:r>
              <a:rPr dirty="0" sz="1800" b="1">
                <a:solidFill>
                  <a:srgbClr val="4E3629"/>
                </a:solidFill>
                <a:latin typeface="Courier New"/>
                <a:cs typeface="Courier New"/>
              </a:rPr>
              <a:t>employees_min_sal_ck</a:t>
            </a:r>
            <a:r>
              <a:rPr dirty="0" sz="1800" spc="-85" b="1">
                <a:solidFill>
                  <a:srgbClr val="4E3629"/>
                </a:solidFill>
                <a:latin typeface="Courier New"/>
                <a:cs typeface="Courier New"/>
              </a:rPr>
              <a:t> </a:t>
            </a:r>
            <a:r>
              <a:rPr dirty="0" sz="1800" b="1">
                <a:solidFill>
                  <a:srgbClr val="4E3629"/>
                </a:solidFill>
                <a:latin typeface="Courier New"/>
                <a:cs typeface="Courier New"/>
              </a:rPr>
              <a:t>CHECK</a:t>
            </a:r>
            <a:r>
              <a:rPr dirty="0" sz="1800" spc="-85" b="1">
                <a:solidFill>
                  <a:srgbClr val="4E3629"/>
                </a:solidFill>
                <a:latin typeface="Courier New"/>
                <a:cs typeface="Courier New"/>
              </a:rPr>
              <a:t> </a:t>
            </a:r>
            <a:r>
              <a:rPr dirty="0" sz="1800" b="1">
                <a:solidFill>
                  <a:srgbClr val="4E3629"/>
                </a:solidFill>
                <a:latin typeface="Courier New"/>
                <a:cs typeface="Courier New"/>
              </a:rPr>
              <a:t>(salary</a:t>
            </a:r>
            <a:r>
              <a:rPr dirty="0" sz="1800" spc="-75" b="1">
                <a:solidFill>
                  <a:srgbClr val="4E3629"/>
                </a:solidFill>
                <a:latin typeface="Courier New"/>
                <a:cs typeface="Courier New"/>
              </a:rPr>
              <a:t> </a:t>
            </a:r>
            <a:r>
              <a:rPr dirty="0" sz="1800" b="1">
                <a:solidFill>
                  <a:srgbClr val="4E3629"/>
                </a:solidFill>
                <a:latin typeface="Courier New"/>
                <a:cs typeface="Courier New"/>
              </a:rPr>
              <a:t>&gt;</a:t>
            </a:r>
            <a:r>
              <a:rPr dirty="0" sz="1800" spc="-85" b="1">
                <a:solidFill>
                  <a:srgbClr val="4E3629"/>
                </a:solidFill>
                <a:latin typeface="Courier New"/>
                <a:cs typeface="Courier New"/>
              </a:rPr>
              <a:t> </a:t>
            </a:r>
            <a:r>
              <a:rPr dirty="0" sz="1800" spc="-35" b="1">
                <a:solidFill>
                  <a:srgbClr val="4E3629"/>
                </a:solidFill>
                <a:latin typeface="Courier New"/>
                <a:cs typeface="Courier New"/>
              </a:rPr>
              <a:t>0)</a:t>
            </a:r>
            <a:endParaRPr sz="1800">
              <a:latin typeface="Courier New"/>
              <a:cs typeface="Courier New"/>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Oracle Academy</dc:creator>
  <dc:title>PowerPoint Presentation</dc:title>
  <dcterms:created xsi:type="dcterms:W3CDTF">2025-06-01T17:56:23Z</dcterms:created>
  <dcterms:modified xsi:type="dcterms:W3CDTF">2025-06-01T17:56:23Z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2025-02-24T00:00:00Z</vt:filetime>
  </property>
  <property fmtid="{D5CDD505-2E9C-101B-9397-08002B2CF9AE}" pid="3" name="Creator">
    <vt:lpwstr>Acrobat PDFMaker 20 for PowerPoint</vt:lpwstr>
  </property>
  <property fmtid="{D5CDD505-2E9C-101B-9397-08002B2CF9AE}" pid="4" name="LastSaved">
    <vt:filetime>2025-06-01T00:00:00Z</vt:filetime>
  </property>
  <property fmtid="{D5CDD505-2E9C-101B-9397-08002B2CF9AE}" pid="5" name="Producer">
    <vt:lpwstr>macOS Version 15.2 (Build 24C101) Quartz PDFContext</vt:lpwstr>
  </property>
</Properties>
</file>