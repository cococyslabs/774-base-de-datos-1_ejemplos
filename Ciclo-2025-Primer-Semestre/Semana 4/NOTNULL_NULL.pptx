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jpg" ContentType="image/jpg"/>
  <Default Extension="png" ContentType="image/pn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9144000" cy="6858000"/>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s>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19:08:23</a:t>
            </a:r>
          </a:p>
          <a:p>
            <a:r>
              <a:t>--------------------------------------------</a:t>
            </a:r>
          </a:p>
          <a:p>
            <a:r>
              <a:t>Los cinco tipos de RESTRICCIONES son:</a:t>
            </a:r>
          </a:p>
          <a:p>
            <a:r>
              <a:t> Restricciones NOT NULL</a:t>
            </a:r>
          </a:p>
          <a:p>
            <a:r>
              <a:t> Restricciones UNIQUE</a:t>
            </a:r>
          </a:p>
          <a:p>
            <a:r>
              <a:t> Restricciones PRIMARY KEY</a:t>
            </a:r>
          </a:p>
          <a:p>
            <a:r>
              <a:t> Restricciones FOREIGN KEY</a:t>
            </a:r>
          </a:p>
          <a:p>
            <a:r>
              <a:t> Restricciones CHECK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19:08:24</a:t>
            </a:r>
          </a:p>
          <a:p>
            <a:r>
              <a:t>--------------------------------------------</a:t>
            </a:r>
          </a:p>
          <a:p>
            <a:r>
              <a:t>La creación de restricciones de clave primaria se tratará con más detalle en la siguiente lección.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19:08:25</a:t>
            </a:r>
          </a:p>
          <a:p>
            <a:r>
              <a:t>--------------------------------------------</a:t>
            </a:r>
          </a:p>
          <a:p>
            <a:r>
              <a:t>La creación de restricciones de clave primaria se tratará con más detalle en la siguiente lección.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19:08:27</a:t>
            </a:r>
          </a:p>
          <a:p>
            <a:r>
              <a:t>--------------------------------------------</a:t>
            </a:r>
          </a:p>
          <a:p>
            <a:r>
              <a:t>Una restricción que hace referencia a dos columnas no se pueden definir como parte de una definición de columna. ¿Junto a cuál de las dos definiciones de columna la podríamos? No puede ser ambas. El usuario debe asignar el nombre a una restricción de nivel de tabla, ya que las restricciones de nivel tabla deben incluir la palabra clave CONSTRAINT.</a:t>
            </a:r>
          </a:p>
          <a:p>
            <a:r>
              <a:t>Las restricciones NOT NULL no se pueden definir en el nivel de tabla porque el estándar SQL ANSI/ISO lo prohíbe.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19:08:27</a:t>
            </a:r>
          </a:p>
          <a:p>
            <a:r>
              <a:t>--------------------------------------------</a:t>
            </a:r>
          </a:p>
          <a:p>
            <a:r>
              <a:t>Las respuestas están en la siguiente diapositiva.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19:08:29</a:t>
            </a:r>
          </a:p>
          <a:p>
            <a:r>
              <a:t>--------------------------------------------</a:t>
            </a:r>
          </a:p>
          <a:p>
            <a:r>
              <a:t>La ventaja de las restricciones de nomenclatura con una convención se muestra aquí. El nombre de la restricción violada se muestra como un mensaje de error, que le indica al usuario cuál es el problema.        Si no se ha asignado un nombre a la restricción, se mostrará el nombre generado por el sistema,  con lo que es mucho más difícil para el usuario resolver el problema.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p:txBody>
          <a:bodyPr lIns="0" tIns="0" rIns="0" bIns="0"/>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idx="2" sz="half"/>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Holder 6"/>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7" name="Holder 7"/>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4" name="Holder 4"/>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5" name="Holder 5"/>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Holder 3"/>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4" name="Holder 4"/>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pic>
        <p:nvPicPr>
          <p:cNvPr id="17" name="bg object 17"/>
          <p:cNvPicPr/>
          <p:nvPr/>
        </p:nvPicPr>
        <p:blipFill>
          <a:blip r:embed="rId7" cstate="print"/>
          <a:stretch>
            <a:fillRect/>
          </a:stretch>
        </p:blipFill>
        <p:spPr>
          <a:xfrm>
            <a:off x="0" y="0"/>
            <a:ext cx="9144000" cy="254507"/>
          </a:xfrm>
          <a:prstGeom prst="rect">
            <a:avLst/>
          </a:prstGeom>
        </p:spPr>
      </p:pic>
      <p:pic>
        <p:nvPicPr>
          <p:cNvPr id="18" name="bg object 18"/>
          <p:cNvPicPr/>
          <p:nvPr/>
        </p:nvPicPr>
        <p:blipFill>
          <a:blip r:embed="rId8" cstate="print"/>
          <a:stretch>
            <a:fillRect/>
          </a:stretch>
        </p:blipFill>
        <p:spPr>
          <a:xfrm>
            <a:off x="405384" y="6178295"/>
            <a:ext cx="1258824" cy="420624"/>
          </a:xfrm>
          <a:prstGeom prst="rect">
            <a:avLst/>
          </a:prstGeom>
        </p:spPr>
      </p:pic>
      <p:sp>
        <p:nvSpPr>
          <p:cNvPr id="2" name="Holder 2"/>
          <p:cNvSpPr>
            <a:spLocks noGrp="1"/>
          </p:cNvSpPr>
          <p:nvPr>
            <p:ph type="title"/>
          </p:nvPr>
        </p:nvSpPr>
        <p:spPr>
          <a:xfrm>
            <a:off x="392112" y="748031"/>
            <a:ext cx="6268720" cy="528319"/>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a:xfrm>
            <a:off x="483552" y="1355371"/>
            <a:ext cx="8169909" cy="3991610"/>
          </a:xfrm>
          <a:prstGeom prst="rect">
            <a:avLst/>
          </a:prstGeom>
        </p:spPr>
        <p:txBody>
          <a:bodyPr wrap="square" lIns="0" tIns="0" rIns="0" bIns="0">
            <a:spAutoFit/>
          </a:bodyPr>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a:xfrm>
            <a:off x="5172119" y="6589648"/>
            <a:ext cx="3222625" cy="13398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a:xfrm>
            <a:off x="2874191" y="6449092"/>
            <a:ext cx="1543050" cy="367029"/>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6" name="Holder 6"/>
          <p:cNvSpPr>
            <a:spLocks noGrp="1"/>
          </p:cNvSpPr>
          <p:nvPr>
            <p:ph type="sldNum" idx="7" sz="quarter"/>
          </p:nvPr>
        </p:nvSpPr>
        <p:spPr>
          <a:xfrm>
            <a:off x="8725090" y="6567768"/>
            <a:ext cx="217170" cy="152400"/>
          </a:xfrm>
          <a:prstGeom prst="rect">
            <a:avLst/>
          </a:prstGeom>
        </p:spPr>
        <p:txBody>
          <a:bodyPr wrap="square" lIns="0" tIns="0" rIns="0" bIns="0">
            <a:spAutoFit/>
          </a:bodyPr>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1.xml"/><Relationship Id="rId6"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slide" Target="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slide" Target="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xml"/><Relationship Id="rId5" Type="http://schemas.openxmlformats.org/officeDocument/2006/relationships/slide" Target="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slide" Target="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slide" Target="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2.xml"/><Relationship Id="rId5"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slide" Target="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slide" Target="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slide" Target="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6.xml"/><Relationship Id="rId5" Type="http://schemas.openxmlformats.org/officeDocument/2006/relationships/slide" Target="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slide" Target="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slide" Target="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hpeters@yahoo.com" TargetMode="External"/><Relationship Id="rId3" Type="http://schemas.openxmlformats.org/officeDocument/2006/relationships/hyperlink" Target="mailto:serena.jones@jones.com" TargetMode="External"/><Relationship Id="rId4" Type="http://schemas.openxmlformats.org/officeDocument/2006/relationships/hyperlink" Target="mailto:lbv@lbv.net" TargetMode="External"/><Relationship Id="rId5" Type="http://schemas.openxmlformats.org/officeDocument/2006/relationships/hyperlink" Target="mailto:%27lbv@lbv.net" TargetMode="External"/><Relationship Id="rId6" Type="http://schemas.openxmlformats.org/officeDocument/2006/relationships/notesSlide" Target="../notesSlides/notesSlide19.xml"/><Relationship Id="rId7" Type="http://schemas.openxmlformats.org/officeDocument/2006/relationships/slide" Target="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0.xml"/><Relationship Id="rId5" Type="http://schemas.openxmlformats.org/officeDocument/2006/relationships/slide" Target="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hpeters@yahoo.com" TargetMode="External"/><Relationship Id="rId3" Type="http://schemas.openxmlformats.org/officeDocument/2006/relationships/hyperlink" Target="mailto:serena.jones@jones.com" TargetMode="External"/><Relationship Id="rId4" Type="http://schemas.openxmlformats.org/officeDocument/2006/relationships/hyperlink" Target="mailto:lbv@lbv.net" TargetMode="External"/><Relationship Id="rId5" Type="http://schemas.openxmlformats.org/officeDocument/2006/relationships/notesSlide" Target="../notesSlides/notesSlide21.xml"/><Relationship Id="rId6" Type="http://schemas.openxmlformats.org/officeDocument/2006/relationships/slide" Target="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hpeters@yahoo.com" TargetMode="External"/><Relationship Id="rId3" Type="http://schemas.openxmlformats.org/officeDocument/2006/relationships/hyperlink" Target="mailto:serena.jones@jones.com" TargetMode="External"/><Relationship Id="rId4" Type="http://schemas.openxmlformats.org/officeDocument/2006/relationships/hyperlink" Target="mailto:lbv@lbv.net" TargetMode="External"/><Relationship Id="rId5" Type="http://schemas.openxmlformats.org/officeDocument/2006/relationships/notesSlide" Target="../notesSlides/notesSlide22.xml"/><Relationship Id="rId6" Type="http://schemas.openxmlformats.org/officeDocument/2006/relationships/slide" Target="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slide" Target="slide2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0" y="0"/>
            <a:ext cx="9144000" cy="6858000"/>
            <a:chOff x="0" y="0"/>
            <a:chExt cx="9144000" cy="6858000"/>
          </a:xfrm>
        </p:grpSpPr>
        <p:pic>
          <p:nvPicPr>
            <p:cNvPr id="3" name="object 3" descr=""/>
            <p:cNvPicPr/>
            <p:nvPr/>
          </p:nvPicPr>
          <p:blipFill>
            <a:blip r:embed="rId2" cstate="print"/>
            <a:stretch>
              <a:fillRect/>
            </a:stretch>
          </p:blipFill>
          <p:spPr>
            <a:xfrm>
              <a:off x="0" y="0"/>
              <a:ext cx="9144000" cy="6858000"/>
            </a:xfrm>
            <a:prstGeom prst="rect">
              <a:avLst/>
            </a:prstGeom>
          </p:spPr>
        </p:pic>
        <p:sp>
          <p:nvSpPr>
            <p:cNvPr id="4" name="object 4" descr=""/>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descr=""/>
            <p:cNvPicPr/>
            <p:nvPr/>
          </p:nvPicPr>
          <p:blipFill>
            <a:blip r:embed="rId3" cstate="print"/>
            <a:stretch>
              <a:fillRect/>
            </a:stretch>
          </p:blipFill>
          <p:spPr>
            <a:xfrm>
              <a:off x="970787" y="5570219"/>
              <a:ext cx="1258824" cy="420623"/>
            </a:xfrm>
            <a:prstGeom prst="rect">
              <a:avLst/>
            </a:prstGeom>
          </p:spPr>
        </p:pic>
      </p:grpSp>
      <p:sp>
        <p:nvSpPr>
          <p:cNvPr id="6" name="object 6" descr=""/>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p:cNvSpPr txBox="1">
            <a:spLocks noGrp="1"/>
          </p:cNvSpPr>
          <p:nvPr>
            <p:ph type="title"/>
          </p:nvPr>
        </p:nvSpPr>
        <p:spPr>
          <a:xfrm>
            <a:off x="958315" y="862895"/>
            <a:ext cx="7047865" cy="1342390"/>
          </a:xfrm>
          <a:prstGeom prst="rect"/>
        </p:spPr>
        <p:txBody>
          <a:bodyPr wrap="square" lIns="0" tIns="153670" rIns="0" bIns="0" rtlCol="0" vert="horz">
            <a:spAutoFit/>
          </a:bodyPr>
          <a:lstStyle/>
          <a:p>
            <a:pPr marL="12700" marR="5080">
              <a:lnSpc>
                <a:spcPts val="4610"/>
              </a:lnSpc>
              <a:spcBef>
                <a:spcPts val="1210"/>
              </a:spcBef>
            </a:pPr>
            <a:r>
              <a:rPr dirty="0" sz="4800"/>
              <a:t>Database</a:t>
            </a:r>
            <a:r>
              <a:rPr dirty="0" sz="4800" spc="-190"/>
              <a:t> </a:t>
            </a:r>
            <a:r>
              <a:rPr dirty="0" sz="4800" spc="-20"/>
              <a:t>Programming</a:t>
            </a:r>
            <a:r>
              <a:rPr dirty="0" sz="4800" spc="-185"/>
              <a:t> </a:t>
            </a:r>
            <a:r>
              <a:rPr dirty="0" sz="4800" spc="-20"/>
              <a:t>with </a:t>
            </a:r>
            <a:r>
              <a:rPr dirty="0" sz="4800" spc="-25"/>
              <a:t>SQL</a:t>
            </a:r>
            <a:endParaRPr sz="4800"/>
          </a:p>
        </p:txBody>
      </p:sp>
      <p:sp>
        <p:nvSpPr>
          <p:cNvPr id="8" name="object 8" descr=""/>
          <p:cNvSpPr txBox="1"/>
          <p:nvPr/>
        </p:nvSpPr>
        <p:spPr>
          <a:xfrm>
            <a:off x="962879" y="2400950"/>
            <a:ext cx="4348480" cy="121729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14-</a:t>
            </a:r>
            <a:r>
              <a:rPr dirty="0" sz="2400" spc="-50" b="1">
                <a:solidFill>
                  <a:srgbClr val="4E3629"/>
                </a:solidFill>
                <a:latin typeface="Calibri"/>
                <a:cs typeface="Calibri"/>
              </a:rPr>
              <a:t>1</a:t>
            </a:r>
            <a:endParaRPr sz="2400">
              <a:latin typeface="Calibri"/>
              <a:cs typeface="Calibri"/>
            </a:endParaRPr>
          </a:p>
          <a:p>
            <a:pPr marL="12700" marR="5080">
              <a:lnSpc>
                <a:spcPts val="2590"/>
              </a:lnSpc>
              <a:spcBef>
                <a:spcPts val="845"/>
              </a:spcBef>
            </a:pPr>
            <a:r>
              <a:rPr dirty="0" sz="2400" b="1">
                <a:solidFill>
                  <a:srgbClr val="4E3629"/>
                </a:solidFill>
                <a:latin typeface="Calibri"/>
                <a:cs typeface="Calibri"/>
              </a:rPr>
              <a:t>Introducción</a:t>
            </a:r>
            <a:r>
              <a:rPr dirty="0" sz="2400" spc="-60" b="1">
                <a:solidFill>
                  <a:srgbClr val="4E3629"/>
                </a:solidFill>
                <a:latin typeface="Calibri"/>
                <a:cs typeface="Calibri"/>
              </a:rPr>
              <a:t> </a:t>
            </a:r>
            <a:r>
              <a:rPr dirty="0" sz="2400" b="1">
                <a:solidFill>
                  <a:srgbClr val="4E3629"/>
                </a:solidFill>
                <a:latin typeface="Calibri"/>
                <a:cs typeface="Calibri"/>
              </a:rPr>
              <a:t>a</a:t>
            </a:r>
            <a:r>
              <a:rPr dirty="0" sz="2400" spc="-60" b="1">
                <a:solidFill>
                  <a:srgbClr val="4E3629"/>
                </a:solidFill>
                <a:latin typeface="Calibri"/>
                <a:cs typeface="Calibri"/>
              </a:rPr>
              <a:t> </a:t>
            </a:r>
            <a:r>
              <a:rPr dirty="0" sz="2400" b="1">
                <a:solidFill>
                  <a:srgbClr val="4E3629"/>
                </a:solidFill>
                <a:latin typeface="Calibri"/>
                <a:cs typeface="Calibri"/>
              </a:rPr>
              <a:t>las</a:t>
            </a:r>
            <a:r>
              <a:rPr dirty="0" sz="2400" spc="-40" b="1">
                <a:solidFill>
                  <a:srgbClr val="4E3629"/>
                </a:solidFill>
                <a:latin typeface="Calibri"/>
                <a:cs typeface="Calibri"/>
              </a:rPr>
              <a:t> </a:t>
            </a:r>
            <a:r>
              <a:rPr dirty="0" sz="2400" spc="-10" b="1">
                <a:solidFill>
                  <a:srgbClr val="4E3629"/>
                </a:solidFill>
                <a:latin typeface="Calibri"/>
                <a:cs typeface="Calibri"/>
              </a:rPr>
              <a:t>Restricciones; Restricciones</a:t>
            </a:r>
            <a:r>
              <a:rPr dirty="0" sz="2400" spc="-50" b="1">
                <a:solidFill>
                  <a:srgbClr val="4E3629"/>
                </a:solidFill>
                <a:latin typeface="Calibri"/>
                <a:cs typeface="Calibri"/>
              </a:rPr>
              <a:t> </a:t>
            </a:r>
            <a:r>
              <a:rPr dirty="0" sz="2400" b="1">
                <a:solidFill>
                  <a:srgbClr val="4E3629"/>
                </a:solidFill>
                <a:latin typeface="Calibri"/>
                <a:cs typeface="Calibri"/>
              </a:rPr>
              <a:t>NOT</a:t>
            </a:r>
            <a:r>
              <a:rPr dirty="0" sz="2400" spc="-30" b="1">
                <a:solidFill>
                  <a:srgbClr val="4E3629"/>
                </a:solidFill>
                <a:latin typeface="Calibri"/>
                <a:cs typeface="Calibri"/>
              </a:rPr>
              <a:t> </a:t>
            </a:r>
            <a:r>
              <a:rPr dirty="0" sz="2400" b="1">
                <a:solidFill>
                  <a:srgbClr val="4E3629"/>
                </a:solidFill>
                <a:latin typeface="Calibri"/>
                <a:cs typeface="Calibri"/>
              </a:rPr>
              <a:t>NULL</a:t>
            </a:r>
            <a:r>
              <a:rPr dirty="0" sz="2400" spc="-55" b="1">
                <a:solidFill>
                  <a:srgbClr val="4E3629"/>
                </a:solidFill>
                <a:latin typeface="Calibri"/>
                <a:cs typeface="Calibri"/>
              </a:rPr>
              <a:t> </a:t>
            </a:r>
            <a:r>
              <a:rPr dirty="0" sz="2400" b="1">
                <a:solidFill>
                  <a:srgbClr val="4E3629"/>
                </a:solidFill>
                <a:latin typeface="Calibri"/>
                <a:cs typeface="Calibri"/>
              </a:rPr>
              <a:t>y</a:t>
            </a:r>
            <a:r>
              <a:rPr dirty="0" sz="2400" spc="-15" b="1">
                <a:solidFill>
                  <a:srgbClr val="4E3629"/>
                </a:solidFill>
                <a:latin typeface="Calibri"/>
                <a:cs typeface="Calibri"/>
              </a:rPr>
              <a:t> </a:t>
            </a:r>
            <a:r>
              <a:rPr dirty="0" sz="2400" spc="-10" b="1">
                <a:solidFill>
                  <a:srgbClr val="4E3629"/>
                </a:solidFill>
                <a:latin typeface="Calibri"/>
                <a:cs typeface="Calibri"/>
              </a:rPr>
              <a:t>UNIQUE</a:t>
            </a:r>
            <a:endParaRPr sz="2400">
              <a:latin typeface="Calibri"/>
              <a:cs typeface="Calibri"/>
            </a:endParaRPr>
          </a:p>
        </p:txBody>
      </p:sp>
      <p:pic>
        <p:nvPicPr>
          <p:cNvPr id="9" name="object 9" descr=""/>
          <p:cNvPicPr/>
          <p:nvPr/>
        </p:nvPicPr>
        <p:blipFill>
          <a:blip r:embed="rId4" cstate="print"/>
          <a:stretch>
            <a:fillRect/>
          </a:stretch>
        </p:blipFill>
        <p:spPr>
          <a:xfrm>
            <a:off x="3698747" y="3610355"/>
            <a:ext cx="5058156" cy="296570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Restricciones</a:t>
            </a:r>
            <a:r>
              <a:rPr dirty="0" spc="-40"/>
              <a:t> </a:t>
            </a:r>
            <a:r>
              <a:rPr dirty="0"/>
              <a:t>en</a:t>
            </a:r>
            <a:r>
              <a:rPr dirty="0" spc="-60"/>
              <a:t> </a:t>
            </a:r>
            <a:r>
              <a:rPr dirty="0" spc="-10"/>
              <a:t>General</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7</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a:spLocks noGrp="1"/>
          </p:cNvSpPr>
          <p:nvPr>
            <p:ph type="body" idx="1"/>
          </p:nvPr>
        </p:nvSpPr>
        <p:spPr>
          <a:prstGeom prst="rect"/>
        </p:spPr>
        <p:txBody>
          <a:bodyPr wrap="square" lIns="0" tIns="71755" rIns="0" bIns="0" rtlCol="0" vert="horz">
            <a:spAutoFit/>
          </a:bodyPr>
          <a:lstStyle/>
          <a:p>
            <a:pPr marL="183515" indent="-170815">
              <a:lnSpc>
                <a:spcPct val="100000"/>
              </a:lnSpc>
              <a:spcBef>
                <a:spcPts val="565"/>
              </a:spcBef>
              <a:buClr>
                <a:srgbClr val="D1350F"/>
              </a:buClr>
              <a:buFont typeface="Arial MT"/>
              <a:buChar char="•"/>
              <a:tabLst>
                <a:tab pos="183515" algn="l"/>
              </a:tabLst>
            </a:pPr>
            <a:r>
              <a:rPr dirty="0"/>
              <a:t>Por</a:t>
            </a:r>
            <a:r>
              <a:rPr dirty="0" spc="-60"/>
              <a:t> </a:t>
            </a:r>
            <a:r>
              <a:rPr dirty="0"/>
              <a:t>lo</a:t>
            </a:r>
            <a:r>
              <a:rPr dirty="0" spc="-50"/>
              <a:t> </a:t>
            </a:r>
            <a:r>
              <a:rPr dirty="0" spc="-10"/>
              <a:t>tanto,</a:t>
            </a:r>
            <a:r>
              <a:rPr dirty="0" spc="-70"/>
              <a:t> </a:t>
            </a:r>
            <a:r>
              <a:rPr dirty="0"/>
              <a:t>¿qué</a:t>
            </a:r>
            <a:r>
              <a:rPr dirty="0" spc="-40"/>
              <a:t> </a:t>
            </a:r>
            <a:r>
              <a:rPr dirty="0"/>
              <a:t>es</a:t>
            </a:r>
            <a:r>
              <a:rPr dirty="0" spc="-70"/>
              <a:t> </a:t>
            </a:r>
            <a:r>
              <a:rPr dirty="0" spc="-20"/>
              <a:t>exactamente</a:t>
            </a:r>
            <a:r>
              <a:rPr dirty="0" spc="-65"/>
              <a:t> </a:t>
            </a:r>
            <a:r>
              <a:rPr dirty="0"/>
              <a:t>una</a:t>
            </a:r>
            <a:r>
              <a:rPr dirty="0" spc="-50"/>
              <a:t> </a:t>
            </a:r>
            <a:r>
              <a:rPr dirty="0" spc="-10"/>
              <a:t>restricción?</a:t>
            </a:r>
          </a:p>
          <a:p>
            <a:pPr marL="182880" marR="409575" indent="-170815">
              <a:lnSpc>
                <a:spcPts val="3030"/>
              </a:lnSpc>
              <a:spcBef>
                <a:spcPts val="844"/>
              </a:spcBef>
              <a:buClr>
                <a:srgbClr val="D1350F"/>
              </a:buClr>
              <a:buFont typeface="Arial MT"/>
              <a:buChar char="•"/>
              <a:tabLst>
                <a:tab pos="184785" algn="l"/>
              </a:tabLst>
            </a:pPr>
            <a:r>
              <a:rPr dirty="0"/>
              <a:t>Piense</a:t>
            </a:r>
            <a:r>
              <a:rPr dirty="0" spc="-20"/>
              <a:t> </a:t>
            </a:r>
            <a:r>
              <a:rPr dirty="0"/>
              <a:t>en</a:t>
            </a:r>
            <a:r>
              <a:rPr dirty="0" spc="-30"/>
              <a:t> </a:t>
            </a:r>
            <a:r>
              <a:rPr dirty="0" u="heavy">
                <a:uFill>
                  <a:solidFill>
                    <a:srgbClr val="EC2814"/>
                  </a:solidFill>
                </a:uFill>
              </a:rPr>
              <a:t>las</a:t>
            </a:r>
            <a:r>
              <a:rPr dirty="0" u="heavy" spc="-35">
                <a:uFill>
                  <a:solidFill>
                    <a:srgbClr val="EC2814"/>
                  </a:solidFill>
                </a:uFill>
              </a:rPr>
              <a:t> </a:t>
            </a:r>
            <a:r>
              <a:rPr dirty="0" u="heavy" spc="-10">
                <a:uFill>
                  <a:solidFill>
                    <a:srgbClr val="EC2814"/>
                  </a:solidFill>
                </a:uFill>
              </a:rPr>
              <a:t>restricciones </a:t>
            </a:r>
            <a:r>
              <a:rPr dirty="0" u="heavy">
                <a:uFill>
                  <a:solidFill>
                    <a:srgbClr val="EC2814"/>
                  </a:solidFill>
                </a:uFill>
              </a:rPr>
              <a:t>como</a:t>
            </a:r>
            <a:r>
              <a:rPr dirty="0" u="heavy" spc="-35">
                <a:uFill>
                  <a:solidFill>
                    <a:srgbClr val="EC2814"/>
                  </a:solidFill>
                </a:uFill>
              </a:rPr>
              <a:t> </a:t>
            </a:r>
            <a:r>
              <a:rPr dirty="0" u="heavy">
                <a:uFill>
                  <a:solidFill>
                    <a:srgbClr val="EC2814"/>
                  </a:solidFill>
                </a:uFill>
              </a:rPr>
              <a:t>reglas</a:t>
            </a:r>
            <a:r>
              <a:rPr dirty="0" u="heavy" spc="-40">
                <a:uFill>
                  <a:solidFill>
                    <a:srgbClr val="EC2814"/>
                  </a:solidFill>
                </a:uFill>
              </a:rPr>
              <a:t> </a:t>
            </a:r>
            <a:r>
              <a:rPr dirty="0" u="heavy">
                <a:uFill>
                  <a:solidFill>
                    <a:srgbClr val="EC2814"/>
                  </a:solidFill>
                </a:uFill>
              </a:rPr>
              <a:t>de</a:t>
            </a:r>
            <a:r>
              <a:rPr dirty="0" u="heavy" spc="-40">
                <a:uFill>
                  <a:solidFill>
                    <a:srgbClr val="EC2814"/>
                  </a:solidFill>
                </a:uFill>
              </a:rPr>
              <a:t> </a:t>
            </a:r>
            <a:r>
              <a:rPr dirty="0" u="heavy">
                <a:uFill>
                  <a:solidFill>
                    <a:srgbClr val="EC2814"/>
                  </a:solidFill>
                </a:uFill>
              </a:rPr>
              <a:t>la</a:t>
            </a:r>
            <a:r>
              <a:rPr dirty="0" u="heavy" spc="-35">
                <a:uFill>
                  <a:solidFill>
                    <a:srgbClr val="EC2814"/>
                  </a:solidFill>
                </a:uFill>
              </a:rPr>
              <a:t> </a:t>
            </a:r>
            <a:r>
              <a:rPr dirty="0" u="heavy">
                <a:uFill>
                  <a:solidFill>
                    <a:srgbClr val="EC2814"/>
                  </a:solidFill>
                </a:uFill>
              </a:rPr>
              <a:t>base</a:t>
            </a:r>
            <a:r>
              <a:rPr dirty="0" u="heavy" spc="-25">
                <a:uFill>
                  <a:solidFill>
                    <a:srgbClr val="EC2814"/>
                  </a:solidFill>
                </a:uFill>
              </a:rPr>
              <a:t> de</a:t>
            </a:r>
            <a:r>
              <a:rPr dirty="0" spc="-25"/>
              <a:t> </a:t>
            </a:r>
            <a:r>
              <a:rPr dirty="0" spc="-25"/>
              <a:t>	</a:t>
            </a:r>
            <a:r>
              <a:rPr dirty="0" u="heavy" spc="-10">
                <a:uFill>
                  <a:solidFill>
                    <a:srgbClr val="EC2814"/>
                  </a:solidFill>
                </a:uFill>
              </a:rPr>
              <a:t>datos</a:t>
            </a:r>
          </a:p>
          <a:p>
            <a:pPr marL="159385" marR="5080" indent="-147320">
              <a:lnSpc>
                <a:spcPts val="3030"/>
              </a:lnSpc>
              <a:spcBef>
                <a:spcPts val="795"/>
              </a:spcBef>
              <a:buClr>
                <a:srgbClr val="D1350F"/>
              </a:buClr>
              <a:buFont typeface="Arial MT"/>
              <a:buChar char="•"/>
              <a:tabLst>
                <a:tab pos="184785" algn="l"/>
              </a:tabLst>
            </a:pPr>
            <a:r>
              <a:rPr dirty="0" u="heavy" spc="-515">
                <a:uFill>
                  <a:solidFill>
                    <a:srgbClr val="EC2814"/>
                  </a:solidFill>
                </a:uFill>
              </a:rPr>
              <a:t> </a:t>
            </a:r>
            <a:r>
              <a:rPr dirty="0" u="heavy" spc="-30">
                <a:uFill>
                  <a:solidFill>
                    <a:srgbClr val="EC2814"/>
                  </a:solidFill>
                </a:uFill>
              </a:rPr>
              <a:t>Todas</a:t>
            </a:r>
            <a:r>
              <a:rPr dirty="0" u="heavy" spc="-65">
                <a:uFill>
                  <a:solidFill>
                    <a:srgbClr val="EC2814"/>
                  </a:solidFill>
                </a:uFill>
              </a:rPr>
              <a:t> </a:t>
            </a:r>
            <a:r>
              <a:rPr dirty="0" u="heavy">
                <a:uFill>
                  <a:solidFill>
                    <a:srgbClr val="EC2814"/>
                  </a:solidFill>
                </a:uFill>
              </a:rPr>
              <a:t>las</a:t>
            </a:r>
            <a:r>
              <a:rPr dirty="0" u="heavy" spc="-70">
                <a:uFill>
                  <a:solidFill>
                    <a:srgbClr val="EC2814"/>
                  </a:solidFill>
                </a:uFill>
              </a:rPr>
              <a:t> </a:t>
            </a:r>
            <a:r>
              <a:rPr dirty="0" u="heavy">
                <a:uFill>
                  <a:solidFill>
                    <a:srgbClr val="EC2814"/>
                  </a:solidFill>
                </a:uFill>
              </a:rPr>
              <a:t>definiciones</a:t>
            </a:r>
            <a:r>
              <a:rPr dirty="0" u="heavy" spc="-30">
                <a:uFill>
                  <a:solidFill>
                    <a:srgbClr val="EC2814"/>
                  </a:solidFill>
                </a:uFill>
              </a:rPr>
              <a:t> </a:t>
            </a:r>
            <a:r>
              <a:rPr dirty="0" u="heavy">
                <a:uFill>
                  <a:solidFill>
                    <a:srgbClr val="EC2814"/>
                  </a:solidFill>
                </a:uFill>
              </a:rPr>
              <a:t>de</a:t>
            </a:r>
            <a:r>
              <a:rPr dirty="0" u="heavy" spc="-50">
                <a:uFill>
                  <a:solidFill>
                    <a:srgbClr val="EC2814"/>
                  </a:solidFill>
                </a:uFill>
              </a:rPr>
              <a:t> </a:t>
            </a:r>
            <a:r>
              <a:rPr dirty="0" u="heavy" spc="-10">
                <a:uFill>
                  <a:solidFill>
                    <a:srgbClr val="EC2814"/>
                  </a:solidFill>
                </a:uFill>
              </a:rPr>
              <a:t>restricciones</a:t>
            </a:r>
            <a:r>
              <a:rPr dirty="0" u="heavy" spc="-45">
                <a:uFill>
                  <a:solidFill>
                    <a:srgbClr val="EC2814"/>
                  </a:solidFill>
                </a:uFill>
              </a:rPr>
              <a:t> </a:t>
            </a:r>
            <a:r>
              <a:rPr dirty="0" u="heavy">
                <a:uFill>
                  <a:solidFill>
                    <a:srgbClr val="EC2814"/>
                  </a:solidFill>
                </a:uFill>
              </a:rPr>
              <a:t>se</a:t>
            </a:r>
            <a:r>
              <a:rPr dirty="0" u="heavy" spc="-50">
                <a:uFill>
                  <a:solidFill>
                    <a:srgbClr val="EC2814"/>
                  </a:solidFill>
                </a:uFill>
              </a:rPr>
              <a:t> </a:t>
            </a:r>
            <a:r>
              <a:rPr dirty="0" u="heavy">
                <a:uFill>
                  <a:solidFill>
                    <a:srgbClr val="EC2814"/>
                  </a:solidFill>
                </a:uFill>
              </a:rPr>
              <a:t>almacenan</a:t>
            </a:r>
            <a:r>
              <a:rPr dirty="0" u="heavy" spc="-70">
                <a:uFill>
                  <a:solidFill>
                    <a:srgbClr val="EC2814"/>
                  </a:solidFill>
                </a:uFill>
              </a:rPr>
              <a:t> </a:t>
            </a:r>
            <a:r>
              <a:rPr dirty="0" u="heavy" spc="-25">
                <a:uFill>
                  <a:solidFill>
                    <a:srgbClr val="EC2814"/>
                  </a:solidFill>
                </a:uFill>
              </a:rPr>
              <a:t>en</a:t>
            </a:r>
            <a:r>
              <a:rPr dirty="0" spc="-25"/>
              <a:t> </a:t>
            </a:r>
            <a:r>
              <a:rPr dirty="0" spc="-25"/>
              <a:t>	</a:t>
            </a:r>
            <a:r>
              <a:rPr dirty="0" u="heavy">
                <a:uFill>
                  <a:solidFill>
                    <a:srgbClr val="EC2814"/>
                  </a:solidFill>
                </a:uFill>
              </a:rPr>
              <a:t>el</a:t>
            </a:r>
            <a:r>
              <a:rPr dirty="0" u="heavy" spc="-60">
                <a:uFill>
                  <a:solidFill>
                    <a:srgbClr val="EC2814"/>
                  </a:solidFill>
                </a:uFill>
              </a:rPr>
              <a:t> </a:t>
            </a:r>
            <a:r>
              <a:rPr dirty="0" u="heavy">
                <a:uFill>
                  <a:solidFill>
                    <a:srgbClr val="EC2814"/>
                  </a:solidFill>
                </a:uFill>
              </a:rPr>
              <a:t>diccionario</a:t>
            </a:r>
            <a:r>
              <a:rPr dirty="0" u="heavy" spc="-25">
                <a:uFill>
                  <a:solidFill>
                    <a:srgbClr val="EC2814"/>
                  </a:solidFill>
                </a:uFill>
              </a:rPr>
              <a:t> </a:t>
            </a:r>
            <a:r>
              <a:rPr dirty="0" u="heavy">
                <a:uFill>
                  <a:solidFill>
                    <a:srgbClr val="EC2814"/>
                  </a:solidFill>
                </a:uFill>
              </a:rPr>
              <a:t>de</a:t>
            </a:r>
            <a:r>
              <a:rPr dirty="0" u="heavy" spc="-50">
                <a:uFill>
                  <a:solidFill>
                    <a:srgbClr val="EC2814"/>
                  </a:solidFill>
                </a:uFill>
              </a:rPr>
              <a:t> </a:t>
            </a:r>
            <a:r>
              <a:rPr dirty="0" u="heavy" spc="-10">
                <a:uFill>
                  <a:solidFill>
                    <a:srgbClr val="EC2814"/>
                  </a:solidFill>
                </a:uFill>
              </a:rPr>
              <a:t>datos</a:t>
            </a:r>
          </a:p>
          <a:p>
            <a:pPr marL="182880" marR="57785" indent="-170815">
              <a:lnSpc>
                <a:spcPts val="3030"/>
              </a:lnSpc>
              <a:spcBef>
                <a:spcPts val="780"/>
              </a:spcBef>
              <a:buClr>
                <a:srgbClr val="D1350F"/>
              </a:buClr>
              <a:buFont typeface="Arial MT"/>
              <a:buChar char="•"/>
              <a:tabLst>
                <a:tab pos="184785" algn="l"/>
              </a:tabLst>
            </a:pPr>
            <a:r>
              <a:rPr dirty="0"/>
              <a:t>Las</a:t>
            </a:r>
            <a:r>
              <a:rPr dirty="0" spc="-60"/>
              <a:t> </a:t>
            </a:r>
            <a:r>
              <a:rPr dirty="0" spc="-10"/>
              <a:t>restricciones</a:t>
            </a:r>
            <a:r>
              <a:rPr dirty="0" spc="-25"/>
              <a:t> </a:t>
            </a:r>
            <a:r>
              <a:rPr dirty="0"/>
              <a:t>evitan</a:t>
            </a:r>
            <a:r>
              <a:rPr dirty="0" spc="-60"/>
              <a:t> </a:t>
            </a:r>
            <a:r>
              <a:rPr dirty="0"/>
              <a:t>la</a:t>
            </a:r>
            <a:r>
              <a:rPr dirty="0" spc="-50"/>
              <a:t> </a:t>
            </a:r>
            <a:r>
              <a:rPr dirty="0"/>
              <a:t>supresión</a:t>
            </a:r>
            <a:r>
              <a:rPr dirty="0" spc="-15"/>
              <a:t> </a:t>
            </a:r>
            <a:r>
              <a:rPr dirty="0"/>
              <a:t>de</a:t>
            </a:r>
            <a:r>
              <a:rPr dirty="0" spc="-50"/>
              <a:t> </a:t>
            </a:r>
            <a:r>
              <a:rPr dirty="0"/>
              <a:t>una</a:t>
            </a:r>
            <a:r>
              <a:rPr dirty="0" spc="-40"/>
              <a:t> </a:t>
            </a:r>
            <a:r>
              <a:rPr dirty="0"/>
              <a:t>tabla</a:t>
            </a:r>
            <a:r>
              <a:rPr dirty="0" spc="-45"/>
              <a:t> </a:t>
            </a:r>
            <a:r>
              <a:rPr dirty="0"/>
              <a:t>si</a:t>
            </a:r>
            <a:r>
              <a:rPr dirty="0" spc="-50"/>
              <a:t> </a:t>
            </a:r>
            <a:r>
              <a:rPr dirty="0" spc="-25"/>
              <a:t>hay </a:t>
            </a:r>
            <a:r>
              <a:rPr dirty="0" spc="-25"/>
              <a:t>	</a:t>
            </a:r>
            <a:r>
              <a:rPr dirty="0"/>
              <a:t>dependencias</a:t>
            </a:r>
            <a:r>
              <a:rPr dirty="0" spc="-70"/>
              <a:t> </a:t>
            </a:r>
            <a:r>
              <a:rPr dirty="0"/>
              <a:t>de</a:t>
            </a:r>
            <a:r>
              <a:rPr dirty="0" spc="-105"/>
              <a:t> </a:t>
            </a:r>
            <a:r>
              <a:rPr dirty="0"/>
              <a:t>otras</a:t>
            </a:r>
            <a:r>
              <a:rPr dirty="0" spc="-95"/>
              <a:t> </a:t>
            </a:r>
            <a:r>
              <a:rPr dirty="0" spc="-10"/>
              <a:t>tablas</a:t>
            </a:r>
          </a:p>
          <a:p>
            <a:pPr marL="182880" marR="408305" indent="-170815">
              <a:lnSpc>
                <a:spcPts val="3030"/>
              </a:lnSpc>
              <a:spcBef>
                <a:spcPts val="790"/>
              </a:spcBef>
              <a:buClr>
                <a:srgbClr val="D1350F"/>
              </a:buClr>
              <a:buFont typeface="Arial MT"/>
              <a:buChar char="•"/>
              <a:tabLst>
                <a:tab pos="184785" algn="l"/>
              </a:tabLst>
            </a:pPr>
            <a:r>
              <a:rPr dirty="0"/>
              <a:t>Las</a:t>
            </a:r>
            <a:r>
              <a:rPr dirty="0" spc="-60"/>
              <a:t> </a:t>
            </a:r>
            <a:r>
              <a:rPr dirty="0" spc="-10"/>
              <a:t>restricciones</a:t>
            </a:r>
            <a:r>
              <a:rPr dirty="0" spc="-30"/>
              <a:t> </a:t>
            </a:r>
            <a:r>
              <a:rPr dirty="0"/>
              <a:t>aplican</a:t>
            </a:r>
            <a:r>
              <a:rPr dirty="0" spc="-55"/>
              <a:t> </a:t>
            </a:r>
            <a:r>
              <a:rPr dirty="0"/>
              <a:t>reglas</a:t>
            </a:r>
            <a:r>
              <a:rPr dirty="0" spc="-55"/>
              <a:t> </a:t>
            </a:r>
            <a:r>
              <a:rPr dirty="0"/>
              <a:t>a</a:t>
            </a:r>
            <a:r>
              <a:rPr dirty="0" spc="-70"/>
              <a:t> </a:t>
            </a:r>
            <a:r>
              <a:rPr dirty="0"/>
              <a:t>los</a:t>
            </a:r>
            <a:r>
              <a:rPr dirty="0" spc="-50"/>
              <a:t> </a:t>
            </a:r>
            <a:r>
              <a:rPr dirty="0"/>
              <a:t>datos</a:t>
            </a:r>
            <a:r>
              <a:rPr dirty="0" spc="-50"/>
              <a:t> </a:t>
            </a:r>
            <a:r>
              <a:rPr dirty="0"/>
              <a:t>cuando</a:t>
            </a:r>
            <a:r>
              <a:rPr dirty="0" spc="-35"/>
              <a:t> </a:t>
            </a:r>
            <a:r>
              <a:rPr dirty="0" spc="-25"/>
              <a:t>se </a:t>
            </a:r>
            <a:r>
              <a:rPr dirty="0" spc="-25"/>
              <a:t>	</a:t>
            </a:r>
            <a:r>
              <a:rPr dirty="0"/>
              <a:t>inserta,</a:t>
            </a:r>
            <a:r>
              <a:rPr dirty="0" spc="-30"/>
              <a:t> </a:t>
            </a:r>
            <a:r>
              <a:rPr dirty="0"/>
              <a:t>actualiza</a:t>
            </a:r>
            <a:r>
              <a:rPr dirty="0" spc="-55"/>
              <a:t> </a:t>
            </a:r>
            <a:r>
              <a:rPr dirty="0"/>
              <a:t>o</a:t>
            </a:r>
            <a:r>
              <a:rPr dirty="0" spc="-50"/>
              <a:t> </a:t>
            </a:r>
            <a:r>
              <a:rPr dirty="0"/>
              <a:t>suprime</a:t>
            </a:r>
            <a:r>
              <a:rPr dirty="0" spc="-15"/>
              <a:t> </a:t>
            </a:r>
            <a:r>
              <a:rPr dirty="0"/>
              <a:t>una</a:t>
            </a:r>
            <a:r>
              <a:rPr dirty="0" spc="-25"/>
              <a:t> </a:t>
            </a:r>
            <a:r>
              <a:rPr dirty="0"/>
              <a:t>fila</a:t>
            </a:r>
            <a:r>
              <a:rPr dirty="0" spc="-45"/>
              <a:t> </a:t>
            </a:r>
            <a:r>
              <a:rPr dirty="0"/>
              <a:t>de</a:t>
            </a:r>
            <a:r>
              <a:rPr dirty="0" spc="-50"/>
              <a:t> </a:t>
            </a:r>
            <a:r>
              <a:rPr dirty="0"/>
              <a:t>la</a:t>
            </a:r>
            <a:r>
              <a:rPr dirty="0" spc="-45"/>
              <a:t> </a:t>
            </a:r>
            <a:r>
              <a:rPr dirty="0" spc="-10"/>
              <a:t>tabla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Restricciones</a:t>
            </a:r>
            <a:r>
              <a:rPr dirty="0" spc="-40"/>
              <a:t> </a:t>
            </a:r>
            <a:r>
              <a:rPr dirty="0"/>
              <a:t>en</a:t>
            </a:r>
            <a:r>
              <a:rPr dirty="0" spc="-60"/>
              <a:t> </a:t>
            </a:r>
            <a:r>
              <a:rPr dirty="0" spc="-10"/>
              <a:t>General</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8</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a:spLocks noGrp="1"/>
          </p:cNvSpPr>
          <p:nvPr>
            <p:ph type="body" idx="1"/>
          </p:nvPr>
        </p:nvSpPr>
        <p:spPr>
          <a:prstGeom prst="rect"/>
        </p:spPr>
        <p:txBody>
          <a:bodyPr wrap="square" lIns="0" tIns="119735" rIns="0" bIns="0" rtlCol="0" vert="horz">
            <a:spAutoFit/>
          </a:bodyPr>
          <a:lstStyle/>
          <a:p>
            <a:pPr marL="182880" marR="963294" indent="-170815">
              <a:lnSpc>
                <a:spcPts val="3030"/>
              </a:lnSpc>
              <a:spcBef>
                <a:spcPts val="470"/>
              </a:spcBef>
              <a:buClr>
                <a:srgbClr val="D1350F"/>
              </a:buClr>
              <a:buFont typeface="Arial MT"/>
              <a:buChar char="•"/>
              <a:tabLst>
                <a:tab pos="184785" algn="l"/>
              </a:tabLst>
            </a:pPr>
            <a:r>
              <a:rPr dirty="0"/>
              <a:t>Las</a:t>
            </a:r>
            <a:r>
              <a:rPr dirty="0" spc="-65"/>
              <a:t> </a:t>
            </a:r>
            <a:r>
              <a:rPr dirty="0" spc="-10"/>
              <a:t>restricciones</a:t>
            </a:r>
            <a:r>
              <a:rPr dirty="0" spc="-25"/>
              <a:t> </a:t>
            </a:r>
            <a:r>
              <a:rPr dirty="0"/>
              <a:t>son</a:t>
            </a:r>
            <a:r>
              <a:rPr dirty="0" spc="-50"/>
              <a:t> </a:t>
            </a:r>
            <a:r>
              <a:rPr dirty="0" spc="-10"/>
              <a:t>importantes</a:t>
            </a:r>
            <a:r>
              <a:rPr dirty="0" spc="-25"/>
              <a:t> </a:t>
            </a:r>
            <a:r>
              <a:rPr dirty="0"/>
              <a:t>y</a:t>
            </a:r>
            <a:r>
              <a:rPr dirty="0" spc="-70"/>
              <a:t> </a:t>
            </a:r>
            <a:r>
              <a:rPr dirty="0"/>
              <a:t>asignarles</a:t>
            </a:r>
            <a:r>
              <a:rPr dirty="0" spc="-45"/>
              <a:t> </a:t>
            </a:r>
            <a:r>
              <a:rPr dirty="0" spc="-25"/>
              <a:t>un </a:t>
            </a:r>
            <a:r>
              <a:rPr dirty="0" spc="-25"/>
              <a:t>	</a:t>
            </a:r>
            <a:r>
              <a:rPr dirty="0"/>
              <a:t>nombre</a:t>
            </a:r>
            <a:r>
              <a:rPr dirty="0" spc="-80"/>
              <a:t> </a:t>
            </a:r>
            <a:r>
              <a:rPr dirty="0"/>
              <a:t>también</a:t>
            </a:r>
            <a:r>
              <a:rPr dirty="0" spc="-75"/>
              <a:t> </a:t>
            </a:r>
            <a:r>
              <a:rPr dirty="0"/>
              <a:t>es</a:t>
            </a:r>
            <a:r>
              <a:rPr dirty="0" spc="-85"/>
              <a:t> </a:t>
            </a:r>
            <a:r>
              <a:rPr dirty="0" spc="-10"/>
              <a:t>importante</a:t>
            </a:r>
          </a:p>
          <a:p>
            <a:pPr marL="182880" marR="5080" indent="-170815">
              <a:lnSpc>
                <a:spcPts val="3030"/>
              </a:lnSpc>
              <a:spcBef>
                <a:spcPts val="795"/>
              </a:spcBef>
              <a:buClr>
                <a:srgbClr val="D1350F"/>
              </a:buClr>
              <a:buFont typeface="Arial MT"/>
              <a:buChar char="•"/>
              <a:tabLst>
                <a:tab pos="184785" algn="l"/>
              </a:tabLst>
            </a:pPr>
            <a:r>
              <a:rPr dirty="0"/>
              <a:t>Aunque</a:t>
            </a:r>
            <a:r>
              <a:rPr dirty="0" spc="-15"/>
              <a:t> </a:t>
            </a:r>
            <a:r>
              <a:rPr dirty="0"/>
              <a:t>puede</a:t>
            </a:r>
            <a:r>
              <a:rPr dirty="0" spc="-35"/>
              <a:t> </a:t>
            </a:r>
            <a:r>
              <a:rPr dirty="0"/>
              <a:t>asignar</a:t>
            </a:r>
            <a:r>
              <a:rPr dirty="0" spc="-60"/>
              <a:t> </a:t>
            </a:r>
            <a:r>
              <a:rPr dirty="0"/>
              <a:t>a</a:t>
            </a:r>
            <a:r>
              <a:rPr dirty="0" spc="-50"/>
              <a:t> </a:t>
            </a:r>
            <a:r>
              <a:rPr dirty="0"/>
              <a:t>una</a:t>
            </a:r>
            <a:r>
              <a:rPr dirty="0" spc="-40"/>
              <a:t> </a:t>
            </a:r>
            <a:r>
              <a:rPr dirty="0" spc="-10"/>
              <a:t>restricción</a:t>
            </a:r>
            <a:r>
              <a:rPr dirty="0" spc="-30"/>
              <a:t> </a:t>
            </a:r>
            <a:r>
              <a:rPr dirty="0"/>
              <a:t>el</a:t>
            </a:r>
            <a:r>
              <a:rPr dirty="0" spc="-60"/>
              <a:t> </a:t>
            </a:r>
            <a:r>
              <a:rPr dirty="0" spc="-10"/>
              <a:t>nombre 	"constraint_1"</a:t>
            </a:r>
            <a:r>
              <a:rPr dirty="0" spc="-55"/>
              <a:t> </a:t>
            </a:r>
            <a:r>
              <a:rPr dirty="0"/>
              <a:t>o</a:t>
            </a:r>
            <a:r>
              <a:rPr dirty="0" spc="-100"/>
              <a:t> </a:t>
            </a:r>
            <a:r>
              <a:rPr dirty="0" spc="-10"/>
              <a:t>"constraint_2",</a:t>
            </a:r>
            <a:r>
              <a:rPr dirty="0" spc="-55"/>
              <a:t> </a:t>
            </a:r>
            <a:r>
              <a:rPr dirty="0" spc="-10"/>
              <a:t>pronto</a:t>
            </a:r>
            <a:r>
              <a:rPr dirty="0" spc="-75"/>
              <a:t> </a:t>
            </a:r>
            <a:r>
              <a:rPr dirty="0"/>
              <a:t>le</a:t>
            </a:r>
            <a:r>
              <a:rPr dirty="0" spc="-105"/>
              <a:t> </a:t>
            </a:r>
            <a:r>
              <a:rPr dirty="0" spc="-10"/>
              <a:t>resultará </a:t>
            </a:r>
            <a:r>
              <a:rPr dirty="0" spc="-10"/>
              <a:t>	</a:t>
            </a:r>
            <a:r>
              <a:rPr dirty="0"/>
              <a:t>difícil</a:t>
            </a:r>
            <a:r>
              <a:rPr dirty="0" spc="-100"/>
              <a:t> </a:t>
            </a:r>
            <a:r>
              <a:rPr dirty="0"/>
              <a:t>distinguirlas</a:t>
            </a:r>
            <a:r>
              <a:rPr dirty="0" spc="-50"/>
              <a:t> </a:t>
            </a:r>
            <a:r>
              <a:rPr dirty="0"/>
              <a:t>entre</a:t>
            </a:r>
            <a:r>
              <a:rPr dirty="0" spc="-100"/>
              <a:t> </a:t>
            </a:r>
            <a:r>
              <a:rPr dirty="0"/>
              <a:t>sí</a:t>
            </a:r>
            <a:r>
              <a:rPr dirty="0" spc="-100"/>
              <a:t> </a:t>
            </a:r>
            <a:r>
              <a:rPr dirty="0"/>
              <a:t>y</a:t>
            </a:r>
            <a:r>
              <a:rPr dirty="0" spc="-110"/>
              <a:t> </a:t>
            </a:r>
            <a:r>
              <a:rPr dirty="0"/>
              <a:t>acabará</a:t>
            </a:r>
            <a:r>
              <a:rPr dirty="0" spc="-95"/>
              <a:t> </a:t>
            </a:r>
            <a:r>
              <a:rPr dirty="0"/>
              <a:t>rehaciendo</a:t>
            </a:r>
            <a:r>
              <a:rPr dirty="0" spc="-90"/>
              <a:t> </a:t>
            </a:r>
            <a:r>
              <a:rPr dirty="0" spc="-10"/>
              <a:t>mucho 	trabajo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Creación</a:t>
            </a:r>
            <a:r>
              <a:rPr dirty="0" spc="-75"/>
              <a:t> </a:t>
            </a:r>
            <a:r>
              <a:rPr dirty="0"/>
              <a:t>de</a:t>
            </a:r>
            <a:r>
              <a:rPr dirty="0" spc="-65"/>
              <a:t> </a:t>
            </a:r>
            <a:r>
              <a:rPr dirty="0" spc="-10"/>
              <a:t>Restricciones</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9</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355371"/>
            <a:ext cx="8130540" cy="4598035"/>
          </a:xfrm>
          <a:prstGeom prst="rect">
            <a:avLst/>
          </a:prstGeom>
        </p:spPr>
        <p:txBody>
          <a:bodyPr wrap="square" lIns="0" tIns="71755" rIns="0" bIns="0" rtlCol="0" vert="horz">
            <a:spAutoFit/>
          </a:bodyPr>
          <a:lstStyle/>
          <a:p>
            <a:pPr marL="183515" indent="-170815">
              <a:lnSpc>
                <a:spcPct val="100000"/>
              </a:lnSpc>
              <a:spcBef>
                <a:spcPts val="565"/>
              </a:spcBef>
              <a:buClr>
                <a:srgbClr val="D1350F"/>
              </a:buClr>
              <a:buFont typeface="Arial MT"/>
              <a:buChar char="•"/>
              <a:tabLst>
                <a:tab pos="183515" algn="l"/>
              </a:tabLst>
            </a:pPr>
            <a:r>
              <a:rPr dirty="0" sz="2800">
                <a:solidFill>
                  <a:srgbClr val="4E3629"/>
                </a:solidFill>
                <a:latin typeface="Calibri"/>
                <a:cs typeface="Calibri"/>
              </a:rPr>
              <a:t>Recuerde</a:t>
            </a:r>
            <a:r>
              <a:rPr dirty="0" sz="2800" spc="-70">
                <a:solidFill>
                  <a:srgbClr val="4E3629"/>
                </a:solidFill>
                <a:latin typeface="Calibri"/>
                <a:cs typeface="Calibri"/>
              </a:rPr>
              <a:t> </a:t>
            </a: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sintaxis</a:t>
            </a:r>
            <a:r>
              <a:rPr dirty="0" sz="2800" spc="-60">
                <a:solidFill>
                  <a:srgbClr val="4E3629"/>
                </a:solidFill>
                <a:latin typeface="Calibri"/>
                <a:cs typeface="Calibri"/>
              </a:rPr>
              <a:t> </a:t>
            </a:r>
            <a:r>
              <a:rPr dirty="0" sz="2800">
                <a:solidFill>
                  <a:srgbClr val="4E3629"/>
                </a:solidFill>
                <a:latin typeface="Calibri"/>
                <a:cs typeface="Calibri"/>
              </a:rPr>
              <a:t>SQL</a:t>
            </a:r>
            <a:r>
              <a:rPr dirty="0" sz="2800" spc="-80">
                <a:solidFill>
                  <a:srgbClr val="4E3629"/>
                </a:solidFill>
                <a:latin typeface="Calibri"/>
                <a:cs typeface="Calibri"/>
              </a:rPr>
              <a:t> </a:t>
            </a:r>
            <a:r>
              <a:rPr dirty="0" sz="2800">
                <a:solidFill>
                  <a:srgbClr val="4E3629"/>
                </a:solidFill>
                <a:latin typeface="Calibri"/>
                <a:cs typeface="Calibri"/>
              </a:rPr>
              <a:t>para</a:t>
            </a:r>
            <a:r>
              <a:rPr dirty="0" sz="2800" spc="-65">
                <a:solidFill>
                  <a:srgbClr val="4E3629"/>
                </a:solidFill>
                <a:latin typeface="Calibri"/>
                <a:cs typeface="Calibri"/>
              </a:rPr>
              <a:t> </a:t>
            </a:r>
            <a:r>
              <a:rPr dirty="0" sz="2800">
                <a:solidFill>
                  <a:srgbClr val="4E3629"/>
                </a:solidFill>
                <a:latin typeface="Calibri"/>
                <a:cs typeface="Calibri"/>
              </a:rPr>
              <a:t>crear</a:t>
            </a:r>
            <a:r>
              <a:rPr dirty="0" sz="2800" spc="-95">
                <a:solidFill>
                  <a:srgbClr val="4E3629"/>
                </a:solidFill>
                <a:latin typeface="Calibri"/>
                <a:cs typeface="Calibri"/>
              </a:rPr>
              <a:t> </a:t>
            </a:r>
            <a:r>
              <a:rPr dirty="0" sz="2800">
                <a:solidFill>
                  <a:srgbClr val="4E3629"/>
                </a:solidFill>
                <a:latin typeface="Calibri"/>
                <a:cs typeface="Calibri"/>
              </a:rPr>
              <a:t>una</a:t>
            </a:r>
            <a:r>
              <a:rPr dirty="0" sz="2800" spc="-55">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a:p>
            <a:pPr marL="182880" marR="66040" indent="-170815">
              <a:lnSpc>
                <a:spcPts val="3030"/>
              </a:lnSpc>
              <a:spcBef>
                <a:spcPts val="844"/>
              </a:spcBef>
              <a:buClr>
                <a:srgbClr val="D1350F"/>
              </a:buClr>
              <a:buFont typeface="Arial MT"/>
              <a:buChar char="•"/>
              <a:tabLst>
                <a:tab pos="184785" algn="l"/>
              </a:tabLst>
            </a:pPr>
            <a:r>
              <a:rPr dirty="0" sz="2800">
                <a:solidFill>
                  <a:srgbClr val="4E3629"/>
                </a:solidFill>
                <a:latin typeface="Calibri"/>
                <a:cs typeface="Calibri"/>
              </a:rPr>
              <a:t>En</a:t>
            </a:r>
            <a:r>
              <a:rPr dirty="0" sz="2800" spc="-80">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sentencia</a:t>
            </a:r>
            <a:r>
              <a:rPr dirty="0" sz="2800" spc="-50">
                <a:solidFill>
                  <a:srgbClr val="4E3629"/>
                </a:solidFill>
                <a:latin typeface="Calibri"/>
                <a:cs typeface="Calibri"/>
              </a:rPr>
              <a:t> </a:t>
            </a:r>
            <a:r>
              <a:rPr dirty="0" sz="2800" spc="-25">
                <a:solidFill>
                  <a:srgbClr val="4E3629"/>
                </a:solidFill>
                <a:latin typeface="Calibri"/>
                <a:cs typeface="Calibri"/>
              </a:rPr>
              <a:t>CREATE</a:t>
            </a:r>
            <a:r>
              <a:rPr dirty="0" sz="2800" spc="-80">
                <a:solidFill>
                  <a:srgbClr val="4E3629"/>
                </a:solidFill>
                <a:latin typeface="Calibri"/>
                <a:cs typeface="Calibri"/>
              </a:rPr>
              <a:t> </a:t>
            </a:r>
            <a:r>
              <a:rPr dirty="0" sz="2800" spc="-30">
                <a:solidFill>
                  <a:srgbClr val="4E3629"/>
                </a:solidFill>
                <a:latin typeface="Calibri"/>
                <a:cs typeface="Calibri"/>
              </a:rPr>
              <a:t>TABLE</a:t>
            </a:r>
            <a:r>
              <a:rPr dirty="0" sz="2800" spc="-80">
                <a:solidFill>
                  <a:srgbClr val="4E3629"/>
                </a:solidFill>
                <a:latin typeface="Calibri"/>
                <a:cs typeface="Calibri"/>
              </a:rPr>
              <a:t> </a:t>
            </a:r>
            <a:r>
              <a:rPr dirty="0" sz="2800" spc="-10">
                <a:solidFill>
                  <a:srgbClr val="4E3629"/>
                </a:solidFill>
                <a:latin typeface="Calibri"/>
                <a:cs typeface="Calibri"/>
              </a:rPr>
              <a:t>mostrada</a:t>
            </a:r>
            <a:r>
              <a:rPr dirty="0" sz="2800" spc="-45">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spc="-10">
                <a:solidFill>
                  <a:srgbClr val="4E3629"/>
                </a:solidFill>
                <a:latin typeface="Calibri"/>
                <a:cs typeface="Calibri"/>
              </a:rPr>
              <a:t>siguiente </a:t>
            </a:r>
            <a:r>
              <a:rPr dirty="0" sz="2800" spc="-10">
                <a:solidFill>
                  <a:srgbClr val="4E3629"/>
                </a:solidFill>
                <a:latin typeface="Calibri"/>
                <a:cs typeface="Calibri"/>
              </a:rPr>
              <a:t>	</a:t>
            </a:r>
            <a:r>
              <a:rPr dirty="0" sz="2800">
                <a:solidFill>
                  <a:srgbClr val="4E3629"/>
                </a:solidFill>
                <a:latin typeface="Calibri"/>
                <a:cs typeface="Calibri"/>
              </a:rPr>
              <a:t>diapositiva,</a:t>
            </a:r>
            <a:r>
              <a:rPr dirty="0" sz="2800" spc="-50">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define</a:t>
            </a:r>
            <a:r>
              <a:rPr dirty="0" sz="2800" spc="-60">
                <a:solidFill>
                  <a:srgbClr val="4E3629"/>
                </a:solidFill>
                <a:latin typeface="Calibri"/>
                <a:cs typeface="Calibri"/>
              </a:rPr>
              <a:t> </a:t>
            </a:r>
            <a:r>
              <a:rPr dirty="0" sz="2800">
                <a:solidFill>
                  <a:srgbClr val="4E3629"/>
                </a:solidFill>
                <a:latin typeface="Calibri"/>
                <a:cs typeface="Calibri"/>
              </a:rPr>
              <a:t>cada</a:t>
            </a:r>
            <a:r>
              <a:rPr dirty="0" sz="2800" spc="-65">
                <a:solidFill>
                  <a:srgbClr val="4E3629"/>
                </a:solidFill>
                <a:latin typeface="Calibri"/>
                <a:cs typeface="Calibri"/>
              </a:rPr>
              <a:t> </a:t>
            </a:r>
            <a:r>
              <a:rPr dirty="0" sz="2800">
                <a:solidFill>
                  <a:srgbClr val="4E3629"/>
                </a:solidFill>
                <a:latin typeface="Calibri"/>
                <a:cs typeface="Calibri"/>
              </a:rPr>
              <a:t>columna</a:t>
            </a:r>
            <a:r>
              <a:rPr dirty="0" sz="2800" spc="-40">
                <a:solidFill>
                  <a:srgbClr val="4E3629"/>
                </a:solidFill>
                <a:latin typeface="Calibri"/>
                <a:cs typeface="Calibri"/>
              </a:rPr>
              <a:t> </a:t>
            </a:r>
            <a:r>
              <a:rPr dirty="0" sz="2800">
                <a:solidFill>
                  <a:srgbClr val="4E3629"/>
                </a:solidFill>
                <a:latin typeface="Calibri"/>
                <a:cs typeface="Calibri"/>
              </a:rPr>
              <a:t>y</a:t>
            </a:r>
            <a:r>
              <a:rPr dirty="0" sz="2800" spc="-70">
                <a:solidFill>
                  <a:srgbClr val="4E3629"/>
                </a:solidFill>
                <a:latin typeface="Calibri"/>
                <a:cs typeface="Calibri"/>
              </a:rPr>
              <a:t> </a:t>
            </a:r>
            <a:r>
              <a:rPr dirty="0" sz="2800">
                <a:solidFill>
                  <a:srgbClr val="4E3629"/>
                </a:solidFill>
                <a:latin typeface="Calibri"/>
                <a:cs typeface="Calibri"/>
              </a:rPr>
              <a:t>su</a:t>
            </a:r>
            <a:r>
              <a:rPr dirty="0" sz="2800" spc="-50">
                <a:solidFill>
                  <a:srgbClr val="4E3629"/>
                </a:solidFill>
                <a:latin typeface="Calibri"/>
                <a:cs typeface="Calibri"/>
              </a:rPr>
              <a:t> </a:t>
            </a:r>
            <a:r>
              <a:rPr dirty="0" sz="2800">
                <a:solidFill>
                  <a:srgbClr val="4E3629"/>
                </a:solidFill>
                <a:latin typeface="Calibri"/>
                <a:cs typeface="Calibri"/>
              </a:rPr>
              <a:t>tipo</a:t>
            </a:r>
            <a:r>
              <a:rPr dirty="0" sz="2800" spc="-5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20">
                <a:solidFill>
                  <a:srgbClr val="4E3629"/>
                </a:solidFill>
                <a:latin typeface="Calibri"/>
                <a:cs typeface="Calibri"/>
              </a:rPr>
              <a:t>dato</a:t>
            </a:r>
            <a:endParaRPr sz="2800">
              <a:latin typeface="Calibri"/>
              <a:cs typeface="Calibri"/>
            </a:endParaRPr>
          </a:p>
          <a:p>
            <a:pPr marL="182880" marR="824865"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Utilice</a:t>
            </a:r>
            <a:r>
              <a:rPr dirty="0" sz="2800" spc="-90">
                <a:solidFill>
                  <a:srgbClr val="4E3629"/>
                </a:solidFill>
                <a:latin typeface="Calibri"/>
                <a:cs typeface="Calibri"/>
              </a:rPr>
              <a:t> </a:t>
            </a: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sentencia</a:t>
            </a:r>
            <a:r>
              <a:rPr dirty="0" sz="2800" spc="-65">
                <a:solidFill>
                  <a:srgbClr val="4E3629"/>
                </a:solidFill>
                <a:latin typeface="Calibri"/>
                <a:cs typeface="Calibri"/>
              </a:rPr>
              <a:t> </a:t>
            </a:r>
            <a:r>
              <a:rPr dirty="0" sz="2800" spc="-35">
                <a:solidFill>
                  <a:srgbClr val="4E3629"/>
                </a:solidFill>
                <a:latin typeface="Calibri"/>
                <a:cs typeface="Calibri"/>
              </a:rPr>
              <a:t>CREATE</a:t>
            </a:r>
            <a:r>
              <a:rPr dirty="0" sz="2800" spc="-105">
                <a:solidFill>
                  <a:srgbClr val="4E3629"/>
                </a:solidFill>
                <a:latin typeface="Calibri"/>
                <a:cs typeface="Calibri"/>
              </a:rPr>
              <a:t> </a:t>
            </a:r>
            <a:r>
              <a:rPr dirty="0" sz="2800" spc="-25">
                <a:solidFill>
                  <a:srgbClr val="4E3629"/>
                </a:solidFill>
                <a:latin typeface="Calibri"/>
                <a:cs typeface="Calibri"/>
              </a:rPr>
              <a:t>TABLE</a:t>
            </a:r>
            <a:r>
              <a:rPr dirty="0" sz="2800" spc="-85">
                <a:solidFill>
                  <a:srgbClr val="4E3629"/>
                </a:solidFill>
                <a:latin typeface="Calibri"/>
                <a:cs typeface="Calibri"/>
              </a:rPr>
              <a:t> </a:t>
            </a:r>
            <a:r>
              <a:rPr dirty="0" sz="2800">
                <a:solidFill>
                  <a:srgbClr val="4E3629"/>
                </a:solidFill>
                <a:latin typeface="Calibri"/>
                <a:cs typeface="Calibri"/>
              </a:rPr>
              <a:t>para</a:t>
            </a:r>
            <a:r>
              <a:rPr dirty="0" sz="2800" spc="-80">
                <a:solidFill>
                  <a:srgbClr val="4E3629"/>
                </a:solidFill>
                <a:latin typeface="Calibri"/>
                <a:cs typeface="Calibri"/>
              </a:rPr>
              <a:t> </a:t>
            </a:r>
            <a:r>
              <a:rPr dirty="0" sz="2800" spc="-10">
                <a:solidFill>
                  <a:srgbClr val="4E3629"/>
                </a:solidFill>
                <a:latin typeface="Calibri"/>
                <a:cs typeface="Calibri"/>
              </a:rPr>
              <a:t>establecer 	restricciones</a:t>
            </a:r>
            <a:r>
              <a:rPr dirty="0" sz="2800" spc="-30">
                <a:solidFill>
                  <a:srgbClr val="4E3629"/>
                </a:solidFill>
                <a:latin typeface="Calibri"/>
                <a:cs typeface="Calibri"/>
              </a:rPr>
              <a:t> </a:t>
            </a:r>
            <a:r>
              <a:rPr dirty="0" sz="2800">
                <a:solidFill>
                  <a:srgbClr val="4E3629"/>
                </a:solidFill>
                <a:latin typeface="Calibri"/>
                <a:cs typeface="Calibri"/>
              </a:rPr>
              <a:t>para</a:t>
            </a:r>
            <a:r>
              <a:rPr dirty="0" sz="2800" spc="-55">
                <a:solidFill>
                  <a:srgbClr val="4E3629"/>
                </a:solidFill>
                <a:latin typeface="Calibri"/>
                <a:cs typeface="Calibri"/>
              </a:rPr>
              <a:t> </a:t>
            </a:r>
            <a:r>
              <a:rPr dirty="0" sz="2800">
                <a:solidFill>
                  <a:srgbClr val="4E3629"/>
                </a:solidFill>
                <a:latin typeface="Calibri"/>
                <a:cs typeface="Calibri"/>
              </a:rPr>
              <a:t>cada</a:t>
            </a:r>
            <a:r>
              <a:rPr dirty="0" sz="2800" spc="-50">
                <a:solidFill>
                  <a:srgbClr val="4E3629"/>
                </a:solidFill>
                <a:latin typeface="Calibri"/>
                <a:cs typeface="Calibri"/>
              </a:rPr>
              <a:t> </a:t>
            </a:r>
            <a:r>
              <a:rPr dirty="0" sz="2800">
                <a:solidFill>
                  <a:srgbClr val="4E3629"/>
                </a:solidFill>
                <a:latin typeface="Calibri"/>
                <a:cs typeface="Calibri"/>
              </a:rPr>
              <a:t>columna</a:t>
            </a:r>
            <a:r>
              <a:rPr dirty="0" sz="2800" spc="-3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a:p>
            <a:pPr marL="182880" marR="88900"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Hay</a:t>
            </a:r>
            <a:r>
              <a:rPr dirty="0" sz="2800" spc="-85">
                <a:solidFill>
                  <a:srgbClr val="4E3629"/>
                </a:solidFill>
                <a:latin typeface="Calibri"/>
                <a:cs typeface="Calibri"/>
              </a:rPr>
              <a:t> </a:t>
            </a:r>
            <a:r>
              <a:rPr dirty="0" u="heavy" sz="2800">
                <a:solidFill>
                  <a:srgbClr val="4E3629"/>
                </a:solidFill>
                <a:uFill>
                  <a:solidFill>
                    <a:srgbClr val="EC2814"/>
                  </a:solidFill>
                </a:uFill>
                <a:latin typeface="Calibri"/>
                <a:cs typeface="Calibri"/>
              </a:rPr>
              <a:t>dos</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ubicaciones</a:t>
            </a:r>
            <a:r>
              <a:rPr dirty="0" u="heavy" sz="2800" spc="-5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diferentes</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sentencia</a:t>
            </a:r>
            <a:r>
              <a:rPr dirty="0" u="heavy" sz="2800" spc="-6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CREATE</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25">
                <a:solidFill>
                  <a:srgbClr val="4E3629"/>
                </a:solidFill>
                <a:uFill>
                  <a:solidFill>
                    <a:srgbClr val="EC2814"/>
                  </a:solidFill>
                </a:uFill>
                <a:latin typeface="Calibri"/>
                <a:cs typeface="Calibri"/>
              </a:rPr>
              <a:t>TABLE</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especificar</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detalles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la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restricción</a:t>
            </a:r>
            <a:r>
              <a:rPr dirty="0" sz="2800" spc="-10">
                <a:solidFill>
                  <a:srgbClr val="4E3629"/>
                </a:solidFill>
                <a:latin typeface="Calibri"/>
                <a:cs typeface="Calibri"/>
              </a:rPr>
              <a:t>:</a:t>
            </a:r>
            <a:endParaRPr sz="2800">
              <a:latin typeface="Calibri"/>
              <a:cs typeface="Calibri"/>
            </a:endParaRPr>
          </a:p>
          <a:p>
            <a:pPr marL="355600">
              <a:lnSpc>
                <a:spcPct val="100000"/>
              </a:lnSpc>
              <a:spcBef>
                <a:spcPts val="90"/>
              </a:spcBef>
            </a:pPr>
            <a:r>
              <a:rPr dirty="0" sz="2400">
                <a:solidFill>
                  <a:srgbClr val="D1350F"/>
                </a:solidFill>
                <a:latin typeface="Calibri"/>
                <a:cs typeface="Calibri"/>
              </a:rPr>
              <a:t>−</a:t>
            </a:r>
            <a:r>
              <a:rPr dirty="0" sz="2400">
                <a:solidFill>
                  <a:srgbClr val="4E3629"/>
                </a:solidFill>
                <a:latin typeface="Calibri"/>
                <a:cs typeface="Calibri"/>
              </a:rPr>
              <a:t>En</a:t>
            </a:r>
            <a:r>
              <a:rPr dirty="0" sz="2400" spc="-30">
                <a:solidFill>
                  <a:srgbClr val="4E3629"/>
                </a:solidFill>
                <a:latin typeface="Calibri"/>
                <a:cs typeface="Calibri"/>
              </a:rPr>
              <a:t> </a:t>
            </a:r>
            <a:r>
              <a:rPr dirty="0" sz="2400">
                <a:solidFill>
                  <a:srgbClr val="4E3629"/>
                </a:solidFill>
                <a:latin typeface="Calibri"/>
                <a:cs typeface="Calibri"/>
              </a:rPr>
              <a:t>el</a:t>
            </a:r>
            <a:r>
              <a:rPr dirty="0" sz="2400" spc="-25">
                <a:solidFill>
                  <a:srgbClr val="4E3629"/>
                </a:solidFill>
                <a:latin typeface="Calibri"/>
                <a:cs typeface="Calibri"/>
              </a:rPr>
              <a:t> </a:t>
            </a:r>
            <a:r>
              <a:rPr dirty="0" sz="2400">
                <a:solidFill>
                  <a:srgbClr val="4E3629"/>
                </a:solidFill>
                <a:latin typeface="Calibri"/>
                <a:cs typeface="Calibri"/>
              </a:rPr>
              <a:t>nivel</a:t>
            </a:r>
            <a:r>
              <a:rPr dirty="0" sz="2400" spc="-25">
                <a:solidFill>
                  <a:srgbClr val="4E3629"/>
                </a:solidFill>
                <a:latin typeface="Calibri"/>
                <a:cs typeface="Calibri"/>
              </a:rPr>
              <a:t> </a:t>
            </a:r>
            <a:r>
              <a:rPr dirty="0" sz="2400">
                <a:solidFill>
                  <a:srgbClr val="4E3629"/>
                </a:solidFill>
                <a:latin typeface="Calibri"/>
                <a:cs typeface="Calibri"/>
              </a:rPr>
              <a:t>de</a:t>
            </a:r>
            <a:r>
              <a:rPr dirty="0" sz="2400" spc="-20">
                <a:solidFill>
                  <a:srgbClr val="4E3629"/>
                </a:solidFill>
                <a:latin typeface="Calibri"/>
                <a:cs typeface="Calibri"/>
              </a:rPr>
              <a:t> </a:t>
            </a:r>
            <a:r>
              <a:rPr dirty="0" sz="2400">
                <a:solidFill>
                  <a:srgbClr val="4E3629"/>
                </a:solidFill>
                <a:latin typeface="Calibri"/>
                <a:cs typeface="Calibri"/>
              </a:rPr>
              <a:t>columna</a:t>
            </a:r>
            <a:r>
              <a:rPr dirty="0" sz="2400" spc="-35">
                <a:solidFill>
                  <a:srgbClr val="4E3629"/>
                </a:solidFill>
                <a:latin typeface="Calibri"/>
                <a:cs typeface="Calibri"/>
              </a:rPr>
              <a:t> </a:t>
            </a:r>
            <a:r>
              <a:rPr dirty="0" sz="2400">
                <a:solidFill>
                  <a:srgbClr val="4E3629"/>
                </a:solidFill>
                <a:latin typeface="Calibri"/>
                <a:cs typeface="Calibri"/>
              </a:rPr>
              <a:t>situado</a:t>
            </a:r>
            <a:r>
              <a:rPr dirty="0" sz="2400" spc="-30">
                <a:solidFill>
                  <a:srgbClr val="4E3629"/>
                </a:solidFill>
                <a:latin typeface="Calibri"/>
                <a:cs typeface="Calibri"/>
              </a:rPr>
              <a:t> </a:t>
            </a:r>
            <a:r>
              <a:rPr dirty="0" sz="2400">
                <a:solidFill>
                  <a:srgbClr val="4E3629"/>
                </a:solidFill>
                <a:latin typeface="Calibri"/>
                <a:cs typeface="Calibri"/>
              </a:rPr>
              <a:t>junto</a:t>
            </a:r>
            <a:r>
              <a:rPr dirty="0" sz="2400" spc="-35">
                <a:solidFill>
                  <a:srgbClr val="4E3629"/>
                </a:solidFill>
                <a:latin typeface="Calibri"/>
                <a:cs typeface="Calibri"/>
              </a:rPr>
              <a:t> </a:t>
            </a:r>
            <a:r>
              <a:rPr dirty="0" sz="2400">
                <a:solidFill>
                  <a:srgbClr val="4E3629"/>
                </a:solidFill>
                <a:latin typeface="Calibri"/>
                <a:cs typeface="Calibri"/>
              </a:rPr>
              <a:t>al</a:t>
            </a:r>
            <a:r>
              <a:rPr dirty="0" sz="2400" spc="-25">
                <a:solidFill>
                  <a:srgbClr val="4E3629"/>
                </a:solidFill>
                <a:latin typeface="Calibri"/>
                <a:cs typeface="Calibri"/>
              </a:rPr>
              <a:t> </a:t>
            </a:r>
            <a:r>
              <a:rPr dirty="0" sz="2400">
                <a:solidFill>
                  <a:srgbClr val="4E3629"/>
                </a:solidFill>
                <a:latin typeface="Calibri"/>
                <a:cs typeface="Calibri"/>
              </a:rPr>
              <a:t>nombre</a:t>
            </a:r>
            <a:r>
              <a:rPr dirty="0" sz="2400" spc="-20">
                <a:solidFill>
                  <a:srgbClr val="4E3629"/>
                </a:solidFill>
                <a:latin typeface="Calibri"/>
                <a:cs typeface="Calibri"/>
              </a:rPr>
              <a:t> </a:t>
            </a:r>
            <a:r>
              <a:rPr dirty="0" sz="2400">
                <a:solidFill>
                  <a:srgbClr val="4E3629"/>
                </a:solidFill>
                <a:latin typeface="Calibri"/>
                <a:cs typeface="Calibri"/>
              </a:rPr>
              <a:t>y</a:t>
            </a:r>
            <a:r>
              <a:rPr dirty="0" sz="2400" spc="-30">
                <a:solidFill>
                  <a:srgbClr val="4E3629"/>
                </a:solidFill>
                <a:latin typeface="Calibri"/>
                <a:cs typeface="Calibri"/>
              </a:rPr>
              <a:t> </a:t>
            </a:r>
            <a:r>
              <a:rPr dirty="0" sz="2400">
                <a:solidFill>
                  <a:srgbClr val="4E3629"/>
                </a:solidFill>
                <a:latin typeface="Calibri"/>
                <a:cs typeface="Calibri"/>
              </a:rPr>
              <a:t>tipo</a:t>
            </a:r>
            <a:r>
              <a:rPr dirty="0" sz="2400" spc="-30">
                <a:solidFill>
                  <a:srgbClr val="4E3629"/>
                </a:solidFill>
                <a:latin typeface="Calibri"/>
                <a:cs typeface="Calibri"/>
              </a:rPr>
              <a:t> </a:t>
            </a:r>
            <a:r>
              <a:rPr dirty="0" sz="2400">
                <a:solidFill>
                  <a:srgbClr val="4E3629"/>
                </a:solidFill>
                <a:latin typeface="Calibri"/>
                <a:cs typeface="Calibri"/>
              </a:rPr>
              <a:t>de</a:t>
            </a:r>
            <a:r>
              <a:rPr dirty="0" sz="2400" spc="-20">
                <a:solidFill>
                  <a:srgbClr val="4E3629"/>
                </a:solidFill>
                <a:latin typeface="Calibri"/>
                <a:cs typeface="Calibri"/>
              </a:rPr>
              <a:t> dato</a:t>
            </a:r>
            <a:endParaRPr sz="2400">
              <a:latin typeface="Calibri"/>
              <a:cs typeface="Calibri"/>
            </a:endParaRPr>
          </a:p>
          <a:p>
            <a:pPr marL="530860" marR="943610" indent="-175260">
              <a:lnSpc>
                <a:spcPts val="2590"/>
              </a:lnSpc>
              <a:spcBef>
                <a:spcPts val="434"/>
              </a:spcBef>
            </a:pPr>
            <a:r>
              <a:rPr dirty="0" sz="2400">
                <a:solidFill>
                  <a:srgbClr val="D1350F"/>
                </a:solidFill>
                <a:latin typeface="Calibri"/>
                <a:cs typeface="Calibri"/>
              </a:rPr>
              <a:t>−</a:t>
            </a:r>
            <a:r>
              <a:rPr dirty="0" sz="2400">
                <a:solidFill>
                  <a:srgbClr val="4E3629"/>
                </a:solidFill>
                <a:latin typeface="Calibri"/>
                <a:cs typeface="Calibri"/>
              </a:rPr>
              <a:t>En</a:t>
            </a:r>
            <a:r>
              <a:rPr dirty="0" sz="2400" spc="-35">
                <a:solidFill>
                  <a:srgbClr val="4E3629"/>
                </a:solidFill>
                <a:latin typeface="Calibri"/>
                <a:cs typeface="Calibri"/>
              </a:rPr>
              <a:t> </a:t>
            </a:r>
            <a:r>
              <a:rPr dirty="0" sz="2400">
                <a:solidFill>
                  <a:srgbClr val="4E3629"/>
                </a:solidFill>
                <a:latin typeface="Calibri"/>
                <a:cs typeface="Calibri"/>
              </a:rPr>
              <a:t>el</a:t>
            </a:r>
            <a:r>
              <a:rPr dirty="0" sz="2400" spc="-30">
                <a:solidFill>
                  <a:srgbClr val="4E3629"/>
                </a:solidFill>
                <a:latin typeface="Calibri"/>
                <a:cs typeface="Calibri"/>
              </a:rPr>
              <a:t> </a:t>
            </a:r>
            <a:r>
              <a:rPr dirty="0" sz="2400">
                <a:solidFill>
                  <a:srgbClr val="4E3629"/>
                </a:solidFill>
                <a:latin typeface="Calibri"/>
                <a:cs typeface="Calibri"/>
              </a:rPr>
              <a:t>nivel</a:t>
            </a:r>
            <a:r>
              <a:rPr dirty="0" sz="2400" spc="-30">
                <a:solidFill>
                  <a:srgbClr val="4E3629"/>
                </a:solidFill>
                <a:latin typeface="Calibri"/>
                <a:cs typeface="Calibri"/>
              </a:rPr>
              <a:t> </a:t>
            </a:r>
            <a:r>
              <a:rPr dirty="0" sz="2400">
                <a:solidFill>
                  <a:srgbClr val="4E3629"/>
                </a:solidFill>
                <a:latin typeface="Calibri"/>
                <a:cs typeface="Calibri"/>
              </a:rPr>
              <a:t>de</a:t>
            </a:r>
            <a:r>
              <a:rPr dirty="0" sz="2400" spc="-30">
                <a:solidFill>
                  <a:srgbClr val="4E3629"/>
                </a:solidFill>
                <a:latin typeface="Calibri"/>
                <a:cs typeface="Calibri"/>
              </a:rPr>
              <a:t> </a:t>
            </a:r>
            <a:r>
              <a:rPr dirty="0" sz="2400">
                <a:solidFill>
                  <a:srgbClr val="4E3629"/>
                </a:solidFill>
                <a:latin typeface="Calibri"/>
                <a:cs typeface="Calibri"/>
              </a:rPr>
              <a:t>tabla</a:t>
            </a:r>
            <a:r>
              <a:rPr dirty="0" sz="2400" spc="-40">
                <a:solidFill>
                  <a:srgbClr val="4E3629"/>
                </a:solidFill>
                <a:latin typeface="Calibri"/>
                <a:cs typeface="Calibri"/>
              </a:rPr>
              <a:t> </a:t>
            </a:r>
            <a:r>
              <a:rPr dirty="0" sz="2400">
                <a:solidFill>
                  <a:srgbClr val="4E3629"/>
                </a:solidFill>
                <a:latin typeface="Calibri"/>
                <a:cs typeface="Calibri"/>
              </a:rPr>
              <a:t>una</a:t>
            </a:r>
            <a:r>
              <a:rPr dirty="0" sz="2400" spc="-30">
                <a:solidFill>
                  <a:srgbClr val="4E3629"/>
                </a:solidFill>
                <a:latin typeface="Calibri"/>
                <a:cs typeface="Calibri"/>
              </a:rPr>
              <a:t> </a:t>
            </a:r>
            <a:r>
              <a:rPr dirty="0" sz="2400">
                <a:solidFill>
                  <a:srgbClr val="4E3629"/>
                </a:solidFill>
                <a:latin typeface="Calibri"/>
                <a:cs typeface="Calibri"/>
              </a:rPr>
              <a:t>vez</a:t>
            </a:r>
            <a:r>
              <a:rPr dirty="0" sz="2400" spc="-35">
                <a:solidFill>
                  <a:srgbClr val="4E3629"/>
                </a:solidFill>
                <a:latin typeface="Calibri"/>
                <a:cs typeface="Calibri"/>
              </a:rPr>
              <a:t> </a:t>
            </a:r>
            <a:r>
              <a:rPr dirty="0" sz="2400">
                <a:solidFill>
                  <a:srgbClr val="4E3629"/>
                </a:solidFill>
                <a:latin typeface="Calibri"/>
                <a:cs typeface="Calibri"/>
              </a:rPr>
              <a:t>que</a:t>
            </a:r>
            <a:r>
              <a:rPr dirty="0" sz="2400" spc="-10">
                <a:solidFill>
                  <a:srgbClr val="4E3629"/>
                </a:solidFill>
                <a:latin typeface="Calibri"/>
                <a:cs typeface="Calibri"/>
              </a:rPr>
              <a:t> </a:t>
            </a:r>
            <a:r>
              <a:rPr dirty="0" sz="2400">
                <a:solidFill>
                  <a:srgbClr val="4E3629"/>
                </a:solidFill>
                <a:latin typeface="Calibri"/>
                <a:cs typeface="Calibri"/>
              </a:rPr>
              <a:t>se</a:t>
            </a:r>
            <a:r>
              <a:rPr dirty="0" sz="2400" spc="-35">
                <a:solidFill>
                  <a:srgbClr val="4E3629"/>
                </a:solidFill>
                <a:latin typeface="Calibri"/>
                <a:cs typeface="Calibri"/>
              </a:rPr>
              <a:t> </a:t>
            </a:r>
            <a:r>
              <a:rPr dirty="0" sz="2400" spc="-10">
                <a:solidFill>
                  <a:srgbClr val="4E3629"/>
                </a:solidFill>
                <a:latin typeface="Calibri"/>
                <a:cs typeface="Calibri"/>
              </a:rPr>
              <a:t>muestran</a:t>
            </a:r>
            <a:r>
              <a:rPr dirty="0" sz="2400" spc="-50">
                <a:solidFill>
                  <a:srgbClr val="4E3629"/>
                </a:solidFill>
                <a:latin typeface="Calibri"/>
                <a:cs typeface="Calibri"/>
              </a:rPr>
              <a:t> </a:t>
            </a:r>
            <a:r>
              <a:rPr dirty="0" sz="2400">
                <a:solidFill>
                  <a:srgbClr val="4E3629"/>
                </a:solidFill>
                <a:latin typeface="Calibri"/>
                <a:cs typeface="Calibri"/>
              </a:rPr>
              <a:t>todos</a:t>
            </a:r>
            <a:r>
              <a:rPr dirty="0" sz="2400" spc="-35">
                <a:solidFill>
                  <a:srgbClr val="4E3629"/>
                </a:solidFill>
                <a:latin typeface="Calibri"/>
                <a:cs typeface="Calibri"/>
              </a:rPr>
              <a:t> </a:t>
            </a:r>
            <a:r>
              <a:rPr dirty="0" sz="2400" spc="-25">
                <a:solidFill>
                  <a:srgbClr val="4E3629"/>
                </a:solidFill>
                <a:latin typeface="Calibri"/>
                <a:cs typeface="Calibri"/>
              </a:rPr>
              <a:t>los </a:t>
            </a:r>
            <a:r>
              <a:rPr dirty="0" sz="2400">
                <a:solidFill>
                  <a:srgbClr val="4E3629"/>
                </a:solidFill>
                <a:latin typeface="Calibri"/>
                <a:cs typeface="Calibri"/>
              </a:rPr>
              <a:t>nombres</a:t>
            </a:r>
            <a:r>
              <a:rPr dirty="0" sz="2400" spc="-65">
                <a:solidFill>
                  <a:srgbClr val="4E3629"/>
                </a:solidFill>
                <a:latin typeface="Calibri"/>
                <a:cs typeface="Calibri"/>
              </a:rPr>
              <a:t> </a:t>
            </a:r>
            <a:r>
              <a:rPr dirty="0" sz="2400">
                <a:solidFill>
                  <a:srgbClr val="4E3629"/>
                </a:solidFill>
                <a:latin typeface="Calibri"/>
                <a:cs typeface="Calibri"/>
              </a:rPr>
              <a:t>de</a:t>
            </a:r>
            <a:r>
              <a:rPr dirty="0" sz="2400" spc="-50">
                <a:solidFill>
                  <a:srgbClr val="4E3629"/>
                </a:solidFill>
                <a:latin typeface="Calibri"/>
                <a:cs typeface="Calibri"/>
              </a:rPr>
              <a:t> </a:t>
            </a:r>
            <a:r>
              <a:rPr dirty="0" sz="2400" spc="-10">
                <a:solidFill>
                  <a:srgbClr val="4E3629"/>
                </a:solidFill>
                <a:latin typeface="Calibri"/>
                <a:cs typeface="Calibri"/>
              </a:rPr>
              <a:t>columna</a:t>
            </a:r>
            <a:endParaRPr sz="24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Creación</a:t>
            </a:r>
            <a:r>
              <a:rPr dirty="0" spc="-75"/>
              <a:t> </a:t>
            </a:r>
            <a:r>
              <a:rPr dirty="0"/>
              <a:t>de</a:t>
            </a:r>
            <a:r>
              <a:rPr dirty="0" spc="-65"/>
              <a:t> </a:t>
            </a:r>
            <a:r>
              <a:rPr dirty="0" spc="-10"/>
              <a:t>Restricciones</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10</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2712341"/>
            <a:ext cx="8011159" cy="247459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40">
                <a:solidFill>
                  <a:srgbClr val="4E3629"/>
                </a:solidFill>
                <a:latin typeface="Calibri"/>
                <a:cs typeface="Calibri"/>
              </a:rPr>
              <a:t>Tenga</a:t>
            </a:r>
            <a:r>
              <a:rPr dirty="0" sz="2800" spc="-65">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cuenta</a:t>
            </a:r>
            <a:r>
              <a:rPr dirty="0" sz="2800" spc="-4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nivel</a:t>
            </a:r>
            <a:r>
              <a:rPr dirty="0" sz="2800" spc="-5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columna</a:t>
            </a:r>
            <a:r>
              <a:rPr dirty="0" sz="2800" spc="-35">
                <a:solidFill>
                  <a:srgbClr val="4E3629"/>
                </a:solidFill>
                <a:latin typeface="Calibri"/>
                <a:cs typeface="Calibri"/>
              </a:rPr>
              <a:t> </a:t>
            </a:r>
            <a:r>
              <a:rPr dirty="0" sz="2800" spc="-10">
                <a:solidFill>
                  <a:srgbClr val="4E3629"/>
                </a:solidFill>
                <a:latin typeface="Calibri"/>
                <a:cs typeface="Calibri"/>
              </a:rPr>
              <a:t>simplemente </a:t>
            </a:r>
            <a:r>
              <a:rPr dirty="0" sz="2800" spc="-10">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refiere</a:t>
            </a:r>
            <a:r>
              <a:rPr dirty="0" sz="2800" spc="-60">
                <a:solidFill>
                  <a:srgbClr val="4E3629"/>
                </a:solidFill>
                <a:latin typeface="Calibri"/>
                <a:cs typeface="Calibri"/>
              </a:rPr>
              <a:t> </a:t>
            </a:r>
            <a:r>
              <a:rPr dirty="0" sz="2800">
                <a:solidFill>
                  <a:srgbClr val="4E3629"/>
                </a:solidFill>
                <a:latin typeface="Calibri"/>
                <a:cs typeface="Calibri"/>
              </a:rPr>
              <a:t>al</a:t>
            </a:r>
            <a:r>
              <a:rPr dirty="0" sz="2800" spc="-75">
                <a:solidFill>
                  <a:srgbClr val="4E3629"/>
                </a:solidFill>
                <a:latin typeface="Calibri"/>
                <a:cs typeface="Calibri"/>
              </a:rPr>
              <a:t> </a:t>
            </a:r>
            <a:r>
              <a:rPr dirty="0" sz="2800">
                <a:solidFill>
                  <a:srgbClr val="4E3629"/>
                </a:solidFill>
                <a:latin typeface="Calibri"/>
                <a:cs typeface="Calibri"/>
              </a:rPr>
              <a:t>área</a:t>
            </a:r>
            <a:r>
              <a:rPr dirty="0" sz="2800" spc="-6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sentencia</a:t>
            </a:r>
            <a:r>
              <a:rPr dirty="0" sz="2800" spc="-55">
                <a:solidFill>
                  <a:srgbClr val="4E3629"/>
                </a:solidFill>
                <a:latin typeface="Calibri"/>
                <a:cs typeface="Calibri"/>
              </a:rPr>
              <a:t> </a:t>
            </a:r>
            <a:r>
              <a:rPr dirty="0" sz="2800" spc="-25">
                <a:solidFill>
                  <a:srgbClr val="4E3629"/>
                </a:solidFill>
                <a:latin typeface="Calibri"/>
                <a:cs typeface="Calibri"/>
              </a:rPr>
              <a:t>CREATE</a:t>
            </a:r>
            <a:r>
              <a:rPr dirty="0" sz="2800" spc="-65">
                <a:solidFill>
                  <a:srgbClr val="4E3629"/>
                </a:solidFill>
                <a:latin typeface="Calibri"/>
                <a:cs typeface="Calibri"/>
              </a:rPr>
              <a:t> </a:t>
            </a:r>
            <a:r>
              <a:rPr dirty="0" sz="2800" spc="-25">
                <a:solidFill>
                  <a:srgbClr val="4E3629"/>
                </a:solidFill>
                <a:latin typeface="Calibri"/>
                <a:cs typeface="Calibri"/>
              </a:rPr>
              <a:t>TABLE</a:t>
            </a:r>
            <a:r>
              <a:rPr dirty="0" sz="2800" spc="-70">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a:solidFill>
                  <a:srgbClr val="4E3629"/>
                </a:solidFill>
                <a:latin typeface="Calibri"/>
                <a:cs typeface="Calibri"/>
              </a:rPr>
              <a:t>las</a:t>
            </a:r>
            <a:r>
              <a:rPr dirty="0" sz="2800" spc="-85">
                <a:solidFill>
                  <a:srgbClr val="4E3629"/>
                </a:solidFill>
                <a:latin typeface="Calibri"/>
                <a:cs typeface="Calibri"/>
              </a:rPr>
              <a:t> </a:t>
            </a:r>
            <a:r>
              <a:rPr dirty="0" sz="2800">
                <a:solidFill>
                  <a:srgbClr val="4E3629"/>
                </a:solidFill>
                <a:latin typeface="Calibri"/>
                <a:cs typeface="Calibri"/>
              </a:rPr>
              <a:t>columnas</a:t>
            </a:r>
            <a:r>
              <a:rPr dirty="0" sz="2800" spc="-50">
                <a:solidFill>
                  <a:srgbClr val="4E3629"/>
                </a:solidFill>
                <a:latin typeface="Calibri"/>
                <a:cs typeface="Calibri"/>
              </a:rPr>
              <a:t> </a:t>
            </a:r>
            <a:r>
              <a:rPr dirty="0" sz="2800">
                <a:solidFill>
                  <a:srgbClr val="4E3629"/>
                </a:solidFill>
                <a:latin typeface="Calibri"/>
                <a:cs typeface="Calibri"/>
              </a:rPr>
              <a:t>están</a:t>
            </a:r>
            <a:r>
              <a:rPr dirty="0" sz="2800" spc="-70">
                <a:solidFill>
                  <a:srgbClr val="4E3629"/>
                </a:solidFill>
                <a:latin typeface="Calibri"/>
                <a:cs typeface="Calibri"/>
              </a:rPr>
              <a:t> </a:t>
            </a:r>
            <a:r>
              <a:rPr dirty="0" sz="2800" spc="-10">
                <a:solidFill>
                  <a:srgbClr val="4E3629"/>
                </a:solidFill>
                <a:latin typeface="Calibri"/>
                <a:cs typeface="Calibri"/>
              </a:rPr>
              <a:t>definidas</a:t>
            </a:r>
            <a:endParaRPr sz="2800">
              <a:latin typeface="Calibri"/>
              <a:cs typeface="Calibri"/>
            </a:endParaRPr>
          </a:p>
          <a:p>
            <a:pPr algn="just" marL="182880" marR="894715" indent="-170815">
              <a:lnSpc>
                <a:spcPts val="3030"/>
              </a:lnSpc>
              <a:spcBef>
                <a:spcPts val="785"/>
              </a:spcBef>
              <a:buClr>
                <a:srgbClr val="D1350F"/>
              </a:buClr>
              <a:buFont typeface="Arial MT"/>
              <a:buChar char="•"/>
              <a:tabLst>
                <a:tab pos="184150" algn="l"/>
              </a:tabLst>
            </a:pP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nivel</a:t>
            </a:r>
            <a:r>
              <a:rPr dirty="0" sz="2800" spc="-4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tabla</a:t>
            </a:r>
            <a:r>
              <a:rPr dirty="0" sz="2800" spc="-35">
                <a:solidFill>
                  <a:srgbClr val="4E3629"/>
                </a:solidFill>
                <a:latin typeface="Calibri"/>
                <a:cs typeface="Calibri"/>
              </a:rPr>
              <a:t> </a:t>
            </a:r>
            <a:r>
              <a:rPr dirty="0" sz="2800">
                <a:solidFill>
                  <a:srgbClr val="4E3629"/>
                </a:solidFill>
                <a:latin typeface="Calibri"/>
                <a:cs typeface="Calibri"/>
              </a:rPr>
              <a:t>hace</a:t>
            </a:r>
            <a:r>
              <a:rPr dirty="0" sz="2800" spc="-55">
                <a:solidFill>
                  <a:srgbClr val="4E3629"/>
                </a:solidFill>
                <a:latin typeface="Calibri"/>
                <a:cs typeface="Calibri"/>
              </a:rPr>
              <a:t> </a:t>
            </a:r>
            <a:r>
              <a:rPr dirty="0" sz="2800" spc="-10">
                <a:solidFill>
                  <a:srgbClr val="4E3629"/>
                </a:solidFill>
                <a:latin typeface="Calibri"/>
                <a:cs typeface="Calibri"/>
              </a:rPr>
              <a:t>referencia</a:t>
            </a:r>
            <a:r>
              <a:rPr dirty="0" sz="2800" spc="-45">
                <a:solidFill>
                  <a:srgbClr val="4E3629"/>
                </a:solidFill>
                <a:latin typeface="Calibri"/>
                <a:cs typeface="Calibri"/>
              </a:rPr>
              <a:t> </a:t>
            </a:r>
            <a:r>
              <a:rPr dirty="0" sz="2800">
                <a:solidFill>
                  <a:srgbClr val="4E3629"/>
                </a:solidFill>
                <a:latin typeface="Calibri"/>
                <a:cs typeface="Calibri"/>
              </a:rPr>
              <a:t>a</a:t>
            </a:r>
            <a:r>
              <a:rPr dirty="0" sz="2800" spc="-6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última</a:t>
            </a:r>
            <a:r>
              <a:rPr dirty="0" sz="2800" spc="-30">
                <a:solidFill>
                  <a:srgbClr val="4E3629"/>
                </a:solidFill>
                <a:latin typeface="Calibri"/>
                <a:cs typeface="Calibri"/>
              </a:rPr>
              <a:t> </a:t>
            </a:r>
            <a:r>
              <a:rPr dirty="0" sz="2800" spc="-10">
                <a:solidFill>
                  <a:srgbClr val="4E3629"/>
                </a:solidFill>
                <a:latin typeface="Calibri"/>
                <a:cs typeface="Calibri"/>
              </a:rPr>
              <a:t>línea </a:t>
            </a:r>
            <a:r>
              <a:rPr dirty="0" sz="2800" spc="-1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spc="-10">
                <a:solidFill>
                  <a:srgbClr val="4E3629"/>
                </a:solidFill>
                <a:latin typeface="Calibri"/>
                <a:cs typeface="Calibri"/>
              </a:rPr>
              <a:t>sentencia</a:t>
            </a:r>
            <a:r>
              <a:rPr dirty="0" sz="2800" spc="-45">
                <a:solidFill>
                  <a:srgbClr val="4E3629"/>
                </a:solidFill>
                <a:latin typeface="Calibri"/>
                <a:cs typeface="Calibri"/>
              </a:rPr>
              <a:t> </a:t>
            </a:r>
            <a:r>
              <a:rPr dirty="0" sz="2800">
                <a:solidFill>
                  <a:srgbClr val="4E3629"/>
                </a:solidFill>
                <a:latin typeface="Calibri"/>
                <a:cs typeface="Calibri"/>
              </a:rPr>
              <a:t>debajo</a:t>
            </a:r>
            <a:r>
              <a:rPr dirty="0" sz="2800" spc="-5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lista</a:t>
            </a:r>
            <a:r>
              <a:rPr dirty="0" sz="2800" spc="-4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nombres</a:t>
            </a:r>
            <a:r>
              <a:rPr dirty="0" sz="2800" spc="-4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columna</a:t>
            </a:r>
            <a:r>
              <a:rPr dirty="0" sz="2800" spc="-105">
                <a:solidFill>
                  <a:srgbClr val="4E3629"/>
                </a:solidFill>
                <a:latin typeface="Calibri"/>
                <a:cs typeface="Calibri"/>
              </a:rPr>
              <a:t> </a:t>
            </a:r>
            <a:r>
              <a:rPr dirty="0" sz="2800" spc="-10">
                <a:solidFill>
                  <a:srgbClr val="4E3629"/>
                </a:solidFill>
                <a:latin typeface="Calibri"/>
                <a:cs typeface="Calibri"/>
              </a:rPr>
              <a:t>individuales</a:t>
            </a:r>
            <a:endParaRPr sz="2800">
              <a:latin typeface="Calibri"/>
              <a:cs typeface="Calibri"/>
            </a:endParaRPr>
          </a:p>
        </p:txBody>
      </p:sp>
      <p:sp>
        <p:nvSpPr>
          <p:cNvPr id="4" name="object 4" descr=""/>
          <p:cNvSpPr txBox="1"/>
          <p:nvPr/>
        </p:nvSpPr>
        <p:spPr>
          <a:xfrm>
            <a:off x="405384" y="1447800"/>
            <a:ext cx="8345805" cy="1176655"/>
          </a:xfrm>
          <a:prstGeom prst="rect">
            <a:avLst/>
          </a:prstGeom>
          <a:solidFill>
            <a:srgbClr val="9DBEC4">
              <a:alpha val="50199"/>
            </a:srgbClr>
          </a:solidFill>
        </p:spPr>
        <p:txBody>
          <a:bodyPr wrap="square" lIns="0" tIns="12065" rIns="0" bIns="0" rtlCol="0" vert="horz">
            <a:spAutoFit/>
          </a:bodyPr>
          <a:lstStyle/>
          <a:p>
            <a:pPr marR="3968750">
              <a:lnSpc>
                <a:spcPct val="100000"/>
              </a:lnSpc>
              <a:spcBef>
                <a:spcPts val="95"/>
              </a:spcBef>
              <a:tabLst>
                <a:tab pos="2320290" algn="l"/>
                <a:tab pos="2455545" algn="l"/>
              </a:tabLst>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clients </a:t>
            </a:r>
            <a:r>
              <a:rPr dirty="0" sz="1800" b="1">
                <a:solidFill>
                  <a:srgbClr val="4E3629"/>
                </a:solidFill>
                <a:latin typeface="Courier New"/>
                <a:cs typeface="Courier New"/>
              </a:rPr>
              <a:t>(client_number</a:t>
            </a:r>
            <a:r>
              <a:rPr dirty="0" sz="1800" spc="-130" b="1">
                <a:solidFill>
                  <a:srgbClr val="4E3629"/>
                </a:solidFill>
                <a:latin typeface="Courier New"/>
                <a:cs typeface="Courier New"/>
              </a:rPr>
              <a:t> </a:t>
            </a:r>
            <a:r>
              <a:rPr dirty="0" sz="1800" spc="-10" b="1">
                <a:solidFill>
                  <a:srgbClr val="4E3629"/>
                </a:solidFill>
                <a:latin typeface="Courier New"/>
                <a:cs typeface="Courier New"/>
              </a:rPr>
              <a:t>NUMBER(4), first_name</a:t>
            </a:r>
            <a:r>
              <a:rPr dirty="0" sz="1800" b="1">
                <a:solidFill>
                  <a:srgbClr val="4E3629"/>
                </a:solidFill>
                <a:latin typeface="Courier New"/>
                <a:cs typeface="Courier New"/>
              </a:rPr>
              <a:t>		</a:t>
            </a:r>
            <a:r>
              <a:rPr dirty="0" sz="1800" spc="-10" b="1">
                <a:solidFill>
                  <a:srgbClr val="4E3629"/>
                </a:solidFill>
                <a:latin typeface="Courier New"/>
                <a:cs typeface="Courier New"/>
              </a:rPr>
              <a:t>VARCHAR2(14), last_name</a:t>
            </a:r>
            <a:r>
              <a:rPr dirty="0" sz="1800" b="1">
                <a:solidFill>
                  <a:srgbClr val="4E3629"/>
                </a:solidFill>
                <a:latin typeface="Courier New"/>
                <a:cs typeface="Courier New"/>
              </a:rPr>
              <a:t>	</a:t>
            </a:r>
            <a:r>
              <a:rPr dirty="0" sz="1800" spc="-10" b="1">
                <a:solidFill>
                  <a:srgbClr val="4E3629"/>
                </a:solidFill>
                <a:latin typeface="Courier New"/>
                <a:cs typeface="Courier New"/>
              </a:rPr>
              <a:t>VARCHAR2(13));</a:t>
            </a:r>
            <a:endParaRPr sz="1800">
              <a:latin typeface="Courier New"/>
              <a:cs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Restricciones</a:t>
            </a:r>
            <a:r>
              <a:rPr dirty="0" spc="-45"/>
              <a:t> </a:t>
            </a:r>
            <a:r>
              <a:rPr dirty="0"/>
              <a:t>en</a:t>
            </a:r>
            <a:r>
              <a:rPr dirty="0" spc="-60"/>
              <a:t> </a:t>
            </a:r>
            <a:r>
              <a:rPr dirty="0"/>
              <a:t>el</a:t>
            </a:r>
            <a:r>
              <a:rPr dirty="0" spc="-45"/>
              <a:t> </a:t>
            </a:r>
            <a:r>
              <a:rPr dirty="0"/>
              <a:t>Nivel</a:t>
            </a:r>
            <a:r>
              <a:rPr dirty="0" spc="-60"/>
              <a:t> </a:t>
            </a:r>
            <a:r>
              <a:rPr dirty="0"/>
              <a:t>de</a:t>
            </a:r>
            <a:r>
              <a:rPr dirty="0" spc="-40"/>
              <a:t> </a:t>
            </a:r>
            <a:r>
              <a:rPr dirty="0" spc="-10"/>
              <a:t>Columna</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11</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017509" cy="2960370"/>
          </a:xfrm>
          <a:prstGeom prst="rect">
            <a:avLst/>
          </a:prstGeom>
        </p:spPr>
        <p:txBody>
          <a:bodyPr wrap="square" lIns="0" tIns="59690" rIns="0" bIns="0" rtlCol="0" vert="horz">
            <a:spAutoFit/>
          </a:bodyPr>
          <a:lstStyle/>
          <a:p>
            <a:pPr marL="159385" marR="121285"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7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restricción</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nivel</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hace</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referencia</a:t>
            </a:r>
            <a:r>
              <a:rPr dirty="0" u="heavy" sz="2800" spc="-60">
                <a:solidFill>
                  <a:srgbClr val="4E3629"/>
                </a:solidFill>
                <a:uFill>
                  <a:solidFill>
                    <a:srgbClr val="EC2814"/>
                  </a:solidFill>
                </a:uFill>
                <a:latin typeface="Calibri"/>
                <a:cs typeface="Calibri"/>
              </a:rPr>
              <a:t> </a:t>
            </a:r>
            <a:r>
              <a:rPr dirty="0" u="heavy" sz="2800" spc="-50">
                <a:solidFill>
                  <a:srgbClr val="4E3629"/>
                </a:solidFill>
                <a:uFill>
                  <a:solidFill>
                    <a:srgbClr val="EC2814"/>
                  </a:solidFill>
                </a:uFill>
                <a:latin typeface="Calibri"/>
                <a:cs typeface="Calibri"/>
              </a:rPr>
              <a:t>a</a:t>
            </a:r>
            <a:r>
              <a:rPr dirty="0" sz="2800" spc="-50">
                <a:solidFill>
                  <a:srgbClr val="4E3629"/>
                </a:solidFill>
                <a:latin typeface="Calibri"/>
                <a:cs typeface="Calibri"/>
              </a:rPr>
              <a:t> </a:t>
            </a:r>
            <a:r>
              <a:rPr dirty="0" sz="2800" spc="-50">
                <a:solidFill>
                  <a:srgbClr val="4E3629"/>
                </a:solidFill>
                <a:latin typeface="Calibri"/>
                <a:cs typeface="Calibri"/>
              </a:rPr>
              <a:t>	</a:t>
            </a:r>
            <a:r>
              <a:rPr dirty="0" u="heavy" sz="2800">
                <a:solidFill>
                  <a:srgbClr val="4E3629"/>
                </a:solidFill>
                <a:uFill>
                  <a:solidFill>
                    <a:srgbClr val="EC2814"/>
                  </a:solidFill>
                </a:uFill>
                <a:latin typeface="Calibri"/>
                <a:cs typeface="Calibri"/>
              </a:rPr>
              <a:t>una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única</a:t>
            </a:r>
            <a:r>
              <a:rPr dirty="0" u="heavy" sz="2800" spc="-4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columna</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spc="-10">
                <a:solidFill>
                  <a:srgbClr val="4E3629"/>
                </a:solidFill>
                <a:latin typeface="Calibri"/>
                <a:cs typeface="Calibri"/>
              </a:rPr>
              <a:t>Para</a:t>
            </a:r>
            <a:r>
              <a:rPr dirty="0" sz="2800" spc="-75">
                <a:solidFill>
                  <a:srgbClr val="4E3629"/>
                </a:solidFill>
                <a:latin typeface="Calibri"/>
                <a:cs typeface="Calibri"/>
              </a:rPr>
              <a:t> </a:t>
            </a:r>
            <a:r>
              <a:rPr dirty="0" sz="2800">
                <a:solidFill>
                  <a:srgbClr val="4E3629"/>
                </a:solidFill>
                <a:latin typeface="Calibri"/>
                <a:cs typeface="Calibri"/>
              </a:rPr>
              <a:t>establecer</a:t>
            </a:r>
            <a:r>
              <a:rPr dirty="0" sz="2800" spc="-70">
                <a:solidFill>
                  <a:srgbClr val="4E3629"/>
                </a:solidFill>
                <a:latin typeface="Calibri"/>
                <a:cs typeface="Calibri"/>
              </a:rPr>
              <a:t> </a:t>
            </a:r>
            <a:r>
              <a:rPr dirty="0" sz="2800">
                <a:solidFill>
                  <a:srgbClr val="4E3629"/>
                </a:solidFill>
                <a:latin typeface="Calibri"/>
                <a:cs typeface="Calibri"/>
              </a:rPr>
              <a:t>una</a:t>
            </a:r>
            <a:r>
              <a:rPr dirty="0" sz="2800" spc="-55">
                <a:solidFill>
                  <a:srgbClr val="4E3629"/>
                </a:solidFill>
                <a:latin typeface="Calibri"/>
                <a:cs typeface="Calibri"/>
              </a:rPr>
              <a:t> </a:t>
            </a:r>
            <a:r>
              <a:rPr dirty="0" sz="2800" spc="-10">
                <a:solidFill>
                  <a:srgbClr val="4E3629"/>
                </a:solidFill>
                <a:latin typeface="Calibri"/>
                <a:cs typeface="Calibri"/>
              </a:rPr>
              <a:t>restricción</a:t>
            </a:r>
            <a:r>
              <a:rPr dirty="0" sz="2800" spc="-6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nivel</a:t>
            </a:r>
            <a:r>
              <a:rPr dirty="0" sz="2800" spc="-75">
                <a:solidFill>
                  <a:srgbClr val="4E3629"/>
                </a:solidFill>
                <a:latin typeface="Calibri"/>
                <a:cs typeface="Calibri"/>
              </a:rPr>
              <a:t> </a:t>
            </a:r>
            <a:r>
              <a:rPr dirty="0" sz="2800">
                <a:solidFill>
                  <a:srgbClr val="4E3629"/>
                </a:solidFill>
                <a:latin typeface="Calibri"/>
                <a:cs typeface="Calibri"/>
              </a:rPr>
              <a:t>de</a:t>
            </a:r>
            <a:r>
              <a:rPr dirty="0" sz="2800" spc="-80">
                <a:solidFill>
                  <a:srgbClr val="4E3629"/>
                </a:solidFill>
                <a:latin typeface="Calibri"/>
                <a:cs typeface="Calibri"/>
              </a:rPr>
              <a:t> </a:t>
            </a:r>
            <a:r>
              <a:rPr dirty="0" sz="2800">
                <a:solidFill>
                  <a:srgbClr val="4E3629"/>
                </a:solidFill>
                <a:latin typeface="Calibri"/>
                <a:cs typeface="Calibri"/>
              </a:rPr>
              <a:t>columna,</a:t>
            </a:r>
            <a:r>
              <a:rPr dirty="0" sz="2800" spc="-5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spc="-10">
                <a:solidFill>
                  <a:srgbClr val="4E3629"/>
                </a:solidFill>
                <a:latin typeface="Calibri"/>
                <a:cs typeface="Calibri"/>
              </a:rPr>
              <a:t>restricción</a:t>
            </a:r>
            <a:r>
              <a:rPr dirty="0" sz="2800" spc="-40">
                <a:solidFill>
                  <a:srgbClr val="4E3629"/>
                </a:solidFill>
                <a:latin typeface="Calibri"/>
                <a:cs typeface="Calibri"/>
              </a:rPr>
              <a:t> </a:t>
            </a:r>
            <a:r>
              <a:rPr dirty="0" sz="2800">
                <a:solidFill>
                  <a:srgbClr val="4E3629"/>
                </a:solidFill>
                <a:latin typeface="Calibri"/>
                <a:cs typeface="Calibri"/>
              </a:rPr>
              <a:t>se</a:t>
            </a:r>
            <a:r>
              <a:rPr dirty="0" sz="2800" spc="-40">
                <a:solidFill>
                  <a:srgbClr val="4E3629"/>
                </a:solidFill>
                <a:latin typeface="Calibri"/>
                <a:cs typeface="Calibri"/>
              </a:rPr>
              <a:t> </a:t>
            </a:r>
            <a:r>
              <a:rPr dirty="0" sz="2800">
                <a:solidFill>
                  <a:srgbClr val="4E3629"/>
                </a:solidFill>
                <a:latin typeface="Calibri"/>
                <a:cs typeface="Calibri"/>
              </a:rPr>
              <a:t>debe</a:t>
            </a:r>
            <a:r>
              <a:rPr dirty="0" sz="2800" spc="-40">
                <a:solidFill>
                  <a:srgbClr val="4E3629"/>
                </a:solidFill>
                <a:latin typeface="Calibri"/>
                <a:cs typeface="Calibri"/>
              </a:rPr>
              <a:t> </a:t>
            </a:r>
            <a:r>
              <a:rPr dirty="0" sz="2800">
                <a:solidFill>
                  <a:srgbClr val="4E3629"/>
                </a:solidFill>
                <a:latin typeface="Calibri"/>
                <a:cs typeface="Calibri"/>
              </a:rPr>
              <a:t>definir</a:t>
            </a:r>
            <a:r>
              <a:rPr dirty="0" sz="2800" spc="-35">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sentencia</a:t>
            </a:r>
            <a:r>
              <a:rPr dirty="0" sz="2800" spc="-35">
                <a:solidFill>
                  <a:srgbClr val="4E3629"/>
                </a:solidFill>
                <a:latin typeface="Calibri"/>
                <a:cs typeface="Calibri"/>
              </a:rPr>
              <a:t> </a:t>
            </a:r>
            <a:r>
              <a:rPr dirty="0" sz="2800" spc="-10">
                <a:solidFill>
                  <a:srgbClr val="4E3629"/>
                </a:solidFill>
                <a:latin typeface="Calibri"/>
                <a:cs typeface="Calibri"/>
              </a:rPr>
              <a:t>CREATE</a:t>
            </a:r>
            <a:endParaRPr sz="2800">
              <a:latin typeface="Calibri"/>
              <a:cs typeface="Calibri"/>
            </a:endParaRPr>
          </a:p>
          <a:p>
            <a:pPr marL="184785">
              <a:lnSpc>
                <a:spcPts val="2975"/>
              </a:lnSpc>
            </a:pPr>
            <a:r>
              <a:rPr dirty="0" sz="2800" spc="-30">
                <a:solidFill>
                  <a:srgbClr val="4E3629"/>
                </a:solidFill>
                <a:latin typeface="Calibri"/>
                <a:cs typeface="Calibri"/>
              </a:rPr>
              <a:t>TABLE</a:t>
            </a:r>
            <a:r>
              <a:rPr dirty="0" sz="2800" spc="-75">
                <a:solidFill>
                  <a:srgbClr val="4E3629"/>
                </a:solidFill>
                <a:latin typeface="Calibri"/>
                <a:cs typeface="Calibri"/>
              </a:rPr>
              <a:t> </a:t>
            </a:r>
            <a:r>
              <a:rPr dirty="0" sz="2800">
                <a:solidFill>
                  <a:srgbClr val="4E3629"/>
                </a:solidFill>
                <a:latin typeface="Calibri"/>
                <a:cs typeface="Calibri"/>
              </a:rPr>
              <a:t>como</a:t>
            </a:r>
            <a:r>
              <a:rPr dirty="0" sz="2800" spc="-50">
                <a:solidFill>
                  <a:srgbClr val="4E3629"/>
                </a:solidFill>
                <a:latin typeface="Calibri"/>
                <a:cs typeface="Calibri"/>
              </a:rPr>
              <a:t> </a:t>
            </a:r>
            <a:r>
              <a:rPr dirty="0" sz="2800">
                <a:solidFill>
                  <a:srgbClr val="4E3629"/>
                </a:solidFill>
                <a:latin typeface="Calibri"/>
                <a:cs typeface="Calibri"/>
              </a:rPr>
              <a:t>parte</a:t>
            </a:r>
            <a:r>
              <a:rPr dirty="0" sz="2800" spc="-6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definición</a:t>
            </a:r>
            <a:r>
              <a:rPr dirty="0" sz="2800" spc="-3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10">
                <a:solidFill>
                  <a:srgbClr val="4E3629"/>
                </a:solidFill>
                <a:latin typeface="Calibri"/>
                <a:cs typeface="Calibri"/>
              </a:rPr>
              <a:t>columna</a:t>
            </a:r>
            <a:endParaRPr sz="2800">
              <a:latin typeface="Calibri"/>
              <a:cs typeface="Calibri"/>
            </a:endParaRPr>
          </a:p>
          <a:p>
            <a:pPr marL="182880" marR="88265" indent="-170815">
              <a:lnSpc>
                <a:spcPts val="3030"/>
              </a:lnSpc>
              <a:spcBef>
                <a:spcPts val="840"/>
              </a:spcBef>
              <a:buClr>
                <a:srgbClr val="D1350F"/>
              </a:buClr>
              <a:buFont typeface="Arial MT"/>
              <a:buChar char="•"/>
              <a:tabLst>
                <a:tab pos="184785" algn="l"/>
              </a:tabLst>
            </a:pPr>
            <a:r>
              <a:rPr dirty="0" sz="2800">
                <a:solidFill>
                  <a:srgbClr val="4E3629"/>
                </a:solidFill>
                <a:latin typeface="Calibri"/>
                <a:cs typeface="Calibri"/>
              </a:rPr>
              <a:t>Examine</a:t>
            </a:r>
            <a:r>
              <a:rPr dirty="0" sz="2800" spc="-95">
                <a:solidFill>
                  <a:srgbClr val="4E3629"/>
                </a:solidFill>
                <a:latin typeface="Calibri"/>
                <a:cs typeface="Calibri"/>
              </a:rPr>
              <a:t> </a:t>
            </a:r>
            <a:r>
              <a:rPr dirty="0" sz="2800">
                <a:solidFill>
                  <a:srgbClr val="4E3629"/>
                </a:solidFill>
                <a:latin typeface="Calibri"/>
                <a:cs typeface="Calibri"/>
              </a:rPr>
              <a:t>la</a:t>
            </a:r>
            <a:r>
              <a:rPr dirty="0" sz="2800" spc="-95">
                <a:solidFill>
                  <a:srgbClr val="4E3629"/>
                </a:solidFill>
                <a:latin typeface="Calibri"/>
                <a:cs typeface="Calibri"/>
              </a:rPr>
              <a:t> </a:t>
            </a:r>
            <a:r>
              <a:rPr dirty="0" sz="2800">
                <a:solidFill>
                  <a:srgbClr val="4E3629"/>
                </a:solidFill>
                <a:latin typeface="Calibri"/>
                <a:cs typeface="Calibri"/>
              </a:rPr>
              <a:t>siguiente</a:t>
            </a:r>
            <a:r>
              <a:rPr dirty="0" sz="2800" spc="-80">
                <a:solidFill>
                  <a:srgbClr val="4E3629"/>
                </a:solidFill>
                <a:latin typeface="Calibri"/>
                <a:cs typeface="Calibri"/>
              </a:rPr>
              <a:t> </a:t>
            </a:r>
            <a:r>
              <a:rPr dirty="0" sz="2800">
                <a:solidFill>
                  <a:srgbClr val="4E3629"/>
                </a:solidFill>
                <a:latin typeface="Calibri"/>
                <a:cs typeface="Calibri"/>
              </a:rPr>
              <a:t>sentencia</a:t>
            </a:r>
            <a:r>
              <a:rPr dirty="0" sz="2800" spc="-80">
                <a:solidFill>
                  <a:srgbClr val="4E3629"/>
                </a:solidFill>
                <a:latin typeface="Calibri"/>
                <a:cs typeface="Calibri"/>
              </a:rPr>
              <a:t> </a:t>
            </a:r>
            <a:r>
              <a:rPr dirty="0" sz="2800">
                <a:solidFill>
                  <a:srgbClr val="4E3629"/>
                </a:solidFill>
                <a:latin typeface="Calibri"/>
                <a:cs typeface="Calibri"/>
              </a:rPr>
              <a:t>SQL</a:t>
            </a:r>
            <a:r>
              <a:rPr dirty="0" sz="2800" spc="-95">
                <a:solidFill>
                  <a:srgbClr val="4E3629"/>
                </a:solidFill>
                <a:latin typeface="Calibri"/>
                <a:cs typeface="Calibri"/>
              </a:rPr>
              <a:t> </a:t>
            </a:r>
            <a:r>
              <a:rPr dirty="0" sz="2800">
                <a:solidFill>
                  <a:srgbClr val="4E3629"/>
                </a:solidFill>
                <a:latin typeface="Calibri"/>
                <a:cs typeface="Calibri"/>
              </a:rPr>
              <a:t>que</a:t>
            </a:r>
            <a:r>
              <a:rPr dirty="0" sz="2800" spc="-70">
                <a:solidFill>
                  <a:srgbClr val="4E3629"/>
                </a:solidFill>
                <a:latin typeface="Calibri"/>
                <a:cs typeface="Calibri"/>
              </a:rPr>
              <a:t> </a:t>
            </a:r>
            <a:r>
              <a:rPr dirty="0" sz="2800">
                <a:solidFill>
                  <a:srgbClr val="4E3629"/>
                </a:solidFill>
                <a:latin typeface="Calibri"/>
                <a:cs typeface="Calibri"/>
              </a:rPr>
              <a:t>establece</a:t>
            </a:r>
            <a:r>
              <a:rPr dirty="0" sz="2800" spc="-85">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spc="-10">
                <a:solidFill>
                  <a:srgbClr val="4E3629"/>
                </a:solidFill>
                <a:latin typeface="Calibri"/>
                <a:cs typeface="Calibri"/>
              </a:rPr>
              <a:t>restricción</a:t>
            </a:r>
            <a:r>
              <a:rPr dirty="0" sz="2800" spc="-25">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a:solidFill>
                  <a:srgbClr val="4E3629"/>
                </a:solidFill>
                <a:latin typeface="Calibri"/>
                <a:cs typeface="Calibri"/>
              </a:rPr>
              <a:t>nivel</a:t>
            </a:r>
            <a:r>
              <a:rPr dirty="0" sz="2800" spc="-35">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spc="-10">
                <a:solidFill>
                  <a:srgbClr val="4E3629"/>
                </a:solidFill>
                <a:latin typeface="Calibri"/>
                <a:cs typeface="Calibri"/>
              </a:rPr>
              <a:t>columna</a:t>
            </a:r>
            <a:endParaRPr sz="2800">
              <a:latin typeface="Calibri"/>
              <a:cs typeface="Calibri"/>
            </a:endParaRPr>
          </a:p>
        </p:txBody>
      </p:sp>
      <p:sp>
        <p:nvSpPr>
          <p:cNvPr id="4" name="object 4" descr=""/>
          <p:cNvSpPr txBox="1"/>
          <p:nvPr/>
        </p:nvSpPr>
        <p:spPr>
          <a:xfrm>
            <a:off x="417576" y="4495800"/>
            <a:ext cx="8345805" cy="1327785"/>
          </a:xfrm>
          <a:prstGeom prst="rect">
            <a:avLst/>
          </a:prstGeom>
          <a:solidFill>
            <a:srgbClr val="9DBEC4">
              <a:alpha val="50199"/>
            </a:srgbClr>
          </a:solidFill>
        </p:spPr>
        <p:txBody>
          <a:bodyPr wrap="square" lIns="0" tIns="0" rIns="0" bIns="0" rtlCol="0" vert="horz">
            <a:spAutoFit/>
          </a:bodyPr>
          <a:lstStyle/>
          <a:p>
            <a:pPr>
              <a:lnSpc>
                <a:spcPts val="1770"/>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clients</a:t>
            </a:r>
            <a:endParaRPr sz="1800">
              <a:latin typeface="Courier New"/>
              <a:cs typeface="Courier New"/>
            </a:endParaRPr>
          </a:p>
          <a:p>
            <a:pPr>
              <a:lnSpc>
                <a:spcPct val="100000"/>
              </a:lnSpc>
            </a:pPr>
            <a:r>
              <a:rPr dirty="0" sz="1800" b="1">
                <a:solidFill>
                  <a:srgbClr val="4E3629"/>
                </a:solidFill>
                <a:latin typeface="Courier New"/>
                <a:cs typeface="Courier New"/>
              </a:rPr>
              <a:t>(client_number</a:t>
            </a:r>
            <a:r>
              <a:rPr dirty="0" sz="1800" spc="-120" b="1">
                <a:solidFill>
                  <a:srgbClr val="4E3629"/>
                </a:solidFill>
                <a:latin typeface="Courier New"/>
                <a:cs typeface="Courier New"/>
              </a:rPr>
              <a:t> </a:t>
            </a:r>
            <a:r>
              <a:rPr dirty="0" sz="1800" b="1">
                <a:solidFill>
                  <a:srgbClr val="4E3629"/>
                </a:solidFill>
                <a:latin typeface="Courier New"/>
                <a:cs typeface="Courier New"/>
              </a:rPr>
              <a:t>NUMBER(4)</a:t>
            </a:r>
            <a:r>
              <a:rPr dirty="0" sz="1800" spc="-110" b="1">
                <a:solidFill>
                  <a:srgbClr val="4E3629"/>
                </a:solidFill>
                <a:latin typeface="Courier New"/>
                <a:cs typeface="Courier New"/>
              </a:rPr>
              <a:t> </a:t>
            </a:r>
            <a:r>
              <a:rPr dirty="0" sz="1800" b="1">
                <a:solidFill>
                  <a:srgbClr val="D1350F"/>
                </a:solidFill>
                <a:latin typeface="Courier New"/>
                <a:cs typeface="Courier New"/>
              </a:rPr>
              <a:t>CONSTRAINT</a:t>
            </a:r>
            <a:r>
              <a:rPr dirty="0" sz="1800" spc="-105" b="1">
                <a:solidFill>
                  <a:srgbClr val="D1350F"/>
                </a:solidFill>
                <a:latin typeface="Courier New"/>
                <a:cs typeface="Courier New"/>
              </a:rPr>
              <a:t> </a:t>
            </a:r>
            <a:r>
              <a:rPr dirty="0" sz="1800" spc="-10" b="1">
                <a:solidFill>
                  <a:srgbClr val="D1350F"/>
                </a:solidFill>
                <a:latin typeface="Courier New"/>
                <a:cs typeface="Courier New"/>
              </a:rPr>
              <a:t>clients_client_num_pk</a:t>
            </a:r>
            <a:endParaRPr sz="1800">
              <a:latin typeface="Courier New"/>
              <a:cs typeface="Courier New"/>
            </a:endParaRPr>
          </a:p>
          <a:p>
            <a:pPr marL="6400165">
              <a:lnSpc>
                <a:spcPct val="100000"/>
              </a:lnSpc>
            </a:pPr>
            <a:r>
              <a:rPr dirty="0" sz="1800" b="1">
                <a:solidFill>
                  <a:srgbClr val="D1350F"/>
                </a:solidFill>
                <a:latin typeface="Courier New"/>
                <a:cs typeface="Courier New"/>
              </a:rPr>
              <a:t>PRIMARY</a:t>
            </a:r>
            <a:r>
              <a:rPr dirty="0" sz="1800" spc="-65" b="1">
                <a:solidFill>
                  <a:srgbClr val="D1350F"/>
                </a:solidFill>
                <a:latin typeface="Courier New"/>
                <a:cs typeface="Courier New"/>
              </a:rPr>
              <a:t> </a:t>
            </a:r>
            <a:r>
              <a:rPr dirty="0" sz="1800" spc="-20" b="1">
                <a:solidFill>
                  <a:srgbClr val="D1350F"/>
                </a:solidFill>
                <a:latin typeface="Courier New"/>
                <a:cs typeface="Courier New"/>
              </a:rPr>
              <a:t>KEY,</a:t>
            </a:r>
            <a:endParaRPr sz="1800">
              <a:latin typeface="Courier New"/>
              <a:cs typeface="Courier New"/>
            </a:endParaRPr>
          </a:p>
          <a:p>
            <a:pPr marL="136525" marR="3968115">
              <a:lnSpc>
                <a:spcPct val="100000"/>
              </a:lnSpc>
              <a:tabLst>
                <a:tab pos="2457450" algn="l"/>
                <a:tab pos="2593340" algn="l"/>
              </a:tabLst>
            </a:pPr>
            <a:r>
              <a:rPr dirty="0" sz="1800" spc="-10" b="1">
                <a:solidFill>
                  <a:srgbClr val="4E3629"/>
                </a:solidFill>
                <a:latin typeface="Courier New"/>
                <a:cs typeface="Courier New"/>
              </a:rPr>
              <a:t>first_name</a:t>
            </a:r>
            <a:r>
              <a:rPr dirty="0" sz="1800" b="1">
                <a:solidFill>
                  <a:srgbClr val="4E3629"/>
                </a:solidFill>
                <a:latin typeface="Courier New"/>
                <a:cs typeface="Courier New"/>
              </a:rPr>
              <a:t>		</a:t>
            </a:r>
            <a:r>
              <a:rPr dirty="0" sz="1800" spc="-10" b="1">
                <a:solidFill>
                  <a:srgbClr val="4E3629"/>
                </a:solidFill>
                <a:latin typeface="Courier New"/>
                <a:cs typeface="Courier New"/>
              </a:rPr>
              <a:t>VARCHAR2(14), last_name</a:t>
            </a:r>
            <a:r>
              <a:rPr dirty="0" sz="1800" b="1">
                <a:solidFill>
                  <a:srgbClr val="4E3629"/>
                </a:solidFill>
                <a:latin typeface="Courier New"/>
                <a:cs typeface="Courier New"/>
              </a:rPr>
              <a:t>	</a:t>
            </a:r>
            <a:r>
              <a:rPr dirty="0" sz="1800" spc="-10" b="1">
                <a:solidFill>
                  <a:srgbClr val="4E3629"/>
                </a:solidFill>
                <a:latin typeface="Courier New"/>
                <a:cs typeface="Courier New"/>
              </a:rPr>
              <a:t>VARCHAR2(13));</a:t>
            </a:r>
            <a:endParaRPr sz="1800">
              <a:latin typeface="Courier New"/>
              <a:cs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Restricciones</a:t>
            </a:r>
            <a:r>
              <a:rPr dirty="0" spc="-45"/>
              <a:t> </a:t>
            </a:r>
            <a:r>
              <a:rPr dirty="0"/>
              <a:t>en</a:t>
            </a:r>
            <a:r>
              <a:rPr dirty="0" spc="-60"/>
              <a:t> </a:t>
            </a:r>
            <a:r>
              <a:rPr dirty="0"/>
              <a:t>el</a:t>
            </a:r>
            <a:r>
              <a:rPr dirty="0" spc="-45"/>
              <a:t> </a:t>
            </a:r>
            <a:r>
              <a:rPr dirty="0"/>
              <a:t>Nivel</a:t>
            </a:r>
            <a:r>
              <a:rPr dirty="0" spc="-60"/>
              <a:t> </a:t>
            </a:r>
            <a:r>
              <a:rPr dirty="0"/>
              <a:t>de</a:t>
            </a:r>
            <a:r>
              <a:rPr dirty="0" spc="-40"/>
              <a:t> </a:t>
            </a:r>
            <a:r>
              <a:rPr dirty="0" spc="-10"/>
              <a:t>Columna</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12</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3328670"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spc="-30">
                <a:solidFill>
                  <a:srgbClr val="4E3629"/>
                </a:solidFill>
                <a:latin typeface="Calibri"/>
                <a:cs typeface="Calibri"/>
              </a:rPr>
              <a:t>CREATE</a:t>
            </a:r>
            <a:r>
              <a:rPr dirty="0" sz="2800" spc="-130">
                <a:solidFill>
                  <a:srgbClr val="4E3629"/>
                </a:solidFill>
                <a:latin typeface="Calibri"/>
                <a:cs typeface="Calibri"/>
              </a:rPr>
              <a:t> </a:t>
            </a:r>
            <a:r>
              <a:rPr dirty="0" sz="2800" spc="-25">
                <a:solidFill>
                  <a:srgbClr val="4E3629"/>
                </a:solidFill>
                <a:latin typeface="Calibri"/>
                <a:cs typeface="Calibri"/>
              </a:rPr>
              <a:t>TABLE</a:t>
            </a:r>
            <a:r>
              <a:rPr dirty="0" sz="2800" spc="-110">
                <a:solidFill>
                  <a:srgbClr val="4E3629"/>
                </a:solidFill>
                <a:latin typeface="Calibri"/>
                <a:cs typeface="Calibri"/>
              </a:rPr>
              <a:t> </a:t>
            </a:r>
            <a:r>
              <a:rPr dirty="0" sz="2800" spc="-10">
                <a:solidFill>
                  <a:srgbClr val="4E3629"/>
                </a:solidFill>
                <a:latin typeface="Calibri"/>
                <a:cs typeface="Calibri"/>
              </a:rPr>
              <a:t>clients:</a:t>
            </a:r>
            <a:endParaRPr sz="2800">
              <a:latin typeface="Calibri"/>
              <a:cs typeface="Calibri"/>
            </a:endParaRPr>
          </a:p>
        </p:txBody>
      </p:sp>
      <p:sp>
        <p:nvSpPr>
          <p:cNvPr id="4" name="object 4" descr=""/>
          <p:cNvSpPr txBox="1"/>
          <p:nvPr/>
        </p:nvSpPr>
        <p:spPr>
          <a:xfrm>
            <a:off x="483552" y="3298471"/>
            <a:ext cx="7973059" cy="1382395"/>
          </a:xfrm>
          <a:prstGeom prst="rect">
            <a:avLst/>
          </a:prstGeom>
        </p:spPr>
        <p:txBody>
          <a:bodyPr wrap="square" lIns="0" tIns="71755" rIns="0" bIns="0" rtlCol="0" vert="horz">
            <a:spAutoFit/>
          </a:bodyPr>
          <a:lstStyle/>
          <a:p>
            <a:pPr marL="183515" indent="-170815">
              <a:lnSpc>
                <a:spcPct val="100000"/>
              </a:lnSpc>
              <a:spcBef>
                <a:spcPts val="565"/>
              </a:spcBef>
              <a:buClr>
                <a:srgbClr val="D1350F"/>
              </a:buClr>
              <a:buFont typeface="Arial MT"/>
              <a:buChar char="•"/>
              <a:tabLst>
                <a:tab pos="183515" algn="l"/>
              </a:tabLst>
            </a:pP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nombre</a:t>
            </a:r>
            <a:r>
              <a:rPr dirty="0" sz="2800" spc="-25">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restricción</a:t>
            </a:r>
            <a:r>
              <a:rPr dirty="0" sz="2800" spc="-20">
                <a:solidFill>
                  <a:srgbClr val="4E3629"/>
                </a:solidFill>
                <a:latin typeface="Calibri"/>
                <a:cs typeface="Calibri"/>
              </a:rPr>
              <a:t> </a:t>
            </a:r>
            <a:r>
              <a:rPr dirty="0" sz="2800">
                <a:solidFill>
                  <a:srgbClr val="4E3629"/>
                </a:solidFill>
                <a:latin typeface="Calibri"/>
                <a:cs typeface="Calibri"/>
              </a:rPr>
              <a:t>es</a:t>
            </a:r>
            <a:r>
              <a:rPr dirty="0" sz="2800" spc="-40">
                <a:solidFill>
                  <a:srgbClr val="4E3629"/>
                </a:solidFill>
                <a:latin typeface="Calibri"/>
                <a:cs typeface="Calibri"/>
              </a:rPr>
              <a:t> </a:t>
            </a:r>
            <a:r>
              <a:rPr dirty="0" sz="2800" spc="-10">
                <a:solidFill>
                  <a:srgbClr val="4E3629"/>
                </a:solidFill>
                <a:latin typeface="Calibri"/>
                <a:cs typeface="Calibri"/>
              </a:rPr>
              <a:t>clients_client_num_pk</a:t>
            </a:r>
            <a:endParaRPr sz="2800">
              <a:latin typeface="Calibri"/>
              <a:cs typeface="Calibri"/>
            </a:endParaRPr>
          </a:p>
          <a:p>
            <a:pPr marL="182880" marR="5080" indent="-170815">
              <a:lnSpc>
                <a:spcPts val="3030"/>
              </a:lnSpc>
              <a:spcBef>
                <a:spcPts val="844"/>
              </a:spcBef>
              <a:buClr>
                <a:srgbClr val="D1350F"/>
              </a:buClr>
              <a:buFont typeface="Arial MT"/>
              <a:buChar char="•"/>
              <a:tabLst>
                <a:tab pos="184785" algn="l"/>
              </a:tabLst>
            </a:pPr>
            <a:r>
              <a:rPr dirty="0" sz="2800">
                <a:solidFill>
                  <a:srgbClr val="4E3629"/>
                </a:solidFill>
                <a:latin typeface="Calibri"/>
                <a:cs typeface="Calibri"/>
              </a:rPr>
              <a:t>Se</a:t>
            </a:r>
            <a:r>
              <a:rPr dirty="0" sz="2800" spc="-45">
                <a:solidFill>
                  <a:srgbClr val="4E3629"/>
                </a:solidFill>
                <a:latin typeface="Calibri"/>
                <a:cs typeface="Calibri"/>
              </a:rPr>
              <a:t> </a:t>
            </a:r>
            <a:r>
              <a:rPr dirty="0" sz="2800">
                <a:solidFill>
                  <a:srgbClr val="4E3629"/>
                </a:solidFill>
                <a:latin typeface="Calibri"/>
                <a:cs typeface="Calibri"/>
              </a:rPr>
              <a:t>aplica</a:t>
            </a:r>
            <a:r>
              <a:rPr dirty="0" sz="2800" spc="-35">
                <a:solidFill>
                  <a:srgbClr val="4E3629"/>
                </a:solidFill>
                <a:latin typeface="Calibri"/>
                <a:cs typeface="Calibri"/>
              </a:rPr>
              <a:t> </a:t>
            </a:r>
            <a:r>
              <a:rPr dirty="0" sz="2800">
                <a:solidFill>
                  <a:srgbClr val="4E3629"/>
                </a:solidFill>
                <a:latin typeface="Calibri"/>
                <a:cs typeface="Calibri"/>
              </a:rPr>
              <a:t>la</a:t>
            </a:r>
            <a:r>
              <a:rPr dirty="0" sz="2800" spc="-35">
                <a:solidFill>
                  <a:srgbClr val="4E3629"/>
                </a:solidFill>
                <a:latin typeface="Calibri"/>
                <a:cs typeface="Calibri"/>
              </a:rPr>
              <a:t> </a:t>
            </a:r>
            <a:r>
              <a:rPr dirty="0" sz="2800">
                <a:solidFill>
                  <a:srgbClr val="4E3629"/>
                </a:solidFill>
                <a:latin typeface="Calibri"/>
                <a:cs typeface="Calibri"/>
              </a:rPr>
              <a:t>regla</a:t>
            </a:r>
            <a:r>
              <a:rPr dirty="0" sz="2800" spc="-45">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a:solidFill>
                  <a:srgbClr val="4E3629"/>
                </a:solidFill>
                <a:latin typeface="Calibri"/>
                <a:cs typeface="Calibri"/>
              </a:rPr>
              <a:t>negocio</a:t>
            </a:r>
            <a:r>
              <a:rPr dirty="0" sz="2800" spc="-40">
                <a:solidFill>
                  <a:srgbClr val="4E3629"/>
                </a:solidFill>
                <a:latin typeface="Calibri"/>
                <a:cs typeface="Calibri"/>
              </a:rPr>
              <a:t> </a:t>
            </a:r>
            <a:r>
              <a:rPr dirty="0" sz="2800">
                <a:solidFill>
                  <a:srgbClr val="4E3629"/>
                </a:solidFill>
                <a:latin typeface="Calibri"/>
                <a:cs typeface="Calibri"/>
              </a:rPr>
              <a:t>por</a:t>
            </a:r>
            <a:r>
              <a:rPr dirty="0" sz="2800" spc="-30">
                <a:solidFill>
                  <a:srgbClr val="4E3629"/>
                </a:solidFill>
                <a:latin typeface="Calibri"/>
                <a:cs typeface="Calibri"/>
              </a:rPr>
              <a:t> </a:t>
            </a:r>
            <a:r>
              <a:rPr dirty="0" sz="2800">
                <a:solidFill>
                  <a:srgbClr val="4E3629"/>
                </a:solidFill>
                <a:latin typeface="Calibri"/>
                <a:cs typeface="Calibri"/>
              </a:rPr>
              <a:t>la</a:t>
            </a:r>
            <a:r>
              <a:rPr dirty="0" sz="2800" spc="-35">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spc="-10">
                <a:solidFill>
                  <a:srgbClr val="4E3629"/>
                </a:solidFill>
                <a:latin typeface="Calibri"/>
                <a:cs typeface="Calibri"/>
              </a:rPr>
              <a:t>client_number </a:t>
            </a:r>
            <a:r>
              <a:rPr dirty="0" sz="2800" spc="-10">
                <a:solidFill>
                  <a:srgbClr val="4E3629"/>
                </a:solidFill>
                <a:latin typeface="Calibri"/>
                <a:cs typeface="Calibri"/>
              </a:rPr>
              <a:t>	</a:t>
            </a:r>
            <a:r>
              <a:rPr dirty="0" sz="2800">
                <a:solidFill>
                  <a:srgbClr val="4E3629"/>
                </a:solidFill>
                <a:latin typeface="Calibri"/>
                <a:cs typeface="Calibri"/>
              </a:rPr>
              <a:t>es</a:t>
            </a:r>
            <a:r>
              <a:rPr dirty="0" sz="2800" spc="-45">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a:solidFill>
                  <a:srgbClr val="4E3629"/>
                </a:solidFill>
                <a:latin typeface="Calibri"/>
                <a:cs typeface="Calibri"/>
              </a:rPr>
              <a:t>clave</a:t>
            </a:r>
            <a:r>
              <a:rPr dirty="0" sz="2800" spc="-50">
                <a:solidFill>
                  <a:srgbClr val="4E3629"/>
                </a:solidFill>
                <a:latin typeface="Calibri"/>
                <a:cs typeface="Calibri"/>
              </a:rPr>
              <a:t> </a:t>
            </a:r>
            <a:r>
              <a:rPr dirty="0" sz="2800">
                <a:solidFill>
                  <a:srgbClr val="4E3629"/>
                </a:solidFill>
                <a:latin typeface="Calibri"/>
                <a:cs typeface="Calibri"/>
              </a:rPr>
              <a:t>primaria</a:t>
            </a:r>
            <a:r>
              <a:rPr dirty="0" sz="2800" spc="-1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la</a:t>
            </a:r>
            <a:r>
              <a:rPr dirty="0" sz="2800" spc="-35">
                <a:solidFill>
                  <a:srgbClr val="4E3629"/>
                </a:solidFill>
                <a:latin typeface="Calibri"/>
                <a:cs typeface="Calibri"/>
              </a:rPr>
              <a:t> </a:t>
            </a:r>
            <a:r>
              <a:rPr dirty="0" sz="2800">
                <a:solidFill>
                  <a:srgbClr val="4E3629"/>
                </a:solidFill>
                <a:latin typeface="Calibri"/>
                <a:cs typeface="Calibri"/>
              </a:rPr>
              <a:t>tabla</a:t>
            </a:r>
            <a:r>
              <a:rPr dirty="0" sz="2800" spc="-40">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spc="-10">
                <a:solidFill>
                  <a:srgbClr val="4E3629"/>
                </a:solidFill>
                <a:latin typeface="Calibri"/>
                <a:cs typeface="Calibri"/>
              </a:rPr>
              <a:t>clientes</a:t>
            </a:r>
            <a:endParaRPr sz="2800">
              <a:latin typeface="Calibri"/>
              <a:cs typeface="Calibri"/>
            </a:endParaRPr>
          </a:p>
        </p:txBody>
      </p:sp>
      <p:sp>
        <p:nvSpPr>
          <p:cNvPr id="5" name="object 5" descr=""/>
          <p:cNvSpPr txBox="1"/>
          <p:nvPr/>
        </p:nvSpPr>
        <p:spPr>
          <a:xfrm>
            <a:off x="405384" y="1944623"/>
            <a:ext cx="8345805" cy="1327785"/>
          </a:xfrm>
          <a:prstGeom prst="rect">
            <a:avLst/>
          </a:prstGeom>
          <a:solidFill>
            <a:srgbClr val="9DBEC4">
              <a:alpha val="50199"/>
            </a:srgbClr>
          </a:solidFill>
        </p:spPr>
        <p:txBody>
          <a:bodyPr wrap="square" lIns="0" tIns="0" rIns="0" bIns="0" rtlCol="0" vert="horz">
            <a:spAutoFit/>
          </a:bodyPr>
          <a:lstStyle/>
          <a:p>
            <a:pPr>
              <a:lnSpc>
                <a:spcPts val="1770"/>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clients</a:t>
            </a:r>
            <a:endParaRPr sz="1800">
              <a:latin typeface="Courier New"/>
              <a:cs typeface="Courier New"/>
            </a:endParaRPr>
          </a:p>
          <a:p>
            <a:pPr>
              <a:lnSpc>
                <a:spcPct val="100000"/>
              </a:lnSpc>
            </a:pPr>
            <a:r>
              <a:rPr dirty="0" sz="1800" b="1">
                <a:solidFill>
                  <a:srgbClr val="4E3629"/>
                </a:solidFill>
                <a:latin typeface="Courier New"/>
                <a:cs typeface="Courier New"/>
              </a:rPr>
              <a:t>(client_number</a:t>
            </a:r>
            <a:r>
              <a:rPr dirty="0" sz="1800" spc="-120" b="1">
                <a:solidFill>
                  <a:srgbClr val="4E3629"/>
                </a:solidFill>
                <a:latin typeface="Courier New"/>
                <a:cs typeface="Courier New"/>
              </a:rPr>
              <a:t> </a:t>
            </a:r>
            <a:r>
              <a:rPr dirty="0" sz="1800" b="1">
                <a:solidFill>
                  <a:srgbClr val="4E3629"/>
                </a:solidFill>
                <a:latin typeface="Courier New"/>
                <a:cs typeface="Courier New"/>
              </a:rPr>
              <a:t>NUMBER(4)</a:t>
            </a:r>
            <a:r>
              <a:rPr dirty="0" sz="1800" spc="-110" b="1">
                <a:solidFill>
                  <a:srgbClr val="4E3629"/>
                </a:solidFill>
                <a:latin typeface="Courier New"/>
                <a:cs typeface="Courier New"/>
              </a:rPr>
              <a:t> </a:t>
            </a:r>
            <a:r>
              <a:rPr dirty="0" sz="1800" b="1">
                <a:solidFill>
                  <a:srgbClr val="D1350F"/>
                </a:solidFill>
                <a:latin typeface="Courier New"/>
                <a:cs typeface="Courier New"/>
              </a:rPr>
              <a:t>CONSTRAINT</a:t>
            </a:r>
            <a:r>
              <a:rPr dirty="0" sz="1800" spc="-105" b="1">
                <a:solidFill>
                  <a:srgbClr val="D1350F"/>
                </a:solidFill>
                <a:latin typeface="Courier New"/>
                <a:cs typeface="Courier New"/>
              </a:rPr>
              <a:t> </a:t>
            </a:r>
            <a:r>
              <a:rPr dirty="0" sz="1800" spc="-10" b="1">
                <a:solidFill>
                  <a:srgbClr val="D1350F"/>
                </a:solidFill>
                <a:latin typeface="Courier New"/>
                <a:cs typeface="Courier New"/>
              </a:rPr>
              <a:t>clients_client_num_pk</a:t>
            </a:r>
            <a:endParaRPr sz="1800">
              <a:latin typeface="Courier New"/>
              <a:cs typeface="Courier New"/>
            </a:endParaRPr>
          </a:p>
          <a:p>
            <a:pPr marL="6400165">
              <a:lnSpc>
                <a:spcPct val="100000"/>
              </a:lnSpc>
            </a:pPr>
            <a:r>
              <a:rPr dirty="0" sz="1800" b="1">
                <a:solidFill>
                  <a:srgbClr val="D1350F"/>
                </a:solidFill>
                <a:latin typeface="Courier New"/>
                <a:cs typeface="Courier New"/>
              </a:rPr>
              <a:t>PRIMARY</a:t>
            </a:r>
            <a:r>
              <a:rPr dirty="0" sz="1800" spc="-65" b="1">
                <a:solidFill>
                  <a:srgbClr val="D1350F"/>
                </a:solidFill>
                <a:latin typeface="Courier New"/>
                <a:cs typeface="Courier New"/>
              </a:rPr>
              <a:t> </a:t>
            </a:r>
            <a:r>
              <a:rPr dirty="0" sz="1800" spc="-20" b="1">
                <a:solidFill>
                  <a:srgbClr val="D1350F"/>
                </a:solidFill>
                <a:latin typeface="Courier New"/>
                <a:cs typeface="Courier New"/>
              </a:rPr>
              <a:t>KEY,</a:t>
            </a:r>
            <a:endParaRPr sz="1800">
              <a:latin typeface="Courier New"/>
              <a:cs typeface="Courier New"/>
            </a:endParaRPr>
          </a:p>
          <a:p>
            <a:pPr marL="136525" marR="3968750">
              <a:lnSpc>
                <a:spcPct val="100000"/>
              </a:lnSpc>
              <a:tabLst>
                <a:tab pos="2457450" algn="l"/>
                <a:tab pos="2593340" algn="l"/>
              </a:tabLst>
            </a:pPr>
            <a:r>
              <a:rPr dirty="0" sz="1800" spc="-10" b="1">
                <a:solidFill>
                  <a:srgbClr val="4E3629"/>
                </a:solidFill>
                <a:latin typeface="Courier New"/>
                <a:cs typeface="Courier New"/>
              </a:rPr>
              <a:t>first_name</a:t>
            </a:r>
            <a:r>
              <a:rPr dirty="0" sz="1800" b="1">
                <a:solidFill>
                  <a:srgbClr val="4E3629"/>
                </a:solidFill>
                <a:latin typeface="Courier New"/>
                <a:cs typeface="Courier New"/>
              </a:rPr>
              <a:t>		</a:t>
            </a:r>
            <a:r>
              <a:rPr dirty="0" sz="1800" spc="-10" b="1">
                <a:solidFill>
                  <a:srgbClr val="4E3629"/>
                </a:solidFill>
                <a:latin typeface="Courier New"/>
                <a:cs typeface="Courier New"/>
              </a:rPr>
              <a:t>VARCHAR2(14), last_name</a:t>
            </a:r>
            <a:r>
              <a:rPr dirty="0" sz="1800" b="1">
                <a:solidFill>
                  <a:srgbClr val="4E3629"/>
                </a:solidFill>
                <a:latin typeface="Courier New"/>
                <a:cs typeface="Courier New"/>
              </a:rPr>
              <a:t>	</a:t>
            </a:r>
            <a:r>
              <a:rPr dirty="0" sz="1800" spc="-10" b="1">
                <a:solidFill>
                  <a:srgbClr val="4E3629"/>
                </a:solidFill>
                <a:latin typeface="Courier New"/>
                <a:cs typeface="Courier New"/>
              </a:rPr>
              <a:t>VARCHAR2(13));</a:t>
            </a:r>
            <a:endParaRPr sz="1800">
              <a:latin typeface="Courier New"/>
              <a:cs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3" name="object 3" descr=""/>
          <p:cNvSpPr/>
          <p:nvPr/>
        </p:nvSpPr>
        <p:spPr>
          <a:xfrm>
            <a:off x="668464" y="4282027"/>
            <a:ext cx="6526530" cy="354330"/>
          </a:xfrm>
          <a:custGeom>
            <a:avLst/>
            <a:gdLst/>
            <a:ahLst/>
            <a:cxnLst/>
            <a:rect l="l" t="t" r="r" b="b"/>
            <a:pathLst>
              <a:path w="6526530" h="354329">
                <a:moveTo>
                  <a:pt x="6438024" y="0"/>
                </a:moveTo>
                <a:lnTo>
                  <a:pt x="88497" y="0"/>
                </a:lnTo>
                <a:lnTo>
                  <a:pt x="62302" y="9911"/>
                </a:lnTo>
                <a:lnTo>
                  <a:pt x="38230" y="36814"/>
                </a:lnTo>
                <a:lnTo>
                  <a:pt x="18407" y="76461"/>
                </a:lnTo>
                <a:lnTo>
                  <a:pt x="4955" y="124604"/>
                </a:lnTo>
                <a:lnTo>
                  <a:pt x="0" y="176994"/>
                </a:lnTo>
                <a:lnTo>
                  <a:pt x="4955" y="229385"/>
                </a:lnTo>
                <a:lnTo>
                  <a:pt x="18407" y="277527"/>
                </a:lnTo>
                <a:lnTo>
                  <a:pt x="38230" y="317174"/>
                </a:lnTo>
                <a:lnTo>
                  <a:pt x="62302" y="344078"/>
                </a:lnTo>
                <a:lnTo>
                  <a:pt x="88497" y="353989"/>
                </a:lnTo>
                <a:lnTo>
                  <a:pt x="6438024" y="353989"/>
                </a:lnTo>
                <a:lnTo>
                  <a:pt x="6488291" y="317174"/>
                </a:lnTo>
                <a:lnTo>
                  <a:pt x="6508114" y="277527"/>
                </a:lnTo>
                <a:lnTo>
                  <a:pt x="6521566" y="229385"/>
                </a:lnTo>
                <a:lnTo>
                  <a:pt x="6526522" y="176994"/>
                </a:lnTo>
                <a:lnTo>
                  <a:pt x="6521566" y="124604"/>
                </a:lnTo>
                <a:lnTo>
                  <a:pt x="6508114" y="76461"/>
                </a:lnTo>
                <a:lnTo>
                  <a:pt x="6488291" y="36814"/>
                </a:lnTo>
                <a:lnTo>
                  <a:pt x="6464219" y="9911"/>
                </a:lnTo>
                <a:lnTo>
                  <a:pt x="6438024" y="0"/>
                </a:lnTo>
                <a:close/>
              </a:path>
            </a:pathLst>
          </a:custGeom>
          <a:solidFill>
            <a:srgbClr val="FACD5A"/>
          </a:solidFill>
        </p:spPr>
        <p:txBody>
          <a:bodyPr wrap="square" lIns="0" tIns="0" rIns="0" bIns="0" rtlCol="0"/>
          <a:lstStyle/>
          <a:p/>
        </p:txBody>
      </p:sp>
      <p:pic>
        <p:nvPicPr>
          <p:cNvPr id="4" name="object 4" descr=""/>
          <p:cNvPicPr/>
          <p:nvPr/>
        </p:nvPicPr>
        <p:blipFill>
          <a:blip r:embed="rId2" cstate="print"/>
          <a:stretch>
            <a:fillRect/>
          </a:stretch>
        </p:blipFill>
        <p:spPr>
          <a:xfrm>
            <a:off x="0" y="0"/>
            <a:ext cx="9144000" cy="254507"/>
          </a:xfrm>
          <a:prstGeom prst="rect">
            <a:avLst/>
          </a:prstGeom>
        </p:spPr>
      </p:pic>
      <p:pic>
        <p:nvPicPr>
          <p:cNvPr id="5" name="object 5" descr=""/>
          <p:cNvPicPr/>
          <p:nvPr/>
        </p:nvPicPr>
        <p:blipFill>
          <a:blip r:embed="rId3" cstate="print"/>
          <a:stretch>
            <a:fillRect/>
          </a:stretch>
        </p:blipFill>
        <p:spPr>
          <a:xfrm>
            <a:off x="405384" y="6178295"/>
            <a:ext cx="1258824" cy="420624"/>
          </a:xfrm>
          <a:prstGeom prst="rect">
            <a:avLst/>
          </a:prstGeom>
        </p:spPr>
      </p:pic>
      <p:sp>
        <p:nvSpPr>
          <p:cNvPr id="6" name="object 6"/>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Restricciones</a:t>
            </a:r>
            <a:r>
              <a:rPr dirty="0" spc="-55"/>
              <a:t> </a:t>
            </a:r>
            <a:r>
              <a:rPr dirty="0"/>
              <a:t>de</a:t>
            </a:r>
            <a:r>
              <a:rPr dirty="0" spc="-75"/>
              <a:t> </a:t>
            </a:r>
            <a:r>
              <a:rPr dirty="0" spc="-10"/>
              <a:t>Nomenclatura</a:t>
            </a:r>
          </a:p>
        </p:txBody>
      </p:sp>
      <p:sp>
        <p:nvSpPr>
          <p:cNvPr id="7" name="object 7" descr=""/>
          <p:cNvSpPr txBox="1"/>
          <p:nvPr/>
        </p:nvSpPr>
        <p:spPr>
          <a:xfrm>
            <a:off x="483552" y="1359029"/>
            <a:ext cx="7931784" cy="2465070"/>
          </a:xfrm>
          <a:prstGeom prst="rect">
            <a:avLst/>
          </a:prstGeom>
        </p:spPr>
        <p:txBody>
          <a:bodyPr wrap="square" lIns="0" tIns="13335" rIns="0" bIns="0" rtlCol="0" vert="horz">
            <a:spAutoFit/>
          </a:bodyPr>
          <a:lstStyle/>
          <a:p>
            <a:pPr marL="184785" indent="-172085">
              <a:lnSpc>
                <a:spcPts val="2650"/>
              </a:lnSpc>
              <a:spcBef>
                <a:spcPts val="105"/>
              </a:spcBef>
              <a:buClr>
                <a:srgbClr val="D1350F"/>
              </a:buClr>
              <a:buFont typeface="Arial MT"/>
              <a:buChar char="•"/>
              <a:tabLst>
                <a:tab pos="184785" algn="l"/>
              </a:tabLst>
            </a:pPr>
            <a:r>
              <a:rPr dirty="0" sz="2600" spc="-35">
                <a:solidFill>
                  <a:srgbClr val="4E3629"/>
                </a:solidFill>
                <a:latin typeface="Calibri"/>
                <a:cs typeface="Calibri"/>
              </a:rPr>
              <a:t>Todas</a:t>
            </a:r>
            <a:r>
              <a:rPr dirty="0" sz="2600" spc="-45">
                <a:solidFill>
                  <a:srgbClr val="4E3629"/>
                </a:solidFill>
                <a:latin typeface="Calibri"/>
                <a:cs typeface="Calibri"/>
              </a:rPr>
              <a:t> </a:t>
            </a:r>
            <a:r>
              <a:rPr dirty="0" sz="2600">
                <a:solidFill>
                  <a:srgbClr val="4E3629"/>
                </a:solidFill>
                <a:latin typeface="Calibri"/>
                <a:cs typeface="Calibri"/>
              </a:rPr>
              <a:t>las</a:t>
            </a:r>
            <a:r>
              <a:rPr dirty="0" sz="2600" spc="-40">
                <a:solidFill>
                  <a:srgbClr val="4E3629"/>
                </a:solidFill>
                <a:latin typeface="Calibri"/>
                <a:cs typeface="Calibri"/>
              </a:rPr>
              <a:t> </a:t>
            </a:r>
            <a:r>
              <a:rPr dirty="0" sz="2600" spc="-10">
                <a:solidFill>
                  <a:srgbClr val="4E3629"/>
                </a:solidFill>
                <a:latin typeface="Calibri"/>
                <a:cs typeface="Calibri"/>
              </a:rPr>
              <a:t>restricciones</a:t>
            </a:r>
            <a:r>
              <a:rPr dirty="0" sz="2600" spc="-65">
                <a:solidFill>
                  <a:srgbClr val="4E3629"/>
                </a:solidFill>
                <a:latin typeface="Calibri"/>
                <a:cs typeface="Calibri"/>
              </a:rPr>
              <a:t> </a:t>
            </a:r>
            <a:r>
              <a:rPr dirty="0" sz="2600">
                <a:solidFill>
                  <a:srgbClr val="4E3629"/>
                </a:solidFill>
                <a:latin typeface="Calibri"/>
                <a:cs typeface="Calibri"/>
              </a:rPr>
              <a:t>de</a:t>
            </a:r>
            <a:r>
              <a:rPr dirty="0" sz="2600" spc="-50">
                <a:solidFill>
                  <a:srgbClr val="4E3629"/>
                </a:solidFill>
                <a:latin typeface="Calibri"/>
                <a:cs typeface="Calibri"/>
              </a:rPr>
              <a:t> </a:t>
            </a:r>
            <a:r>
              <a:rPr dirty="0" sz="2600">
                <a:solidFill>
                  <a:srgbClr val="4E3629"/>
                </a:solidFill>
                <a:latin typeface="Calibri"/>
                <a:cs typeface="Calibri"/>
              </a:rPr>
              <a:t>la</a:t>
            </a:r>
            <a:r>
              <a:rPr dirty="0" sz="2600" spc="-30">
                <a:solidFill>
                  <a:srgbClr val="4E3629"/>
                </a:solidFill>
                <a:latin typeface="Calibri"/>
                <a:cs typeface="Calibri"/>
              </a:rPr>
              <a:t> </a:t>
            </a:r>
            <a:r>
              <a:rPr dirty="0" sz="2600">
                <a:solidFill>
                  <a:srgbClr val="4E3629"/>
                </a:solidFill>
                <a:latin typeface="Calibri"/>
                <a:cs typeface="Calibri"/>
              </a:rPr>
              <a:t>base</a:t>
            </a:r>
            <a:r>
              <a:rPr dirty="0" sz="2600" spc="-40">
                <a:solidFill>
                  <a:srgbClr val="4E3629"/>
                </a:solidFill>
                <a:latin typeface="Calibri"/>
                <a:cs typeface="Calibri"/>
              </a:rPr>
              <a:t> </a:t>
            </a:r>
            <a:r>
              <a:rPr dirty="0" sz="2600">
                <a:solidFill>
                  <a:srgbClr val="4E3629"/>
                </a:solidFill>
                <a:latin typeface="Calibri"/>
                <a:cs typeface="Calibri"/>
              </a:rPr>
              <a:t>de</a:t>
            </a:r>
            <a:r>
              <a:rPr dirty="0" sz="2600" spc="-40">
                <a:solidFill>
                  <a:srgbClr val="4E3629"/>
                </a:solidFill>
                <a:latin typeface="Calibri"/>
                <a:cs typeface="Calibri"/>
              </a:rPr>
              <a:t> </a:t>
            </a:r>
            <a:r>
              <a:rPr dirty="0" sz="2600">
                <a:solidFill>
                  <a:srgbClr val="4E3629"/>
                </a:solidFill>
                <a:latin typeface="Calibri"/>
                <a:cs typeface="Calibri"/>
              </a:rPr>
              <a:t>datos</a:t>
            </a:r>
            <a:r>
              <a:rPr dirty="0" sz="2600" spc="-45">
                <a:solidFill>
                  <a:srgbClr val="4E3629"/>
                </a:solidFill>
                <a:latin typeface="Calibri"/>
                <a:cs typeface="Calibri"/>
              </a:rPr>
              <a:t> </a:t>
            </a:r>
            <a:r>
              <a:rPr dirty="0" sz="2600">
                <a:solidFill>
                  <a:srgbClr val="4E3629"/>
                </a:solidFill>
                <a:latin typeface="Calibri"/>
                <a:cs typeface="Calibri"/>
              </a:rPr>
              <a:t>tienen</a:t>
            </a:r>
            <a:r>
              <a:rPr dirty="0" sz="2600" spc="-50">
                <a:solidFill>
                  <a:srgbClr val="4E3629"/>
                </a:solidFill>
                <a:latin typeface="Calibri"/>
                <a:cs typeface="Calibri"/>
              </a:rPr>
              <a:t> </a:t>
            </a:r>
            <a:r>
              <a:rPr dirty="0" sz="2600" spc="-25">
                <a:solidFill>
                  <a:srgbClr val="4E3629"/>
                </a:solidFill>
                <a:latin typeface="Calibri"/>
                <a:cs typeface="Calibri"/>
              </a:rPr>
              <a:t>un</a:t>
            </a:r>
            <a:endParaRPr sz="2600">
              <a:latin typeface="Calibri"/>
              <a:cs typeface="Calibri"/>
            </a:endParaRPr>
          </a:p>
          <a:p>
            <a:pPr marL="184785">
              <a:lnSpc>
                <a:spcPts val="2185"/>
              </a:lnSpc>
            </a:pPr>
            <a:r>
              <a:rPr dirty="0" sz="2600">
                <a:solidFill>
                  <a:srgbClr val="4E3629"/>
                </a:solidFill>
                <a:latin typeface="Calibri"/>
                <a:cs typeface="Calibri"/>
              </a:rPr>
              <a:t>nombre.</a:t>
            </a:r>
            <a:r>
              <a:rPr dirty="0" sz="2600" spc="-30">
                <a:solidFill>
                  <a:srgbClr val="4E3629"/>
                </a:solidFill>
                <a:latin typeface="Calibri"/>
                <a:cs typeface="Calibri"/>
              </a:rPr>
              <a:t> </a:t>
            </a:r>
            <a:r>
              <a:rPr dirty="0" sz="2600">
                <a:solidFill>
                  <a:srgbClr val="4E3629"/>
                </a:solidFill>
                <a:latin typeface="Calibri"/>
                <a:cs typeface="Calibri"/>
              </a:rPr>
              <a:t>Cuando</a:t>
            </a:r>
            <a:r>
              <a:rPr dirty="0" sz="2600" spc="-35">
                <a:solidFill>
                  <a:srgbClr val="4E3629"/>
                </a:solidFill>
                <a:latin typeface="Calibri"/>
                <a:cs typeface="Calibri"/>
              </a:rPr>
              <a:t> </a:t>
            </a:r>
            <a:r>
              <a:rPr dirty="0" sz="2600">
                <a:solidFill>
                  <a:srgbClr val="4E3629"/>
                </a:solidFill>
                <a:latin typeface="Calibri"/>
                <a:cs typeface="Calibri"/>
              </a:rPr>
              <a:t>se</a:t>
            </a:r>
            <a:r>
              <a:rPr dirty="0" sz="2600" spc="-30">
                <a:solidFill>
                  <a:srgbClr val="4E3629"/>
                </a:solidFill>
                <a:latin typeface="Calibri"/>
                <a:cs typeface="Calibri"/>
              </a:rPr>
              <a:t> </a:t>
            </a:r>
            <a:r>
              <a:rPr dirty="0" sz="2600">
                <a:solidFill>
                  <a:srgbClr val="4E3629"/>
                </a:solidFill>
                <a:latin typeface="Calibri"/>
                <a:cs typeface="Calibri"/>
              </a:rPr>
              <a:t>crea</a:t>
            </a:r>
            <a:r>
              <a:rPr dirty="0" sz="2600" spc="-35">
                <a:solidFill>
                  <a:srgbClr val="4E3629"/>
                </a:solidFill>
                <a:latin typeface="Calibri"/>
                <a:cs typeface="Calibri"/>
              </a:rPr>
              <a:t> </a:t>
            </a:r>
            <a:r>
              <a:rPr dirty="0" sz="2600">
                <a:solidFill>
                  <a:srgbClr val="4E3629"/>
                </a:solidFill>
                <a:latin typeface="Calibri"/>
                <a:cs typeface="Calibri"/>
              </a:rPr>
              <a:t>una</a:t>
            </a:r>
            <a:r>
              <a:rPr dirty="0" sz="2600" spc="-30">
                <a:solidFill>
                  <a:srgbClr val="4E3629"/>
                </a:solidFill>
                <a:latin typeface="Calibri"/>
                <a:cs typeface="Calibri"/>
              </a:rPr>
              <a:t> </a:t>
            </a:r>
            <a:r>
              <a:rPr dirty="0" sz="2600" spc="-10">
                <a:solidFill>
                  <a:srgbClr val="4E3629"/>
                </a:solidFill>
                <a:latin typeface="Calibri"/>
                <a:cs typeface="Calibri"/>
              </a:rPr>
              <a:t>restricción,</a:t>
            </a:r>
            <a:r>
              <a:rPr dirty="0" sz="2600" spc="-45">
                <a:solidFill>
                  <a:srgbClr val="4E3629"/>
                </a:solidFill>
                <a:latin typeface="Calibri"/>
                <a:cs typeface="Calibri"/>
              </a:rPr>
              <a:t> </a:t>
            </a:r>
            <a:r>
              <a:rPr dirty="0" sz="2600">
                <a:solidFill>
                  <a:srgbClr val="4E3629"/>
                </a:solidFill>
                <a:latin typeface="Calibri"/>
                <a:cs typeface="Calibri"/>
              </a:rPr>
              <a:t>se</a:t>
            </a:r>
            <a:r>
              <a:rPr dirty="0" sz="2600" spc="-35">
                <a:solidFill>
                  <a:srgbClr val="4E3629"/>
                </a:solidFill>
                <a:latin typeface="Calibri"/>
                <a:cs typeface="Calibri"/>
              </a:rPr>
              <a:t> </a:t>
            </a:r>
            <a:r>
              <a:rPr dirty="0" sz="2600">
                <a:solidFill>
                  <a:srgbClr val="4E3629"/>
                </a:solidFill>
                <a:latin typeface="Calibri"/>
                <a:cs typeface="Calibri"/>
              </a:rPr>
              <a:t>puede</a:t>
            </a:r>
            <a:r>
              <a:rPr dirty="0" sz="2600" spc="-50">
                <a:solidFill>
                  <a:srgbClr val="4E3629"/>
                </a:solidFill>
                <a:latin typeface="Calibri"/>
                <a:cs typeface="Calibri"/>
              </a:rPr>
              <a:t> </a:t>
            </a:r>
            <a:r>
              <a:rPr dirty="0" sz="2600" spc="-10">
                <a:solidFill>
                  <a:srgbClr val="4E3629"/>
                </a:solidFill>
                <a:latin typeface="Calibri"/>
                <a:cs typeface="Calibri"/>
              </a:rPr>
              <a:t>asignar</a:t>
            </a:r>
            <a:endParaRPr sz="2600">
              <a:latin typeface="Calibri"/>
              <a:cs typeface="Calibri"/>
            </a:endParaRPr>
          </a:p>
          <a:p>
            <a:pPr marL="184785">
              <a:lnSpc>
                <a:spcPts val="2185"/>
              </a:lnSpc>
            </a:pPr>
            <a:r>
              <a:rPr dirty="0" sz="2600">
                <a:solidFill>
                  <a:srgbClr val="4E3629"/>
                </a:solidFill>
                <a:latin typeface="Calibri"/>
                <a:cs typeface="Calibri"/>
              </a:rPr>
              <a:t>un</a:t>
            </a:r>
            <a:r>
              <a:rPr dirty="0" sz="2600" spc="-35">
                <a:solidFill>
                  <a:srgbClr val="4E3629"/>
                </a:solidFill>
                <a:latin typeface="Calibri"/>
                <a:cs typeface="Calibri"/>
              </a:rPr>
              <a:t> </a:t>
            </a:r>
            <a:r>
              <a:rPr dirty="0" sz="2600">
                <a:solidFill>
                  <a:srgbClr val="4E3629"/>
                </a:solidFill>
                <a:latin typeface="Calibri"/>
                <a:cs typeface="Calibri"/>
              </a:rPr>
              <a:t>nombre,</a:t>
            </a:r>
            <a:r>
              <a:rPr dirty="0" sz="2600" spc="-30">
                <a:solidFill>
                  <a:srgbClr val="4E3629"/>
                </a:solidFill>
                <a:latin typeface="Calibri"/>
                <a:cs typeface="Calibri"/>
              </a:rPr>
              <a:t> </a:t>
            </a:r>
            <a:r>
              <a:rPr dirty="0" sz="2600">
                <a:solidFill>
                  <a:srgbClr val="4E3629"/>
                </a:solidFill>
                <a:latin typeface="Calibri"/>
                <a:cs typeface="Calibri"/>
              </a:rPr>
              <a:t>como</a:t>
            </a:r>
            <a:r>
              <a:rPr dirty="0" sz="2600" spc="-10">
                <a:solidFill>
                  <a:srgbClr val="4E3629"/>
                </a:solidFill>
                <a:latin typeface="Calibri"/>
                <a:cs typeface="Calibri"/>
              </a:rPr>
              <a:t> clients_client_num_pk,</a:t>
            </a:r>
            <a:r>
              <a:rPr dirty="0" sz="2600" spc="-55">
                <a:solidFill>
                  <a:srgbClr val="4E3629"/>
                </a:solidFill>
                <a:latin typeface="Calibri"/>
                <a:cs typeface="Calibri"/>
              </a:rPr>
              <a:t> </a:t>
            </a:r>
            <a:r>
              <a:rPr dirty="0" sz="2600">
                <a:solidFill>
                  <a:srgbClr val="4E3629"/>
                </a:solidFill>
                <a:latin typeface="Calibri"/>
                <a:cs typeface="Calibri"/>
              </a:rPr>
              <a:t>o</a:t>
            </a:r>
            <a:r>
              <a:rPr dirty="0" sz="2600" spc="-10">
                <a:solidFill>
                  <a:srgbClr val="4E3629"/>
                </a:solidFill>
                <a:latin typeface="Calibri"/>
                <a:cs typeface="Calibri"/>
              </a:rPr>
              <a:t> </a:t>
            </a:r>
            <a:r>
              <a:rPr dirty="0" sz="2600">
                <a:solidFill>
                  <a:srgbClr val="4E3629"/>
                </a:solidFill>
                <a:latin typeface="Calibri"/>
                <a:cs typeface="Calibri"/>
              </a:rPr>
              <a:t>no</a:t>
            </a:r>
            <a:r>
              <a:rPr dirty="0" sz="2600" spc="-25">
                <a:solidFill>
                  <a:srgbClr val="4E3629"/>
                </a:solidFill>
                <a:latin typeface="Calibri"/>
                <a:cs typeface="Calibri"/>
              </a:rPr>
              <a:t> </a:t>
            </a:r>
            <a:r>
              <a:rPr dirty="0" sz="2600" spc="-10">
                <a:solidFill>
                  <a:srgbClr val="4E3629"/>
                </a:solidFill>
                <a:latin typeface="Calibri"/>
                <a:cs typeface="Calibri"/>
              </a:rPr>
              <a:t>asignar</a:t>
            </a:r>
            <a:endParaRPr sz="2600">
              <a:latin typeface="Calibri"/>
              <a:cs typeface="Calibri"/>
            </a:endParaRPr>
          </a:p>
          <a:p>
            <a:pPr marL="184785">
              <a:lnSpc>
                <a:spcPts val="2185"/>
              </a:lnSpc>
            </a:pPr>
            <a:r>
              <a:rPr dirty="0" sz="2600">
                <a:solidFill>
                  <a:srgbClr val="4E3629"/>
                </a:solidFill>
                <a:latin typeface="Calibri"/>
                <a:cs typeface="Calibri"/>
              </a:rPr>
              <a:t>ningún</a:t>
            </a:r>
            <a:r>
              <a:rPr dirty="0" sz="2600" spc="-75">
                <a:solidFill>
                  <a:srgbClr val="4E3629"/>
                </a:solidFill>
                <a:latin typeface="Calibri"/>
                <a:cs typeface="Calibri"/>
              </a:rPr>
              <a:t> </a:t>
            </a:r>
            <a:r>
              <a:rPr dirty="0" sz="2600">
                <a:solidFill>
                  <a:srgbClr val="4E3629"/>
                </a:solidFill>
                <a:latin typeface="Calibri"/>
                <a:cs typeface="Calibri"/>
              </a:rPr>
              <a:t>nombre,</a:t>
            </a:r>
            <a:r>
              <a:rPr dirty="0" sz="2600" spc="-60">
                <a:solidFill>
                  <a:srgbClr val="4E3629"/>
                </a:solidFill>
                <a:latin typeface="Calibri"/>
                <a:cs typeface="Calibri"/>
              </a:rPr>
              <a:t> </a:t>
            </a:r>
            <a:r>
              <a:rPr dirty="0" sz="2600">
                <a:solidFill>
                  <a:srgbClr val="4E3629"/>
                </a:solidFill>
                <a:latin typeface="Calibri"/>
                <a:cs typeface="Calibri"/>
              </a:rPr>
              <a:t>en</a:t>
            </a:r>
            <a:r>
              <a:rPr dirty="0" sz="2600" spc="-60">
                <a:solidFill>
                  <a:srgbClr val="4E3629"/>
                </a:solidFill>
                <a:latin typeface="Calibri"/>
                <a:cs typeface="Calibri"/>
              </a:rPr>
              <a:t> </a:t>
            </a:r>
            <a:r>
              <a:rPr dirty="0" sz="2600">
                <a:solidFill>
                  <a:srgbClr val="4E3629"/>
                </a:solidFill>
                <a:latin typeface="Calibri"/>
                <a:cs typeface="Calibri"/>
              </a:rPr>
              <a:t>cuyo</a:t>
            </a:r>
            <a:r>
              <a:rPr dirty="0" sz="2600" spc="-50">
                <a:solidFill>
                  <a:srgbClr val="4E3629"/>
                </a:solidFill>
                <a:latin typeface="Calibri"/>
                <a:cs typeface="Calibri"/>
              </a:rPr>
              <a:t> </a:t>
            </a:r>
            <a:r>
              <a:rPr dirty="0" sz="2600">
                <a:solidFill>
                  <a:srgbClr val="4E3629"/>
                </a:solidFill>
                <a:latin typeface="Calibri"/>
                <a:cs typeface="Calibri"/>
              </a:rPr>
              <a:t>caso</a:t>
            </a:r>
            <a:r>
              <a:rPr dirty="0" sz="2600" spc="-55">
                <a:solidFill>
                  <a:srgbClr val="4E3629"/>
                </a:solidFill>
                <a:latin typeface="Calibri"/>
                <a:cs typeface="Calibri"/>
              </a:rPr>
              <a:t> </a:t>
            </a:r>
            <a:r>
              <a:rPr dirty="0" sz="2600">
                <a:solidFill>
                  <a:srgbClr val="4E3629"/>
                </a:solidFill>
                <a:latin typeface="Calibri"/>
                <a:cs typeface="Calibri"/>
              </a:rPr>
              <a:t>el</a:t>
            </a:r>
            <a:r>
              <a:rPr dirty="0" sz="2600" spc="-45">
                <a:solidFill>
                  <a:srgbClr val="4E3629"/>
                </a:solidFill>
                <a:latin typeface="Calibri"/>
                <a:cs typeface="Calibri"/>
              </a:rPr>
              <a:t> </a:t>
            </a:r>
            <a:r>
              <a:rPr dirty="0" sz="2600">
                <a:solidFill>
                  <a:srgbClr val="4E3629"/>
                </a:solidFill>
                <a:latin typeface="Calibri"/>
                <a:cs typeface="Calibri"/>
              </a:rPr>
              <a:t>sistema</a:t>
            </a:r>
            <a:r>
              <a:rPr dirty="0" sz="2600" spc="-85">
                <a:solidFill>
                  <a:srgbClr val="4E3629"/>
                </a:solidFill>
                <a:latin typeface="Calibri"/>
                <a:cs typeface="Calibri"/>
              </a:rPr>
              <a:t> </a:t>
            </a:r>
            <a:r>
              <a:rPr dirty="0" sz="2600">
                <a:solidFill>
                  <a:srgbClr val="4E3629"/>
                </a:solidFill>
                <a:latin typeface="Calibri"/>
                <a:cs typeface="Calibri"/>
              </a:rPr>
              <a:t>asignará</a:t>
            </a:r>
            <a:r>
              <a:rPr dirty="0" sz="2600" spc="-60">
                <a:solidFill>
                  <a:srgbClr val="4E3629"/>
                </a:solidFill>
                <a:latin typeface="Calibri"/>
                <a:cs typeface="Calibri"/>
              </a:rPr>
              <a:t> </a:t>
            </a:r>
            <a:r>
              <a:rPr dirty="0" sz="2600" spc="-25">
                <a:solidFill>
                  <a:srgbClr val="4E3629"/>
                </a:solidFill>
                <a:latin typeface="Calibri"/>
                <a:cs typeface="Calibri"/>
              </a:rPr>
              <a:t>un</a:t>
            </a:r>
            <a:endParaRPr sz="2600">
              <a:latin typeface="Calibri"/>
              <a:cs typeface="Calibri"/>
            </a:endParaRPr>
          </a:p>
          <a:p>
            <a:pPr marL="184785" marR="1886585">
              <a:lnSpc>
                <a:spcPct val="70000"/>
              </a:lnSpc>
              <a:spcBef>
                <a:spcPts val="465"/>
              </a:spcBef>
            </a:pPr>
            <a:r>
              <a:rPr dirty="0" sz="2600">
                <a:solidFill>
                  <a:srgbClr val="4E3629"/>
                </a:solidFill>
                <a:latin typeface="Calibri"/>
                <a:cs typeface="Calibri"/>
              </a:rPr>
              <a:t>nombre</a:t>
            </a:r>
            <a:r>
              <a:rPr dirty="0" sz="2600" spc="-60">
                <a:solidFill>
                  <a:srgbClr val="4E3629"/>
                </a:solidFill>
                <a:latin typeface="Calibri"/>
                <a:cs typeface="Calibri"/>
              </a:rPr>
              <a:t> </a:t>
            </a:r>
            <a:r>
              <a:rPr dirty="0" sz="2600">
                <a:solidFill>
                  <a:srgbClr val="4E3629"/>
                </a:solidFill>
                <a:latin typeface="Calibri"/>
                <a:cs typeface="Calibri"/>
              </a:rPr>
              <a:t>a</a:t>
            </a:r>
            <a:r>
              <a:rPr dirty="0" sz="2600" spc="-40">
                <a:solidFill>
                  <a:srgbClr val="4E3629"/>
                </a:solidFill>
                <a:latin typeface="Calibri"/>
                <a:cs typeface="Calibri"/>
              </a:rPr>
              <a:t> </a:t>
            </a:r>
            <a:r>
              <a:rPr dirty="0" sz="2600">
                <a:solidFill>
                  <a:srgbClr val="4E3629"/>
                </a:solidFill>
                <a:latin typeface="Calibri"/>
                <a:cs typeface="Calibri"/>
              </a:rPr>
              <a:t>la</a:t>
            </a:r>
            <a:r>
              <a:rPr dirty="0" sz="2600" spc="-40">
                <a:solidFill>
                  <a:srgbClr val="4E3629"/>
                </a:solidFill>
                <a:latin typeface="Calibri"/>
                <a:cs typeface="Calibri"/>
              </a:rPr>
              <a:t> </a:t>
            </a:r>
            <a:r>
              <a:rPr dirty="0" sz="2600" spc="-10">
                <a:solidFill>
                  <a:srgbClr val="4E3629"/>
                </a:solidFill>
                <a:latin typeface="Calibri"/>
                <a:cs typeface="Calibri"/>
              </a:rPr>
              <a:t>restricción,</a:t>
            </a:r>
            <a:r>
              <a:rPr dirty="0" sz="2600" spc="-70">
                <a:solidFill>
                  <a:srgbClr val="4E3629"/>
                </a:solidFill>
                <a:latin typeface="Calibri"/>
                <a:cs typeface="Calibri"/>
              </a:rPr>
              <a:t> </a:t>
            </a:r>
            <a:r>
              <a:rPr dirty="0" sz="2600">
                <a:solidFill>
                  <a:srgbClr val="4E3629"/>
                </a:solidFill>
                <a:latin typeface="Calibri"/>
                <a:cs typeface="Calibri"/>
              </a:rPr>
              <a:t>como,</a:t>
            </a:r>
            <a:r>
              <a:rPr dirty="0" sz="2600" spc="-30">
                <a:solidFill>
                  <a:srgbClr val="4E3629"/>
                </a:solidFill>
                <a:latin typeface="Calibri"/>
                <a:cs typeface="Calibri"/>
              </a:rPr>
              <a:t> </a:t>
            </a:r>
            <a:r>
              <a:rPr dirty="0" sz="2600">
                <a:solidFill>
                  <a:srgbClr val="4E3629"/>
                </a:solidFill>
                <a:latin typeface="Calibri"/>
                <a:cs typeface="Calibri"/>
              </a:rPr>
              <a:t>por</a:t>
            </a:r>
            <a:r>
              <a:rPr dirty="0" sz="2600" spc="-30">
                <a:solidFill>
                  <a:srgbClr val="4E3629"/>
                </a:solidFill>
                <a:latin typeface="Calibri"/>
                <a:cs typeface="Calibri"/>
              </a:rPr>
              <a:t> </a:t>
            </a:r>
            <a:r>
              <a:rPr dirty="0" sz="2600" spc="-10">
                <a:solidFill>
                  <a:srgbClr val="4E3629"/>
                </a:solidFill>
                <a:latin typeface="Calibri"/>
                <a:cs typeface="Calibri"/>
              </a:rPr>
              <a:t>ejemplo, SYS_C00585417</a:t>
            </a:r>
            <a:endParaRPr sz="2600">
              <a:latin typeface="Calibri"/>
              <a:cs typeface="Calibri"/>
            </a:endParaRPr>
          </a:p>
          <a:p>
            <a:pPr marL="184785" marR="48260" indent="-172720">
              <a:lnSpc>
                <a:spcPct val="70000"/>
              </a:lnSpc>
              <a:spcBef>
                <a:spcPts val="790"/>
              </a:spcBef>
              <a:buClr>
                <a:srgbClr val="D1350F"/>
              </a:buClr>
              <a:buFont typeface="Arial MT"/>
              <a:buChar char="•"/>
              <a:tabLst>
                <a:tab pos="184785" algn="l"/>
              </a:tabLst>
            </a:pPr>
            <a:r>
              <a:rPr dirty="0" sz="2600">
                <a:solidFill>
                  <a:srgbClr val="4E3629"/>
                </a:solidFill>
                <a:latin typeface="Calibri"/>
                <a:cs typeface="Calibri"/>
              </a:rPr>
              <a:t>Una</a:t>
            </a:r>
            <a:r>
              <a:rPr dirty="0" sz="2600" spc="-30">
                <a:solidFill>
                  <a:srgbClr val="4E3629"/>
                </a:solidFill>
                <a:latin typeface="Calibri"/>
                <a:cs typeface="Calibri"/>
              </a:rPr>
              <a:t> </a:t>
            </a:r>
            <a:r>
              <a:rPr dirty="0" sz="2600" spc="-10">
                <a:solidFill>
                  <a:srgbClr val="4E3629"/>
                </a:solidFill>
                <a:latin typeface="Calibri"/>
                <a:cs typeface="Calibri"/>
              </a:rPr>
              <a:t>convención</a:t>
            </a:r>
            <a:r>
              <a:rPr dirty="0" sz="2600" spc="-25">
                <a:solidFill>
                  <a:srgbClr val="4E3629"/>
                </a:solidFill>
                <a:latin typeface="Calibri"/>
                <a:cs typeface="Calibri"/>
              </a:rPr>
              <a:t> </a:t>
            </a:r>
            <a:r>
              <a:rPr dirty="0" sz="2600">
                <a:solidFill>
                  <a:srgbClr val="4E3629"/>
                </a:solidFill>
                <a:latin typeface="Calibri"/>
                <a:cs typeface="Calibri"/>
              </a:rPr>
              <a:t>de</a:t>
            </a:r>
            <a:r>
              <a:rPr dirty="0" sz="2600" spc="-25">
                <a:solidFill>
                  <a:srgbClr val="4E3629"/>
                </a:solidFill>
                <a:latin typeface="Calibri"/>
                <a:cs typeface="Calibri"/>
              </a:rPr>
              <a:t> </a:t>
            </a:r>
            <a:r>
              <a:rPr dirty="0" sz="2600" spc="-10">
                <a:solidFill>
                  <a:srgbClr val="4E3629"/>
                </a:solidFill>
                <a:latin typeface="Calibri"/>
                <a:cs typeface="Calibri"/>
              </a:rPr>
              <a:t>nomenclatura</a:t>
            </a:r>
            <a:r>
              <a:rPr dirty="0" sz="2600" spc="-40">
                <a:solidFill>
                  <a:srgbClr val="4E3629"/>
                </a:solidFill>
                <a:latin typeface="Calibri"/>
                <a:cs typeface="Calibri"/>
              </a:rPr>
              <a:t> </a:t>
            </a:r>
            <a:r>
              <a:rPr dirty="0" sz="2600">
                <a:solidFill>
                  <a:srgbClr val="4E3629"/>
                </a:solidFill>
                <a:latin typeface="Calibri"/>
                <a:cs typeface="Calibri"/>
              </a:rPr>
              <a:t>puede</a:t>
            </a:r>
            <a:r>
              <a:rPr dirty="0" sz="2600" spc="-45">
                <a:solidFill>
                  <a:srgbClr val="4E3629"/>
                </a:solidFill>
                <a:latin typeface="Calibri"/>
                <a:cs typeface="Calibri"/>
              </a:rPr>
              <a:t> </a:t>
            </a:r>
            <a:r>
              <a:rPr dirty="0" sz="2600">
                <a:solidFill>
                  <a:srgbClr val="4E3629"/>
                </a:solidFill>
                <a:latin typeface="Calibri"/>
                <a:cs typeface="Calibri"/>
              </a:rPr>
              <a:t>ser</a:t>
            </a:r>
            <a:r>
              <a:rPr dirty="0" sz="2600" spc="-20">
                <a:solidFill>
                  <a:srgbClr val="4E3629"/>
                </a:solidFill>
                <a:latin typeface="Calibri"/>
                <a:cs typeface="Calibri"/>
              </a:rPr>
              <a:t> </a:t>
            </a:r>
            <a:r>
              <a:rPr dirty="0" sz="2600" spc="-25">
                <a:solidFill>
                  <a:srgbClr val="4E3629"/>
                </a:solidFill>
                <a:latin typeface="Calibri"/>
                <a:cs typeface="Calibri"/>
              </a:rPr>
              <a:t>la </a:t>
            </a:r>
            <a:r>
              <a:rPr dirty="0" sz="2600">
                <a:solidFill>
                  <a:srgbClr val="4E3629"/>
                </a:solidFill>
                <a:latin typeface="Calibri"/>
                <a:cs typeface="Calibri"/>
              </a:rPr>
              <a:t>combinación</a:t>
            </a:r>
            <a:r>
              <a:rPr dirty="0" sz="2600" spc="-60">
                <a:solidFill>
                  <a:srgbClr val="4E3629"/>
                </a:solidFill>
                <a:latin typeface="Calibri"/>
                <a:cs typeface="Calibri"/>
              </a:rPr>
              <a:t> </a:t>
            </a:r>
            <a:r>
              <a:rPr dirty="0" sz="2600">
                <a:solidFill>
                  <a:srgbClr val="4E3629"/>
                </a:solidFill>
                <a:latin typeface="Calibri"/>
                <a:cs typeface="Calibri"/>
              </a:rPr>
              <a:t>del</a:t>
            </a:r>
            <a:r>
              <a:rPr dirty="0" sz="2600" spc="-55">
                <a:solidFill>
                  <a:srgbClr val="4E3629"/>
                </a:solidFill>
                <a:latin typeface="Calibri"/>
                <a:cs typeface="Calibri"/>
              </a:rPr>
              <a:t> </a:t>
            </a:r>
            <a:r>
              <a:rPr dirty="0" sz="2600">
                <a:solidFill>
                  <a:srgbClr val="4E3629"/>
                </a:solidFill>
                <a:latin typeface="Calibri"/>
                <a:cs typeface="Calibri"/>
              </a:rPr>
              <a:t>nombre</a:t>
            </a:r>
            <a:r>
              <a:rPr dirty="0" sz="2600" spc="-55">
                <a:solidFill>
                  <a:srgbClr val="4E3629"/>
                </a:solidFill>
                <a:latin typeface="Calibri"/>
                <a:cs typeface="Calibri"/>
              </a:rPr>
              <a:t> </a:t>
            </a:r>
            <a:r>
              <a:rPr dirty="0" sz="2600">
                <a:solidFill>
                  <a:srgbClr val="4E3629"/>
                </a:solidFill>
                <a:latin typeface="Calibri"/>
                <a:cs typeface="Calibri"/>
              </a:rPr>
              <a:t>de</a:t>
            </a:r>
            <a:r>
              <a:rPr dirty="0" sz="2600" spc="-60">
                <a:solidFill>
                  <a:srgbClr val="4E3629"/>
                </a:solidFill>
                <a:latin typeface="Calibri"/>
                <a:cs typeface="Calibri"/>
              </a:rPr>
              <a:t> </a:t>
            </a:r>
            <a:r>
              <a:rPr dirty="0" sz="2600">
                <a:solidFill>
                  <a:srgbClr val="4E3629"/>
                </a:solidFill>
                <a:latin typeface="Calibri"/>
                <a:cs typeface="Calibri"/>
              </a:rPr>
              <a:t>tabla</a:t>
            </a:r>
            <a:r>
              <a:rPr dirty="0" sz="2600" spc="-40">
                <a:solidFill>
                  <a:srgbClr val="4E3629"/>
                </a:solidFill>
                <a:latin typeface="Calibri"/>
                <a:cs typeface="Calibri"/>
              </a:rPr>
              <a:t> </a:t>
            </a:r>
            <a:r>
              <a:rPr dirty="0" sz="2600">
                <a:solidFill>
                  <a:srgbClr val="4E3629"/>
                </a:solidFill>
                <a:latin typeface="Calibri"/>
                <a:cs typeface="Calibri"/>
              </a:rPr>
              <a:t>abreviado</a:t>
            </a:r>
            <a:r>
              <a:rPr dirty="0" sz="2600" spc="-65">
                <a:solidFill>
                  <a:srgbClr val="4E3629"/>
                </a:solidFill>
                <a:latin typeface="Calibri"/>
                <a:cs typeface="Calibri"/>
              </a:rPr>
              <a:t> </a:t>
            </a:r>
            <a:r>
              <a:rPr dirty="0" sz="2600">
                <a:solidFill>
                  <a:srgbClr val="4E3629"/>
                </a:solidFill>
                <a:latin typeface="Calibri"/>
                <a:cs typeface="Calibri"/>
              </a:rPr>
              <a:t>y</a:t>
            </a:r>
            <a:r>
              <a:rPr dirty="0" sz="2600" spc="-50">
                <a:solidFill>
                  <a:srgbClr val="4E3629"/>
                </a:solidFill>
                <a:latin typeface="Calibri"/>
                <a:cs typeface="Calibri"/>
              </a:rPr>
              <a:t> </a:t>
            </a:r>
            <a:r>
              <a:rPr dirty="0" sz="2600">
                <a:solidFill>
                  <a:srgbClr val="4E3629"/>
                </a:solidFill>
                <a:latin typeface="Calibri"/>
                <a:cs typeface="Calibri"/>
              </a:rPr>
              <a:t>un</a:t>
            </a:r>
            <a:r>
              <a:rPr dirty="0" sz="2600" spc="-55">
                <a:solidFill>
                  <a:srgbClr val="4E3629"/>
                </a:solidFill>
                <a:latin typeface="Calibri"/>
                <a:cs typeface="Calibri"/>
              </a:rPr>
              <a:t> </a:t>
            </a:r>
            <a:r>
              <a:rPr dirty="0" sz="2600" spc="-10">
                <a:solidFill>
                  <a:srgbClr val="4E3629"/>
                </a:solidFill>
                <a:latin typeface="Calibri"/>
                <a:cs typeface="Calibri"/>
              </a:rPr>
              <a:t>nombre</a:t>
            </a:r>
            <a:endParaRPr sz="2600">
              <a:latin typeface="Calibri"/>
              <a:cs typeface="Calibri"/>
            </a:endParaRPr>
          </a:p>
        </p:txBody>
      </p:sp>
      <p:sp>
        <p:nvSpPr>
          <p:cNvPr id="8" name="object 8" descr=""/>
          <p:cNvSpPr txBox="1"/>
          <p:nvPr/>
        </p:nvSpPr>
        <p:spPr>
          <a:xfrm>
            <a:off x="655764" y="3678749"/>
            <a:ext cx="7178040" cy="422275"/>
          </a:xfrm>
          <a:prstGeom prst="rect">
            <a:avLst/>
          </a:prstGeom>
        </p:spPr>
        <p:txBody>
          <a:bodyPr wrap="square" lIns="0" tIns="12700" rIns="0" bIns="0" rtlCol="0" vert="horz">
            <a:spAutoFit/>
          </a:bodyPr>
          <a:lstStyle/>
          <a:p>
            <a:pPr marL="12700">
              <a:lnSpc>
                <a:spcPct val="100000"/>
              </a:lnSpc>
              <a:spcBef>
                <a:spcPts val="100"/>
              </a:spcBef>
            </a:pPr>
            <a:r>
              <a:rPr dirty="0" sz="2600">
                <a:solidFill>
                  <a:srgbClr val="4E3629"/>
                </a:solidFill>
                <a:latin typeface="Calibri"/>
                <a:cs typeface="Calibri"/>
              </a:rPr>
              <a:t>de</a:t>
            </a:r>
            <a:r>
              <a:rPr dirty="0" sz="2600" spc="-55">
                <a:solidFill>
                  <a:srgbClr val="4E3629"/>
                </a:solidFill>
                <a:latin typeface="Calibri"/>
                <a:cs typeface="Calibri"/>
              </a:rPr>
              <a:t> </a:t>
            </a:r>
            <a:r>
              <a:rPr dirty="0" sz="2600">
                <a:solidFill>
                  <a:srgbClr val="4E3629"/>
                </a:solidFill>
                <a:latin typeface="Calibri"/>
                <a:cs typeface="Calibri"/>
              </a:rPr>
              <a:t>columna</a:t>
            </a:r>
            <a:r>
              <a:rPr dirty="0" sz="2600" spc="-55">
                <a:solidFill>
                  <a:srgbClr val="4E3629"/>
                </a:solidFill>
                <a:latin typeface="Calibri"/>
                <a:cs typeface="Calibri"/>
              </a:rPr>
              <a:t> </a:t>
            </a:r>
            <a:r>
              <a:rPr dirty="0" sz="2600">
                <a:solidFill>
                  <a:srgbClr val="4E3629"/>
                </a:solidFill>
                <a:latin typeface="Calibri"/>
                <a:cs typeface="Calibri"/>
              </a:rPr>
              <a:t>abreviado</a:t>
            </a:r>
            <a:r>
              <a:rPr dirty="0" sz="2600" spc="-50">
                <a:solidFill>
                  <a:srgbClr val="4E3629"/>
                </a:solidFill>
                <a:latin typeface="Calibri"/>
                <a:cs typeface="Calibri"/>
              </a:rPr>
              <a:t> </a:t>
            </a:r>
            <a:r>
              <a:rPr dirty="0" sz="2600">
                <a:solidFill>
                  <a:srgbClr val="4E3629"/>
                </a:solidFill>
                <a:latin typeface="Calibri"/>
                <a:cs typeface="Calibri"/>
              </a:rPr>
              <a:t>seguido</a:t>
            </a:r>
            <a:r>
              <a:rPr dirty="0" sz="2600" spc="-70">
                <a:solidFill>
                  <a:srgbClr val="4E3629"/>
                </a:solidFill>
                <a:latin typeface="Calibri"/>
                <a:cs typeface="Calibri"/>
              </a:rPr>
              <a:t> </a:t>
            </a:r>
            <a:r>
              <a:rPr dirty="0" sz="2600">
                <a:solidFill>
                  <a:srgbClr val="4E3629"/>
                </a:solidFill>
                <a:latin typeface="Calibri"/>
                <a:cs typeface="Calibri"/>
              </a:rPr>
              <a:t>de</a:t>
            </a:r>
            <a:r>
              <a:rPr dirty="0" sz="2600" spc="-55">
                <a:solidFill>
                  <a:srgbClr val="4E3629"/>
                </a:solidFill>
                <a:latin typeface="Calibri"/>
                <a:cs typeface="Calibri"/>
              </a:rPr>
              <a:t> </a:t>
            </a:r>
            <a:r>
              <a:rPr dirty="0" sz="2600">
                <a:solidFill>
                  <a:srgbClr val="4E3629"/>
                </a:solidFill>
                <a:latin typeface="Calibri"/>
                <a:cs typeface="Calibri"/>
              </a:rPr>
              <a:t>la</a:t>
            </a:r>
            <a:r>
              <a:rPr dirty="0" sz="2600" spc="-40">
                <a:solidFill>
                  <a:srgbClr val="4E3629"/>
                </a:solidFill>
                <a:latin typeface="Calibri"/>
                <a:cs typeface="Calibri"/>
              </a:rPr>
              <a:t> </a:t>
            </a:r>
            <a:r>
              <a:rPr dirty="0" sz="2600" spc="-10">
                <a:solidFill>
                  <a:srgbClr val="4E3629"/>
                </a:solidFill>
                <a:latin typeface="Calibri"/>
                <a:cs typeface="Calibri"/>
              </a:rPr>
              <a:t>abreviatura</a:t>
            </a:r>
            <a:r>
              <a:rPr dirty="0" sz="2600" spc="-60">
                <a:solidFill>
                  <a:srgbClr val="4E3629"/>
                </a:solidFill>
                <a:latin typeface="Calibri"/>
                <a:cs typeface="Calibri"/>
              </a:rPr>
              <a:t> </a:t>
            </a:r>
            <a:r>
              <a:rPr dirty="0" sz="2600">
                <a:solidFill>
                  <a:srgbClr val="4E3629"/>
                </a:solidFill>
                <a:latin typeface="Calibri"/>
                <a:cs typeface="Calibri"/>
              </a:rPr>
              <a:t>de</a:t>
            </a:r>
            <a:r>
              <a:rPr dirty="0" sz="2600" spc="-55">
                <a:solidFill>
                  <a:srgbClr val="4E3629"/>
                </a:solidFill>
                <a:latin typeface="Calibri"/>
                <a:cs typeface="Calibri"/>
              </a:rPr>
              <a:t> </a:t>
            </a:r>
            <a:r>
              <a:rPr dirty="0" sz="2600" spc="-25">
                <a:solidFill>
                  <a:srgbClr val="4E3629"/>
                </a:solidFill>
                <a:latin typeface="Calibri"/>
                <a:cs typeface="Calibri"/>
              </a:rPr>
              <a:t>la</a:t>
            </a:r>
            <a:endParaRPr sz="2600">
              <a:latin typeface="Calibri"/>
              <a:cs typeface="Calibri"/>
            </a:endParaRPr>
          </a:p>
        </p:txBody>
      </p:sp>
      <p:sp>
        <p:nvSpPr>
          <p:cNvPr id="9" name="object 9" descr=""/>
          <p:cNvSpPr txBox="1"/>
          <p:nvPr/>
        </p:nvSpPr>
        <p:spPr>
          <a:xfrm>
            <a:off x="655764" y="3956213"/>
            <a:ext cx="6553200" cy="699770"/>
          </a:xfrm>
          <a:prstGeom prst="rect">
            <a:avLst/>
          </a:prstGeom>
        </p:spPr>
        <p:txBody>
          <a:bodyPr wrap="square" lIns="0" tIns="12700" rIns="0" bIns="0" rtlCol="0" vert="horz">
            <a:spAutoFit/>
          </a:bodyPr>
          <a:lstStyle/>
          <a:p>
            <a:pPr marL="12700">
              <a:lnSpc>
                <a:spcPts val="2650"/>
              </a:lnSpc>
              <a:spcBef>
                <a:spcPts val="100"/>
              </a:spcBef>
            </a:pPr>
            <a:r>
              <a:rPr dirty="0" sz="2600" spc="-10">
                <a:solidFill>
                  <a:srgbClr val="4E3629"/>
                </a:solidFill>
                <a:latin typeface="Calibri"/>
                <a:cs typeface="Calibri"/>
              </a:rPr>
              <a:t>restricción:</a:t>
            </a:r>
            <a:endParaRPr sz="2600">
              <a:latin typeface="Calibri"/>
              <a:cs typeface="Calibri"/>
            </a:endParaRPr>
          </a:p>
          <a:p>
            <a:pPr marL="12700">
              <a:lnSpc>
                <a:spcPts val="2650"/>
              </a:lnSpc>
            </a:pPr>
            <a:r>
              <a:rPr dirty="0" sz="2600" spc="-20">
                <a:solidFill>
                  <a:srgbClr val="4E3629"/>
                </a:solidFill>
                <a:latin typeface="Calibri"/>
                <a:cs typeface="Calibri"/>
              </a:rPr>
              <a:t>nombre-tabla_nombre-columna_tipo-</a:t>
            </a:r>
            <a:r>
              <a:rPr dirty="0" sz="2600" spc="-10">
                <a:solidFill>
                  <a:srgbClr val="4E3629"/>
                </a:solidFill>
                <a:latin typeface="Calibri"/>
                <a:cs typeface="Calibri"/>
              </a:rPr>
              <a:t>restricción</a:t>
            </a:r>
            <a:endParaRPr sz="2600">
              <a:latin typeface="Calibri"/>
              <a:cs typeface="Calibri"/>
            </a:endParaRPr>
          </a:p>
        </p:txBody>
      </p:sp>
      <p:sp>
        <p:nvSpPr>
          <p:cNvPr id="10" name="object 10" descr=""/>
          <p:cNvSpPr txBox="1"/>
          <p:nvPr/>
        </p:nvSpPr>
        <p:spPr>
          <a:xfrm>
            <a:off x="483552" y="4612769"/>
            <a:ext cx="6986270" cy="422275"/>
          </a:xfrm>
          <a:prstGeom prst="rect">
            <a:avLst/>
          </a:prstGeom>
        </p:spPr>
        <p:txBody>
          <a:bodyPr wrap="square" lIns="0" tIns="12700" rIns="0" bIns="0" rtlCol="0" vert="horz">
            <a:spAutoFit/>
          </a:bodyPr>
          <a:lstStyle/>
          <a:p>
            <a:pPr marL="184785" indent="-172085">
              <a:lnSpc>
                <a:spcPct val="100000"/>
              </a:lnSpc>
              <a:spcBef>
                <a:spcPts val="100"/>
              </a:spcBef>
              <a:buClr>
                <a:srgbClr val="D1350F"/>
              </a:buClr>
              <a:buFont typeface="Arial MT"/>
              <a:buChar char="•"/>
              <a:tabLst>
                <a:tab pos="184785" algn="l"/>
              </a:tabLst>
            </a:pPr>
            <a:r>
              <a:rPr dirty="0" sz="2600">
                <a:solidFill>
                  <a:srgbClr val="4E3629"/>
                </a:solidFill>
                <a:latin typeface="Calibri"/>
                <a:cs typeface="Calibri"/>
              </a:rPr>
              <a:t>Si</a:t>
            </a:r>
            <a:r>
              <a:rPr dirty="0" sz="2600" spc="-50">
                <a:solidFill>
                  <a:srgbClr val="4E3629"/>
                </a:solidFill>
                <a:latin typeface="Calibri"/>
                <a:cs typeface="Calibri"/>
              </a:rPr>
              <a:t> </a:t>
            </a:r>
            <a:r>
              <a:rPr dirty="0" sz="2600">
                <a:solidFill>
                  <a:srgbClr val="4E3629"/>
                </a:solidFill>
                <a:latin typeface="Calibri"/>
                <a:cs typeface="Calibri"/>
              </a:rPr>
              <a:t>se</a:t>
            </a:r>
            <a:r>
              <a:rPr dirty="0" sz="2600" spc="-65">
                <a:solidFill>
                  <a:srgbClr val="4E3629"/>
                </a:solidFill>
                <a:latin typeface="Calibri"/>
                <a:cs typeface="Calibri"/>
              </a:rPr>
              <a:t> </a:t>
            </a:r>
            <a:r>
              <a:rPr dirty="0" sz="2600">
                <a:solidFill>
                  <a:srgbClr val="4E3629"/>
                </a:solidFill>
                <a:latin typeface="Calibri"/>
                <a:cs typeface="Calibri"/>
              </a:rPr>
              <a:t>utiliza</a:t>
            </a:r>
            <a:r>
              <a:rPr dirty="0" sz="2600" spc="-60">
                <a:solidFill>
                  <a:srgbClr val="4E3629"/>
                </a:solidFill>
                <a:latin typeface="Calibri"/>
                <a:cs typeface="Calibri"/>
              </a:rPr>
              <a:t> </a:t>
            </a:r>
            <a:r>
              <a:rPr dirty="0" sz="2600">
                <a:solidFill>
                  <a:srgbClr val="4E3629"/>
                </a:solidFill>
                <a:latin typeface="Calibri"/>
                <a:cs typeface="Calibri"/>
              </a:rPr>
              <a:t>la</a:t>
            </a:r>
            <a:r>
              <a:rPr dirty="0" sz="2600" spc="-50">
                <a:solidFill>
                  <a:srgbClr val="4E3629"/>
                </a:solidFill>
                <a:latin typeface="Calibri"/>
                <a:cs typeface="Calibri"/>
              </a:rPr>
              <a:t> </a:t>
            </a:r>
            <a:r>
              <a:rPr dirty="0" sz="2600">
                <a:solidFill>
                  <a:srgbClr val="4E3629"/>
                </a:solidFill>
                <a:latin typeface="Calibri"/>
                <a:cs typeface="Calibri"/>
              </a:rPr>
              <a:t>palabra</a:t>
            </a:r>
            <a:r>
              <a:rPr dirty="0" sz="2600" spc="-60">
                <a:solidFill>
                  <a:srgbClr val="4E3629"/>
                </a:solidFill>
                <a:latin typeface="Calibri"/>
                <a:cs typeface="Calibri"/>
              </a:rPr>
              <a:t> </a:t>
            </a:r>
            <a:r>
              <a:rPr dirty="0" sz="2600">
                <a:solidFill>
                  <a:srgbClr val="4E3629"/>
                </a:solidFill>
                <a:latin typeface="Calibri"/>
                <a:cs typeface="Calibri"/>
              </a:rPr>
              <a:t>reservada</a:t>
            </a:r>
            <a:r>
              <a:rPr dirty="0" sz="2600" spc="-75">
                <a:solidFill>
                  <a:srgbClr val="4E3629"/>
                </a:solidFill>
                <a:latin typeface="Calibri"/>
                <a:cs typeface="Calibri"/>
              </a:rPr>
              <a:t> </a:t>
            </a:r>
            <a:r>
              <a:rPr dirty="0" sz="2600">
                <a:solidFill>
                  <a:srgbClr val="4E3629"/>
                </a:solidFill>
                <a:latin typeface="Calibri"/>
                <a:cs typeface="Calibri"/>
              </a:rPr>
              <a:t>CONSTRAINT</a:t>
            </a:r>
            <a:r>
              <a:rPr dirty="0" sz="2600" spc="-90">
                <a:solidFill>
                  <a:srgbClr val="4E3629"/>
                </a:solidFill>
                <a:latin typeface="Calibri"/>
                <a:cs typeface="Calibri"/>
              </a:rPr>
              <a:t> </a:t>
            </a:r>
            <a:r>
              <a:rPr dirty="0" sz="2600">
                <a:solidFill>
                  <a:srgbClr val="4E3629"/>
                </a:solidFill>
                <a:latin typeface="Calibri"/>
                <a:cs typeface="Calibri"/>
              </a:rPr>
              <a:t>en</a:t>
            </a:r>
            <a:r>
              <a:rPr dirty="0" sz="2600" spc="-60">
                <a:solidFill>
                  <a:srgbClr val="4E3629"/>
                </a:solidFill>
                <a:latin typeface="Calibri"/>
                <a:cs typeface="Calibri"/>
              </a:rPr>
              <a:t> </a:t>
            </a:r>
            <a:r>
              <a:rPr dirty="0" sz="2600" spc="-25">
                <a:solidFill>
                  <a:srgbClr val="4E3629"/>
                </a:solidFill>
                <a:latin typeface="Calibri"/>
                <a:cs typeface="Calibri"/>
              </a:rPr>
              <a:t>la</a:t>
            </a:r>
            <a:endParaRPr sz="2600">
              <a:latin typeface="Calibri"/>
              <a:cs typeface="Calibri"/>
            </a:endParaRPr>
          </a:p>
        </p:txBody>
      </p:sp>
      <p:sp>
        <p:nvSpPr>
          <p:cNvPr id="11" name="object 11" descr=""/>
          <p:cNvSpPr txBox="1"/>
          <p:nvPr/>
        </p:nvSpPr>
        <p:spPr>
          <a:xfrm>
            <a:off x="655764" y="4890234"/>
            <a:ext cx="7793355" cy="977265"/>
          </a:xfrm>
          <a:prstGeom prst="rect">
            <a:avLst/>
          </a:prstGeom>
        </p:spPr>
        <p:txBody>
          <a:bodyPr wrap="square" lIns="0" tIns="132080" rIns="0" bIns="0" rtlCol="0" vert="horz">
            <a:spAutoFit/>
          </a:bodyPr>
          <a:lstStyle/>
          <a:p>
            <a:pPr marL="12700" marR="5080">
              <a:lnSpc>
                <a:spcPct val="70000"/>
              </a:lnSpc>
              <a:spcBef>
                <a:spcPts val="1040"/>
              </a:spcBef>
            </a:pPr>
            <a:r>
              <a:rPr dirty="0" sz="2600">
                <a:solidFill>
                  <a:srgbClr val="4E3629"/>
                </a:solidFill>
                <a:latin typeface="Calibri"/>
                <a:cs typeface="Calibri"/>
              </a:rPr>
              <a:t>definición</a:t>
            </a:r>
            <a:r>
              <a:rPr dirty="0" sz="2600" spc="-65">
                <a:solidFill>
                  <a:srgbClr val="4E3629"/>
                </a:solidFill>
                <a:latin typeface="Calibri"/>
                <a:cs typeface="Calibri"/>
              </a:rPr>
              <a:t> </a:t>
            </a:r>
            <a:r>
              <a:rPr dirty="0" sz="2600">
                <a:solidFill>
                  <a:srgbClr val="4E3629"/>
                </a:solidFill>
                <a:latin typeface="Calibri"/>
                <a:cs typeface="Calibri"/>
              </a:rPr>
              <a:t>de</a:t>
            </a:r>
            <a:r>
              <a:rPr dirty="0" sz="2600" spc="-55">
                <a:solidFill>
                  <a:srgbClr val="4E3629"/>
                </a:solidFill>
                <a:latin typeface="Calibri"/>
                <a:cs typeface="Calibri"/>
              </a:rPr>
              <a:t> </a:t>
            </a:r>
            <a:r>
              <a:rPr dirty="0" sz="2600" spc="-30">
                <a:solidFill>
                  <a:srgbClr val="4E3629"/>
                </a:solidFill>
                <a:latin typeface="Calibri"/>
                <a:cs typeface="Calibri"/>
              </a:rPr>
              <a:t>CREATE</a:t>
            </a:r>
            <a:r>
              <a:rPr dirty="0" sz="2600" spc="-75">
                <a:solidFill>
                  <a:srgbClr val="4E3629"/>
                </a:solidFill>
                <a:latin typeface="Calibri"/>
                <a:cs typeface="Calibri"/>
              </a:rPr>
              <a:t> </a:t>
            </a:r>
            <a:r>
              <a:rPr dirty="0" sz="2600" spc="-25">
                <a:solidFill>
                  <a:srgbClr val="4E3629"/>
                </a:solidFill>
                <a:latin typeface="Calibri"/>
                <a:cs typeface="Calibri"/>
              </a:rPr>
              <a:t>TABLE,</a:t>
            </a:r>
            <a:r>
              <a:rPr dirty="0" sz="2600" spc="-70">
                <a:solidFill>
                  <a:srgbClr val="4E3629"/>
                </a:solidFill>
                <a:latin typeface="Calibri"/>
                <a:cs typeface="Calibri"/>
              </a:rPr>
              <a:t> </a:t>
            </a:r>
            <a:r>
              <a:rPr dirty="0" sz="2600">
                <a:solidFill>
                  <a:srgbClr val="4E3629"/>
                </a:solidFill>
                <a:latin typeface="Calibri"/>
                <a:cs typeface="Calibri"/>
              </a:rPr>
              <a:t>debe</a:t>
            </a:r>
            <a:r>
              <a:rPr dirty="0" sz="2600" spc="-60">
                <a:solidFill>
                  <a:srgbClr val="4E3629"/>
                </a:solidFill>
                <a:latin typeface="Calibri"/>
                <a:cs typeface="Calibri"/>
              </a:rPr>
              <a:t> </a:t>
            </a:r>
            <a:r>
              <a:rPr dirty="0" sz="2600">
                <a:solidFill>
                  <a:srgbClr val="4E3629"/>
                </a:solidFill>
                <a:latin typeface="Calibri"/>
                <a:cs typeface="Calibri"/>
              </a:rPr>
              <a:t>asignar</a:t>
            </a:r>
            <a:r>
              <a:rPr dirty="0" sz="2600" spc="-50">
                <a:solidFill>
                  <a:srgbClr val="4E3629"/>
                </a:solidFill>
                <a:latin typeface="Calibri"/>
                <a:cs typeface="Calibri"/>
              </a:rPr>
              <a:t> </a:t>
            </a:r>
            <a:r>
              <a:rPr dirty="0" sz="2600">
                <a:solidFill>
                  <a:srgbClr val="4E3629"/>
                </a:solidFill>
                <a:latin typeface="Calibri"/>
                <a:cs typeface="Calibri"/>
              </a:rPr>
              <a:t>un</a:t>
            </a:r>
            <a:r>
              <a:rPr dirty="0" sz="2600" spc="-55">
                <a:solidFill>
                  <a:srgbClr val="4E3629"/>
                </a:solidFill>
                <a:latin typeface="Calibri"/>
                <a:cs typeface="Calibri"/>
              </a:rPr>
              <a:t> </a:t>
            </a:r>
            <a:r>
              <a:rPr dirty="0" sz="2600">
                <a:solidFill>
                  <a:srgbClr val="4E3629"/>
                </a:solidFill>
                <a:latin typeface="Calibri"/>
                <a:cs typeface="Calibri"/>
              </a:rPr>
              <a:t>nombre</a:t>
            </a:r>
            <a:r>
              <a:rPr dirty="0" sz="2600" spc="-50">
                <a:solidFill>
                  <a:srgbClr val="4E3629"/>
                </a:solidFill>
                <a:latin typeface="Calibri"/>
                <a:cs typeface="Calibri"/>
              </a:rPr>
              <a:t> </a:t>
            </a:r>
            <a:r>
              <a:rPr dirty="0" sz="2600">
                <a:solidFill>
                  <a:srgbClr val="4E3629"/>
                </a:solidFill>
                <a:latin typeface="Calibri"/>
                <a:cs typeface="Calibri"/>
              </a:rPr>
              <a:t>a</a:t>
            </a:r>
            <a:r>
              <a:rPr dirty="0" sz="2600" spc="-30">
                <a:solidFill>
                  <a:srgbClr val="4E3629"/>
                </a:solidFill>
                <a:latin typeface="Calibri"/>
                <a:cs typeface="Calibri"/>
              </a:rPr>
              <a:t> </a:t>
            </a:r>
            <a:r>
              <a:rPr dirty="0" sz="2600" spc="-25">
                <a:solidFill>
                  <a:srgbClr val="4E3629"/>
                </a:solidFill>
                <a:latin typeface="Calibri"/>
                <a:cs typeface="Calibri"/>
              </a:rPr>
              <a:t>la </a:t>
            </a:r>
            <a:r>
              <a:rPr dirty="0" sz="2600" spc="-10">
                <a:solidFill>
                  <a:srgbClr val="4E3629"/>
                </a:solidFill>
                <a:latin typeface="Calibri"/>
                <a:cs typeface="Calibri"/>
              </a:rPr>
              <a:t>restricción.</a:t>
            </a:r>
            <a:r>
              <a:rPr dirty="0" sz="2600" spc="-55">
                <a:solidFill>
                  <a:srgbClr val="4E3629"/>
                </a:solidFill>
                <a:latin typeface="Calibri"/>
                <a:cs typeface="Calibri"/>
              </a:rPr>
              <a:t> </a:t>
            </a:r>
            <a:r>
              <a:rPr dirty="0" sz="2600">
                <a:solidFill>
                  <a:srgbClr val="4E3629"/>
                </a:solidFill>
                <a:latin typeface="Calibri"/>
                <a:cs typeface="Calibri"/>
              </a:rPr>
              <a:t>Los</a:t>
            </a:r>
            <a:r>
              <a:rPr dirty="0" sz="2600" spc="-25">
                <a:solidFill>
                  <a:srgbClr val="4E3629"/>
                </a:solidFill>
                <a:latin typeface="Calibri"/>
                <a:cs typeface="Calibri"/>
              </a:rPr>
              <a:t> </a:t>
            </a:r>
            <a:r>
              <a:rPr dirty="0" sz="2600">
                <a:solidFill>
                  <a:srgbClr val="4E3629"/>
                </a:solidFill>
                <a:latin typeface="Calibri"/>
                <a:cs typeface="Calibri"/>
              </a:rPr>
              <a:t>nombres</a:t>
            </a:r>
            <a:r>
              <a:rPr dirty="0" sz="2600" spc="-50">
                <a:solidFill>
                  <a:srgbClr val="4E3629"/>
                </a:solidFill>
                <a:latin typeface="Calibri"/>
                <a:cs typeface="Calibri"/>
              </a:rPr>
              <a:t> </a:t>
            </a:r>
            <a:r>
              <a:rPr dirty="0" sz="2600">
                <a:solidFill>
                  <a:srgbClr val="4E3629"/>
                </a:solidFill>
                <a:latin typeface="Calibri"/>
                <a:cs typeface="Calibri"/>
              </a:rPr>
              <a:t>de</a:t>
            </a:r>
            <a:r>
              <a:rPr dirty="0" sz="2600" spc="-45">
                <a:solidFill>
                  <a:srgbClr val="4E3629"/>
                </a:solidFill>
                <a:latin typeface="Calibri"/>
                <a:cs typeface="Calibri"/>
              </a:rPr>
              <a:t> </a:t>
            </a:r>
            <a:r>
              <a:rPr dirty="0" sz="2600" spc="-10">
                <a:solidFill>
                  <a:srgbClr val="4E3629"/>
                </a:solidFill>
                <a:latin typeface="Calibri"/>
                <a:cs typeface="Calibri"/>
              </a:rPr>
              <a:t>restricción</a:t>
            </a:r>
            <a:r>
              <a:rPr dirty="0" sz="2600" spc="-50">
                <a:solidFill>
                  <a:srgbClr val="4E3629"/>
                </a:solidFill>
                <a:latin typeface="Calibri"/>
                <a:cs typeface="Calibri"/>
              </a:rPr>
              <a:t> </a:t>
            </a:r>
            <a:r>
              <a:rPr dirty="0" sz="2600">
                <a:solidFill>
                  <a:srgbClr val="4E3629"/>
                </a:solidFill>
                <a:latin typeface="Calibri"/>
                <a:cs typeface="Calibri"/>
              </a:rPr>
              <a:t>tienen</a:t>
            </a:r>
            <a:r>
              <a:rPr dirty="0" sz="2600" spc="-65">
                <a:solidFill>
                  <a:srgbClr val="4E3629"/>
                </a:solidFill>
                <a:latin typeface="Calibri"/>
                <a:cs typeface="Calibri"/>
              </a:rPr>
              <a:t> </a:t>
            </a:r>
            <a:r>
              <a:rPr dirty="0" sz="2600">
                <a:solidFill>
                  <a:srgbClr val="4E3629"/>
                </a:solidFill>
                <a:latin typeface="Calibri"/>
                <a:cs typeface="Calibri"/>
              </a:rPr>
              <a:t>un</a:t>
            </a:r>
            <a:r>
              <a:rPr dirty="0" sz="2600" spc="-40">
                <a:solidFill>
                  <a:srgbClr val="4E3629"/>
                </a:solidFill>
                <a:latin typeface="Calibri"/>
                <a:cs typeface="Calibri"/>
              </a:rPr>
              <a:t> </a:t>
            </a:r>
            <a:r>
              <a:rPr dirty="0" sz="2600">
                <a:solidFill>
                  <a:srgbClr val="4E3629"/>
                </a:solidFill>
                <a:latin typeface="Calibri"/>
                <a:cs typeface="Calibri"/>
              </a:rPr>
              <a:t>límite</a:t>
            </a:r>
            <a:r>
              <a:rPr dirty="0" sz="2600" spc="-45">
                <a:solidFill>
                  <a:srgbClr val="4E3629"/>
                </a:solidFill>
                <a:latin typeface="Calibri"/>
                <a:cs typeface="Calibri"/>
              </a:rPr>
              <a:t> </a:t>
            </a:r>
            <a:r>
              <a:rPr dirty="0" sz="2600" spc="-25">
                <a:solidFill>
                  <a:srgbClr val="4E3629"/>
                </a:solidFill>
                <a:latin typeface="Calibri"/>
                <a:cs typeface="Calibri"/>
              </a:rPr>
              <a:t>de </a:t>
            </a:r>
            <a:r>
              <a:rPr dirty="0" u="heavy" sz="2600">
                <a:solidFill>
                  <a:srgbClr val="4E3629"/>
                </a:solidFill>
                <a:uFill>
                  <a:solidFill>
                    <a:srgbClr val="EC2814"/>
                  </a:solidFill>
                </a:uFill>
                <a:latin typeface="Calibri"/>
                <a:cs typeface="Calibri"/>
              </a:rPr>
              <a:t>30</a:t>
            </a:r>
            <a:r>
              <a:rPr dirty="0" u="heavy" sz="2600" spc="-15">
                <a:solidFill>
                  <a:srgbClr val="4E3629"/>
                </a:solidFill>
                <a:uFill>
                  <a:solidFill>
                    <a:srgbClr val="EC2814"/>
                  </a:solidFill>
                </a:uFill>
                <a:latin typeface="Calibri"/>
                <a:cs typeface="Calibri"/>
              </a:rPr>
              <a:t> </a:t>
            </a:r>
            <a:r>
              <a:rPr dirty="0" u="heavy" sz="2600" spc="-10">
                <a:solidFill>
                  <a:srgbClr val="4E3629"/>
                </a:solidFill>
                <a:uFill>
                  <a:solidFill>
                    <a:srgbClr val="EC2814"/>
                  </a:solidFill>
                </a:uFill>
                <a:latin typeface="Calibri"/>
                <a:cs typeface="Calibri"/>
              </a:rPr>
              <a:t>caracteres</a:t>
            </a:r>
            <a:endParaRPr sz="2600">
              <a:latin typeface="Calibri"/>
              <a:cs typeface="Calibri"/>
            </a:endParaRPr>
          </a:p>
        </p:txBody>
      </p:sp>
      <p:sp>
        <p:nvSpPr>
          <p:cNvPr id="12" name="object 12" descr=""/>
          <p:cNvSpPr txBox="1"/>
          <p:nvPr/>
        </p:nvSpPr>
        <p:spPr>
          <a:xfrm>
            <a:off x="7847931" y="3838194"/>
            <a:ext cx="1203960" cy="1108710"/>
          </a:xfrm>
          <a:prstGeom prst="rect">
            <a:avLst/>
          </a:prstGeom>
        </p:spPr>
        <p:txBody>
          <a:bodyPr wrap="square" lIns="0" tIns="14604" rIns="0" bIns="0" rtlCol="0" vert="horz">
            <a:spAutoFit/>
          </a:bodyPr>
          <a:lstStyle/>
          <a:p>
            <a:pPr algn="ctr" marL="12700" marR="5080">
              <a:lnSpc>
                <a:spcPct val="101200"/>
              </a:lnSpc>
              <a:spcBef>
                <a:spcPts val="114"/>
              </a:spcBef>
            </a:pPr>
            <a:r>
              <a:rPr dirty="0" sz="1400">
                <a:solidFill>
                  <a:srgbClr val="FF3B30"/>
                </a:solidFill>
                <a:latin typeface="Arial MT"/>
                <a:cs typeface="Arial MT"/>
              </a:rPr>
              <a:t>Con</a:t>
            </a:r>
            <a:r>
              <a:rPr dirty="0" sz="1400" spc="75">
                <a:solidFill>
                  <a:srgbClr val="FF3B30"/>
                </a:solidFill>
                <a:latin typeface="Arial MT"/>
                <a:cs typeface="Arial MT"/>
              </a:rPr>
              <a:t> </a:t>
            </a:r>
            <a:r>
              <a:rPr dirty="0" sz="1400" spc="-20">
                <a:solidFill>
                  <a:srgbClr val="FF3B30"/>
                </a:solidFill>
                <a:latin typeface="Arial MT"/>
                <a:cs typeface="Arial MT"/>
              </a:rPr>
              <a:t>esta </a:t>
            </a:r>
            <a:r>
              <a:rPr dirty="0" sz="1400" spc="-10">
                <a:solidFill>
                  <a:srgbClr val="FF3B30"/>
                </a:solidFill>
                <a:latin typeface="Arial MT"/>
                <a:cs typeface="Arial MT"/>
              </a:rPr>
              <a:t>nomenclatura </a:t>
            </a:r>
            <a:r>
              <a:rPr dirty="0" sz="1400">
                <a:solidFill>
                  <a:srgbClr val="FF3B30"/>
                </a:solidFill>
                <a:latin typeface="Arial MT"/>
                <a:cs typeface="Arial MT"/>
              </a:rPr>
              <a:t>deben</a:t>
            </a:r>
            <a:r>
              <a:rPr dirty="0" sz="1400" spc="125">
                <a:solidFill>
                  <a:srgbClr val="FF3B30"/>
                </a:solidFill>
                <a:latin typeface="Arial MT"/>
                <a:cs typeface="Arial MT"/>
              </a:rPr>
              <a:t> </a:t>
            </a:r>
            <a:r>
              <a:rPr dirty="0" sz="1400" spc="-10">
                <a:solidFill>
                  <a:srgbClr val="FF3B30"/>
                </a:solidFill>
                <a:latin typeface="Arial MT"/>
                <a:cs typeface="Arial MT"/>
              </a:rPr>
              <a:t>trabajar </a:t>
            </a:r>
            <a:r>
              <a:rPr dirty="0" sz="1400">
                <a:solidFill>
                  <a:srgbClr val="FF3B30"/>
                </a:solidFill>
                <a:latin typeface="Arial MT"/>
                <a:cs typeface="Arial MT"/>
              </a:rPr>
              <a:t>el</a:t>
            </a:r>
            <a:r>
              <a:rPr dirty="0" sz="1400" spc="55">
                <a:solidFill>
                  <a:srgbClr val="FF3B30"/>
                </a:solidFill>
                <a:latin typeface="Arial MT"/>
                <a:cs typeface="Arial MT"/>
              </a:rPr>
              <a:t> </a:t>
            </a:r>
            <a:r>
              <a:rPr dirty="0" sz="1400">
                <a:solidFill>
                  <a:srgbClr val="FF3B30"/>
                </a:solidFill>
                <a:latin typeface="Arial MT"/>
                <a:cs typeface="Arial MT"/>
              </a:rPr>
              <a:t>script</a:t>
            </a:r>
            <a:r>
              <a:rPr dirty="0" sz="1400" spc="55">
                <a:solidFill>
                  <a:srgbClr val="FF3B30"/>
                </a:solidFill>
                <a:latin typeface="Arial MT"/>
                <a:cs typeface="Arial MT"/>
              </a:rPr>
              <a:t> </a:t>
            </a:r>
            <a:r>
              <a:rPr dirty="0" sz="1400">
                <a:solidFill>
                  <a:srgbClr val="FF3B30"/>
                </a:solidFill>
                <a:latin typeface="Arial MT"/>
                <a:cs typeface="Arial MT"/>
              </a:rPr>
              <a:t>en</a:t>
            </a:r>
            <a:r>
              <a:rPr dirty="0" sz="1400" spc="55">
                <a:solidFill>
                  <a:srgbClr val="FF3B30"/>
                </a:solidFill>
                <a:latin typeface="Arial MT"/>
                <a:cs typeface="Arial MT"/>
              </a:rPr>
              <a:t> </a:t>
            </a:r>
            <a:r>
              <a:rPr dirty="0" sz="1400" spc="-25">
                <a:solidFill>
                  <a:srgbClr val="FF3B30"/>
                </a:solidFill>
                <a:latin typeface="Arial MT"/>
                <a:cs typeface="Arial MT"/>
              </a:rPr>
              <a:t>el </a:t>
            </a:r>
            <a:r>
              <a:rPr dirty="0" sz="1400" spc="-10">
                <a:solidFill>
                  <a:srgbClr val="FF3B30"/>
                </a:solidFill>
                <a:latin typeface="Arial MT"/>
                <a:cs typeface="Arial MT"/>
              </a:rPr>
              <a:t>proyecto.</a:t>
            </a:r>
            <a:endParaRPr sz="1400">
              <a:latin typeface="Arial MT"/>
              <a:cs typeface="Arial MT"/>
            </a:endParaRPr>
          </a:p>
        </p:txBody>
      </p:sp>
      <p:grpSp>
        <p:nvGrpSpPr>
          <p:cNvPr id="13" name="object 13" descr=""/>
          <p:cNvGrpSpPr/>
          <p:nvPr/>
        </p:nvGrpSpPr>
        <p:grpSpPr>
          <a:xfrm>
            <a:off x="7239553" y="4301067"/>
            <a:ext cx="560070" cy="190500"/>
            <a:chOff x="7239553" y="4301067"/>
            <a:chExt cx="560070" cy="190500"/>
          </a:xfrm>
        </p:grpSpPr>
        <p:sp>
          <p:nvSpPr>
            <p:cNvPr id="14" name="object 14" descr=""/>
            <p:cNvSpPr/>
            <p:nvPr/>
          </p:nvSpPr>
          <p:spPr>
            <a:xfrm>
              <a:off x="7239553" y="4301067"/>
              <a:ext cx="190500" cy="190500"/>
            </a:xfrm>
            <a:custGeom>
              <a:avLst/>
              <a:gdLst/>
              <a:ahLst/>
              <a:cxnLst/>
              <a:rect l="l" t="t" r="r" b="b"/>
              <a:pathLst>
                <a:path w="190500" h="190500">
                  <a:moveTo>
                    <a:pt x="190217" y="0"/>
                  </a:moveTo>
                  <a:lnTo>
                    <a:pt x="0" y="95298"/>
                  </a:lnTo>
                  <a:lnTo>
                    <a:pt x="190368" y="190293"/>
                  </a:lnTo>
                  <a:lnTo>
                    <a:pt x="190217" y="0"/>
                  </a:lnTo>
                  <a:close/>
                </a:path>
              </a:pathLst>
            </a:custGeom>
            <a:solidFill>
              <a:srgbClr val="000000"/>
            </a:solidFill>
          </p:spPr>
          <p:txBody>
            <a:bodyPr wrap="square" lIns="0" tIns="0" rIns="0" bIns="0" rtlCol="0"/>
            <a:lstStyle/>
            <a:p/>
          </p:txBody>
        </p:sp>
        <p:sp>
          <p:nvSpPr>
            <p:cNvPr id="15" name="object 15" descr=""/>
            <p:cNvSpPr/>
            <p:nvPr/>
          </p:nvSpPr>
          <p:spPr>
            <a:xfrm>
              <a:off x="7428875" y="4395934"/>
              <a:ext cx="351790" cy="635"/>
            </a:xfrm>
            <a:custGeom>
              <a:avLst/>
              <a:gdLst/>
              <a:ahLst/>
              <a:cxnLst/>
              <a:rect l="l" t="t" r="r" b="b"/>
              <a:pathLst>
                <a:path w="351790" h="635">
                  <a:moveTo>
                    <a:pt x="351599" y="0"/>
                  </a:moveTo>
                  <a:lnTo>
                    <a:pt x="338076" y="10"/>
                  </a:lnTo>
                  <a:lnTo>
                    <a:pt x="324553" y="21"/>
                  </a:lnTo>
                  <a:lnTo>
                    <a:pt x="311030" y="31"/>
                  </a:lnTo>
                  <a:lnTo>
                    <a:pt x="297507" y="43"/>
                  </a:lnTo>
                  <a:lnTo>
                    <a:pt x="283984" y="53"/>
                  </a:lnTo>
                  <a:lnTo>
                    <a:pt x="270461" y="64"/>
                  </a:lnTo>
                  <a:lnTo>
                    <a:pt x="256938" y="74"/>
                  </a:lnTo>
                  <a:lnTo>
                    <a:pt x="243414" y="86"/>
                  </a:lnTo>
                  <a:lnTo>
                    <a:pt x="229891" y="96"/>
                  </a:lnTo>
                  <a:lnTo>
                    <a:pt x="216368" y="107"/>
                  </a:lnTo>
                  <a:lnTo>
                    <a:pt x="202845" y="118"/>
                  </a:lnTo>
                  <a:lnTo>
                    <a:pt x="189322" y="128"/>
                  </a:lnTo>
                  <a:lnTo>
                    <a:pt x="175799" y="139"/>
                  </a:lnTo>
                  <a:lnTo>
                    <a:pt x="162276" y="149"/>
                  </a:lnTo>
                  <a:lnTo>
                    <a:pt x="148753" y="161"/>
                  </a:lnTo>
                  <a:lnTo>
                    <a:pt x="135230" y="171"/>
                  </a:lnTo>
                  <a:lnTo>
                    <a:pt x="121707" y="182"/>
                  </a:lnTo>
                  <a:lnTo>
                    <a:pt x="108184" y="192"/>
                  </a:lnTo>
                  <a:lnTo>
                    <a:pt x="94661" y="204"/>
                  </a:lnTo>
                  <a:lnTo>
                    <a:pt x="81138" y="214"/>
                  </a:lnTo>
                  <a:lnTo>
                    <a:pt x="67615" y="225"/>
                  </a:lnTo>
                  <a:lnTo>
                    <a:pt x="54093" y="236"/>
                  </a:lnTo>
                  <a:lnTo>
                    <a:pt x="40570" y="247"/>
                  </a:lnTo>
                  <a:lnTo>
                    <a:pt x="27045" y="257"/>
                  </a:lnTo>
                  <a:lnTo>
                    <a:pt x="13522" y="269"/>
                  </a:lnTo>
                  <a:lnTo>
                    <a:pt x="0" y="279"/>
                  </a:lnTo>
                </a:path>
              </a:pathLst>
            </a:custGeom>
            <a:ln w="38058">
              <a:solidFill>
                <a:srgbClr val="000000"/>
              </a:solidFill>
            </a:ln>
          </p:spPr>
          <p:txBody>
            <a:bodyPr wrap="square" lIns="0" tIns="0" rIns="0" bIns="0" rtlCol="0"/>
            <a:lstStyle/>
            <a:p/>
          </p:txBody>
        </p:sp>
      </p:grpSp>
      <p:sp>
        <p:nvSpPr>
          <p:cNvPr id="16" name="object 1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17" name="object 1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13</a:t>
            </a:r>
          </a:p>
        </p:txBody>
      </p:sp>
      <p:sp>
        <p:nvSpPr>
          <p:cNvPr id="18" name="object 1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385319"/>
            <a:ext cx="6992620" cy="894080"/>
          </a:xfrm>
          <a:prstGeom prst="rect"/>
        </p:spPr>
        <p:txBody>
          <a:bodyPr wrap="square" lIns="0" tIns="64135" rIns="0" bIns="0" rtlCol="0" vert="horz">
            <a:spAutoFit/>
          </a:bodyPr>
          <a:lstStyle/>
          <a:p>
            <a:pPr marL="12700" marR="5080">
              <a:lnSpc>
                <a:spcPts val="3240"/>
              </a:lnSpc>
              <a:spcBef>
                <a:spcPts val="505"/>
              </a:spcBef>
            </a:pPr>
            <a:r>
              <a:rPr dirty="0" sz="3000" spc="-10"/>
              <a:t>Restricciones</a:t>
            </a:r>
            <a:r>
              <a:rPr dirty="0" sz="3000" spc="-55"/>
              <a:t> </a:t>
            </a:r>
            <a:r>
              <a:rPr dirty="0" sz="3000"/>
              <a:t>de</a:t>
            </a:r>
            <a:r>
              <a:rPr dirty="0" sz="3000" spc="-50"/>
              <a:t> </a:t>
            </a:r>
            <a:r>
              <a:rPr dirty="0" sz="3000" spc="-10"/>
              <a:t>Nomenclatura</a:t>
            </a:r>
            <a:r>
              <a:rPr dirty="0" sz="3000" spc="-35"/>
              <a:t> </a:t>
            </a:r>
            <a:r>
              <a:rPr dirty="0" sz="3000"/>
              <a:t>en</a:t>
            </a:r>
            <a:r>
              <a:rPr dirty="0" sz="3000" spc="-50"/>
              <a:t> </a:t>
            </a:r>
            <a:r>
              <a:rPr dirty="0" sz="3000"/>
              <a:t>el</a:t>
            </a:r>
            <a:r>
              <a:rPr dirty="0" sz="3000" spc="-30"/>
              <a:t> </a:t>
            </a:r>
            <a:r>
              <a:rPr dirty="0" sz="3000"/>
              <a:t>Nivel</a:t>
            </a:r>
            <a:r>
              <a:rPr dirty="0" sz="3000" spc="-50"/>
              <a:t> </a:t>
            </a:r>
            <a:r>
              <a:rPr dirty="0" sz="3000" spc="-25"/>
              <a:t>de </a:t>
            </a:r>
            <a:r>
              <a:rPr dirty="0" sz="3000" spc="-10"/>
              <a:t>Columna</a:t>
            </a:r>
            <a:endParaRPr sz="3000"/>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6" name="object 6" descr=""/>
          <p:cNvSpPr txBox="1"/>
          <p:nvPr/>
        </p:nvSpPr>
        <p:spPr>
          <a:xfrm>
            <a:off x="8750490" y="6567768"/>
            <a:ext cx="153670" cy="152400"/>
          </a:xfrm>
          <a:prstGeom prst="rect">
            <a:avLst/>
          </a:prstGeom>
        </p:spPr>
        <p:txBody>
          <a:bodyPr wrap="square" lIns="0" tIns="0" rIns="0" bIns="0" rtlCol="0" vert="horz">
            <a:spAutoFit/>
          </a:bodyPr>
          <a:lstStyle/>
          <a:p>
            <a:pPr marL="12700">
              <a:lnSpc>
                <a:spcPts val="1045"/>
              </a:lnSpc>
            </a:pPr>
            <a:r>
              <a:rPr dirty="0" sz="1000" spc="-25" b="1">
                <a:solidFill>
                  <a:srgbClr val="4E3629"/>
                </a:solidFill>
                <a:latin typeface="Calibri"/>
                <a:cs typeface="Calibri"/>
              </a:rPr>
              <a:t>15</a:t>
            </a:r>
            <a:endParaRPr sz="100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393401"/>
            <a:ext cx="8119745" cy="2604770"/>
          </a:xfrm>
          <a:prstGeom prst="rect">
            <a:avLst/>
          </a:prstGeom>
        </p:spPr>
        <p:txBody>
          <a:bodyPr wrap="square" lIns="0" tIns="34290" rIns="0" bIns="0" rtlCol="0" vert="horz">
            <a:spAutoFit/>
          </a:bodyPr>
          <a:lstStyle/>
          <a:p>
            <a:pPr marL="183515" indent="-170815">
              <a:lnSpc>
                <a:spcPct val="100000"/>
              </a:lnSpc>
              <a:spcBef>
                <a:spcPts val="270"/>
              </a:spcBef>
              <a:buClr>
                <a:srgbClr val="D1350F"/>
              </a:buClr>
              <a:buFont typeface="Arial MT"/>
              <a:buChar char="•"/>
              <a:tabLst>
                <a:tab pos="183515" algn="l"/>
              </a:tabLst>
            </a:pPr>
            <a:r>
              <a:rPr dirty="0" sz="2800">
                <a:solidFill>
                  <a:srgbClr val="4E3629"/>
                </a:solidFill>
                <a:latin typeface="Calibri"/>
                <a:cs typeface="Calibri"/>
              </a:rPr>
              <a:t>Según</a:t>
            </a:r>
            <a:r>
              <a:rPr dirty="0" sz="2800" spc="-90">
                <a:solidFill>
                  <a:srgbClr val="4E3629"/>
                </a:solidFill>
                <a:latin typeface="Calibri"/>
                <a:cs typeface="Calibri"/>
              </a:rPr>
              <a:t> </a:t>
            </a:r>
            <a:r>
              <a:rPr dirty="0" sz="2800">
                <a:solidFill>
                  <a:srgbClr val="4E3629"/>
                </a:solidFill>
                <a:latin typeface="Calibri"/>
                <a:cs typeface="Calibri"/>
              </a:rPr>
              <a:t>nuestra</a:t>
            </a:r>
            <a:r>
              <a:rPr dirty="0" sz="2800" spc="-65">
                <a:solidFill>
                  <a:srgbClr val="4E3629"/>
                </a:solidFill>
                <a:latin typeface="Calibri"/>
                <a:cs typeface="Calibri"/>
              </a:rPr>
              <a:t> </a:t>
            </a:r>
            <a:r>
              <a:rPr dirty="0" sz="2800" spc="-10">
                <a:solidFill>
                  <a:srgbClr val="4E3629"/>
                </a:solidFill>
                <a:latin typeface="Calibri"/>
                <a:cs typeface="Calibri"/>
              </a:rPr>
              <a:t>convención</a:t>
            </a:r>
            <a:r>
              <a:rPr dirty="0" sz="2800" spc="-80">
                <a:solidFill>
                  <a:srgbClr val="4E3629"/>
                </a:solidFill>
                <a:latin typeface="Calibri"/>
                <a:cs typeface="Calibri"/>
              </a:rPr>
              <a:t> </a:t>
            </a:r>
            <a:r>
              <a:rPr dirty="0" sz="2800">
                <a:solidFill>
                  <a:srgbClr val="4E3629"/>
                </a:solidFill>
                <a:latin typeface="Calibri"/>
                <a:cs typeface="Calibri"/>
              </a:rPr>
              <a:t>de</a:t>
            </a:r>
            <a:r>
              <a:rPr dirty="0" sz="2800" spc="-80">
                <a:solidFill>
                  <a:srgbClr val="4E3629"/>
                </a:solidFill>
                <a:latin typeface="Calibri"/>
                <a:cs typeface="Calibri"/>
              </a:rPr>
              <a:t> </a:t>
            </a:r>
            <a:r>
              <a:rPr dirty="0" sz="2800" spc="-10">
                <a:solidFill>
                  <a:srgbClr val="4E3629"/>
                </a:solidFill>
                <a:latin typeface="Calibri"/>
                <a:cs typeface="Calibri"/>
              </a:rPr>
              <a:t>nomenclatura:</a:t>
            </a:r>
            <a:endParaRPr sz="2800">
              <a:latin typeface="Calibri"/>
              <a:cs typeface="Calibri"/>
            </a:endParaRPr>
          </a:p>
          <a:p>
            <a:pPr marL="530860" marR="5080" indent="-175260">
              <a:lnSpc>
                <a:spcPts val="2590"/>
              </a:lnSpc>
              <a:spcBef>
                <a:spcPts val="475"/>
              </a:spcBef>
            </a:pPr>
            <a:r>
              <a:rPr dirty="0" sz="2400">
                <a:solidFill>
                  <a:srgbClr val="D1350F"/>
                </a:solidFill>
                <a:latin typeface="Calibri"/>
                <a:cs typeface="Calibri"/>
              </a:rPr>
              <a:t>−</a:t>
            </a:r>
            <a:r>
              <a:rPr dirty="0" sz="2400">
                <a:solidFill>
                  <a:srgbClr val="4E3629"/>
                </a:solidFill>
                <a:latin typeface="Calibri"/>
                <a:cs typeface="Calibri"/>
              </a:rPr>
              <a:t>Una</a:t>
            </a:r>
            <a:r>
              <a:rPr dirty="0" sz="2400" spc="-35">
                <a:solidFill>
                  <a:srgbClr val="4E3629"/>
                </a:solidFill>
                <a:latin typeface="Calibri"/>
                <a:cs typeface="Calibri"/>
              </a:rPr>
              <a:t> </a:t>
            </a:r>
            <a:r>
              <a:rPr dirty="0" sz="2400" spc="-10">
                <a:solidFill>
                  <a:srgbClr val="4E3629"/>
                </a:solidFill>
                <a:latin typeface="Calibri"/>
                <a:cs typeface="Calibri"/>
              </a:rPr>
              <a:t>restricción</a:t>
            </a:r>
            <a:r>
              <a:rPr dirty="0" sz="2400" spc="-60">
                <a:solidFill>
                  <a:srgbClr val="4E3629"/>
                </a:solidFill>
                <a:latin typeface="Calibri"/>
                <a:cs typeface="Calibri"/>
              </a:rPr>
              <a:t> </a:t>
            </a:r>
            <a:r>
              <a:rPr dirty="0" sz="2400">
                <a:solidFill>
                  <a:srgbClr val="4E3629"/>
                </a:solidFill>
                <a:latin typeface="Calibri"/>
                <a:cs typeface="Calibri"/>
              </a:rPr>
              <a:t>de</a:t>
            </a:r>
            <a:r>
              <a:rPr dirty="0" sz="2400" spc="-25">
                <a:solidFill>
                  <a:srgbClr val="4E3629"/>
                </a:solidFill>
                <a:latin typeface="Calibri"/>
                <a:cs typeface="Calibri"/>
              </a:rPr>
              <a:t> </a:t>
            </a:r>
            <a:r>
              <a:rPr dirty="0" sz="2400">
                <a:solidFill>
                  <a:srgbClr val="4E3629"/>
                </a:solidFill>
                <a:latin typeface="Calibri"/>
                <a:cs typeface="Calibri"/>
              </a:rPr>
              <a:t>clave</a:t>
            </a:r>
            <a:r>
              <a:rPr dirty="0" sz="2400" spc="-40">
                <a:solidFill>
                  <a:srgbClr val="4E3629"/>
                </a:solidFill>
                <a:latin typeface="Calibri"/>
                <a:cs typeface="Calibri"/>
              </a:rPr>
              <a:t> </a:t>
            </a:r>
            <a:r>
              <a:rPr dirty="0" sz="2400">
                <a:solidFill>
                  <a:srgbClr val="4E3629"/>
                </a:solidFill>
                <a:latin typeface="Calibri"/>
                <a:cs typeface="Calibri"/>
              </a:rPr>
              <a:t>primaria</a:t>
            </a:r>
            <a:r>
              <a:rPr dirty="0" sz="2400" spc="-40">
                <a:solidFill>
                  <a:srgbClr val="4E3629"/>
                </a:solidFill>
                <a:latin typeface="Calibri"/>
                <a:cs typeface="Calibri"/>
              </a:rPr>
              <a:t> </a:t>
            </a:r>
            <a:r>
              <a:rPr dirty="0" sz="2400">
                <a:solidFill>
                  <a:srgbClr val="4E3629"/>
                </a:solidFill>
                <a:latin typeface="Calibri"/>
                <a:cs typeface="Calibri"/>
              </a:rPr>
              <a:t>en</a:t>
            </a:r>
            <a:r>
              <a:rPr dirty="0" sz="2400" spc="-35">
                <a:solidFill>
                  <a:srgbClr val="4E3629"/>
                </a:solidFill>
                <a:latin typeface="Calibri"/>
                <a:cs typeface="Calibri"/>
              </a:rPr>
              <a:t> </a:t>
            </a:r>
            <a:r>
              <a:rPr dirty="0" sz="2400">
                <a:solidFill>
                  <a:srgbClr val="4E3629"/>
                </a:solidFill>
                <a:latin typeface="Calibri"/>
                <a:cs typeface="Calibri"/>
              </a:rPr>
              <a:t>client_number</a:t>
            </a:r>
            <a:r>
              <a:rPr dirty="0" sz="2400" spc="-55">
                <a:solidFill>
                  <a:srgbClr val="4E3629"/>
                </a:solidFill>
                <a:latin typeface="Calibri"/>
                <a:cs typeface="Calibri"/>
              </a:rPr>
              <a:t> </a:t>
            </a:r>
            <a:r>
              <a:rPr dirty="0" sz="2400">
                <a:solidFill>
                  <a:srgbClr val="4E3629"/>
                </a:solidFill>
                <a:latin typeface="Calibri"/>
                <a:cs typeface="Calibri"/>
              </a:rPr>
              <a:t>tendría</a:t>
            </a:r>
            <a:r>
              <a:rPr dirty="0" sz="2400" spc="-40">
                <a:solidFill>
                  <a:srgbClr val="4E3629"/>
                </a:solidFill>
                <a:latin typeface="Calibri"/>
                <a:cs typeface="Calibri"/>
              </a:rPr>
              <a:t> </a:t>
            </a:r>
            <a:r>
              <a:rPr dirty="0" sz="2400" spc="-25">
                <a:solidFill>
                  <a:srgbClr val="4E3629"/>
                </a:solidFill>
                <a:latin typeface="Calibri"/>
                <a:cs typeface="Calibri"/>
              </a:rPr>
              <a:t>el </a:t>
            </a:r>
            <a:r>
              <a:rPr dirty="0" sz="2400">
                <a:solidFill>
                  <a:srgbClr val="4E3629"/>
                </a:solidFill>
                <a:latin typeface="Calibri"/>
                <a:cs typeface="Calibri"/>
              </a:rPr>
              <a:t>nombre</a:t>
            </a:r>
            <a:r>
              <a:rPr dirty="0" sz="2400" spc="-85">
                <a:solidFill>
                  <a:srgbClr val="4E3629"/>
                </a:solidFill>
                <a:latin typeface="Calibri"/>
                <a:cs typeface="Calibri"/>
              </a:rPr>
              <a:t> </a:t>
            </a:r>
            <a:r>
              <a:rPr dirty="0" sz="2400" spc="-10">
                <a:solidFill>
                  <a:srgbClr val="4E3629"/>
                </a:solidFill>
                <a:latin typeface="Calibri"/>
                <a:cs typeface="Calibri"/>
              </a:rPr>
              <a:t>clients_client_number_pk</a:t>
            </a:r>
            <a:endParaRPr sz="2400">
              <a:latin typeface="Calibri"/>
              <a:cs typeface="Calibri"/>
            </a:endParaRPr>
          </a:p>
          <a:p>
            <a:pPr marL="530860" marR="659765" indent="-175260">
              <a:lnSpc>
                <a:spcPts val="2590"/>
              </a:lnSpc>
              <a:spcBef>
                <a:spcPts val="400"/>
              </a:spcBef>
            </a:pPr>
            <a:r>
              <a:rPr dirty="0" sz="2400">
                <a:solidFill>
                  <a:srgbClr val="D1350F"/>
                </a:solidFill>
                <a:latin typeface="Calibri"/>
                <a:cs typeface="Calibri"/>
              </a:rPr>
              <a:t>−</a:t>
            </a:r>
            <a:r>
              <a:rPr dirty="0" sz="2400">
                <a:solidFill>
                  <a:srgbClr val="4E3629"/>
                </a:solidFill>
                <a:latin typeface="Calibri"/>
                <a:cs typeface="Calibri"/>
              </a:rPr>
              <a:t>Una</a:t>
            </a:r>
            <a:r>
              <a:rPr dirty="0" sz="2400" spc="-20">
                <a:solidFill>
                  <a:srgbClr val="4E3629"/>
                </a:solidFill>
                <a:latin typeface="Calibri"/>
                <a:cs typeface="Calibri"/>
              </a:rPr>
              <a:t> </a:t>
            </a:r>
            <a:r>
              <a:rPr dirty="0" sz="2400" spc="-10">
                <a:solidFill>
                  <a:srgbClr val="4E3629"/>
                </a:solidFill>
                <a:latin typeface="Calibri"/>
                <a:cs typeface="Calibri"/>
              </a:rPr>
              <a:t>restricción</a:t>
            </a:r>
            <a:r>
              <a:rPr dirty="0" sz="2400" spc="-45">
                <a:solidFill>
                  <a:srgbClr val="4E3629"/>
                </a:solidFill>
                <a:latin typeface="Calibri"/>
                <a:cs typeface="Calibri"/>
              </a:rPr>
              <a:t> </a:t>
            </a:r>
            <a:r>
              <a:rPr dirty="0" sz="2400">
                <a:solidFill>
                  <a:srgbClr val="4E3629"/>
                </a:solidFill>
                <a:latin typeface="Calibri"/>
                <a:cs typeface="Calibri"/>
              </a:rPr>
              <a:t>not</a:t>
            </a:r>
            <a:r>
              <a:rPr dirty="0" sz="2400" spc="-20">
                <a:solidFill>
                  <a:srgbClr val="4E3629"/>
                </a:solidFill>
                <a:latin typeface="Calibri"/>
                <a:cs typeface="Calibri"/>
              </a:rPr>
              <a:t> </a:t>
            </a:r>
            <a:r>
              <a:rPr dirty="0" sz="2400">
                <a:solidFill>
                  <a:srgbClr val="4E3629"/>
                </a:solidFill>
                <a:latin typeface="Calibri"/>
                <a:cs typeface="Calibri"/>
              </a:rPr>
              <a:t>null</a:t>
            </a:r>
            <a:r>
              <a:rPr dirty="0" sz="2400" spc="-20">
                <a:solidFill>
                  <a:srgbClr val="4E3629"/>
                </a:solidFill>
                <a:latin typeface="Calibri"/>
                <a:cs typeface="Calibri"/>
              </a:rPr>
              <a:t> </a:t>
            </a:r>
            <a:r>
              <a:rPr dirty="0" sz="2400">
                <a:solidFill>
                  <a:srgbClr val="4E3629"/>
                </a:solidFill>
                <a:latin typeface="Calibri"/>
                <a:cs typeface="Calibri"/>
              </a:rPr>
              <a:t>en</a:t>
            </a:r>
            <a:r>
              <a:rPr dirty="0" sz="2400" spc="-20">
                <a:solidFill>
                  <a:srgbClr val="4E3629"/>
                </a:solidFill>
                <a:latin typeface="Calibri"/>
                <a:cs typeface="Calibri"/>
              </a:rPr>
              <a:t> </a:t>
            </a:r>
            <a:r>
              <a:rPr dirty="0" sz="2400">
                <a:solidFill>
                  <a:srgbClr val="4E3629"/>
                </a:solidFill>
                <a:latin typeface="Calibri"/>
                <a:cs typeface="Calibri"/>
              </a:rPr>
              <a:t>last_name</a:t>
            </a:r>
            <a:r>
              <a:rPr dirty="0" sz="2400" spc="-40">
                <a:solidFill>
                  <a:srgbClr val="4E3629"/>
                </a:solidFill>
                <a:latin typeface="Calibri"/>
                <a:cs typeface="Calibri"/>
              </a:rPr>
              <a:t> </a:t>
            </a:r>
            <a:r>
              <a:rPr dirty="0" sz="2400">
                <a:solidFill>
                  <a:srgbClr val="4E3629"/>
                </a:solidFill>
                <a:latin typeface="Calibri"/>
                <a:cs typeface="Calibri"/>
              </a:rPr>
              <a:t>tendría</a:t>
            </a:r>
            <a:r>
              <a:rPr dirty="0" sz="2400" spc="-25">
                <a:solidFill>
                  <a:srgbClr val="4E3629"/>
                </a:solidFill>
                <a:latin typeface="Calibri"/>
                <a:cs typeface="Calibri"/>
              </a:rPr>
              <a:t> </a:t>
            </a:r>
            <a:r>
              <a:rPr dirty="0" sz="2400">
                <a:solidFill>
                  <a:srgbClr val="4E3629"/>
                </a:solidFill>
                <a:latin typeface="Calibri"/>
                <a:cs typeface="Calibri"/>
              </a:rPr>
              <a:t>el</a:t>
            </a:r>
            <a:r>
              <a:rPr dirty="0" sz="2400" spc="-20">
                <a:solidFill>
                  <a:srgbClr val="4E3629"/>
                </a:solidFill>
                <a:latin typeface="Calibri"/>
                <a:cs typeface="Calibri"/>
              </a:rPr>
              <a:t> </a:t>
            </a:r>
            <a:r>
              <a:rPr dirty="0" sz="2400" spc="-10">
                <a:solidFill>
                  <a:srgbClr val="4E3629"/>
                </a:solidFill>
                <a:latin typeface="Calibri"/>
                <a:cs typeface="Calibri"/>
              </a:rPr>
              <a:t>nombre clients_last_name_nn</a:t>
            </a:r>
            <a:endParaRPr sz="2400">
              <a:latin typeface="Calibri"/>
              <a:cs typeface="Calibri"/>
            </a:endParaRPr>
          </a:p>
          <a:p>
            <a:pPr marL="530860" marR="154305" indent="-175260">
              <a:lnSpc>
                <a:spcPts val="2590"/>
              </a:lnSpc>
              <a:spcBef>
                <a:spcPts val="400"/>
              </a:spcBef>
            </a:pPr>
            <a:r>
              <a:rPr dirty="0" sz="2400">
                <a:solidFill>
                  <a:srgbClr val="D1350F"/>
                </a:solidFill>
                <a:latin typeface="Calibri"/>
                <a:cs typeface="Calibri"/>
              </a:rPr>
              <a:t>−</a:t>
            </a:r>
            <a:r>
              <a:rPr dirty="0" sz="2400">
                <a:solidFill>
                  <a:srgbClr val="4E3629"/>
                </a:solidFill>
                <a:latin typeface="Calibri"/>
                <a:cs typeface="Calibri"/>
              </a:rPr>
              <a:t>Una</a:t>
            </a:r>
            <a:r>
              <a:rPr dirty="0" sz="2400" spc="-45">
                <a:solidFill>
                  <a:srgbClr val="4E3629"/>
                </a:solidFill>
                <a:latin typeface="Calibri"/>
                <a:cs typeface="Calibri"/>
              </a:rPr>
              <a:t> </a:t>
            </a:r>
            <a:r>
              <a:rPr dirty="0" sz="2400">
                <a:solidFill>
                  <a:srgbClr val="4E3629"/>
                </a:solidFill>
                <a:latin typeface="Calibri"/>
                <a:cs typeface="Calibri"/>
              </a:rPr>
              <a:t>restricción</a:t>
            </a:r>
            <a:r>
              <a:rPr dirty="0" sz="2400" spc="-60">
                <a:solidFill>
                  <a:srgbClr val="4E3629"/>
                </a:solidFill>
                <a:latin typeface="Calibri"/>
                <a:cs typeface="Calibri"/>
              </a:rPr>
              <a:t> </a:t>
            </a:r>
            <a:r>
              <a:rPr dirty="0" sz="2400">
                <a:solidFill>
                  <a:srgbClr val="4E3629"/>
                </a:solidFill>
                <a:latin typeface="Calibri"/>
                <a:cs typeface="Calibri"/>
              </a:rPr>
              <a:t>única</a:t>
            </a:r>
            <a:r>
              <a:rPr dirty="0" sz="2400" spc="-45">
                <a:solidFill>
                  <a:srgbClr val="4E3629"/>
                </a:solidFill>
                <a:latin typeface="Calibri"/>
                <a:cs typeface="Calibri"/>
              </a:rPr>
              <a:t> </a:t>
            </a:r>
            <a:r>
              <a:rPr dirty="0" sz="2400">
                <a:solidFill>
                  <a:srgbClr val="4E3629"/>
                </a:solidFill>
                <a:latin typeface="Calibri"/>
                <a:cs typeface="Calibri"/>
              </a:rPr>
              <a:t>en</a:t>
            </a:r>
            <a:r>
              <a:rPr dirty="0" sz="2400" spc="-40">
                <a:solidFill>
                  <a:srgbClr val="4E3629"/>
                </a:solidFill>
                <a:latin typeface="Calibri"/>
                <a:cs typeface="Calibri"/>
              </a:rPr>
              <a:t> </a:t>
            </a:r>
            <a:r>
              <a:rPr dirty="0" sz="2400">
                <a:solidFill>
                  <a:srgbClr val="4E3629"/>
                </a:solidFill>
                <a:latin typeface="Calibri"/>
                <a:cs typeface="Calibri"/>
              </a:rPr>
              <a:t>una</a:t>
            </a:r>
            <a:r>
              <a:rPr dirty="0" sz="2400" spc="-40">
                <a:solidFill>
                  <a:srgbClr val="4E3629"/>
                </a:solidFill>
                <a:latin typeface="Calibri"/>
                <a:cs typeface="Calibri"/>
              </a:rPr>
              <a:t> </a:t>
            </a:r>
            <a:r>
              <a:rPr dirty="0" sz="2400">
                <a:solidFill>
                  <a:srgbClr val="4E3629"/>
                </a:solidFill>
                <a:latin typeface="Calibri"/>
                <a:cs typeface="Calibri"/>
              </a:rPr>
              <a:t>dirección</a:t>
            </a:r>
            <a:r>
              <a:rPr dirty="0" sz="2400" spc="-55">
                <a:solidFill>
                  <a:srgbClr val="4E3629"/>
                </a:solidFill>
                <a:latin typeface="Calibri"/>
                <a:cs typeface="Calibri"/>
              </a:rPr>
              <a:t> </a:t>
            </a:r>
            <a:r>
              <a:rPr dirty="0" sz="2400">
                <a:solidFill>
                  <a:srgbClr val="4E3629"/>
                </a:solidFill>
                <a:latin typeface="Calibri"/>
                <a:cs typeface="Calibri"/>
              </a:rPr>
              <a:t>de</a:t>
            </a:r>
            <a:r>
              <a:rPr dirty="0" sz="2400" spc="-35">
                <a:solidFill>
                  <a:srgbClr val="4E3629"/>
                </a:solidFill>
                <a:latin typeface="Calibri"/>
                <a:cs typeface="Calibri"/>
              </a:rPr>
              <a:t> </a:t>
            </a:r>
            <a:r>
              <a:rPr dirty="0" sz="2400">
                <a:solidFill>
                  <a:srgbClr val="4E3629"/>
                </a:solidFill>
                <a:latin typeface="Calibri"/>
                <a:cs typeface="Calibri"/>
              </a:rPr>
              <a:t>correo</a:t>
            </a:r>
            <a:r>
              <a:rPr dirty="0" sz="2400" spc="-45">
                <a:solidFill>
                  <a:srgbClr val="4E3629"/>
                </a:solidFill>
                <a:latin typeface="Calibri"/>
                <a:cs typeface="Calibri"/>
              </a:rPr>
              <a:t> </a:t>
            </a:r>
            <a:r>
              <a:rPr dirty="0" sz="2400" spc="-10">
                <a:solidFill>
                  <a:srgbClr val="4E3629"/>
                </a:solidFill>
                <a:latin typeface="Calibri"/>
                <a:cs typeface="Calibri"/>
              </a:rPr>
              <a:t>electrónico </a:t>
            </a:r>
            <a:r>
              <a:rPr dirty="0" sz="2400">
                <a:solidFill>
                  <a:srgbClr val="4E3629"/>
                </a:solidFill>
                <a:latin typeface="Calibri"/>
                <a:cs typeface="Calibri"/>
              </a:rPr>
              <a:t>tendría</a:t>
            </a:r>
            <a:r>
              <a:rPr dirty="0" sz="2400" spc="-70">
                <a:solidFill>
                  <a:srgbClr val="4E3629"/>
                </a:solidFill>
                <a:latin typeface="Calibri"/>
                <a:cs typeface="Calibri"/>
              </a:rPr>
              <a:t> </a:t>
            </a:r>
            <a:r>
              <a:rPr dirty="0" sz="2400">
                <a:solidFill>
                  <a:srgbClr val="4E3629"/>
                </a:solidFill>
                <a:latin typeface="Calibri"/>
                <a:cs typeface="Calibri"/>
              </a:rPr>
              <a:t>el</a:t>
            </a:r>
            <a:r>
              <a:rPr dirty="0" sz="2400" spc="-65">
                <a:solidFill>
                  <a:srgbClr val="4E3629"/>
                </a:solidFill>
                <a:latin typeface="Calibri"/>
                <a:cs typeface="Calibri"/>
              </a:rPr>
              <a:t> </a:t>
            </a:r>
            <a:r>
              <a:rPr dirty="0" sz="2400">
                <a:solidFill>
                  <a:srgbClr val="4E3629"/>
                </a:solidFill>
                <a:latin typeface="Calibri"/>
                <a:cs typeface="Calibri"/>
              </a:rPr>
              <a:t>nombre</a:t>
            </a:r>
            <a:r>
              <a:rPr dirty="0" sz="2400" spc="-55">
                <a:solidFill>
                  <a:srgbClr val="4E3629"/>
                </a:solidFill>
                <a:latin typeface="Calibri"/>
                <a:cs typeface="Calibri"/>
              </a:rPr>
              <a:t> </a:t>
            </a:r>
            <a:r>
              <a:rPr dirty="0" sz="2400" spc="-10">
                <a:solidFill>
                  <a:srgbClr val="4E3629"/>
                </a:solidFill>
                <a:latin typeface="Calibri"/>
                <a:cs typeface="Calibri"/>
              </a:rPr>
              <a:t>clients_email_uk</a:t>
            </a:r>
            <a:endParaRPr sz="2400">
              <a:latin typeface="Calibri"/>
              <a:cs typeface="Calibri"/>
            </a:endParaRPr>
          </a:p>
        </p:txBody>
      </p:sp>
      <p:sp>
        <p:nvSpPr>
          <p:cNvPr id="4" name="object 4" descr=""/>
          <p:cNvSpPr txBox="1"/>
          <p:nvPr/>
        </p:nvSpPr>
        <p:spPr>
          <a:xfrm>
            <a:off x="315468" y="4099559"/>
            <a:ext cx="8513445" cy="1150620"/>
          </a:xfrm>
          <a:prstGeom prst="rect">
            <a:avLst/>
          </a:prstGeom>
          <a:solidFill>
            <a:srgbClr val="9DBEC4">
              <a:alpha val="50199"/>
            </a:srgbClr>
          </a:solidFill>
        </p:spPr>
        <p:txBody>
          <a:bodyPr wrap="square" lIns="0" tIns="63500" rIns="0" bIns="0" rtlCol="0" vert="horz">
            <a:spAutoFit/>
          </a:bodyPr>
          <a:lstStyle/>
          <a:p>
            <a:pPr algn="just">
              <a:lnSpc>
                <a:spcPct val="100000"/>
              </a:lnSpc>
              <a:spcBef>
                <a:spcPts val="500"/>
              </a:spcBef>
            </a:pPr>
            <a:r>
              <a:rPr dirty="0" sz="1600" b="1">
                <a:solidFill>
                  <a:srgbClr val="4E3629"/>
                </a:solidFill>
                <a:latin typeface="Courier New"/>
                <a:cs typeface="Courier New"/>
              </a:rPr>
              <a:t>CREATE</a:t>
            </a:r>
            <a:r>
              <a:rPr dirty="0" sz="1600" spc="-45" b="1">
                <a:solidFill>
                  <a:srgbClr val="4E3629"/>
                </a:solidFill>
                <a:latin typeface="Courier New"/>
                <a:cs typeface="Courier New"/>
              </a:rPr>
              <a:t> </a:t>
            </a:r>
            <a:r>
              <a:rPr dirty="0" sz="1600" b="1">
                <a:solidFill>
                  <a:srgbClr val="4E3629"/>
                </a:solidFill>
                <a:latin typeface="Courier New"/>
                <a:cs typeface="Courier New"/>
              </a:rPr>
              <a:t>TABLE</a:t>
            </a:r>
            <a:r>
              <a:rPr dirty="0" sz="1600" spc="-45" b="1">
                <a:solidFill>
                  <a:srgbClr val="4E3629"/>
                </a:solidFill>
                <a:latin typeface="Courier New"/>
                <a:cs typeface="Courier New"/>
              </a:rPr>
              <a:t> </a:t>
            </a:r>
            <a:r>
              <a:rPr dirty="0" sz="1600" spc="-10" b="1">
                <a:solidFill>
                  <a:srgbClr val="4E3629"/>
                </a:solidFill>
                <a:latin typeface="Courier New"/>
                <a:cs typeface="Courier New"/>
              </a:rPr>
              <a:t>clients</a:t>
            </a:r>
            <a:endParaRPr sz="1600">
              <a:latin typeface="Courier New"/>
              <a:cs typeface="Courier New"/>
            </a:endParaRPr>
          </a:p>
          <a:p>
            <a:pPr algn="just" marL="120650" marR="77470" indent="-121920">
              <a:lnSpc>
                <a:spcPct val="100000"/>
              </a:lnSpc>
            </a:pPr>
            <a:r>
              <a:rPr dirty="0" sz="1600" b="1">
                <a:solidFill>
                  <a:srgbClr val="4E3629"/>
                </a:solidFill>
                <a:latin typeface="Courier New"/>
                <a:cs typeface="Courier New"/>
              </a:rPr>
              <a:t>(client_number</a:t>
            </a:r>
            <a:r>
              <a:rPr dirty="0" sz="1600" spc="-90" b="1">
                <a:solidFill>
                  <a:srgbClr val="4E3629"/>
                </a:solidFill>
                <a:latin typeface="Courier New"/>
                <a:cs typeface="Courier New"/>
              </a:rPr>
              <a:t> </a:t>
            </a:r>
            <a:r>
              <a:rPr dirty="0" sz="1600" b="1">
                <a:solidFill>
                  <a:srgbClr val="4E3629"/>
                </a:solidFill>
                <a:latin typeface="Courier New"/>
                <a:cs typeface="Courier New"/>
              </a:rPr>
              <a:t>NUMBER(4)</a:t>
            </a:r>
            <a:r>
              <a:rPr dirty="0" sz="1600" spc="-85" b="1">
                <a:solidFill>
                  <a:srgbClr val="4E3629"/>
                </a:solidFill>
                <a:latin typeface="Courier New"/>
                <a:cs typeface="Courier New"/>
              </a:rPr>
              <a:t> </a:t>
            </a:r>
            <a:r>
              <a:rPr dirty="0" sz="1600" b="1">
                <a:solidFill>
                  <a:srgbClr val="D1350F"/>
                </a:solidFill>
                <a:latin typeface="Courier New"/>
                <a:cs typeface="Courier New"/>
              </a:rPr>
              <a:t>CONSTRAINT</a:t>
            </a:r>
            <a:r>
              <a:rPr dirty="0" sz="1600" spc="-80" b="1">
                <a:solidFill>
                  <a:srgbClr val="D1350F"/>
                </a:solidFill>
                <a:latin typeface="Courier New"/>
                <a:cs typeface="Courier New"/>
              </a:rPr>
              <a:t> </a:t>
            </a:r>
            <a:r>
              <a:rPr dirty="0" sz="1600" b="1">
                <a:solidFill>
                  <a:srgbClr val="D1350F"/>
                </a:solidFill>
                <a:latin typeface="Courier New"/>
                <a:cs typeface="Courier New"/>
              </a:rPr>
              <a:t>clients_cient_num_pk</a:t>
            </a:r>
            <a:r>
              <a:rPr dirty="0" sz="1600" spc="-90" b="1">
                <a:solidFill>
                  <a:srgbClr val="D1350F"/>
                </a:solidFill>
                <a:latin typeface="Courier New"/>
                <a:cs typeface="Courier New"/>
              </a:rPr>
              <a:t> </a:t>
            </a:r>
            <a:r>
              <a:rPr dirty="0" sz="1600" b="1">
                <a:solidFill>
                  <a:srgbClr val="D1350F"/>
                </a:solidFill>
                <a:latin typeface="Courier New"/>
                <a:cs typeface="Courier New"/>
              </a:rPr>
              <a:t>PRIMARY</a:t>
            </a:r>
            <a:r>
              <a:rPr dirty="0" sz="1600" spc="-100" b="1">
                <a:solidFill>
                  <a:srgbClr val="D1350F"/>
                </a:solidFill>
                <a:latin typeface="Courier New"/>
                <a:cs typeface="Courier New"/>
              </a:rPr>
              <a:t> </a:t>
            </a:r>
            <a:r>
              <a:rPr dirty="0" sz="1600" spc="-20" b="1">
                <a:solidFill>
                  <a:srgbClr val="D1350F"/>
                </a:solidFill>
                <a:latin typeface="Courier New"/>
                <a:cs typeface="Courier New"/>
              </a:rPr>
              <a:t>KEY</a:t>
            </a:r>
            <a:r>
              <a:rPr dirty="0" sz="1600" spc="-20" b="1">
                <a:solidFill>
                  <a:srgbClr val="4E3629"/>
                </a:solidFill>
                <a:latin typeface="Courier New"/>
                <a:cs typeface="Courier New"/>
              </a:rPr>
              <a:t>, </a:t>
            </a:r>
            <a:r>
              <a:rPr dirty="0" sz="1600" b="1">
                <a:solidFill>
                  <a:srgbClr val="4E3629"/>
                </a:solidFill>
                <a:latin typeface="Courier New"/>
                <a:cs typeface="Courier New"/>
              </a:rPr>
              <a:t>last_name</a:t>
            </a:r>
            <a:r>
              <a:rPr dirty="0" sz="1600" spc="180" b="1">
                <a:solidFill>
                  <a:srgbClr val="4E3629"/>
                </a:solidFill>
                <a:latin typeface="Courier New"/>
                <a:cs typeface="Courier New"/>
              </a:rPr>
              <a:t>    </a:t>
            </a:r>
            <a:r>
              <a:rPr dirty="0" sz="1600" b="1">
                <a:solidFill>
                  <a:srgbClr val="4E3629"/>
                </a:solidFill>
                <a:latin typeface="Courier New"/>
                <a:cs typeface="Courier New"/>
              </a:rPr>
              <a:t>VARCHAR2(13)</a:t>
            </a:r>
            <a:r>
              <a:rPr dirty="0" sz="1600" spc="-30" b="1">
                <a:solidFill>
                  <a:srgbClr val="4E3629"/>
                </a:solidFill>
                <a:latin typeface="Courier New"/>
                <a:cs typeface="Courier New"/>
              </a:rPr>
              <a:t> </a:t>
            </a:r>
            <a:r>
              <a:rPr dirty="0" sz="1600" b="1">
                <a:solidFill>
                  <a:srgbClr val="D1350F"/>
                </a:solidFill>
                <a:latin typeface="Courier New"/>
                <a:cs typeface="Courier New"/>
              </a:rPr>
              <a:t>CONSTRAINT</a:t>
            </a:r>
            <a:r>
              <a:rPr dirty="0" sz="1600" spc="-40" b="1">
                <a:solidFill>
                  <a:srgbClr val="D1350F"/>
                </a:solidFill>
                <a:latin typeface="Courier New"/>
                <a:cs typeface="Courier New"/>
              </a:rPr>
              <a:t> </a:t>
            </a:r>
            <a:r>
              <a:rPr dirty="0" sz="1600" b="1">
                <a:solidFill>
                  <a:srgbClr val="D1350F"/>
                </a:solidFill>
                <a:latin typeface="Courier New"/>
                <a:cs typeface="Courier New"/>
              </a:rPr>
              <a:t>clients_last_name_nn</a:t>
            </a:r>
            <a:r>
              <a:rPr dirty="0" sz="1600" spc="-25" b="1">
                <a:solidFill>
                  <a:srgbClr val="D1350F"/>
                </a:solidFill>
                <a:latin typeface="Courier New"/>
                <a:cs typeface="Courier New"/>
              </a:rPr>
              <a:t> </a:t>
            </a:r>
            <a:r>
              <a:rPr dirty="0" sz="1600" b="1">
                <a:solidFill>
                  <a:srgbClr val="D1350F"/>
                </a:solidFill>
                <a:latin typeface="Courier New"/>
                <a:cs typeface="Courier New"/>
              </a:rPr>
              <a:t>NOT</a:t>
            </a:r>
            <a:r>
              <a:rPr dirty="0" sz="1600" spc="-50" b="1">
                <a:solidFill>
                  <a:srgbClr val="D1350F"/>
                </a:solidFill>
                <a:latin typeface="Courier New"/>
                <a:cs typeface="Courier New"/>
              </a:rPr>
              <a:t> </a:t>
            </a:r>
            <a:r>
              <a:rPr dirty="0" sz="1600" spc="-10" b="1">
                <a:solidFill>
                  <a:srgbClr val="D1350F"/>
                </a:solidFill>
                <a:latin typeface="Courier New"/>
                <a:cs typeface="Courier New"/>
              </a:rPr>
              <a:t>NULL</a:t>
            </a:r>
            <a:r>
              <a:rPr dirty="0" sz="1600" spc="-10" b="1">
                <a:solidFill>
                  <a:srgbClr val="4E3629"/>
                </a:solidFill>
                <a:latin typeface="Courier New"/>
                <a:cs typeface="Courier New"/>
              </a:rPr>
              <a:t>, </a:t>
            </a:r>
            <a:r>
              <a:rPr dirty="0" sz="1600" b="1">
                <a:solidFill>
                  <a:srgbClr val="4E3629"/>
                </a:solidFill>
                <a:latin typeface="Courier New"/>
                <a:cs typeface="Courier New"/>
              </a:rPr>
              <a:t>email</a:t>
            </a:r>
            <a:r>
              <a:rPr dirty="0" sz="1600" spc="440" b="1">
                <a:solidFill>
                  <a:srgbClr val="4E3629"/>
                </a:solidFill>
                <a:latin typeface="Courier New"/>
                <a:cs typeface="Courier New"/>
              </a:rPr>
              <a:t>      </a:t>
            </a:r>
            <a:r>
              <a:rPr dirty="0" sz="1600" b="1">
                <a:solidFill>
                  <a:srgbClr val="4E3629"/>
                </a:solidFill>
                <a:latin typeface="Courier New"/>
                <a:cs typeface="Courier New"/>
              </a:rPr>
              <a:t>VARCHAR2(80)</a:t>
            </a:r>
            <a:r>
              <a:rPr dirty="0" sz="1600" spc="-25" b="1">
                <a:solidFill>
                  <a:srgbClr val="4E3629"/>
                </a:solidFill>
                <a:latin typeface="Courier New"/>
                <a:cs typeface="Courier New"/>
              </a:rPr>
              <a:t> </a:t>
            </a:r>
            <a:r>
              <a:rPr dirty="0" sz="1600" b="1">
                <a:solidFill>
                  <a:srgbClr val="D1350F"/>
                </a:solidFill>
                <a:latin typeface="Courier New"/>
                <a:cs typeface="Courier New"/>
              </a:rPr>
              <a:t>CONSTRAINT</a:t>
            </a:r>
            <a:r>
              <a:rPr dirty="0" sz="1600" spc="-5" b="1">
                <a:solidFill>
                  <a:srgbClr val="D1350F"/>
                </a:solidFill>
                <a:latin typeface="Courier New"/>
                <a:cs typeface="Courier New"/>
              </a:rPr>
              <a:t> </a:t>
            </a:r>
            <a:r>
              <a:rPr dirty="0" sz="1600" b="1">
                <a:solidFill>
                  <a:srgbClr val="D1350F"/>
                </a:solidFill>
                <a:latin typeface="Courier New"/>
                <a:cs typeface="Courier New"/>
              </a:rPr>
              <a:t>clients_emil_uk</a:t>
            </a:r>
            <a:r>
              <a:rPr dirty="0" sz="1600" spc="-10" b="1">
                <a:solidFill>
                  <a:srgbClr val="D1350F"/>
                </a:solidFill>
                <a:latin typeface="Courier New"/>
                <a:cs typeface="Courier New"/>
              </a:rPr>
              <a:t> UNIQUE</a:t>
            </a:r>
            <a:r>
              <a:rPr dirty="0" sz="1600" spc="-10" b="1">
                <a:solidFill>
                  <a:srgbClr val="4E3629"/>
                </a:solidFill>
                <a:latin typeface="Courier New"/>
                <a:cs typeface="Courier New"/>
              </a:rPr>
              <a:t>);</a:t>
            </a:r>
            <a:endParaRPr sz="1600">
              <a:latin typeface="Courier New"/>
              <a:cs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6934834" cy="528320"/>
          </a:xfrm>
          <a:prstGeom prst="rect"/>
        </p:spPr>
        <p:txBody>
          <a:bodyPr wrap="square" lIns="0" tIns="12700" rIns="0" bIns="0" rtlCol="0" vert="horz">
            <a:spAutoFit/>
          </a:bodyPr>
          <a:lstStyle/>
          <a:p>
            <a:pPr marL="12700">
              <a:lnSpc>
                <a:spcPct val="100000"/>
              </a:lnSpc>
              <a:spcBef>
                <a:spcPts val="100"/>
              </a:spcBef>
            </a:pPr>
            <a:r>
              <a:rPr dirty="0"/>
              <a:t>Ejemplo</a:t>
            </a:r>
            <a:r>
              <a:rPr dirty="0" spc="-55"/>
              <a:t> </a:t>
            </a:r>
            <a:r>
              <a:rPr dirty="0"/>
              <a:t>de</a:t>
            </a:r>
            <a:r>
              <a:rPr dirty="0" spc="-55"/>
              <a:t> </a:t>
            </a:r>
            <a:r>
              <a:rPr dirty="0" spc="-10"/>
              <a:t>Restricción</a:t>
            </a:r>
            <a:r>
              <a:rPr dirty="0" spc="-55"/>
              <a:t> </a:t>
            </a:r>
            <a:r>
              <a:rPr dirty="0"/>
              <a:t>de</a:t>
            </a:r>
            <a:r>
              <a:rPr dirty="0" spc="-55"/>
              <a:t> </a:t>
            </a:r>
            <a:r>
              <a:rPr dirty="0" spc="-10"/>
              <a:t>Nomenclatura</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17</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639050"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spc="-10">
                <a:solidFill>
                  <a:srgbClr val="4E3629"/>
                </a:solidFill>
                <a:latin typeface="Calibri"/>
                <a:cs typeface="Calibri"/>
              </a:rPr>
              <a:t>Restricción</a:t>
            </a:r>
            <a:r>
              <a:rPr dirty="0" sz="2800" spc="-30">
                <a:solidFill>
                  <a:srgbClr val="4E3629"/>
                </a:solidFill>
                <a:latin typeface="Calibri"/>
                <a:cs typeface="Calibri"/>
              </a:rPr>
              <a:t> </a:t>
            </a:r>
            <a:r>
              <a:rPr dirty="0" sz="2800">
                <a:solidFill>
                  <a:srgbClr val="4E3629"/>
                </a:solidFill>
                <a:latin typeface="Calibri"/>
                <a:cs typeface="Calibri"/>
              </a:rPr>
              <a:t>a</a:t>
            </a:r>
            <a:r>
              <a:rPr dirty="0" sz="2800" spc="-4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que</a:t>
            </a:r>
            <a:r>
              <a:rPr dirty="0" sz="2800" spc="-20">
                <a:solidFill>
                  <a:srgbClr val="4E3629"/>
                </a:solidFill>
                <a:latin typeface="Calibri"/>
                <a:cs typeface="Calibri"/>
              </a:rPr>
              <a:t> </a:t>
            </a:r>
            <a:r>
              <a:rPr dirty="0" sz="2800">
                <a:solidFill>
                  <a:srgbClr val="4E3629"/>
                </a:solidFill>
                <a:latin typeface="Calibri"/>
                <a:cs typeface="Calibri"/>
              </a:rPr>
              <a:t>ha</a:t>
            </a:r>
            <a:r>
              <a:rPr dirty="0" sz="2800" spc="-30">
                <a:solidFill>
                  <a:srgbClr val="4E3629"/>
                </a:solidFill>
                <a:latin typeface="Calibri"/>
                <a:cs typeface="Calibri"/>
              </a:rPr>
              <a:t> </a:t>
            </a:r>
            <a:r>
              <a:rPr dirty="0" sz="2800">
                <a:solidFill>
                  <a:srgbClr val="4E3629"/>
                </a:solidFill>
                <a:latin typeface="Calibri"/>
                <a:cs typeface="Calibri"/>
              </a:rPr>
              <a:t>asignado</a:t>
            </a:r>
            <a:r>
              <a:rPr dirty="0" sz="2800" spc="-30">
                <a:solidFill>
                  <a:srgbClr val="4E3629"/>
                </a:solidFill>
                <a:latin typeface="Calibri"/>
                <a:cs typeface="Calibri"/>
              </a:rPr>
              <a:t> </a:t>
            </a:r>
            <a:r>
              <a:rPr dirty="0" sz="2800">
                <a:solidFill>
                  <a:srgbClr val="4E3629"/>
                </a:solidFill>
                <a:latin typeface="Calibri"/>
                <a:cs typeface="Calibri"/>
              </a:rPr>
              <a:t>nombre</a:t>
            </a:r>
            <a:r>
              <a:rPr dirty="0" sz="2800" spc="-25">
                <a:solidFill>
                  <a:srgbClr val="4E3629"/>
                </a:solidFill>
                <a:latin typeface="Calibri"/>
                <a:cs typeface="Calibri"/>
              </a:rPr>
              <a:t> </a:t>
            </a:r>
            <a:r>
              <a:rPr dirty="0" sz="2800">
                <a:solidFill>
                  <a:srgbClr val="4E3629"/>
                </a:solidFill>
                <a:latin typeface="Calibri"/>
                <a:cs typeface="Calibri"/>
              </a:rPr>
              <a:t>el</a:t>
            </a:r>
            <a:r>
              <a:rPr dirty="0" sz="2800" spc="-50">
                <a:solidFill>
                  <a:srgbClr val="4E3629"/>
                </a:solidFill>
                <a:latin typeface="Calibri"/>
                <a:cs typeface="Calibri"/>
              </a:rPr>
              <a:t> </a:t>
            </a:r>
            <a:r>
              <a:rPr dirty="0" sz="2800" spc="-10">
                <a:solidFill>
                  <a:srgbClr val="4E3629"/>
                </a:solidFill>
                <a:latin typeface="Calibri"/>
                <a:cs typeface="Calibri"/>
              </a:rPr>
              <a:t>sistema:</a:t>
            </a:r>
            <a:endParaRPr sz="2800">
              <a:latin typeface="Calibri"/>
              <a:cs typeface="Calibri"/>
            </a:endParaRPr>
          </a:p>
        </p:txBody>
      </p:sp>
      <p:sp>
        <p:nvSpPr>
          <p:cNvPr id="4" name="object 4" descr=""/>
          <p:cNvSpPr txBox="1"/>
          <p:nvPr/>
        </p:nvSpPr>
        <p:spPr>
          <a:xfrm>
            <a:off x="483552" y="3358517"/>
            <a:ext cx="7941309" cy="253238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a:solidFill>
                  <a:srgbClr val="4E3629"/>
                </a:solidFill>
                <a:latin typeface="Calibri"/>
                <a:cs typeface="Calibri"/>
              </a:rPr>
              <a:t>Se</a:t>
            </a:r>
            <a:r>
              <a:rPr dirty="0" sz="2800" spc="-45">
                <a:solidFill>
                  <a:srgbClr val="4E3629"/>
                </a:solidFill>
                <a:latin typeface="Calibri"/>
                <a:cs typeface="Calibri"/>
              </a:rPr>
              <a:t> </a:t>
            </a:r>
            <a:r>
              <a:rPr dirty="0" sz="2800">
                <a:solidFill>
                  <a:srgbClr val="4E3629"/>
                </a:solidFill>
                <a:latin typeface="Calibri"/>
                <a:cs typeface="Calibri"/>
              </a:rPr>
              <a:t>han</a:t>
            </a:r>
            <a:r>
              <a:rPr dirty="0" sz="2800" spc="-35">
                <a:solidFill>
                  <a:srgbClr val="4E3629"/>
                </a:solidFill>
                <a:latin typeface="Calibri"/>
                <a:cs typeface="Calibri"/>
              </a:rPr>
              <a:t> </a:t>
            </a:r>
            <a:r>
              <a:rPr dirty="0" sz="2800">
                <a:solidFill>
                  <a:srgbClr val="4E3629"/>
                </a:solidFill>
                <a:latin typeface="Calibri"/>
                <a:cs typeface="Calibri"/>
              </a:rPr>
              <a:t>creado</a:t>
            </a:r>
            <a:r>
              <a:rPr dirty="0" sz="2800" spc="-35">
                <a:solidFill>
                  <a:srgbClr val="4E3629"/>
                </a:solidFill>
                <a:latin typeface="Calibri"/>
                <a:cs typeface="Calibri"/>
              </a:rPr>
              <a:t> </a:t>
            </a:r>
            <a:r>
              <a:rPr dirty="0" sz="2800">
                <a:solidFill>
                  <a:srgbClr val="4E3629"/>
                </a:solidFill>
                <a:latin typeface="Calibri"/>
                <a:cs typeface="Calibri"/>
              </a:rPr>
              <a:t>dos</a:t>
            </a:r>
            <a:r>
              <a:rPr dirty="0" sz="2800" spc="-35">
                <a:solidFill>
                  <a:srgbClr val="4E3629"/>
                </a:solidFill>
                <a:latin typeface="Calibri"/>
                <a:cs typeface="Calibri"/>
              </a:rPr>
              <a:t> </a:t>
            </a:r>
            <a:r>
              <a:rPr dirty="0" sz="2800" spc="-10">
                <a:solidFill>
                  <a:srgbClr val="4E3629"/>
                </a:solidFill>
                <a:latin typeface="Calibri"/>
                <a:cs typeface="Calibri"/>
              </a:rPr>
              <a:t>restricciones:</a:t>
            </a:r>
            <a:endParaRPr sz="2800">
              <a:latin typeface="Calibri"/>
              <a:cs typeface="Calibri"/>
            </a:endParaRPr>
          </a:p>
          <a:p>
            <a:pPr marL="530860" marR="330835" indent="-175260">
              <a:lnSpc>
                <a:spcPts val="2590"/>
              </a:lnSpc>
              <a:spcBef>
                <a:spcPts val="464"/>
              </a:spcBef>
            </a:pPr>
            <a:r>
              <a:rPr dirty="0" sz="2400">
                <a:solidFill>
                  <a:srgbClr val="D1350F"/>
                </a:solidFill>
                <a:latin typeface="Calibri"/>
                <a:cs typeface="Calibri"/>
              </a:rPr>
              <a:t>−</a:t>
            </a:r>
            <a:r>
              <a:rPr dirty="0" sz="2400">
                <a:solidFill>
                  <a:srgbClr val="4E3629"/>
                </a:solidFill>
                <a:latin typeface="Calibri"/>
                <a:cs typeface="Calibri"/>
              </a:rPr>
              <a:t>Una</a:t>
            </a:r>
            <a:r>
              <a:rPr dirty="0" sz="2400" spc="-15">
                <a:solidFill>
                  <a:srgbClr val="4E3629"/>
                </a:solidFill>
                <a:latin typeface="Calibri"/>
                <a:cs typeface="Calibri"/>
              </a:rPr>
              <a:t> </a:t>
            </a:r>
            <a:r>
              <a:rPr dirty="0" sz="2400" spc="-10">
                <a:solidFill>
                  <a:srgbClr val="4E3629"/>
                </a:solidFill>
                <a:latin typeface="Calibri"/>
                <a:cs typeface="Calibri"/>
              </a:rPr>
              <a:t>restricción</a:t>
            </a:r>
            <a:r>
              <a:rPr dirty="0" sz="2400" spc="-35">
                <a:solidFill>
                  <a:srgbClr val="4E3629"/>
                </a:solidFill>
                <a:latin typeface="Calibri"/>
                <a:cs typeface="Calibri"/>
              </a:rPr>
              <a:t> </a:t>
            </a:r>
            <a:r>
              <a:rPr dirty="0" sz="2400">
                <a:solidFill>
                  <a:srgbClr val="4E3629"/>
                </a:solidFill>
                <a:latin typeface="Calibri"/>
                <a:cs typeface="Calibri"/>
              </a:rPr>
              <a:t>a</a:t>
            </a:r>
            <a:r>
              <a:rPr dirty="0" sz="2400" spc="-15">
                <a:solidFill>
                  <a:srgbClr val="4E3629"/>
                </a:solidFill>
                <a:latin typeface="Calibri"/>
                <a:cs typeface="Calibri"/>
              </a:rPr>
              <a:t> </a:t>
            </a:r>
            <a:r>
              <a:rPr dirty="0" sz="2400">
                <a:solidFill>
                  <a:srgbClr val="4E3629"/>
                </a:solidFill>
                <a:latin typeface="Calibri"/>
                <a:cs typeface="Calibri"/>
              </a:rPr>
              <a:t>la</a:t>
            </a:r>
            <a:r>
              <a:rPr dirty="0" sz="2400" spc="-25">
                <a:solidFill>
                  <a:srgbClr val="4E3629"/>
                </a:solidFill>
                <a:latin typeface="Calibri"/>
                <a:cs typeface="Calibri"/>
              </a:rPr>
              <a:t> </a:t>
            </a:r>
            <a:r>
              <a:rPr dirty="0" sz="2400">
                <a:solidFill>
                  <a:srgbClr val="4E3629"/>
                </a:solidFill>
                <a:latin typeface="Calibri"/>
                <a:cs typeface="Calibri"/>
              </a:rPr>
              <a:t>que</a:t>
            </a:r>
            <a:r>
              <a:rPr dirty="0" sz="2400" spc="-5">
                <a:solidFill>
                  <a:srgbClr val="4E3629"/>
                </a:solidFill>
                <a:latin typeface="Calibri"/>
                <a:cs typeface="Calibri"/>
              </a:rPr>
              <a:t> </a:t>
            </a:r>
            <a:r>
              <a:rPr dirty="0" sz="2400">
                <a:solidFill>
                  <a:srgbClr val="4E3629"/>
                </a:solidFill>
                <a:latin typeface="Calibri"/>
                <a:cs typeface="Calibri"/>
              </a:rPr>
              <a:t>el</a:t>
            </a:r>
            <a:r>
              <a:rPr dirty="0" sz="2400" spc="-15">
                <a:solidFill>
                  <a:srgbClr val="4E3629"/>
                </a:solidFill>
                <a:latin typeface="Calibri"/>
                <a:cs typeface="Calibri"/>
              </a:rPr>
              <a:t> </a:t>
            </a:r>
            <a:r>
              <a:rPr dirty="0" sz="2400">
                <a:solidFill>
                  <a:srgbClr val="4E3629"/>
                </a:solidFill>
                <a:latin typeface="Calibri"/>
                <a:cs typeface="Calibri"/>
              </a:rPr>
              <a:t>usuario</a:t>
            </a:r>
            <a:r>
              <a:rPr dirty="0" sz="2400" spc="-15">
                <a:solidFill>
                  <a:srgbClr val="4E3629"/>
                </a:solidFill>
                <a:latin typeface="Calibri"/>
                <a:cs typeface="Calibri"/>
              </a:rPr>
              <a:t> </a:t>
            </a:r>
            <a:r>
              <a:rPr dirty="0" sz="2400">
                <a:solidFill>
                  <a:srgbClr val="4E3629"/>
                </a:solidFill>
                <a:latin typeface="Calibri"/>
                <a:cs typeface="Calibri"/>
              </a:rPr>
              <a:t>ha</a:t>
            </a:r>
            <a:r>
              <a:rPr dirty="0" sz="2400" spc="-15">
                <a:solidFill>
                  <a:srgbClr val="4E3629"/>
                </a:solidFill>
                <a:latin typeface="Calibri"/>
                <a:cs typeface="Calibri"/>
              </a:rPr>
              <a:t> </a:t>
            </a:r>
            <a:r>
              <a:rPr dirty="0" sz="2400">
                <a:solidFill>
                  <a:srgbClr val="4E3629"/>
                </a:solidFill>
                <a:latin typeface="Calibri"/>
                <a:cs typeface="Calibri"/>
              </a:rPr>
              <a:t>asignado</a:t>
            </a:r>
            <a:r>
              <a:rPr dirty="0" sz="2400" spc="-15">
                <a:solidFill>
                  <a:srgbClr val="4E3629"/>
                </a:solidFill>
                <a:latin typeface="Calibri"/>
                <a:cs typeface="Calibri"/>
              </a:rPr>
              <a:t> </a:t>
            </a:r>
            <a:r>
              <a:rPr dirty="0" sz="2400">
                <a:solidFill>
                  <a:srgbClr val="4E3629"/>
                </a:solidFill>
                <a:latin typeface="Calibri"/>
                <a:cs typeface="Calibri"/>
              </a:rPr>
              <a:t>el</a:t>
            </a:r>
            <a:r>
              <a:rPr dirty="0" sz="2400" spc="-25">
                <a:solidFill>
                  <a:srgbClr val="4E3629"/>
                </a:solidFill>
                <a:latin typeface="Calibri"/>
                <a:cs typeface="Calibri"/>
              </a:rPr>
              <a:t> </a:t>
            </a:r>
            <a:r>
              <a:rPr dirty="0" sz="2400" spc="-10">
                <a:solidFill>
                  <a:srgbClr val="4E3629"/>
                </a:solidFill>
                <a:latin typeface="Calibri"/>
                <a:cs typeface="Calibri"/>
              </a:rPr>
              <a:t>nombre clients_client_num_pk,</a:t>
            </a:r>
            <a:r>
              <a:rPr dirty="0" sz="2400" spc="-65">
                <a:solidFill>
                  <a:srgbClr val="4E3629"/>
                </a:solidFill>
                <a:latin typeface="Calibri"/>
                <a:cs typeface="Calibri"/>
              </a:rPr>
              <a:t> </a:t>
            </a:r>
            <a:r>
              <a:rPr dirty="0" sz="2400">
                <a:solidFill>
                  <a:srgbClr val="4E3629"/>
                </a:solidFill>
                <a:latin typeface="Calibri"/>
                <a:cs typeface="Calibri"/>
              </a:rPr>
              <a:t>para</a:t>
            </a:r>
            <a:r>
              <a:rPr dirty="0" sz="2400" spc="-45">
                <a:solidFill>
                  <a:srgbClr val="4E3629"/>
                </a:solidFill>
                <a:latin typeface="Calibri"/>
                <a:cs typeface="Calibri"/>
              </a:rPr>
              <a:t> </a:t>
            </a:r>
            <a:r>
              <a:rPr dirty="0" sz="2400">
                <a:solidFill>
                  <a:srgbClr val="4E3629"/>
                </a:solidFill>
                <a:latin typeface="Calibri"/>
                <a:cs typeface="Calibri"/>
              </a:rPr>
              <a:t>aplicar</a:t>
            </a:r>
            <a:r>
              <a:rPr dirty="0" sz="2400" spc="-45">
                <a:solidFill>
                  <a:srgbClr val="4E3629"/>
                </a:solidFill>
                <a:latin typeface="Calibri"/>
                <a:cs typeface="Calibri"/>
              </a:rPr>
              <a:t> </a:t>
            </a:r>
            <a:r>
              <a:rPr dirty="0" sz="2400">
                <a:solidFill>
                  <a:srgbClr val="4E3629"/>
                </a:solidFill>
                <a:latin typeface="Calibri"/>
                <a:cs typeface="Calibri"/>
              </a:rPr>
              <a:t>la</a:t>
            </a:r>
            <a:r>
              <a:rPr dirty="0" sz="2400" spc="-50">
                <a:solidFill>
                  <a:srgbClr val="4E3629"/>
                </a:solidFill>
                <a:latin typeface="Calibri"/>
                <a:cs typeface="Calibri"/>
              </a:rPr>
              <a:t> </a:t>
            </a:r>
            <a:r>
              <a:rPr dirty="0" sz="2400">
                <a:solidFill>
                  <a:srgbClr val="4E3629"/>
                </a:solidFill>
                <a:latin typeface="Calibri"/>
                <a:cs typeface="Calibri"/>
              </a:rPr>
              <a:t>regla</a:t>
            </a:r>
            <a:r>
              <a:rPr dirty="0" sz="2400" spc="-35">
                <a:solidFill>
                  <a:srgbClr val="4E3629"/>
                </a:solidFill>
                <a:latin typeface="Calibri"/>
                <a:cs typeface="Calibri"/>
              </a:rPr>
              <a:t> </a:t>
            </a:r>
            <a:r>
              <a:rPr dirty="0" sz="2400">
                <a:solidFill>
                  <a:srgbClr val="4E3629"/>
                </a:solidFill>
                <a:latin typeface="Calibri"/>
                <a:cs typeface="Calibri"/>
              </a:rPr>
              <a:t>de</a:t>
            </a:r>
            <a:r>
              <a:rPr dirty="0" sz="2400" spc="-35">
                <a:solidFill>
                  <a:srgbClr val="4E3629"/>
                </a:solidFill>
                <a:latin typeface="Calibri"/>
                <a:cs typeface="Calibri"/>
              </a:rPr>
              <a:t> </a:t>
            </a:r>
            <a:r>
              <a:rPr dirty="0" sz="2400" spc="-25">
                <a:solidFill>
                  <a:srgbClr val="4E3629"/>
                </a:solidFill>
                <a:latin typeface="Calibri"/>
                <a:cs typeface="Calibri"/>
              </a:rPr>
              <a:t>que </a:t>
            </a:r>
            <a:r>
              <a:rPr dirty="0" sz="2400">
                <a:solidFill>
                  <a:srgbClr val="4E3629"/>
                </a:solidFill>
                <a:latin typeface="Calibri"/>
                <a:cs typeface="Calibri"/>
              </a:rPr>
              <a:t>client_number</a:t>
            </a:r>
            <a:r>
              <a:rPr dirty="0" sz="2400" spc="-75">
                <a:solidFill>
                  <a:srgbClr val="4E3629"/>
                </a:solidFill>
                <a:latin typeface="Calibri"/>
                <a:cs typeface="Calibri"/>
              </a:rPr>
              <a:t> </a:t>
            </a:r>
            <a:r>
              <a:rPr dirty="0" sz="2400">
                <a:solidFill>
                  <a:srgbClr val="4E3629"/>
                </a:solidFill>
                <a:latin typeface="Calibri"/>
                <a:cs typeface="Calibri"/>
              </a:rPr>
              <a:t>es</a:t>
            </a:r>
            <a:r>
              <a:rPr dirty="0" sz="2400" spc="-60">
                <a:solidFill>
                  <a:srgbClr val="4E3629"/>
                </a:solidFill>
                <a:latin typeface="Calibri"/>
                <a:cs typeface="Calibri"/>
              </a:rPr>
              <a:t> </a:t>
            </a:r>
            <a:r>
              <a:rPr dirty="0" sz="2400">
                <a:solidFill>
                  <a:srgbClr val="4E3629"/>
                </a:solidFill>
                <a:latin typeface="Calibri"/>
                <a:cs typeface="Calibri"/>
              </a:rPr>
              <a:t>la</a:t>
            </a:r>
            <a:r>
              <a:rPr dirty="0" sz="2400" spc="-65">
                <a:solidFill>
                  <a:srgbClr val="4E3629"/>
                </a:solidFill>
                <a:latin typeface="Calibri"/>
                <a:cs typeface="Calibri"/>
              </a:rPr>
              <a:t> </a:t>
            </a:r>
            <a:r>
              <a:rPr dirty="0" sz="2400">
                <a:solidFill>
                  <a:srgbClr val="4E3629"/>
                </a:solidFill>
                <a:latin typeface="Calibri"/>
                <a:cs typeface="Calibri"/>
              </a:rPr>
              <a:t>clave</a:t>
            </a:r>
            <a:r>
              <a:rPr dirty="0" sz="2400" spc="-65">
                <a:solidFill>
                  <a:srgbClr val="4E3629"/>
                </a:solidFill>
                <a:latin typeface="Calibri"/>
                <a:cs typeface="Calibri"/>
              </a:rPr>
              <a:t> </a:t>
            </a:r>
            <a:r>
              <a:rPr dirty="0" sz="2400" spc="-10">
                <a:solidFill>
                  <a:srgbClr val="4E3629"/>
                </a:solidFill>
                <a:latin typeface="Calibri"/>
                <a:cs typeface="Calibri"/>
              </a:rPr>
              <a:t>primaria</a:t>
            </a:r>
            <a:endParaRPr sz="2400">
              <a:latin typeface="Calibri"/>
              <a:cs typeface="Calibri"/>
            </a:endParaRPr>
          </a:p>
          <a:p>
            <a:pPr marL="530860" marR="5080" indent="-175260">
              <a:lnSpc>
                <a:spcPts val="2590"/>
              </a:lnSpc>
              <a:spcBef>
                <a:spcPts val="414"/>
              </a:spcBef>
            </a:pPr>
            <a:r>
              <a:rPr dirty="0" sz="2400">
                <a:solidFill>
                  <a:srgbClr val="D1350F"/>
                </a:solidFill>
                <a:latin typeface="Calibri"/>
                <a:cs typeface="Calibri"/>
              </a:rPr>
              <a:t>−</a:t>
            </a:r>
            <a:r>
              <a:rPr dirty="0" sz="2400">
                <a:solidFill>
                  <a:srgbClr val="4E3629"/>
                </a:solidFill>
                <a:latin typeface="Calibri"/>
                <a:cs typeface="Calibri"/>
              </a:rPr>
              <a:t>Una</a:t>
            </a:r>
            <a:r>
              <a:rPr dirty="0" sz="2400" spc="-25">
                <a:solidFill>
                  <a:srgbClr val="4E3629"/>
                </a:solidFill>
                <a:latin typeface="Calibri"/>
                <a:cs typeface="Calibri"/>
              </a:rPr>
              <a:t> </a:t>
            </a:r>
            <a:r>
              <a:rPr dirty="0" sz="2400" spc="-10">
                <a:solidFill>
                  <a:srgbClr val="4E3629"/>
                </a:solidFill>
                <a:latin typeface="Calibri"/>
                <a:cs typeface="Calibri"/>
              </a:rPr>
              <a:t>restricción</a:t>
            </a:r>
            <a:r>
              <a:rPr dirty="0" sz="2400" spc="-40">
                <a:solidFill>
                  <a:srgbClr val="4E3629"/>
                </a:solidFill>
                <a:latin typeface="Calibri"/>
                <a:cs typeface="Calibri"/>
              </a:rPr>
              <a:t> </a:t>
            </a:r>
            <a:r>
              <a:rPr dirty="0" sz="2400">
                <a:solidFill>
                  <a:srgbClr val="4E3629"/>
                </a:solidFill>
                <a:latin typeface="Calibri"/>
                <a:cs typeface="Calibri"/>
              </a:rPr>
              <a:t>a</a:t>
            </a:r>
            <a:r>
              <a:rPr dirty="0" sz="2400" spc="-15">
                <a:solidFill>
                  <a:srgbClr val="4E3629"/>
                </a:solidFill>
                <a:latin typeface="Calibri"/>
                <a:cs typeface="Calibri"/>
              </a:rPr>
              <a:t> </a:t>
            </a:r>
            <a:r>
              <a:rPr dirty="0" sz="2400">
                <a:solidFill>
                  <a:srgbClr val="4E3629"/>
                </a:solidFill>
                <a:latin typeface="Calibri"/>
                <a:cs typeface="Calibri"/>
              </a:rPr>
              <a:t>la</a:t>
            </a:r>
            <a:r>
              <a:rPr dirty="0" sz="2400" spc="-25">
                <a:solidFill>
                  <a:srgbClr val="4E3629"/>
                </a:solidFill>
                <a:latin typeface="Calibri"/>
                <a:cs typeface="Calibri"/>
              </a:rPr>
              <a:t> </a:t>
            </a:r>
            <a:r>
              <a:rPr dirty="0" sz="2400">
                <a:solidFill>
                  <a:srgbClr val="4E3629"/>
                </a:solidFill>
                <a:latin typeface="Calibri"/>
                <a:cs typeface="Calibri"/>
              </a:rPr>
              <a:t>que</a:t>
            </a:r>
            <a:r>
              <a:rPr dirty="0" sz="2400" spc="-5">
                <a:solidFill>
                  <a:srgbClr val="4E3629"/>
                </a:solidFill>
                <a:latin typeface="Calibri"/>
                <a:cs typeface="Calibri"/>
              </a:rPr>
              <a:t> </a:t>
            </a:r>
            <a:r>
              <a:rPr dirty="0" sz="2400">
                <a:solidFill>
                  <a:srgbClr val="4E3629"/>
                </a:solidFill>
                <a:latin typeface="Calibri"/>
                <a:cs typeface="Calibri"/>
              </a:rPr>
              <a:t>el</a:t>
            </a:r>
            <a:r>
              <a:rPr dirty="0" sz="2400" spc="-15">
                <a:solidFill>
                  <a:srgbClr val="4E3629"/>
                </a:solidFill>
                <a:latin typeface="Calibri"/>
                <a:cs typeface="Calibri"/>
              </a:rPr>
              <a:t> </a:t>
            </a:r>
            <a:r>
              <a:rPr dirty="0" sz="2400">
                <a:solidFill>
                  <a:srgbClr val="4E3629"/>
                </a:solidFill>
                <a:latin typeface="Calibri"/>
                <a:cs typeface="Calibri"/>
              </a:rPr>
              <a:t>sistema</a:t>
            </a:r>
            <a:r>
              <a:rPr dirty="0" sz="2400" spc="-35">
                <a:solidFill>
                  <a:srgbClr val="4E3629"/>
                </a:solidFill>
                <a:latin typeface="Calibri"/>
                <a:cs typeface="Calibri"/>
              </a:rPr>
              <a:t> </a:t>
            </a:r>
            <a:r>
              <a:rPr dirty="0" sz="2400">
                <a:solidFill>
                  <a:srgbClr val="4E3629"/>
                </a:solidFill>
                <a:latin typeface="Calibri"/>
                <a:cs typeface="Calibri"/>
              </a:rPr>
              <a:t>ha</a:t>
            </a:r>
            <a:r>
              <a:rPr dirty="0" sz="2400" spc="-15">
                <a:solidFill>
                  <a:srgbClr val="4E3629"/>
                </a:solidFill>
                <a:latin typeface="Calibri"/>
                <a:cs typeface="Calibri"/>
              </a:rPr>
              <a:t> </a:t>
            </a:r>
            <a:r>
              <a:rPr dirty="0" sz="2400">
                <a:solidFill>
                  <a:srgbClr val="4E3629"/>
                </a:solidFill>
                <a:latin typeface="Calibri"/>
                <a:cs typeface="Calibri"/>
              </a:rPr>
              <a:t>asignado</a:t>
            </a:r>
            <a:r>
              <a:rPr dirty="0" sz="2400" spc="-20">
                <a:solidFill>
                  <a:srgbClr val="4E3629"/>
                </a:solidFill>
                <a:latin typeface="Calibri"/>
                <a:cs typeface="Calibri"/>
              </a:rPr>
              <a:t> </a:t>
            </a:r>
            <a:r>
              <a:rPr dirty="0" sz="2400">
                <a:solidFill>
                  <a:srgbClr val="4E3629"/>
                </a:solidFill>
                <a:latin typeface="Calibri"/>
                <a:cs typeface="Calibri"/>
              </a:rPr>
              <a:t>el</a:t>
            </a:r>
            <a:r>
              <a:rPr dirty="0" sz="2400" spc="-10">
                <a:solidFill>
                  <a:srgbClr val="4E3629"/>
                </a:solidFill>
                <a:latin typeface="Calibri"/>
                <a:cs typeface="Calibri"/>
              </a:rPr>
              <a:t> nombre </a:t>
            </a:r>
            <a:r>
              <a:rPr dirty="0" sz="2400">
                <a:solidFill>
                  <a:srgbClr val="4E3629"/>
                </a:solidFill>
                <a:latin typeface="Calibri"/>
                <a:cs typeface="Calibri"/>
              </a:rPr>
              <a:t>SYS_Cn</a:t>
            </a:r>
            <a:r>
              <a:rPr dirty="0" sz="2400" spc="-60">
                <a:solidFill>
                  <a:srgbClr val="4E3629"/>
                </a:solidFill>
                <a:latin typeface="Calibri"/>
                <a:cs typeface="Calibri"/>
              </a:rPr>
              <a:t> </a:t>
            </a:r>
            <a:r>
              <a:rPr dirty="0" sz="2400">
                <a:solidFill>
                  <a:srgbClr val="4E3629"/>
                </a:solidFill>
                <a:latin typeface="Calibri"/>
                <a:cs typeface="Calibri"/>
              </a:rPr>
              <a:t>(donde</a:t>
            </a:r>
            <a:r>
              <a:rPr dirty="0" sz="2400" spc="-55">
                <a:solidFill>
                  <a:srgbClr val="4E3629"/>
                </a:solidFill>
                <a:latin typeface="Calibri"/>
                <a:cs typeface="Calibri"/>
              </a:rPr>
              <a:t> </a:t>
            </a:r>
            <a:r>
              <a:rPr dirty="0" sz="2400">
                <a:solidFill>
                  <a:srgbClr val="4E3629"/>
                </a:solidFill>
                <a:latin typeface="Calibri"/>
                <a:cs typeface="Calibri"/>
              </a:rPr>
              <a:t>n</a:t>
            </a:r>
            <a:r>
              <a:rPr dirty="0" sz="2400" spc="-55">
                <a:solidFill>
                  <a:srgbClr val="4E3629"/>
                </a:solidFill>
                <a:latin typeface="Calibri"/>
                <a:cs typeface="Calibri"/>
              </a:rPr>
              <a:t> </a:t>
            </a:r>
            <a:r>
              <a:rPr dirty="0" sz="2400">
                <a:solidFill>
                  <a:srgbClr val="4E3629"/>
                </a:solidFill>
                <a:latin typeface="Calibri"/>
                <a:cs typeface="Calibri"/>
              </a:rPr>
              <a:t>es</a:t>
            </a:r>
            <a:r>
              <a:rPr dirty="0" sz="2400" spc="-65">
                <a:solidFill>
                  <a:srgbClr val="4E3629"/>
                </a:solidFill>
                <a:latin typeface="Calibri"/>
                <a:cs typeface="Calibri"/>
              </a:rPr>
              <a:t> </a:t>
            </a:r>
            <a:r>
              <a:rPr dirty="0" sz="2400">
                <a:solidFill>
                  <a:srgbClr val="4E3629"/>
                </a:solidFill>
                <a:latin typeface="Calibri"/>
                <a:cs typeface="Calibri"/>
              </a:rPr>
              <a:t>un</a:t>
            </a:r>
            <a:r>
              <a:rPr dirty="0" sz="2400" spc="-55">
                <a:solidFill>
                  <a:srgbClr val="4E3629"/>
                </a:solidFill>
                <a:latin typeface="Calibri"/>
                <a:cs typeface="Calibri"/>
              </a:rPr>
              <a:t> </a:t>
            </a:r>
            <a:r>
              <a:rPr dirty="0" sz="2400" spc="-10">
                <a:solidFill>
                  <a:srgbClr val="4E3629"/>
                </a:solidFill>
                <a:latin typeface="Calibri"/>
                <a:cs typeface="Calibri"/>
              </a:rPr>
              <a:t>entero</a:t>
            </a:r>
            <a:r>
              <a:rPr dirty="0" sz="2400" spc="-80">
                <a:solidFill>
                  <a:srgbClr val="4E3629"/>
                </a:solidFill>
                <a:latin typeface="Calibri"/>
                <a:cs typeface="Calibri"/>
              </a:rPr>
              <a:t> </a:t>
            </a:r>
            <a:r>
              <a:rPr dirty="0" sz="2400">
                <a:solidFill>
                  <a:srgbClr val="4E3629"/>
                </a:solidFill>
                <a:latin typeface="Calibri"/>
                <a:cs typeface="Calibri"/>
              </a:rPr>
              <a:t>único)</a:t>
            </a:r>
            <a:r>
              <a:rPr dirty="0" sz="2400" spc="-50">
                <a:solidFill>
                  <a:srgbClr val="4E3629"/>
                </a:solidFill>
                <a:latin typeface="Calibri"/>
                <a:cs typeface="Calibri"/>
              </a:rPr>
              <a:t> </a:t>
            </a:r>
            <a:r>
              <a:rPr dirty="0" sz="2400">
                <a:solidFill>
                  <a:srgbClr val="4E3629"/>
                </a:solidFill>
                <a:latin typeface="Calibri"/>
                <a:cs typeface="Calibri"/>
              </a:rPr>
              <a:t>para</a:t>
            </a:r>
            <a:r>
              <a:rPr dirty="0" sz="2400" spc="-70">
                <a:solidFill>
                  <a:srgbClr val="4E3629"/>
                </a:solidFill>
                <a:latin typeface="Calibri"/>
                <a:cs typeface="Calibri"/>
              </a:rPr>
              <a:t> </a:t>
            </a:r>
            <a:r>
              <a:rPr dirty="0" sz="2400">
                <a:solidFill>
                  <a:srgbClr val="4E3629"/>
                </a:solidFill>
                <a:latin typeface="Calibri"/>
                <a:cs typeface="Calibri"/>
              </a:rPr>
              <a:t>aplicar</a:t>
            </a:r>
            <a:r>
              <a:rPr dirty="0" sz="2400" spc="-65">
                <a:solidFill>
                  <a:srgbClr val="4E3629"/>
                </a:solidFill>
                <a:latin typeface="Calibri"/>
                <a:cs typeface="Calibri"/>
              </a:rPr>
              <a:t> </a:t>
            </a:r>
            <a:r>
              <a:rPr dirty="0" sz="2400">
                <a:solidFill>
                  <a:srgbClr val="4E3629"/>
                </a:solidFill>
                <a:latin typeface="Calibri"/>
                <a:cs typeface="Calibri"/>
              </a:rPr>
              <a:t>la</a:t>
            </a:r>
            <a:r>
              <a:rPr dirty="0" sz="2400" spc="-60">
                <a:solidFill>
                  <a:srgbClr val="4E3629"/>
                </a:solidFill>
                <a:latin typeface="Calibri"/>
                <a:cs typeface="Calibri"/>
              </a:rPr>
              <a:t> </a:t>
            </a:r>
            <a:r>
              <a:rPr dirty="0" sz="2400">
                <a:solidFill>
                  <a:srgbClr val="4E3629"/>
                </a:solidFill>
                <a:latin typeface="Calibri"/>
                <a:cs typeface="Calibri"/>
              </a:rPr>
              <a:t>regla</a:t>
            </a:r>
            <a:r>
              <a:rPr dirty="0" sz="2400" spc="-65">
                <a:solidFill>
                  <a:srgbClr val="4E3629"/>
                </a:solidFill>
                <a:latin typeface="Calibri"/>
                <a:cs typeface="Calibri"/>
              </a:rPr>
              <a:t> </a:t>
            </a:r>
            <a:r>
              <a:rPr dirty="0" sz="2400" spc="-25">
                <a:solidFill>
                  <a:srgbClr val="4E3629"/>
                </a:solidFill>
                <a:latin typeface="Calibri"/>
                <a:cs typeface="Calibri"/>
              </a:rPr>
              <a:t>de </a:t>
            </a:r>
            <a:r>
              <a:rPr dirty="0" sz="2400">
                <a:solidFill>
                  <a:srgbClr val="4E3629"/>
                </a:solidFill>
                <a:latin typeface="Calibri"/>
                <a:cs typeface="Calibri"/>
              </a:rPr>
              <a:t>que</a:t>
            </a:r>
            <a:r>
              <a:rPr dirty="0" sz="2400" spc="-50">
                <a:solidFill>
                  <a:srgbClr val="4E3629"/>
                </a:solidFill>
                <a:latin typeface="Calibri"/>
                <a:cs typeface="Calibri"/>
              </a:rPr>
              <a:t> </a:t>
            </a:r>
            <a:r>
              <a:rPr dirty="0" sz="2400">
                <a:solidFill>
                  <a:srgbClr val="4E3629"/>
                </a:solidFill>
                <a:latin typeface="Calibri"/>
                <a:cs typeface="Calibri"/>
              </a:rPr>
              <a:t>last_names</a:t>
            </a:r>
            <a:r>
              <a:rPr dirty="0" sz="2400" spc="-65">
                <a:solidFill>
                  <a:srgbClr val="4E3629"/>
                </a:solidFill>
                <a:latin typeface="Calibri"/>
                <a:cs typeface="Calibri"/>
              </a:rPr>
              <a:t> </a:t>
            </a:r>
            <a:r>
              <a:rPr dirty="0" sz="2400">
                <a:solidFill>
                  <a:srgbClr val="4E3629"/>
                </a:solidFill>
                <a:latin typeface="Calibri"/>
                <a:cs typeface="Calibri"/>
              </a:rPr>
              <a:t>no</a:t>
            </a:r>
            <a:r>
              <a:rPr dirty="0" sz="2400" spc="-50">
                <a:solidFill>
                  <a:srgbClr val="4E3629"/>
                </a:solidFill>
                <a:latin typeface="Calibri"/>
                <a:cs typeface="Calibri"/>
              </a:rPr>
              <a:t> </a:t>
            </a:r>
            <a:r>
              <a:rPr dirty="0" sz="2400">
                <a:solidFill>
                  <a:srgbClr val="4E3629"/>
                </a:solidFill>
                <a:latin typeface="Calibri"/>
                <a:cs typeface="Calibri"/>
              </a:rPr>
              <a:t>puede</a:t>
            </a:r>
            <a:r>
              <a:rPr dirty="0" sz="2400" spc="-45">
                <a:solidFill>
                  <a:srgbClr val="4E3629"/>
                </a:solidFill>
                <a:latin typeface="Calibri"/>
                <a:cs typeface="Calibri"/>
              </a:rPr>
              <a:t> </a:t>
            </a:r>
            <a:r>
              <a:rPr dirty="0" sz="2400">
                <a:solidFill>
                  <a:srgbClr val="4E3629"/>
                </a:solidFill>
                <a:latin typeface="Calibri"/>
                <a:cs typeface="Calibri"/>
              </a:rPr>
              <a:t>ser</a:t>
            </a:r>
            <a:r>
              <a:rPr dirty="0" sz="2400" spc="-45">
                <a:solidFill>
                  <a:srgbClr val="4E3629"/>
                </a:solidFill>
                <a:latin typeface="Calibri"/>
                <a:cs typeface="Calibri"/>
              </a:rPr>
              <a:t> </a:t>
            </a:r>
            <a:r>
              <a:rPr dirty="0" sz="2400" spc="-20">
                <a:solidFill>
                  <a:srgbClr val="4E3629"/>
                </a:solidFill>
                <a:latin typeface="Calibri"/>
                <a:cs typeface="Calibri"/>
              </a:rPr>
              <a:t>nulo</a:t>
            </a:r>
            <a:endParaRPr sz="2400">
              <a:latin typeface="Calibri"/>
              <a:cs typeface="Calibri"/>
            </a:endParaRPr>
          </a:p>
        </p:txBody>
      </p:sp>
      <p:graphicFrame>
        <p:nvGraphicFramePr>
          <p:cNvPr id="5" name="object 5" descr=""/>
          <p:cNvGraphicFramePr>
            <a:graphicFrameLocks noGrp="1"/>
          </p:cNvGraphicFramePr>
          <p:nvPr/>
        </p:nvGraphicFramePr>
        <p:xfrm>
          <a:off x="220979" y="2033016"/>
          <a:ext cx="8778240" cy="1126489"/>
        </p:xfrm>
        <a:graphic>
          <a:graphicData uri="http://schemas.openxmlformats.org/drawingml/2006/table">
            <a:tbl>
              <a:tblPr firstRow="1" bandRow="1">
                <a:tableStyleId>{2D5ABB26-0587-4C30-8999-92F81FD0307C}</a:tableStyleId>
              </a:tblPr>
              <a:tblGrid>
                <a:gridCol w="1891664"/>
                <a:gridCol w="6231254"/>
                <a:gridCol w="579120"/>
              </a:tblGrid>
              <a:tr h="567055">
                <a:tc gridSpan="2">
                  <a:txBody>
                    <a:bodyPr/>
                    <a:lstStyle/>
                    <a:p>
                      <a:pPr>
                        <a:lnSpc>
                          <a:spcPct val="100000"/>
                        </a:lnSpc>
                        <a:spcBef>
                          <a:spcPts val="414"/>
                        </a:spcBef>
                      </a:pPr>
                      <a:r>
                        <a:rPr dirty="0" sz="1600" b="1">
                          <a:solidFill>
                            <a:srgbClr val="4E3629"/>
                          </a:solidFill>
                          <a:latin typeface="Courier New"/>
                          <a:cs typeface="Courier New"/>
                        </a:rPr>
                        <a:t>CREATE</a:t>
                      </a:r>
                      <a:r>
                        <a:rPr dirty="0" sz="1600" spc="-45" b="1">
                          <a:solidFill>
                            <a:srgbClr val="4E3629"/>
                          </a:solidFill>
                          <a:latin typeface="Courier New"/>
                          <a:cs typeface="Courier New"/>
                        </a:rPr>
                        <a:t> </a:t>
                      </a:r>
                      <a:r>
                        <a:rPr dirty="0" sz="1600" b="1">
                          <a:solidFill>
                            <a:srgbClr val="4E3629"/>
                          </a:solidFill>
                          <a:latin typeface="Courier New"/>
                          <a:cs typeface="Courier New"/>
                        </a:rPr>
                        <a:t>TABLE</a:t>
                      </a:r>
                      <a:r>
                        <a:rPr dirty="0" sz="1600" spc="-45" b="1">
                          <a:solidFill>
                            <a:srgbClr val="4E3629"/>
                          </a:solidFill>
                          <a:latin typeface="Courier New"/>
                          <a:cs typeface="Courier New"/>
                        </a:rPr>
                        <a:t> </a:t>
                      </a:r>
                      <a:r>
                        <a:rPr dirty="0" sz="1600" spc="-10" b="1">
                          <a:solidFill>
                            <a:srgbClr val="4E3629"/>
                          </a:solidFill>
                          <a:latin typeface="Courier New"/>
                          <a:cs typeface="Courier New"/>
                        </a:rPr>
                        <a:t>clients</a:t>
                      </a:r>
                      <a:endParaRPr sz="1600">
                        <a:latin typeface="Courier New"/>
                        <a:cs typeface="Courier New"/>
                      </a:endParaRPr>
                    </a:p>
                    <a:p>
                      <a:pPr marL="121285">
                        <a:lnSpc>
                          <a:spcPct val="100000"/>
                        </a:lnSpc>
                      </a:pPr>
                      <a:r>
                        <a:rPr dirty="0" sz="1600" b="1">
                          <a:solidFill>
                            <a:srgbClr val="4E3629"/>
                          </a:solidFill>
                          <a:latin typeface="Courier New"/>
                          <a:cs typeface="Courier New"/>
                        </a:rPr>
                        <a:t>(client_number</a:t>
                      </a:r>
                      <a:r>
                        <a:rPr dirty="0" sz="1600" spc="-100" b="1">
                          <a:solidFill>
                            <a:srgbClr val="4E3629"/>
                          </a:solidFill>
                          <a:latin typeface="Courier New"/>
                          <a:cs typeface="Courier New"/>
                        </a:rPr>
                        <a:t> </a:t>
                      </a:r>
                      <a:r>
                        <a:rPr dirty="0" sz="1600" b="1">
                          <a:solidFill>
                            <a:srgbClr val="4E3629"/>
                          </a:solidFill>
                          <a:latin typeface="Courier New"/>
                          <a:cs typeface="Courier New"/>
                        </a:rPr>
                        <a:t>NUMBER(4)</a:t>
                      </a:r>
                      <a:r>
                        <a:rPr dirty="0" sz="1600" spc="-105" b="1">
                          <a:solidFill>
                            <a:srgbClr val="4E3629"/>
                          </a:solidFill>
                          <a:latin typeface="Courier New"/>
                          <a:cs typeface="Courier New"/>
                        </a:rPr>
                        <a:t> </a:t>
                      </a:r>
                      <a:r>
                        <a:rPr dirty="0" sz="1600" b="1">
                          <a:solidFill>
                            <a:srgbClr val="D1350F"/>
                          </a:solidFill>
                          <a:latin typeface="Courier New"/>
                          <a:cs typeface="Courier New"/>
                        </a:rPr>
                        <a:t>CONSTRAINT</a:t>
                      </a:r>
                      <a:r>
                        <a:rPr dirty="0" sz="1600" spc="-90" b="1">
                          <a:solidFill>
                            <a:srgbClr val="D1350F"/>
                          </a:solidFill>
                          <a:latin typeface="Courier New"/>
                          <a:cs typeface="Courier New"/>
                        </a:rPr>
                        <a:t> </a:t>
                      </a:r>
                      <a:r>
                        <a:rPr dirty="0" sz="1600" b="1">
                          <a:solidFill>
                            <a:srgbClr val="D1350F"/>
                          </a:solidFill>
                          <a:latin typeface="Courier New"/>
                          <a:cs typeface="Courier New"/>
                        </a:rPr>
                        <a:t>clients_client_num_pk</a:t>
                      </a:r>
                      <a:r>
                        <a:rPr dirty="0" sz="1600" spc="-95" b="1">
                          <a:solidFill>
                            <a:srgbClr val="D1350F"/>
                          </a:solidFill>
                          <a:latin typeface="Courier New"/>
                          <a:cs typeface="Courier New"/>
                        </a:rPr>
                        <a:t> </a:t>
                      </a:r>
                      <a:r>
                        <a:rPr dirty="0" sz="1600" spc="-10" b="1">
                          <a:solidFill>
                            <a:srgbClr val="D1350F"/>
                          </a:solidFill>
                          <a:latin typeface="Courier New"/>
                          <a:cs typeface="Courier New"/>
                        </a:rPr>
                        <a:t>PRIMARY</a:t>
                      </a:r>
                      <a:endParaRPr sz="1600">
                        <a:latin typeface="Courier New"/>
                        <a:cs typeface="Courier New"/>
                      </a:endParaRPr>
                    </a:p>
                  </a:txBody>
                  <a:tcPr marL="0" marR="0" marB="0" marT="52704">
                    <a:solidFill>
                      <a:srgbClr val="9DBEC4">
                        <a:alpha val="50199"/>
                      </a:srgbClr>
                    </a:solidFill>
                  </a:tcPr>
                </a:tc>
                <a:tc hMerge="1">
                  <a:txBody>
                    <a:bodyPr/>
                    <a:lstStyle/>
                    <a:p>
                      <a:pPr/>
                    </a:p>
                  </a:txBody>
                  <a:tcPr marL="0" marR="0" marB="0" marT="0"/>
                </a:tc>
                <a:tc>
                  <a:txBody>
                    <a:bodyPr/>
                    <a:lstStyle/>
                    <a:p>
                      <a:pPr>
                        <a:lnSpc>
                          <a:spcPct val="100000"/>
                        </a:lnSpc>
                        <a:spcBef>
                          <a:spcPts val="490"/>
                        </a:spcBef>
                      </a:pPr>
                      <a:endParaRPr sz="1600">
                        <a:latin typeface="Times New Roman"/>
                        <a:cs typeface="Times New Roman"/>
                      </a:endParaRPr>
                    </a:p>
                    <a:p>
                      <a:pPr marL="61594">
                        <a:lnSpc>
                          <a:spcPct val="100000"/>
                        </a:lnSpc>
                        <a:spcBef>
                          <a:spcPts val="5"/>
                        </a:spcBef>
                      </a:pPr>
                      <a:r>
                        <a:rPr dirty="0" sz="1600" spc="-20" b="1">
                          <a:solidFill>
                            <a:srgbClr val="D1350F"/>
                          </a:solidFill>
                          <a:latin typeface="Courier New"/>
                          <a:cs typeface="Courier New"/>
                        </a:rPr>
                        <a:t>KEY,</a:t>
                      </a:r>
                      <a:endParaRPr sz="1600">
                        <a:latin typeface="Courier New"/>
                        <a:cs typeface="Courier New"/>
                      </a:endParaRPr>
                    </a:p>
                  </a:txBody>
                  <a:tcPr marL="0" marR="0" marB="0" marT="62230">
                    <a:solidFill>
                      <a:srgbClr val="9DBEC4">
                        <a:alpha val="50199"/>
                      </a:srgbClr>
                    </a:solidFill>
                  </a:tcPr>
                </a:tc>
              </a:tr>
              <a:tr h="243204">
                <a:tc>
                  <a:txBody>
                    <a:bodyPr/>
                    <a:lstStyle/>
                    <a:p>
                      <a:pPr marL="243204">
                        <a:lnSpc>
                          <a:spcPts val="1705"/>
                        </a:lnSpc>
                      </a:pPr>
                      <a:r>
                        <a:rPr dirty="0" sz="1600" spc="-10" b="1">
                          <a:solidFill>
                            <a:srgbClr val="4E3629"/>
                          </a:solidFill>
                          <a:latin typeface="Courier New"/>
                          <a:cs typeface="Courier New"/>
                        </a:rPr>
                        <a:t>last_name</a:t>
                      </a:r>
                      <a:endParaRPr sz="1600">
                        <a:latin typeface="Courier New"/>
                        <a:cs typeface="Courier New"/>
                      </a:endParaRPr>
                    </a:p>
                  </a:txBody>
                  <a:tcPr marL="0" marR="0" marB="0" marT="0">
                    <a:solidFill>
                      <a:srgbClr val="9DBEC4">
                        <a:alpha val="50199"/>
                      </a:srgbClr>
                    </a:solidFill>
                  </a:tcPr>
                </a:tc>
                <a:tc>
                  <a:txBody>
                    <a:bodyPr/>
                    <a:lstStyle/>
                    <a:p>
                      <a:pPr marL="61594">
                        <a:lnSpc>
                          <a:spcPts val="1705"/>
                        </a:lnSpc>
                      </a:pPr>
                      <a:r>
                        <a:rPr dirty="0" sz="1600" b="1">
                          <a:solidFill>
                            <a:srgbClr val="4E3629"/>
                          </a:solidFill>
                          <a:latin typeface="Courier New"/>
                          <a:cs typeface="Courier New"/>
                        </a:rPr>
                        <a:t>VARCHAR2(13)</a:t>
                      </a:r>
                      <a:r>
                        <a:rPr dirty="0" sz="1600" spc="-50" b="1">
                          <a:solidFill>
                            <a:srgbClr val="4E3629"/>
                          </a:solidFill>
                          <a:latin typeface="Courier New"/>
                          <a:cs typeface="Courier New"/>
                        </a:rPr>
                        <a:t> </a:t>
                      </a:r>
                      <a:r>
                        <a:rPr dirty="0" sz="1600" b="1">
                          <a:solidFill>
                            <a:srgbClr val="D1350F"/>
                          </a:solidFill>
                          <a:latin typeface="Courier New"/>
                          <a:cs typeface="Courier New"/>
                        </a:rPr>
                        <a:t>NOT</a:t>
                      </a:r>
                      <a:r>
                        <a:rPr dirty="0" sz="1600" spc="-55" b="1">
                          <a:solidFill>
                            <a:srgbClr val="D1350F"/>
                          </a:solidFill>
                          <a:latin typeface="Courier New"/>
                          <a:cs typeface="Courier New"/>
                        </a:rPr>
                        <a:t> </a:t>
                      </a:r>
                      <a:r>
                        <a:rPr dirty="0" sz="1600" spc="-20" b="1">
                          <a:solidFill>
                            <a:srgbClr val="D1350F"/>
                          </a:solidFill>
                          <a:latin typeface="Courier New"/>
                          <a:cs typeface="Courier New"/>
                        </a:rPr>
                        <a:t>NULL</a:t>
                      </a:r>
                      <a:r>
                        <a:rPr dirty="0" sz="1600" spc="-20" b="1">
                          <a:solidFill>
                            <a:srgbClr val="4E3629"/>
                          </a:solidFill>
                          <a:latin typeface="Courier New"/>
                          <a:cs typeface="Courier New"/>
                        </a:rPr>
                        <a:t>,</a:t>
                      </a:r>
                      <a:endParaRPr sz="1600">
                        <a:latin typeface="Courier New"/>
                        <a:cs typeface="Courier New"/>
                      </a:endParaRPr>
                    </a:p>
                  </a:txBody>
                  <a:tcPr marL="0" marR="0" marB="0" marT="0">
                    <a:solidFill>
                      <a:srgbClr val="9DBEC4">
                        <a:alpha val="50199"/>
                      </a:srgbClr>
                    </a:solidFill>
                  </a:tcPr>
                </a:tc>
                <a:tc>
                  <a:txBody>
                    <a:bodyPr/>
                    <a:lstStyle/>
                    <a:p>
                      <a:pPr>
                        <a:lnSpc>
                          <a:spcPct val="100000"/>
                        </a:lnSpc>
                      </a:pPr>
                      <a:endParaRPr sz="1400">
                        <a:latin typeface="Times New Roman"/>
                        <a:cs typeface="Times New Roman"/>
                      </a:endParaRPr>
                    </a:p>
                  </a:txBody>
                  <a:tcPr marL="0" marR="0" marB="0" marT="0">
                    <a:solidFill>
                      <a:srgbClr val="9DBEC4">
                        <a:alpha val="50199"/>
                      </a:srgbClr>
                    </a:solidFill>
                  </a:tcPr>
                </a:tc>
              </a:tr>
              <a:tr h="316230">
                <a:tc>
                  <a:txBody>
                    <a:bodyPr/>
                    <a:lstStyle/>
                    <a:p>
                      <a:pPr marL="243204">
                        <a:lnSpc>
                          <a:spcPts val="1705"/>
                        </a:lnSpc>
                      </a:pPr>
                      <a:r>
                        <a:rPr dirty="0" sz="1600" spc="-10" b="1">
                          <a:solidFill>
                            <a:srgbClr val="4E3629"/>
                          </a:solidFill>
                          <a:latin typeface="Courier New"/>
                          <a:cs typeface="Courier New"/>
                        </a:rPr>
                        <a:t>email</a:t>
                      </a:r>
                      <a:endParaRPr sz="1600">
                        <a:latin typeface="Courier New"/>
                        <a:cs typeface="Courier New"/>
                      </a:endParaRPr>
                    </a:p>
                  </a:txBody>
                  <a:tcPr marL="0" marR="0" marB="0" marT="0">
                    <a:solidFill>
                      <a:srgbClr val="9DBEC4">
                        <a:alpha val="50199"/>
                      </a:srgbClr>
                    </a:solidFill>
                  </a:tcPr>
                </a:tc>
                <a:tc>
                  <a:txBody>
                    <a:bodyPr/>
                    <a:lstStyle/>
                    <a:p>
                      <a:pPr marL="60960">
                        <a:lnSpc>
                          <a:spcPts val="1705"/>
                        </a:lnSpc>
                      </a:pPr>
                      <a:r>
                        <a:rPr dirty="0" sz="1600" spc="-10" b="1">
                          <a:solidFill>
                            <a:srgbClr val="4E3629"/>
                          </a:solidFill>
                          <a:latin typeface="Courier New"/>
                          <a:cs typeface="Courier New"/>
                        </a:rPr>
                        <a:t>VARCHAR2(80));</a:t>
                      </a:r>
                      <a:endParaRPr sz="1600">
                        <a:latin typeface="Courier New"/>
                        <a:cs typeface="Courier New"/>
                      </a:endParaRPr>
                    </a:p>
                  </a:txBody>
                  <a:tcPr marL="0" marR="0" marB="0" marT="0">
                    <a:solidFill>
                      <a:srgbClr val="9DBEC4">
                        <a:alpha val="50199"/>
                      </a:srgbClr>
                    </a:solidFill>
                  </a:tcPr>
                </a:tc>
                <a:tc>
                  <a:txBody>
                    <a:bodyPr/>
                    <a:lstStyle/>
                    <a:p>
                      <a:pPr>
                        <a:lnSpc>
                          <a:spcPct val="100000"/>
                        </a:lnSpc>
                      </a:pPr>
                      <a:endParaRPr sz="1900">
                        <a:latin typeface="Times New Roman"/>
                        <a:cs typeface="Times New Roman"/>
                      </a:endParaRPr>
                    </a:p>
                  </a:txBody>
                  <a:tcPr marL="0" marR="0" marB="0" marT="0">
                    <a:solidFill>
                      <a:srgbClr val="9DBEC4">
                        <a:alpha val="50199"/>
                      </a:srgbClr>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Restricciones</a:t>
            </a:r>
            <a:r>
              <a:rPr dirty="0" spc="-45"/>
              <a:t> </a:t>
            </a:r>
            <a:r>
              <a:rPr dirty="0"/>
              <a:t>en</a:t>
            </a:r>
            <a:r>
              <a:rPr dirty="0" spc="-60"/>
              <a:t> </a:t>
            </a:r>
            <a:r>
              <a:rPr dirty="0"/>
              <a:t>el</a:t>
            </a:r>
            <a:r>
              <a:rPr dirty="0" spc="-45"/>
              <a:t> </a:t>
            </a:r>
            <a:r>
              <a:rPr dirty="0"/>
              <a:t>Nivel</a:t>
            </a:r>
            <a:r>
              <a:rPr dirty="0" spc="-60"/>
              <a:t> </a:t>
            </a:r>
            <a:r>
              <a:rPr dirty="0"/>
              <a:t>de</a:t>
            </a:r>
            <a:r>
              <a:rPr dirty="0" spc="-40"/>
              <a:t> </a:t>
            </a:r>
            <a:r>
              <a:rPr dirty="0" spc="-10"/>
              <a:t>Tabla</a:t>
            </a:r>
          </a:p>
        </p:txBody>
      </p:sp>
      <p:sp>
        <p:nvSpPr>
          <p:cNvPr id="3" name="object 3" descr=""/>
          <p:cNvSpPr txBox="1"/>
          <p:nvPr/>
        </p:nvSpPr>
        <p:spPr>
          <a:xfrm>
            <a:off x="483552" y="1415417"/>
            <a:ext cx="8086090" cy="3344545"/>
          </a:xfrm>
          <a:prstGeom prst="rect">
            <a:avLst/>
          </a:prstGeom>
        </p:spPr>
        <p:txBody>
          <a:bodyPr wrap="square" lIns="0" tIns="59690" rIns="0" bIns="0" rtlCol="0" vert="horz">
            <a:spAutoFit/>
          </a:bodyPr>
          <a:lstStyle/>
          <a:p>
            <a:pPr marL="182880" marR="640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Las</a:t>
            </a:r>
            <a:r>
              <a:rPr dirty="0" sz="2800" spc="-60">
                <a:solidFill>
                  <a:srgbClr val="4E3629"/>
                </a:solidFill>
                <a:latin typeface="Calibri"/>
                <a:cs typeface="Calibri"/>
              </a:rPr>
              <a:t> </a:t>
            </a:r>
            <a:r>
              <a:rPr dirty="0" sz="2800" spc="-10">
                <a:solidFill>
                  <a:srgbClr val="4E3629"/>
                </a:solidFill>
                <a:latin typeface="Calibri"/>
                <a:cs typeface="Calibri"/>
              </a:rPr>
              <a:t>restricciones</a:t>
            </a:r>
            <a:r>
              <a:rPr dirty="0" sz="2800" spc="-1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nivel</a:t>
            </a:r>
            <a:r>
              <a:rPr dirty="0" sz="2800" spc="-4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tabla</a:t>
            </a:r>
            <a:r>
              <a:rPr dirty="0" sz="2800" spc="-50">
                <a:solidFill>
                  <a:srgbClr val="4E3629"/>
                </a:solidFill>
                <a:latin typeface="Calibri"/>
                <a:cs typeface="Calibri"/>
              </a:rPr>
              <a:t> </a:t>
            </a:r>
            <a:r>
              <a:rPr dirty="0" sz="2800">
                <a:solidFill>
                  <a:srgbClr val="4E3629"/>
                </a:solidFill>
                <a:latin typeface="Calibri"/>
                <a:cs typeface="Calibri"/>
              </a:rPr>
              <a:t>se</a:t>
            </a:r>
            <a:r>
              <a:rPr dirty="0" sz="2800" spc="-40">
                <a:solidFill>
                  <a:srgbClr val="4E3629"/>
                </a:solidFill>
                <a:latin typeface="Calibri"/>
                <a:cs typeface="Calibri"/>
              </a:rPr>
              <a:t> </a:t>
            </a:r>
            <a:r>
              <a:rPr dirty="0" sz="2800" spc="-10">
                <a:solidFill>
                  <a:srgbClr val="4E3629"/>
                </a:solidFill>
                <a:latin typeface="Calibri"/>
                <a:cs typeface="Calibri"/>
              </a:rPr>
              <a:t>muestran</a:t>
            </a:r>
            <a:r>
              <a:rPr dirty="0" sz="2800" spc="-25">
                <a:solidFill>
                  <a:srgbClr val="4E3629"/>
                </a:solidFill>
                <a:latin typeface="Calibri"/>
                <a:cs typeface="Calibri"/>
              </a:rPr>
              <a:t> por </a:t>
            </a:r>
            <a:r>
              <a:rPr dirty="0" sz="2800" spc="-25">
                <a:solidFill>
                  <a:srgbClr val="4E3629"/>
                </a:solidFill>
                <a:latin typeface="Calibri"/>
                <a:cs typeface="Calibri"/>
              </a:rPr>
              <a:t>	</a:t>
            </a:r>
            <a:r>
              <a:rPr dirty="0" sz="2800">
                <a:solidFill>
                  <a:srgbClr val="4E3629"/>
                </a:solidFill>
                <a:latin typeface="Calibri"/>
                <a:cs typeface="Calibri"/>
              </a:rPr>
              <a:t>separado</a:t>
            </a:r>
            <a:r>
              <a:rPr dirty="0" sz="2800" spc="-6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las</a:t>
            </a:r>
            <a:r>
              <a:rPr dirty="0" sz="2800" spc="-70">
                <a:solidFill>
                  <a:srgbClr val="4E3629"/>
                </a:solidFill>
                <a:latin typeface="Calibri"/>
                <a:cs typeface="Calibri"/>
              </a:rPr>
              <a:t> </a:t>
            </a:r>
            <a:r>
              <a:rPr dirty="0" sz="2800">
                <a:solidFill>
                  <a:srgbClr val="4E3629"/>
                </a:solidFill>
                <a:latin typeface="Calibri"/>
                <a:cs typeface="Calibri"/>
              </a:rPr>
              <a:t>definiciones</a:t>
            </a:r>
            <a:r>
              <a:rPr dirty="0" sz="2800" spc="-55">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columna</a:t>
            </a:r>
            <a:r>
              <a:rPr dirty="0" sz="2800" spc="-50">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spc="-10">
                <a:solidFill>
                  <a:srgbClr val="4E3629"/>
                </a:solidFill>
                <a:latin typeface="Calibri"/>
                <a:cs typeface="Calibri"/>
              </a:rPr>
              <a:t>sentencia</a:t>
            </a:r>
            <a:r>
              <a:rPr dirty="0" sz="2800" spc="-75">
                <a:solidFill>
                  <a:srgbClr val="4E3629"/>
                </a:solidFill>
                <a:latin typeface="Calibri"/>
                <a:cs typeface="Calibri"/>
              </a:rPr>
              <a:t> </a:t>
            </a:r>
            <a:r>
              <a:rPr dirty="0" sz="2800" spc="-35">
                <a:solidFill>
                  <a:srgbClr val="4E3629"/>
                </a:solidFill>
                <a:latin typeface="Calibri"/>
                <a:cs typeface="Calibri"/>
              </a:rPr>
              <a:t>CREATE</a:t>
            </a:r>
            <a:r>
              <a:rPr dirty="0" sz="2800" spc="-105">
                <a:solidFill>
                  <a:srgbClr val="4E3629"/>
                </a:solidFill>
                <a:latin typeface="Calibri"/>
                <a:cs typeface="Calibri"/>
              </a:rPr>
              <a:t> </a:t>
            </a:r>
            <a:r>
              <a:rPr dirty="0" sz="2800" spc="-10">
                <a:solidFill>
                  <a:srgbClr val="4E3629"/>
                </a:solidFill>
                <a:latin typeface="Calibri"/>
                <a:cs typeface="Calibri"/>
              </a:rPr>
              <a:t>TABLE</a:t>
            </a:r>
            <a:endParaRPr sz="2800">
              <a:latin typeface="Calibri"/>
              <a:cs typeface="Calibri"/>
            </a:endParaRPr>
          </a:p>
          <a:p>
            <a:pPr marL="182880" marR="203835"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Las</a:t>
            </a:r>
            <a:r>
              <a:rPr dirty="0" sz="2800" spc="-60">
                <a:solidFill>
                  <a:srgbClr val="4E3629"/>
                </a:solidFill>
                <a:latin typeface="Calibri"/>
                <a:cs typeface="Calibri"/>
              </a:rPr>
              <a:t> </a:t>
            </a:r>
            <a:r>
              <a:rPr dirty="0" sz="2800">
                <a:solidFill>
                  <a:srgbClr val="4E3629"/>
                </a:solidFill>
                <a:latin typeface="Calibri"/>
                <a:cs typeface="Calibri"/>
              </a:rPr>
              <a:t>definiciones</a:t>
            </a:r>
            <a:r>
              <a:rPr dirty="0" sz="2800" spc="-2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10">
                <a:solidFill>
                  <a:srgbClr val="4E3629"/>
                </a:solidFill>
                <a:latin typeface="Calibri"/>
                <a:cs typeface="Calibri"/>
              </a:rPr>
              <a:t>restricciones</a:t>
            </a:r>
            <a:r>
              <a:rPr dirty="0" sz="2800" spc="-3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nivel</a:t>
            </a:r>
            <a:r>
              <a:rPr dirty="0" sz="2800" spc="-5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tabla</a:t>
            </a:r>
            <a:r>
              <a:rPr dirty="0" sz="2800" spc="-45">
                <a:solidFill>
                  <a:srgbClr val="4E3629"/>
                </a:solidFill>
                <a:latin typeface="Calibri"/>
                <a:cs typeface="Calibri"/>
              </a:rPr>
              <a:t> </a:t>
            </a:r>
            <a:r>
              <a:rPr dirty="0" u="heavy" sz="2800" spc="-25">
                <a:solidFill>
                  <a:srgbClr val="4E3629"/>
                </a:solidFill>
                <a:uFill>
                  <a:solidFill>
                    <a:srgbClr val="EC2814"/>
                  </a:solidFill>
                </a:uFill>
                <a:latin typeface="Calibri"/>
                <a:cs typeface="Calibri"/>
              </a:rPr>
              <a:t>se</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muestran</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después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9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hayan</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definido</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todas</a:t>
            </a:r>
            <a:r>
              <a:rPr dirty="0" u="heavy" sz="2800" spc="-7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las</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columnas</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5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tabla</a:t>
            </a:r>
            <a:endParaRPr sz="2800">
              <a:latin typeface="Calibri"/>
              <a:cs typeface="Calibri"/>
            </a:endParaRPr>
          </a:p>
          <a:p>
            <a:pPr marL="182880" marR="5080"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el</a:t>
            </a:r>
            <a:r>
              <a:rPr dirty="0" sz="2800" spc="-85">
                <a:solidFill>
                  <a:srgbClr val="4E3629"/>
                </a:solidFill>
                <a:latin typeface="Calibri"/>
                <a:cs typeface="Calibri"/>
              </a:rPr>
              <a:t> </a:t>
            </a:r>
            <a:r>
              <a:rPr dirty="0" sz="2800">
                <a:solidFill>
                  <a:srgbClr val="4E3629"/>
                </a:solidFill>
                <a:latin typeface="Calibri"/>
                <a:cs typeface="Calibri"/>
              </a:rPr>
              <a:t>ejemplo</a:t>
            </a:r>
            <a:r>
              <a:rPr dirty="0" sz="2800" spc="-40">
                <a:solidFill>
                  <a:srgbClr val="4E3629"/>
                </a:solidFill>
                <a:latin typeface="Calibri"/>
                <a:cs typeface="Calibri"/>
              </a:rPr>
              <a:t> </a:t>
            </a:r>
            <a:r>
              <a:rPr dirty="0" sz="2800">
                <a:solidFill>
                  <a:srgbClr val="4E3629"/>
                </a:solidFill>
                <a:latin typeface="Calibri"/>
                <a:cs typeface="Calibri"/>
              </a:rPr>
              <a:t>siguiente,</a:t>
            </a:r>
            <a:r>
              <a:rPr dirty="0" sz="2800" spc="-60">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única</a:t>
            </a:r>
            <a:r>
              <a:rPr dirty="0" sz="2800" spc="-55">
                <a:solidFill>
                  <a:srgbClr val="4E3629"/>
                </a:solidFill>
                <a:latin typeface="Calibri"/>
                <a:cs typeface="Calibri"/>
              </a:rPr>
              <a:t> </a:t>
            </a:r>
            <a:r>
              <a:rPr dirty="0" sz="2800" spc="-10">
                <a:solidFill>
                  <a:srgbClr val="4E3629"/>
                </a:solidFill>
                <a:latin typeface="Calibri"/>
                <a:cs typeface="Calibri"/>
              </a:rPr>
              <a:t>restricción</a:t>
            </a:r>
            <a:r>
              <a:rPr dirty="0" sz="2800" spc="-50">
                <a:solidFill>
                  <a:srgbClr val="4E3629"/>
                </a:solidFill>
                <a:latin typeface="Calibri"/>
                <a:cs typeface="Calibri"/>
              </a:rPr>
              <a:t> </a:t>
            </a:r>
            <a:r>
              <a:rPr dirty="0" sz="2800">
                <a:solidFill>
                  <a:srgbClr val="4E3629"/>
                </a:solidFill>
                <a:latin typeface="Calibri"/>
                <a:cs typeface="Calibri"/>
              </a:rPr>
              <a:t>aparece</a:t>
            </a:r>
            <a:r>
              <a:rPr dirty="0" sz="2800" spc="-75">
                <a:solidFill>
                  <a:srgbClr val="4E3629"/>
                </a:solidFill>
                <a:latin typeface="Calibri"/>
                <a:cs typeface="Calibri"/>
              </a:rPr>
              <a:t> </a:t>
            </a:r>
            <a:r>
              <a:rPr dirty="0" sz="2800" spc="-25">
                <a:solidFill>
                  <a:srgbClr val="4E3629"/>
                </a:solidFill>
                <a:latin typeface="Calibri"/>
                <a:cs typeface="Calibri"/>
              </a:rPr>
              <a:t>en </a:t>
            </a:r>
            <a:r>
              <a:rPr dirty="0" sz="2800" spc="-25">
                <a:solidFill>
                  <a:srgbClr val="4E3629"/>
                </a:solidFill>
                <a:latin typeface="Calibri"/>
                <a:cs typeface="Calibri"/>
              </a:rPr>
              <a:t>	</a:t>
            </a:r>
            <a:r>
              <a:rPr dirty="0" sz="2800">
                <a:solidFill>
                  <a:srgbClr val="4E3629"/>
                </a:solidFill>
                <a:latin typeface="Calibri"/>
                <a:cs typeface="Calibri"/>
              </a:rPr>
              <a:t>último</a:t>
            </a:r>
            <a:r>
              <a:rPr dirty="0" sz="2800" spc="-55">
                <a:solidFill>
                  <a:srgbClr val="4E3629"/>
                </a:solidFill>
                <a:latin typeface="Calibri"/>
                <a:cs typeface="Calibri"/>
              </a:rPr>
              <a:t> </a:t>
            </a:r>
            <a:r>
              <a:rPr dirty="0" sz="2800">
                <a:solidFill>
                  <a:srgbClr val="4E3629"/>
                </a:solidFill>
                <a:latin typeface="Calibri"/>
                <a:cs typeface="Calibri"/>
              </a:rPr>
              <a:t>lugar</a:t>
            </a:r>
            <a:r>
              <a:rPr dirty="0" sz="2800" spc="-85">
                <a:solidFill>
                  <a:srgbClr val="4E3629"/>
                </a:solidFill>
                <a:latin typeface="Calibri"/>
                <a:cs typeface="Calibri"/>
              </a:rPr>
              <a:t> </a:t>
            </a:r>
            <a:r>
              <a:rPr dirty="0" sz="2800">
                <a:solidFill>
                  <a:srgbClr val="4E3629"/>
                </a:solidFill>
                <a:latin typeface="Calibri"/>
                <a:cs typeface="Calibri"/>
              </a:rPr>
              <a:t>en</a:t>
            </a:r>
            <a:r>
              <a:rPr dirty="0" sz="2800" spc="-80">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sentencia</a:t>
            </a:r>
            <a:r>
              <a:rPr dirty="0" sz="2800" spc="-65">
                <a:solidFill>
                  <a:srgbClr val="4E3629"/>
                </a:solidFill>
                <a:latin typeface="Calibri"/>
                <a:cs typeface="Calibri"/>
              </a:rPr>
              <a:t> </a:t>
            </a:r>
            <a:r>
              <a:rPr dirty="0" sz="2800" spc="-30">
                <a:solidFill>
                  <a:srgbClr val="4E3629"/>
                </a:solidFill>
                <a:latin typeface="Calibri"/>
                <a:cs typeface="Calibri"/>
              </a:rPr>
              <a:t>CREATE</a:t>
            </a:r>
            <a:r>
              <a:rPr dirty="0" sz="2800" spc="-95">
                <a:solidFill>
                  <a:srgbClr val="4E3629"/>
                </a:solidFill>
                <a:latin typeface="Calibri"/>
                <a:cs typeface="Calibri"/>
              </a:rPr>
              <a:t> </a:t>
            </a:r>
            <a:r>
              <a:rPr dirty="0" sz="2800" spc="-10">
                <a:solidFill>
                  <a:srgbClr val="4E3629"/>
                </a:solidFill>
                <a:latin typeface="Calibri"/>
                <a:cs typeface="Calibri"/>
              </a:rPr>
              <a:t>TABLE</a:t>
            </a:r>
            <a:endParaRPr sz="2800">
              <a:latin typeface="Calibri"/>
              <a:cs typeface="Calibri"/>
            </a:endParaRPr>
          </a:p>
        </p:txBody>
      </p:sp>
      <p:sp>
        <p:nvSpPr>
          <p:cNvPr id="4" name="object 4" descr=""/>
          <p:cNvSpPr/>
          <p:nvPr/>
        </p:nvSpPr>
        <p:spPr>
          <a:xfrm>
            <a:off x="1901951" y="4770120"/>
            <a:ext cx="7002780" cy="1591310"/>
          </a:xfrm>
          <a:custGeom>
            <a:avLst/>
            <a:gdLst/>
            <a:ahLst/>
            <a:cxnLst/>
            <a:rect l="l" t="t" r="r" b="b"/>
            <a:pathLst>
              <a:path w="7002780" h="1591310">
                <a:moveTo>
                  <a:pt x="7002780" y="0"/>
                </a:moveTo>
                <a:lnTo>
                  <a:pt x="0" y="0"/>
                </a:lnTo>
                <a:lnTo>
                  <a:pt x="0" y="1591055"/>
                </a:lnTo>
                <a:lnTo>
                  <a:pt x="7002780" y="1591055"/>
                </a:lnTo>
                <a:lnTo>
                  <a:pt x="7002780" y="0"/>
                </a:lnTo>
                <a:close/>
              </a:path>
            </a:pathLst>
          </a:custGeom>
          <a:solidFill>
            <a:srgbClr val="9DBEC4">
              <a:alpha val="50199"/>
            </a:srgbClr>
          </a:solidFill>
        </p:spPr>
        <p:txBody>
          <a:bodyPr wrap="square" lIns="0" tIns="0" rIns="0" bIns="0" rtlCol="0"/>
          <a:lstStyle/>
          <a:p/>
        </p:txBody>
      </p:sp>
      <p:sp>
        <p:nvSpPr>
          <p:cNvPr id="5" name="object 5" descr=""/>
          <p:cNvSpPr txBox="1"/>
          <p:nvPr/>
        </p:nvSpPr>
        <p:spPr>
          <a:xfrm>
            <a:off x="1888851" y="4676913"/>
            <a:ext cx="4177029" cy="513080"/>
          </a:xfrm>
          <a:prstGeom prst="rect">
            <a:avLst/>
          </a:prstGeom>
        </p:spPr>
        <p:txBody>
          <a:bodyPr wrap="square" lIns="0" tIns="12065" rIns="0" bIns="0" rtlCol="0" vert="horz">
            <a:spAutoFit/>
          </a:bodyPr>
          <a:lstStyle/>
          <a:p>
            <a:pPr marL="133985" marR="5080" indent="-121920">
              <a:lnSpc>
                <a:spcPct val="100000"/>
              </a:lnSpc>
              <a:spcBef>
                <a:spcPts val="95"/>
              </a:spcBef>
            </a:pPr>
            <a:r>
              <a:rPr dirty="0" sz="1600" b="1">
                <a:solidFill>
                  <a:srgbClr val="4E3629"/>
                </a:solidFill>
                <a:latin typeface="Courier New"/>
                <a:cs typeface="Courier New"/>
              </a:rPr>
              <a:t>CREATE</a:t>
            </a:r>
            <a:r>
              <a:rPr dirty="0" sz="1600" spc="-45" b="1">
                <a:solidFill>
                  <a:srgbClr val="4E3629"/>
                </a:solidFill>
                <a:latin typeface="Courier New"/>
                <a:cs typeface="Courier New"/>
              </a:rPr>
              <a:t> </a:t>
            </a:r>
            <a:r>
              <a:rPr dirty="0" sz="1600" b="1">
                <a:solidFill>
                  <a:srgbClr val="4E3629"/>
                </a:solidFill>
                <a:latin typeface="Courier New"/>
                <a:cs typeface="Courier New"/>
              </a:rPr>
              <a:t>TABLE</a:t>
            </a:r>
            <a:r>
              <a:rPr dirty="0" sz="1600" spc="-45" b="1">
                <a:solidFill>
                  <a:srgbClr val="4E3629"/>
                </a:solidFill>
                <a:latin typeface="Courier New"/>
                <a:cs typeface="Courier New"/>
              </a:rPr>
              <a:t> </a:t>
            </a:r>
            <a:r>
              <a:rPr dirty="0" sz="1600" b="1">
                <a:solidFill>
                  <a:srgbClr val="4E3629"/>
                </a:solidFill>
                <a:latin typeface="Courier New"/>
                <a:cs typeface="Courier New"/>
              </a:rPr>
              <a:t>clients</a:t>
            </a:r>
            <a:r>
              <a:rPr dirty="0" sz="1600" spc="-55" b="1">
                <a:solidFill>
                  <a:srgbClr val="4E3629"/>
                </a:solidFill>
                <a:latin typeface="Courier New"/>
                <a:cs typeface="Courier New"/>
              </a:rPr>
              <a:t> </a:t>
            </a:r>
            <a:r>
              <a:rPr dirty="0" sz="1600" spc="-50" b="1">
                <a:solidFill>
                  <a:srgbClr val="4E3629"/>
                </a:solidFill>
                <a:latin typeface="Courier New"/>
                <a:cs typeface="Courier New"/>
              </a:rPr>
              <a:t>( </a:t>
            </a:r>
            <a:r>
              <a:rPr dirty="0" sz="1600" b="1">
                <a:solidFill>
                  <a:srgbClr val="4E3629"/>
                </a:solidFill>
                <a:latin typeface="Courier New"/>
                <a:cs typeface="Courier New"/>
              </a:rPr>
              <a:t>client_number</a:t>
            </a:r>
            <a:r>
              <a:rPr dirty="0" sz="1600" spc="-65" b="1">
                <a:solidFill>
                  <a:srgbClr val="4E3629"/>
                </a:solidFill>
                <a:latin typeface="Courier New"/>
                <a:cs typeface="Courier New"/>
              </a:rPr>
              <a:t> </a:t>
            </a:r>
            <a:r>
              <a:rPr dirty="0" sz="1600" b="1">
                <a:solidFill>
                  <a:srgbClr val="4E3629"/>
                </a:solidFill>
                <a:latin typeface="Courier New"/>
                <a:cs typeface="Courier New"/>
              </a:rPr>
              <a:t>NUMBER(6)</a:t>
            </a:r>
            <a:r>
              <a:rPr dirty="0" sz="1600" spc="-60" b="1">
                <a:solidFill>
                  <a:srgbClr val="4E3629"/>
                </a:solidFill>
                <a:latin typeface="Courier New"/>
                <a:cs typeface="Courier New"/>
              </a:rPr>
              <a:t> </a:t>
            </a:r>
            <a:r>
              <a:rPr dirty="0" sz="1600" b="1">
                <a:solidFill>
                  <a:srgbClr val="4E3629"/>
                </a:solidFill>
                <a:latin typeface="Courier New"/>
                <a:cs typeface="Courier New"/>
              </a:rPr>
              <a:t>NOT</a:t>
            </a:r>
            <a:r>
              <a:rPr dirty="0" sz="1600" spc="-70" b="1">
                <a:solidFill>
                  <a:srgbClr val="4E3629"/>
                </a:solidFill>
                <a:latin typeface="Courier New"/>
                <a:cs typeface="Courier New"/>
              </a:rPr>
              <a:t> </a:t>
            </a:r>
            <a:r>
              <a:rPr dirty="0" sz="1600" spc="-10" b="1">
                <a:solidFill>
                  <a:srgbClr val="4E3629"/>
                </a:solidFill>
                <a:latin typeface="Courier New"/>
                <a:cs typeface="Courier New"/>
              </a:rPr>
              <a:t>NULL,</a:t>
            </a:r>
            <a:endParaRPr sz="1600">
              <a:latin typeface="Courier New"/>
              <a:cs typeface="Courier New"/>
            </a:endParaRPr>
          </a:p>
        </p:txBody>
      </p:sp>
      <p:sp>
        <p:nvSpPr>
          <p:cNvPr id="9" name="object 9"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10" name="object 10"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18</a:t>
            </a:r>
          </a:p>
        </p:txBody>
      </p:sp>
      <p:sp>
        <p:nvSpPr>
          <p:cNvPr id="11" name="object 11"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object 6" descr=""/>
          <p:cNvSpPr txBox="1"/>
          <p:nvPr/>
        </p:nvSpPr>
        <p:spPr>
          <a:xfrm>
            <a:off x="2010670" y="5164590"/>
            <a:ext cx="1245235" cy="1000760"/>
          </a:xfrm>
          <a:prstGeom prst="rect">
            <a:avLst/>
          </a:prstGeom>
        </p:spPr>
        <p:txBody>
          <a:bodyPr wrap="square" lIns="0" tIns="12065" rIns="0" bIns="0" rtlCol="0" vert="horz">
            <a:spAutoFit/>
          </a:bodyPr>
          <a:lstStyle/>
          <a:p>
            <a:pPr marL="12700" marR="5715">
              <a:lnSpc>
                <a:spcPct val="100000"/>
              </a:lnSpc>
              <a:spcBef>
                <a:spcPts val="95"/>
              </a:spcBef>
            </a:pPr>
            <a:r>
              <a:rPr dirty="0" sz="1600" spc="-10" b="1">
                <a:solidFill>
                  <a:srgbClr val="4E3629"/>
                </a:solidFill>
                <a:latin typeface="Courier New"/>
                <a:cs typeface="Courier New"/>
              </a:rPr>
              <a:t>first_name last_name phone email</a:t>
            </a:r>
            <a:endParaRPr sz="1600">
              <a:latin typeface="Courier New"/>
              <a:cs typeface="Courier New"/>
            </a:endParaRPr>
          </a:p>
        </p:txBody>
      </p:sp>
      <p:sp>
        <p:nvSpPr>
          <p:cNvPr id="7" name="object 7" descr=""/>
          <p:cNvSpPr txBox="1"/>
          <p:nvPr/>
        </p:nvSpPr>
        <p:spPr>
          <a:xfrm>
            <a:off x="3719364" y="5164590"/>
            <a:ext cx="2712085" cy="1000760"/>
          </a:xfrm>
          <a:prstGeom prst="rect">
            <a:avLst/>
          </a:prstGeom>
        </p:spPr>
        <p:txBody>
          <a:bodyPr wrap="square" lIns="0" tIns="12065" rIns="0" bIns="0" rtlCol="0" vert="horz">
            <a:spAutoFit/>
          </a:bodyPr>
          <a:lstStyle/>
          <a:p>
            <a:pPr marL="12700" marR="5080" indent="635">
              <a:lnSpc>
                <a:spcPct val="100000"/>
              </a:lnSpc>
              <a:spcBef>
                <a:spcPts val="95"/>
              </a:spcBef>
            </a:pPr>
            <a:r>
              <a:rPr dirty="0" sz="1600" spc="-10" b="1">
                <a:solidFill>
                  <a:srgbClr val="4E3629"/>
                </a:solidFill>
                <a:latin typeface="Courier New"/>
                <a:cs typeface="Courier New"/>
              </a:rPr>
              <a:t>VARCHAR2(20), VARCHAR2(20), VARCHAR2(20), </a:t>
            </a:r>
            <a:r>
              <a:rPr dirty="0" sz="1600" b="1">
                <a:solidFill>
                  <a:srgbClr val="4E3629"/>
                </a:solidFill>
                <a:latin typeface="Courier New"/>
                <a:cs typeface="Courier New"/>
              </a:rPr>
              <a:t>VARCHAR2(10)</a:t>
            </a:r>
            <a:r>
              <a:rPr dirty="0" sz="1600" spc="-65" b="1">
                <a:solidFill>
                  <a:srgbClr val="4E3629"/>
                </a:solidFill>
                <a:latin typeface="Courier New"/>
                <a:cs typeface="Courier New"/>
              </a:rPr>
              <a:t> </a:t>
            </a:r>
            <a:r>
              <a:rPr dirty="0" sz="1600" b="1">
                <a:solidFill>
                  <a:srgbClr val="4E3629"/>
                </a:solidFill>
                <a:latin typeface="Courier New"/>
                <a:cs typeface="Courier New"/>
              </a:rPr>
              <a:t>NOT</a:t>
            </a:r>
            <a:r>
              <a:rPr dirty="0" sz="1600" spc="-50" b="1">
                <a:solidFill>
                  <a:srgbClr val="4E3629"/>
                </a:solidFill>
                <a:latin typeface="Courier New"/>
                <a:cs typeface="Courier New"/>
              </a:rPr>
              <a:t> </a:t>
            </a:r>
            <a:r>
              <a:rPr dirty="0" sz="1600" spc="-10" b="1">
                <a:solidFill>
                  <a:srgbClr val="4E3629"/>
                </a:solidFill>
                <a:latin typeface="Courier New"/>
                <a:cs typeface="Courier New"/>
              </a:rPr>
              <a:t>NULL,</a:t>
            </a:r>
            <a:endParaRPr sz="1600">
              <a:latin typeface="Courier New"/>
              <a:cs typeface="Courier New"/>
            </a:endParaRPr>
          </a:p>
        </p:txBody>
      </p:sp>
      <p:sp>
        <p:nvSpPr>
          <p:cNvPr id="8" name="object 8" descr=""/>
          <p:cNvSpPr txBox="1"/>
          <p:nvPr/>
        </p:nvSpPr>
        <p:spPr>
          <a:xfrm>
            <a:off x="1888648" y="6139944"/>
            <a:ext cx="6868795" cy="269240"/>
          </a:xfrm>
          <a:prstGeom prst="rect">
            <a:avLst/>
          </a:prstGeom>
        </p:spPr>
        <p:txBody>
          <a:bodyPr wrap="square" lIns="0" tIns="12065" rIns="0" bIns="0" rtlCol="0" vert="horz">
            <a:spAutoFit/>
          </a:bodyPr>
          <a:lstStyle/>
          <a:p>
            <a:pPr marL="12700">
              <a:lnSpc>
                <a:spcPct val="100000"/>
              </a:lnSpc>
              <a:spcBef>
                <a:spcPts val="95"/>
              </a:spcBef>
            </a:pPr>
            <a:r>
              <a:rPr dirty="0" sz="1600" b="1">
                <a:solidFill>
                  <a:srgbClr val="D1350F"/>
                </a:solidFill>
                <a:latin typeface="Courier New"/>
                <a:cs typeface="Courier New"/>
              </a:rPr>
              <a:t>CONSTRAINT</a:t>
            </a:r>
            <a:r>
              <a:rPr dirty="0" sz="1600" spc="-100" b="1">
                <a:solidFill>
                  <a:srgbClr val="D1350F"/>
                </a:solidFill>
                <a:latin typeface="Courier New"/>
                <a:cs typeface="Courier New"/>
              </a:rPr>
              <a:t> </a:t>
            </a:r>
            <a:r>
              <a:rPr dirty="0" sz="1600" b="1">
                <a:solidFill>
                  <a:srgbClr val="D1350F"/>
                </a:solidFill>
                <a:latin typeface="Courier New"/>
                <a:cs typeface="Courier New"/>
              </a:rPr>
              <a:t>clients_phone_email_uk</a:t>
            </a:r>
            <a:r>
              <a:rPr dirty="0" sz="1600" spc="-85" b="1">
                <a:solidFill>
                  <a:srgbClr val="D1350F"/>
                </a:solidFill>
                <a:latin typeface="Courier New"/>
                <a:cs typeface="Courier New"/>
              </a:rPr>
              <a:t> </a:t>
            </a:r>
            <a:r>
              <a:rPr dirty="0" sz="1600" b="1">
                <a:solidFill>
                  <a:srgbClr val="D1350F"/>
                </a:solidFill>
                <a:latin typeface="Courier New"/>
                <a:cs typeface="Courier New"/>
              </a:rPr>
              <a:t>UNIQUE</a:t>
            </a:r>
            <a:r>
              <a:rPr dirty="0" sz="1600" spc="-105" b="1">
                <a:solidFill>
                  <a:srgbClr val="D1350F"/>
                </a:solidFill>
                <a:latin typeface="Courier New"/>
                <a:cs typeface="Courier New"/>
              </a:rPr>
              <a:t> </a:t>
            </a:r>
            <a:r>
              <a:rPr dirty="0" sz="1600" spc="-10" b="1">
                <a:solidFill>
                  <a:srgbClr val="D1350F"/>
                </a:solidFill>
                <a:latin typeface="Courier New"/>
                <a:cs typeface="Courier New"/>
              </a:rPr>
              <a:t>(email,phone)</a:t>
            </a:r>
            <a:r>
              <a:rPr dirty="0" sz="1600" spc="-10" b="1">
                <a:solidFill>
                  <a:srgbClr val="4E3629"/>
                </a:solidFill>
                <a:latin typeface="Courier New"/>
                <a:cs typeface="Courier New"/>
              </a:rPr>
              <a:t>);</a:t>
            </a:r>
            <a:endParaRPr sz="1600">
              <a:latin typeface="Courier New"/>
              <a:cs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3" name="object 3" descr=""/>
          <p:cNvSpPr/>
          <p:nvPr/>
        </p:nvSpPr>
        <p:spPr>
          <a:xfrm>
            <a:off x="644499" y="2332595"/>
            <a:ext cx="7958455" cy="768350"/>
          </a:xfrm>
          <a:custGeom>
            <a:avLst/>
            <a:gdLst/>
            <a:ahLst/>
            <a:cxnLst/>
            <a:rect l="l" t="t" r="r" b="b"/>
            <a:pathLst>
              <a:path w="7958455" h="768350">
                <a:moveTo>
                  <a:pt x="2561412" y="578269"/>
                </a:moveTo>
                <a:lnTo>
                  <a:pt x="2556091" y="522008"/>
                </a:lnTo>
                <a:lnTo>
                  <a:pt x="2541651" y="470319"/>
                </a:lnTo>
                <a:lnTo>
                  <a:pt x="2520365" y="427748"/>
                </a:lnTo>
                <a:lnTo>
                  <a:pt x="2494508" y="398856"/>
                </a:lnTo>
                <a:lnTo>
                  <a:pt x="2466390" y="388213"/>
                </a:lnTo>
                <a:lnTo>
                  <a:pt x="118986" y="388213"/>
                </a:lnTo>
                <a:lnTo>
                  <a:pt x="65011" y="427748"/>
                </a:lnTo>
                <a:lnTo>
                  <a:pt x="43726" y="470319"/>
                </a:lnTo>
                <a:lnTo>
                  <a:pt x="29273" y="522008"/>
                </a:lnTo>
                <a:lnTo>
                  <a:pt x="23964" y="578269"/>
                </a:lnTo>
                <a:lnTo>
                  <a:pt x="29273" y="634517"/>
                </a:lnTo>
                <a:lnTo>
                  <a:pt x="43726" y="686206"/>
                </a:lnTo>
                <a:lnTo>
                  <a:pt x="65011" y="728776"/>
                </a:lnTo>
                <a:lnTo>
                  <a:pt x="90855" y="757669"/>
                </a:lnTo>
                <a:lnTo>
                  <a:pt x="118986" y="768311"/>
                </a:lnTo>
                <a:lnTo>
                  <a:pt x="2466390" y="768311"/>
                </a:lnTo>
                <a:lnTo>
                  <a:pt x="2520365" y="728776"/>
                </a:lnTo>
                <a:lnTo>
                  <a:pt x="2541651" y="686206"/>
                </a:lnTo>
                <a:lnTo>
                  <a:pt x="2556091" y="634517"/>
                </a:lnTo>
                <a:lnTo>
                  <a:pt x="2561412" y="578269"/>
                </a:lnTo>
                <a:close/>
              </a:path>
              <a:path w="7958455" h="768350">
                <a:moveTo>
                  <a:pt x="7958099" y="193878"/>
                </a:moveTo>
                <a:lnTo>
                  <a:pt x="7952664" y="136486"/>
                </a:lnTo>
                <a:lnTo>
                  <a:pt x="7937932" y="83756"/>
                </a:lnTo>
                <a:lnTo>
                  <a:pt x="7916215" y="40322"/>
                </a:lnTo>
                <a:lnTo>
                  <a:pt x="7889849" y="10858"/>
                </a:lnTo>
                <a:lnTo>
                  <a:pt x="7861160" y="0"/>
                </a:lnTo>
                <a:lnTo>
                  <a:pt x="96939" y="0"/>
                </a:lnTo>
                <a:lnTo>
                  <a:pt x="41871" y="40322"/>
                </a:lnTo>
                <a:lnTo>
                  <a:pt x="20154" y="83756"/>
                </a:lnTo>
                <a:lnTo>
                  <a:pt x="5422" y="136486"/>
                </a:lnTo>
                <a:lnTo>
                  <a:pt x="0" y="193878"/>
                </a:lnTo>
                <a:lnTo>
                  <a:pt x="5422" y="251269"/>
                </a:lnTo>
                <a:lnTo>
                  <a:pt x="20154" y="303999"/>
                </a:lnTo>
                <a:lnTo>
                  <a:pt x="41871" y="347433"/>
                </a:lnTo>
                <a:lnTo>
                  <a:pt x="68237" y="376897"/>
                </a:lnTo>
                <a:lnTo>
                  <a:pt x="96939" y="387756"/>
                </a:lnTo>
                <a:lnTo>
                  <a:pt x="7861160" y="387756"/>
                </a:lnTo>
                <a:lnTo>
                  <a:pt x="7916215" y="347433"/>
                </a:lnTo>
                <a:lnTo>
                  <a:pt x="7937932" y="303999"/>
                </a:lnTo>
                <a:lnTo>
                  <a:pt x="7952664" y="251269"/>
                </a:lnTo>
                <a:lnTo>
                  <a:pt x="7958099" y="193878"/>
                </a:lnTo>
                <a:close/>
              </a:path>
            </a:pathLst>
          </a:custGeom>
          <a:solidFill>
            <a:srgbClr val="7CC868"/>
          </a:solidFill>
        </p:spPr>
        <p:txBody>
          <a:bodyPr wrap="square" lIns="0" tIns="0" rIns="0" bIns="0" rtlCol="0"/>
          <a:lstStyle/>
          <a:p/>
        </p:txBody>
      </p:sp>
      <p:pic>
        <p:nvPicPr>
          <p:cNvPr id="4" name="object 4" descr=""/>
          <p:cNvPicPr/>
          <p:nvPr/>
        </p:nvPicPr>
        <p:blipFill>
          <a:blip r:embed="rId2" cstate="print"/>
          <a:stretch>
            <a:fillRect/>
          </a:stretch>
        </p:blipFill>
        <p:spPr>
          <a:xfrm>
            <a:off x="0" y="0"/>
            <a:ext cx="9144000" cy="254507"/>
          </a:xfrm>
          <a:prstGeom prst="rect">
            <a:avLst/>
          </a:prstGeom>
        </p:spPr>
      </p:pic>
      <p:pic>
        <p:nvPicPr>
          <p:cNvPr id="5" name="object 5" descr=""/>
          <p:cNvPicPr/>
          <p:nvPr/>
        </p:nvPicPr>
        <p:blipFill>
          <a:blip r:embed="rId3" cstate="print"/>
          <a:stretch>
            <a:fillRect/>
          </a:stretch>
        </p:blipFill>
        <p:spPr>
          <a:xfrm>
            <a:off x="405384" y="6178295"/>
            <a:ext cx="1258824" cy="420624"/>
          </a:xfrm>
          <a:prstGeom prst="rect">
            <a:avLst/>
          </a:prstGeom>
        </p:spPr>
      </p:pic>
      <p:sp>
        <p:nvSpPr>
          <p:cNvPr id="6" name="object 6"/>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Reglas</a:t>
            </a:r>
            <a:r>
              <a:rPr dirty="0" spc="-95"/>
              <a:t> </a:t>
            </a:r>
            <a:r>
              <a:rPr dirty="0"/>
              <a:t>Básicas</a:t>
            </a:r>
            <a:r>
              <a:rPr dirty="0" spc="-90"/>
              <a:t> </a:t>
            </a:r>
            <a:r>
              <a:rPr dirty="0"/>
              <a:t>para</a:t>
            </a:r>
            <a:r>
              <a:rPr dirty="0" spc="-80"/>
              <a:t> </a:t>
            </a:r>
            <a:r>
              <a:rPr dirty="0" spc="-10"/>
              <a:t>Restricciones</a:t>
            </a:r>
          </a:p>
        </p:txBody>
      </p:sp>
      <p:sp>
        <p:nvSpPr>
          <p:cNvPr id="8" name="object 8"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19</a:t>
            </a: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p:nvPr/>
        </p:nvSpPr>
        <p:spPr>
          <a:xfrm>
            <a:off x="483552" y="1415417"/>
            <a:ext cx="8129905" cy="3829050"/>
          </a:xfrm>
          <a:prstGeom prst="rect">
            <a:avLst/>
          </a:prstGeom>
        </p:spPr>
        <p:txBody>
          <a:bodyPr wrap="square" lIns="0" tIns="59690" rIns="0" bIns="0" rtlCol="0" vert="horz">
            <a:spAutoFit/>
          </a:bodyPr>
          <a:lstStyle/>
          <a:p>
            <a:pPr marL="159385" marR="462915" indent="-147320">
              <a:lnSpc>
                <a:spcPts val="3030"/>
              </a:lnSpc>
              <a:spcBef>
                <a:spcPts val="47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Las</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restricciones </a:t>
            </a:r>
            <a:r>
              <a:rPr dirty="0" u="heavy" sz="2800">
                <a:solidFill>
                  <a:srgbClr val="4E3629"/>
                </a:solidFill>
                <a:uFill>
                  <a:solidFill>
                    <a:srgbClr val="EC2814"/>
                  </a:solidFill>
                </a:uFill>
                <a:latin typeface="Calibri"/>
                <a:cs typeface="Calibri"/>
              </a:rPr>
              <a:t>que</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hacen</a:t>
            </a:r>
            <a:r>
              <a:rPr dirty="0" u="heavy" sz="2800" spc="-4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referencia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más</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una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columna</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deben</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especificar</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el</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nivel</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tabla</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La</a:t>
            </a:r>
            <a:r>
              <a:rPr dirty="0" sz="2800" spc="-60">
                <a:solidFill>
                  <a:srgbClr val="4E3629"/>
                </a:solidFill>
                <a:latin typeface="Calibri"/>
                <a:cs typeface="Calibri"/>
              </a:rPr>
              <a:t> </a:t>
            </a:r>
            <a:r>
              <a:rPr dirty="0" sz="2800" spc="-10">
                <a:solidFill>
                  <a:srgbClr val="4E3629"/>
                </a:solidFill>
                <a:latin typeface="Calibri"/>
                <a:cs typeface="Calibri"/>
              </a:rPr>
              <a:t>restricción</a:t>
            </a:r>
            <a:r>
              <a:rPr dirty="0" sz="2800" spc="-25">
                <a:solidFill>
                  <a:srgbClr val="4E3629"/>
                </a:solidFill>
                <a:latin typeface="Calibri"/>
                <a:cs typeface="Calibri"/>
              </a:rPr>
              <a:t> </a:t>
            </a:r>
            <a:r>
              <a:rPr dirty="0" sz="2800">
                <a:solidFill>
                  <a:srgbClr val="4E3629"/>
                </a:solidFill>
                <a:latin typeface="Calibri"/>
                <a:cs typeface="Calibri"/>
              </a:rPr>
              <a:t>NOT</a:t>
            </a:r>
            <a:r>
              <a:rPr dirty="0" sz="2800" spc="-50">
                <a:solidFill>
                  <a:srgbClr val="4E3629"/>
                </a:solidFill>
                <a:latin typeface="Calibri"/>
                <a:cs typeface="Calibri"/>
              </a:rPr>
              <a:t> </a:t>
            </a:r>
            <a:r>
              <a:rPr dirty="0" sz="2800">
                <a:solidFill>
                  <a:srgbClr val="4E3629"/>
                </a:solidFill>
                <a:latin typeface="Calibri"/>
                <a:cs typeface="Calibri"/>
              </a:rPr>
              <a:t>NULL</a:t>
            </a:r>
            <a:r>
              <a:rPr dirty="0" sz="2800" spc="-35">
                <a:solidFill>
                  <a:srgbClr val="4E3629"/>
                </a:solidFill>
                <a:latin typeface="Calibri"/>
                <a:cs typeface="Calibri"/>
              </a:rPr>
              <a:t> </a:t>
            </a:r>
            <a:r>
              <a:rPr dirty="0" sz="2800">
                <a:solidFill>
                  <a:srgbClr val="4E3629"/>
                </a:solidFill>
                <a:latin typeface="Calibri"/>
                <a:cs typeface="Calibri"/>
              </a:rPr>
              <a:t>se</a:t>
            </a:r>
            <a:r>
              <a:rPr dirty="0" sz="2800" spc="-45">
                <a:solidFill>
                  <a:srgbClr val="4E3629"/>
                </a:solidFill>
                <a:latin typeface="Calibri"/>
                <a:cs typeface="Calibri"/>
              </a:rPr>
              <a:t> </a:t>
            </a:r>
            <a:r>
              <a:rPr dirty="0" sz="2800">
                <a:solidFill>
                  <a:srgbClr val="4E3629"/>
                </a:solidFill>
                <a:latin typeface="Calibri"/>
                <a:cs typeface="Calibri"/>
              </a:rPr>
              <a:t>puede</a:t>
            </a:r>
            <a:r>
              <a:rPr dirty="0" sz="2800" spc="-30">
                <a:solidFill>
                  <a:srgbClr val="4E3629"/>
                </a:solidFill>
                <a:latin typeface="Calibri"/>
                <a:cs typeface="Calibri"/>
              </a:rPr>
              <a:t> </a:t>
            </a:r>
            <a:r>
              <a:rPr dirty="0" sz="2800">
                <a:solidFill>
                  <a:srgbClr val="4E3629"/>
                </a:solidFill>
                <a:latin typeface="Calibri"/>
                <a:cs typeface="Calibri"/>
              </a:rPr>
              <a:t>especificar</a:t>
            </a:r>
            <a:r>
              <a:rPr dirty="0" sz="2800" spc="-45">
                <a:solidFill>
                  <a:srgbClr val="4E3629"/>
                </a:solidFill>
                <a:latin typeface="Calibri"/>
                <a:cs typeface="Calibri"/>
              </a:rPr>
              <a:t> </a:t>
            </a:r>
            <a:r>
              <a:rPr dirty="0" sz="2800">
                <a:solidFill>
                  <a:srgbClr val="4E3629"/>
                </a:solidFill>
                <a:latin typeface="Calibri"/>
                <a:cs typeface="Calibri"/>
              </a:rPr>
              <a:t>solo</a:t>
            </a:r>
            <a:r>
              <a:rPr dirty="0" sz="2800" spc="-40">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nivel</a:t>
            </a:r>
            <a:r>
              <a:rPr dirty="0" sz="2800" spc="-5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columna,</a:t>
            </a:r>
            <a:r>
              <a:rPr dirty="0" sz="2800" spc="-20">
                <a:solidFill>
                  <a:srgbClr val="4E3629"/>
                </a:solidFill>
                <a:latin typeface="Calibri"/>
                <a:cs typeface="Calibri"/>
              </a:rPr>
              <a:t> </a:t>
            </a:r>
            <a:r>
              <a:rPr dirty="0" sz="2800">
                <a:solidFill>
                  <a:srgbClr val="4E3629"/>
                </a:solidFill>
                <a:latin typeface="Calibri"/>
                <a:cs typeface="Calibri"/>
              </a:rPr>
              <a:t>no</a:t>
            </a:r>
            <a:r>
              <a:rPr dirty="0" sz="2800" spc="-35">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nivel</a:t>
            </a:r>
            <a:r>
              <a:rPr dirty="0" sz="2800" spc="-4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a:p>
            <a:pPr algn="just" marL="182880" marR="111760"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Las</a:t>
            </a:r>
            <a:r>
              <a:rPr dirty="0" sz="2800" spc="-80">
                <a:solidFill>
                  <a:srgbClr val="4E3629"/>
                </a:solidFill>
                <a:latin typeface="Calibri"/>
                <a:cs typeface="Calibri"/>
              </a:rPr>
              <a:t> </a:t>
            </a:r>
            <a:r>
              <a:rPr dirty="0" sz="2800" spc="-10">
                <a:solidFill>
                  <a:srgbClr val="4E3629"/>
                </a:solidFill>
                <a:latin typeface="Calibri"/>
                <a:cs typeface="Calibri"/>
              </a:rPr>
              <a:t>restricciones</a:t>
            </a:r>
            <a:r>
              <a:rPr dirty="0" sz="2800" spc="-45">
                <a:solidFill>
                  <a:srgbClr val="4E3629"/>
                </a:solidFill>
                <a:latin typeface="Calibri"/>
                <a:cs typeface="Calibri"/>
              </a:rPr>
              <a:t> </a:t>
            </a:r>
            <a:r>
              <a:rPr dirty="0" sz="2800">
                <a:solidFill>
                  <a:srgbClr val="4E3629"/>
                </a:solidFill>
                <a:latin typeface="Calibri"/>
                <a:cs typeface="Calibri"/>
              </a:rPr>
              <a:t>UNIQUE,</a:t>
            </a:r>
            <a:r>
              <a:rPr dirty="0" sz="2800" spc="-70">
                <a:solidFill>
                  <a:srgbClr val="4E3629"/>
                </a:solidFill>
                <a:latin typeface="Calibri"/>
                <a:cs typeface="Calibri"/>
              </a:rPr>
              <a:t> </a:t>
            </a:r>
            <a:r>
              <a:rPr dirty="0" sz="2800">
                <a:solidFill>
                  <a:srgbClr val="4E3629"/>
                </a:solidFill>
                <a:latin typeface="Calibri"/>
                <a:cs typeface="Calibri"/>
              </a:rPr>
              <a:t>PRIMARY</a:t>
            </a:r>
            <a:r>
              <a:rPr dirty="0" sz="2800" spc="-55">
                <a:solidFill>
                  <a:srgbClr val="4E3629"/>
                </a:solidFill>
                <a:latin typeface="Calibri"/>
                <a:cs typeface="Calibri"/>
              </a:rPr>
              <a:t> </a:t>
            </a:r>
            <a:r>
              <a:rPr dirty="0" sz="2800" spc="-70">
                <a:solidFill>
                  <a:srgbClr val="4E3629"/>
                </a:solidFill>
                <a:latin typeface="Calibri"/>
                <a:cs typeface="Calibri"/>
              </a:rPr>
              <a:t>KEY, </a:t>
            </a:r>
            <a:r>
              <a:rPr dirty="0" sz="2800">
                <a:solidFill>
                  <a:srgbClr val="4E3629"/>
                </a:solidFill>
                <a:latin typeface="Calibri"/>
                <a:cs typeface="Calibri"/>
              </a:rPr>
              <a:t>FOREIGN</a:t>
            </a:r>
            <a:r>
              <a:rPr dirty="0" sz="2800" spc="-65">
                <a:solidFill>
                  <a:srgbClr val="4E3629"/>
                </a:solidFill>
                <a:latin typeface="Calibri"/>
                <a:cs typeface="Calibri"/>
              </a:rPr>
              <a:t> </a:t>
            </a:r>
            <a:r>
              <a:rPr dirty="0" sz="2800" spc="-25">
                <a:solidFill>
                  <a:srgbClr val="4E3629"/>
                </a:solidFill>
                <a:latin typeface="Calibri"/>
                <a:cs typeface="Calibri"/>
              </a:rPr>
              <a:t>KEY </a:t>
            </a:r>
            <a:r>
              <a:rPr dirty="0" sz="2800" spc="-25">
                <a:solidFill>
                  <a:srgbClr val="4E3629"/>
                </a:solidFill>
                <a:latin typeface="Calibri"/>
                <a:cs typeface="Calibri"/>
              </a:rPr>
              <a:t>	</a:t>
            </a:r>
            <a:r>
              <a:rPr dirty="0" sz="2800">
                <a:solidFill>
                  <a:srgbClr val="4E3629"/>
                </a:solidFill>
                <a:latin typeface="Calibri"/>
                <a:cs typeface="Calibri"/>
              </a:rPr>
              <a:t>y</a:t>
            </a:r>
            <a:r>
              <a:rPr dirty="0" sz="2800" spc="-50">
                <a:solidFill>
                  <a:srgbClr val="4E3629"/>
                </a:solidFill>
                <a:latin typeface="Calibri"/>
                <a:cs typeface="Calibri"/>
              </a:rPr>
              <a:t> </a:t>
            </a:r>
            <a:r>
              <a:rPr dirty="0" sz="2800">
                <a:solidFill>
                  <a:srgbClr val="4E3629"/>
                </a:solidFill>
                <a:latin typeface="Calibri"/>
                <a:cs typeface="Calibri"/>
              </a:rPr>
              <a:t>CHECK</a:t>
            </a:r>
            <a:r>
              <a:rPr dirty="0" sz="2800" spc="-35">
                <a:solidFill>
                  <a:srgbClr val="4E3629"/>
                </a:solidFill>
                <a:latin typeface="Calibri"/>
                <a:cs typeface="Calibri"/>
              </a:rPr>
              <a:t> </a:t>
            </a:r>
            <a:r>
              <a:rPr dirty="0" sz="2800">
                <a:solidFill>
                  <a:srgbClr val="4E3629"/>
                </a:solidFill>
                <a:latin typeface="Calibri"/>
                <a:cs typeface="Calibri"/>
              </a:rPr>
              <a:t>se</a:t>
            </a:r>
            <a:r>
              <a:rPr dirty="0" sz="2800" spc="-45">
                <a:solidFill>
                  <a:srgbClr val="4E3629"/>
                </a:solidFill>
                <a:latin typeface="Calibri"/>
                <a:cs typeface="Calibri"/>
              </a:rPr>
              <a:t> </a:t>
            </a:r>
            <a:r>
              <a:rPr dirty="0" sz="2800">
                <a:solidFill>
                  <a:srgbClr val="4E3629"/>
                </a:solidFill>
                <a:latin typeface="Calibri"/>
                <a:cs typeface="Calibri"/>
              </a:rPr>
              <a:t>pueden</a:t>
            </a:r>
            <a:r>
              <a:rPr dirty="0" sz="2800" spc="-15">
                <a:solidFill>
                  <a:srgbClr val="4E3629"/>
                </a:solidFill>
                <a:latin typeface="Calibri"/>
                <a:cs typeface="Calibri"/>
              </a:rPr>
              <a:t> </a:t>
            </a:r>
            <a:r>
              <a:rPr dirty="0" sz="2800">
                <a:solidFill>
                  <a:srgbClr val="4E3629"/>
                </a:solidFill>
                <a:latin typeface="Calibri"/>
                <a:cs typeface="Calibri"/>
              </a:rPr>
              <a:t>definir</a:t>
            </a:r>
            <a:r>
              <a:rPr dirty="0" sz="2800" spc="-20">
                <a:solidFill>
                  <a:srgbClr val="4E3629"/>
                </a:solidFill>
                <a:latin typeface="Calibri"/>
                <a:cs typeface="Calibri"/>
              </a:rPr>
              <a:t> </a:t>
            </a:r>
            <a:r>
              <a:rPr dirty="0" sz="2800">
                <a:solidFill>
                  <a:srgbClr val="4E3629"/>
                </a:solidFill>
                <a:latin typeface="Calibri"/>
                <a:cs typeface="Calibri"/>
              </a:rPr>
              <a:t>en</a:t>
            </a:r>
            <a:r>
              <a:rPr dirty="0" sz="2800" spc="-30">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nivel</a:t>
            </a:r>
            <a:r>
              <a:rPr dirty="0" sz="2800" spc="-4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columna</a:t>
            </a:r>
            <a:r>
              <a:rPr dirty="0" sz="2800" spc="-15">
                <a:solidFill>
                  <a:srgbClr val="4E3629"/>
                </a:solidFill>
                <a:latin typeface="Calibri"/>
                <a:cs typeface="Calibri"/>
              </a:rPr>
              <a:t> </a:t>
            </a:r>
            <a:r>
              <a:rPr dirty="0" sz="2800">
                <a:solidFill>
                  <a:srgbClr val="4E3629"/>
                </a:solidFill>
                <a:latin typeface="Calibri"/>
                <a:cs typeface="Calibri"/>
              </a:rPr>
              <a:t>o</a:t>
            </a:r>
            <a:r>
              <a:rPr dirty="0" sz="2800" spc="-4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a:p>
            <a:pPr algn="just" marL="182880" marR="45085" indent="-170815">
              <a:lnSpc>
                <a:spcPts val="3030"/>
              </a:lnSpc>
              <a:spcBef>
                <a:spcPts val="775"/>
              </a:spcBef>
              <a:buClr>
                <a:srgbClr val="D1350F"/>
              </a:buClr>
              <a:buFont typeface="Arial MT"/>
              <a:buChar char="•"/>
              <a:tabLst>
                <a:tab pos="184785" algn="l"/>
              </a:tabLst>
            </a:pPr>
            <a:r>
              <a:rPr dirty="0" sz="2800">
                <a:solidFill>
                  <a:srgbClr val="4E3629"/>
                </a:solidFill>
                <a:latin typeface="Calibri"/>
                <a:cs typeface="Calibri"/>
              </a:rPr>
              <a:t>Si</a:t>
            </a:r>
            <a:r>
              <a:rPr dirty="0" sz="2800" spc="-55">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a:solidFill>
                  <a:srgbClr val="4E3629"/>
                </a:solidFill>
                <a:latin typeface="Calibri"/>
                <a:cs typeface="Calibri"/>
              </a:rPr>
              <a:t>utiliza</a:t>
            </a:r>
            <a:r>
              <a:rPr dirty="0" sz="2800" spc="-40">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palabra</a:t>
            </a:r>
            <a:r>
              <a:rPr dirty="0" sz="2800" spc="-40">
                <a:solidFill>
                  <a:srgbClr val="4E3629"/>
                </a:solidFill>
                <a:latin typeface="Calibri"/>
                <a:cs typeface="Calibri"/>
              </a:rPr>
              <a:t> </a:t>
            </a:r>
            <a:r>
              <a:rPr dirty="0" sz="2800">
                <a:solidFill>
                  <a:srgbClr val="4E3629"/>
                </a:solidFill>
                <a:latin typeface="Calibri"/>
                <a:cs typeface="Calibri"/>
              </a:rPr>
              <a:t>CONSTRAINT</a:t>
            </a:r>
            <a:r>
              <a:rPr dirty="0" sz="2800" spc="-3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sentencia </a:t>
            </a:r>
            <a:r>
              <a:rPr dirty="0" sz="2800" spc="-10">
                <a:solidFill>
                  <a:srgbClr val="4E3629"/>
                </a:solidFill>
                <a:latin typeface="Calibri"/>
                <a:cs typeface="Calibri"/>
              </a:rPr>
              <a:t>	</a:t>
            </a:r>
            <a:r>
              <a:rPr dirty="0" sz="2800" spc="-30">
                <a:solidFill>
                  <a:srgbClr val="4E3629"/>
                </a:solidFill>
                <a:latin typeface="Calibri"/>
                <a:cs typeface="Calibri"/>
              </a:rPr>
              <a:t>CREATE</a:t>
            </a:r>
            <a:r>
              <a:rPr dirty="0" sz="2800" spc="-85">
                <a:solidFill>
                  <a:srgbClr val="4E3629"/>
                </a:solidFill>
                <a:latin typeface="Calibri"/>
                <a:cs typeface="Calibri"/>
              </a:rPr>
              <a:t> </a:t>
            </a:r>
            <a:r>
              <a:rPr dirty="0" sz="2800" spc="-25">
                <a:solidFill>
                  <a:srgbClr val="4E3629"/>
                </a:solidFill>
                <a:latin typeface="Calibri"/>
                <a:cs typeface="Calibri"/>
              </a:rPr>
              <a:t>TABLE,</a:t>
            </a:r>
            <a:r>
              <a:rPr dirty="0" sz="2800" spc="-60">
                <a:solidFill>
                  <a:srgbClr val="4E3629"/>
                </a:solidFill>
                <a:latin typeface="Calibri"/>
                <a:cs typeface="Calibri"/>
              </a:rPr>
              <a:t> </a:t>
            </a:r>
            <a:r>
              <a:rPr dirty="0" sz="2800">
                <a:solidFill>
                  <a:srgbClr val="4E3629"/>
                </a:solidFill>
                <a:latin typeface="Calibri"/>
                <a:cs typeface="Calibri"/>
              </a:rPr>
              <a:t>debe</a:t>
            </a:r>
            <a:r>
              <a:rPr dirty="0" sz="2800" spc="-50">
                <a:solidFill>
                  <a:srgbClr val="4E3629"/>
                </a:solidFill>
                <a:latin typeface="Calibri"/>
                <a:cs typeface="Calibri"/>
              </a:rPr>
              <a:t> </a:t>
            </a:r>
            <a:r>
              <a:rPr dirty="0" sz="2800">
                <a:solidFill>
                  <a:srgbClr val="4E3629"/>
                </a:solidFill>
                <a:latin typeface="Calibri"/>
                <a:cs typeface="Calibri"/>
              </a:rPr>
              <a:t>asignar</a:t>
            </a:r>
            <a:r>
              <a:rPr dirty="0" sz="2800" spc="-50">
                <a:solidFill>
                  <a:srgbClr val="4E3629"/>
                </a:solidFill>
                <a:latin typeface="Calibri"/>
                <a:cs typeface="Calibri"/>
              </a:rPr>
              <a:t> </a:t>
            </a:r>
            <a:r>
              <a:rPr dirty="0" sz="2800">
                <a:solidFill>
                  <a:srgbClr val="4E3629"/>
                </a:solidFill>
                <a:latin typeface="Calibri"/>
                <a:cs typeface="Calibri"/>
              </a:rPr>
              <a:t>un</a:t>
            </a:r>
            <a:r>
              <a:rPr dirty="0" sz="2800" spc="-45">
                <a:solidFill>
                  <a:srgbClr val="4E3629"/>
                </a:solidFill>
                <a:latin typeface="Calibri"/>
                <a:cs typeface="Calibri"/>
              </a:rPr>
              <a:t> </a:t>
            </a:r>
            <a:r>
              <a:rPr dirty="0" sz="2800">
                <a:solidFill>
                  <a:srgbClr val="4E3629"/>
                </a:solidFill>
                <a:latin typeface="Calibri"/>
                <a:cs typeface="Calibri"/>
              </a:rPr>
              <a:t>nombre</a:t>
            </a:r>
            <a:r>
              <a:rPr dirty="0" sz="2800" spc="-40">
                <a:solidFill>
                  <a:srgbClr val="4E3629"/>
                </a:solidFill>
                <a:latin typeface="Calibri"/>
                <a:cs typeface="Calibri"/>
              </a:rPr>
              <a:t> </a:t>
            </a:r>
            <a:r>
              <a:rPr dirty="0" sz="2800">
                <a:solidFill>
                  <a:srgbClr val="4E3629"/>
                </a:solidFill>
                <a:latin typeface="Calibri"/>
                <a:cs typeface="Calibri"/>
              </a:rPr>
              <a:t>a</a:t>
            </a:r>
            <a:r>
              <a:rPr dirty="0" sz="2800" spc="-6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spc="-10">
                <a:solidFill>
                  <a:srgbClr val="4E3629"/>
                </a:solidFill>
                <a:latin typeface="Calibri"/>
                <a:cs typeface="Calibri"/>
              </a:rPr>
              <a:t>restricción</a:t>
            </a:r>
            <a:endParaRPr sz="28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4479290" cy="528320"/>
          </a:xfrm>
          <a:prstGeom prst="rect"/>
        </p:spPr>
        <p:txBody>
          <a:bodyPr wrap="square" lIns="0" tIns="12700" rIns="0" bIns="0" rtlCol="0" vert="horz">
            <a:spAutoFit/>
          </a:bodyPr>
          <a:lstStyle/>
          <a:p>
            <a:pPr marL="12700">
              <a:lnSpc>
                <a:spcPct val="100000"/>
              </a:lnSpc>
              <a:spcBef>
                <a:spcPts val="100"/>
              </a:spcBef>
            </a:pPr>
            <a:r>
              <a:rPr dirty="0"/>
              <a:t>Examen</a:t>
            </a:r>
            <a:r>
              <a:rPr dirty="0" spc="-60"/>
              <a:t> </a:t>
            </a:r>
            <a:r>
              <a:rPr dirty="0"/>
              <a:t>de</a:t>
            </a:r>
            <a:r>
              <a:rPr dirty="0" spc="-40"/>
              <a:t> </a:t>
            </a:r>
            <a:r>
              <a:rPr dirty="0"/>
              <a:t>las</a:t>
            </a:r>
            <a:r>
              <a:rPr dirty="0" spc="-55"/>
              <a:t> </a:t>
            </a:r>
            <a:r>
              <a:rPr dirty="0" spc="-10"/>
              <a:t>Violaciones</a:t>
            </a:r>
          </a:p>
        </p:txBody>
      </p:sp>
      <p:sp>
        <p:nvSpPr>
          <p:cNvPr id="3" name="object 3" descr=""/>
          <p:cNvSpPr/>
          <p:nvPr/>
        </p:nvSpPr>
        <p:spPr>
          <a:xfrm>
            <a:off x="393191" y="1885188"/>
            <a:ext cx="8357870" cy="2592705"/>
          </a:xfrm>
          <a:custGeom>
            <a:avLst/>
            <a:gdLst/>
            <a:ahLst/>
            <a:cxnLst/>
            <a:rect l="l" t="t" r="r" b="b"/>
            <a:pathLst>
              <a:path w="8357870" h="2592704">
                <a:moveTo>
                  <a:pt x="8357616" y="0"/>
                </a:moveTo>
                <a:lnTo>
                  <a:pt x="0" y="0"/>
                </a:lnTo>
                <a:lnTo>
                  <a:pt x="0" y="2592324"/>
                </a:lnTo>
                <a:lnTo>
                  <a:pt x="8357616" y="2592324"/>
                </a:lnTo>
                <a:lnTo>
                  <a:pt x="8357616" y="0"/>
                </a:lnTo>
                <a:close/>
              </a:path>
            </a:pathLst>
          </a:custGeom>
          <a:solidFill>
            <a:srgbClr val="9DBEC4">
              <a:alpha val="50199"/>
            </a:srgbClr>
          </a:solidFill>
        </p:spPr>
        <p:txBody>
          <a:bodyPr wrap="square" lIns="0" tIns="0" rIns="0" bIns="0" rtlCol="0"/>
          <a:lstStyle/>
          <a:p/>
        </p:txBody>
      </p:sp>
      <p:sp>
        <p:nvSpPr>
          <p:cNvPr id="4" name="object 4" descr=""/>
          <p:cNvSpPr txBox="1"/>
          <p:nvPr/>
        </p:nvSpPr>
        <p:spPr>
          <a:xfrm>
            <a:off x="380493" y="2048427"/>
            <a:ext cx="2589530" cy="1244600"/>
          </a:xfrm>
          <a:prstGeom prst="rect">
            <a:avLst/>
          </a:prstGeom>
        </p:spPr>
        <p:txBody>
          <a:bodyPr wrap="square" lIns="0" tIns="12065" rIns="0" bIns="0" rtlCol="0" vert="horz">
            <a:spAutoFit/>
          </a:bodyPr>
          <a:lstStyle/>
          <a:p>
            <a:pPr marL="12700">
              <a:lnSpc>
                <a:spcPct val="100000"/>
              </a:lnSpc>
              <a:spcBef>
                <a:spcPts val="95"/>
              </a:spcBef>
            </a:pPr>
            <a:r>
              <a:rPr dirty="0" sz="1600" b="1">
                <a:solidFill>
                  <a:srgbClr val="4E3629"/>
                </a:solidFill>
                <a:latin typeface="Courier New"/>
                <a:cs typeface="Courier New"/>
              </a:rPr>
              <a:t>CREATE</a:t>
            </a:r>
            <a:r>
              <a:rPr dirty="0" sz="1600" spc="-45" b="1">
                <a:solidFill>
                  <a:srgbClr val="4E3629"/>
                </a:solidFill>
                <a:latin typeface="Courier New"/>
                <a:cs typeface="Courier New"/>
              </a:rPr>
              <a:t> </a:t>
            </a:r>
            <a:r>
              <a:rPr dirty="0" sz="1600" b="1">
                <a:solidFill>
                  <a:srgbClr val="4E3629"/>
                </a:solidFill>
                <a:latin typeface="Courier New"/>
                <a:cs typeface="Courier New"/>
              </a:rPr>
              <a:t>TABLE</a:t>
            </a:r>
            <a:r>
              <a:rPr dirty="0" sz="1600" spc="-45" b="1">
                <a:solidFill>
                  <a:srgbClr val="4E3629"/>
                </a:solidFill>
                <a:latin typeface="Courier New"/>
                <a:cs typeface="Courier New"/>
              </a:rPr>
              <a:t> </a:t>
            </a:r>
            <a:r>
              <a:rPr dirty="0" sz="1600" spc="-10" b="1">
                <a:solidFill>
                  <a:srgbClr val="4E3629"/>
                </a:solidFill>
                <a:latin typeface="Courier New"/>
                <a:cs typeface="Courier New"/>
              </a:rPr>
              <a:t>clients(</a:t>
            </a:r>
            <a:endParaRPr sz="1600">
              <a:latin typeface="Courier New"/>
              <a:cs typeface="Courier New"/>
            </a:endParaRPr>
          </a:p>
          <a:p>
            <a:pPr marL="989330" marR="5080">
              <a:lnSpc>
                <a:spcPct val="100000"/>
              </a:lnSpc>
            </a:pPr>
            <a:r>
              <a:rPr dirty="0" sz="1600" spc="-10" b="1">
                <a:solidFill>
                  <a:srgbClr val="4E3629"/>
                </a:solidFill>
                <a:latin typeface="Courier New"/>
                <a:cs typeface="Courier New"/>
              </a:rPr>
              <a:t>client_number first_name last_name phone</a:t>
            </a:r>
            <a:endParaRPr sz="1600">
              <a:latin typeface="Courier New"/>
              <a:cs typeface="Courier New"/>
            </a:endParaRPr>
          </a:p>
        </p:txBody>
      </p:sp>
      <p:sp>
        <p:nvSpPr>
          <p:cNvPr id="9" name="object 9"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10" name="object 10"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20</a:t>
            </a:r>
          </a:p>
        </p:txBody>
      </p:sp>
      <p:sp>
        <p:nvSpPr>
          <p:cNvPr id="11" name="object 11"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object 5" descr=""/>
          <p:cNvSpPr txBox="1"/>
          <p:nvPr/>
        </p:nvSpPr>
        <p:spPr>
          <a:xfrm>
            <a:off x="1416857" y="3511458"/>
            <a:ext cx="635000"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E3629"/>
                </a:solidFill>
                <a:latin typeface="Courier New"/>
                <a:cs typeface="Courier New"/>
              </a:rPr>
              <a:t>email</a:t>
            </a:r>
            <a:endParaRPr sz="1600">
              <a:latin typeface="Courier New"/>
              <a:cs typeface="Courier New"/>
            </a:endParaRPr>
          </a:p>
        </p:txBody>
      </p:sp>
      <p:sp>
        <p:nvSpPr>
          <p:cNvPr id="6" name="object 6" descr=""/>
          <p:cNvSpPr txBox="1"/>
          <p:nvPr/>
        </p:nvSpPr>
        <p:spPr>
          <a:xfrm>
            <a:off x="3187980" y="2292266"/>
            <a:ext cx="4667885" cy="1488440"/>
          </a:xfrm>
          <a:prstGeom prst="rect">
            <a:avLst/>
          </a:prstGeom>
        </p:spPr>
        <p:txBody>
          <a:bodyPr wrap="square" lIns="0" tIns="12065" rIns="0" bIns="0" rtlCol="0" vert="horz">
            <a:spAutoFit/>
          </a:bodyPr>
          <a:lstStyle/>
          <a:p>
            <a:pPr marL="13970" marR="3058795">
              <a:lnSpc>
                <a:spcPct val="100000"/>
              </a:lnSpc>
              <a:spcBef>
                <a:spcPts val="95"/>
              </a:spcBef>
            </a:pPr>
            <a:r>
              <a:rPr dirty="0" sz="1600" spc="-10" b="1">
                <a:solidFill>
                  <a:srgbClr val="4E3629"/>
                </a:solidFill>
                <a:latin typeface="Courier New"/>
                <a:cs typeface="Courier New"/>
              </a:rPr>
              <a:t>NUMBER(6), VARCHAR2(20), VARCHAR2(20),</a:t>
            </a:r>
            <a:endParaRPr sz="1600">
              <a:latin typeface="Courier New"/>
              <a:cs typeface="Courier New"/>
            </a:endParaRPr>
          </a:p>
          <a:p>
            <a:pPr marL="868680" marR="5080" indent="-856615">
              <a:lnSpc>
                <a:spcPct val="100000"/>
              </a:lnSpc>
            </a:pPr>
            <a:r>
              <a:rPr dirty="0" sz="1600" b="1">
                <a:solidFill>
                  <a:srgbClr val="4E3629"/>
                </a:solidFill>
                <a:latin typeface="Courier New"/>
                <a:cs typeface="Courier New"/>
              </a:rPr>
              <a:t>VARCHAR2(20)</a:t>
            </a:r>
            <a:r>
              <a:rPr dirty="0" sz="1600" spc="-85" b="1">
                <a:solidFill>
                  <a:srgbClr val="4E3629"/>
                </a:solidFill>
                <a:latin typeface="Courier New"/>
                <a:cs typeface="Courier New"/>
              </a:rPr>
              <a:t> </a:t>
            </a:r>
            <a:r>
              <a:rPr dirty="0" sz="1600" b="1">
                <a:solidFill>
                  <a:srgbClr val="4E3629"/>
                </a:solidFill>
                <a:latin typeface="Courier New"/>
                <a:cs typeface="Courier New"/>
              </a:rPr>
              <a:t>CONSTRAINT</a:t>
            </a:r>
            <a:r>
              <a:rPr dirty="0" sz="1600" spc="-90" b="1">
                <a:solidFill>
                  <a:srgbClr val="4E3629"/>
                </a:solidFill>
                <a:latin typeface="Courier New"/>
                <a:cs typeface="Courier New"/>
              </a:rPr>
              <a:t> </a:t>
            </a:r>
            <a:r>
              <a:rPr dirty="0" sz="1600" spc="-10" b="1">
                <a:solidFill>
                  <a:srgbClr val="4E3629"/>
                </a:solidFill>
                <a:latin typeface="Courier New"/>
                <a:cs typeface="Courier New"/>
              </a:rPr>
              <a:t>phone_email_uk UNIQUE(email,phone),</a:t>
            </a:r>
            <a:endParaRPr sz="1600">
              <a:latin typeface="Courier New"/>
              <a:cs typeface="Courier New"/>
            </a:endParaRPr>
          </a:p>
          <a:p>
            <a:pPr marL="71755">
              <a:lnSpc>
                <a:spcPct val="100000"/>
              </a:lnSpc>
            </a:pPr>
            <a:r>
              <a:rPr dirty="0" sz="1600" b="1">
                <a:solidFill>
                  <a:srgbClr val="4E3629"/>
                </a:solidFill>
                <a:latin typeface="Courier New"/>
                <a:cs typeface="Courier New"/>
              </a:rPr>
              <a:t>VARCHAR2(10)</a:t>
            </a:r>
            <a:r>
              <a:rPr dirty="0" sz="1600" spc="-70" b="1">
                <a:solidFill>
                  <a:srgbClr val="4E3629"/>
                </a:solidFill>
                <a:latin typeface="Courier New"/>
                <a:cs typeface="Courier New"/>
              </a:rPr>
              <a:t> </a:t>
            </a:r>
            <a:r>
              <a:rPr dirty="0" sz="1600" b="1">
                <a:solidFill>
                  <a:srgbClr val="4E3629"/>
                </a:solidFill>
                <a:latin typeface="Courier New"/>
                <a:cs typeface="Courier New"/>
              </a:rPr>
              <a:t>CONSTRAINT</a:t>
            </a:r>
            <a:r>
              <a:rPr dirty="0" sz="1600" spc="-65" b="1">
                <a:solidFill>
                  <a:srgbClr val="4E3629"/>
                </a:solidFill>
                <a:latin typeface="Courier New"/>
                <a:cs typeface="Courier New"/>
              </a:rPr>
              <a:t> </a:t>
            </a:r>
            <a:r>
              <a:rPr dirty="0" sz="1600" b="1">
                <a:solidFill>
                  <a:srgbClr val="4E3629"/>
                </a:solidFill>
                <a:latin typeface="Courier New"/>
                <a:cs typeface="Courier New"/>
              </a:rPr>
              <a:t>NOT</a:t>
            </a:r>
            <a:r>
              <a:rPr dirty="0" sz="1600" spc="-60" b="1">
                <a:solidFill>
                  <a:srgbClr val="4E3629"/>
                </a:solidFill>
                <a:latin typeface="Courier New"/>
                <a:cs typeface="Courier New"/>
              </a:rPr>
              <a:t> </a:t>
            </a:r>
            <a:r>
              <a:rPr dirty="0" sz="1600" spc="-10" b="1">
                <a:solidFill>
                  <a:srgbClr val="4E3629"/>
                </a:solidFill>
                <a:latin typeface="Courier New"/>
                <a:cs typeface="Courier New"/>
              </a:rPr>
              <a:t>NULL,</a:t>
            </a:r>
            <a:endParaRPr sz="1600">
              <a:latin typeface="Courier New"/>
              <a:cs typeface="Courier New"/>
            </a:endParaRPr>
          </a:p>
        </p:txBody>
      </p:sp>
      <p:sp>
        <p:nvSpPr>
          <p:cNvPr id="7" name="object 7" descr=""/>
          <p:cNvSpPr txBox="1"/>
          <p:nvPr/>
        </p:nvSpPr>
        <p:spPr>
          <a:xfrm>
            <a:off x="990190" y="3755297"/>
            <a:ext cx="7597775" cy="513080"/>
          </a:xfrm>
          <a:prstGeom prst="rect">
            <a:avLst/>
          </a:prstGeom>
        </p:spPr>
        <p:txBody>
          <a:bodyPr wrap="square" lIns="0" tIns="12065" rIns="0" bIns="0" rtlCol="0" vert="horz">
            <a:spAutoFit/>
          </a:bodyPr>
          <a:lstStyle/>
          <a:p>
            <a:pPr marL="12700">
              <a:lnSpc>
                <a:spcPct val="100000"/>
              </a:lnSpc>
              <a:spcBef>
                <a:spcPts val="95"/>
              </a:spcBef>
            </a:pPr>
            <a:r>
              <a:rPr dirty="0" sz="1600" b="1">
                <a:solidFill>
                  <a:srgbClr val="4E3629"/>
                </a:solidFill>
                <a:latin typeface="Courier New"/>
                <a:cs typeface="Courier New"/>
              </a:rPr>
              <a:t>CONSTRAINT</a:t>
            </a:r>
            <a:r>
              <a:rPr dirty="0" sz="1600" spc="-75" b="1">
                <a:solidFill>
                  <a:srgbClr val="4E3629"/>
                </a:solidFill>
                <a:latin typeface="Courier New"/>
                <a:cs typeface="Courier New"/>
              </a:rPr>
              <a:t> </a:t>
            </a:r>
            <a:r>
              <a:rPr dirty="0" sz="1600" b="1">
                <a:solidFill>
                  <a:srgbClr val="4E3629"/>
                </a:solidFill>
                <a:latin typeface="Courier New"/>
                <a:cs typeface="Courier New"/>
              </a:rPr>
              <a:t>emailclients_email</a:t>
            </a:r>
            <a:r>
              <a:rPr dirty="0" sz="1600" spc="-70" b="1">
                <a:solidFill>
                  <a:srgbClr val="4E3629"/>
                </a:solidFill>
                <a:latin typeface="Courier New"/>
                <a:cs typeface="Courier New"/>
              </a:rPr>
              <a:t> </a:t>
            </a:r>
            <a:r>
              <a:rPr dirty="0" sz="1600" b="1">
                <a:solidFill>
                  <a:srgbClr val="4E3629"/>
                </a:solidFill>
                <a:latin typeface="Courier New"/>
                <a:cs typeface="Courier New"/>
              </a:rPr>
              <a:t>NOT</a:t>
            </a:r>
            <a:r>
              <a:rPr dirty="0" sz="1600" spc="-80" b="1">
                <a:solidFill>
                  <a:srgbClr val="4E3629"/>
                </a:solidFill>
                <a:latin typeface="Courier New"/>
                <a:cs typeface="Courier New"/>
              </a:rPr>
              <a:t> </a:t>
            </a:r>
            <a:r>
              <a:rPr dirty="0" sz="1600" spc="-10" b="1">
                <a:solidFill>
                  <a:srgbClr val="4E3629"/>
                </a:solidFill>
                <a:latin typeface="Courier New"/>
                <a:cs typeface="Courier New"/>
              </a:rPr>
              <a:t>NULL,</a:t>
            </a:r>
            <a:endParaRPr sz="1600">
              <a:latin typeface="Courier New"/>
              <a:cs typeface="Courier New"/>
            </a:endParaRPr>
          </a:p>
          <a:p>
            <a:pPr marL="12700">
              <a:lnSpc>
                <a:spcPct val="100000"/>
              </a:lnSpc>
            </a:pPr>
            <a:r>
              <a:rPr dirty="0" sz="1600" b="1">
                <a:solidFill>
                  <a:srgbClr val="4E3629"/>
                </a:solidFill>
                <a:latin typeface="Courier New"/>
                <a:cs typeface="Courier New"/>
              </a:rPr>
              <a:t>CONSTRAINT</a:t>
            </a:r>
            <a:r>
              <a:rPr dirty="0" sz="1600" spc="-75" b="1">
                <a:solidFill>
                  <a:srgbClr val="4E3629"/>
                </a:solidFill>
                <a:latin typeface="Courier New"/>
                <a:cs typeface="Courier New"/>
              </a:rPr>
              <a:t> </a:t>
            </a:r>
            <a:r>
              <a:rPr dirty="0" sz="1600" b="1">
                <a:solidFill>
                  <a:srgbClr val="4E3629"/>
                </a:solidFill>
                <a:latin typeface="Courier New"/>
                <a:cs typeface="Courier New"/>
              </a:rPr>
              <a:t>clients_client_num_pk</a:t>
            </a:r>
            <a:r>
              <a:rPr dirty="0" sz="1600" spc="-70" b="1">
                <a:solidFill>
                  <a:srgbClr val="4E3629"/>
                </a:solidFill>
                <a:latin typeface="Courier New"/>
                <a:cs typeface="Courier New"/>
              </a:rPr>
              <a:t> </a:t>
            </a:r>
            <a:r>
              <a:rPr dirty="0" sz="1600" b="1">
                <a:solidFill>
                  <a:srgbClr val="4E3629"/>
                </a:solidFill>
                <a:latin typeface="Courier New"/>
                <a:cs typeface="Courier New"/>
              </a:rPr>
              <a:t>PRIMARY</a:t>
            </a:r>
            <a:r>
              <a:rPr dirty="0" sz="1600" spc="-80" b="1">
                <a:solidFill>
                  <a:srgbClr val="4E3629"/>
                </a:solidFill>
                <a:latin typeface="Courier New"/>
                <a:cs typeface="Courier New"/>
              </a:rPr>
              <a:t> </a:t>
            </a:r>
            <a:r>
              <a:rPr dirty="0" sz="1600" b="1">
                <a:solidFill>
                  <a:srgbClr val="4E3629"/>
                </a:solidFill>
                <a:latin typeface="Courier New"/>
                <a:cs typeface="Courier New"/>
              </a:rPr>
              <a:t>KEY</a:t>
            </a:r>
            <a:r>
              <a:rPr dirty="0" sz="1600" spc="-75" b="1">
                <a:solidFill>
                  <a:srgbClr val="4E3629"/>
                </a:solidFill>
                <a:latin typeface="Courier New"/>
                <a:cs typeface="Courier New"/>
              </a:rPr>
              <a:t> </a:t>
            </a:r>
            <a:r>
              <a:rPr dirty="0" sz="1600" spc="-10" b="1">
                <a:solidFill>
                  <a:srgbClr val="4E3629"/>
                </a:solidFill>
                <a:latin typeface="Courier New"/>
                <a:cs typeface="Courier New"/>
              </a:rPr>
              <a:t>(client_number));</a:t>
            </a:r>
            <a:endParaRPr sz="1600">
              <a:latin typeface="Courier New"/>
              <a:cs typeface="Courier New"/>
            </a:endParaRPr>
          </a:p>
        </p:txBody>
      </p:sp>
      <p:sp>
        <p:nvSpPr>
          <p:cNvPr id="8" name="object 8" descr=""/>
          <p:cNvSpPr txBox="1"/>
          <p:nvPr/>
        </p:nvSpPr>
        <p:spPr>
          <a:xfrm>
            <a:off x="6189205" y="926960"/>
            <a:ext cx="878205" cy="245110"/>
          </a:xfrm>
          <a:prstGeom prst="rect">
            <a:avLst/>
          </a:prstGeom>
        </p:spPr>
        <p:txBody>
          <a:bodyPr wrap="square" lIns="0" tIns="17145" rIns="0" bIns="0" rtlCol="0" vert="horz">
            <a:spAutoFit/>
          </a:bodyPr>
          <a:lstStyle/>
          <a:p>
            <a:pPr marL="12700">
              <a:lnSpc>
                <a:spcPct val="100000"/>
              </a:lnSpc>
              <a:spcBef>
                <a:spcPts val="135"/>
              </a:spcBef>
            </a:pPr>
            <a:r>
              <a:rPr dirty="0" sz="1400" spc="-10">
                <a:solidFill>
                  <a:srgbClr val="FF3B30"/>
                </a:solidFill>
                <a:latin typeface="Arial MT"/>
                <a:cs typeface="Arial MT"/>
              </a:rPr>
              <a:t>EJEMPLO</a:t>
            </a:r>
            <a:endParaRPr sz="1400">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591312" y="2560320"/>
            <a:ext cx="8345805" cy="2443480"/>
          </a:xfrm>
          <a:custGeom>
            <a:avLst/>
            <a:gdLst/>
            <a:ahLst/>
            <a:cxnLst/>
            <a:rect l="l" t="t" r="r" b="b"/>
            <a:pathLst>
              <a:path w="8345805" h="2443479">
                <a:moveTo>
                  <a:pt x="8345424" y="0"/>
                </a:moveTo>
                <a:lnTo>
                  <a:pt x="0" y="0"/>
                </a:lnTo>
                <a:lnTo>
                  <a:pt x="0" y="2442972"/>
                </a:lnTo>
                <a:lnTo>
                  <a:pt x="8345424" y="2442972"/>
                </a:lnTo>
                <a:lnTo>
                  <a:pt x="8345424" y="0"/>
                </a:lnTo>
                <a:close/>
              </a:path>
            </a:pathLst>
          </a:custGeom>
          <a:solidFill>
            <a:srgbClr val="9DBEC4">
              <a:alpha val="50199"/>
            </a:srgbClr>
          </a:solidFill>
        </p:spPr>
        <p:txBody>
          <a:bodyPr wrap="square" lIns="0" tIns="0" rIns="0" bIns="0" rtlCol="0"/>
          <a:lstStyle/>
          <a:p/>
        </p:txBody>
      </p:sp>
      <p:sp>
        <p:nvSpPr>
          <p:cNvPr id="3" name="object 3" descr=""/>
          <p:cNvSpPr txBox="1"/>
          <p:nvPr/>
        </p:nvSpPr>
        <p:spPr>
          <a:xfrm>
            <a:off x="577933" y="2648601"/>
            <a:ext cx="2588895" cy="269240"/>
          </a:xfrm>
          <a:prstGeom prst="rect">
            <a:avLst/>
          </a:prstGeom>
        </p:spPr>
        <p:txBody>
          <a:bodyPr wrap="square" lIns="0" tIns="12065" rIns="0" bIns="0" rtlCol="0" vert="horz">
            <a:spAutoFit/>
          </a:bodyPr>
          <a:lstStyle/>
          <a:p>
            <a:pPr marL="12700">
              <a:lnSpc>
                <a:spcPct val="100000"/>
              </a:lnSpc>
              <a:spcBef>
                <a:spcPts val="95"/>
              </a:spcBef>
            </a:pPr>
            <a:r>
              <a:rPr dirty="0" sz="1600" b="1">
                <a:solidFill>
                  <a:srgbClr val="4E3629"/>
                </a:solidFill>
                <a:latin typeface="Courier New"/>
                <a:cs typeface="Courier New"/>
              </a:rPr>
              <a:t>CREATE</a:t>
            </a:r>
            <a:r>
              <a:rPr dirty="0" sz="1600" spc="-45" b="1">
                <a:solidFill>
                  <a:srgbClr val="4E3629"/>
                </a:solidFill>
                <a:latin typeface="Courier New"/>
                <a:cs typeface="Courier New"/>
              </a:rPr>
              <a:t> </a:t>
            </a:r>
            <a:r>
              <a:rPr dirty="0" sz="1600" b="1">
                <a:solidFill>
                  <a:srgbClr val="4E3629"/>
                </a:solidFill>
                <a:latin typeface="Courier New"/>
                <a:cs typeface="Courier New"/>
              </a:rPr>
              <a:t>TABLE</a:t>
            </a:r>
            <a:r>
              <a:rPr dirty="0" sz="1600" spc="-45" b="1">
                <a:solidFill>
                  <a:srgbClr val="4E3629"/>
                </a:solidFill>
                <a:latin typeface="Courier New"/>
                <a:cs typeface="Courier New"/>
              </a:rPr>
              <a:t> </a:t>
            </a:r>
            <a:r>
              <a:rPr dirty="0" sz="1600" spc="-10" b="1">
                <a:solidFill>
                  <a:srgbClr val="4E3629"/>
                </a:solidFill>
                <a:latin typeface="Courier New"/>
                <a:cs typeface="Courier New"/>
              </a:rPr>
              <a:t>clients(</a:t>
            </a:r>
            <a:endParaRPr sz="1600">
              <a:latin typeface="Courier New"/>
              <a:cs typeface="Courier New"/>
            </a:endParaRPr>
          </a:p>
        </p:txBody>
      </p:sp>
      <p:sp>
        <p:nvSpPr>
          <p:cNvPr id="4" name="object 4" descr=""/>
          <p:cNvSpPr txBox="1"/>
          <p:nvPr/>
        </p:nvSpPr>
        <p:spPr>
          <a:xfrm>
            <a:off x="1554909" y="2892440"/>
            <a:ext cx="1612900" cy="1000760"/>
          </a:xfrm>
          <a:prstGeom prst="rect">
            <a:avLst/>
          </a:prstGeom>
        </p:spPr>
        <p:txBody>
          <a:bodyPr wrap="square" lIns="0" tIns="12065" rIns="0" bIns="0" rtlCol="0" vert="horz">
            <a:spAutoFit/>
          </a:bodyPr>
          <a:lstStyle/>
          <a:p>
            <a:pPr marL="12700" marR="5080">
              <a:lnSpc>
                <a:spcPct val="100000"/>
              </a:lnSpc>
              <a:spcBef>
                <a:spcPts val="95"/>
              </a:spcBef>
            </a:pPr>
            <a:r>
              <a:rPr dirty="0" sz="1600" spc="-10" b="1">
                <a:solidFill>
                  <a:srgbClr val="4E3629"/>
                </a:solidFill>
                <a:latin typeface="Courier New"/>
                <a:cs typeface="Courier New"/>
              </a:rPr>
              <a:t>client_number first_name last_name phone</a:t>
            </a:r>
            <a:endParaRPr sz="1600">
              <a:latin typeface="Courier New"/>
              <a:cs typeface="Courier New"/>
            </a:endParaRPr>
          </a:p>
        </p:txBody>
      </p:sp>
      <p:sp>
        <p:nvSpPr>
          <p:cNvPr id="5" name="object 5" descr=""/>
          <p:cNvSpPr txBox="1"/>
          <p:nvPr/>
        </p:nvSpPr>
        <p:spPr>
          <a:xfrm>
            <a:off x="3385420" y="2892440"/>
            <a:ext cx="4667885" cy="1000760"/>
          </a:xfrm>
          <a:prstGeom prst="rect">
            <a:avLst/>
          </a:prstGeom>
        </p:spPr>
        <p:txBody>
          <a:bodyPr wrap="square" lIns="0" tIns="12065" rIns="0" bIns="0" rtlCol="0" vert="horz">
            <a:spAutoFit/>
          </a:bodyPr>
          <a:lstStyle/>
          <a:p>
            <a:pPr marL="13970" marR="3058795">
              <a:lnSpc>
                <a:spcPct val="100000"/>
              </a:lnSpc>
              <a:spcBef>
                <a:spcPts val="95"/>
              </a:spcBef>
            </a:pPr>
            <a:r>
              <a:rPr dirty="0" sz="1600" spc="-10" b="1">
                <a:solidFill>
                  <a:srgbClr val="4E3629"/>
                </a:solidFill>
                <a:latin typeface="Courier New"/>
                <a:cs typeface="Courier New"/>
              </a:rPr>
              <a:t>NUMBER(6), VARCHAR2(20), VARCHAR2(20),</a:t>
            </a:r>
            <a:endParaRPr sz="1600">
              <a:latin typeface="Courier New"/>
              <a:cs typeface="Courier New"/>
            </a:endParaRPr>
          </a:p>
          <a:p>
            <a:pPr marL="12700">
              <a:lnSpc>
                <a:spcPct val="100000"/>
              </a:lnSpc>
            </a:pPr>
            <a:r>
              <a:rPr dirty="0" sz="1600" b="1">
                <a:solidFill>
                  <a:srgbClr val="4E3629"/>
                </a:solidFill>
                <a:latin typeface="Courier New"/>
                <a:cs typeface="Courier New"/>
              </a:rPr>
              <a:t>VARCHAR2(20)</a:t>
            </a:r>
            <a:r>
              <a:rPr dirty="0" sz="1600" spc="-85" b="1">
                <a:solidFill>
                  <a:srgbClr val="4E3629"/>
                </a:solidFill>
                <a:latin typeface="Courier New"/>
                <a:cs typeface="Courier New"/>
              </a:rPr>
              <a:t> </a:t>
            </a:r>
            <a:r>
              <a:rPr dirty="0" sz="1600" b="1">
                <a:solidFill>
                  <a:srgbClr val="4E3629"/>
                </a:solidFill>
                <a:latin typeface="Courier New"/>
                <a:cs typeface="Courier New"/>
              </a:rPr>
              <a:t>CONSTRAINT</a:t>
            </a:r>
            <a:r>
              <a:rPr dirty="0" sz="1600" spc="-90" b="1">
                <a:solidFill>
                  <a:srgbClr val="4E3629"/>
                </a:solidFill>
                <a:latin typeface="Courier New"/>
                <a:cs typeface="Courier New"/>
              </a:rPr>
              <a:t> </a:t>
            </a:r>
            <a:r>
              <a:rPr dirty="0" sz="1600" spc="-10" b="1">
                <a:solidFill>
                  <a:srgbClr val="4E3629"/>
                </a:solidFill>
                <a:latin typeface="Courier New"/>
                <a:cs typeface="Courier New"/>
              </a:rPr>
              <a:t>phone_email_uk</a:t>
            </a:r>
            <a:endParaRPr sz="1600">
              <a:latin typeface="Courier New"/>
              <a:cs typeface="Courier New"/>
            </a:endParaRPr>
          </a:p>
        </p:txBody>
      </p:sp>
      <p:sp>
        <p:nvSpPr>
          <p:cNvPr id="6" name="object 6" descr=""/>
          <p:cNvSpPr txBox="1"/>
          <p:nvPr/>
        </p:nvSpPr>
        <p:spPr>
          <a:xfrm>
            <a:off x="1187631" y="3867793"/>
            <a:ext cx="7597775" cy="1000760"/>
          </a:xfrm>
          <a:prstGeom prst="rect">
            <a:avLst/>
          </a:prstGeom>
        </p:spPr>
        <p:txBody>
          <a:bodyPr wrap="square" lIns="0" tIns="12065" rIns="0" bIns="0" rtlCol="0" vert="horz">
            <a:spAutoFit/>
          </a:bodyPr>
          <a:lstStyle/>
          <a:p>
            <a:pPr marL="438784" marR="1412875" indent="2626995">
              <a:lnSpc>
                <a:spcPct val="100000"/>
              </a:lnSpc>
              <a:spcBef>
                <a:spcPts val="95"/>
              </a:spcBef>
              <a:tabLst>
                <a:tab pos="2147570" algn="l"/>
              </a:tabLst>
            </a:pPr>
            <a:r>
              <a:rPr dirty="0" sz="1600" spc="-10" b="1">
                <a:solidFill>
                  <a:srgbClr val="4E3629"/>
                </a:solidFill>
                <a:latin typeface="Courier New"/>
                <a:cs typeface="Courier New"/>
              </a:rPr>
              <a:t>UNIQUE(email,phone), email</a:t>
            </a:r>
            <a:r>
              <a:rPr dirty="0" sz="1600" b="1">
                <a:solidFill>
                  <a:srgbClr val="4E3629"/>
                </a:solidFill>
                <a:latin typeface="Courier New"/>
                <a:cs typeface="Courier New"/>
              </a:rPr>
              <a:t>	VARCHAR2(10)</a:t>
            </a:r>
            <a:r>
              <a:rPr dirty="0" sz="1600" spc="-70" b="1">
                <a:solidFill>
                  <a:srgbClr val="4E3629"/>
                </a:solidFill>
                <a:latin typeface="Courier New"/>
                <a:cs typeface="Courier New"/>
              </a:rPr>
              <a:t> </a:t>
            </a:r>
            <a:r>
              <a:rPr dirty="0" sz="1600" b="1">
                <a:solidFill>
                  <a:srgbClr val="4E3629"/>
                </a:solidFill>
                <a:latin typeface="Courier New"/>
                <a:cs typeface="Courier New"/>
              </a:rPr>
              <a:t>CONSTRAINT</a:t>
            </a:r>
            <a:r>
              <a:rPr dirty="0" sz="1600" spc="-65" b="1">
                <a:solidFill>
                  <a:srgbClr val="4E3629"/>
                </a:solidFill>
                <a:latin typeface="Courier New"/>
                <a:cs typeface="Courier New"/>
              </a:rPr>
              <a:t> </a:t>
            </a:r>
            <a:r>
              <a:rPr dirty="0" sz="1600" b="1">
                <a:solidFill>
                  <a:srgbClr val="4E3629"/>
                </a:solidFill>
                <a:latin typeface="Courier New"/>
                <a:cs typeface="Courier New"/>
              </a:rPr>
              <a:t>NOT</a:t>
            </a:r>
            <a:r>
              <a:rPr dirty="0" sz="1600" spc="-60" b="1">
                <a:solidFill>
                  <a:srgbClr val="4E3629"/>
                </a:solidFill>
                <a:latin typeface="Courier New"/>
                <a:cs typeface="Courier New"/>
              </a:rPr>
              <a:t> </a:t>
            </a:r>
            <a:r>
              <a:rPr dirty="0" sz="1600" spc="-10" b="1">
                <a:solidFill>
                  <a:srgbClr val="4E3629"/>
                </a:solidFill>
                <a:latin typeface="Courier New"/>
                <a:cs typeface="Courier New"/>
              </a:rPr>
              <a:t>NULL,</a:t>
            </a:r>
            <a:endParaRPr sz="1600">
              <a:latin typeface="Courier New"/>
              <a:cs typeface="Courier New"/>
            </a:endParaRPr>
          </a:p>
          <a:p>
            <a:pPr marL="12700">
              <a:lnSpc>
                <a:spcPct val="100000"/>
              </a:lnSpc>
            </a:pPr>
            <a:r>
              <a:rPr dirty="0" sz="1600" b="1">
                <a:solidFill>
                  <a:srgbClr val="4E3629"/>
                </a:solidFill>
                <a:latin typeface="Courier New"/>
                <a:cs typeface="Courier New"/>
              </a:rPr>
              <a:t>CONSTRAINT</a:t>
            </a:r>
            <a:r>
              <a:rPr dirty="0" sz="1600" spc="-75" b="1">
                <a:solidFill>
                  <a:srgbClr val="4E3629"/>
                </a:solidFill>
                <a:latin typeface="Courier New"/>
                <a:cs typeface="Courier New"/>
              </a:rPr>
              <a:t> </a:t>
            </a:r>
            <a:r>
              <a:rPr dirty="0" sz="1600" b="1">
                <a:solidFill>
                  <a:srgbClr val="4E3629"/>
                </a:solidFill>
                <a:latin typeface="Courier New"/>
                <a:cs typeface="Courier New"/>
              </a:rPr>
              <a:t>emailclients_email</a:t>
            </a:r>
            <a:r>
              <a:rPr dirty="0" sz="1600" spc="-70" b="1">
                <a:solidFill>
                  <a:srgbClr val="4E3629"/>
                </a:solidFill>
                <a:latin typeface="Courier New"/>
                <a:cs typeface="Courier New"/>
              </a:rPr>
              <a:t> </a:t>
            </a:r>
            <a:r>
              <a:rPr dirty="0" sz="1600" b="1">
                <a:solidFill>
                  <a:srgbClr val="4E3629"/>
                </a:solidFill>
                <a:latin typeface="Courier New"/>
                <a:cs typeface="Courier New"/>
              </a:rPr>
              <a:t>NOT</a:t>
            </a:r>
            <a:r>
              <a:rPr dirty="0" sz="1600" spc="-80" b="1">
                <a:solidFill>
                  <a:srgbClr val="4E3629"/>
                </a:solidFill>
                <a:latin typeface="Courier New"/>
                <a:cs typeface="Courier New"/>
              </a:rPr>
              <a:t> </a:t>
            </a:r>
            <a:r>
              <a:rPr dirty="0" sz="1600" spc="-10" b="1">
                <a:solidFill>
                  <a:srgbClr val="4E3629"/>
                </a:solidFill>
                <a:latin typeface="Courier New"/>
                <a:cs typeface="Courier New"/>
              </a:rPr>
              <a:t>NULL,</a:t>
            </a:r>
            <a:endParaRPr sz="1600">
              <a:latin typeface="Courier New"/>
              <a:cs typeface="Courier New"/>
            </a:endParaRPr>
          </a:p>
          <a:p>
            <a:pPr marL="12700">
              <a:lnSpc>
                <a:spcPct val="100000"/>
              </a:lnSpc>
            </a:pPr>
            <a:r>
              <a:rPr dirty="0" sz="1600" b="1">
                <a:solidFill>
                  <a:srgbClr val="4E3629"/>
                </a:solidFill>
                <a:latin typeface="Courier New"/>
                <a:cs typeface="Courier New"/>
              </a:rPr>
              <a:t>CONSTRAINT</a:t>
            </a:r>
            <a:r>
              <a:rPr dirty="0" sz="1600" spc="-75" b="1">
                <a:solidFill>
                  <a:srgbClr val="4E3629"/>
                </a:solidFill>
                <a:latin typeface="Courier New"/>
                <a:cs typeface="Courier New"/>
              </a:rPr>
              <a:t> </a:t>
            </a:r>
            <a:r>
              <a:rPr dirty="0" sz="1600" b="1">
                <a:solidFill>
                  <a:srgbClr val="4E3629"/>
                </a:solidFill>
                <a:latin typeface="Courier New"/>
                <a:cs typeface="Courier New"/>
              </a:rPr>
              <a:t>clients_client_num_pk</a:t>
            </a:r>
            <a:r>
              <a:rPr dirty="0" sz="1600" spc="-70" b="1">
                <a:solidFill>
                  <a:srgbClr val="4E3629"/>
                </a:solidFill>
                <a:latin typeface="Courier New"/>
                <a:cs typeface="Courier New"/>
              </a:rPr>
              <a:t> </a:t>
            </a:r>
            <a:r>
              <a:rPr dirty="0" sz="1600" b="1">
                <a:solidFill>
                  <a:srgbClr val="4E3629"/>
                </a:solidFill>
                <a:latin typeface="Courier New"/>
                <a:cs typeface="Courier New"/>
              </a:rPr>
              <a:t>PRIMARY</a:t>
            </a:r>
            <a:r>
              <a:rPr dirty="0" sz="1600" spc="-80" b="1">
                <a:solidFill>
                  <a:srgbClr val="4E3629"/>
                </a:solidFill>
                <a:latin typeface="Courier New"/>
                <a:cs typeface="Courier New"/>
              </a:rPr>
              <a:t> </a:t>
            </a:r>
            <a:r>
              <a:rPr dirty="0" sz="1600" b="1">
                <a:solidFill>
                  <a:srgbClr val="4E3629"/>
                </a:solidFill>
                <a:latin typeface="Courier New"/>
                <a:cs typeface="Courier New"/>
              </a:rPr>
              <a:t>KEY</a:t>
            </a:r>
            <a:r>
              <a:rPr dirty="0" sz="1600" spc="-75" b="1">
                <a:solidFill>
                  <a:srgbClr val="4E3629"/>
                </a:solidFill>
                <a:latin typeface="Courier New"/>
                <a:cs typeface="Courier New"/>
              </a:rPr>
              <a:t> </a:t>
            </a:r>
            <a:r>
              <a:rPr dirty="0" sz="1600" spc="-10" b="1">
                <a:solidFill>
                  <a:srgbClr val="4E3629"/>
                </a:solidFill>
                <a:latin typeface="Courier New"/>
                <a:cs typeface="Courier New"/>
              </a:rPr>
              <a:t>(client_number));</a:t>
            </a:r>
            <a:endParaRPr sz="1600">
              <a:latin typeface="Courier New"/>
              <a:cs typeface="Courier New"/>
            </a:endParaRPr>
          </a:p>
        </p:txBody>
      </p:sp>
      <p:sp>
        <p:nvSpPr>
          <p:cNvPr id="7" name="object 7"/>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Examen</a:t>
            </a:r>
            <a:r>
              <a:rPr dirty="0" spc="-60"/>
              <a:t> </a:t>
            </a:r>
            <a:r>
              <a:rPr dirty="0"/>
              <a:t>de</a:t>
            </a:r>
            <a:r>
              <a:rPr dirty="0" spc="-40"/>
              <a:t> </a:t>
            </a:r>
            <a:r>
              <a:rPr dirty="0"/>
              <a:t>las</a:t>
            </a:r>
            <a:r>
              <a:rPr dirty="0" spc="-55"/>
              <a:t> </a:t>
            </a:r>
            <a:r>
              <a:rPr dirty="0" spc="-10"/>
              <a:t>Violaciones</a:t>
            </a:r>
          </a:p>
        </p:txBody>
      </p:sp>
      <p:grpSp>
        <p:nvGrpSpPr>
          <p:cNvPr id="8" name="object 8" descr=""/>
          <p:cNvGrpSpPr/>
          <p:nvPr/>
        </p:nvGrpSpPr>
        <p:grpSpPr>
          <a:xfrm>
            <a:off x="4480305" y="1631950"/>
            <a:ext cx="4431030" cy="776605"/>
            <a:chOff x="4480305" y="1631950"/>
            <a:chExt cx="4431030" cy="776605"/>
          </a:xfrm>
        </p:grpSpPr>
        <p:sp>
          <p:nvSpPr>
            <p:cNvPr id="9" name="object 9" descr=""/>
            <p:cNvSpPr/>
            <p:nvPr/>
          </p:nvSpPr>
          <p:spPr>
            <a:xfrm>
              <a:off x="4486655" y="1638300"/>
              <a:ext cx="4418330" cy="763905"/>
            </a:xfrm>
            <a:custGeom>
              <a:avLst/>
              <a:gdLst/>
              <a:ahLst/>
              <a:cxnLst/>
              <a:rect l="l" t="t" r="r" b="b"/>
              <a:pathLst>
                <a:path w="4418330" h="763905">
                  <a:moveTo>
                    <a:pt x="4418076" y="0"/>
                  </a:moveTo>
                  <a:lnTo>
                    <a:pt x="0" y="0"/>
                  </a:lnTo>
                  <a:lnTo>
                    <a:pt x="0" y="763524"/>
                  </a:lnTo>
                  <a:lnTo>
                    <a:pt x="4418076" y="763524"/>
                  </a:lnTo>
                  <a:lnTo>
                    <a:pt x="4418076" y="0"/>
                  </a:lnTo>
                  <a:close/>
                </a:path>
              </a:pathLst>
            </a:custGeom>
            <a:solidFill>
              <a:srgbClr val="D1350F"/>
            </a:solidFill>
          </p:spPr>
          <p:txBody>
            <a:bodyPr wrap="square" lIns="0" tIns="0" rIns="0" bIns="0" rtlCol="0"/>
            <a:lstStyle/>
            <a:p/>
          </p:txBody>
        </p:sp>
        <p:sp>
          <p:nvSpPr>
            <p:cNvPr id="10" name="object 10" descr=""/>
            <p:cNvSpPr/>
            <p:nvPr/>
          </p:nvSpPr>
          <p:spPr>
            <a:xfrm>
              <a:off x="4486655" y="1638300"/>
              <a:ext cx="4418330" cy="763905"/>
            </a:xfrm>
            <a:custGeom>
              <a:avLst/>
              <a:gdLst/>
              <a:ahLst/>
              <a:cxnLst/>
              <a:rect l="l" t="t" r="r" b="b"/>
              <a:pathLst>
                <a:path w="4418330" h="763905">
                  <a:moveTo>
                    <a:pt x="0" y="763524"/>
                  </a:moveTo>
                  <a:lnTo>
                    <a:pt x="4418076" y="763524"/>
                  </a:lnTo>
                  <a:lnTo>
                    <a:pt x="4418076" y="0"/>
                  </a:lnTo>
                  <a:lnTo>
                    <a:pt x="0" y="0"/>
                  </a:lnTo>
                  <a:lnTo>
                    <a:pt x="0" y="763524"/>
                  </a:lnTo>
                  <a:close/>
                </a:path>
              </a:pathLst>
            </a:custGeom>
            <a:ln w="12192">
              <a:solidFill>
                <a:srgbClr val="992408"/>
              </a:solidFill>
            </a:ln>
          </p:spPr>
          <p:txBody>
            <a:bodyPr wrap="square" lIns="0" tIns="0" rIns="0" bIns="0" rtlCol="0"/>
            <a:lstStyle/>
            <a:p/>
          </p:txBody>
        </p:sp>
      </p:grpSp>
      <p:sp>
        <p:nvSpPr>
          <p:cNvPr id="11" name="object 11" descr=""/>
          <p:cNvSpPr txBox="1"/>
          <p:nvPr/>
        </p:nvSpPr>
        <p:spPr>
          <a:xfrm>
            <a:off x="4485981" y="1625401"/>
            <a:ext cx="4185920" cy="756920"/>
          </a:xfrm>
          <a:prstGeom prst="rect">
            <a:avLst/>
          </a:prstGeom>
        </p:spPr>
        <p:txBody>
          <a:bodyPr wrap="square" lIns="0" tIns="12065" rIns="0" bIns="0" rtlCol="0" vert="horz">
            <a:spAutoFit/>
          </a:bodyPr>
          <a:lstStyle/>
          <a:p>
            <a:pPr marL="12700">
              <a:lnSpc>
                <a:spcPct val="100000"/>
              </a:lnSpc>
              <a:spcBef>
                <a:spcPts val="95"/>
              </a:spcBef>
            </a:pPr>
            <a:r>
              <a:rPr dirty="0" sz="1600" b="1">
                <a:solidFill>
                  <a:srgbClr val="FFFFFF"/>
                </a:solidFill>
                <a:latin typeface="Calibri"/>
                <a:cs typeface="Calibri"/>
              </a:rPr>
              <a:t>VIOLACIÓN</a:t>
            </a:r>
            <a:r>
              <a:rPr dirty="0" sz="1600" spc="-20" b="1">
                <a:solidFill>
                  <a:srgbClr val="FFFFFF"/>
                </a:solidFill>
                <a:latin typeface="Calibri"/>
                <a:cs typeface="Calibri"/>
              </a:rPr>
              <a:t> </a:t>
            </a:r>
            <a:r>
              <a:rPr dirty="0" sz="1600" b="1">
                <a:solidFill>
                  <a:srgbClr val="FFFFFF"/>
                </a:solidFill>
                <a:latin typeface="Calibri"/>
                <a:cs typeface="Calibri"/>
              </a:rPr>
              <a:t>DE</a:t>
            </a:r>
            <a:r>
              <a:rPr dirty="0" sz="1600" spc="-60" b="1">
                <a:solidFill>
                  <a:srgbClr val="FFFFFF"/>
                </a:solidFill>
                <a:latin typeface="Calibri"/>
                <a:cs typeface="Calibri"/>
              </a:rPr>
              <a:t> </a:t>
            </a:r>
            <a:r>
              <a:rPr dirty="0" sz="1600" spc="-10" b="1">
                <a:solidFill>
                  <a:srgbClr val="FFFFFF"/>
                </a:solidFill>
                <a:latin typeface="Calibri"/>
                <a:cs typeface="Calibri"/>
              </a:rPr>
              <a:t>CLAVE</a:t>
            </a:r>
            <a:r>
              <a:rPr dirty="0" sz="1600" spc="-50" b="1">
                <a:solidFill>
                  <a:srgbClr val="FFFFFF"/>
                </a:solidFill>
                <a:latin typeface="Calibri"/>
                <a:cs typeface="Calibri"/>
              </a:rPr>
              <a:t> </a:t>
            </a:r>
            <a:r>
              <a:rPr dirty="0" sz="1600" b="1">
                <a:solidFill>
                  <a:srgbClr val="FFFFFF"/>
                </a:solidFill>
                <a:latin typeface="Calibri"/>
                <a:cs typeface="Calibri"/>
              </a:rPr>
              <a:t>ÚNICA</a:t>
            </a:r>
            <a:r>
              <a:rPr dirty="0" sz="1600" spc="-35" b="1">
                <a:solidFill>
                  <a:srgbClr val="FFFFFF"/>
                </a:solidFill>
                <a:latin typeface="Calibri"/>
                <a:cs typeface="Calibri"/>
              </a:rPr>
              <a:t> </a:t>
            </a:r>
            <a:r>
              <a:rPr dirty="0" sz="1600" spc="-10" b="1">
                <a:solidFill>
                  <a:srgbClr val="FFFFFF"/>
                </a:solidFill>
                <a:latin typeface="Calibri"/>
                <a:cs typeface="Calibri"/>
              </a:rPr>
              <a:t>COMPUESTA</a:t>
            </a:r>
            <a:endParaRPr sz="1600">
              <a:latin typeface="Calibri"/>
              <a:cs typeface="Calibri"/>
            </a:endParaRPr>
          </a:p>
          <a:p>
            <a:pPr marL="12700" marR="5080">
              <a:lnSpc>
                <a:spcPct val="100000"/>
              </a:lnSpc>
            </a:pPr>
            <a:r>
              <a:rPr dirty="0" sz="1600">
                <a:solidFill>
                  <a:srgbClr val="FFFFFF"/>
                </a:solidFill>
                <a:latin typeface="Calibri"/>
                <a:cs typeface="Calibri"/>
              </a:rPr>
              <a:t>Las</a:t>
            </a:r>
            <a:r>
              <a:rPr dirty="0" sz="1600" spc="-30">
                <a:solidFill>
                  <a:srgbClr val="FFFFFF"/>
                </a:solidFill>
                <a:latin typeface="Calibri"/>
                <a:cs typeface="Calibri"/>
              </a:rPr>
              <a:t> </a:t>
            </a:r>
            <a:r>
              <a:rPr dirty="0" sz="1600">
                <a:solidFill>
                  <a:srgbClr val="FFFFFF"/>
                </a:solidFill>
                <a:latin typeface="Calibri"/>
                <a:cs typeface="Calibri"/>
              </a:rPr>
              <a:t>claves</a:t>
            </a:r>
            <a:r>
              <a:rPr dirty="0" sz="1600" spc="-30">
                <a:solidFill>
                  <a:srgbClr val="FFFFFF"/>
                </a:solidFill>
                <a:latin typeface="Calibri"/>
                <a:cs typeface="Calibri"/>
              </a:rPr>
              <a:t> </a:t>
            </a:r>
            <a:r>
              <a:rPr dirty="0" sz="1600" spc="-10">
                <a:solidFill>
                  <a:srgbClr val="FFFFFF"/>
                </a:solidFill>
                <a:latin typeface="Calibri"/>
                <a:cs typeface="Calibri"/>
              </a:rPr>
              <a:t>compuestas</a:t>
            </a:r>
            <a:r>
              <a:rPr dirty="0" sz="1600" spc="-15">
                <a:solidFill>
                  <a:srgbClr val="FFFFFF"/>
                </a:solidFill>
                <a:latin typeface="Calibri"/>
                <a:cs typeface="Calibri"/>
              </a:rPr>
              <a:t> </a:t>
            </a:r>
            <a:r>
              <a:rPr dirty="0" sz="1600">
                <a:solidFill>
                  <a:srgbClr val="FFFFFF"/>
                </a:solidFill>
                <a:latin typeface="Calibri"/>
                <a:cs typeface="Calibri"/>
              </a:rPr>
              <a:t>se</a:t>
            </a:r>
            <a:r>
              <a:rPr dirty="0" sz="1600" spc="-25">
                <a:solidFill>
                  <a:srgbClr val="FFFFFF"/>
                </a:solidFill>
                <a:latin typeface="Calibri"/>
                <a:cs typeface="Calibri"/>
              </a:rPr>
              <a:t> </a:t>
            </a:r>
            <a:r>
              <a:rPr dirty="0" sz="1600">
                <a:solidFill>
                  <a:srgbClr val="FFFFFF"/>
                </a:solidFill>
                <a:latin typeface="Calibri"/>
                <a:cs typeface="Calibri"/>
              </a:rPr>
              <a:t>deben</a:t>
            </a:r>
            <a:r>
              <a:rPr dirty="0" sz="1600" spc="-15">
                <a:solidFill>
                  <a:srgbClr val="FFFFFF"/>
                </a:solidFill>
                <a:latin typeface="Calibri"/>
                <a:cs typeface="Calibri"/>
              </a:rPr>
              <a:t> </a:t>
            </a:r>
            <a:r>
              <a:rPr dirty="0" sz="1600">
                <a:solidFill>
                  <a:srgbClr val="FFFFFF"/>
                </a:solidFill>
                <a:latin typeface="Calibri"/>
                <a:cs typeface="Calibri"/>
              </a:rPr>
              <a:t>definir</a:t>
            </a:r>
            <a:r>
              <a:rPr dirty="0" sz="1600" spc="-40">
                <a:solidFill>
                  <a:srgbClr val="FFFFFF"/>
                </a:solidFill>
                <a:latin typeface="Calibri"/>
                <a:cs typeface="Calibri"/>
              </a:rPr>
              <a:t> </a:t>
            </a:r>
            <a:r>
              <a:rPr dirty="0" sz="1600">
                <a:solidFill>
                  <a:srgbClr val="FFFFFF"/>
                </a:solidFill>
                <a:latin typeface="Calibri"/>
                <a:cs typeface="Calibri"/>
              </a:rPr>
              <a:t>en</a:t>
            </a:r>
            <a:r>
              <a:rPr dirty="0" sz="1600" spc="-20">
                <a:solidFill>
                  <a:srgbClr val="FFFFFF"/>
                </a:solidFill>
                <a:latin typeface="Calibri"/>
                <a:cs typeface="Calibri"/>
              </a:rPr>
              <a:t> </a:t>
            </a:r>
            <a:r>
              <a:rPr dirty="0" sz="1600">
                <a:solidFill>
                  <a:srgbClr val="FFFFFF"/>
                </a:solidFill>
                <a:latin typeface="Calibri"/>
                <a:cs typeface="Calibri"/>
              </a:rPr>
              <a:t>nivel</a:t>
            </a:r>
            <a:r>
              <a:rPr dirty="0" sz="1600" spc="-30">
                <a:solidFill>
                  <a:srgbClr val="FFFFFF"/>
                </a:solidFill>
                <a:latin typeface="Calibri"/>
                <a:cs typeface="Calibri"/>
              </a:rPr>
              <a:t> </a:t>
            </a:r>
            <a:r>
              <a:rPr dirty="0" sz="1600" spc="-25">
                <a:solidFill>
                  <a:srgbClr val="FFFFFF"/>
                </a:solidFill>
                <a:latin typeface="Calibri"/>
                <a:cs typeface="Calibri"/>
              </a:rPr>
              <a:t>de </a:t>
            </a:r>
            <a:r>
              <a:rPr dirty="0" sz="1600" spc="-10">
                <a:solidFill>
                  <a:srgbClr val="FFFFFF"/>
                </a:solidFill>
                <a:latin typeface="Calibri"/>
                <a:cs typeface="Calibri"/>
              </a:rPr>
              <a:t>tabla</a:t>
            </a:r>
            <a:endParaRPr sz="1600">
              <a:latin typeface="Calibri"/>
              <a:cs typeface="Calibri"/>
            </a:endParaRPr>
          </a:p>
        </p:txBody>
      </p:sp>
      <p:grpSp>
        <p:nvGrpSpPr>
          <p:cNvPr id="12" name="object 12" descr=""/>
          <p:cNvGrpSpPr/>
          <p:nvPr/>
        </p:nvGrpSpPr>
        <p:grpSpPr>
          <a:xfrm>
            <a:off x="5548629" y="5249926"/>
            <a:ext cx="3362960" cy="1023619"/>
            <a:chOff x="5548629" y="5249926"/>
            <a:chExt cx="3362960" cy="1023619"/>
          </a:xfrm>
        </p:grpSpPr>
        <p:sp>
          <p:nvSpPr>
            <p:cNvPr id="13" name="object 13" descr=""/>
            <p:cNvSpPr/>
            <p:nvPr/>
          </p:nvSpPr>
          <p:spPr>
            <a:xfrm>
              <a:off x="5554979" y="5256276"/>
              <a:ext cx="3350260" cy="1010919"/>
            </a:xfrm>
            <a:custGeom>
              <a:avLst/>
              <a:gdLst/>
              <a:ahLst/>
              <a:cxnLst/>
              <a:rect l="l" t="t" r="r" b="b"/>
              <a:pathLst>
                <a:path w="3350259" h="1010920">
                  <a:moveTo>
                    <a:pt x="3349752" y="0"/>
                  </a:moveTo>
                  <a:lnTo>
                    <a:pt x="0" y="0"/>
                  </a:lnTo>
                  <a:lnTo>
                    <a:pt x="0" y="1010412"/>
                  </a:lnTo>
                  <a:lnTo>
                    <a:pt x="3349752" y="1010412"/>
                  </a:lnTo>
                  <a:lnTo>
                    <a:pt x="3349752" y="0"/>
                  </a:lnTo>
                  <a:close/>
                </a:path>
              </a:pathLst>
            </a:custGeom>
            <a:solidFill>
              <a:srgbClr val="D1350F"/>
            </a:solidFill>
          </p:spPr>
          <p:txBody>
            <a:bodyPr wrap="square" lIns="0" tIns="0" rIns="0" bIns="0" rtlCol="0"/>
            <a:lstStyle/>
            <a:p/>
          </p:txBody>
        </p:sp>
        <p:sp>
          <p:nvSpPr>
            <p:cNvPr id="14" name="object 14" descr=""/>
            <p:cNvSpPr/>
            <p:nvPr/>
          </p:nvSpPr>
          <p:spPr>
            <a:xfrm>
              <a:off x="5554979" y="5256276"/>
              <a:ext cx="3350260" cy="1010919"/>
            </a:xfrm>
            <a:custGeom>
              <a:avLst/>
              <a:gdLst/>
              <a:ahLst/>
              <a:cxnLst/>
              <a:rect l="l" t="t" r="r" b="b"/>
              <a:pathLst>
                <a:path w="3350259" h="1010920">
                  <a:moveTo>
                    <a:pt x="0" y="1010412"/>
                  </a:moveTo>
                  <a:lnTo>
                    <a:pt x="3349752" y="1010412"/>
                  </a:lnTo>
                  <a:lnTo>
                    <a:pt x="3349752" y="0"/>
                  </a:lnTo>
                  <a:lnTo>
                    <a:pt x="0" y="0"/>
                  </a:lnTo>
                  <a:lnTo>
                    <a:pt x="0" y="1010412"/>
                  </a:lnTo>
                  <a:close/>
                </a:path>
              </a:pathLst>
            </a:custGeom>
            <a:ln w="12191">
              <a:solidFill>
                <a:srgbClr val="992408"/>
              </a:solidFill>
            </a:ln>
          </p:spPr>
          <p:txBody>
            <a:bodyPr wrap="square" lIns="0" tIns="0" rIns="0" bIns="0" rtlCol="0"/>
            <a:lstStyle/>
            <a:p/>
          </p:txBody>
        </p:sp>
      </p:grpSp>
      <p:sp>
        <p:nvSpPr>
          <p:cNvPr id="15" name="object 15" descr=""/>
          <p:cNvSpPr txBox="1"/>
          <p:nvPr/>
        </p:nvSpPr>
        <p:spPr>
          <a:xfrm>
            <a:off x="5554675" y="5244447"/>
            <a:ext cx="2955925" cy="1000760"/>
          </a:xfrm>
          <a:prstGeom prst="rect">
            <a:avLst/>
          </a:prstGeom>
        </p:spPr>
        <p:txBody>
          <a:bodyPr wrap="square" lIns="0" tIns="12065" rIns="0" bIns="0" rtlCol="0" vert="horz">
            <a:spAutoFit/>
          </a:bodyPr>
          <a:lstStyle/>
          <a:p>
            <a:pPr marL="12700">
              <a:lnSpc>
                <a:spcPct val="100000"/>
              </a:lnSpc>
              <a:spcBef>
                <a:spcPts val="95"/>
              </a:spcBef>
            </a:pPr>
            <a:r>
              <a:rPr dirty="0" sz="1600" b="1">
                <a:solidFill>
                  <a:srgbClr val="FFFFFF"/>
                </a:solidFill>
                <a:latin typeface="Calibri"/>
                <a:cs typeface="Calibri"/>
              </a:rPr>
              <a:t>VIOLACIÓN</a:t>
            </a:r>
            <a:r>
              <a:rPr dirty="0" sz="1600" spc="-15" b="1">
                <a:solidFill>
                  <a:srgbClr val="FFFFFF"/>
                </a:solidFill>
                <a:latin typeface="Calibri"/>
                <a:cs typeface="Calibri"/>
              </a:rPr>
              <a:t> </a:t>
            </a:r>
            <a:r>
              <a:rPr dirty="0" sz="1600" b="1">
                <a:solidFill>
                  <a:srgbClr val="FFFFFF"/>
                </a:solidFill>
                <a:latin typeface="Calibri"/>
                <a:cs typeface="Calibri"/>
              </a:rPr>
              <a:t>DE</a:t>
            </a:r>
            <a:r>
              <a:rPr dirty="0" sz="1600" spc="-65" b="1">
                <a:solidFill>
                  <a:srgbClr val="FFFFFF"/>
                </a:solidFill>
                <a:latin typeface="Calibri"/>
                <a:cs typeface="Calibri"/>
              </a:rPr>
              <a:t> </a:t>
            </a:r>
            <a:r>
              <a:rPr dirty="0" sz="1600" spc="-10" b="1">
                <a:solidFill>
                  <a:srgbClr val="FFFFFF"/>
                </a:solidFill>
                <a:latin typeface="Calibri"/>
                <a:cs typeface="Calibri"/>
              </a:rPr>
              <a:t>NOMBRE</a:t>
            </a:r>
            <a:endParaRPr sz="1600">
              <a:latin typeface="Calibri"/>
              <a:cs typeface="Calibri"/>
            </a:endParaRPr>
          </a:p>
          <a:p>
            <a:pPr marL="12700" marR="5080">
              <a:lnSpc>
                <a:spcPct val="100000"/>
              </a:lnSpc>
            </a:pPr>
            <a:r>
              <a:rPr dirty="0" sz="1600">
                <a:solidFill>
                  <a:srgbClr val="FFFFFF"/>
                </a:solidFill>
                <a:latin typeface="Calibri"/>
                <a:cs typeface="Calibri"/>
              </a:rPr>
              <a:t>Cuando</a:t>
            </a:r>
            <a:r>
              <a:rPr dirty="0" sz="1600" spc="-15">
                <a:solidFill>
                  <a:srgbClr val="FFFFFF"/>
                </a:solidFill>
                <a:latin typeface="Calibri"/>
                <a:cs typeface="Calibri"/>
              </a:rPr>
              <a:t> </a:t>
            </a:r>
            <a:r>
              <a:rPr dirty="0" sz="1600">
                <a:solidFill>
                  <a:srgbClr val="FFFFFF"/>
                </a:solidFill>
                <a:latin typeface="Calibri"/>
                <a:cs typeface="Calibri"/>
              </a:rPr>
              <a:t>se</a:t>
            </a:r>
            <a:r>
              <a:rPr dirty="0" sz="1600" spc="-10">
                <a:solidFill>
                  <a:srgbClr val="FFFFFF"/>
                </a:solidFill>
                <a:latin typeface="Calibri"/>
                <a:cs typeface="Calibri"/>
              </a:rPr>
              <a:t> </a:t>
            </a:r>
            <a:r>
              <a:rPr dirty="0" sz="1600">
                <a:solidFill>
                  <a:srgbClr val="FFFFFF"/>
                </a:solidFill>
                <a:latin typeface="Calibri"/>
                <a:cs typeface="Calibri"/>
              </a:rPr>
              <a:t>utiliza</a:t>
            </a:r>
            <a:r>
              <a:rPr dirty="0" sz="1600" spc="-15">
                <a:solidFill>
                  <a:srgbClr val="FFFFFF"/>
                </a:solidFill>
                <a:latin typeface="Calibri"/>
                <a:cs typeface="Calibri"/>
              </a:rPr>
              <a:t> </a:t>
            </a:r>
            <a:r>
              <a:rPr dirty="0" sz="1600">
                <a:solidFill>
                  <a:srgbClr val="FFFFFF"/>
                </a:solidFill>
                <a:latin typeface="Calibri"/>
                <a:cs typeface="Calibri"/>
              </a:rPr>
              <a:t>el</a:t>
            </a:r>
            <a:r>
              <a:rPr dirty="0" sz="1600" spc="-30">
                <a:solidFill>
                  <a:srgbClr val="FFFFFF"/>
                </a:solidFill>
                <a:latin typeface="Calibri"/>
                <a:cs typeface="Calibri"/>
              </a:rPr>
              <a:t> </a:t>
            </a:r>
            <a:r>
              <a:rPr dirty="0" sz="1600" spc="-10">
                <a:solidFill>
                  <a:srgbClr val="FFFFFF"/>
                </a:solidFill>
                <a:latin typeface="Calibri"/>
                <a:cs typeface="Calibri"/>
              </a:rPr>
              <a:t>término </a:t>
            </a:r>
            <a:r>
              <a:rPr dirty="0" sz="1600" spc="-20">
                <a:solidFill>
                  <a:srgbClr val="FFFFFF"/>
                </a:solidFill>
                <a:latin typeface="Calibri"/>
                <a:cs typeface="Calibri"/>
              </a:rPr>
              <a:t>CONSTRAINT,</a:t>
            </a:r>
            <a:r>
              <a:rPr dirty="0" sz="1600">
                <a:solidFill>
                  <a:srgbClr val="FFFFFF"/>
                </a:solidFill>
                <a:latin typeface="Calibri"/>
                <a:cs typeface="Calibri"/>
              </a:rPr>
              <a:t> debe</a:t>
            </a:r>
            <a:r>
              <a:rPr dirty="0" sz="1600" spc="-15">
                <a:solidFill>
                  <a:srgbClr val="FFFFFF"/>
                </a:solidFill>
                <a:latin typeface="Calibri"/>
                <a:cs typeface="Calibri"/>
              </a:rPr>
              <a:t> </a:t>
            </a:r>
            <a:r>
              <a:rPr dirty="0" sz="1600">
                <a:solidFill>
                  <a:srgbClr val="FFFFFF"/>
                </a:solidFill>
                <a:latin typeface="Calibri"/>
                <a:cs typeface="Calibri"/>
              </a:rPr>
              <a:t>ir</a:t>
            </a:r>
            <a:r>
              <a:rPr dirty="0" sz="1600" spc="-30">
                <a:solidFill>
                  <a:srgbClr val="FFFFFF"/>
                </a:solidFill>
                <a:latin typeface="Calibri"/>
                <a:cs typeface="Calibri"/>
              </a:rPr>
              <a:t> </a:t>
            </a:r>
            <a:r>
              <a:rPr dirty="0" sz="1600">
                <a:solidFill>
                  <a:srgbClr val="FFFFFF"/>
                </a:solidFill>
                <a:latin typeface="Calibri"/>
                <a:cs typeface="Calibri"/>
              </a:rPr>
              <a:t>seguido</a:t>
            </a:r>
            <a:r>
              <a:rPr dirty="0" sz="1600" spc="-10">
                <a:solidFill>
                  <a:srgbClr val="FFFFFF"/>
                </a:solidFill>
                <a:latin typeface="Calibri"/>
                <a:cs typeface="Calibri"/>
              </a:rPr>
              <a:t> </a:t>
            </a:r>
            <a:r>
              <a:rPr dirty="0" sz="1600">
                <a:solidFill>
                  <a:srgbClr val="FFFFFF"/>
                </a:solidFill>
                <a:latin typeface="Calibri"/>
                <a:cs typeface="Calibri"/>
              </a:rPr>
              <a:t>de</a:t>
            </a:r>
            <a:r>
              <a:rPr dirty="0" sz="1600" spc="-25">
                <a:solidFill>
                  <a:srgbClr val="FFFFFF"/>
                </a:solidFill>
                <a:latin typeface="Calibri"/>
                <a:cs typeface="Calibri"/>
              </a:rPr>
              <a:t> un </a:t>
            </a:r>
            <a:r>
              <a:rPr dirty="0" sz="1600">
                <a:solidFill>
                  <a:srgbClr val="FFFFFF"/>
                </a:solidFill>
                <a:latin typeface="Calibri"/>
                <a:cs typeface="Calibri"/>
              </a:rPr>
              <a:t>nombre</a:t>
            </a:r>
            <a:r>
              <a:rPr dirty="0" sz="1600" spc="-30">
                <a:solidFill>
                  <a:srgbClr val="FFFFFF"/>
                </a:solidFill>
                <a:latin typeface="Calibri"/>
                <a:cs typeface="Calibri"/>
              </a:rPr>
              <a:t> </a:t>
            </a:r>
            <a:r>
              <a:rPr dirty="0" sz="1600">
                <a:solidFill>
                  <a:srgbClr val="FFFFFF"/>
                </a:solidFill>
                <a:latin typeface="Calibri"/>
                <a:cs typeface="Calibri"/>
              </a:rPr>
              <a:t>de</a:t>
            </a:r>
            <a:r>
              <a:rPr dirty="0" sz="1600" spc="-60">
                <a:solidFill>
                  <a:srgbClr val="FFFFFF"/>
                </a:solidFill>
                <a:latin typeface="Calibri"/>
                <a:cs typeface="Calibri"/>
              </a:rPr>
              <a:t> </a:t>
            </a:r>
            <a:r>
              <a:rPr dirty="0" sz="1600" spc="-10">
                <a:solidFill>
                  <a:srgbClr val="FFFFFF"/>
                </a:solidFill>
                <a:latin typeface="Calibri"/>
                <a:cs typeface="Calibri"/>
              </a:rPr>
              <a:t>restricción</a:t>
            </a:r>
            <a:endParaRPr sz="1600">
              <a:latin typeface="Calibri"/>
              <a:cs typeface="Calibri"/>
            </a:endParaRPr>
          </a:p>
        </p:txBody>
      </p:sp>
      <p:grpSp>
        <p:nvGrpSpPr>
          <p:cNvPr id="16" name="object 16" descr=""/>
          <p:cNvGrpSpPr/>
          <p:nvPr/>
        </p:nvGrpSpPr>
        <p:grpSpPr>
          <a:xfrm>
            <a:off x="1997710" y="5260594"/>
            <a:ext cx="3184525" cy="777875"/>
            <a:chOff x="1997710" y="5260594"/>
            <a:chExt cx="3184525" cy="777875"/>
          </a:xfrm>
        </p:grpSpPr>
        <p:sp>
          <p:nvSpPr>
            <p:cNvPr id="17" name="object 17" descr=""/>
            <p:cNvSpPr/>
            <p:nvPr/>
          </p:nvSpPr>
          <p:spPr>
            <a:xfrm>
              <a:off x="2004060" y="5266944"/>
              <a:ext cx="3171825" cy="765175"/>
            </a:xfrm>
            <a:custGeom>
              <a:avLst/>
              <a:gdLst/>
              <a:ahLst/>
              <a:cxnLst/>
              <a:rect l="l" t="t" r="r" b="b"/>
              <a:pathLst>
                <a:path w="3171825" h="765175">
                  <a:moveTo>
                    <a:pt x="3171443" y="0"/>
                  </a:moveTo>
                  <a:lnTo>
                    <a:pt x="0" y="0"/>
                  </a:lnTo>
                  <a:lnTo>
                    <a:pt x="0" y="765047"/>
                  </a:lnTo>
                  <a:lnTo>
                    <a:pt x="3171443" y="765047"/>
                  </a:lnTo>
                  <a:lnTo>
                    <a:pt x="3171443" y="0"/>
                  </a:lnTo>
                  <a:close/>
                </a:path>
              </a:pathLst>
            </a:custGeom>
            <a:solidFill>
              <a:srgbClr val="D1350F"/>
            </a:solidFill>
          </p:spPr>
          <p:txBody>
            <a:bodyPr wrap="square" lIns="0" tIns="0" rIns="0" bIns="0" rtlCol="0"/>
            <a:lstStyle/>
            <a:p/>
          </p:txBody>
        </p:sp>
        <p:sp>
          <p:nvSpPr>
            <p:cNvPr id="18" name="object 18" descr=""/>
            <p:cNvSpPr/>
            <p:nvPr/>
          </p:nvSpPr>
          <p:spPr>
            <a:xfrm>
              <a:off x="2004060" y="5266944"/>
              <a:ext cx="3171825" cy="765175"/>
            </a:xfrm>
            <a:custGeom>
              <a:avLst/>
              <a:gdLst/>
              <a:ahLst/>
              <a:cxnLst/>
              <a:rect l="l" t="t" r="r" b="b"/>
              <a:pathLst>
                <a:path w="3171825" h="765175">
                  <a:moveTo>
                    <a:pt x="0" y="765047"/>
                  </a:moveTo>
                  <a:lnTo>
                    <a:pt x="3171443" y="765047"/>
                  </a:lnTo>
                  <a:lnTo>
                    <a:pt x="3171443" y="0"/>
                  </a:lnTo>
                  <a:lnTo>
                    <a:pt x="0" y="0"/>
                  </a:lnTo>
                  <a:lnTo>
                    <a:pt x="0" y="765047"/>
                  </a:lnTo>
                  <a:close/>
                </a:path>
              </a:pathLst>
            </a:custGeom>
            <a:ln w="12191">
              <a:solidFill>
                <a:srgbClr val="992408"/>
              </a:solidFill>
            </a:ln>
          </p:spPr>
          <p:txBody>
            <a:bodyPr wrap="square" lIns="0" tIns="0" rIns="0" bIns="0" rtlCol="0"/>
            <a:lstStyle/>
            <a:p/>
          </p:txBody>
        </p:sp>
      </p:grpSp>
      <p:sp>
        <p:nvSpPr>
          <p:cNvPr id="19" name="object 19" descr=""/>
          <p:cNvSpPr txBox="1"/>
          <p:nvPr/>
        </p:nvSpPr>
        <p:spPr>
          <a:xfrm>
            <a:off x="2003618" y="5254821"/>
            <a:ext cx="2879090" cy="513080"/>
          </a:xfrm>
          <a:prstGeom prst="rect">
            <a:avLst/>
          </a:prstGeom>
        </p:spPr>
        <p:txBody>
          <a:bodyPr wrap="square" lIns="0" tIns="12065" rIns="0" bIns="0" rtlCol="0" vert="horz">
            <a:spAutoFit/>
          </a:bodyPr>
          <a:lstStyle/>
          <a:p>
            <a:pPr marL="12700">
              <a:lnSpc>
                <a:spcPct val="100000"/>
              </a:lnSpc>
              <a:spcBef>
                <a:spcPts val="95"/>
              </a:spcBef>
            </a:pPr>
            <a:r>
              <a:rPr dirty="0" sz="1600" b="1">
                <a:solidFill>
                  <a:srgbClr val="FFFFFF"/>
                </a:solidFill>
                <a:latin typeface="Calibri"/>
                <a:cs typeface="Calibri"/>
              </a:rPr>
              <a:t>VIOLACIÓN</a:t>
            </a:r>
            <a:r>
              <a:rPr dirty="0" sz="1600" spc="-15" b="1">
                <a:solidFill>
                  <a:srgbClr val="FFFFFF"/>
                </a:solidFill>
                <a:latin typeface="Calibri"/>
                <a:cs typeface="Calibri"/>
              </a:rPr>
              <a:t> </a:t>
            </a:r>
            <a:r>
              <a:rPr dirty="0" sz="1600" b="1">
                <a:solidFill>
                  <a:srgbClr val="FFFFFF"/>
                </a:solidFill>
                <a:latin typeface="Calibri"/>
                <a:cs typeface="Calibri"/>
              </a:rPr>
              <a:t>DE</a:t>
            </a:r>
            <a:r>
              <a:rPr dirty="0" sz="1600" spc="-50" b="1">
                <a:solidFill>
                  <a:srgbClr val="FFFFFF"/>
                </a:solidFill>
                <a:latin typeface="Calibri"/>
                <a:cs typeface="Calibri"/>
              </a:rPr>
              <a:t> </a:t>
            </a:r>
            <a:r>
              <a:rPr dirty="0" sz="1600" b="1">
                <a:solidFill>
                  <a:srgbClr val="FFFFFF"/>
                </a:solidFill>
                <a:latin typeface="Calibri"/>
                <a:cs typeface="Calibri"/>
              </a:rPr>
              <a:t>NOT</a:t>
            </a:r>
            <a:r>
              <a:rPr dirty="0" sz="1600" spc="-55" b="1">
                <a:solidFill>
                  <a:srgbClr val="FFFFFF"/>
                </a:solidFill>
                <a:latin typeface="Calibri"/>
                <a:cs typeface="Calibri"/>
              </a:rPr>
              <a:t> </a:t>
            </a:r>
            <a:r>
              <a:rPr dirty="0" sz="1600" spc="-20" b="1">
                <a:solidFill>
                  <a:srgbClr val="FFFFFF"/>
                </a:solidFill>
                <a:latin typeface="Calibri"/>
                <a:cs typeface="Calibri"/>
              </a:rPr>
              <a:t>NULL</a:t>
            </a:r>
            <a:endParaRPr sz="1600">
              <a:latin typeface="Calibri"/>
              <a:cs typeface="Calibri"/>
            </a:endParaRPr>
          </a:p>
          <a:p>
            <a:pPr marL="12700">
              <a:lnSpc>
                <a:spcPct val="100000"/>
              </a:lnSpc>
            </a:pPr>
            <a:r>
              <a:rPr dirty="0" sz="1600">
                <a:solidFill>
                  <a:srgbClr val="FFFFFF"/>
                </a:solidFill>
                <a:latin typeface="Calibri"/>
                <a:cs typeface="Calibri"/>
              </a:rPr>
              <a:t>Las</a:t>
            </a:r>
            <a:r>
              <a:rPr dirty="0" sz="1600" spc="-35">
                <a:solidFill>
                  <a:srgbClr val="FFFFFF"/>
                </a:solidFill>
                <a:latin typeface="Calibri"/>
                <a:cs typeface="Calibri"/>
              </a:rPr>
              <a:t> </a:t>
            </a:r>
            <a:r>
              <a:rPr dirty="0" sz="1600" spc="-10">
                <a:solidFill>
                  <a:srgbClr val="FFFFFF"/>
                </a:solidFill>
                <a:latin typeface="Calibri"/>
                <a:cs typeface="Calibri"/>
              </a:rPr>
              <a:t>restricciones</a:t>
            </a:r>
            <a:r>
              <a:rPr dirty="0" sz="1600">
                <a:solidFill>
                  <a:srgbClr val="FFFFFF"/>
                </a:solidFill>
                <a:latin typeface="Calibri"/>
                <a:cs typeface="Calibri"/>
              </a:rPr>
              <a:t> NOT</a:t>
            </a:r>
            <a:r>
              <a:rPr dirty="0" sz="1600" spc="-20">
                <a:solidFill>
                  <a:srgbClr val="FFFFFF"/>
                </a:solidFill>
                <a:latin typeface="Calibri"/>
                <a:cs typeface="Calibri"/>
              </a:rPr>
              <a:t> </a:t>
            </a:r>
            <a:r>
              <a:rPr dirty="0" sz="1600">
                <a:solidFill>
                  <a:srgbClr val="FFFFFF"/>
                </a:solidFill>
                <a:latin typeface="Calibri"/>
                <a:cs typeface="Calibri"/>
              </a:rPr>
              <a:t>NULL</a:t>
            </a:r>
            <a:r>
              <a:rPr dirty="0" sz="1600" spc="-20">
                <a:solidFill>
                  <a:srgbClr val="FFFFFF"/>
                </a:solidFill>
                <a:latin typeface="Calibri"/>
                <a:cs typeface="Calibri"/>
              </a:rPr>
              <a:t> </a:t>
            </a:r>
            <a:r>
              <a:rPr dirty="0" sz="1600">
                <a:solidFill>
                  <a:srgbClr val="FFFFFF"/>
                </a:solidFill>
                <a:latin typeface="Calibri"/>
                <a:cs typeface="Calibri"/>
              </a:rPr>
              <a:t>solo</a:t>
            </a:r>
            <a:r>
              <a:rPr dirty="0" sz="1600" spc="-10">
                <a:solidFill>
                  <a:srgbClr val="FFFFFF"/>
                </a:solidFill>
                <a:latin typeface="Calibri"/>
                <a:cs typeface="Calibri"/>
              </a:rPr>
              <a:t> </a:t>
            </a:r>
            <a:r>
              <a:rPr dirty="0" sz="1600" spc="-25">
                <a:solidFill>
                  <a:srgbClr val="FFFFFF"/>
                </a:solidFill>
                <a:latin typeface="Calibri"/>
                <a:cs typeface="Calibri"/>
              </a:rPr>
              <a:t>se</a:t>
            </a:r>
            <a:endParaRPr sz="1600">
              <a:latin typeface="Calibri"/>
              <a:cs typeface="Calibri"/>
            </a:endParaRPr>
          </a:p>
        </p:txBody>
      </p:sp>
      <p:sp>
        <p:nvSpPr>
          <p:cNvPr id="20" name="object 20" descr=""/>
          <p:cNvSpPr txBox="1"/>
          <p:nvPr/>
        </p:nvSpPr>
        <p:spPr>
          <a:xfrm>
            <a:off x="2003618" y="5742498"/>
            <a:ext cx="3133090" cy="269240"/>
          </a:xfrm>
          <a:prstGeom prst="rect">
            <a:avLst/>
          </a:prstGeom>
        </p:spPr>
        <p:txBody>
          <a:bodyPr wrap="square" lIns="0" tIns="12065" rIns="0" bIns="0" rtlCol="0" vert="horz">
            <a:spAutoFit/>
          </a:bodyPr>
          <a:lstStyle/>
          <a:p>
            <a:pPr marL="12700">
              <a:lnSpc>
                <a:spcPct val="100000"/>
              </a:lnSpc>
              <a:spcBef>
                <a:spcPts val="95"/>
              </a:spcBef>
            </a:pPr>
            <a:r>
              <a:rPr dirty="0" sz="1600">
                <a:solidFill>
                  <a:srgbClr val="FFFFFF"/>
                </a:solidFill>
                <a:latin typeface="Calibri"/>
                <a:cs typeface="Calibri"/>
              </a:rPr>
              <a:t>pueden</a:t>
            </a:r>
            <a:r>
              <a:rPr dirty="0" sz="1600" spc="-20">
                <a:solidFill>
                  <a:srgbClr val="FFFFFF"/>
                </a:solidFill>
                <a:latin typeface="Calibri"/>
                <a:cs typeface="Calibri"/>
              </a:rPr>
              <a:t> </a:t>
            </a:r>
            <a:r>
              <a:rPr dirty="0" sz="1600">
                <a:solidFill>
                  <a:srgbClr val="FFFFFF"/>
                </a:solidFill>
                <a:latin typeface="Calibri"/>
                <a:cs typeface="Calibri"/>
              </a:rPr>
              <a:t>definir</a:t>
            </a:r>
            <a:r>
              <a:rPr dirty="0" sz="1600" spc="-45">
                <a:solidFill>
                  <a:srgbClr val="FFFFFF"/>
                </a:solidFill>
                <a:latin typeface="Calibri"/>
                <a:cs typeface="Calibri"/>
              </a:rPr>
              <a:t> </a:t>
            </a:r>
            <a:r>
              <a:rPr dirty="0" sz="1600">
                <a:solidFill>
                  <a:srgbClr val="FFFFFF"/>
                </a:solidFill>
                <a:latin typeface="Calibri"/>
                <a:cs typeface="Calibri"/>
              </a:rPr>
              <a:t>en</a:t>
            </a:r>
            <a:r>
              <a:rPr dirty="0" sz="1600" spc="-20">
                <a:solidFill>
                  <a:srgbClr val="FFFFFF"/>
                </a:solidFill>
                <a:latin typeface="Calibri"/>
                <a:cs typeface="Calibri"/>
              </a:rPr>
              <a:t> </a:t>
            </a:r>
            <a:r>
              <a:rPr dirty="0" sz="1600">
                <a:solidFill>
                  <a:srgbClr val="FFFFFF"/>
                </a:solidFill>
                <a:latin typeface="Calibri"/>
                <a:cs typeface="Calibri"/>
              </a:rPr>
              <a:t>el</a:t>
            </a:r>
            <a:r>
              <a:rPr dirty="0" sz="1600" spc="-25">
                <a:solidFill>
                  <a:srgbClr val="FFFFFF"/>
                </a:solidFill>
                <a:latin typeface="Calibri"/>
                <a:cs typeface="Calibri"/>
              </a:rPr>
              <a:t> </a:t>
            </a:r>
            <a:r>
              <a:rPr dirty="0" sz="1600">
                <a:solidFill>
                  <a:srgbClr val="FFFFFF"/>
                </a:solidFill>
                <a:latin typeface="Calibri"/>
                <a:cs typeface="Calibri"/>
              </a:rPr>
              <a:t>nivel</a:t>
            </a:r>
            <a:r>
              <a:rPr dirty="0" sz="1600" spc="-35">
                <a:solidFill>
                  <a:srgbClr val="FFFFFF"/>
                </a:solidFill>
                <a:latin typeface="Calibri"/>
                <a:cs typeface="Calibri"/>
              </a:rPr>
              <a:t> </a:t>
            </a:r>
            <a:r>
              <a:rPr dirty="0" sz="1600">
                <a:solidFill>
                  <a:srgbClr val="FFFFFF"/>
                </a:solidFill>
                <a:latin typeface="Calibri"/>
                <a:cs typeface="Calibri"/>
              </a:rPr>
              <a:t>de</a:t>
            </a:r>
            <a:r>
              <a:rPr dirty="0" sz="1600" spc="-20">
                <a:solidFill>
                  <a:srgbClr val="FFFFFF"/>
                </a:solidFill>
                <a:latin typeface="Calibri"/>
                <a:cs typeface="Calibri"/>
              </a:rPr>
              <a:t> </a:t>
            </a:r>
            <a:r>
              <a:rPr dirty="0" sz="1600" spc="-10">
                <a:solidFill>
                  <a:srgbClr val="FFFFFF"/>
                </a:solidFill>
                <a:latin typeface="Calibri"/>
                <a:cs typeface="Calibri"/>
              </a:rPr>
              <a:t>columna</a:t>
            </a:r>
            <a:endParaRPr sz="1600">
              <a:latin typeface="Calibri"/>
              <a:cs typeface="Calibri"/>
            </a:endParaRPr>
          </a:p>
        </p:txBody>
      </p:sp>
      <p:grpSp>
        <p:nvGrpSpPr>
          <p:cNvPr id="21" name="object 21" descr=""/>
          <p:cNvGrpSpPr/>
          <p:nvPr/>
        </p:nvGrpSpPr>
        <p:grpSpPr>
          <a:xfrm>
            <a:off x="5085581" y="2196845"/>
            <a:ext cx="3697604" cy="3060700"/>
            <a:chOff x="5085581" y="2196845"/>
            <a:chExt cx="3697604" cy="3060700"/>
          </a:xfrm>
        </p:grpSpPr>
        <p:sp>
          <p:nvSpPr>
            <p:cNvPr id="22" name="object 22" descr=""/>
            <p:cNvSpPr/>
            <p:nvPr/>
          </p:nvSpPr>
          <p:spPr>
            <a:xfrm>
              <a:off x="8722614" y="2196845"/>
              <a:ext cx="0" cy="1816735"/>
            </a:xfrm>
            <a:custGeom>
              <a:avLst/>
              <a:gdLst/>
              <a:ahLst/>
              <a:cxnLst/>
              <a:rect l="l" t="t" r="r" b="b"/>
              <a:pathLst>
                <a:path w="0" h="1816735">
                  <a:moveTo>
                    <a:pt x="0" y="0"/>
                  </a:moveTo>
                  <a:lnTo>
                    <a:pt x="0" y="1816608"/>
                  </a:lnTo>
                </a:path>
              </a:pathLst>
            </a:custGeom>
            <a:ln w="38100">
              <a:solidFill>
                <a:srgbClr val="D1350F"/>
              </a:solidFill>
            </a:ln>
          </p:spPr>
          <p:txBody>
            <a:bodyPr wrap="square" lIns="0" tIns="0" rIns="0" bIns="0" rtlCol="0"/>
            <a:lstStyle/>
            <a:p/>
          </p:txBody>
        </p:sp>
        <p:sp>
          <p:nvSpPr>
            <p:cNvPr id="23" name="object 23" descr=""/>
            <p:cNvSpPr/>
            <p:nvPr/>
          </p:nvSpPr>
          <p:spPr>
            <a:xfrm>
              <a:off x="6839712" y="4004310"/>
              <a:ext cx="1883410" cy="8890"/>
            </a:xfrm>
            <a:custGeom>
              <a:avLst/>
              <a:gdLst/>
              <a:ahLst/>
              <a:cxnLst/>
              <a:rect l="l" t="t" r="r" b="b"/>
              <a:pathLst>
                <a:path w="1883409" h="8889">
                  <a:moveTo>
                    <a:pt x="1882902" y="0"/>
                  </a:moveTo>
                  <a:lnTo>
                    <a:pt x="0" y="8699"/>
                  </a:lnTo>
                </a:path>
              </a:pathLst>
            </a:custGeom>
            <a:ln w="38100">
              <a:solidFill>
                <a:srgbClr val="D1350F"/>
              </a:solidFill>
            </a:ln>
          </p:spPr>
          <p:txBody>
            <a:bodyPr wrap="square" lIns="0" tIns="0" rIns="0" bIns="0" rtlCol="0"/>
            <a:lstStyle/>
            <a:p/>
          </p:txBody>
        </p:sp>
        <p:sp>
          <p:nvSpPr>
            <p:cNvPr id="24" name="object 24" descr=""/>
            <p:cNvSpPr/>
            <p:nvPr/>
          </p:nvSpPr>
          <p:spPr>
            <a:xfrm>
              <a:off x="6744461" y="3955770"/>
              <a:ext cx="114935" cy="114300"/>
            </a:xfrm>
            <a:custGeom>
              <a:avLst/>
              <a:gdLst/>
              <a:ahLst/>
              <a:cxnLst/>
              <a:rect l="l" t="t" r="r" b="b"/>
              <a:pathLst>
                <a:path w="114934" h="114300">
                  <a:moveTo>
                    <a:pt x="114033" y="0"/>
                  </a:moveTo>
                  <a:lnTo>
                    <a:pt x="0" y="57683"/>
                  </a:lnTo>
                  <a:lnTo>
                    <a:pt x="114566" y="114300"/>
                  </a:lnTo>
                  <a:lnTo>
                    <a:pt x="114033" y="0"/>
                  </a:lnTo>
                  <a:close/>
                </a:path>
              </a:pathLst>
            </a:custGeom>
            <a:solidFill>
              <a:srgbClr val="D1350F"/>
            </a:solidFill>
          </p:spPr>
          <p:txBody>
            <a:bodyPr wrap="square" lIns="0" tIns="0" rIns="0" bIns="0" rtlCol="0"/>
            <a:lstStyle/>
            <a:p/>
          </p:txBody>
        </p:sp>
        <p:sp>
          <p:nvSpPr>
            <p:cNvPr id="25" name="object 25" descr=""/>
            <p:cNvSpPr/>
            <p:nvPr/>
          </p:nvSpPr>
          <p:spPr>
            <a:xfrm>
              <a:off x="5142738" y="4733544"/>
              <a:ext cx="0" cy="523875"/>
            </a:xfrm>
            <a:custGeom>
              <a:avLst/>
              <a:gdLst/>
              <a:ahLst/>
              <a:cxnLst/>
              <a:rect l="l" t="t" r="r" b="b"/>
              <a:pathLst>
                <a:path w="0" h="523875">
                  <a:moveTo>
                    <a:pt x="0" y="523493"/>
                  </a:moveTo>
                  <a:lnTo>
                    <a:pt x="0" y="0"/>
                  </a:lnTo>
                </a:path>
              </a:pathLst>
            </a:custGeom>
            <a:ln w="38100">
              <a:solidFill>
                <a:srgbClr val="D1350F"/>
              </a:solidFill>
            </a:ln>
          </p:spPr>
          <p:txBody>
            <a:bodyPr wrap="square" lIns="0" tIns="0" rIns="0" bIns="0" rtlCol="0"/>
            <a:lstStyle/>
            <a:p/>
          </p:txBody>
        </p:sp>
        <p:sp>
          <p:nvSpPr>
            <p:cNvPr id="26" name="object 26" descr=""/>
            <p:cNvSpPr/>
            <p:nvPr/>
          </p:nvSpPr>
          <p:spPr>
            <a:xfrm>
              <a:off x="5085581" y="4638291"/>
              <a:ext cx="114300" cy="114300"/>
            </a:xfrm>
            <a:custGeom>
              <a:avLst/>
              <a:gdLst/>
              <a:ahLst/>
              <a:cxnLst/>
              <a:rect l="l" t="t" r="r" b="b"/>
              <a:pathLst>
                <a:path w="114300" h="114300">
                  <a:moveTo>
                    <a:pt x="57150" y="0"/>
                  </a:moveTo>
                  <a:lnTo>
                    <a:pt x="0" y="114300"/>
                  </a:lnTo>
                  <a:lnTo>
                    <a:pt x="114300" y="114300"/>
                  </a:lnTo>
                  <a:lnTo>
                    <a:pt x="57150" y="0"/>
                  </a:lnTo>
                  <a:close/>
                </a:path>
              </a:pathLst>
            </a:custGeom>
            <a:solidFill>
              <a:srgbClr val="D1350F"/>
            </a:solidFill>
          </p:spPr>
          <p:txBody>
            <a:bodyPr wrap="square" lIns="0" tIns="0" rIns="0" bIns="0" rtlCol="0"/>
            <a:lstStyle/>
            <a:p/>
          </p:txBody>
        </p:sp>
        <p:sp>
          <p:nvSpPr>
            <p:cNvPr id="27" name="object 27" descr=""/>
            <p:cNvSpPr/>
            <p:nvPr/>
          </p:nvSpPr>
          <p:spPr>
            <a:xfrm>
              <a:off x="8763762" y="4237481"/>
              <a:ext cx="0" cy="1010919"/>
            </a:xfrm>
            <a:custGeom>
              <a:avLst/>
              <a:gdLst/>
              <a:ahLst/>
              <a:cxnLst/>
              <a:rect l="l" t="t" r="r" b="b"/>
              <a:pathLst>
                <a:path w="0" h="1010920">
                  <a:moveTo>
                    <a:pt x="0" y="0"/>
                  </a:moveTo>
                  <a:lnTo>
                    <a:pt x="0" y="1010412"/>
                  </a:lnTo>
                </a:path>
              </a:pathLst>
            </a:custGeom>
            <a:ln w="38100">
              <a:solidFill>
                <a:srgbClr val="D1350F"/>
              </a:solidFill>
            </a:ln>
          </p:spPr>
          <p:txBody>
            <a:bodyPr wrap="square" lIns="0" tIns="0" rIns="0" bIns="0" rtlCol="0"/>
            <a:lstStyle/>
            <a:p/>
          </p:txBody>
        </p:sp>
        <p:sp>
          <p:nvSpPr>
            <p:cNvPr id="28" name="object 28" descr=""/>
            <p:cNvSpPr/>
            <p:nvPr/>
          </p:nvSpPr>
          <p:spPr>
            <a:xfrm>
              <a:off x="7618476" y="4248848"/>
              <a:ext cx="1145540" cy="8890"/>
            </a:xfrm>
            <a:custGeom>
              <a:avLst/>
              <a:gdLst/>
              <a:ahLst/>
              <a:cxnLst/>
              <a:rect l="l" t="t" r="r" b="b"/>
              <a:pathLst>
                <a:path w="1145540" h="8889">
                  <a:moveTo>
                    <a:pt x="1145286" y="8445"/>
                  </a:moveTo>
                  <a:lnTo>
                    <a:pt x="0" y="0"/>
                  </a:lnTo>
                </a:path>
              </a:pathLst>
            </a:custGeom>
            <a:ln w="38100">
              <a:solidFill>
                <a:srgbClr val="D1350F"/>
              </a:solidFill>
            </a:ln>
          </p:spPr>
          <p:txBody>
            <a:bodyPr wrap="square" lIns="0" tIns="0" rIns="0" bIns="0" rtlCol="0"/>
            <a:lstStyle/>
            <a:p/>
          </p:txBody>
        </p:sp>
        <p:sp>
          <p:nvSpPr>
            <p:cNvPr id="29" name="object 29" descr=""/>
            <p:cNvSpPr/>
            <p:nvPr/>
          </p:nvSpPr>
          <p:spPr>
            <a:xfrm>
              <a:off x="7523231" y="4191845"/>
              <a:ext cx="114935" cy="114300"/>
            </a:xfrm>
            <a:custGeom>
              <a:avLst/>
              <a:gdLst/>
              <a:ahLst/>
              <a:cxnLst/>
              <a:rect l="l" t="t" r="r" b="b"/>
              <a:pathLst>
                <a:path w="114934" h="114300">
                  <a:moveTo>
                    <a:pt x="114719" y="0"/>
                  </a:moveTo>
                  <a:lnTo>
                    <a:pt x="0" y="56299"/>
                  </a:lnTo>
                  <a:lnTo>
                    <a:pt x="113868" y="114300"/>
                  </a:lnTo>
                  <a:lnTo>
                    <a:pt x="114719" y="0"/>
                  </a:lnTo>
                  <a:close/>
                </a:path>
              </a:pathLst>
            </a:custGeom>
            <a:solidFill>
              <a:srgbClr val="D1350F"/>
            </a:solidFill>
          </p:spPr>
          <p:txBody>
            <a:bodyPr wrap="square" lIns="0" tIns="0" rIns="0" bIns="0" rtlCol="0"/>
            <a:lstStyle/>
            <a:p/>
          </p:txBody>
        </p:sp>
      </p:grpSp>
      <p:sp>
        <p:nvSpPr>
          <p:cNvPr id="30" name="object 30"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31" name="object 31"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21</a:t>
            </a:r>
          </a:p>
        </p:txBody>
      </p:sp>
      <p:sp>
        <p:nvSpPr>
          <p:cNvPr id="32" name="object 32"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Cinco</a:t>
            </a:r>
            <a:r>
              <a:rPr dirty="0" spc="-50"/>
              <a:t> </a:t>
            </a:r>
            <a:r>
              <a:rPr dirty="0"/>
              <a:t>Tipos</a:t>
            </a:r>
            <a:r>
              <a:rPr dirty="0" spc="-55"/>
              <a:t> </a:t>
            </a:r>
            <a:r>
              <a:rPr dirty="0"/>
              <a:t>de</a:t>
            </a:r>
            <a:r>
              <a:rPr dirty="0" spc="-55"/>
              <a:t> </a:t>
            </a:r>
            <a:r>
              <a:rPr dirty="0" spc="-10"/>
              <a:t>Restricciones</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22</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470775" cy="371094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Existen</a:t>
            </a:r>
            <a:r>
              <a:rPr dirty="0" sz="2800" spc="-55">
                <a:solidFill>
                  <a:srgbClr val="4E3629"/>
                </a:solidFill>
                <a:latin typeface="Calibri"/>
                <a:cs typeface="Calibri"/>
              </a:rPr>
              <a:t> </a:t>
            </a:r>
            <a:r>
              <a:rPr dirty="0" sz="2800">
                <a:solidFill>
                  <a:srgbClr val="4E3629"/>
                </a:solidFill>
                <a:latin typeface="Calibri"/>
                <a:cs typeface="Calibri"/>
              </a:rPr>
              <a:t>cinco</a:t>
            </a:r>
            <a:r>
              <a:rPr dirty="0" sz="2800" spc="-50">
                <a:solidFill>
                  <a:srgbClr val="4E3629"/>
                </a:solidFill>
                <a:latin typeface="Calibri"/>
                <a:cs typeface="Calibri"/>
              </a:rPr>
              <a:t> </a:t>
            </a:r>
            <a:r>
              <a:rPr dirty="0" sz="2800">
                <a:solidFill>
                  <a:srgbClr val="4E3629"/>
                </a:solidFill>
                <a:latin typeface="Calibri"/>
                <a:cs typeface="Calibri"/>
              </a:rPr>
              <a:t>tipos</a:t>
            </a:r>
            <a:r>
              <a:rPr dirty="0" sz="2800" spc="-4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10">
                <a:solidFill>
                  <a:srgbClr val="4E3629"/>
                </a:solidFill>
                <a:latin typeface="Calibri"/>
                <a:cs typeface="Calibri"/>
              </a:rPr>
              <a:t>restricciones</a:t>
            </a:r>
            <a:r>
              <a:rPr dirty="0" sz="2800" spc="-45">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a:solidFill>
                  <a:srgbClr val="4E3629"/>
                </a:solidFill>
                <a:latin typeface="Calibri"/>
                <a:cs typeface="Calibri"/>
              </a:rPr>
              <a:t>base</a:t>
            </a:r>
            <a:r>
              <a:rPr dirty="0" sz="2800" spc="-5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datos</a:t>
            </a:r>
            <a:r>
              <a:rPr dirty="0" sz="2800" spc="-7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10">
                <a:solidFill>
                  <a:srgbClr val="4E3629"/>
                </a:solidFill>
                <a:latin typeface="Calibri"/>
                <a:cs typeface="Calibri"/>
              </a:rPr>
              <a:t>Oracle</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Cada</a:t>
            </a:r>
            <a:r>
              <a:rPr dirty="0" sz="2800" spc="-50">
                <a:solidFill>
                  <a:srgbClr val="4E3629"/>
                </a:solidFill>
                <a:latin typeface="Calibri"/>
                <a:cs typeface="Calibri"/>
              </a:rPr>
              <a:t> </a:t>
            </a:r>
            <a:r>
              <a:rPr dirty="0" sz="2800">
                <a:solidFill>
                  <a:srgbClr val="4E3629"/>
                </a:solidFill>
                <a:latin typeface="Calibri"/>
                <a:cs typeface="Calibri"/>
              </a:rPr>
              <a:t>tipo</a:t>
            </a:r>
            <a:r>
              <a:rPr dirty="0" sz="2800" spc="-40">
                <a:solidFill>
                  <a:srgbClr val="4E3629"/>
                </a:solidFill>
                <a:latin typeface="Calibri"/>
                <a:cs typeface="Calibri"/>
              </a:rPr>
              <a:t> </a:t>
            </a:r>
            <a:r>
              <a:rPr dirty="0" sz="2800">
                <a:solidFill>
                  <a:srgbClr val="4E3629"/>
                </a:solidFill>
                <a:latin typeface="Calibri"/>
                <a:cs typeface="Calibri"/>
              </a:rPr>
              <a:t>aplica</a:t>
            </a:r>
            <a:r>
              <a:rPr dirty="0" sz="2800" spc="-45">
                <a:solidFill>
                  <a:srgbClr val="4E3629"/>
                </a:solidFill>
                <a:latin typeface="Calibri"/>
                <a:cs typeface="Calibri"/>
              </a:rPr>
              <a:t> </a:t>
            </a:r>
            <a:r>
              <a:rPr dirty="0" sz="2800">
                <a:solidFill>
                  <a:srgbClr val="4E3629"/>
                </a:solidFill>
                <a:latin typeface="Calibri"/>
                <a:cs typeface="Calibri"/>
              </a:rPr>
              <a:t>una</a:t>
            </a:r>
            <a:r>
              <a:rPr dirty="0" sz="2800" spc="-25">
                <a:solidFill>
                  <a:srgbClr val="4E3629"/>
                </a:solidFill>
                <a:latin typeface="Calibri"/>
                <a:cs typeface="Calibri"/>
              </a:rPr>
              <a:t> </a:t>
            </a:r>
            <a:r>
              <a:rPr dirty="0" sz="2800">
                <a:solidFill>
                  <a:srgbClr val="4E3629"/>
                </a:solidFill>
                <a:latin typeface="Calibri"/>
                <a:cs typeface="Calibri"/>
              </a:rPr>
              <a:t>regla</a:t>
            </a:r>
            <a:r>
              <a:rPr dirty="0" sz="2800" spc="-55">
                <a:solidFill>
                  <a:srgbClr val="4E3629"/>
                </a:solidFill>
                <a:latin typeface="Calibri"/>
                <a:cs typeface="Calibri"/>
              </a:rPr>
              <a:t> </a:t>
            </a:r>
            <a:r>
              <a:rPr dirty="0" sz="2800" spc="-10">
                <a:solidFill>
                  <a:srgbClr val="4E3629"/>
                </a:solidFill>
                <a:latin typeface="Calibri"/>
                <a:cs typeface="Calibri"/>
              </a:rPr>
              <a:t>diferente</a:t>
            </a:r>
            <a:endParaRPr sz="2800">
              <a:latin typeface="Calibri"/>
              <a:cs typeface="Calibri"/>
            </a:endParaRPr>
          </a:p>
          <a:p>
            <a:pPr marL="183515" indent="-170815">
              <a:lnSpc>
                <a:spcPct val="100000"/>
              </a:lnSpc>
              <a:spcBef>
                <a:spcPts val="470"/>
              </a:spcBef>
              <a:buClr>
                <a:srgbClr val="D1350F"/>
              </a:buClr>
              <a:buFont typeface="Arial MT"/>
              <a:buChar char="•"/>
              <a:tabLst>
                <a:tab pos="183515" algn="l"/>
              </a:tabLst>
            </a:pPr>
            <a:r>
              <a:rPr dirty="0" sz="2800">
                <a:solidFill>
                  <a:srgbClr val="4E3629"/>
                </a:solidFill>
                <a:latin typeface="Calibri"/>
                <a:cs typeface="Calibri"/>
              </a:rPr>
              <a:t>Los</a:t>
            </a:r>
            <a:r>
              <a:rPr dirty="0" sz="2800" spc="-45">
                <a:solidFill>
                  <a:srgbClr val="4E3629"/>
                </a:solidFill>
                <a:latin typeface="Calibri"/>
                <a:cs typeface="Calibri"/>
              </a:rPr>
              <a:t> </a:t>
            </a:r>
            <a:r>
              <a:rPr dirty="0" sz="2800">
                <a:solidFill>
                  <a:srgbClr val="4E3629"/>
                </a:solidFill>
                <a:latin typeface="Calibri"/>
                <a:cs typeface="Calibri"/>
              </a:rPr>
              <a:t>tipos</a:t>
            </a:r>
            <a:r>
              <a:rPr dirty="0" sz="2800" spc="-45">
                <a:solidFill>
                  <a:srgbClr val="4E3629"/>
                </a:solidFill>
                <a:latin typeface="Calibri"/>
                <a:cs typeface="Calibri"/>
              </a:rPr>
              <a:t> </a:t>
            </a:r>
            <a:r>
              <a:rPr dirty="0" sz="2800" spc="-20">
                <a:solidFill>
                  <a:srgbClr val="4E3629"/>
                </a:solidFill>
                <a:latin typeface="Calibri"/>
                <a:cs typeface="Calibri"/>
              </a:rPr>
              <a:t>son:</a:t>
            </a:r>
            <a:endParaRPr sz="2800">
              <a:latin typeface="Calibri"/>
              <a:cs typeface="Calibri"/>
            </a:endParaRPr>
          </a:p>
          <a:p>
            <a:pPr marL="355600">
              <a:lnSpc>
                <a:spcPct val="100000"/>
              </a:lnSpc>
              <a:spcBef>
                <a:spcPts val="135"/>
              </a:spcBef>
            </a:pPr>
            <a:r>
              <a:rPr dirty="0" sz="2400">
                <a:solidFill>
                  <a:srgbClr val="D1350F"/>
                </a:solidFill>
                <a:latin typeface="Calibri"/>
                <a:cs typeface="Calibri"/>
              </a:rPr>
              <a:t>−</a:t>
            </a:r>
            <a:r>
              <a:rPr dirty="0" sz="2400" spc="140">
                <a:solidFill>
                  <a:srgbClr val="D1350F"/>
                </a:solidFill>
                <a:latin typeface="Calibri"/>
                <a:cs typeface="Calibri"/>
              </a:rPr>
              <a:t> </a:t>
            </a:r>
            <a:r>
              <a:rPr dirty="0" sz="2400" spc="-10">
                <a:solidFill>
                  <a:srgbClr val="4E3629"/>
                </a:solidFill>
                <a:latin typeface="Calibri"/>
                <a:cs typeface="Calibri"/>
              </a:rPr>
              <a:t>Restricciones</a:t>
            </a:r>
            <a:r>
              <a:rPr dirty="0" sz="2400" spc="-55">
                <a:solidFill>
                  <a:srgbClr val="4E3629"/>
                </a:solidFill>
                <a:latin typeface="Calibri"/>
                <a:cs typeface="Calibri"/>
              </a:rPr>
              <a:t> </a:t>
            </a:r>
            <a:r>
              <a:rPr dirty="0" sz="2400">
                <a:solidFill>
                  <a:srgbClr val="4E3629"/>
                </a:solidFill>
                <a:latin typeface="Calibri"/>
                <a:cs typeface="Calibri"/>
              </a:rPr>
              <a:t>NOT</a:t>
            </a:r>
            <a:r>
              <a:rPr dirty="0" sz="2400" spc="-30">
                <a:solidFill>
                  <a:srgbClr val="4E3629"/>
                </a:solidFill>
                <a:latin typeface="Calibri"/>
                <a:cs typeface="Calibri"/>
              </a:rPr>
              <a:t> </a:t>
            </a:r>
            <a:r>
              <a:rPr dirty="0" sz="2400" spc="-20">
                <a:solidFill>
                  <a:srgbClr val="4E3629"/>
                </a:solidFill>
                <a:latin typeface="Calibri"/>
                <a:cs typeface="Calibri"/>
              </a:rPr>
              <a:t>NULL</a:t>
            </a:r>
            <a:endParaRPr sz="2400">
              <a:latin typeface="Calibri"/>
              <a:cs typeface="Calibri"/>
            </a:endParaRPr>
          </a:p>
          <a:p>
            <a:pPr marL="355600">
              <a:lnSpc>
                <a:spcPct val="100000"/>
              </a:lnSpc>
              <a:spcBef>
                <a:spcPts val="110"/>
              </a:spcBef>
            </a:pPr>
            <a:r>
              <a:rPr dirty="0" sz="2400">
                <a:solidFill>
                  <a:srgbClr val="D1350F"/>
                </a:solidFill>
                <a:latin typeface="Calibri"/>
                <a:cs typeface="Calibri"/>
              </a:rPr>
              <a:t>−</a:t>
            </a:r>
            <a:r>
              <a:rPr dirty="0" sz="2400" spc="185">
                <a:solidFill>
                  <a:srgbClr val="D1350F"/>
                </a:solidFill>
                <a:latin typeface="Calibri"/>
                <a:cs typeface="Calibri"/>
              </a:rPr>
              <a:t> </a:t>
            </a:r>
            <a:r>
              <a:rPr dirty="0" sz="2400" spc="-10">
                <a:solidFill>
                  <a:srgbClr val="4E3629"/>
                </a:solidFill>
                <a:latin typeface="Calibri"/>
                <a:cs typeface="Calibri"/>
              </a:rPr>
              <a:t>Restricciones</a:t>
            </a:r>
            <a:r>
              <a:rPr dirty="0" sz="2400" spc="-25">
                <a:solidFill>
                  <a:srgbClr val="4E3629"/>
                </a:solidFill>
                <a:latin typeface="Calibri"/>
                <a:cs typeface="Calibri"/>
              </a:rPr>
              <a:t> </a:t>
            </a:r>
            <a:r>
              <a:rPr dirty="0" sz="2400" spc="-10">
                <a:solidFill>
                  <a:srgbClr val="4E3629"/>
                </a:solidFill>
                <a:latin typeface="Calibri"/>
                <a:cs typeface="Calibri"/>
              </a:rPr>
              <a:t>UNIQUE</a:t>
            </a:r>
            <a:endParaRPr sz="2400">
              <a:latin typeface="Calibri"/>
              <a:cs typeface="Calibri"/>
            </a:endParaRPr>
          </a:p>
          <a:p>
            <a:pPr marL="355600">
              <a:lnSpc>
                <a:spcPct val="100000"/>
              </a:lnSpc>
              <a:spcBef>
                <a:spcPts val="120"/>
              </a:spcBef>
            </a:pPr>
            <a:r>
              <a:rPr dirty="0" sz="2400">
                <a:solidFill>
                  <a:srgbClr val="D1350F"/>
                </a:solidFill>
                <a:latin typeface="Calibri"/>
                <a:cs typeface="Calibri"/>
              </a:rPr>
              <a:t>−</a:t>
            </a:r>
            <a:r>
              <a:rPr dirty="0" sz="2400" spc="160">
                <a:solidFill>
                  <a:srgbClr val="D1350F"/>
                </a:solidFill>
                <a:latin typeface="Calibri"/>
                <a:cs typeface="Calibri"/>
              </a:rPr>
              <a:t> </a:t>
            </a:r>
            <a:r>
              <a:rPr dirty="0" sz="2400" spc="-10">
                <a:solidFill>
                  <a:srgbClr val="4E3629"/>
                </a:solidFill>
                <a:latin typeface="Calibri"/>
                <a:cs typeface="Calibri"/>
              </a:rPr>
              <a:t>Restricciones</a:t>
            </a:r>
            <a:r>
              <a:rPr dirty="0" sz="2400" spc="-45">
                <a:solidFill>
                  <a:srgbClr val="4E3629"/>
                </a:solidFill>
                <a:latin typeface="Calibri"/>
                <a:cs typeface="Calibri"/>
              </a:rPr>
              <a:t> </a:t>
            </a:r>
            <a:r>
              <a:rPr dirty="0" sz="2400">
                <a:solidFill>
                  <a:srgbClr val="4E3629"/>
                </a:solidFill>
                <a:latin typeface="Calibri"/>
                <a:cs typeface="Calibri"/>
              </a:rPr>
              <a:t>PRIMARY</a:t>
            </a:r>
            <a:r>
              <a:rPr dirty="0" sz="2400" spc="-40">
                <a:solidFill>
                  <a:srgbClr val="4E3629"/>
                </a:solidFill>
                <a:latin typeface="Calibri"/>
                <a:cs typeface="Calibri"/>
              </a:rPr>
              <a:t> </a:t>
            </a:r>
            <a:r>
              <a:rPr dirty="0" sz="2400" spc="-25">
                <a:solidFill>
                  <a:srgbClr val="4E3629"/>
                </a:solidFill>
                <a:latin typeface="Calibri"/>
                <a:cs typeface="Calibri"/>
              </a:rPr>
              <a:t>KEY</a:t>
            </a:r>
            <a:endParaRPr sz="2400">
              <a:latin typeface="Calibri"/>
              <a:cs typeface="Calibri"/>
            </a:endParaRPr>
          </a:p>
          <a:p>
            <a:pPr marL="355600">
              <a:lnSpc>
                <a:spcPct val="100000"/>
              </a:lnSpc>
              <a:spcBef>
                <a:spcPts val="105"/>
              </a:spcBef>
            </a:pPr>
            <a:r>
              <a:rPr dirty="0" sz="2400">
                <a:solidFill>
                  <a:srgbClr val="D1350F"/>
                </a:solidFill>
                <a:latin typeface="Calibri"/>
                <a:cs typeface="Calibri"/>
              </a:rPr>
              <a:t>−</a:t>
            </a:r>
            <a:r>
              <a:rPr dirty="0" sz="2400" spc="150">
                <a:solidFill>
                  <a:srgbClr val="D1350F"/>
                </a:solidFill>
                <a:latin typeface="Calibri"/>
                <a:cs typeface="Calibri"/>
              </a:rPr>
              <a:t> </a:t>
            </a:r>
            <a:r>
              <a:rPr dirty="0" sz="2400" spc="-10">
                <a:solidFill>
                  <a:srgbClr val="4E3629"/>
                </a:solidFill>
                <a:latin typeface="Calibri"/>
                <a:cs typeface="Calibri"/>
              </a:rPr>
              <a:t>Restricciones</a:t>
            </a:r>
            <a:r>
              <a:rPr dirty="0" sz="2400" spc="-45">
                <a:solidFill>
                  <a:srgbClr val="4E3629"/>
                </a:solidFill>
                <a:latin typeface="Calibri"/>
                <a:cs typeface="Calibri"/>
              </a:rPr>
              <a:t> </a:t>
            </a:r>
            <a:r>
              <a:rPr dirty="0" sz="2400">
                <a:solidFill>
                  <a:srgbClr val="4E3629"/>
                </a:solidFill>
                <a:latin typeface="Calibri"/>
                <a:cs typeface="Calibri"/>
              </a:rPr>
              <a:t>FOREIGN</a:t>
            </a:r>
            <a:r>
              <a:rPr dirty="0" sz="2400" spc="-40">
                <a:solidFill>
                  <a:srgbClr val="4E3629"/>
                </a:solidFill>
                <a:latin typeface="Calibri"/>
                <a:cs typeface="Calibri"/>
              </a:rPr>
              <a:t> </a:t>
            </a:r>
            <a:r>
              <a:rPr dirty="0" sz="2400" spc="-25">
                <a:solidFill>
                  <a:srgbClr val="4E3629"/>
                </a:solidFill>
                <a:latin typeface="Calibri"/>
                <a:cs typeface="Calibri"/>
              </a:rPr>
              <a:t>KEY</a:t>
            </a:r>
            <a:endParaRPr sz="2400">
              <a:latin typeface="Calibri"/>
              <a:cs typeface="Calibri"/>
            </a:endParaRPr>
          </a:p>
          <a:p>
            <a:pPr marL="355600">
              <a:lnSpc>
                <a:spcPct val="100000"/>
              </a:lnSpc>
              <a:spcBef>
                <a:spcPts val="110"/>
              </a:spcBef>
            </a:pPr>
            <a:r>
              <a:rPr dirty="0" sz="2400">
                <a:solidFill>
                  <a:srgbClr val="D1350F"/>
                </a:solidFill>
                <a:latin typeface="Calibri"/>
                <a:cs typeface="Calibri"/>
              </a:rPr>
              <a:t>−</a:t>
            </a:r>
            <a:r>
              <a:rPr dirty="0" sz="2400" spc="185">
                <a:solidFill>
                  <a:srgbClr val="D1350F"/>
                </a:solidFill>
                <a:latin typeface="Calibri"/>
                <a:cs typeface="Calibri"/>
              </a:rPr>
              <a:t> </a:t>
            </a:r>
            <a:r>
              <a:rPr dirty="0" sz="2400" spc="-10">
                <a:solidFill>
                  <a:srgbClr val="4E3629"/>
                </a:solidFill>
                <a:latin typeface="Calibri"/>
                <a:cs typeface="Calibri"/>
              </a:rPr>
              <a:t>Restricciones</a:t>
            </a:r>
            <a:r>
              <a:rPr dirty="0" sz="2400" spc="-25">
                <a:solidFill>
                  <a:srgbClr val="4E3629"/>
                </a:solidFill>
                <a:latin typeface="Calibri"/>
                <a:cs typeface="Calibri"/>
              </a:rPr>
              <a:t> </a:t>
            </a:r>
            <a:r>
              <a:rPr dirty="0" sz="2400" spc="-20">
                <a:solidFill>
                  <a:srgbClr val="4E3629"/>
                </a:solidFill>
                <a:latin typeface="Calibri"/>
                <a:cs typeface="Calibri"/>
              </a:rPr>
              <a:t>CHECK</a:t>
            </a:r>
            <a:endParaRPr sz="24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3" name="object 3" descr=""/>
          <p:cNvSpPr/>
          <p:nvPr/>
        </p:nvSpPr>
        <p:spPr>
          <a:xfrm>
            <a:off x="1538475" y="4366435"/>
            <a:ext cx="549910" cy="380365"/>
          </a:xfrm>
          <a:custGeom>
            <a:avLst/>
            <a:gdLst/>
            <a:ahLst/>
            <a:cxnLst/>
            <a:rect l="l" t="t" r="r" b="b"/>
            <a:pathLst>
              <a:path w="549910" h="380364">
                <a:moveTo>
                  <a:pt x="454482" y="0"/>
                </a:moveTo>
                <a:lnTo>
                  <a:pt x="95022" y="0"/>
                </a:lnTo>
                <a:lnTo>
                  <a:pt x="66895" y="10642"/>
                </a:lnTo>
                <a:lnTo>
                  <a:pt x="41049" y="39529"/>
                </a:lnTo>
                <a:lnTo>
                  <a:pt x="19764" y="82099"/>
                </a:lnTo>
                <a:lnTo>
                  <a:pt x="5321" y="133791"/>
                </a:lnTo>
                <a:lnTo>
                  <a:pt x="0" y="190045"/>
                </a:lnTo>
                <a:lnTo>
                  <a:pt x="5321" y="246298"/>
                </a:lnTo>
                <a:lnTo>
                  <a:pt x="19764" y="297991"/>
                </a:lnTo>
                <a:lnTo>
                  <a:pt x="41049" y="340561"/>
                </a:lnTo>
                <a:lnTo>
                  <a:pt x="66895" y="369448"/>
                </a:lnTo>
                <a:lnTo>
                  <a:pt x="95022" y="380090"/>
                </a:lnTo>
                <a:lnTo>
                  <a:pt x="454482" y="380090"/>
                </a:lnTo>
                <a:lnTo>
                  <a:pt x="508455" y="340561"/>
                </a:lnTo>
                <a:lnTo>
                  <a:pt x="529740" y="297991"/>
                </a:lnTo>
                <a:lnTo>
                  <a:pt x="544183" y="246298"/>
                </a:lnTo>
                <a:lnTo>
                  <a:pt x="549504" y="190045"/>
                </a:lnTo>
                <a:lnTo>
                  <a:pt x="544183" y="133791"/>
                </a:lnTo>
                <a:lnTo>
                  <a:pt x="529740" y="82099"/>
                </a:lnTo>
                <a:lnTo>
                  <a:pt x="508455" y="39529"/>
                </a:lnTo>
                <a:lnTo>
                  <a:pt x="482608" y="10642"/>
                </a:lnTo>
                <a:lnTo>
                  <a:pt x="454482" y="0"/>
                </a:lnTo>
                <a:close/>
              </a:path>
            </a:pathLst>
          </a:custGeom>
          <a:solidFill>
            <a:srgbClr val="FACD5A"/>
          </a:solidFill>
        </p:spPr>
        <p:txBody>
          <a:bodyPr wrap="square" lIns="0" tIns="0" rIns="0" bIns="0" rtlCol="0"/>
          <a:lstStyle/>
          <a:p/>
        </p:txBody>
      </p:sp>
      <p:pic>
        <p:nvPicPr>
          <p:cNvPr id="4" name="object 4" descr=""/>
          <p:cNvPicPr/>
          <p:nvPr/>
        </p:nvPicPr>
        <p:blipFill>
          <a:blip r:embed="rId2" cstate="print"/>
          <a:stretch>
            <a:fillRect/>
          </a:stretch>
        </p:blipFill>
        <p:spPr>
          <a:xfrm>
            <a:off x="0" y="0"/>
            <a:ext cx="9144000" cy="254507"/>
          </a:xfrm>
          <a:prstGeom prst="rect">
            <a:avLst/>
          </a:prstGeom>
        </p:spPr>
      </p:pic>
      <p:pic>
        <p:nvPicPr>
          <p:cNvPr id="5" name="object 5" descr=""/>
          <p:cNvPicPr/>
          <p:nvPr/>
        </p:nvPicPr>
        <p:blipFill>
          <a:blip r:embed="rId3" cstate="print"/>
          <a:stretch>
            <a:fillRect/>
          </a:stretch>
        </p:blipFill>
        <p:spPr>
          <a:xfrm>
            <a:off x="405384" y="6178295"/>
            <a:ext cx="1258824" cy="420624"/>
          </a:xfrm>
          <a:prstGeom prst="rect">
            <a:avLst/>
          </a:prstGeom>
        </p:spPr>
      </p:pic>
      <p:sp>
        <p:nvSpPr>
          <p:cNvPr id="6" name="object 6"/>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Restricción</a:t>
            </a:r>
            <a:r>
              <a:rPr dirty="0" spc="-105"/>
              <a:t> </a:t>
            </a:r>
            <a:r>
              <a:rPr dirty="0"/>
              <a:t>NOT</a:t>
            </a:r>
            <a:r>
              <a:rPr dirty="0" spc="-120"/>
              <a:t> </a:t>
            </a:r>
            <a:r>
              <a:rPr dirty="0" spc="-20"/>
              <a:t>NULL</a:t>
            </a:r>
          </a:p>
        </p:txBody>
      </p:sp>
      <p:sp>
        <p:nvSpPr>
          <p:cNvPr id="8" name="object 8"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24</a:t>
            </a: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p:nvPr/>
        </p:nvSpPr>
        <p:spPr>
          <a:xfrm>
            <a:off x="483552" y="1381889"/>
            <a:ext cx="8000365" cy="4511675"/>
          </a:xfrm>
          <a:prstGeom prst="rect">
            <a:avLst/>
          </a:prstGeom>
        </p:spPr>
        <p:txBody>
          <a:bodyPr wrap="square" lIns="0" tIns="97155" rIns="0" bIns="0" rtlCol="0" vert="horz">
            <a:spAutoFit/>
          </a:bodyPr>
          <a:lstStyle/>
          <a:p>
            <a:pPr marL="159385" marR="273685" indent="-147320">
              <a:lnSpc>
                <a:spcPct val="80000"/>
              </a:lnSpc>
              <a:spcBef>
                <a:spcPts val="765"/>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9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definida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con</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restricción</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NOT</a:t>
            </a:r>
            <a:r>
              <a:rPr dirty="0" u="heavy" sz="2800" spc="-6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NULL</a:t>
            </a:r>
            <a:r>
              <a:rPr dirty="0" sz="2800" spc="-20">
                <a:solidFill>
                  <a:srgbClr val="4E3629"/>
                </a:solidFill>
                <a:latin typeface="Calibri"/>
                <a:cs typeface="Calibri"/>
              </a:rPr>
              <a:t> </a:t>
            </a:r>
            <a:r>
              <a:rPr dirty="0" sz="2800" spc="-20">
                <a:solidFill>
                  <a:srgbClr val="4E3629"/>
                </a:solidFill>
                <a:latin typeface="Calibri"/>
                <a:cs typeface="Calibri"/>
              </a:rPr>
              <a:t>	</a:t>
            </a:r>
            <a:r>
              <a:rPr dirty="0" u="heavy" sz="2800">
                <a:solidFill>
                  <a:srgbClr val="4E3629"/>
                </a:solidFill>
                <a:uFill>
                  <a:solidFill>
                    <a:srgbClr val="EC2814"/>
                  </a:solidFill>
                </a:uFill>
                <a:latin typeface="Calibri"/>
                <a:cs typeface="Calibri"/>
              </a:rPr>
              <a:t>necesita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cada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fila</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introducida </a:t>
            </a:r>
            <a:r>
              <a:rPr dirty="0" u="heavy" sz="2800">
                <a:solidFill>
                  <a:srgbClr val="4E3629"/>
                </a:solidFill>
                <a:uFill>
                  <a:solidFill>
                    <a:srgbClr val="EC2814"/>
                  </a:solidFill>
                </a:uFill>
                <a:latin typeface="Calibri"/>
                <a:cs typeface="Calibri"/>
              </a:rPr>
              <a:t>en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tabla,</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debe</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existir</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para</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dicha</a:t>
            </a:r>
            <a:r>
              <a:rPr dirty="0" u="heavy" sz="2800" spc="-6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columna</a:t>
            </a:r>
            <a:endParaRPr sz="2800">
              <a:latin typeface="Calibri"/>
              <a:cs typeface="Calibri"/>
            </a:endParaRPr>
          </a:p>
          <a:p>
            <a:pPr marL="182880" marR="417195" indent="-170815">
              <a:lnSpc>
                <a:spcPct val="80000"/>
              </a:lnSpc>
              <a:spcBef>
                <a:spcPts val="810"/>
              </a:spcBef>
              <a:buClr>
                <a:srgbClr val="D1350F"/>
              </a:buClr>
              <a:buFont typeface="Arial MT"/>
              <a:buChar char="•"/>
              <a:tabLst>
                <a:tab pos="184785" algn="l"/>
              </a:tabLst>
            </a:pPr>
            <a:r>
              <a:rPr dirty="0" sz="2800">
                <a:solidFill>
                  <a:srgbClr val="4E3629"/>
                </a:solidFill>
                <a:latin typeface="Calibri"/>
                <a:cs typeface="Calibri"/>
              </a:rPr>
              <a:t>Por</a:t>
            </a:r>
            <a:r>
              <a:rPr dirty="0" sz="2800" spc="-70">
                <a:solidFill>
                  <a:srgbClr val="4E3629"/>
                </a:solidFill>
                <a:latin typeface="Calibri"/>
                <a:cs typeface="Calibri"/>
              </a:rPr>
              <a:t> </a:t>
            </a:r>
            <a:r>
              <a:rPr dirty="0" sz="2800">
                <a:solidFill>
                  <a:srgbClr val="4E3629"/>
                </a:solidFill>
                <a:latin typeface="Calibri"/>
                <a:cs typeface="Calibri"/>
              </a:rPr>
              <a:t>ejemplo,</a:t>
            </a:r>
            <a:r>
              <a:rPr dirty="0" sz="2800" spc="-55">
                <a:solidFill>
                  <a:srgbClr val="4E3629"/>
                </a:solidFill>
                <a:latin typeface="Calibri"/>
                <a:cs typeface="Calibri"/>
              </a:rPr>
              <a:t> </a:t>
            </a:r>
            <a:r>
              <a:rPr dirty="0" sz="2800">
                <a:solidFill>
                  <a:srgbClr val="4E3629"/>
                </a:solidFill>
                <a:latin typeface="Calibri"/>
                <a:cs typeface="Calibri"/>
              </a:rPr>
              <a:t>si</a:t>
            </a:r>
            <a:r>
              <a:rPr dirty="0" sz="2800" spc="-70">
                <a:solidFill>
                  <a:srgbClr val="4E3629"/>
                </a:solidFill>
                <a:latin typeface="Calibri"/>
                <a:cs typeface="Calibri"/>
              </a:rPr>
              <a:t> </a:t>
            </a: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columna</a:t>
            </a:r>
            <a:r>
              <a:rPr dirty="0" sz="2800" spc="-5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correo</a:t>
            </a:r>
            <a:r>
              <a:rPr dirty="0" sz="2800" spc="-75">
                <a:solidFill>
                  <a:srgbClr val="4E3629"/>
                </a:solidFill>
                <a:latin typeface="Calibri"/>
                <a:cs typeface="Calibri"/>
              </a:rPr>
              <a:t> </a:t>
            </a:r>
            <a:r>
              <a:rPr dirty="0" sz="2800" spc="-10">
                <a:solidFill>
                  <a:srgbClr val="4E3629"/>
                </a:solidFill>
                <a:latin typeface="Calibri"/>
                <a:cs typeface="Calibri"/>
              </a:rPr>
              <a:t>electrónico</a:t>
            </a:r>
            <a:r>
              <a:rPr dirty="0" sz="2800" spc="-6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a:solidFill>
                  <a:srgbClr val="4E3629"/>
                </a:solidFill>
                <a:latin typeface="Calibri"/>
                <a:cs typeface="Calibri"/>
              </a:rPr>
              <a:t>tabla</a:t>
            </a:r>
            <a:r>
              <a:rPr dirty="0" sz="2800" spc="-5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empleados</a:t>
            </a:r>
            <a:r>
              <a:rPr dirty="0" sz="2800" spc="-45">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a:solidFill>
                  <a:srgbClr val="4E3629"/>
                </a:solidFill>
                <a:latin typeface="Calibri"/>
                <a:cs typeface="Calibri"/>
              </a:rPr>
              <a:t>ha</a:t>
            </a:r>
            <a:r>
              <a:rPr dirty="0" sz="2800" spc="-65">
                <a:solidFill>
                  <a:srgbClr val="4E3629"/>
                </a:solidFill>
                <a:latin typeface="Calibri"/>
                <a:cs typeface="Calibri"/>
              </a:rPr>
              <a:t> </a:t>
            </a:r>
            <a:r>
              <a:rPr dirty="0" sz="2800">
                <a:solidFill>
                  <a:srgbClr val="4E3629"/>
                </a:solidFill>
                <a:latin typeface="Calibri"/>
                <a:cs typeface="Calibri"/>
              </a:rPr>
              <a:t>definido</a:t>
            </a:r>
            <a:r>
              <a:rPr dirty="0" sz="2800" spc="-35">
                <a:solidFill>
                  <a:srgbClr val="4E3629"/>
                </a:solidFill>
                <a:latin typeface="Calibri"/>
                <a:cs typeface="Calibri"/>
              </a:rPr>
              <a:t> </a:t>
            </a:r>
            <a:r>
              <a:rPr dirty="0" sz="2800">
                <a:solidFill>
                  <a:srgbClr val="4E3629"/>
                </a:solidFill>
                <a:latin typeface="Calibri"/>
                <a:cs typeface="Calibri"/>
              </a:rPr>
              <a:t>como</a:t>
            </a:r>
            <a:r>
              <a:rPr dirty="0" sz="2800" spc="-70">
                <a:solidFill>
                  <a:srgbClr val="4E3629"/>
                </a:solidFill>
                <a:latin typeface="Calibri"/>
                <a:cs typeface="Calibri"/>
              </a:rPr>
              <a:t> </a:t>
            </a:r>
            <a:r>
              <a:rPr dirty="0" sz="2800" spc="-25">
                <a:solidFill>
                  <a:srgbClr val="4E3629"/>
                </a:solidFill>
                <a:latin typeface="Calibri"/>
                <a:cs typeface="Calibri"/>
              </a:rPr>
              <a:t>NOT </a:t>
            </a:r>
            <a:r>
              <a:rPr dirty="0" sz="2800" spc="-25">
                <a:solidFill>
                  <a:srgbClr val="4E3629"/>
                </a:solidFill>
                <a:latin typeface="Calibri"/>
                <a:cs typeface="Calibri"/>
              </a:rPr>
              <a:t>	</a:t>
            </a:r>
            <a:r>
              <a:rPr dirty="0" sz="2800">
                <a:solidFill>
                  <a:srgbClr val="4E3629"/>
                </a:solidFill>
                <a:latin typeface="Calibri"/>
                <a:cs typeface="Calibri"/>
              </a:rPr>
              <a:t>NULL,</a:t>
            </a:r>
            <a:r>
              <a:rPr dirty="0" sz="2800" spc="-45">
                <a:solidFill>
                  <a:srgbClr val="4E3629"/>
                </a:solidFill>
                <a:latin typeface="Calibri"/>
                <a:cs typeface="Calibri"/>
              </a:rPr>
              <a:t> </a:t>
            </a:r>
            <a:r>
              <a:rPr dirty="0" sz="2800">
                <a:solidFill>
                  <a:srgbClr val="4E3629"/>
                </a:solidFill>
                <a:latin typeface="Calibri"/>
                <a:cs typeface="Calibri"/>
              </a:rPr>
              <a:t>cada</a:t>
            </a:r>
            <a:r>
              <a:rPr dirty="0" sz="2800" spc="-50">
                <a:solidFill>
                  <a:srgbClr val="4E3629"/>
                </a:solidFill>
                <a:latin typeface="Calibri"/>
                <a:cs typeface="Calibri"/>
              </a:rPr>
              <a:t> </a:t>
            </a:r>
            <a:r>
              <a:rPr dirty="0" sz="2800">
                <a:solidFill>
                  <a:srgbClr val="4E3629"/>
                </a:solidFill>
                <a:latin typeface="Calibri"/>
                <a:cs typeface="Calibri"/>
              </a:rPr>
              <a:t>empleado</a:t>
            </a:r>
            <a:r>
              <a:rPr dirty="0" sz="2800" spc="-40">
                <a:solidFill>
                  <a:srgbClr val="4E3629"/>
                </a:solidFill>
                <a:latin typeface="Calibri"/>
                <a:cs typeface="Calibri"/>
              </a:rPr>
              <a:t> </a:t>
            </a:r>
            <a:r>
              <a:rPr dirty="0" sz="2800" spc="-10">
                <a:solidFill>
                  <a:srgbClr val="4E3629"/>
                </a:solidFill>
                <a:latin typeface="Calibri"/>
                <a:cs typeface="Calibri"/>
              </a:rPr>
              <a:t>introducido</a:t>
            </a:r>
            <a:r>
              <a:rPr dirty="0" sz="2800" spc="5">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tabla</a:t>
            </a:r>
            <a:r>
              <a:rPr dirty="0" sz="2800" spc="-50">
                <a:solidFill>
                  <a:srgbClr val="4E3629"/>
                </a:solidFill>
                <a:latin typeface="Calibri"/>
                <a:cs typeface="Calibri"/>
              </a:rPr>
              <a:t> </a:t>
            </a:r>
            <a:r>
              <a:rPr dirty="0" sz="2800" spc="-20">
                <a:solidFill>
                  <a:srgbClr val="4E3629"/>
                </a:solidFill>
                <a:latin typeface="Calibri"/>
                <a:cs typeface="Calibri"/>
              </a:rPr>
              <a:t>DEBE </a:t>
            </a:r>
            <a:r>
              <a:rPr dirty="0" sz="2800" spc="-20">
                <a:solidFill>
                  <a:srgbClr val="4E3629"/>
                </a:solidFill>
                <a:latin typeface="Calibri"/>
                <a:cs typeface="Calibri"/>
              </a:rPr>
              <a:t>	</a:t>
            </a:r>
            <a:r>
              <a:rPr dirty="0" sz="2800">
                <a:solidFill>
                  <a:srgbClr val="4E3629"/>
                </a:solidFill>
                <a:latin typeface="Calibri"/>
                <a:cs typeface="Calibri"/>
              </a:rPr>
              <a:t>tener</a:t>
            </a:r>
            <a:r>
              <a:rPr dirty="0" sz="2800" spc="-65">
                <a:solidFill>
                  <a:srgbClr val="4E3629"/>
                </a:solidFill>
                <a:latin typeface="Calibri"/>
                <a:cs typeface="Calibri"/>
              </a:rPr>
              <a:t> </a:t>
            </a:r>
            <a:r>
              <a:rPr dirty="0" sz="2800">
                <a:solidFill>
                  <a:srgbClr val="4E3629"/>
                </a:solidFill>
                <a:latin typeface="Calibri"/>
                <a:cs typeface="Calibri"/>
              </a:rPr>
              <a:t>un</a:t>
            </a:r>
            <a:r>
              <a:rPr dirty="0" sz="2800" spc="-40">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columna</a:t>
            </a:r>
            <a:r>
              <a:rPr dirty="0" sz="2800" spc="-3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correo</a:t>
            </a:r>
            <a:r>
              <a:rPr dirty="0" sz="2800" spc="-60">
                <a:solidFill>
                  <a:srgbClr val="4E3629"/>
                </a:solidFill>
                <a:latin typeface="Calibri"/>
                <a:cs typeface="Calibri"/>
              </a:rPr>
              <a:t> </a:t>
            </a:r>
            <a:r>
              <a:rPr dirty="0" sz="2800" spc="-10">
                <a:solidFill>
                  <a:srgbClr val="4E3629"/>
                </a:solidFill>
                <a:latin typeface="Calibri"/>
                <a:cs typeface="Calibri"/>
              </a:rPr>
              <a:t>electrónico</a:t>
            </a:r>
            <a:endParaRPr sz="2800">
              <a:latin typeface="Calibri"/>
              <a:cs typeface="Calibri"/>
            </a:endParaRPr>
          </a:p>
          <a:p>
            <a:pPr marL="182880" marR="335915" indent="-170815">
              <a:lnSpc>
                <a:spcPct val="80000"/>
              </a:lnSpc>
              <a:spcBef>
                <a:spcPts val="795"/>
              </a:spcBef>
              <a:buClr>
                <a:srgbClr val="D1350F"/>
              </a:buClr>
              <a:buFont typeface="Arial MT"/>
              <a:buChar char="•"/>
              <a:tabLst>
                <a:tab pos="184785" algn="l"/>
              </a:tabLst>
            </a:pPr>
            <a:r>
              <a:rPr dirty="0" sz="2800">
                <a:solidFill>
                  <a:srgbClr val="4E3629"/>
                </a:solidFill>
                <a:latin typeface="Calibri"/>
                <a:cs typeface="Calibri"/>
              </a:rPr>
              <a:t>Al</a:t>
            </a:r>
            <a:r>
              <a:rPr dirty="0" sz="2800" spc="-70">
                <a:solidFill>
                  <a:srgbClr val="4E3629"/>
                </a:solidFill>
                <a:latin typeface="Calibri"/>
                <a:cs typeface="Calibri"/>
              </a:rPr>
              <a:t> </a:t>
            </a:r>
            <a:r>
              <a:rPr dirty="0" sz="2800">
                <a:solidFill>
                  <a:srgbClr val="4E3629"/>
                </a:solidFill>
                <a:latin typeface="Calibri"/>
                <a:cs typeface="Calibri"/>
              </a:rPr>
              <a:t>definir</a:t>
            </a:r>
            <a:r>
              <a:rPr dirty="0" sz="2800" spc="-60">
                <a:solidFill>
                  <a:srgbClr val="4E3629"/>
                </a:solidFill>
                <a:latin typeface="Calibri"/>
                <a:cs typeface="Calibri"/>
              </a:rPr>
              <a:t> </a:t>
            </a:r>
            <a:r>
              <a:rPr dirty="0" sz="2800">
                <a:solidFill>
                  <a:srgbClr val="4E3629"/>
                </a:solidFill>
                <a:latin typeface="Calibri"/>
                <a:cs typeface="Calibri"/>
              </a:rPr>
              <a:t>columnas</a:t>
            </a:r>
            <a:r>
              <a:rPr dirty="0" sz="2800" spc="-55">
                <a:solidFill>
                  <a:srgbClr val="4E3629"/>
                </a:solidFill>
                <a:latin typeface="Calibri"/>
                <a:cs typeface="Calibri"/>
              </a:rPr>
              <a:t> </a:t>
            </a:r>
            <a:r>
              <a:rPr dirty="0" sz="2800">
                <a:solidFill>
                  <a:srgbClr val="4E3629"/>
                </a:solidFill>
                <a:latin typeface="Calibri"/>
                <a:cs typeface="Calibri"/>
              </a:rPr>
              <a:t>NOT</a:t>
            </a:r>
            <a:r>
              <a:rPr dirty="0" sz="2800" spc="-60">
                <a:solidFill>
                  <a:srgbClr val="4E3629"/>
                </a:solidFill>
                <a:latin typeface="Calibri"/>
                <a:cs typeface="Calibri"/>
              </a:rPr>
              <a:t> </a:t>
            </a:r>
            <a:r>
              <a:rPr dirty="0" sz="2800">
                <a:solidFill>
                  <a:srgbClr val="4E3629"/>
                </a:solidFill>
                <a:latin typeface="Calibri"/>
                <a:cs typeface="Calibri"/>
              </a:rPr>
              <a:t>NULL,</a:t>
            </a:r>
            <a:r>
              <a:rPr dirty="0" sz="2800" spc="-70">
                <a:solidFill>
                  <a:srgbClr val="4E3629"/>
                </a:solidFill>
                <a:latin typeface="Calibri"/>
                <a:cs typeface="Calibri"/>
              </a:rPr>
              <a:t> </a:t>
            </a:r>
            <a:r>
              <a:rPr dirty="0" sz="2800">
                <a:solidFill>
                  <a:srgbClr val="4E3629"/>
                </a:solidFill>
                <a:latin typeface="Calibri"/>
                <a:cs typeface="Calibri"/>
              </a:rPr>
              <a:t>es</a:t>
            </a:r>
            <a:r>
              <a:rPr dirty="0" sz="2800" spc="-75">
                <a:solidFill>
                  <a:srgbClr val="4E3629"/>
                </a:solidFill>
                <a:latin typeface="Calibri"/>
                <a:cs typeface="Calibri"/>
              </a:rPr>
              <a:t> </a:t>
            </a:r>
            <a:r>
              <a:rPr dirty="0" sz="2800">
                <a:solidFill>
                  <a:srgbClr val="4E3629"/>
                </a:solidFill>
                <a:latin typeface="Calibri"/>
                <a:cs typeface="Calibri"/>
              </a:rPr>
              <a:t>habitual</a:t>
            </a:r>
            <a:r>
              <a:rPr dirty="0" sz="2800" spc="-50">
                <a:solidFill>
                  <a:srgbClr val="4E3629"/>
                </a:solidFill>
                <a:latin typeface="Calibri"/>
                <a:cs typeface="Calibri"/>
              </a:rPr>
              <a:t> </a:t>
            </a:r>
            <a:r>
              <a:rPr dirty="0" sz="2800">
                <a:solidFill>
                  <a:srgbClr val="4E3629"/>
                </a:solidFill>
                <a:latin typeface="Calibri"/>
                <a:cs typeface="Calibri"/>
              </a:rPr>
              <a:t>utilizar</a:t>
            </a:r>
            <a:r>
              <a:rPr dirty="0" sz="2800" spc="-70">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sufijo</a:t>
            </a:r>
            <a:r>
              <a:rPr dirty="0" sz="2800" spc="-30">
                <a:solidFill>
                  <a:srgbClr val="4E3629"/>
                </a:solidFill>
                <a:latin typeface="Calibri"/>
                <a:cs typeface="Calibri"/>
              </a:rPr>
              <a:t> </a:t>
            </a:r>
            <a:r>
              <a:rPr dirty="0" sz="2800">
                <a:solidFill>
                  <a:srgbClr val="4E3629"/>
                </a:solidFill>
                <a:latin typeface="Calibri"/>
                <a:cs typeface="Calibri"/>
              </a:rPr>
              <a:t>_nn</a:t>
            </a:r>
            <a:r>
              <a:rPr dirty="0" sz="2800" spc="-30">
                <a:solidFill>
                  <a:srgbClr val="4E3629"/>
                </a:solidFill>
                <a:latin typeface="Calibri"/>
                <a:cs typeface="Calibri"/>
              </a:rPr>
              <a:t> </a:t>
            </a:r>
            <a:r>
              <a:rPr dirty="0" sz="2800">
                <a:solidFill>
                  <a:srgbClr val="4E3629"/>
                </a:solidFill>
                <a:latin typeface="Calibri"/>
                <a:cs typeface="Calibri"/>
              </a:rPr>
              <a:t>en</a:t>
            </a:r>
            <a:r>
              <a:rPr dirty="0" sz="2800" spc="-40">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nombre</a:t>
            </a:r>
            <a:r>
              <a:rPr dirty="0" sz="2800" spc="-2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spc="-10">
                <a:solidFill>
                  <a:srgbClr val="4E3629"/>
                </a:solidFill>
                <a:latin typeface="Calibri"/>
                <a:cs typeface="Calibri"/>
              </a:rPr>
              <a:t>restricción</a:t>
            </a:r>
            <a:endParaRPr sz="2800">
              <a:latin typeface="Calibri"/>
              <a:cs typeface="Calibri"/>
            </a:endParaRPr>
          </a:p>
          <a:p>
            <a:pPr marL="182880" marR="5080" indent="-170815">
              <a:lnSpc>
                <a:spcPct val="80000"/>
              </a:lnSpc>
              <a:spcBef>
                <a:spcPts val="805"/>
              </a:spcBef>
              <a:buClr>
                <a:srgbClr val="D1350F"/>
              </a:buClr>
              <a:buFont typeface="Arial MT"/>
              <a:buChar char="•"/>
              <a:tabLst>
                <a:tab pos="184785" algn="l"/>
              </a:tabLst>
            </a:pPr>
            <a:r>
              <a:rPr dirty="0" sz="2800">
                <a:solidFill>
                  <a:srgbClr val="4E3629"/>
                </a:solidFill>
                <a:latin typeface="Calibri"/>
                <a:cs typeface="Calibri"/>
              </a:rPr>
              <a:t>Por</a:t>
            </a:r>
            <a:r>
              <a:rPr dirty="0" sz="2800" spc="-65">
                <a:solidFill>
                  <a:srgbClr val="4E3629"/>
                </a:solidFill>
                <a:latin typeface="Calibri"/>
                <a:cs typeface="Calibri"/>
              </a:rPr>
              <a:t> </a:t>
            </a:r>
            <a:r>
              <a:rPr dirty="0" sz="2800">
                <a:solidFill>
                  <a:srgbClr val="4E3629"/>
                </a:solidFill>
                <a:latin typeface="Calibri"/>
                <a:cs typeface="Calibri"/>
              </a:rPr>
              <a:t>ejemplo,</a:t>
            </a:r>
            <a:r>
              <a:rPr dirty="0" sz="2800" spc="-55">
                <a:solidFill>
                  <a:srgbClr val="4E3629"/>
                </a:solidFill>
                <a:latin typeface="Calibri"/>
                <a:cs typeface="Calibri"/>
              </a:rPr>
              <a:t> </a:t>
            </a:r>
            <a:r>
              <a:rPr dirty="0" sz="2800">
                <a:solidFill>
                  <a:srgbClr val="4E3629"/>
                </a:solidFill>
                <a:latin typeface="Calibri"/>
                <a:cs typeface="Calibri"/>
              </a:rPr>
              <a:t>el</a:t>
            </a:r>
            <a:r>
              <a:rPr dirty="0" sz="2800" spc="-85">
                <a:solidFill>
                  <a:srgbClr val="4E3629"/>
                </a:solidFill>
                <a:latin typeface="Calibri"/>
                <a:cs typeface="Calibri"/>
              </a:rPr>
              <a:t> </a:t>
            </a:r>
            <a:r>
              <a:rPr dirty="0" sz="2800">
                <a:solidFill>
                  <a:srgbClr val="4E3629"/>
                </a:solidFill>
                <a:latin typeface="Calibri"/>
                <a:cs typeface="Calibri"/>
              </a:rPr>
              <a:t>nombre</a:t>
            </a:r>
            <a:r>
              <a:rPr dirty="0" sz="2800" spc="-5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spc="-10">
                <a:solidFill>
                  <a:srgbClr val="4E3629"/>
                </a:solidFill>
                <a:latin typeface="Calibri"/>
                <a:cs typeface="Calibri"/>
              </a:rPr>
              <a:t>restricción</a:t>
            </a:r>
            <a:r>
              <a:rPr dirty="0" sz="2800" spc="-50">
                <a:solidFill>
                  <a:srgbClr val="4E3629"/>
                </a:solidFill>
                <a:latin typeface="Calibri"/>
                <a:cs typeface="Calibri"/>
              </a:rPr>
              <a:t> </a:t>
            </a:r>
            <a:r>
              <a:rPr dirty="0" sz="2800">
                <a:solidFill>
                  <a:srgbClr val="4E3629"/>
                </a:solidFill>
                <a:latin typeface="Calibri"/>
                <a:cs typeface="Calibri"/>
              </a:rPr>
              <a:t>para</a:t>
            </a:r>
            <a:r>
              <a:rPr dirty="0" sz="2800" spc="-6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spc="-10">
                <a:solidFill>
                  <a:srgbClr val="4E3629"/>
                </a:solidFill>
                <a:latin typeface="Calibri"/>
                <a:cs typeface="Calibri"/>
              </a:rPr>
              <a:t>columna </a:t>
            </a:r>
            <a:r>
              <a:rPr dirty="0" sz="2800" spc="-1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correo</a:t>
            </a:r>
            <a:r>
              <a:rPr dirty="0" sz="2800" spc="-65">
                <a:solidFill>
                  <a:srgbClr val="4E3629"/>
                </a:solidFill>
                <a:latin typeface="Calibri"/>
                <a:cs typeface="Calibri"/>
              </a:rPr>
              <a:t> </a:t>
            </a:r>
            <a:r>
              <a:rPr dirty="0" sz="2800" spc="-10">
                <a:solidFill>
                  <a:srgbClr val="4E3629"/>
                </a:solidFill>
                <a:latin typeface="Calibri"/>
                <a:cs typeface="Calibri"/>
              </a:rPr>
              <a:t>electrónico</a:t>
            </a:r>
            <a:r>
              <a:rPr dirty="0" sz="2800" spc="-50">
                <a:solidFill>
                  <a:srgbClr val="4E3629"/>
                </a:solidFill>
                <a:latin typeface="Calibri"/>
                <a:cs typeface="Calibri"/>
              </a:rPr>
              <a:t> </a:t>
            </a:r>
            <a:r>
              <a:rPr dirty="0" sz="2800">
                <a:solidFill>
                  <a:srgbClr val="4E3629"/>
                </a:solidFill>
                <a:latin typeface="Calibri"/>
                <a:cs typeface="Calibri"/>
              </a:rPr>
              <a:t>NOT</a:t>
            </a:r>
            <a:r>
              <a:rPr dirty="0" sz="2800" spc="-60">
                <a:solidFill>
                  <a:srgbClr val="4E3629"/>
                </a:solidFill>
                <a:latin typeface="Calibri"/>
                <a:cs typeface="Calibri"/>
              </a:rPr>
              <a:t> </a:t>
            </a:r>
            <a:r>
              <a:rPr dirty="0" sz="2800">
                <a:solidFill>
                  <a:srgbClr val="4E3629"/>
                </a:solidFill>
                <a:latin typeface="Calibri"/>
                <a:cs typeface="Calibri"/>
              </a:rPr>
              <a:t>NULL</a:t>
            </a:r>
            <a:r>
              <a:rPr dirty="0" sz="2800" spc="-5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tabla</a:t>
            </a:r>
            <a:r>
              <a:rPr dirty="0" sz="2800" spc="-60">
                <a:solidFill>
                  <a:srgbClr val="4E3629"/>
                </a:solidFill>
                <a:latin typeface="Calibri"/>
                <a:cs typeface="Calibri"/>
              </a:rPr>
              <a:t> </a:t>
            </a:r>
            <a:r>
              <a:rPr dirty="0" sz="2800" spc="-35">
                <a:solidFill>
                  <a:srgbClr val="4E3629"/>
                </a:solidFill>
                <a:latin typeface="Calibri"/>
                <a:cs typeface="Calibri"/>
              </a:rPr>
              <a:t>de </a:t>
            </a:r>
            <a:r>
              <a:rPr dirty="0" sz="2800" spc="-35">
                <a:solidFill>
                  <a:srgbClr val="4E3629"/>
                </a:solidFill>
                <a:latin typeface="Calibri"/>
                <a:cs typeface="Calibri"/>
              </a:rPr>
              <a:t>	</a:t>
            </a:r>
            <a:r>
              <a:rPr dirty="0" sz="2800">
                <a:solidFill>
                  <a:srgbClr val="4E3629"/>
                </a:solidFill>
                <a:latin typeface="Calibri"/>
                <a:cs typeface="Calibri"/>
              </a:rPr>
              <a:t>empleados</a:t>
            </a:r>
            <a:r>
              <a:rPr dirty="0" sz="2800" spc="-55">
                <a:solidFill>
                  <a:srgbClr val="4E3629"/>
                </a:solidFill>
                <a:latin typeface="Calibri"/>
                <a:cs typeface="Calibri"/>
              </a:rPr>
              <a:t> </a:t>
            </a:r>
            <a:r>
              <a:rPr dirty="0" sz="2800">
                <a:solidFill>
                  <a:srgbClr val="4E3629"/>
                </a:solidFill>
                <a:latin typeface="Calibri"/>
                <a:cs typeface="Calibri"/>
              </a:rPr>
              <a:t>podría</a:t>
            </a:r>
            <a:r>
              <a:rPr dirty="0" sz="2800" spc="-50">
                <a:solidFill>
                  <a:srgbClr val="4E3629"/>
                </a:solidFill>
                <a:latin typeface="Calibri"/>
                <a:cs typeface="Calibri"/>
              </a:rPr>
              <a:t> </a:t>
            </a:r>
            <a:r>
              <a:rPr dirty="0" sz="2800">
                <a:solidFill>
                  <a:srgbClr val="4E3629"/>
                </a:solidFill>
                <a:latin typeface="Calibri"/>
                <a:cs typeface="Calibri"/>
              </a:rPr>
              <a:t>ser</a:t>
            </a:r>
            <a:r>
              <a:rPr dirty="0" sz="2800" spc="-80">
                <a:solidFill>
                  <a:srgbClr val="4E3629"/>
                </a:solidFill>
                <a:latin typeface="Calibri"/>
                <a:cs typeface="Calibri"/>
              </a:rPr>
              <a:t> </a:t>
            </a:r>
            <a:r>
              <a:rPr dirty="0" sz="2800" spc="-10">
                <a:solidFill>
                  <a:srgbClr val="4E3629"/>
                </a:solidFill>
                <a:latin typeface="Calibri"/>
                <a:cs typeface="Calibri"/>
              </a:rPr>
              <a:t>emp_email_nn</a:t>
            </a:r>
            <a:endParaRPr sz="28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Restricción</a:t>
            </a:r>
            <a:r>
              <a:rPr dirty="0" spc="-105"/>
              <a:t> </a:t>
            </a:r>
            <a:r>
              <a:rPr dirty="0" spc="-10"/>
              <a:t>UNIQUE</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25</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381889"/>
            <a:ext cx="8050530" cy="4170045"/>
          </a:xfrm>
          <a:prstGeom prst="rect">
            <a:avLst/>
          </a:prstGeom>
        </p:spPr>
        <p:txBody>
          <a:bodyPr wrap="square" lIns="0" tIns="97155" rIns="0" bIns="0" rtlCol="0" vert="horz">
            <a:spAutoFit/>
          </a:bodyPr>
          <a:lstStyle/>
          <a:p>
            <a:pPr marL="159385" marR="5080" indent="-147320">
              <a:lnSpc>
                <a:spcPct val="80000"/>
              </a:lnSpc>
              <a:spcBef>
                <a:spcPts val="765"/>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8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restricción</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UNIQUE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necesita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todos</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6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valores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de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juego</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columnas</a:t>
            </a:r>
            <a:r>
              <a:rPr dirty="0" sz="2800" spc="-30">
                <a:solidFill>
                  <a:srgbClr val="4E3629"/>
                </a:solidFill>
                <a:latin typeface="Calibri"/>
                <a:cs typeface="Calibri"/>
              </a:rPr>
              <a:t> </a:t>
            </a:r>
            <a:r>
              <a:rPr dirty="0" sz="2800" spc="-10">
                <a:solidFill>
                  <a:srgbClr val="4E3629"/>
                </a:solidFill>
                <a:latin typeface="Calibri"/>
                <a:cs typeface="Calibri"/>
              </a:rPr>
              <a:t>(clave 	compuesta)</a:t>
            </a:r>
            <a:r>
              <a:rPr dirty="0" sz="2800" spc="-30">
                <a:solidFill>
                  <a:srgbClr val="4E3629"/>
                </a:solidFill>
                <a:latin typeface="Calibri"/>
                <a:cs typeface="Calibri"/>
              </a:rPr>
              <a:t> </a:t>
            </a:r>
            <a:r>
              <a:rPr dirty="0" u="heavy" sz="2800">
                <a:solidFill>
                  <a:srgbClr val="4E3629"/>
                </a:solidFill>
                <a:uFill>
                  <a:solidFill>
                    <a:srgbClr val="EC2814"/>
                  </a:solidFill>
                </a:uFill>
                <a:latin typeface="Calibri"/>
                <a:cs typeface="Calibri"/>
              </a:rPr>
              <a:t>sean</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únicos</a:t>
            </a:r>
            <a:r>
              <a:rPr dirty="0" sz="2800">
                <a:solidFill>
                  <a:srgbClr val="4E3629"/>
                </a:solidFill>
                <a:latin typeface="Calibri"/>
                <a:cs typeface="Calibri"/>
              </a:rPr>
              <a:t>;</a:t>
            </a:r>
            <a:r>
              <a:rPr dirty="0" sz="2800" spc="-20">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spc="-30">
                <a:solidFill>
                  <a:srgbClr val="4E3629"/>
                </a:solidFill>
                <a:latin typeface="Calibri"/>
                <a:cs typeface="Calibri"/>
              </a:rPr>
              <a:t>decir,</a:t>
            </a:r>
            <a:r>
              <a:rPr dirty="0" sz="2800" spc="-55">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dos</a:t>
            </a:r>
            <a:r>
              <a:rPr dirty="0" sz="2800" spc="-40">
                <a:solidFill>
                  <a:srgbClr val="4E3629"/>
                </a:solidFill>
                <a:latin typeface="Calibri"/>
                <a:cs typeface="Calibri"/>
              </a:rPr>
              <a:t> </a:t>
            </a:r>
            <a:r>
              <a:rPr dirty="0" sz="2800">
                <a:solidFill>
                  <a:srgbClr val="4E3629"/>
                </a:solidFill>
                <a:latin typeface="Calibri"/>
                <a:cs typeface="Calibri"/>
              </a:rPr>
              <a:t>filas</a:t>
            </a:r>
            <a:r>
              <a:rPr dirty="0" sz="2800" spc="-6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a:solidFill>
                  <a:srgbClr val="4E3629"/>
                </a:solidFill>
                <a:latin typeface="Calibri"/>
                <a:cs typeface="Calibri"/>
              </a:rPr>
              <a:t>tabla</a:t>
            </a:r>
            <a:r>
              <a:rPr dirty="0" sz="2800" spc="-70">
                <a:solidFill>
                  <a:srgbClr val="4E3629"/>
                </a:solidFill>
                <a:latin typeface="Calibri"/>
                <a:cs typeface="Calibri"/>
              </a:rPr>
              <a:t> </a:t>
            </a:r>
            <a:r>
              <a:rPr dirty="0" sz="2800">
                <a:solidFill>
                  <a:srgbClr val="4E3629"/>
                </a:solidFill>
                <a:latin typeface="Calibri"/>
                <a:cs typeface="Calibri"/>
              </a:rPr>
              <a:t>no</a:t>
            </a:r>
            <a:r>
              <a:rPr dirty="0" sz="2800" spc="-60">
                <a:solidFill>
                  <a:srgbClr val="4E3629"/>
                </a:solidFill>
                <a:latin typeface="Calibri"/>
                <a:cs typeface="Calibri"/>
              </a:rPr>
              <a:t> </a:t>
            </a:r>
            <a:r>
              <a:rPr dirty="0" sz="2800">
                <a:solidFill>
                  <a:srgbClr val="4E3629"/>
                </a:solidFill>
                <a:latin typeface="Calibri"/>
                <a:cs typeface="Calibri"/>
              </a:rPr>
              <a:t>pueden</a:t>
            </a:r>
            <a:r>
              <a:rPr dirty="0" sz="2800" spc="-45">
                <a:solidFill>
                  <a:srgbClr val="4E3629"/>
                </a:solidFill>
                <a:latin typeface="Calibri"/>
                <a:cs typeface="Calibri"/>
              </a:rPr>
              <a:t> </a:t>
            </a:r>
            <a:r>
              <a:rPr dirty="0" sz="2800">
                <a:solidFill>
                  <a:srgbClr val="4E3629"/>
                </a:solidFill>
                <a:latin typeface="Calibri"/>
                <a:cs typeface="Calibri"/>
              </a:rPr>
              <a:t>tener</a:t>
            </a:r>
            <a:r>
              <a:rPr dirty="0" sz="2800" spc="-60">
                <a:solidFill>
                  <a:srgbClr val="4E3629"/>
                </a:solidFill>
                <a:latin typeface="Calibri"/>
                <a:cs typeface="Calibri"/>
              </a:rPr>
              <a:t> </a:t>
            </a:r>
            <a:r>
              <a:rPr dirty="0" sz="2800">
                <a:solidFill>
                  <a:srgbClr val="4E3629"/>
                </a:solidFill>
                <a:latin typeface="Calibri"/>
                <a:cs typeface="Calibri"/>
              </a:rPr>
              <a:t>valores</a:t>
            </a:r>
            <a:r>
              <a:rPr dirty="0" sz="2800" spc="-85">
                <a:solidFill>
                  <a:srgbClr val="4E3629"/>
                </a:solidFill>
                <a:latin typeface="Calibri"/>
                <a:cs typeface="Calibri"/>
              </a:rPr>
              <a:t> </a:t>
            </a:r>
            <a:r>
              <a:rPr dirty="0" sz="2800" spc="-10">
                <a:solidFill>
                  <a:srgbClr val="4E3629"/>
                </a:solidFill>
                <a:latin typeface="Calibri"/>
                <a:cs typeface="Calibri"/>
              </a:rPr>
              <a:t>duplicados</a:t>
            </a:r>
            <a:endParaRPr sz="2800">
              <a:latin typeface="Calibri"/>
              <a:cs typeface="Calibri"/>
            </a:endParaRPr>
          </a:p>
          <a:p>
            <a:pPr marL="182880" marR="415925" indent="-170815">
              <a:lnSpc>
                <a:spcPct val="80000"/>
              </a:lnSpc>
              <a:spcBef>
                <a:spcPts val="810"/>
              </a:spcBef>
              <a:buClr>
                <a:srgbClr val="D1350F"/>
              </a:buClr>
              <a:buFont typeface="Arial MT"/>
              <a:buChar char="•"/>
              <a:tabLst>
                <a:tab pos="184785" algn="l"/>
              </a:tabLst>
            </a:pPr>
            <a:r>
              <a:rPr dirty="0" sz="2800">
                <a:solidFill>
                  <a:srgbClr val="4E3629"/>
                </a:solidFill>
                <a:latin typeface="Calibri"/>
                <a:cs typeface="Calibri"/>
              </a:rPr>
              <a:t>Por</a:t>
            </a:r>
            <a:r>
              <a:rPr dirty="0" sz="2800" spc="-75">
                <a:solidFill>
                  <a:srgbClr val="4E3629"/>
                </a:solidFill>
                <a:latin typeface="Calibri"/>
                <a:cs typeface="Calibri"/>
              </a:rPr>
              <a:t> </a:t>
            </a:r>
            <a:r>
              <a:rPr dirty="0" sz="2800">
                <a:solidFill>
                  <a:srgbClr val="4E3629"/>
                </a:solidFill>
                <a:latin typeface="Calibri"/>
                <a:cs typeface="Calibri"/>
              </a:rPr>
              <a:t>ejemplo,</a:t>
            </a:r>
            <a:r>
              <a:rPr dirty="0" sz="2800" spc="-65">
                <a:solidFill>
                  <a:srgbClr val="4E3629"/>
                </a:solidFill>
                <a:latin typeface="Calibri"/>
                <a:cs typeface="Calibri"/>
              </a:rPr>
              <a:t> </a:t>
            </a:r>
            <a:r>
              <a:rPr dirty="0" sz="2800">
                <a:solidFill>
                  <a:srgbClr val="4E3629"/>
                </a:solidFill>
                <a:latin typeface="Calibri"/>
                <a:cs typeface="Calibri"/>
              </a:rPr>
              <a:t>puede</a:t>
            </a:r>
            <a:r>
              <a:rPr dirty="0" sz="2800" spc="-60">
                <a:solidFill>
                  <a:srgbClr val="4E3629"/>
                </a:solidFill>
                <a:latin typeface="Calibri"/>
                <a:cs typeface="Calibri"/>
              </a:rPr>
              <a:t> </a:t>
            </a:r>
            <a:r>
              <a:rPr dirty="0" sz="2800">
                <a:solidFill>
                  <a:srgbClr val="4E3629"/>
                </a:solidFill>
                <a:latin typeface="Calibri"/>
                <a:cs typeface="Calibri"/>
              </a:rPr>
              <a:t>ser</a:t>
            </a:r>
            <a:r>
              <a:rPr dirty="0" sz="2800" spc="-80">
                <a:solidFill>
                  <a:srgbClr val="4E3629"/>
                </a:solidFill>
                <a:latin typeface="Calibri"/>
                <a:cs typeface="Calibri"/>
              </a:rPr>
              <a:t> </a:t>
            </a:r>
            <a:r>
              <a:rPr dirty="0" sz="2800" spc="-10">
                <a:solidFill>
                  <a:srgbClr val="4E3629"/>
                </a:solidFill>
                <a:latin typeface="Calibri"/>
                <a:cs typeface="Calibri"/>
              </a:rPr>
              <a:t>importante</a:t>
            </a:r>
            <a:r>
              <a:rPr dirty="0" sz="2800" spc="-60">
                <a:solidFill>
                  <a:srgbClr val="4E3629"/>
                </a:solidFill>
                <a:latin typeface="Calibri"/>
                <a:cs typeface="Calibri"/>
              </a:rPr>
              <a:t> </a:t>
            </a:r>
            <a:r>
              <a:rPr dirty="0" sz="2800">
                <a:solidFill>
                  <a:srgbClr val="4E3629"/>
                </a:solidFill>
                <a:latin typeface="Calibri"/>
                <a:cs typeface="Calibri"/>
              </a:rPr>
              <a:t>para</a:t>
            </a:r>
            <a:r>
              <a:rPr dirty="0" sz="2800" spc="-75">
                <a:solidFill>
                  <a:srgbClr val="4E3629"/>
                </a:solidFill>
                <a:latin typeface="Calibri"/>
                <a:cs typeface="Calibri"/>
              </a:rPr>
              <a:t> </a:t>
            </a:r>
            <a:r>
              <a:rPr dirty="0" sz="2800">
                <a:solidFill>
                  <a:srgbClr val="4E3629"/>
                </a:solidFill>
                <a:latin typeface="Calibri"/>
                <a:cs typeface="Calibri"/>
              </a:rPr>
              <a:t>un</a:t>
            </a:r>
            <a:r>
              <a:rPr dirty="0" sz="2800" spc="-65">
                <a:solidFill>
                  <a:srgbClr val="4E3629"/>
                </a:solidFill>
                <a:latin typeface="Calibri"/>
                <a:cs typeface="Calibri"/>
              </a:rPr>
              <a:t> </a:t>
            </a:r>
            <a:r>
              <a:rPr dirty="0" sz="2800" spc="-10">
                <a:solidFill>
                  <a:srgbClr val="4E3629"/>
                </a:solidFill>
                <a:latin typeface="Calibri"/>
                <a:cs typeface="Calibri"/>
              </a:rPr>
              <a:t>negocio 	garantizar</a:t>
            </a:r>
            <a:r>
              <a:rPr dirty="0" sz="2800" spc="-90">
                <a:solidFill>
                  <a:srgbClr val="4E3629"/>
                </a:solidFill>
                <a:latin typeface="Calibri"/>
                <a:cs typeface="Calibri"/>
              </a:rPr>
              <a:t> </a:t>
            </a:r>
            <a:r>
              <a:rPr dirty="0" sz="2800">
                <a:solidFill>
                  <a:srgbClr val="4E3629"/>
                </a:solidFill>
                <a:latin typeface="Calibri"/>
                <a:cs typeface="Calibri"/>
              </a:rPr>
              <a:t>que</a:t>
            </a:r>
            <a:r>
              <a:rPr dirty="0" sz="2800" spc="-55">
                <a:solidFill>
                  <a:srgbClr val="4E3629"/>
                </a:solidFill>
                <a:latin typeface="Calibri"/>
                <a:cs typeface="Calibri"/>
              </a:rPr>
              <a:t> </a:t>
            </a:r>
            <a:r>
              <a:rPr dirty="0" sz="2800">
                <a:solidFill>
                  <a:srgbClr val="4E3629"/>
                </a:solidFill>
                <a:latin typeface="Calibri"/>
                <a:cs typeface="Calibri"/>
              </a:rPr>
              <a:t>no</a:t>
            </a:r>
            <a:r>
              <a:rPr dirty="0" sz="2800" spc="-60">
                <a:solidFill>
                  <a:srgbClr val="4E3629"/>
                </a:solidFill>
                <a:latin typeface="Calibri"/>
                <a:cs typeface="Calibri"/>
              </a:rPr>
              <a:t> </a:t>
            </a:r>
            <a:r>
              <a:rPr dirty="0" sz="2800">
                <a:solidFill>
                  <a:srgbClr val="4E3629"/>
                </a:solidFill>
                <a:latin typeface="Calibri"/>
                <a:cs typeface="Calibri"/>
              </a:rPr>
              <a:t>hay</a:t>
            </a:r>
            <a:r>
              <a:rPr dirty="0" sz="2800" spc="-80">
                <a:solidFill>
                  <a:srgbClr val="4E3629"/>
                </a:solidFill>
                <a:latin typeface="Calibri"/>
                <a:cs typeface="Calibri"/>
              </a:rPr>
              <a:t> </a:t>
            </a:r>
            <a:r>
              <a:rPr dirty="0" sz="2800">
                <a:solidFill>
                  <a:srgbClr val="4E3629"/>
                </a:solidFill>
                <a:latin typeface="Calibri"/>
                <a:cs typeface="Calibri"/>
              </a:rPr>
              <a:t>dos</a:t>
            </a:r>
            <a:r>
              <a:rPr dirty="0" sz="2800" spc="-50">
                <a:solidFill>
                  <a:srgbClr val="4E3629"/>
                </a:solidFill>
                <a:latin typeface="Calibri"/>
                <a:cs typeface="Calibri"/>
              </a:rPr>
              <a:t> </a:t>
            </a:r>
            <a:r>
              <a:rPr dirty="0" sz="2800">
                <a:solidFill>
                  <a:srgbClr val="4E3629"/>
                </a:solidFill>
                <a:latin typeface="Calibri"/>
                <a:cs typeface="Calibri"/>
              </a:rPr>
              <a:t>personas</a:t>
            </a:r>
            <a:r>
              <a:rPr dirty="0" sz="2800" spc="-55">
                <a:solidFill>
                  <a:srgbClr val="4E3629"/>
                </a:solidFill>
                <a:latin typeface="Calibri"/>
                <a:cs typeface="Calibri"/>
              </a:rPr>
              <a:t> </a:t>
            </a:r>
            <a:r>
              <a:rPr dirty="0" sz="2800">
                <a:solidFill>
                  <a:srgbClr val="4E3629"/>
                </a:solidFill>
                <a:latin typeface="Calibri"/>
                <a:cs typeface="Calibri"/>
              </a:rPr>
              <a:t>que</a:t>
            </a:r>
            <a:r>
              <a:rPr dirty="0" sz="2800" spc="-50">
                <a:solidFill>
                  <a:srgbClr val="4E3629"/>
                </a:solidFill>
                <a:latin typeface="Calibri"/>
                <a:cs typeface="Calibri"/>
              </a:rPr>
              <a:t> </a:t>
            </a:r>
            <a:r>
              <a:rPr dirty="0" sz="2800">
                <a:solidFill>
                  <a:srgbClr val="4E3629"/>
                </a:solidFill>
                <a:latin typeface="Calibri"/>
                <a:cs typeface="Calibri"/>
              </a:rPr>
              <a:t>tengan</a:t>
            </a:r>
            <a:r>
              <a:rPr dirty="0" sz="2800" spc="-9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misma</a:t>
            </a:r>
            <a:r>
              <a:rPr dirty="0" sz="2800" spc="-80">
                <a:solidFill>
                  <a:srgbClr val="4E3629"/>
                </a:solidFill>
                <a:latin typeface="Calibri"/>
                <a:cs typeface="Calibri"/>
              </a:rPr>
              <a:t> </a:t>
            </a:r>
            <a:r>
              <a:rPr dirty="0" sz="2800">
                <a:solidFill>
                  <a:srgbClr val="4E3629"/>
                </a:solidFill>
                <a:latin typeface="Calibri"/>
                <a:cs typeface="Calibri"/>
              </a:rPr>
              <a:t>dirección</a:t>
            </a:r>
            <a:r>
              <a:rPr dirty="0" sz="2800" spc="-75">
                <a:solidFill>
                  <a:srgbClr val="4E3629"/>
                </a:solidFill>
                <a:latin typeface="Calibri"/>
                <a:cs typeface="Calibri"/>
              </a:rPr>
              <a:t> </a:t>
            </a:r>
            <a:r>
              <a:rPr dirty="0" sz="2800">
                <a:solidFill>
                  <a:srgbClr val="4E3629"/>
                </a:solidFill>
                <a:latin typeface="Calibri"/>
                <a:cs typeface="Calibri"/>
              </a:rPr>
              <a:t>de</a:t>
            </a:r>
            <a:r>
              <a:rPr dirty="0" sz="2800" spc="-80">
                <a:solidFill>
                  <a:srgbClr val="4E3629"/>
                </a:solidFill>
                <a:latin typeface="Calibri"/>
                <a:cs typeface="Calibri"/>
              </a:rPr>
              <a:t> </a:t>
            </a:r>
            <a:r>
              <a:rPr dirty="0" sz="2800">
                <a:solidFill>
                  <a:srgbClr val="4E3629"/>
                </a:solidFill>
                <a:latin typeface="Calibri"/>
                <a:cs typeface="Calibri"/>
              </a:rPr>
              <a:t>correo</a:t>
            </a:r>
            <a:r>
              <a:rPr dirty="0" sz="2800" spc="-85">
                <a:solidFill>
                  <a:srgbClr val="4E3629"/>
                </a:solidFill>
                <a:latin typeface="Calibri"/>
                <a:cs typeface="Calibri"/>
              </a:rPr>
              <a:t> </a:t>
            </a:r>
            <a:r>
              <a:rPr dirty="0" sz="2800" spc="-10">
                <a:solidFill>
                  <a:srgbClr val="4E3629"/>
                </a:solidFill>
                <a:latin typeface="Calibri"/>
                <a:cs typeface="Calibri"/>
              </a:rPr>
              <a:t>electrónico</a:t>
            </a:r>
            <a:endParaRPr sz="2800">
              <a:latin typeface="Calibri"/>
              <a:cs typeface="Calibri"/>
            </a:endParaRPr>
          </a:p>
          <a:p>
            <a:pPr marL="182880" marR="36195" indent="-170815">
              <a:lnSpc>
                <a:spcPct val="80000"/>
              </a:lnSpc>
              <a:spcBef>
                <a:spcPts val="795"/>
              </a:spcBef>
              <a:buClr>
                <a:srgbClr val="D1350F"/>
              </a:buClr>
              <a:buFont typeface="Arial MT"/>
              <a:buChar char="•"/>
              <a:tabLst>
                <a:tab pos="184785" algn="l"/>
              </a:tabLst>
            </a:pP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columna</a:t>
            </a:r>
            <a:r>
              <a:rPr dirty="0" sz="2800" spc="-3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correo</a:t>
            </a:r>
            <a:r>
              <a:rPr dirty="0" sz="2800" spc="-65">
                <a:solidFill>
                  <a:srgbClr val="4E3629"/>
                </a:solidFill>
                <a:latin typeface="Calibri"/>
                <a:cs typeface="Calibri"/>
              </a:rPr>
              <a:t> </a:t>
            </a:r>
            <a:r>
              <a:rPr dirty="0" sz="2800" spc="-10">
                <a:solidFill>
                  <a:srgbClr val="4E3629"/>
                </a:solidFill>
                <a:latin typeface="Calibri"/>
                <a:cs typeface="Calibri"/>
              </a:rPr>
              <a:t>electrónico</a:t>
            </a:r>
            <a:r>
              <a:rPr dirty="0" sz="2800" spc="-50">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a:solidFill>
                  <a:srgbClr val="4E3629"/>
                </a:solidFill>
                <a:latin typeface="Calibri"/>
                <a:cs typeface="Calibri"/>
              </a:rPr>
              <a:t>puede</a:t>
            </a:r>
            <a:r>
              <a:rPr dirty="0" sz="2800" spc="-40">
                <a:solidFill>
                  <a:srgbClr val="4E3629"/>
                </a:solidFill>
                <a:latin typeface="Calibri"/>
                <a:cs typeface="Calibri"/>
              </a:rPr>
              <a:t> </a:t>
            </a:r>
            <a:r>
              <a:rPr dirty="0" sz="2800">
                <a:solidFill>
                  <a:srgbClr val="4E3629"/>
                </a:solidFill>
                <a:latin typeface="Calibri"/>
                <a:cs typeface="Calibri"/>
              </a:rPr>
              <a:t>definir</a:t>
            </a:r>
            <a:r>
              <a:rPr dirty="0" sz="2800" spc="-45">
                <a:solidFill>
                  <a:srgbClr val="4E3629"/>
                </a:solidFill>
                <a:latin typeface="Calibri"/>
                <a:cs typeface="Calibri"/>
              </a:rPr>
              <a:t> </a:t>
            </a:r>
            <a:r>
              <a:rPr dirty="0" sz="2800" spc="-25">
                <a:solidFill>
                  <a:srgbClr val="4E3629"/>
                </a:solidFill>
                <a:latin typeface="Calibri"/>
                <a:cs typeface="Calibri"/>
              </a:rPr>
              <a:t>con </a:t>
            </a:r>
            <a:r>
              <a:rPr dirty="0" sz="2800" spc="-25">
                <a:solidFill>
                  <a:srgbClr val="4E3629"/>
                </a:solidFill>
                <a:latin typeface="Calibri"/>
                <a:cs typeface="Calibri"/>
              </a:rPr>
              <a:t>	</a:t>
            </a:r>
            <a:r>
              <a:rPr dirty="0" sz="2800">
                <a:solidFill>
                  <a:srgbClr val="4E3629"/>
                </a:solidFill>
                <a:latin typeface="Calibri"/>
                <a:cs typeface="Calibri"/>
              </a:rPr>
              <a:t>una</a:t>
            </a:r>
            <a:r>
              <a:rPr dirty="0" sz="2800" spc="-55">
                <a:solidFill>
                  <a:srgbClr val="4E3629"/>
                </a:solidFill>
                <a:latin typeface="Calibri"/>
                <a:cs typeface="Calibri"/>
              </a:rPr>
              <a:t> </a:t>
            </a:r>
            <a:r>
              <a:rPr dirty="0" sz="2800" spc="-10">
                <a:solidFill>
                  <a:srgbClr val="4E3629"/>
                </a:solidFill>
                <a:latin typeface="Calibri"/>
                <a:cs typeface="Calibri"/>
              </a:rPr>
              <a:t>restricción</a:t>
            </a:r>
            <a:r>
              <a:rPr dirty="0" sz="2800" spc="-45">
                <a:solidFill>
                  <a:srgbClr val="4E3629"/>
                </a:solidFill>
                <a:latin typeface="Calibri"/>
                <a:cs typeface="Calibri"/>
              </a:rPr>
              <a:t> </a:t>
            </a:r>
            <a:r>
              <a:rPr dirty="0" sz="2800" spc="-10">
                <a:solidFill>
                  <a:srgbClr val="4E3629"/>
                </a:solidFill>
                <a:latin typeface="Calibri"/>
                <a:cs typeface="Calibri"/>
              </a:rPr>
              <a:t>UNIQUE</a:t>
            </a:r>
            <a:endParaRPr sz="2800">
              <a:latin typeface="Calibri"/>
              <a:cs typeface="Calibri"/>
            </a:endParaRPr>
          </a:p>
          <a:p>
            <a:pPr marL="182880" marR="243840" indent="-170815">
              <a:lnSpc>
                <a:spcPct val="80000"/>
              </a:lnSpc>
              <a:spcBef>
                <a:spcPts val="805"/>
              </a:spcBef>
              <a:buClr>
                <a:srgbClr val="D1350F"/>
              </a:buClr>
              <a:buFont typeface="Arial MT"/>
              <a:buChar char="•"/>
              <a:tabLst>
                <a:tab pos="184785" algn="l"/>
              </a:tabLst>
            </a:pP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columna</a:t>
            </a:r>
            <a:r>
              <a:rPr dirty="0" sz="2800" spc="-25">
                <a:solidFill>
                  <a:srgbClr val="4E3629"/>
                </a:solidFill>
                <a:latin typeface="Calibri"/>
                <a:cs typeface="Calibri"/>
              </a:rPr>
              <a:t> </a:t>
            </a:r>
            <a:r>
              <a:rPr dirty="0" sz="2800">
                <a:solidFill>
                  <a:srgbClr val="4E3629"/>
                </a:solidFill>
                <a:latin typeface="Calibri"/>
                <a:cs typeface="Calibri"/>
              </a:rPr>
              <a:t>o</a:t>
            </a:r>
            <a:r>
              <a:rPr dirty="0" sz="2800" spc="-35">
                <a:solidFill>
                  <a:srgbClr val="4E3629"/>
                </a:solidFill>
                <a:latin typeface="Calibri"/>
                <a:cs typeface="Calibri"/>
              </a:rPr>
              <a:t> </a:t>
            </a:r>
            <a:r>
              <a:rPr dirty="0" sz="2800">
                <a:solidFill>
                  <a:srgbClr val="4E3629"/>
                </a:solidFill>
                <a:latin typeface="Calibri"/>
                <a:cs typeface="Calibri"/>
              </a:rPr>
              <a:t>juego</a:t>
            </a:r>
            <a:r>
              <a:rPr dirty="0" sz="2800" spc="-5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columnas</a:t>
            </a:r>
            <a:r>
              <a:rPr dirty="0" sz="2800" spc="-35">
                <a:solidFill>
                  <a:srgbClr val="4E3629"/>
                </a:solidFill>
                <a:latin typeface="Calibri"/>
                <a:cs typeface="Calibri"/>
              </a:rPr>
              <a:t> </a:t>
            </a:r>
            <a:r>
              <a:rPr dirty="0" sz="2800">
                <a:solidFill>
                  <a:srgbClr val="4E3629"/>
                </a:solidFill>
                <a:latin typeface="Calibri"/>
                <a:cs typeface="Calibri"/>
              </a:rPr>
              <a:t>que</a:t>
            </a:r>
            <a:r>
              <a:rPr dirty="0" sz="2800" spc="-25">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define</a:t>
            </a:r>
            <a:r>
              <a:rPr dirty="0" sz="2800" spc="-25">
                <a:solidFill>
                  <a:srgbClr val="4E3629"/>
                </a:solidFill>
                <a:latin typeface="Calibri"/>
                <a:cs typeface="Calibri"/>
              </a:rPr>
              <a:t> </a:t>
            </a:r>
            <a:r>
              <a:rPr dirty="0" sz="2800" spc="-20">
                <a:solidFill>
                  <a:srgbClr val="4E3629"/>
                </a:solidFill>
                <a:latin typeface="Calibri"/>
                <a:cs typeface="Calibri"/>
              </a:rPr>
              <a:t>como </a:t>
            </a:r>
            <a:r>
              <a:rPr dirty="0" sz="2800" spc="-20">
                <a:solidFill>
                  <a:srgbClr val="4E3629"/>
                </a:solidFill>
                <a:latin typeface="Calibri"/>
                <a:cs typeface="Calibri"/>
              </a:rPr>
              <a:t>	</a:t>
            </a:r>
            <a:r>
              <a:rPr dirty="0" sz="2800">
                <a:solidFill>
                  <a:srgbClr val="4E3629"/>
                </a:solidFill>
                <a:latin typeface="Calibri"/>
                <a:cs typeface="Calibri"/>
              </a:rPr>
              <a:t>UNIQUE</a:t>
            </a:r>
            <a:r>
              <a:rPr dirty="0" sz="2800" spc="-70">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denomina</a:t>
            </a:r>
            <a:r>
              <a:rPr dirty="0" sz="2800" spc="-40">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a:solidFill>
                  <a:srgbClr val="4E3629"/>
                </a:solidFill>
                <a:latin typeface="Calibri"/>
                <a:cs typeface="Calibri"/>
              </a:rPr>
              <a:t>clave</a:t>
            </a:r>
            <a:r>
              <a:rPr dirty="0" sz="2800" spc="-85">
                <a:solidFill>
                  <a:srgbClr val="4E3629"/>
                </a:solidFill>
                <a:latin typeface="Calibri"/>
                <a:cs typeface="Calibri"/>
              </a:rPr>
              <a:t> </a:t>
            </a:r>
            <a:r>
              <a:rPr dirty="0" sz="2800" spc="-10">
                <a:solidFill>
                  <a:srgbClr val="4E3629"/>
                </a:solidFill>
                <a:latin typeface="Calibri"/>
                <a:cs typeface="Calibri"/>
              </a:rPr>
              <a:t>única</a:t>
            </a:r>
            <a:endParaRPr sz="28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Restricción</a:t>
            </a:r>
            <a:r>
              <a:rPr dirty="0" spc="-105"/>
              <a:t> </a:t>
            </a:r>
            <a:r>
              <a:rPr dirty="0" spc="-10"/>
              <a:t>UNIQUE</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26</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052434" cy="3344545"/>
          </a:xfrm>
          <a:prstGeom prst="rect">
            <a:avLst/>
          </a:prstGeom>
        </p:spPr>
        <p:txBody>
          <a:bodyPr wrap="square" lIns="0" tIns="59690" rIns="0" bIns="0" rtlCol="0" vert="horz">
            <a:spAutoFit/>
          </a:bodyPr>
          <a:lstStyle/>
          <a:p>
            <a:pPr marL="182880" marR="28956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Si</a:t>
            </a:r>
            <a:r>
              <a:rPr dirty="0" sz="2800" spc="-5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combinación</a:t>
            </a:r>
            <a:r>
              <a:rPr dirty="0" sz="2800" spc="-3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dos</a:t>
            </a:r>
            <a:r>
              <a:rPr dirty="0" sz="2800" spc="-50">
                <a:solidFill>
                  <a:srgbClr val="4E3629"/>
                </a:solidFill>
                <a:latin typeface="Calibri"/>
                <a:cs typeface="Calibri"/>
              </a:rPr>
              <a:t> </a:t>
            </a:r>
            <a:r>
              <a:rPr dirty="0" sz="2800">
                <a:solidFill>
                  <a:srgbClr val="4E3629"/>
                </a:solidFill>
                <a:latin typeface="Calibri"/>
                <a:cs typeface="Calibri"/>
              </a:rPr>
              <a:t>o</a:t>
            </a:r>
            <a:r>
              <a:rPr dirty="0" sz="2800" spc="-55">
                <a:solidFill>
                  <a:srgbClr val="4E3629"/>
                </a:solidFill>
                <a:latin typeface="Calibri"/>
                <a:cs typeface="Calibri"/>
              </a:rPr>
              <a:t> </a:t>
            </a:r>
            <a:r>
              <a:rPr dirty="0" sz="2800">
                <a:solidFill>
                  <a:srgbClr val="4E3629"/>
                </a:solidFill>
                <a:latin typeface="Calibri"/>
                <a:cs typeface="Calibri"/>
              </a:rPr>
              <a:t>más</a:t>
            </a:r>
            <a:r>
              <a:rPr dirty="0" sz="2800" spc="-50">
                <a:solidFill>
                  <a:srgbClr val="4E3629"/>
                </a:solidFill>
                <a:latin typeface="Calibri"/>
                <a:cs typeface="Calibri"/>
              </a:rPr>
              <a:t> </a:t>
            </a:r>
            <a:r>
              <a:rPr dirty="0" sz="2800">
                <a:solidFill>
                  <a:srgbClr val="4E3629"/>
                </a:solidFill>
                <a:latin typeface="Calibri"/>
                <a:cs typeface="Calibri"/>
              </a:rPr>
              <a:t>columnas</a:t>
            </a:r>
            <a:r>
              <a:rPr dirty="0" sz="2800" spc="-25">
                <a:solidFill>
                  <a:srgbClr val="4E3629"/>
                </a:solidFill>
                <a:latin typeface="Calibri"/>
                <a:cs typeface="Calibri"/>
              </a:rPr>
              <a:t> </a:t>
            </a:r>
            <a:r>
              <a:rPr dirty="0" sz="2800">
                <a:solidFill>
                  <a:srgbClr val="4E3629"/>
                </a:solidFill>
                <a:latin typeface="Calibri"/>
                <a:cs typeface="Calibri"/>
              </a:rPr>
              <a:t>debe</a:t>
            </a:r>
            <a:r>
              <a:rPr dirty="0" sz="2800" spc="-45">
                <a:solidFill>
                  <a:srgbClr val="4E3629"/>
                </a:solidFill>
                <a:latin typeface="Calibri"/>
                <a:cs typeface="Calibri"/>
              </a:rPr>
              <a:t> </a:t>
            </a:r>
            <a:r>
              <a:rPr dirty="0" sz="2800" spc="-25">
                <a:solidFill>
                  <a:srgbClr val="4E3629"/>
                </a:solidFill>
                <a:latin typeface="Calibri"/>
                <a:cs typeface="Calibri"/>
              </a:rPr>
              <a:t>ser </a:t>
            </a:r>
            <a:r>
              <a:rPr dirty="0" sz="2800" spc="-25">
                <a:solidFill>
                  <a:srgbClr val="4E3629"/>
                </a:solidFill>
                <a:latin typeface="Calibri"/>
                <a:cs typeface="Calibri"/>
              </a:rPr>
              <a:t>	</a:t>
            </a:r>
            <a:r>
              <a:rPr dirty="0" sz="2800">
                <a:solidFill>
                  <a:srgbClr val="4E3629"/>
                </a:solidFill>
                <a:latin typeface="Calibri"/>
                <a:cs typeface="Calibri"/>
              </a:rPr>
              <a:t>única</a:t>
            </a:r>
            <a:r>
              <a:rPr dirty="0" sz="2800" spc="-40">
                <a:solidFill>
                  <a:srgbClr val="4E3629"/>
                </a:solidFill>
                <a:latin typeface="Calibri"/>
                <a:cs typeface="Calibri"/>
              </a:rPr>
              <a:t> </a:t>
            </a:r>
            <a:r>
              <a:rPr dirty="0" sz="2800">
                <a:solidFill>
                  <a:srgbClr val="4E3629"/>
                </a:solidFill>
                <a:latin typeface="Calibri"/>
                <a:cs typeface="Calibri"/>
              </a:rPr>
              <a:t>para</a:t>
            </a:r>
            <a:r>
              <a:rPr dirty="0" sz="2800" spc="-60">
                <a:solidFill>
                  <a:srgbClr val="4E3629"/>
                </a:solidFill>
                <a:latin typeface="Calibri"/>
                <a:cs typeface="Calibri"/>
              </a:rPr>
              <a:t> </a:t>
            </a:r>
            <a:r>
              <a:rPr dirty="0" sz="2800">
                <a:solidFill>
                  <a:srgbClr val="4E3629"/>
                </a:solidFill>
                <a:latin typeface="Calibri"/>
                <a:cs typeface="Calibri"/>
              </a:rPr>
              <a:t>cada</a:t>
            </a:r>
            <a:r>
              <a:rPr dirty="0" sz="2800" spc="-60">
                <a:solidFill>
                  <a:srgbClr val="4E3629"/>
                </a:solidFill>
                <a:latin typeface="Calibri"/>
                <a:cs typeface="Calibri"/>
              </a:rPr>
              <a:t> </a:t>
            </a:r>
            <a:r>
              <a:rPr dirty="0" sz="2800" spc="-10">
                <a:solidFill>
                  <a:srgbClr val="4E3629"/>
                </a:solidFill>
                <a:latin typeface="Calibri"/>
                <a:cs typeface="Calibri"/>
              </a:rPr>
              <a:t>entrada,</a:t>
            </a:r>
            <a:r>
              <a:rPr dirty="0" sz="2800" spc="-55">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a:solidFill>
                  <a:srgbClr val="4E3629"/>
                </a:solidFill>
                <a:latin typeface="Calibri"/>
                <a:cs typeface="Calibri"/>
              </a:rPr>
              <a:t>dice</a:t>
            </a:r>
            <a:r>
              <a:rPr dirty="0" sz="2800" spc="-65">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spc="-10">
                <a:solidFill>
                  <a:srgbClr val="4E3629"/>
                </a:solidFill>
                <a:latin typeface="Calibri"/>
                <a:cs typeface="Calibri"/>
              </a:rPr>
              <a:t>restricción</a:t>
            </a:r>
            <a:r>
              <a:rPr dirty="0" sz="2800" spc="-50">
                <a:solidFill>
                  <a:srgbClr val="4E3629"/>
                </a:solidFill>
                <a:latin typeface="Calibri"/>
                <a:cs typeface="Calibri"/>
              </a:rPr>
              <a:t> </a:t>
            </a:r>
            <a:r>
              <a:rPr dirty="0" sz="2800" spc="-25">
                <a:solidFill>
                  <a:srgbClr val="4E3629"/>
                </a:solidFill>
                <a:latin typeface="Calibri"/>
                <a:cs typeface="Calibri"/>
              </a:rPr>
              <a:t>es </a:t>
            </a:r>
            <a:r>
              <a:rPr dirty="0" sz="2800" spc="-25">
                <a:solidFill>
                  <a:srgbClr val="4E3629"/>
                </a:solidFill>
                <a:latin typeface="Calibri"/>
                <a:cs typeface="Calibri"/>
              </a:rPr>
              <a:t>	</a:t>
            </a:r>
            <a:r>
              <a:rPr dirty="0" sz="2800">
                <a:solidFill>
                  <a:srgbClr val="4E3629"/>
                </a:solidFill>
                <a:latin typeface="Calibri"/>
                <a:cs typeface="Calibri"/>
              </a:rPr>
              <a:t>una</a:t>
            </a:r>
            <a:r>
              <a:rPr dirty="0" sz="2800" spc="-70">
                <a:solidFill>
                  <a:srgbClr val="4E3629"/>
                </a:solidFill>
                <a:latin typeface="Calibri"/>
                <a:cs typeface="Calibri"/>
              </a:rPr>
              <a:t> </a:t>
            </a:r>
            <a:r>
              <a:rPr dirty="0" sz="2800">
                <a:solidFill>
                  <a:srgbClr val="4E3629"/>
                </a:solidFill>
                <a:latin typeface="Calibri"/>
                <a:cs typeface="Calibri"/>
              </a:rPr>
              <a:t>clave</a:t>
            </a:r>
            <a:r>
              <a:rPr dirty="0" sz="2800" spc="-80">
                <a:solidFill>
                  <a:srgbClr val="4E3629"/>
                </a:solidFill>
                <a:latin typeface="Calibri"/>
                <a:cs typeface="Calibri"/>
              </a:rPr>
              <a:t> </a:t>
            </a:r>
            <a:r>
              <a:rPr dirty="0" sz="2800">
                <a:solidFill>
                  <a:srgbClr val="4E3629"/>
                </a:solidFill>
                <a:latin typeface="Calibri"/>
                <a:cs typeface="Calibri"/>
              </a:rPr>
              <a:t>única</a:t>
            </a:r>
            <a:r>
              <a:rPr dirty="0" sz="2800" spc="-70">
                <a:solidFill>
                  <a:srgbClr val="4E3629"/>
                </a:solidFill>
                <a:latin typeface="Calibri"/>
                <a:cs typeface="Calibri"/>
              </a:rPr>
              <a:t> </a:t>
            </a:r>
            <a:r>
              <a:rPr dirty="0" sz="2800" spc="-10">
                <a:solidFill>
                  <a:srgbClr val="4E3629"/>
                </a:solidFill>
                <a:latin typeface="Calibri"/>
                <a:cs typeface="Calibri"/>
              </a:rPr>
              <a:t>compuesta</a:t>
            </a:r>
            <a:endParaRPr sz="2800">
              <a:latin typeface="Calibri"/>
              <a:cs typeface="Calibri"/>
            </a:endParaRPr>
          </a:p>
          <a:p>
            <a:pPr marL="182880" marR="197485"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indicación</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a:solidFill>
                  <a:srgbClr val="4E3629"/>
                </a:solidFill>
                <a:latin typeface="Calibri"/>
                <a:cs typeface="Calibri"/>
              </a:rPr>
              <a:t>todas</a:t>
            </a:r>
            <a:r>
              <a:rPr dirty="0" sz="2800" spc="-60">
                <a:solidFill>
                  <a:srgbClr val="4E3629"/>
                </a:solidFill>
                <a:latin typeface="Calibri"/>
                <a:cs typeface="Calibri"/>
              </a:rPr>
              <a:t> </a:t>
            </a:r>
            <a:r>
              <a:rPr dirty="0" sz="2800">
                <a:solidFill>
                  <a:srgbClr val="4E3629"/>
                </a:solidFill>
                <a:latin typeface="Calibri"/>
                <a:cs typeface="Calibri"/>
              </a:rPr>
              <a:t>las</a:t>
            </a:r>
            <a:r>
              <a:rPr dirty="0" sz="2800" spc="-60">
                <a:solidFill>
                  <a:srgbClr val="4E3629"/>
                </a:solidFill>
                <a:latin typeface="Calibri"/>
                <a:cs typeface="Calibri"/>
              </a:rPr>
              <a:t> </a:t>
            </a:r>
            <a:r>
              <a:rPr dirty="0" sz="2800">
                <a:solidFill>
                  <a:srgbClr val="4E3629"/>
                </a:solidFill>
                <a:latin typeface="Calibri"/>
                <a:cs typeface="Calibri"/>
              </a:rPr>
              <a:t>combinaciones</a:t>
            </a:r>
            <a:r>
              <a:rPr dirty="0" sz="2800" spc="-3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correo</a:t>
            </a:r>
            <a:r>
              <a:rPr dirty="0" sz="2800" spc="-55">
                <a:solidFill>
                  <a:srgbClr val="4E3629"/>
                </a:solidFill>
                <a:latin typeface="Calibri"/>
                <a:cs typeface="Calibri"/>
              </a:rPr>
              <a:t> </a:t>
            </a:r>
            <a:r>
              <a:rPr dirty="0" sz="2800" spc="-10">
                <a:solidFill>
                  <a:srgbClr val="4E3629"/>
                </a:solidFill>
                <a:latin typeface="Calibri"/>
                <a:cs typeface="Calibri"/>
              </a:rPr>
              <a:t>electrónico</a:t>
            </a:r>
            <a:r>
              <a:rPr dirty="0" sz="2800" spc="-45">
                <a:solidFill>
                  <a:srgbClr val="4E3629"/>
                </a:solidFill>
                <a:latin typeface="Calibri"/>
                <a:cs typeface="Calibri"/>
              </a:rPr>
              <a:t> </a:t>
            </a:r>
            <a:r>
              <a:rPr dirty="0" sz="2800">
                <a:solidFill>
                  <a:srgbClr val="4E3629"/>
                </a:solidFill>
                <a:latin typeface="Calibri"/>
                <a:cs typeface="Calibri"/>
              </a:rPr>
              <a:t>y</a:t>
            </a:r>
            <a:r>
              <a:rPr dirty="0" sz="2800" spc="-65">
                <a:solidFill>
                  <a:srgbClr val="4E3629"/>
                </a:solidFill>
                <a:latin typeface="Calibri"/>
                <a:cs typeface="Calibri"/>
              </a:rPr>
              <a:t> </a:t>
            </a:r>
            <a:r>
              <a:rPr dirty="0" sz="2800">
                <a:solidFill>
                  <a:srgbClr val="4E3629"/>
                </a:solidFill>
                <a:latin typeface="Calibri"/>
                <a:cs typeface="Calibri"/>
              </a:rPr>
              <a:t>apellido</a:t>
            </a:r>
            <a:r>
              <a:rPr dirty="0" sz="2800" spc="-30">
                <a:solidFill>
                  <a:srgbClr val="4E3629"/>
                </a:solidFill>
                <a:latin typeface="Calibri"/>
                <a:cs typeface="Calibri"/>
              </a:rPr>
              <a:t> </a:t>
            </a:r>
            <a:r>
              <a:rPr dirty="0" sz="2800">
                <a:solidFill>
                  <a:srgbClr val="4E3629"/>
                </a:solidFill>
                <a:latin typeface="Calibri"/>
                <a:cs typeface="Calibri"/>
              </a:rPr>
              <a:t>deben</a:t>
            </a:r>
            <a:r>
              <a:rPr dirty="0" sz="2800" spc="-45">
                <a:solidFill>
                  <a:srgbClr val="4E3629"/>
                </a:solidFill>
                <a:latin typeface="Calibri"/>
                <a:cs typeface="Calibri"/>
              </a:rPr>
              <a:t> </a:t>
            </a:r>
            <a:r>
              <a:rPr dirty="0" sz="2800">
                <a:solidFill>
                  <a:srgbClr val="4E3629"/>
                </a:solidFill>
                <a:latin typeface="Calibri"/>
                <a:cs typeface="Calibri"/>
              </a:rPr>
              <a:t>ser</a:t>
            </a:r>
            <a:r>
              <a:rPr dirty="0" sz="2800" spc="-45">
                <a:solidFill>
                  <a:srgbClr val="4E3629"/>
                </a:solidFill>
                <a:latin typeface="Calibri"/>
                <a:cs typeface="Calibri"/>
              </a:rPr>
              <a:t> </a:t>
            </a:r>
            <a:r>
              <a:rPr dirty="0" sz="2800">
                <a:solidFill>
                  <a:srgbClr val="4E3629"/>
                </a:solidFill>
                <a:latin typeface="Calibri"/>
                <a:cs typeface="Calibri"/>
              </a:rPr>
              <a:t>ÚNICAS</a:t>
            </a:r>
            <a:r>
              <a:rPr dirty="0" sz="2800" spc="-50">
                <a:solidFill>
                  <a:srgbClr val="4E3629"/>
                </a:solidFill>
                <a:latin typeface="Calibri"/>
                <a:cs typeface="Calibri"/>
              </a:rPr>
              <a:t> </a:t>
            </a:r>
            <a:r>
              <a:rPr dirty="0" sz="2800">
                <a:solidFill>
                  <a:srgbClr val="4E3629"/>
                </a:solidFill>
                <a:latin typeface="Calibri"/>
                <a:cs typeface="Calibri"/>
              </a:rPr>
              <a:t>es</a:t>
            </a:r>
            <a:r>
              <a:rPr dirty="0" sz="2800" spc="-60">
                <a:solidFill>
                  <a:srgbClr val="4E3629"/>
                </a:solidFill>
                <a:latin typeface="Calibri"/>
                <a:cs typeface="Calibri"/>
              </a:rPr>
              <a:t> </a:t>
            </a:r>
            <a:r>
              <a:rPr dirty="0" sz="2800" spc="-25">
                <a:solidFill>
                  <a:srgbClr val="4E3629"/>
                </a:solidFill>
                <a:latin typeface="Calibri"/>
                <a:cs typeface="Calibri"/>
              </a:rPr>
              <a:t>un </a:t>
            </a:r>
            <a:r>
              <a:rPr dirty="0" sz="2800" spc="-25">
                <a:solidFill>
                  <a:srgbClr val="4E3629"/>
                </a:solidFill>
                <a:latin typeface="Calibri"/>
                <a:cs typeface="Calibri"/>
              </a:rPr>
              <a:t>	</a:t>
            </a:r>
            <a:r>
              <a:rPr dirty="0" sz="2800">
                <a:solidFill>
                  <a:srgbClr val="4E3629"/>
                </a:solidFill>
                <a:latin typeface="Calibri"/>
                <a:cs typeface="Calibri"/>
              </a:rPr>
              <a:t>ejemplo</a:t>
            </a:r>
            <a:r>
              <a:rPr dirty="0" sz="2800" spc="-6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clave</a:t>
            </a:r>
            <a:r>
              <a:rPr dirty="0" sz="2800" spc="-80">
                <a:solidFill>
                  <a:srgbClr val="4E3629"/>
                </a:solidFill>
                <a:latin typeface="Calibri"/>
                <a:cs typeface="Calibri"/>
              </a:rPr>
              <a:t> </a:t>
            </a:r>
            <a:r>
              <a:rPr dirty="0" sz="2800">
                <a:solidFill>
                  <a:srgbClr val="4E3629"/>
                </a:solidFill>
                <a:latin typeface="Calibri"/>
                <a:cs typeface="Calibri"/>
              </a:rPr>
              <a:t>única</a:t>
            </a:r>
            <a:r>
              <a:rPr dirty="0" sz="2800" spc="-50">
                <a:solidFill>
                  <a:srgbClr val="4E3629"/>
                </a:solidFill>
                <a:latin typeface="Calibri"/>
                <a:cs typeface="Calibri"/>
              </a:rPr>
              <a:t> </a:t>
            </a:r>
            <a:r>
              <a:rPr dirty="0" sz="2800" spc="-10">
                <a:solidFill>
                  <a:srgbClr val="4E3629"/>
                </a:solidFill>
                <a:latin typeface="Calibri"/>
                <a:cs typeface="Calibri"/>
              </a:rPr>
              <a:t>compuesta</a:t>
            </a:r>
            <a:endParaRPr sz="2800">
              <a:latin typeface="Calibri"/>
              <a:cs typeface="Calibri"/>
            </a:endParaRPr>
          </a:p>
          <a:p>
            <a:pPr marL="182880" marR="5080"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palabra</a:t>
            </a:r>
            <a:r>
              <a:rPr dirty="0" sz="2800" spc="-55">
                <a:solidFill>
                  <a:srgbClr val="4E3629"/>
                </a:solidFill>
                <a:latin typeface="Calibri"/>
                <a:cs typeface="Calibri"/>
              </a:rPr>
              <a:t> </a:t>
            </a:r>
            <a:r>
              <a:rPr dirty="0" sz="2800">
                <a:solidFill>
                  <a:srgbClr val="4E3629"/>
                </a:solidFill>
                <a:latin typeface="Calibri"/>
                <a:cs typeface="Calibri"/>
              </a:rPr>
              <a:t>"clave"</a:t>
            </a:r>
            <a:r>
              <a:rPr dirty="0" sz="2800" spc="-60">
                <a:solidFill>
                  <a:srgbClr val="4E3629"/>
                </a:solidFill>
                <a:latin typeface="Calibri"/>
                <a:cs typeface="Calibri"/>
              </a:rPr>
              <a:t> </a:t>
            </a:r>
            <a:r>
              <a:rPr dirty="0" sz="2800">
                <a:solidFill>
                  <a:srgbClr val="4E3629"/>
                </a:solidFill>
                <a:latin typeface="Calibri"/>
                <a:cs typeface="Calibri"/>
              </a:rPr>
              <a:t>hace</a:t>
            </a:r>
            <a:r>
              <a:rPr dirty="0" sz="2800" spc="-70">
                <a:solidFill>
                  <a:srgbClr val="4E3629"/>
                </a:solidFill>
                <a:latin typeface="Calibri"/>
                <a:cs typeface="Calibri"/>
              </a:rPr>
              <a:t> </a:t>
            </a:r>
            <a:r>
              <a:rPr dirty="0" sz="2800" spc="-10">
                <a:solidFill>
                  <a:srgbClr val="4E3629"/>
                </a:solidFill>
                <a:latin typeface="Calibri"/>
                <a:cs typeface="Calibri"/>
              </a:rPr>
              <a:t>referencia</a:t>
            </a:r>
            <a:r>
              <a:rPr dirty="0" sz="2800" spc="-60">
                <a:solidFill>
                  <a:srgbClr val="4E3629"/>
                </a:solidFill>
                <a:latin typeface="Calibri"/>
                <a:cs typeface="Calibri"/>
              </a:rPr>
              <a:t> </a:t>
            </a:r>
            <a:r>
              <a:rPr dirty="0" sz="2800">
                <a:solidFill>
                  <a:srgbClr val="4E3629"/>
                </a:solidFill>
                <a:latin typeface="Calibri"/>
                <a:cs typeface="Calibri"/>
              </a:rPr>
              <a:t>a</a:t>
            </a:r>
            <a:r>
              <a:rPr dirty="0" sz="2800" spc="-65">
                <a:solidFill>
                  <a:srgbClr val="4E3629"/>
                </a:solidFill>
                <a:latin typeface="Calibri"/>
                <a:cs typeface="Calibri"/>
              </a:rPr>
              <a:t> </a:t>
            </a:r>
            <a:r>
              <a:rPr dirty="0" sz="2800">
                <a:solidFill>
                  <a:srgbClr val="4E3629"/>
                </a:solidFill>
                <a:latin typeface="Calibri"/>
                <a:cs typeface="Calibri"/>
              </a:rPr>
              <a:t>las</a:t>
            </a:r>
            <a:r>
              <a:rPr dirty="0" sz="2800" spc="-70">
                <a:solidFill>
                  <a:srgbClr val="4E3629"/>
                </a:solidFill>
                <a:latin typeface="Calibri"/>
                <a:cs typeface="Calibri"/>
              </a:rPr>
              <a:t> </a:t>
            </a:r>
            <a:r>
              <a:rPr dirty="0" sz="2800">
                <a:solidFill>
                  <a:srgbClr val="4E3629"/>
                </a:solidFill>
                <a:latin typeface="Calibri"/>
                <a:cs typeface="Calibri"/>
              </a:rPr>
              <a:t>columnas,</a:t>
            </a:r>
            <a:r>
              <a:rPr dirty="0" sz="2800" spc="-35">
                <a:solidFill>
                  <a:srgbClr val="4E3629"/>
                </a:solidFill>
                <a:latin typeface="Calibri"/>
                <a:cs typeface="Calibri"/>
              </a:rPr>
              <a:t> </a:t>
            </a:r>
            <a:r>
              <a:rPr dirty="0" sz="2800">
                <a:solidFill>
                  <a:srgbClr val="4E3629"/>
                </a:solidFill>
                <a:latin typeface="Calibri"/>
                <a:cs typeface="Calibri"/>
              </a:rPr>
              <a:t>no</a:t>
            </a:r>
            <a:r>
              <a:rPr dirty="0" sz="2800" spc="-55">
                <a:solidFill>
                  <a:srgbClr val="4E3629"/>
                </a:solidFill>
                <a:latin typeface="Calibri"/>
                <a:cs typeface="Calibri"/>
              </a:rPr>
              <a:t> </a:t>
            </a:r>
            <a:r>
              <a:rPr dirty="0" sz="2800" spc="-50">
                <a:solidFill>
                  <a:srgbClr val="4E3629"/>
                </a:solidFill>
                <a:latin typeface="Calibri"/>
                <a:cs typeface="Calibri"/>
              </a:rPr>
              <a:t>a </a:t>
            </a:r>
            <a:r>
              <a:rPr dirty="0" sz="2800" spc="-50">
                <a:solidFill>
                  <a:srgbClr val="4E3629"/>
                </a:solidFill>
                <a:latin typeface="Calibri"/>
                <a:cs typeface="Calibri"/>
              </a:rPr>
              <a:t>	</a:t>
            </a:r>
            <a:r>
              <a:rPr dirty="0" sz="2800">
                <a:solidFill>
                  <a:srgbClr val="4E3629"/>
                </a:solidFill>
                <a:latin typeface="Calibri"/>
                <a:cs typeface="Calibri"/>
              </a:rPr>
              <a:t>los</a:t>
            </a:r>
            <a:r>
              <a:rPr dirty="0" sz="2800" spc="-50">
                <a:solidFill>
                  <a:srgbClr val="4E3629"/>
                </a:solidFill>
                <a:latin typeface="Calibri"/>
                <a:cs typeface="Calibri"/>
              </a:rPr>
              <a:t> </a:t>
            </a:r>
            <a:r>
              <a:rPr dirty="0" sz="2800">
                <a:solidFill>
                  <a:srgbClr val="4E3629"/>
                </a:solidFill>
                <a:latin typeface="Calibri"/>
                <a:cs typeface="Calibri"/>
              </a:rPr>
              <a:t>nombres</a:t>
            </a:r>
            <a:r>
              <a:rPr dirty="0" sz="2800" spc="-2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10">
                <a:solidFill>
                  <a:srgbClr val="4E3629"/>
                </a:solidFill>
                <a:latin typeface="Calibri"/>
                <a:cs typeface="Calibri"/>
              </a:rPr>
              <a:t>restricciones</a:t>
            </a:r>
            <a:endParaRPr sz="28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Ejemplo</a:t>
            </a:r>
            <a:r>
              <a:rPr dirty="0" spc="-70"/>
              <a:t> </a:t>
            </a:r>
            <a:r>
              <a:rPr dirty="0"/>
              <a:t>de</a:t>
            </a:r>
            <a:r>
              <a:rPr dirty="0" spc="-60"/>
              <a:t> </a:t>
            </a:r>
            <a:r>
              <a:rPr dirty="0" spc="-10"/>
              <a:t>Restricción</a:t>
            </a:r>
            <a:r>
              <a:rPr dirty="0" spc="-75"/>
              <a:t> </a:t>
            </a:r>
            <a:r>
              <a:rPr dirty="0" spc="-10"/>
              <a:t>UNIQUE</a:t>
            </a:r>
          </a:p>
        </p:txBody>
      </p:sp>
      <p:sp>
        <p:nvSpPr>
          <p:cNvPr id="7" name="object 7"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27</a:t>
            </a: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152765" cy="2474595"/>
          </a:xfrm>
          <a:prstGeom prst="rect">
            <a:avLst/>
          </a:prstGeom>
        </p:spPr>
        <p:txBody>
          <a:bodyPr wrap="square" lIns="0" tIns="59690" rIns="0" bIns="0" rtlCol="0" vert="horz">
            <a:spAutoFit/>
          </a:bodyPr>
          <a:lstStyle/>
          <a:p>
            <a:pPr marL="182880" marR="92075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Si</a:t>
            </a:r>
            <a:r>
              <a:rPr dirty="0" sz="2800" spc="-5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columna</a:t>
            </a:r>
            <a:r>
              <a:rPr dirty="0" sz="2800" spc="-2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correo</a:t>
            </a:r>
            <a:r>
              <a:rPr dirty="0" sz="2800" spc="-60">
                <a:solidFill>
                  <a:srgbClr val="4E3629"/>
                </a:solidFill>
                <a:latin typeface="Calibri"/>
                <a:cs typeface="Calibri"/>
              </a:rPr>
              <a:t> </a:t>
            </a:r>
            <a:r>
              <a:rPr dirty="0" sz="2800" spc="-10">
                <a:solidFill>
                  <a:srgbClr val="4E3629"/>
                </a:solidFill>
                <a:latin typeface="Calibri"/>
                <a:cs typeface="Calibri"/>
              </a:rPr>
              <a:t>electrónico</a:t>
            </a:r>
            <a:r>
              <a:rPr dirty="0" sz="2800" spc="-4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tabla</a:t>
            </a:r>
            <a:r>
              <a:rPr dirty="0" sz="2800" spc="-40">
                <a:solidFill>
                  <a:srgbClr val="4E3629"/>
                </a:solidFill>
                <a:latin typeface="Calibri"/>
                <a:cs typeface="Calibri"/>
              </a:rPr>
              <a:t> </a:t>
            </a:r>
            <a:r>
              <a:rPr dirty="0" sz="2800" spc="-25">
                <a:solidFill>
                  <a:srgbClr val="4E3629"/>
                </a:solidFill>
                <a:latin typeface="Calibri"/>
                <a:cs typeface="Calibri"/>
              </a:rPr>
              <a:t>se </a:t>
            </a:r>
            <a:r>
              <a:rPr dirty="0" sz="2800" spc="-25">
                <a:solidFill>
                  <a:srgbClr val="4E3629"/>
                </a:solidFill>
                <a:latin typeface="Calibri"/>
                <a:cs typeface="Calibri"/>
              </a:rPr>
              <a:t>	</a:t>
            </a:r>
            <a:r>
              <a:rPr dirty="0" sz="2800">
                <a:solidFill>
                  <a:srgbClr val="4E3629"/>
                </a:solidFill>
                <a:latin typeface="Calibri"/>
                <a:cs typeface="Calibri"/>
              </a:rPr>
              <a:t>define</a:t>
            </a:r>
            <a:r>
              <a:rPr dirty="0" sz="2800" spc="-75">
                <a:solidFill>
                  <a:srgbClr val="4E3629"/>
                </a:solidFill>
                <a:latin typeface="Calibri"/>
                <a:cs typeface="Calibri"/>
              </a:rPr>
              <a:t> </a:t>
            </a:r>
            <a:r>
              <a:rPr dirty="0" sz="2800">
                <a:solidFill>
                  <a:srgbClr val="4E3629"/>
                </a:solidFill>
                <a:latin typeface="Calibri"/>
                <a:cs typeface="Calibri"/>
              </a:rPr>
              <a:t>con</a:t>
            </a:r>
            <a:r>
              <a:rPr dirty="0" sz="2800" spc="-80">
                <a:solidFill>
                  <a:srgbClr val="4E3629"/>
                </a:solidFill>
                <a:latin typeface="Calibri"/>
                <a:cs typeface="Calibri"/>
              </a:rPr>
              <a:t> </a:t>
            </a:r>
            <a:r>
              <a:rPr dirty="0" sz="2800">
                <a:solidFill>
                  <a:srgbClr val="4E3629"/>
                </a:solidFill>
                <a:latin typeface="Calibri"/>
                <a:cs typeface="Calibri"/>
              </a:rPr>
              <a:t>una</a:t>
            </a:r>
            <a:r>
              <a:rPr dirty="0" sz="2800" spc="-55">
                <a:solidFill>
                  <a:srgbClr val="4E3629"/>
                </a:solidFill>
                <a:latin typeface="Calibri"/>
                <a:cs typeface="Calibri"/>
              </a:rPr>
              <a:t> </a:t>
            </a:r>
            <a:r>
              <a:rPr dirty="0" sz="2800" spc="-10">
                <a:solidFill>
                  <a:srgbClr val="4E3629"/>
                </a:solidFill>
                <a:latin typeface="Calibri"/>
                <a:cs typeface="Calibri"/>
              </a:rPr>
              <a:t>restricción</a:t>
            </a:r>
            <a:r>
              <a:rPr dirty="0" sz="2800" spc="-70">
                <a:solidFill>
                  <a:srgbClr val="4E3629"/>
                </a:solidFill>
                <a:latin typeface="Calibri"/>
                <a:cs typeface="Calibri"/>
              </a:rPr>
              <a:t> </a:t>
            </a:r>
            <a:r>
              <a:rPr dirty="0" sz="2800">
                <a:solidFill>
                  <a:srgbClr val="4E3629"/>
                </a:solidFill>
                <a:latin typeface="Calibri"/>
                <a:cs typeface="Calibri"/>
              </a:rPr>
              <a:t>UNIQUE,</a:t>
            </a:r>
            <a:r>
              <a:rPr dirty="0" sz="2800" spc="-70">
                <a:solidFill>
                  <a:srgbClr val="4E3629"/>
                </a:solidFill>
                <a:latin typeface="Calibri"/>
                <a:cs typeface="Calibri"/>
              </a:rPr>
              <a:t> </a:t>
            </a:r>
            <a:r>
              <a:rPr dirty="0" sz="2800">
                <a:solidFill>
                  <a:srgbClr val="4E3629"/>
                </a:solidFill>
                <a:latin typeface="Calibri"/>
                <a:cs typeface="Calibri"/>
              </a:rPr>
              <a:t>ninguna</a:t>
            </a:r>
            <a:r>
              <a:rPr dirty="0" sz="2800" spc="-60">
                <a:solidFill>
                  <a:srgbClr val="4E3629"/>
                </a:solidFill>
                <a:latin typeface="Calibri"/>
                <a:cs typeface="Calibri"/>
              </a:rPr>
              <a:t> </a:t>
            </a:r>
            <a:r>
              <a:rPr dirty="0" sz="2800" spc="-20">
                <a:solidFill>
                  <a:srgbClr val="4E3629"/>
                </a:solidFill>
                <a:latin typeface="Calibri"/>
                <a:cs typeface="Calibri"/>
              </a:rPr>
              <a:t>otra </a:t>
            </a:r>
            <a:r>
              <a:rPr dirty="0" sz="2800" spc="-20">
                <a:solidFill>
                  <a:srgbClr val="4E3629"/>
                </a:solidFill>
                <a:latin typeface="Calibri"/>
                <a:cs typeface="Calibri"/>
              </a:rPr>
              <a:t>	</a:t>
            </a:r>
            <a:r>
              <a:rPr dirty="0" sz="2800">
                <a:solidFill>
                  <a:srgbClr val="4E3629"/>
                </a:solidFill>
                <a:latin typeface="Calibri"/>
                <a:cs typeface="Calibri"/>
              </a:rPr>
              <a:t>entrada</a:t>
            </a:r>
            <a:r>
              <a:rPr dirty="0" sz="2800" spc="-7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cliente</a:t>
            </a:r>
            <a:r>
              <a:rPr dirty="0" sz="2800" spc="-80">
                <a:solidFill>
                  <a:srgbClr val="4E3629"/>
                </a:solidFill>
                <a:latin typeface="Calibri"/>
                <a:cs typeface="Calibri"/>
              </a:rPr>
              <a:t> </a:t>
            </a:r>
            <a:r>
              <a:rPr dirty="0" sz="2800">
                <a:solidFill>
                  <a:srgbClr val="4E3629"/>
                </a:solidFill>
                <a:latin typeface="Calibri"/>
                <a:cs typeface="Calibri"/>
              </a:rPr>
              <a:t>puede</a:t>
            </a:r>
            <a:r>
              <a:rPr dirty="0" sz="2800" spc="-55">
                <a:solidFill>
                  <a:srgbClr val="4E3629"/>
                </a:solidFill>
                <a:latin typeface="Calibri"/>
                <a:cs typeface="Calibri"/>
              </a:rPr>
              <a:t> </a:t>
            </a:r>
            <a:r>
              <a:rPr dirty="0" sz="2800">
                <a:solidFill>
                  <a:srgbClr val="4E3629"/>
                </a:solidFill>
                <a:latin typeface="Calibri"/>
                <a:cs typeface="Calibri"/>
              </a:rPr>
              <a:t>tener</a:t>
            </a:r>
            <a:r>
              <a:rPr dirty="0" sz="2800" spc="-85">
                <a:solidFill>
                  <a:srgbClr val="4E3629"/>
                </a:solidFill>
                <a:latin typeface="Calibri"/>
                <a:cs typeface="Calibri"/>
              </a:rPr>
              <a:t> </a:t>
            </a:r>
            <a:r>
              <a:rPr dirty="0" sz="2800">
                <a:solidFill>
                  <a:srgbClr val="4E3629"/>
                </a:solidFill>
                <a:latin typeface="Calibri"/>
                <a:cs typeface="Calibri"/>
              </a:rPr>
              <a:t>el</a:t>
            </a:r>
            <a:r>
              <a:rPr dirty="0" sz="2800" spc="-85">
                <a:solidFill>
                  <a:srgbClr val="4E3629"/>
                </a:solidFill>
                <a:latin typeface="Calibri"/>
                <a:cs typeface="Calibri"/>
              </a:rPr>
              <a:t> </a:t>
            </a:r>
            <a:r>
              <a:rPr dirty="0" sz="2800">
                <a:solidFill>
                  <a:srgbClr val="4E3629"/>
                </a:solidFill>
                <a:latin typeface="Calibri"/>
                <a:cs typeface="Calibri"/>
              </a:rPr>
              <a:t>mismo</a:t>
            </a:r>
            <a:r>
              <a:rPr dirty="0" sz="2800" spc="-65">
                <a:solidFill>
                  <a:srgbClr val="4E3629"/>
                </a:solidFill>
                <a:latin typeface="Calibri"/>
                <a:cs typeface="Calibri"/>
              </a:rPr>
              <a:t> </a:t>
            </a:r>
            <a:r>
              <a:rPr dirty="0" sz="2800" spc="-10">
                <a:solidFill>
                  <a:srgbClr val="4E3629"/>
                </a:solidFill>
                <a:latin typeface="Calibri"/>
                <a:cs typeface="Calibri"/>
              </a:rPr>
              <a:t>correo 	electrónico</a:t>
            </a:r>
            <a:endParaRPr sz="2800">
              <a:latin typeface="Calibri"/>
              <a:cs typeface="Calibri"/>
            </a:endParaRPr>
          </a:p>
          <a:p>
            <a:pPr marL="182880" marR="5080"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¿Qué</a:t>
            </a:r>
            <a:r>
              <a:rPr dirty="0" sz="2800" spc="-50">
                <a:solidFill>
                  <a:srgbClr val="4E3629"/>
                </a:solidFill>
                <a:latin typeface="Calibri"/>
                <a:cs typeface="Calibri"/>
              </a:rPr>
              <a:t> </a:t>
            </a:r>
            <a:r>
              <a:rPr dirty="0" sz="2800">
                <a:solidFill>
                  <a:srgbClr val="4E3629"/>
                </a:solidFill>
                <a:latin typeface="Calibri"/>
                <a:cs typeface="Calibri"/>
              </a:rPr>
              <a:t>ocurre</a:t>
            </a:r>
            <a:r>
              <a:rPr dirty="0" sz="2800" spc="-45">
                <a:solidFill>
                  <a:srgbClr val="4E3629"/>
                </a:solidFill>
                <a:latin typeface="Calibri"/>
                <a:cs typeface="Calibri"/>
              </a:rPr>
              <a:t> </a:t>
            </a:r>
            <a:r>
              <a:rPr dirty="0" sz="2800">
                <a:solidFill>
                  <a:srgbClr val="4E3629"/>
                </a:solidFill>
                <a:latin typeface="Calibri"/>
                <a:cs typeface="Calibri"/>
              </a:rPr>
              <a:t>si</a:t>
            </a:r>
            <a:r>
              <a:rPr dirty="0" sz="2800" spc="-60">
                <a:solidFill>
                  <a:srgbClr val="4E3629"/>
                </a:solidFill>
                <a:latin typeface="Calibri"/>
                <a:cs typeface="Calibri"/>
              </a:rPr>
              <a:t> </a:t>
            </a:r>
            <a:r>
              <a:rPr dirty="0" sz="2800">
                <a:solidFill>
                  <a:srgbClr val="4E3629"/>
                </a:solidFill>
                <a:latin typeface="Calibri"/>
                <a:cs typeface="Calibri"/>
              </a:rPr>
              <a:t>dos</a:t>
            </a:r>
            <a:r>
              <a:rPr dirty="0" sz="2800" spc="-35">
                <a:solidFill>
                  <a:srgbClr val="4E3629"/>
                </a:solidFill>
                <a:latin typeface="Calibri"/>
                <a:cs typeface="Calibri"/>
              </a:rPr>
              <a:t> </a:t>
            </a:r>
            <a:r>
              <a:rPr dirty="0" sz="2800">
                <a:solidFill>
                  <a:srgbClr val="4E3629"/>
                </a:solidFill>
                <a:latin typeface="Calibri"/>
                <a:cs typeface="Calibri"/>
              </a:rPr>
              <a:t>clientes</a:t>
            </a:r>
            <a:r>
              <a:rPr dirty="0" sz="2800" spc="-60">
                <a:solidFill>
                  <a:srgbClr val="4E3629"/>
                </a:solidFill>
                <a:latin typeface="Calibri"/>
                <a:cs typeface="Calibri"/>
              </a:rPr>
              <a:t> </a:t>
            </a:r>
            <a:r>
              <a:rPr dirty="0" sz="2800">
                <a:solidFill>
                  <a:srgbClr val="4E3629"/>
                </a:solidFill>
                <a:latin typeface="Calibri"/>
                <a:cs typeface="Calibri"/>
              </a:rPr>
              <a:t>viven</a:t>
            </a:r>
            <a:r>
              <a:rPr dirty="0" sz="2800" spc="-55">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mismo</a:t>
            </a:r>
            <a:r>
              <a:rPr dirty="0" sz="2800" spc="-40">
                <a:solidFill>
                  <a:srgbClr val="4E3629"/>
                </a:solidFill>
                <a:latin typeface="Calibri"/>
                <a:cs typeface="Calibri"/>
              </a:rPr>
              <a:t> </a:t>
            </a:r>
            <a:r>
              <a:rPr dirty="0" sz="2800" spc="-10">
                <a:solidFill>
                  <a:srgbClr val="4E3629"/>
                </a:solidFill>
                <a:latin typeface="Calibri"/>
                <a:cs typeface="Calibri"/>
              </a:rPr>
              <a:t>domicilio </a:t>
            </a:r>
            <a:r>
              <a:rPr dirty="0" sz="2800" spc="-10">
                <a:solidFill>
                  <a:srgbClr val="4E3629"/>
                </a:solidFill>
                <a:latin typeface="Calibri"/>
                <a:cs typeface="Calibri"/>
              </a:rPr>
              <a:t>	</a:t>
            </a:r>
            <a:r>
              <a:rPr dirty="0" sz="2800">
                <a:solidFill>
                  <a:srgbClr val="4E3629"/>
                </a:solidFill>
                <a:latin typeface="Calibri"/>
                <a:cs typeface="Calibri"/>
              </a:rPr>
              <a:t>y</a:t>
            </a:r>
            <a:r>
              <a:rPr dirty="0" sz="2800" spc="-90">
                <a:solidFill>
                  <a:srgbClr val="4E3629"/>
                </a:solidFill>
                <a:latin typeface="Calibri"/>
                <a:cs typeface="Calibri"/>
              </a:rPr>
              <a:t> </a:t>
            </a:r>
            <a:r>
              <a:rPr dirty="0" sz="2800">
                <a:solidFill>
                  <a:srgbClr val="4E3629"/>
                </a:solidFill>
                <a:latin typeface="Calibri"/>
                <a:cs typeface="Calibri"/>
              </a:rPr>
              <a:t>comparten</a:t>
            </a:r>
            <a:r>
              <a:rPr dirty="0" sz="2800" spc="-65">
                <a:solidFill>
                  <a:srgbClr val="4E3629"/>
                </a:solidFill>
                <a:latin typeface="Calibri"/>
                <a:cs typeface="Calibri"/>
              </a:rPr>
              <a:t> </a:t>
            </a:r>
            <a:r>
              <a:rPr dirty="0" sz="2800">
                <a:solidFill>
                  <a:srgbClr val="4E3629"/>
                </a:solidFill>
                <a:latin typeface="Calibri"/>
                <a:cs typeface="Calibri"/>
              </a:rPr>
              <a:t>una</a:t>
            </a:r>
            <a:r>
              <a:rPr dirty="0" sz="2800" spc="-75">
                <a:solidFill>
                  <a:srgbClr val="4E3629"/>
                </a:solidFill>
                <a:latin typeface="Calibri"/>
                <a:cs typeface="Calibri"/>
              </a:rPr>
              <a:t> </a:t>
            </a:r>
            <a:r>
              <a:rPr dirty="0" sz="2800">
                <a:solidFill>
                  <a:srgbClr val="4E3629"/>
                </a:solidFill>
                <a:latin typeface="Calibri"/>
                <a:cs typeface="Calibri"/>
              </a:rPr>
              <a:t>dirección</a:t>
            </a:r>
            <a:r>
              <a:rPr dirty="0" sz="2800" spc="-6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correo</a:t>
            </a:r>
            <a:r>
              <a:rPr dirty="0" sz="2800" spc="-85">
                <a:solidFill>
                  <a:srgbClr val="4E3629"/>
                </a:solidFill>
                <a:latin typeface="Calibri"/>
                <a:cs typeface="Calibri"/>
              </a:rPr>
              <a:t> </a:t>
            </a:r>
            <a:r>
              <a:rPr dirty="0" sz="2800" spc="-10">
                <a:solidFill>
                  <a:srgbClr val="4E3629"/>
                </a:solidFill>
                <a:latin typeface="Calibri"/>
                <a:cs typeface="Calibri"/>
              </a:rPr>
              <a:t>electrónico?</a:t>
            </a:r>
            <a:endParaRPr sz="2800">
              <a:latin typeface="Calibri"/>
              <a:cs typeface="Calibri"/>
            </a:endParaRPr>
          </a:p>
        </p:txBody>
      </p:sp>
      <p:sp>
        <p:nvSpPr>
          <p:cNvPr id="4" name="object 4" descr=""/>
          <p:cNvSpPr txBox="1"/>
          <p:nvPr/>
        </p:nvSpPr>
        <p:spPr>
          <a:xfrm>
            <a:off x="1907213" y="5930309"/>
            <a:ext cx="4556125" cy="421640"/>
          </a:xfrm>
          <a:prstGeom prst="rect">
            <a:avLst/>
          </a:prstGeom>
        </p:spPr>
        <p:txBody>
          <a:bodyPr wrap="square" lIns="0" tIns="12065" rIns="0" bIns="0" rtlCol="0" vert="horz">
            <a:spAutoFit/>
          </a:bodyPr>
          <a:lstStyle/>
          <a:p>
            <a:pPr marL="12700" marR="5080">
              <a:lnSpc>
                <a:spcPct val="100000"/>
              </a:lnSpc>
              <a:spcBef>
                <a:spcPts val="95"/>
              </a:spcBef>
            </a:pPr>
            <a:r>
              <a:rPr dirty="0" sz="1300" spc="-10" b="1">
                <a:solidFill>
                  <a:srgbClr val="FF0000"/>
                </a:solidFill>
                <a:latin typeface="Courier New"/>
                <a:cs typeface="Courier New"/>
              </a:rPr>
              <a:t>ORA-</a:t>
            </a:r>
            <a:r>
              <a:rPr dirty="0" sz="1300" b="1">
                <a:solidFill>
                  <a:srgbClr val="FF0000"/>
                </a:solidFill>
                <a:latin typeface="Courier New"/>
                <a:cs typeface="Courier New"/>
              </a:rPr>
              <a:t>00001:</a:t>
            </a:r>
            <a:r>
              <a:rPr dirty="0" sz="1300" spc="-25" b="1">
                <a:solidFill>
                  <a:srgbClr val="FF0000"/>
                </a:solidFill>
                <a:latin typeface="Courier New"/>
                <a:cs typeface="Courier New"/>
              </a:rPr>
              <a:t> </a:t>
            </a:r>
            <a:r>
              <a:rPr dirty="0" sz="1300" b="1">
                <a:solidFill>
                  <a:srgbClr val="FF0000"/>
                </a:solidFill>
                <a:latin typeface="Courier New"/>
                <a:cs typeface="Courier New"/>
              </a:rPr>
              <a:t>unique</a:t>
            </a:r>
            <a:r>
              <a:rPr dirty="0" sz="1300" spc="-20" b="1">
                <a:solidFill>
                  <a:srgbClr val="FF0000"/>
                </a:solidFill>
                <a:latin typeface="Courier New"/>
                <a:cs typeface="Courier New"/>
              </a:rPr>
              <a:t> </a:t>
            </a:r>
            <a:r>
              <a:rPr dirty="0" sz="1300" spc="-10" b="1">
                <a:solidFill>
                  <a:srgbClr val="FF0000"/>
                </a:solidFill>
                <a:latin typeface="Courier New"/>
                <a:cs typeface="Courier New"/>
              </a:rPr>
              <a:t>constraint </a:t>
            </a:r>
            <a:r>
              <a:rPr dirty="0" sz="1300" b="1">
                <a:solidFill>
                  <a:srgbClr val="FF0000"/>
                </a:solidFill>
                <a:latin typeface="Courier New"/>
                <a:cs typeface="Courier New"/>
              </a:rPr>
              <a:t>(USWA_SKHS_SQL01_T01.CLIENT_EMAIL_UK)</a:t>
            </a:r>
            <a:r>
              <a:rPr dirty="0" sz="1300" spc="-170" b="1">
                <a:solidFill>
                  <a:srgbClr val="FF0000"/>
                </a:solidFill>
                <a:latin typeface="Courier New"/>
                <a:cs typeface="Courier New"/>
              </a:rPr>
              <a:t> </a:t>
            </a:r>
            <a:r>
              <a:rPr dirty="0" sz="1300" spc="-10" b="1">
                <a:solidFill>
                  <a:srgbClr val="FF0000"/>
                </a:solidFill>
                <a:latin typeface="Courier New"/>
                <a:cs typeface="Courier New"/>
              </a:rPr>
              <a:t>violated</a:t>
            </a:r>
            <a:endParaRPr sz="1300">
              <a:latin typeface="Courier New"/>
              <a:cs typeface="Courier New"/>
            </a:endParaRPr>
          </a:p>
        </p:txBody>
      </p:sp>
      <p:graphicFrame>
        <p:nvGraphicFramePr>
          <p:cNvPr id="5" name="object 5" descr=""/>
          <p:cNvGraphicFramePr>
            <a:graphicFrameLocks noGrp="1"/>
          </p:cNvGraphicFramePr>
          <p:nvPr/>
        </p:nvGraphicFramePr>
        <p:xfrm>
          <a:off x="832591" y="3930531"/>
          <a:ext cx="7579995" cy="1137920"/>
        </p:xfrm>
        <a:graphic>
          <a:graphicData uri="http://schemas.openxmlformats.org/drawingml/2006/table">
            <a:tbl>
              <a:tblPr firstRow="1" bandRow="1">
                <a:tableStyleId>{2D5ABB26-0587-4C30-8999-92F81FD0307C}</a:tableStyleId>
              </a:tblPr>
              <a:tblGrid>
                <a:gridCol w="1584960"/>
                <a:gridCol w="1229360"/>
                <a:gridCol w="1177925"/>
                <a:gridCol w="1242060"/>
                <a:gridCol w="2254250"/>
              </a:tblGrid>
              <a:tr h="284480">
                <a:tc>
                  <a:txBody>
                    <a:bodyPr/>
                    <a:lstStyle/>
                    <a:p>
                      <a:pPr marL="12700">
                        <a:lnSpc>
                          <a:spcPct val="100000"/>
                        </a:lnSpc>
                        <a:spcBef>
                          <a:spcPts val="70"/>
                        </a:spcBef>
                      </a:pPr>
                      <a:r>
                        <a:rPr dirty="0" sz="1600" spc="-10" b="1">
                          <a:solidFill>
                            <a:srgbClr val="4E3629"/>
                          </a:solidFill>
                          <a:latin typeface="Calibri"/>
                          <a:cs typeface="Calibri"/>
                        </a:rPr>
                        <a:t>CLIENT_NUMBER</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700">
                        <a:lnSpc>
                          <a:spcPct val="100000"/>
                        </a:lnSpc>
                        <a:spcBef>
                          <a:spcPts val="70"/>
                        </a:spcBef>
                      </a:pPr>
                      <a:r>
                        <a:rPr dirty="0" sz="1600" spc="-10" b="1">
                          <a:solidFill>
                            <a:srgbClr val="4E3629"/>
                          </a:solidFill>
                          <a:latin typeface="Calibri"/>
                          <a:cs typeface="Calibri"/>
                        </a:rPr>
                        <a:t>FIRST_NAME</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065">
                        <a:lnSpc>
                          <a:spcPct val="100000"/>
                        </a:lnSpc>
                        <a:spcBef>
                          <a:spcPts val="70"/>
                        </a:spcBef>
                      </a:pPr>
                      <a:r>
                        <a:rPr dirty="0" sz="1600" spc="-10" b="1">
                          <a:solidFill>
                            <a:srgbClr val="4E3629"/>
                          </a:solidFill>
                          <a:latin typeface="Calibri"/>
                          <a:cs typeface="Calibri"/>
                        </a:rPr>
                        <a:t>LAST_NAME</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700">
                        <a:lnSpc>
                          <a:spcPct val="100000"/>
                        </a:lnSpc>
                        <a:spcBef>
                          <a:spcPts val="70"/>
                        </a:spcBef>
                      </a:pPr>
                      <a:r>
                        <a:rPr dirty="0" sz="1600" spc="-10" b="1">
                          <a:solidFill>
                            <a:srgbClr val="4E3629"/>
                          </a:solidFill>
                          <a:latin typeface="Calibri"/>
                          <a:cs typeface="Calibri"/>
                        </a:rPr>
                        <a:t>PHONE</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700">
                        <a:lnSpc>
                          <a:spcPct val="100000"/>
                        </a:lnSpc>
                        <a:spcBef>
                          <a:spcPts val="70"/>
                        </a:spcBef>
                      </a:pPr>
                      <a:r>
                        <a:rPr dirty="0" sz="1600" spc="-10" b="1">
                          <a:solidFill>
                            <a:srgbClr val="4E3629"/>
                          </a:solidFill>
                          <a:latin typeface="Calibri"/>
                          <a:cs typeface="Calibri"/>
                        </a:rPr>
                        <a:t>EMAIL</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84480">
                <a:tc>
                  <a:txBody>
                    <a:bodyPr/>
                    <a:lstStyle/>
                    <a:p>
                      <a:pPr marL="12700">
                        <a:lnSpc>
                          <a:spcPct val="100000"/>
                        </a:lnSpc>
                        <a:spcBef>
                          <a:spcPts val="70"/>
                        </a:spcBef>
                      </a:pPr>
                      <a:r>
                        <a:rPr dirty="0" sz="1600" spc="-20">
                          <a:solidFill>
                            <a:srgbClr val="4E3629"/>
                          </a:solidFill>
                          <a:latin typeface="Calibri"/>
                          <a:cs typeface="Calibri"/>
                        </a:rPr>
                        <a:t>5922</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700">
                        <a:lnSpc>
                          <a:spcPct val="100000"/>
                        </a:lnSpc>
                        <a:spcBef>
                          <a:spcPts val="70"/>
                        </a:spcBef>
                      </a:pPr>
                      <a:r>
                        <a:rPr dirty="0" sz="1600" spc="-10">
                          <a:solidFill>
                            <a:srgbClr val="4E3629"/>
                          </a:solidFill>
                          <a:latin typeface="Calibri"/>
                          <a:cs typeface="Calibri"/>
                        </a:rPr>
                        <a:t>Hiram</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700">
                        <a:lnSpc>
                          <a:spcPct val="100000"/>
                        </a:lnSpc>
                        <a:spcBef>
                          <a:spcPts val="70"/>
                        </a:spcBef>
                      </a:pPr>
                      <a:r>
                        <a:rPr dirty="0" sz="1600" spc="-10">
                          <a:solidFill>
                            <a:srgbClr val="4E3629"/>
                          </a:solidFill>
                          <a:latin typeface="Calibri"/>
                          <a:cs typeface="Calibri"/>
                        </a:rPr>
                        <a:t>Peters</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700">
                        <a:lnSpc>
                          <a:spcPct val="100000"/>
                        </a:lnSpc>
                        <a:spcBef>
                          <a:spcPts val="70"/>
                        </a:spcBef>
                      </a:pPr>
                      <a:r>
                        <a:rPr dirty="0" sz="1600" spc="-10">
                          <a:solidFill>
                            <a:srgbClr val="4E3629"/>
                          </a:solidFill>
                          <a:latin typeface="Calibri"/>
                          <a:cs typeface="Calibri"/>
                        </a:rPr>
                        <a:t>3715832249</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700">
                        <a:lnSpc>
                          <a:spcPct val="100000"/>
                        </a:lnSpc>
                        <a:spcBef>
                          <a:spcPts val="70"/>
                        </a:spcBef>
                      </a:pPr>
                      <a:r>
                        <a:rPr dirty="0" sz="1600" spc="-10">
                          <a:solidFill>
                            <a:srgbClr val="4E3629"/>
                          </a:solidFill>
                          <a:latin typeface="Calibri"/>
                          <a:cs typeface="Calibri"/>
                          <a:hlinkClick r:id="rId2"/>
                        </a:rPr>
                        <a:t>hpeters@yahoo.com</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84480">
                <a:tc>
                  <a:txBody>
                    <a:bodyPr/>
                    <a:lstStyle/>
                    <a:p>
                      <a:pPr marL="12700">
                        <a:lnSpc>
                          <a:spcPct val="100000"/>
                        </a:lnSpc>
                        <a:spcBef>
                          <a:spcPts val="70"/>
                        </a:spcBef>
                      </a:pPr>
                      <a:r>
                        <a:rPr dirty="0" sz="1600" spc="-20">
                          <a:solidFill>
                            <a:srgbClr val="4E3629"/>
                          </a:solidFill>
                          <a:latin typeface="Calibri"/>
                          <a:cs typeface="Calibri"/>
                        </a:rPr>
                        <a:t>5857</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700">
                        <a:lnSpc>
                          <a:spcPct val="100000"/>
                        </a:lnSpc>
                        <a:spcBef>
                          <a:spcPts val="70"/>
                        </a:spcBef>
                      </a:pPr>
                      <a:r>
                        <a:rPr dirty="0" sz="1600" spc="-10">
                          <a:solidFill>
                            <a:srgbClr val="4E3629"/>
                          </a:solidFill>
                          <a:latin typeface="Calibri"/>
                          <a:cs typeface="Calibri"/>
                        </a:rPr>
                        <a:t>Serena</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700">
                        <a:lnSpc>
                          <a:spcPct val="100000"/>
                        </a:lnSpc>
                        <a:spcBef>
                          <a:spcPts val="70"/>
                        </a:spcBef>
                      </a:pPr>
                      <a:r>
                        <a:rPr dirty="0" sz="1600" spc="-10">
                          <a:solidFill>
                            <a:srgbClr val="4E3629"/>
                          </a:solidFill>
                          <a:latin typeface="Calibri"/>
                          <a:cs typeface="Calibri"/>
                        </a:rPr>
                        <a:t>Jones</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700">
                        <a:lnSpc>
                          <a:spcPct val="100000"/>
                        </a:lnSpc>
                        <a:spcBef>
                          <a:spcPts val="70"/>
                        </a:spcBef>
                      </a:pPr>
                      <a:r>
                        <a:rPr dirty="0" sz="1600" spc="-10">
                          <a:solidFill>
                            <a:srgbClr val="4E3629"/>
                          </a:solidFill>
                          <a:latin typeface="Calibri"/>
                          <a:cs typeface="Calibri"/>
                        </a:rPr>
                        <a:t>7035335900</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700">
                        <a:lnSpc>
                          <a:spcPct val="100000"/>
                        </a:lnSpc>
                        <a:spcBef>
                          <a:spcPts val="70"/>
                        </a:spcBef>
                      </a:pPr>
                      <a:r>
                        <a:rPr dirty="0" sz="1600" spc="-10">
                          <a:solidFill>
                            <a:srgbClr val="4E3629"/>
                          </a:solidFill>
                          <a:latin typeface="Calibri"/>
                          <a:cs typeface="Calibri"/>
                          <a:hlinkClick r:id="rId3"/>
                        </a:rPr>
                        <a:t>serena.jones@jones.com</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84480">
                <a:tc>
                  <a:txBody>
                    <a:bodyPr/>
                    <a:lstStyle/>
                    <a:p>
                      <a:pPr marL="12700">
                        <a:lnSpc>
                          <a:spcPct val="100000"/>
                        </a:lnSpc>
                        <a:spcBef>
                          <a:spcPts val="70"/>
                        </a:spcBef>
                      </a:pPr>
                      <a:r>
                        <a:rPr dirty="0" sz="1600" spc="-20">
                          <a:solidFill>
                            <a:srgbClr val="4E3629"/>
                          </a:solidFill>
                          <a:latin typeface="Calibri"/>
                          <a:cs typeface="Calibri"/>
                        </a:rPr>
                        <a:t>6133</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700">
                        <a:lnSpc>
                          <a:spcPct val="100000"/>
                        </a:lnSpc>
                        <a:spcBef>
                          <a:spcPts val="70"/>
                        </a:spcBef>
                      </a:pPr>
                      <a:r>
                        <a:rPr dirty="0" sz="1600" spc="-10">
                          <a:solidFill>
                            <a:srgbClr val="4E3629"/>
                          </a:solidFill>
                          <a:latin typeface="Calibri"/>
                          <a:cs typeface="Calibri"/>
                        </a:rPr>
                        <a:t>Lauren</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700">
                        <a:lnSpc>
                          <a:spcPct val="100000"/>
                        </a:lnSpc>
                        <a:spcBef>
                          <a:spcPts val="70"/>
                        </a:spcBef>
                      </a:pPr>
                      <a:r>
                        <a:rPr dirty="0" sz="1600" spc="-10">
                          <a:solidFill>
                            <a:srgbClr val="4E3629"/>
                          </a:solidFill>
                          <a:latin typeface="Calibri"/>
                          <a:cs typeface="Calibri"/>
                        </a:rPr>
                        <a:t>Vigil</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3335">
                        <a:lnSpc>
                          <a:spcPct val="100000"/>
                        </a:lnSpc>
                        <a:spcBef>
                          <a:spcPts val="70"/>
                        </a:spcBef>
                      </a:pPr>
                      <a:r>
                        <a:rPr dirty="0" sz="1600" spc="-10">
                          <a:solidFill>
                            <a:srgbClr val="4E3629"/>
                          </a:solidFill>
                          <a:latin typeface="Calibri"/>
                          <a:cs typeface="Calibri"/>
                        </a:rPr>
                        <a:t>4072220090</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3335">
                        <a:lnSpc>
                          <a:spcPct val="100000"/>
                        </a:lnSpc>
                        <a:spcBef>
                          <a:spcPts val="70"/>
                        </a:spcBef>
                      </a:pPr>
                      <a:r>
                        <a:rPr dirty="0" sz="1600" spc="-10">
                          <a:solidFill>
                            <a:srgbClr val="4E3629"/>
                          </a:solidFill>
                          <a:latin typeface="Calibri"/>
                          <a:cs typeface="Calibri"/>
                          <a:hlinkClick r:id="rId4"/>
                        </a:rPr>
                        <a:t>lbv@lbv.net</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6" name="object 6" descr=""/>
          <p:cNvSpPr txBox="1"/>
          <p:nvPr/>
        </p:nvSpPr>
        <p:spPr>
          <a:xfrm>
            <a:off x="417576" y="5186171"/>
            <a:ext cx="8345805" cy="711835"/>
          </a:xfrm>
          <a:prstGeom prst="rect">
            <a:avLst/>
          </a:prstGeom>
          <a:solidFill>
            <a:srgbClr val="9DBEC4">
              <a:alpha val="50199"/>
            </a:srgbClr>
          </a:solidFill>
        </p:spPr>
        <p:txBody>
          <a:bodyPr wrap="square" lIns="0" tIns="0" rIns="0" bIns="0" rtlCol="0" vert="horz">
            <a:spAutoFit/>
          </a:bodyPr>
          <a:lstStyle/>
          <a:p>
            <a:pPr>
              <a:lnSpc>
                <a:spcPts val="1745"/>
              </a:lnSpc>
            </a:pPr>
            <a:r>
              <a:rPr dirty="0" sz="1600" b="1">
                <a:solidFill>
                  <a:srgbClr val="4E3629"/>
                </a:solidFill>
                <a:latin typeface="Courier New"/>
                <a:cs typeface="Courier New"/>
              </a:rPr>
              <a:t>INSERT</a:t>
            </a:r>
            <a:r>
              <a:rPr dirty="0" sz="1600" spc="-70" b="1">
                <a:solidFill>
                  <a:srgbClr val="4E3629"/>
                </a:solidFill>
                <a:latin typeface="Courier New"/>
                <a:cs typeface="Courier New"/>
              </a:rPr>
              <a:t> </a:t>
            </a:r>
            <a:r>
              <a:rPr dirty="0" sz="1600" b="1">
                <a:solidFill>
                  <a:srgbClr val="4E3629"/>
                </a:solidFill>
                <a:latin typeface="Courier New"/>
                <a:cs typeface="Courier New"/>
              </a:rPr>
              <a:t>INTO</a:t>
            </a:r>
            <a:r>
              <a:rPr dirty="0" sz="1600" spc="-55" b="1">
                <a:solidFill>
                  <a:srgbClr val="4E3629"/>
                </a:solidFill>
                <a:latin typeface="Courier New"/>
                <a:cs typeface="Courier New"/>
              </a:rPr>
              <a:t> </a:t>
            </a:r>
            <a:r>
              <a:rPr dirty="0" sz="1800" b="1">
                <a:solidFill>
                  <a:srgbClr val="4E3629"/>
                </a:solidFill>
                <a:latin typeface="Courier New"/>
                <a:cs typeface="Courier New"/>
              </a:rPr>
              <a:t>clients</a:t>
            </a:r>
            <a:r>
              <a:rPr dirty="0" sz="1800" spc="-204" b="1">
                <a:solidFill>
                  <a:srgbClr val="4E3629"/>
                </a:solidFill>
                <a:latin typeface="Courier New"/>
                <a:cs typeface="Courier New"/>
              </a:rPr>
              <a:t> </a:t>
            </a:r>
            <a:r>
              <a:rPr dirty="0" sz="1600" b="1">
                <a:solidFill>
                  <a:srgbClr val="4E3629"/>
                </a:solidFill>
                <a:latin typeface="Courier New"/>
                <a:cs typeface="Courier New"/>
              </a:rPr>
              <a:t>(client_number,</a:t>
            </a:r>
            <a:r>
              <a:rPr dirty="0" sz="1600" spc="-55" b="1">
                <a:solidFill>
                  <a:srgbClr val="4E3629"/>
                </a:solidFill>
                <a:latin typeface="Courier New"/>
                <a:cs typeface="Courier New"/>
              </a:rPr>
              <a:t> </a:t>
            </a:r>
            <a:r>
              <a:rPr dirty="0" sz="1600" b="1">
                <a:solidFill>
                  <a:srgbClr val="4E3629"/>
                </a:solidFill>
                <a:latin typeface="Courier New"/>
                <a:cs typeface="Courier New"/>
              </a:rPr>
              <a:t>first_name,</a:t>
            </a:r>
            <a:r>
              <a:rPr dirty="0" sz="1600" spc="-60" b="1">
                <a:solidFill>
                  <a:srgbClr val="4E3629"/>
                </a:solidFill>
                <a:latin typeface="Courier New"/>
                <a:cs typeface="Courier New"/>
              </a:rPr>
              <a:t> </a:t>
            </a:r>
            <a:r>
              <a:rPr dirty="0" sz="1600" b="1">
                <a:solidFill>
                  <a:srgbClr val="4E3629"/>
                </a:solidFill>
                <a:latin typeface="Courier New"/>
                <a:cs typeface="Courier New"/>
              </a:rPr>
              <a:t>Last_name,</a:t>
            </a:r>
            <a:r>
              <a:rPr dirty="0" sz="1600" spc="-65" b="1">
                <a:solidFill>
                  <a:srgbClr val="4E3629"/>
                </a:solidFill>
                <a:latin typeface="Courier New"/>
                <a:cs typeface="Courier New"/>
              </a:rPr>
              <a:t> </a:t>
            </a:r>
            <a:r>
              <a:rPr dirty="0" sz="1600" spc="-10" b="1">
                <a:solidFill>
                  <a:srgbClr val="4E3629"/>
                </a:solidFill>
                <a:latin typeface="Courier New"/>
                <a:cs typeface="Courier New"/>
              </a:rPr>
              <a:t>phone,</a:t>
            </a:r>
            <a:endParaRPr sz="1600">
              <a:latin typeface="Courier New"/>
              <a:cs typeface="Courier New"/>
            </a:endParaRPr>
          </a:p>
          <a:p>
            <a:pPr>
              <a:lnSpc>
                <a:spcPct val="100000"/>
              </a:lnSpc>
              <a:spcBef>
                <a:spcPts val="30"/>
              </a:spcBef>
            </a:pPr>
            <a:r>
              <a:rPr dirty="0" sz="1600" spc="-10" b="1">
                <a:solidFill>
                  <a:srgbClr val="4E3629"/>
                </a:solidFill>
                <a:latin typeface="Courier New"/>
                <a:cs typeface="Courier New"/>
              </a:rPr>
              <a:t>email)</a:t>
            </a:r>
            <a:endParaRPr sz="1600">
              <a:latin typeface="Courier New"/>
              <a:cs typeface="Courier New"/>
            </a:endParaRPr>
          </a:p>
          <a:p>
            <a:pPr marL="365125">
              <a:lnSpc>
                <a:spcPts val="1910"/>
              </a:lnSpc>
            </a:pPr>
            <a:r>
              <a:rPr dirty="0" sz="1600" b="1">
                <a:solidFill>
                  <a:srgbClr val="4E3629"/>
                </a:solidFill>
                <a:latin typeface="Courier New"/>
                <a:cs typeface="Courier New"/>
              </a:rPr>
              <a:t>VALUES</a:t>
            </a:r>
            <a:r>
              <a:rPr dirty="0" sz="1600" spc="-65" b="1">
                <a:solidFill>
                  <a:srgbClr val="4E3629"/>
                </a:solidFill>
                <a:latin typeface="Courier New"/>
                <a:cs typeface="Courier New"/>
              </a:rPr>
              <a:t> </a:t>
            </a:r>
            <a:r>
              <a:rPr dirty="0" sz="1600" b="1">
                <a:solidFill>
                  <a:srgbClr val="4E3629"/>
                </a:solidFill>
                <a:latin typeface="Courier New"/>
                <a:cs typeface="Courier New"/>
              </a:rPr>
              <a:t>(7234,</a:t>
            </a:r>
            <a:r>
              <a:rPr dirty="0" sz="1600" spc="-60" b="1">
                <a:solidFill>
                  <a:srgbClr val="4E3629"/>
                </a:solidFill>
                <a:latin typeface="Courier New"/>
                <a:cs typeface="Courier New"/>
              </a:rPr>
              <a:t> </a:t>
            </a:r>
            <a:r>
              <a:rPr dirty="0" sz="1600" b="1">
                <a:solidFill>
                  <a:srgbClr val="4E3629"/>
                </a:solidFill>
                <a:latin typeface="Courier New"/>
                <a:cs typeface="Courier New"/>
              </a:rPr>
              <a:t>'Lonny',</a:t>
            </a:r>
            <a:r>
              <a:rPr dirty="0" sz="1600" spc="-60" b="1">
                <a:solidFill>
                  <a:srgbClr val="4E3629"/>
                </a:solidFill>
                <a:latin typeface="Courier New"/>
                <a:cs typeface="Courier New"/>
              </a:rPr>
              <a:t> </a:t>
            </a:r>
            <a:r>
              <a:rPr dirty="0" sz="1600" b="1">
                <a:solidFill>
                  <a:srgbClr val="4E3629"/>
                </a:solidFill>
                <a:latin typeface="Courier New"/>
                <a:cs typeface="Courier New"/>
              </a:rPr>
              <a:t>'Vigil',</a:t>
            </a:r>
            <a:r>
              <a:rPr dirty="0" sz="1600" spc="-60" b="1">
                <a:solidFill>
                  <a:srgbClr val="4E3629"/>
                </a:solidFill>
                <a:latin typeface="Courier New"/>
                <a:cs typeface="Courier New"/>
              </a:rPr>
              <a:t> </a:t>
            </a:r>
            <a:r>
              <a:rPr dirty="0" sz="1600" b="1">
                <a:solidFill>
                  <a:srgbClr val="4E3629"/>
                </a:solidFill>
                <a:latin typeface="Courier New"/>
                <a:cs typeface="Courier New"/>
              </a:rPr>
              <a:t>4072220091,</a:t>
            </a:r>
            <a:r>
              <a:rPr dirty="0" sz="1600" spc="-65" b="1">
                <a:solidFill>
                  <a:srgbClr val="4E3629"/>
                </a:solidFill>
                <a:latin typeface="Courier New"/>
                <a:cs typeface="Courier New"/>
              </a:rPr>
              <a:t> </a:t>
            </a:r>
            <a:r>
              <a:rPr dirty="0" sz="1600" spc="-10" b="1">
                <a:solidFill>
                  <a:srgbClr val="4E3629"/>
                </a:solidFill>
                <a:latin typeface="Courier New"/>
                <a:cs typeface="Courier New"/>
                <a:hlinkClick r:id="rId5"/>
              </a:rPr>
              <a:t>'</a:t>
            </a:r>
            <a:r>
              <a:rPr dirty="0" sz="1600" spc="-10" b="1">
                <a:solidFill>
                  <a:srgbClr val="D1350F"/>
                </a:solidFill>
                <a:latin typeface="Courier New"/>
                <a:cs typeface="Courier New"/>
                <a:hlinkClick r:id="rId5"/>
              </a:rPr>
              <a:t>lbv@lbv.net</a:t>
            </a:r>
            <a:r>
              <a:rPr dirty="0" sz="1600" spc="-10" b="1">
                <a:solidFill>
                  <a:srgbClr val="4E3629"/>
                </a:solidFill>
                <a:latin typeface="Courier New"/>
                <a:cs typeface="Courier New"/>
                <a:hlinkClick r:id="rId5"/>
              </a:rPr>
              <a:t>');</a:t>
            </a:r>
            <a:endParaRPr sz="1600">
              <a:latin typeface="Courier New"/>
              <a:cs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3" name="object 3" descr=""/>
          <p:cNvSpPr/>
          <p:nvPr/>
        </p:nvSpPr>
        <p:spPr>
          <a:xfrm>
            <a:off x="1538795" y="1850618"/>
            <a:ext cx="524510" cy="380365"/>
          </a:xfrm>
          <a:custGeom>
            <a:avLst/>
            <a:gdLst/>
            <a:ahLst/>
            <a:cxnLst/>
            <a:rect l="l" t="t" r="r" b="b"/>
            <a:pathLst>
              <a:path w="524510" h="380364">
                <a:moveTo>
                  <a:pt x="95021" y="380085"/>
                </a:moveTo>
                <a:lnTo>
                  <a:pt x="88417" y="377583"/>
                </a:lnTo>
                <a:lnTo>
                  <a:pt x="81800" y="380085"/>
                </a:lnTo>
                <a:lnTo>
                  <a:pt x="95021" y="380085"/>
                </a:lnTo>
                <a:close/>
              </a:path>
              <a:path w="524510" h="380364">
                <a:moveTo>
                  <a:pt x="95021" y="0"/>
                </a:moveTo>
                <a:lnTo>
                  <a:pt x="81800" y="0"/>
                </a:lnTo>
                <a:lnTo>
                  <a:pt x="88417" y="2489"/>
                </a:lnTo>
                <a:lnTo>
                  <a:pt x="95021" y="0"/>
                </a:lnTo>
                <a:close/>
              </a:path>
              <a:path w="524510" h="380364">
                <a:moveTo>
                  <a:pt x="176834" y="190042"/>
                </a:moveTo>
                <a:lnTo>
                  <a:pt x="171513" y="133781"/>
                </a:lnTo>
                <a:lnTo>
                  <a:pt x="157060" y="82092"/>
                </a:lnTo>
                <a:lnTo>
                  <a:pt x="135775" y="39522"/>
                </a:lnTo>
                <a:lnTo>
                  <a:pt x="109931" y="10642"/>
                </a:lnTo>
                <a:lnTo>
                  <a:pt x="88417" y="2489"/>
                </a:lnTo>
                <a:lnTo>
                  <a:pt x="66890" y="10642"/>
                </a:lnTo>
                <a:lnTo>
                  <a:pt x="41046" y="39522"/>
                </a:lnTo>
                <a:lnTo>
                  <a:pt x="19761" y="82092"/>
                </a:lnTo>
                <a:lnTo>
                  <a:pt x="5308" y="133781"/>
                </a:lnTo>
                <a:lnTo>
                  <a:pt x="0" y="190042"/>
                </a:lnTo>
                <a:lnTo>
                  <a:pt x="5308" y="246291"/>
                </a:lnTo>
                <a:lnTo>
                  <a:pt x="19761" y="297980"/>
                </a:lnTo>
                <a:lnTo>
                  <a:pt x="41046" y="340550"/>
                </a:lnTo>
                <a:lnTo>
                  <a:pt x="66890" y="369443"/>
                </a:lnTo>
                <a:lnTo>
                  <a:pt x="88417" y="377583"/>
                </a:lnTo>
                <a:lnTo>
                  <a:pt x="109931" y="369443"/>
                </a:lnTo>
                <a:lnTo>
                  <a:pt x="135775" y="340550"/>
                </a:lnTo>
                <a:lnTo>
                  <a:pt x="157060" y="297980"/>
                </a:lnTo>
                <a:lnTo>
                  <a:pt x="171513" y="246291"/>
                </a:lnTo>
                <a:lnTo>
                  <a:pt x="176834" y="190042"/>
                </a:lnTo>
                <a:close/>
              </a:path>
              <a:path w="524510" h="380364">
                <a:moveTo>
                  <a:pt x="524319" y="190042"/>
                </a:moveTo>
                <a:lnTo>
                  <a:pt x="518998" y="133781"/>
                </a:lnTo>
                <a:lnTo>
                  <a:pt x="504558" y="82092"/>
                </a:lnTo>
                <a:lnTo>
                  <a:pt x="483273" y="39522"/>
                </a:lnTo>
                <a:lnTo>
                  <a:pt x="457428" y="10642"/>
                </a:lnTo>
                <a:lnTo>
                  <a:pt x="429298" y="0"/>
                </a:lnTo>
                <a:lnTo>
                  <a:pt x="271856" y="0"/>
                </a:lnTo>
                <a:lnTo>
                  <a:pt x="217881" y="39522"/>
                </a:lnTo>
                <a:lnTo>
                  <a:pt x="196596" y="82092"/>
                </a:lnTo>
                <a:lnTo>
                  <a:pt x="182156" y="133781"/>
                </a:lnTo>
                <a:lnTo>
                  <a:pt x="176834" y="190042"/>
                </a:lnTo>
                <a:lnTo>
                  <a:pt x="182156" y="246291"/>
                </a:lnTo>
                <a:lnTo>
                  <a:pt x="196596" y="297980"/>
                </a:lnTo>
                <a:lnTo>
                  <a:pt x="217881" y="340550"/>
                </a:lnTo>
                <a:lnTo>
                  <a:pt x="243725" y="369443"/>
                </a:lnTo>
                <a:lnTo>
                  <a:pt x="271856" y="380085"/>
                </a:lnTo>
                <a:lnTo>
                  <a:pt x="429298" y="380085"/>
                </a:lnTo>
                <a:lnTo>
                  <a:pt x="483273" y="340550"/>
                </a:lnTo>
                <a:lnTo>
                  <a:pt x="504558" y="297980"/>
                </a:lnTo>
                <a:lnTo>
                  <a:pt x="518998" y="246291"/>
                </a:lnTo>
                <a:lnTo>
                  <a:pt x="524319" y="190042"/>
                </a:lnTo>
                <a:close/>
              </a:path>
            </a:pathLst>
          </a:custGeom>
          <a:solidFill>
            <a:srgbClr val="FACD5A"/>
          </a:solidFill>
        </p:spPr>
        <p:txBody>
          <a:bodyPr wrap="square" lIns="0" tIns="0" rIns="0" bIns="0" rtlCol="0"/>
          <a:lstStyle/>
          <a:p/>
        </p:txBody>
      </p:sp>
      <p:pic>
        <p:nvPicPr>
          <p:cNvPr id="4" name="object 4" descr=""/>
          <p:cNvPicPr/>
          <p:nvPr/>
        </p:nvPicPr>
        <p:blipFill>
          <a:blip r:embed="rId2" cstate="print"/>
          <a:stretch>
            <a:fillRect/>
          </a:stretch>
        </p:blipFill>
        <p:spPr>
          <a:xfrm>
            <a:off x="0" y="0"/>
            <a:ext cx="9144000" cy="254507"/>
          </a:xfrm>
          <a:prstGeom prst="rect">
            <a:avLst/>
          </a:prstGeom>
        </p:spPr>
      </p:pic>
      <p:pic>
        <p:nvPicPr>
          <p:cNvPr id="5" name="object 5" descr=""/>
          <p:cNvPicPr/>
          <p:nvPr/>
        </p:nvPicPr>
        <p:blipFill>
          <a:blip r:embed="rId3" cstate="print"/>
          <a:stretch>
            <a:fillRect/>
          </a:stretch>
        </p:blipFill>
        <p:spPr>
          <a:xfrm>
            <a:off x="405384" y="6178295"/>
            <a:ext cx="1258824" cy="420624"/>
          </a:xfrm>
          <a:prstGeom prst="rect">
            <a:avLst/>
          </a:prstGeom>
        </p:spPr>
      </p:pic>
      <p:sp>
        <p:nvSpPr>
          <p:cNvPr id="6" name="object 6"/>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Definición</a:t>
            </a:r>
            <a:r>
              <a:rPr dirty="0" spc="-75"/>
              <a:t> </a:t>
            </a:r>
            <a:r>
              <a:rPr dirty="0"/>
              <a:t>de</a:t>
            </a:r>
            <a:r>
              <a:rPr dirty="0" spc="-85"/>
              <a:t> </a:t>
            </a:r>
            <a:r>
              <a:rPr dirty="0" spc="-10"/>
              <a:t>Restricciones</a:t>
            </a:r>
            <a:r>
              <a:rPr dirty="0" spc="-90"/>
              <a:t> </a:t>
            </a:r>
            <a:r>
              <a:rPr dirty="0" spc="-10"/>
              <a:t>UNIQUE</a:t>
            </a:r>
          </a:p>
        </p:txBody>
      </p:sp>
      <p:sp>
        <p:nvSpPr>
          <p:cNvPr id="9" name="object 9"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10" name="object 10"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28</a:t>
            </a:r>
          </a:p>
        </p:txBody>
      </p:sp>
      <p:sp>
        <p:nvSpPr>
          <p:cNvPr id="11" name="object 11"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a:spLocks noGrp="1"/>
          </p:cNvSpPr>
          <p:nvPr>
            <p:ph type="body" idx="1"/>
          </p:nvPr>
        </p:nvSpPr>
        <p:spPr>
          <a:prstGeom prst="rect"/>
        </p:spPr>
        <p:txBody>
          <a:bodyPr wrap="square" lIns="0" tIns="119735" rIns="0" bIns="0" rtlCol="0" vert="horz">
            <a:spAutoFit/>
          </a:bodyPr>
          <a:lstStyle/>
          <a:p>
            <a:pPr marL="182880" marR="347980" indent="-170815">
              <a:lnSpc>
                <a:spcPts val="3030"/>
              </a:lnSpc>
              <a:spcBef>
                <a:spcPts val="470"/>
              </a:spcBef>
              <a:buClr>
                <a:srgbClr val="D1350F"/>
              </a:buClr>
              <a:buFont typeface="Arial MT"/>
              <a:buChar char="•"/>
              <a:tabLst>
                <a:tab pos="184785" algn="l"/>
              </a:tabLst>
            </a:pPr>
            <a:r>
              <a:rPr dirty="0"/>
              <a:t>Al</a:t>
            </a:r>
            <a:r>
              <a:rPr dirty="0" spc="-70"/>
              <a:t> </a:t>
            </a:r>
            <a:r>
              <a:rPr dirty="0"/>
              <a:t>definir</a:t>
            </a:r>
            <a:r>
              <a:rPr dirty="0" spc="-60"/>
              <a:t> </a:t>
            </a:r>
            <a:r>
              <a:rPr dirty="0" spc="-10"/>
              <a:t>restricciones</a:t>
            </a:r>
            <a:r>
              <a:rPr dirty="0" spc="-55"/>
              <a:t> </a:t>
            </a:r>
            <a:r>
              <a:rPr dirty="0"/>
              <a:t>UNIQUE,</a:t>
            </a:r>
            <a:r>
              <a:rPr dirty="0" spc="-70"/>
              <a:t> </a:t>
            </a:r>
            <a:r>
              <a:rPr dirty="0"/>
              <a:t>es</a:t>
            </a:r>
            <a:r>
              <a:rPr dirty="0" spc="-75"/>
              <a:t> </a:t>
            </a:r>
            <a:r>
              <a:rPr dirty="0"/>
              <a:t>habitual</a:t>
            </a:r>
            <a:r>
              <a:rPr dirty="0" spc="-60"/>
              <a:t> </a:t>
            </a:r>
            <a:r>
              <a:rPr dirty="0"/>
              <a:t>utilizar</a:t>
            </a:r>
            <a:r>
              <a:rPr dirty="0" spc="-65"/>
              <a:t> </a:t>
            </a:r>
            <a:r>
              <a:rPr dirty="0" spc="-25"/>
              <a:t>el </a:t>
            </a:r>
            <a:r>
              <a:rPr dirty="0" spc="-25"/>
              <a:t>	</a:t>
            </a:r>
            <a:r>
              <a:rPr dirty="0"/>
              <a:t>sufijo</a:t>
            </a:r>
            <a:r>
              <a:rPr dirty="0" spc="-25"/>
              <a:t> </a:t>
            </a:r>
            <a:r>
              <a:rPr dirty="0"/>
              <a:t>_uk</a:t>
            </a:r>
            <a:r>
              <a:rPr dirty="0" spc="-35"/>
              <a:t> </a:t>
            </a:r>
            <a:r>
              <a:rPr dirty="0"/>
              <a:t>en</a:t>
            </a:r>
            <a:r>
              <a:rPr dirty="0" spc="-55"/>
              <a:t> </a:t>
            </a:r>
            <a:r>
              <a:rPr dirty="0"/>
              <a:t>el</a:t>
            </a:r>
            <a:r>
              <a:rPr dirty="0" spc="-60"/>
              <a:t> </a:t>
            </a:r>
            <a:r>
              <a:rPr dirty="0"/>
              <a:t>nombre</a:t>
            </a:r>
            <a:r>
              <a:rPr dirty="0" spc="-30"/>
              <a:t> </a:t>
            </a:r>
            <a:r>
              <a:rPr dirty="0"/>
              <a:t>de</a:t>
            </a:r>
            <a:r>
              <a:rPr dirty="0" spc="-35"/>
              <a:t> </a:t>
            </a:r>
            <a:r>
              <a:rPr dirty="0" spc="-10"/>
              <a:t>restricción</a:t>
            </a:r>
          </a:p>
          <a:p>
            <a:pPr marL="182880" marR="178435" indent="-170815">
              <a:lnSpc>
                <a:spcPts val="3030"/>
              </a:lnSpc>
              <a:spcBef>
                <a:spcPts val="795"/>
              </a:spcBef>
              <a:buClr>
                <a:srgbClr val="D1350F"/>
              </a:buClr>
              <a:buFont typeface="Arial MT"/>
              <a:buChar char="•"/>
              <a:tabLst>
                <a:tab pos="184785" algn="l"/>
              </a:tabLst>
            </a:pPr>
            <a:r>
              <a:rPr dirty="0"/>
              <a:t>Por</a:t>
            </a:r>
            <a:r>
              <a:rPr dirty="0" spc="-65"/>
              <a:t> </a:t>
            </a:r>
            <a:r>
              <a:rPr dirty="0"/>
              <a:t>ejemplo,</a:t>
            </a:r>
            <a:r>
              <a:rPr dirty="0" spc="-55"/>
              <a:t> </a:t>
            </a:r>
            <a:r>
              <a:rPr dirty="0"/>
              <a:t>el</a:t>
            </a:r>
            <a:r>
              <a:rPr dirty="0" spc="-85"/>
              <a:t> </a:t>
            </a:r>
            <a:r>
              <a:rPr dirty="0"/>
              <a:t>nombre</a:t>
            </a:r>
            <a:r>
              <a:rPr dirty="0" spc="-50"/>
              <a:t> </a:t>
            </a:r>
            <a:r>
              <a:rPr dirty="0"/>
              <a:t>de</a:t>
            </a:r>
            <a:r>
              <a:rPr dirty="0" spc="-70"/>
              <a:t> </a:t>
            </a:r>
            <a:r>
              <a:rPr dirty="0" spc="-10"/>
              <a:t>restricción</a:t>
            </a:r>
            <a:r>
              <a:rPr dirty="0" spc="-50"/>
              <a:t> </a:t>
            </a:r>
            <a:r>
              <a:rPr dirty="0"/>
              <a:t>para</a:t>
            </a:r>
            <a:r>
              <a:rPr dirty="0" spc="-65"/>
              <a:t> </a:t>
            </a:r>
            <a:r>
              <a:rPr dirty="0"/>
              <a:t>la</a:t>
            </a:r>
            <a:r>
              <a:rPr dirty="0" spc="-70"/>
              <a:t> </a:t>
            </a:r>
            <a:r>
              <a:rPr dirty="0" spc="-10"/>
              <a:t>columna </a:t>
            </a:r>
            <a:r>
              <a:rPr dirty="0" spc="-10"/>
              <a:t>	</a:t>
            </a:r>
            <a:r>
              <a:rPr dirty="0"/>
              <a:t>de</a:t>
            </a:r>
            <a:r>
              <a:rPr dirty="0" spc="-60"/>
              <a:t> </a:t>
            </a:r>
            <a:r>
              <a:rPr dirty="0"/>
              <a:t>correo</a:t>
            </a:r>
            <a:r>
              <a:rPr dirty="0" spc="-65"/>
              <a:t> </a:t>
            </a:r>
            <a:r>
              <a:rPr dirty="0" spc="-10"/>
              <a:t>electrónico</a:t>
            </a:r>
            <a:r>
              <a:rPr dirty="0" spc="-50"/>
              <a:t> </a:t>
            </a:r>
            <a:r>
              <a:rPr dirty="0"/>
              <a:t>UNIQUE</a:t>
            </a:r>
            <a:r>
              <a:rPr dirty="0" spc="-60"/>
              <a:t> </a:t>
            </a:r>
            <a:r>
              <a:rPr dirty="0"/>
              <a:t>de</a:t>
            </a:r>
            <a:r>
              <a:rPr dirty="0" spc="-55"/>
              <a:t> </a:t>
            </a:r>
            <a:r>
              <a:rPr dirty="0"/>
              <a:t>la</a:t>
            </a:r>
            <a:r>
              <a:rPr dirty="0" spc="-75"/>
              <a:t> </a:t>
            </a:r>
            <a:r>
              <a:rPr dirty="0"/>
              <a:t>tabla</a:t>
            </a:r>
            <a:r>
              <a:rPr dirty="0" spc="-55"/>
              <a:t> </a:t>
            </a:r>
            <a:r>
              <a:rPr dirty="0" spc="-25"/>
              <a:t>de </a:t>
            </a:r>
            <a:r>
              <a:rPr dirty="0" spc="-25"/>
              <a:t>	</a:t>
            </a:r>
            <a:r>
              <a:rPr dirty="0"/>
              <a:t>empleados</a:t>
            </a:r>
            <a:r>
              <a:rPr dirty="0" spc="-55"/>
              <a:t> </a:t>
            </a:r>
            <a:r>
              <a:rPr dirty="0"/>
              <a:t>podría</a:t>
            </a:r>
            <a:r>
              <a:rPr dirty="0" spc="-50"/>
              <a:t> </a:t>
            </a:r>
            <a:r>
              <a:rPr dirty="0"/>
              <a:t>ser</a:t>
            </a:r>
            <a:r>
              <a:rPr dirty="0" spc="-80"/>
              <a:t> </a:t>
            </a:r>
            <a:r>
              <a:rPr dirty="0" spc="-10"/>
              <a:t>emp_email_uk</a:t>
            </a:r>
          </a:p>
          <a:p>
            <a:pPr marL="182880" marR="116205" indent="-170815">
              <a:lnSpc>
                <a:spcPts val="3030"/>
              </a:lnSpc>
              <a:spcBef>
                <a:spcPts val="785"/>
              </a:spcBef>
              <a:buClr>
                <a:srgbClr val="D1350F"/>
              </a:buClr>
              <a:buFont typeface="Arial MT"/>
              <a:buChar char="•"/>
              <a:tabLst>
                <a:tab pos="184785" algn="l"/>
              </a:tabLst>
            </a:pPr>
            <a:r>
              <a:rPr dirty="0" spc="-10"/>
              <a:t>Para</a:t>
            </a:r>
            <a:r>
              <a:rPr dirty="0" spc="-85"/>
              <a:t> </a:t>
            </a:r>
            <a:r>
              <a:rPr dirty="0"/>
              <a:t>definir</a:t>
            </a:r>
            <a:r>
              <a:rPr dirty="0" spc="-70"/>
              <a:t> </a:t>
            </a:r>
            <a:r>
              <a:rPr dirty="0"/>
              <a:t>una</a:t>
            </a:r>
            <a:r>
              <a:rPr dirty="0" spc="-60"/>
              <a:t> </a:t>
            </a:r>
            <a:r>
              <a:rPr dirty="0"/>
              <a:t>clave</a:t>
            </a:r>
            <a:r>
              <a:rPr dirty="0" spc="-95"/>
              <a:t> </a:t>
            </a:r>
            <a:r>
              <a:rPr dirty="0"/>
              <a:t>única</a:t>
            </a:r>
            <a:r>
              <a:rPr dirty="0" spc="-60"/>
              <a:t> </a:t>
            </a:r>
            <a:r>
              <a:rPr dirty="0" spc="-10"/>
              <a:t>compuesta,</a:t>
            </a:r>
            <a:r>
              <a:rPr dirty="0" spc="-55"/>
              <a:t> </a:t>
            </a:r>
            <a:r>
              <a:rPr dirty="0"/>
              <a:t>debe</a:t>
            </a:r>
            <a:r>
              <a:rPr dirty="0" spc="-80"/>
              <a:t> </a:t>
            </a:r>
            <a:r>
              <a:rPr dirty="0"/>
              <a:t>definir</a:t>
            </a:r>
            <a:r>
              <a:rPr dirty="0" spc="-65"/>
              <a:t> </a:t>
            </a:r>
            <a:r>
              <a:rPr dirty="0" spc="-25"/>
              <a:t>la </a:t>
            </a:r>
            <a:r>
              <a:rPr dirty="0" spc="-25"/>
              <a:t>	</a:t>
            </a:r>
            <a:r>
              <a:rPr dirty="0" spc="-10"/>
              <a:t>restricción</a:t>
            </a:r>
            <a:r>
              <a:rPr dirty="0" spc="-25"/>
              <a:t> </a:t>
            </a:r>
            <a:r>
              <a:rPr dirty="0"/>
              <a:t>en</a:t>
            </a:r>
            <a:r>
              <a:rPr dirty="0" spc="-30"/>
              <a:t> </a:t>
            </a:r>
            <a:r>
              <a:rPr dirty="0"/>
              <a:t>el</a:t>
            </a:r>
            <a:r>
              <a:rPr dirty="0" spc="-50"/>
              <a:t> </a:t>
            </a:r>
            <a:r>
              <a:rPr dirty="0"/>
              <a:t>nivel</a:t>
            </a:r>
            <a:r>
              <a:rPr dirty="0" spc="-35"/>
              <a:t> </a:t>
            </a:r>
            <a:r>
              <a:rPr dirty="0"/>
              <a:t>de</a:t>
            </a:r>
            <a:r>
              <a:rPr dirty="0" spc="-40"/>
              <a:t> </a:t>
            </a:r>
            <a:r>
              <a:rPr dirty="0"/>
              <a:t>tabla</a:t>
            </a:r>
            <a:r>
              <a:rPr dirty="0" spc="-25"/>
              <a:t> </a:t>
            </a:r>
            <a:r>
              <a:rPr dirty="0"/>
              <a:t>en</a:t>
            </a:r>
            <a:r>
              <a:rPr dirty="0" spc="-45"/>
              <a:t> </a:t>
            </a:r>
            <a:r>
              <a:rPr dirty="0"/>
              <a:t>lugar</a:t>
            </a:r>
            <a:r>
              <a:rPr dirty="0" spc="-40"/>
              <a:t> </a:t>
            </a:r>
            <a:r>
              <a:rPr dirty="0"/>
              <a:t>del</a:t>
            </a:r>
            <a:r>
              <a:rPr dirty="0" spc="-35"/>
              <a:t> </a:t>
            </a:r>
            <a:r>
              <a:rPr dirty="0"/>
              <a:t>nivel</a:t>
            </a:r>
            <a:r>
              <a:rPr dirty="0" spc="-40"/>
              <a:t> </a:t>
            </a:r>
            <a:r>
              <a:rPr dirty="0" spc="-25"/>
              <a:t>de </a:t>
            </a:r>
            <a:r>
              <a:rPr dirty="0" spc="-25"/>
              <a:t>	</a:t>
            </a:r>
            <a:r>
              <a:rPr dirty="0" spc="-10"/>
              <a:t>columna</a:t>
            </a:r>
          </a:p>
          <a:p>
            <a:pPr marL="183515" indent="-170815">
              <a:lnSpc>
                <a:spcPct val="100000"/>
              </a:lnSpc>
              <a:spcBef>
                <a:spcPts val="395"/>
              </a:spcBef>
              <a:buClr>
                <a:srgbClr val="D1350F"/>
              </a:buClr>
              <a:buFont typeface="Arial MT"/>
              <a:buChar char="•"/>
              <a:tabLst>
                <a:tab pos="183515" algn="l"/>
              </a:tabLst>
            </a:pPr>
            <a:r>
              <a:rPr dirty="0"/>
              <a:t>Un</a:t>
            </a:r>
            <a:r>
              <a:rPr dirty="0" spc="-55"/>
              <a:t> </a:t>
            </a:r>
            <a:r>
              <a:rPr dirty="0"/>
              <a:t>ejemplo</a:t>
            </a:r>
            <a:r>
              <a:rPr dirty="0" spc="-50"/>
              <a:t> </a:t>
            </a:r>
            <a:r>
              <a:rPr dirty="0"/>
              <a:t>de</a:t>
            </a:r>
            <a:r>
              <a:rPr dirty="0" spc="-55"/>
              <a:t> </a:t>
            </a:r>
            <a:r>
              <a:rPr dirty="0"/>
              <a:t>nombre</a:t>
            </a:r>
            <a:r>
              <a:rPr dirty="0" spc="-40"/>
              <a:t> </a:t>
            </a:r>
            <a:r>
              <a:rPr dirty="0"/>
              <a:t>de</a:t>
            </a:r>
            <a:r>
              <a:rPr dirty="0" spc="-50"/>
              <a:t> </a:t>
            </a:r>
            <a:r>
              <a:rPr dirty="0" spc="-10"/>
              <a:t>restricción</a:t>
            </a:r>
            <a:r>
              <a:rPr dirty="0" spc="-45"/>
              <a:t> </a:t>
            </a:r>
            <a:r>
              <a:rPr dirty="0"/>
              <a:t>de</a:t>
            </a:r>
            <a:r>
              <a:rPr dirty="0" spc="-50"/>
              <a:t> </a:t>
            </a:r>
            <a:r>
              <a:rPr dirty="0"/>
              <a:t>clave</a:t>
            </a:r>
            <a:r>
              <a:rPr dirty="0" spc="-75"/>
              <a:t> </a:t>
            </a:r>
            <a:r>
              <a:rPr dirty="0"/>
              <a:t>única</a:t>
            </a:r>
            <a:r>
              <a:rPr dirty="0" spc="-45"/>
              <a:t> </a:t>
            </a:r>
            <a:r>
              <a:rPr dirty="0" spc="-25"/>
              <a:t>es:</a:t>
            </a:r>
          </a:p>
        </p:txBody>
      </p:sp>
      <p:sp>
        <p:nvSpPr>
          <p:cNvPr id="8" name="object 8" descr=""/>
          <p:cNvSpPr txBox="1"/>
          <p:nvPr/>
        </p:nvSpPr>
        <p:spPr>
          <a:xfrm>
            <a:off x="405384" y="5410200"/>
            <a:ext cx="8345805" cy="411480"/>
          </a:xfrm>
          <a:prstGeom prst="rect">
            <a:avLst/>
          </a:prstGeom>
          <a:solidFill>
            <a:srgbClr val="9DBEC4">
              <a:alpha val="50199"/>
            </a:srgbClr>
          </a:solidFill>
        </p:spPr>
        <p:txBody>
          <a:bodyPr wrap="square" lIns="0" tIns="60325" rIns="0" bIns="0" rtlCol="0" vert="horz">
            <a:spAutoFit/>
          </a:bodyPr>
          <a:lstStyle/>
          <a:p>
            <a:pPr>
              <a:lnSpc>
                <a:spcPct val="100000"/>
              </a:lnSpc>
              <a:spcBef>
                <a:spcPts val="475"/>
              </a:spcBef>
            </a:pPr>
            <a:r>
              <a:rPr dirty="0" sz="1600" b="1">
                <a:solidFill>
                  <a:srgbClr val="4E3629"/>
                </a:solidFill>
                <a:latin typeface="Courier New"/>
                <a:cs typeface="Courier New"/>
              </a:rPr>
              <a:t>CONSTRAINT</a:t>
            </a:r>
            <a:r>
              <a:rPr dirty="0" sz="1600" spc="-125" b="1">
                <a:solidFill>
                  <a:srgbClr val="4E3629"/>
                </a:solidFill>
                <a:latin typeface="Courier New"/>
                <a:cs typeface="Courier New"/>
              </a:rPr>
              <a:t> </a:t>
            </a:r>
            <a:r>
              <a:rPr dirty="0" sz="1600" b="1">
                <a:solidFill>
                  <a:srgbClr val="4E3629"/>
                </a:solidFill>
                <a:latin typeface="Courier New"/>
                <a:cs typeface="Courier New"/>
              </a:rPr>
              <a:t>clients_phone_email_uk</a:t>
            </a:r>
            <a:r>
              <a:rPr dirty="0" sz="1600" spc="-114" b="1">
                <a:solidFill>
                  <a:srgbClr val="4E3629"/>
                </a:solidFill>
                <a:latin typeface="Courier New"/>
                <a:cs typeface="Courier New"/>
              </a:rPr>
              <a:t> </a:t>
            </a:r>
            <a:r>
              <a:rPr dirty="0" sz="1600" spc="-10" b="1">
                <a:solidFill>
                  <a:srgbClr val="4E3629"/>
                </a:solidFill>
                <a:latin typeface="Courier New"/>
                <a:cs typeface="Courier New"/>
              </a:rPr>
              <a:t>UNIQUE(email,phone)</a:t>
            </a:r>
            <a:endParaRPr sz="1600">
              <a:latin typeface="Courier New"/>
              <a:cs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Clave</a:t>
            </a:r>
            <a:r>
              <a:rPr dirty="0" spc="-114"/>
              <a:t> </a:t>
            </a:r>
            <a:r>
              <a:rPr dirty="0"/>
              <a:t>Única</a:t>
            </a:r>
            <a:r>
              <a:rPr dirty="0" spc="-85"/>
              <a:t> </a:t>
            </a:r>
            <a:r>
              <a:rPr dirty="0" spc="-10"/>
              <a:t>Compuesta</a:t>
            </a:r>
          </a:p>
        </p:txBody>
      </p:sp>
      <p:sp>
        <p:nvSpPr>
          <p:cNvPr id="3" name="object 3" descr=""/>
          <p:cNvSpPr txBox="1"/>
          <p:nvPr/>
        </p:nvSpPr>
        <p:spPr>
          <a:xfrm>
            <a:off x="483552" y="1415417"/>
            <a:ext cx="8164830" cy="2858770"/>
          </a:xfrm>
          <a:prstGeom prst="rect">
            <a:avLst/>
          </a:prstGeom>
        </p:spPr>
        <p:txBody>
          <a:bodyPr wrap="square" lIns="0" tIns="59690" rIns="0" bIns="0" rtlCol="0" vert="horz">
            <a:spAutoFit/>
          </a:bodyPr>
          <a:lstStyle/>
          <a:p>
            <a:pPr marL="182880" marR="31178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Las</a:t>
            </a:r>
            <a:r>
              <a:rPr dirty="0" sz="2800" spc="-85">
                <a:solidFill>
                  <a:srgbClr val="4E3629"/>
                </a:solidFill>
                <a:latin typeface="Calibri"/>
                <a:cs typeface="Calibri"/>
              </a:rPr>
              <a:t> </a:t>
            </a:r>
            <a:r>
              <a:rPr dirty="0" sz="2800" spc="-10">
                <a:solidFill>
                  <a:srgbClr val="4E3629"/>
                </a:solidFill>
                <a:latin typeface="Calibri"/>
                <a:cs typeface="Calibri"/>
              </a:rPr>
              <a:t>restricciones</a:t>
            </a:r>
            <a:r>
              <a:rPr dirty="0" sz="2800" spc="-45">
                <a:solidFill>
                  <a:srgbClr val="4E3629"/>
                </a:solidFill>
                <a:latin typeface="Calibri"/>
                <a:cs typeface="Calibri"/>
              </a:rPr>
              <a:t> </a:t>
            </a:r>
            <a:r>
              <a:rPr dirty="0" sz="2800">
                <a:solidFill>
                  <a:srgbClr val="4E3629"/>
                </a:solidFill>
                <a:latin typeface="Calibri"/>
                <a:cs typeface="Calibri"/>
              </a:rPr>
              <a:t>UNIQUE</a:t>
            </a:r>
            <a:r>
              <a:rPr dirty="0" sz="2800" spc="-75">
                <a:solidFill>
                  <a:srgbClr val="4E3629"/>
                </a:solidFill>
                <a:latin typeface="Calibri"/>
                <a:cs typeface="Calibri"/>
              </a:rPr>
              <a:t> </a:t>
            </a:r>
            <a:r>
              <a:rPr dirty="0" u="heavy" sz="2800">
                <a:solidFill>
                  <a:srgbClr val="4E3629"/>
                </a:solidFill>
                <a:uFill>
                  <a:solidFill>
                    <a:srgbClr val="EC2814"/>
                  </a:solidFill>
                </a:uFill>
                <a:latin typeface="Calibri"/>
                <a:cs typeface="Calibri"/>
              </a:rPr>
              <a:t>permiten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entrada</a:t>
            </a:r>
            <a:r>
              <a:rPr dirty="0" u="heavy" sz="2800" spc="-7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de</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valores</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nulos</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menos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también</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tenga</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definida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7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restricción</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NOT</a:t>
            </a:r>
            <a:r>
              <a:rPr dirty="0" u="heavy" sz="2800" spc="-8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NULL</a:t>
            </a:r>
            <a:endParaRPr sz="2800">
              <a:latin typeface="Calibri"/>
              <a:cs typeface="Calibri"/>
            </a:endParaRPr>
          </a:p>
          <a:p>
            <a:pPr marL="182880" marR="5080"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Un</a:t>
            </a:r>
            <a:r>
              <a:rPr dirty="0" sz="2800" spc="-45">
                <a:solidFill>
                  <a:srgbClr val="4E3629"/>
                </a:solidFill>
                <a:latin typeface="Calibri"/>
                <a:cs typeface="Calibri"/>
              </a:rPr>
              <a:t> </a:t>
            </a:r>
            <a:r>
              <a:rPr dirty="0" sz="2800">
                <a:solidFill>
                  <a:srgbClr val="4E3629"/>
                </a:solidFill>
                <a:latin typeface="Calibri"/>
                <a:cs typeface="Calibri"/>
              </a:rPr>
              <a:t>valor</a:t>
            </a:r>
            <a:r>
              <a:rPr dirty="0" sz="2800" spc="-55">
                <a:solidFill>
                  <a:srgbClr val="4E3629"/>
                </a:solidFill>
                <a:latin typeface="Calibri"/>
                <a:cs typeface="Calibri"/>
              </a:rPr>
              <a:t> </a:t>
            </a:r>
            <a:r>
              <a:rPr dirty="0" sz="2800">
                <a:solidFill>
                  <a:srgbClr val="4E3629"/>
                </a:solidFill>
                <a:latin typeface="Calibri"/>
                <a:cs typeface="Calibri"/>
              </a:rPr>
              <a:t>nulo</a:t>
            </a:r>
            <a:r>
              <a:rPr dirty="0" sz="2800" spc="-30">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una</a:t>
            </a:r>
            <a:r>
              <a:rPr dirty="0" sz="2800" spc="-25">
                <a:solidFill>
                  <a:srgbClr val="4E3629"/>
                </a:solidFill>
                <a:latin typeface="Calibri"/>
                <a:cs typeface="Calibri"/>
              </a:rPr>
              <a:t> </a:t>
            </a:r>
            <a:r>
              <a:rPr dirty="0" sz="2800">
                <a:solidFill>
                  <a:srgbClr val="4E3629"/>
                </a:solidFill>
                <a:latin typeface="Calibri"/>
                <a:cs typeface="Calibri"/>
              </a:rPr>
              <a:t>columna</a:t>
            </a:r>
            <a:r>
              <a:rPr dirty="0" sz="2800" spc="-25">
                <a:solidFill>
                  <a:srgbClr val="4E3629"/>
                </a:solidFill>
                <a:latin typeface="Calibri"/>
                <a:cs typeface="Calibri"/>
              </a:rPr>
              <a:t> </a:t>
            </a:r>
            <a:r>
              <a:rPr dirty="0" sz="2800">
                <a:solidFill>
                  <a:srgbClr val="4E3629"/>
                </a:solidFill>
                <a:latin typeface="Calibri"/>
                <a:cs typeface="Calibri"/>
              </a:rPr>
              <a:t>(o</a:t>
            </a:r>
            <a:r>
              <a:rPr dirty="0" sz="2800" spc="-50">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todas</a:t>
            </a:r>
            <a:r>
              <a:rPr dirty="0" sz="2800" spc="-45">
                <a:solidFill>
                  <a:srgbClr val="4E3629"/>
                </a:solidFill>
                <a:latin typeface="Calibri"/>
                <a:cs typeface="Calibri"/>
              </a:rPr>
              <a:t> </a:t>
            </a:r>
            <a:r>
              <a:rPr dirty="0" sz="2800">
                <a:solidFill>
                  <a:srgbClr val="4E3629"/>
                </a:solidFill>
                <a:latin typeface="Calibri"/>
                <a:cs typeface="Calibri"/>
              </a:rPr>
              <a:t>las</a:t>
            </a:r>
            <a:r>
              <a:rPr dirty="0" sz="2800" spc="-40">
                <a:solidFill>
                  <a:srgbClr val="4E3629"/>
                </a:solidFill>
                <a:latin typeface="Calibri"/>
                <a:cs typeface="Calibri"/>
              </a:rPr>
              <a:t> </a:t>
            </a:r>
            <a:r>
              <a:rPr dirty="0" sz="2800" spc="-10">
                <a:solidFill>
                  <a:srgbClr val="4E3629"/>
                </a:solidFill>
                <a:latin typeface="Calibri"/>
                <a:cs typeface="Calibri"/>
              </a:rPr>
              <a:t>columnas </a:t>
            </a:r>
            <a:r>
              <a:rPr dirty="0" sz="2800" spc="-10">
                <a:solidFill>
                  <a:srgbClr val="4E3629"/>
                </a:solidFill>
                <a:latin typeface="Calibri"/>
                <a:cs typeface="Calibri"/>
              </a:rPr>
              <a:t>	</a:t>
            </a:r>
            <a:r>
              <a:rPr dirty="0" sz="2800">
                <a:solidFill>
                  <a:srgbClr val="4E3629"/>
                </a:solidFill>
                <a:latin typeface="Calibri"/>
                <a:cs typeface="Calibri"/>
              </a:rPr>
              <a:t>de</a:t>
            </a:r>
            <a:r>
              <a:rPr dirty="0" sz="2800" spc="-85">
                <a:solidFill>
                  <a:srgbClr val="4E3629"/>
                </a:solidFill>
                <a:latin typeface="Calibri"/>
                <a:cs typeface="Calibri"/>
              </a:rPr>
              <a:t> </a:t>
            </a:r>
            <a:r>
              <a:rPr dirty="0" sz="2800">
                <a:solidFill>
                  <a:srgbClr val="4E3629"/>
                </a:solidFill>
                <a:latin typeface="Calibri"/>
                <a:cs typeface="Calibri"/>
              </a:rPr>
              <a:t>una</a:t>
            </a:r>
            <a:r>
              <a:rPr dirty="0" sz="2800" spc="-75">
                <a:solidFill>
                  <a:srgbClr val="4E3629"/>
                </a:solidFill>
                <a:latin typeface="Calibri"/>
                <a:cs typeface="Calibri"/>
              </a:rPr>
              <a:t> </a:t>
            </a:r>
            <a:r>
              <a:rPr dirty="0" sz="2800">
                <a:solidFill>
                  <a:srgbClr val="4E3629"/>
                </a:solidFill>
                <a:latin typeface="Calibri"/>
                <a:cs typeface="Calibri"/>
              </a:rPr>
              <a:t>clave</a:t>
            </a:r>
            <a:r>
              <a:rPr dirty="0" sz="2800" spc="-95">
                <a:solidFill>
                  <a:srgbClr val="4E3629"/>
                </a:solidFill>
                <a:latin typeface="Calibri"/>
                <a:cs typeface="Calibri"/>
              </a:rPr>
              <a:t> </a:t>
            </a:r>
            <a:r>
              <a:rPr dirty="0" sz="2800">
                <a:solidFill>
                  <a:srgbClr val="4E3629"/>
                </a:solidFill>
                <a:latin typeface="Calibri"/>
                <a:cs typeface="Calibri"/>
              </a:rPr>
              <a:t>única</a:t>
            </a:r>
            <a:r>
              <a:rPr dirty="0" sz="2800" spc="-65">
                <a:solidFill>
                  <a:srgbClr val="4E3629"/>
                </a:solidFill>
                <a:latin typeface="Calibri"/>
                <a:cs typeface="Calibri"/>
              </a:rPr>
              <a:t> </a:t>
            </a:r>
            <a:r>
              <a:rPr dirty="0" sz="2800" spc="-10">
                <a:solidFill>
                  <a:srgbClr val="4E3629"/>
                </a:solidFill>
                <a:latin typeface="Calibri"/>
                <a:cs typeface="Calibri"/>
              </a:rPr>
              <a:t>compuesta)</a:t>
            </a:r>
            <a:r>
              <a:rPr dirty="0" sz="2800" spc="-55">
                <a:solidFill>
                  <a:srgbClr val="4E3629"/>
                </a:solidFill>
                <a:latin typeface="Calibri"/>
                <a:cs typeface="Calibri"/>
              </a:rPr>
              <a:t> </a:t>
            </a:r>
            <a:r>
              <a:rPr dirty="0" sz="2800">
                <a:solidFill>
                  <a:srgbClr val="4E3629"/>
                </a:solidFill>
                <a:latin typeface="Calibri"/>
                <a:cs typeface="Calibri"/>
              </a:rPr>
              <a:t>cumple</a:t>
            </a:r>
            <a:r>
              <a:rPr dirty="0" sz="2800" spc="-65">
                <a:solidFill>
                  <a:srgbClr val="4E3629"/>
                </a:solidFill>
                <a:latin typeface="Calibri"/>
                <a:cs typeface="Calibri"/>
              </a:rPr>
              <a:t> </a:t>
            </a:r>
            <a:r>
              <a:rPr dirty="0" sz="2800">
                <a:solidFill>
                  <a:srgbClr val="4E3629"/>
                </a:solidFill>
                <a:latin typeface="Calibri"/>
                <a:cs typeface="Calibri"/>
              </a:rPr>
              <a:t>siempre</a:t>
            </a:r>
            <a:r>
              <a:rPr dirty="0" sz="2800" spc="-85">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spc="-10">
                <a:solidFill>
                  <a:srgbClr val="4E3629"/>
                </a:solidFill>
                <a:latin typeface="Calibri"/>
                <a:cs typeface="Calibri"/>
              </a:rPr>
              <a:t>restricción</a:t>
            </a:r>
            <a:r>
              <a:rPr dirty="0" sz="2800" spc="-60">
                <a:solidFill>
                  <a:srgbClr val="4E3629"/>
                </a:solidFill>
                <a:latin typeface="Calibri"/>
                <a:cs typeface="Calibri"/>
              </a:rPr>
              <a:t> </a:t>
            </a:r>
            <a:r>
              <a:rPr dirty="0" sz="2800">
                <a:solidFill>
                  <a:srgbClr val="4E3629"/>
                </a:solidFill>
                <a:latin typeface="Calibri"/>
                <a:cs typeface="Calibri"/>
              </a:rPr>
              <a:t>UNIQUE</a:t>
            </a:r>
            <a:r>
              <a:rPr dirty="0" sz="2800" spc="-60">
                <a:solidFill>
                  <a:srgbClr val="4E3629"/>
                </a:solidFill>
                <a:latin typeface="Calibri"/>
                <a:cs typeface="Calibri"/>
              </a:rPr>
              <a:t> </a:t>
            </a:r>
            <a:r>
              <a:rPr dirty="0" sz="2800">
                <a:solidFill>
                  <a:srgbClr val="4E3629"/>
                </a:solidFill>
                <a:latin typeface="Calibri"/>
                <a:cs typeface="Calibri"/>
              </a:rPr>
              <a:t>porque</a:t>
            </a:r>
            <a:r>
              <a:rPr dirty="0" sz="2800" spc="-50">
                <a:solidFill>
                  <a:srgbClr val="4E3629"/>
                </a:solidFill>
                <a:latin typeface="Calibri"/>
                <a:cs typeface="Calibri"/>
              </a:rPr>
              <a:t> </a:t>
            </a:r>
            <a:r>
              <a:rPr dirty="0" u="heavy" sz="2800">
                <a:solidFill>
                  <a:srgbClr val="4E3629"/>
                </a:solidFill>
                <a:uFill>
                  <a:solidFill>
                    <a:srgbClr val="EC2814"/>
                  </a:solidFill>
                </a:uFill>
                <a:latin typeface="Calibri"/>
                <a:cs typeface="Calibri"/>
              </a:rPr>
              <a:t>los</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valores</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nulos</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no</a:t>
            </a:r>
            <a:r>
              <a:rPr dirty="0" u="heavy" sz="2800" spc="-7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se</a:t>
            </a:r>
            <a:r>
              <a:rPr dirty="0" sz="2800" spc="-25">
                <a:solidFill>
                  <a:srgbClr val="4E3629"/>
                </a:solidFill>
                <a:latin typeface="Calibri"/>
                <a:cs typeface="Calibri"/>
              </a:rPr>
              <a:t> </a:t>
            </a:r>
            <a:r>
              <a:rPr dirty="0" sz="2800" spc="-25">
                <a:solidFill>
                  <a:srgbClr val="4E3629"/>
                </a:solidFill>
                <a:latin typeface="Calibri"/>
                <a:cs typeface="Calibri"/>
              </a:rPr>
              <a:t>	</a:t>
            </a:r>
            <a:r>
              <a:rPr dirty="0" sz="2800" spc="-10">
                <a:solidFill>
                  <a:srgbClr val="4E3629"/>
                </a:solidFill>
                <a:latin typeface="Calibri"/>
                <a:cs typeface="Calibri"/>
              </a:rPr>
              <a:t>consideran</a:t>
            </a:r>
            <a:r>
              <a:rPr dirty="0" sz="2800" spc="-25">
                <a:solidFill>
                  <a:srgbClr val="4E3629"/>
                </a:solidFill>
                <a:latin typeface="Calibri"/>
                <a:cs typeface="Calibri"/>
              </a:rPr>
              <a:t> </a:t>
            </a:r>
            <a:r>
              <a:rPr dirty="0" sz="2800">
                <a:solidFill>
                  <a:srgbClr val="4E3629"/>
                </a:solidFill>
                <a:latin typeface="Calibri"/>
                <a:cs typeface="Calibri"/>
              </a:rPr>
              <a:t>igual</a:t>
            </a:r>
            <a:r>
              <a:rPr dirty="0" sz="2800" spc="-50">
                <a:solidFill>
                  <a:srgbClr val="4E3629"/>
                </a:solidFill>
                <a:latin typeface="Calibri"/>
                <a:cs typeface="Calibri"/>
              </a:rPr>
              <a:t> </a:t>
            </a:r>
            <a:r>
              <a:rPr dirty="0" sz="2800">
                <a:solidFill>
                  <a:srgbClr val="4E3629"/>
                </a:solidFill>
                <a:latin typeface="Calibri"/>
                <a:cs typeface="Calibri"/>
              </a:rPr>
              <a:t>a</a:t>
            </a:r>
            <a:r>
              <a:rPr dirty="0" sz="2800" spc="-45">
                <a:solidFill>
                  <a:srgbClr val="4E3629"/>
                </a:solidFill>
                <a:latin typeface="Calibri"/>
                <a:cs typeface="Calibri"/>
              </a:rPr>
              <a:t> </a:t>
            </a:r>
            <a:r>
              <a:rPr dirty="0" sz="2800" spc="-20">
                <a:solidFill>
                  <a:srgbClr val="4E3629"/>
                </a:solidFill>
                <a:latin typeface="Calibri"/>
                <a:cs typeface="Calibri"/>
              </a:rPr>
              <a:t>nada</a:t>
            </a:r>
            <a:endParaRPr sz="2800">
              <a:latin typeface="Calibri"/>
              <a:cs typeface="Calibri"/>
            </a:endParaRPr>
          </a:p>
        </p:txBody>
      </p:sp>
      <p:grpSp>
        <p:nvGrpSpPr>
          <p:cNvPr id="4" name="object 4" descr=""/>
          <p:cNvGrpSpPr/>
          <p:nvPr/>
        </p:nvGrpSpPr>
        <p:grpSpPr>
          <a:xfrm>
            <a:off x="5530605" y="5772146"/>
            <a:ext cx="190500" cy="334010"/>
            <a:chOff x="5530605" y="5772146"/>
            <a:chExt cx="190500" cy="334010"/>
          </a:xfrm>
        </p:grpSpPr>
        <p:sp>
          <p:nvSpPr>
            <p:cNvPr id="5" name="object 5" descr=""/>
            <p:cNvSpPr/>
            <p:nvPr/>
          </p:nvSpPr>
          <p:spPr>
            <a:xfrm>
              <a:off x="5625846" y="5943599"/>
              <a:ext cx="0" cy="162560"/>
            </a:xfrm>
            <a:custGeom>
              <a:avLst/>
              <a:gdLst/>
              <a:ahLst/>
              <a:cxnLst/>
              <a:rect l="l" t="t" r="r" b="b"/>
              <a:pathLst>
                <a:path w="0" h="162560">
                  <a:moveTo>
                    <a:pt x="0" y="162306"/>
                  </a:moveTo>
                  <a:lnTo>
                    <a:pt x="0" y="0"/>
                  </a:lnTo>
                </a:path>
              </a:pathLst>
            </a:custGeom>
            <a:ln w="38100">
              <a:solidFill>
                <a:srgbClr val="D1350F"/>
              </a:solidFill>
            </a:ln>
          </p:spPr>
          <p:txBody>
            <a:bodyPr wrap="square" lIns="0" tIns="0" rIns="0" bIns="0" rtlCol="0"/>
            <a:lstStyle/>
            <a:p/>
          </p:txBody>
        </p:sp>
        <p:sp>
          <p:nvSpPr>
            <p:cNvPr id="6" name="object 6" descr=""/>
            <p:cNvSpPr/>
            <p:nvPr/>
          </p:nvSpPr>
          <p:spPr>
            <a:xfrm>
              <a:off x="5530605" y="5772146"/>
              <a:ext cx="190500" cy="191135"/>
            </a:xfrm>
            <a:custGeom>
              <a:avLst/>
              <a:gdLst/>
              <a:ahLst/>
              <a:cxnLst/>
              <a:rect l="l" t="t" r="r" b="b"/>
              <a:pathLst>
                <a:path w="190500" h="191135">
                  <a:moveTo>
                    <a:pt x="95237" y="0"/>
                  </a:moveTo>
                  <a:lnTo>
                    <a:pt x="0" y="190512"/>
                  </a:lnTo>
                  <a:lnTo>
                    <a:pt x="190500" y="190499"/>
                  </a:lnTo>
                  <a:lnTo>
                    <a:pt x="95237" y="0"/>
                  </a:lnTo>
                  <a:close/>
                </a:path>
              </a:pathLst>
            </a:custGeom>
            <a:solidFill>
              <a:srgbClr val="D1350F"/>
            </a:solidFill>
          </p:spPr>
          <p:txBody>
            <a:bodyPr wrap="square" lIns="0" tIns="0" rIns="0" bIns="0" rtlCol="0"/>
            <a:lstStyle/>
            <a:p/>
          </p:txBody>
        </p:sp>
      </p:grpSp>
      <p:grpSp>
        <p:nvGrpSpPr>
          <p:cNvPr id="7" name="object 7" descr=""/>
          <p:cNvGrpSpPr/>
          <p:nvPr/>
        </p:nvGrpSpPr>
        <p:grpSpPr>
          <a:xfrm>
            <a:off x="6597405" y="5772146"/>
            <a:ext cx="190500" cy="334010"/>
            <a:chOff x="6597405" y="5772146"/>
            <a:chExt cx="190500" cy="334010"/>
          </a:xfrm>
        </p:grpSpPr>
        <p:sp>
          <p:nvSpPr>
            <p:cNvPr id="8" name="object 8" descr=""/>
            <p:cNvSpPr/>
            <p:nvPr/>
          </p:nvSpPr>
          <p:spPr>
            <a:xfrm>
              <a:off x="6692646" y="5943599"/>
              <a:ext cx="0" cy="162560"/>
            </a:xfrm>
            <a:custGeom>
              <a:avLst/>
              <a:gdLst/>
              <a:ahLst/>
              <a:cxnLst/>
              <a:rect l="l" t="t" r="r" b="b"/>
              <a:pathLst>
                <a:path w="0" h="162560">
                  <a:moveTo>
                    <a:pt x="0" y="162306"/>
                  </a:moveTo>
                  <a:lnTo>
                    <a:pt x="0" y="0"/>
                  </a:lnTo>
                </a:path>
              </a:pathLst>
            </a:custGeom>
            <a:ln w="38100">
              <a:solidFill>
                <a:srgbClr val="D1350F"/>
              </a:solidFill>
            </a:ln>
          </p:spPr>
          <p:txBody>
            <a:bodyPr wrap="square" lIns="0" tIns="0" rIns="0" bIns="0" rtlCol="0"/>
            <a:lstStyle/>
            <a:p/>
          </p:txBody>
        </p:sp>
        <p:sp>
          <p:nvSpPr>
            <p:cNvPr id="9" name="object 9" descr=""/>
            <p:cNvSpPr/>
            <p:nvPr/>
          </p:nvSpPr>
          <p:spPr>
            <a:xfrm>
              <a:off x="6597405" y="5772146"/>
              <a:ext cx="190500" cy="191135"/>
            </a:xfrm>
            <a:custGeom>
              <a:avLst/>
              <a:gdLst/>
              <a:ahLst/>
              <a:cxnLst/>
              <a:rect l="l" t="t" r="r" b="b"/>
              <a:pathLst>
                <a:path w="190500" h="191135">
                  <a:moveTo>
                    <a:pt x="95237" y="0"/>
                  </a:moveTo>
                  <a:lnTo>
                    <a:pt x="0" y="190512"/>
                  </a:lnTo>
                  <a:lnTo>
                    <a:pt x="190500" y="190499"/>
                  </a:lnTo>
                  <a:lnTo>
                    <a:pt x="95237" y="0"/>
                  </a:lnTo>
                  <a:close/>
                </a:path>
              </a:pathLst>
            </a:custGeom>
            <a:solidFill>
              <a:srgbClr val="D1350F"/>
            </a:solidFill>
          </p:spPr>
          <p:txBody>
            <a:bodyPr wrap="square" lIns="0" tIns="0" rIns="0" bIns="0" rtlCol="0"/>
            <a:lstStyle/>
            <a:p/>
          </p:txBody>
        </p:sp>
      </p:grpSp>
      <p:graphicFrame>
        <p:nvGraphicFramePr>
          <p:cNvPr id="10" name="object 10" descr=""/>
          <p:cNvGraphicFramePr>
            <a:graphicFrameLocks noGrp="1"/>
          </p:cNvGraphicFramePr>
          <p:nvPr/>
        </p:nvGraphicFramePr>
        <p:xfrm>
          <a:off x="662114" y="4236002"/>
          <a:ext cx="7873365" cy="1422400"/>
        </p:xfrm>
        <a:graphic>
          <a:graphicData uri="http://schemas.openxmlformats.org/drawingml/2006/table">
            <a:tbl>
              <a:tblPr firstRow="1" bandRow="1">
                <a:tableStyleId>{2D5ABB26-0587-4C30-8999-92F81FD0307C}</a:tableStyleId>
              </a:tblPr>
              <a:tblGrid>
                <a:gridCol w="355600"/>
                <a:gridCol w="1579880"/>
                <a:gridCol w="1223009"/>
                <a:gridCol w="1146810"/>
                <a:gridCol w="1223010"/>
                <a:gridCol w="2254885"/>
              </a:tblGrid>
              <a:tr h="284480">
                <a:tc rowSpan="5">
                  <a:txBody>
                    <a:bodyPr/>
                    <a:lstStyle/>
                    <a:p>
                      <a:pPr>
                        <a:lnSpc>
                          <a:spcPct val="100000"/>
                        </a:lnSpc>
                      </a:pPr>
                      <a:endParaRPr sz="1900">
                        <a:latin typeface="Times New Roman"/>
                        <a:cs typeface="Times New Roman"/>
                      </a:endParaRPr>
                    </a:p>
                  </a:txBody>
                  <a:tcPr marL="0" marR="0" marB="0" marT="0">
                    <a:lnR w="12700">
                      <a:solidFill>
                        <a:srgbClr val="D1350F"/>
                      </a:solidFill>
                      <a:prstDash val="solid"/>
                    </a:lnR>
                    <a:lnT w="38100">
                      <a:solidFill>
                        <a:srgbClr val="EC2814"/>
                      </a:solidFill>
                      <a:prstDash val="solid"/>
                    </a:lnT>
                  </a:tcPr>
                </a:tc>
                <a:tc>
                  <a:txBody>
                    <a:bodyPr/>
                    <a:lstStyle/>
                    <a:p>
                      <a:pPr marL="12700">
                        <a:lnSpc>
                          <a:spcPct val="100000"/>
                        </a:lnSpc>
                        <a:spcBef>
                          <a:spcPts val="70"/>
                        </a:spcBef>
                      </a:pPr>
                      <a:r>
                        <a:rPr dirty="0" sz="1600" spc="-10" b="1">
                          <a:solidFill>
                            <a:srgbClr val="4E3629"/>
                          </a:solidFill>
                          <a:latin typeface="Calibri"/>
                          <a:cs typeface="Calibri"/>
                        </a:rPr>
                        <a:t>CLIENT_NUMBER</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38100">
                      <a:solidFill>
                        <a:srgbClr val="EC2814"/>
                      </a:solidFill>
                      <a:prstDash val="solid"/>
                    </a:lnT>
                    <a:lnB w="28575">
                      <a:solidFill>
                        <a:srgbClr val="D1350F"/>
                      </a:solidFill>
                      <a:prstDash val="solid"/>
                    </a:lnB>
                  </a:tcPr>
                </a:tc>
                <a:tc>
                  <a:txBody>
                    <a:bodyPr/>
                    <a:lstStyle/>
                    <a:p>
                      <a:pPr marL="12065">
                        <a:lnSpc>
                          <a:spcPct val="100000"/>
                        </a:lnSpc>
                        <a:spcBef>
                          <a:spcPts val="70"/>
                        </a:spcBef>
                      </a:pPr>
                      <a:r>
                        <a:rPr dirty="0" sz="1600" spc="-10" b="1">
                          <a:solidFill>
                            <a:srgbClr val="4E3629"/>
                          </a:solidFill>
                          <a:latin typeface="Calibri"/>
                          <a:cs typeface="Calibri"/>
                        </a:rPr>
                        <a:t>FIRST_NAME</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38100">
                      <a:solidFill>
                        <a:srgbClr val="EC2814"/>
                      </a:solidFill>
                      <a:prstDash val="solid"/>
                    </a:lnT>
                    <a:lnB w="28575">
                      <a:solidFill>
                        <a:srgbClr val="D1350F"/>
                      </a:solidFill>
                      <a:prstDash val="solid"/>
                    </a:lnB>
                  </a:tcPr>
                </a:tc>
                <a:tc>
                  <a:txBody>
                    <a:bodyPr/>
                    <a:lstStyle/>
                    <a:p>
                      <a:pPr marL="12065">
                        <a:lnSpc>
                          <a:spcPct val="100000"/>
                        </a:lnSpc>
                        <a:spcBef>
                          <a:spcPts val="70"/>
                        </a:spcBef>
                      </a:pPr>
                      <a:r>
                        <a:rPr dirty="0" sz="1600" spc="-10" b="1">
                          <a:solidFill>
                            <a:srgbClr val="4E3629"/>
                          </a:solidFill>
                          <a:latin typeface="Calibri"/>
                          <a:cs typeface="Calibri"/>
                        </a:rPr>
                        <a:t>LAST_NAME</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38100">
                      <a:solidFill>
                        <a:srgbClr val="D1350F"/>
                      </a:solidFill>
                      <a:prstDash val="solid"/>
                    </a:lnT>
                    <a:lnB w="28575">
                      <a:solidFill>
                        <a:srgbClr val="D1350F"/>
                      </a:solidFill>
                      <a:prstDash val="solid"/>
                    </a:lnB>
                  </a:tcPr>
                </a:tc>
                <a:tc>
                  <a:txBody>
                    <a:bodyPr/>
                    <a:lstStyle/>
                    <a:p>
                      <a:pPr marL="12065">
                        <a:lnSpc>
                          <a:spcPct val="100000"/>
                        </a:lnSpc>
                        <a:spcBef>
                          <a:spcPts val="70"/>
                        </a:spcBef>
                      </a:pPr>
                      <a:r>
                        <a:rPr dirty="0" sz="1600" spc="-10" b="1">
                          <a:solidFill>
                            <a:srgbClr val="4E3629"/>
                          </a:solidFill>
                          <a:latin typeface="Calibri"/>
                          <a:cs typeface="Calibri"/>
                        </a:rPr>
                        <a:t>PHONE</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065">
                        <a:lnSpc>
                          <a:spcPct val="100000"/>
                        </a:lnSpc>
                        <a:spcBef>
                          <a:spcPts val="70"/>
                        </a:spcBef>
                      </a:pPr>
                      <a:r>
                        <a:rPr dirty="0" sz="1600" spc="-10" b="1">
                          <a:solidFill>
                            <a:srgbClr val="4E3629"/>
                          </a:solidFill>
                          <a:latin typeface="Calibri"/>
                          <a:cs typeface="Calibri"/>
                        </a:rPr>
                        <a:t>EMAIL</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84480">
                <a:tc vMerge="1">
                  <a:txBody>
                    <a:bodyPr/>
                    <a:lstStyle/>
                    <a:p>
                      <a:pPr/>
                    </a:p>
                  </a:txBody>
                  <a:tcPr marL="0" marR="0" marB="0" marT="0">
                    <a:lnR w="12700">
                      <a:solidFill>
                        <a:srgbClr val="D1350F"/>
                      </a:solidFill>
                      <a:prstDash val="solid"/>
                    </a:lnR>
                    <a:lnT w="38100">
                      <a:solidFill>
                        <a:srgbClr val="EC2814"/>
                      </a:solidFill>
                      <a:prstDash val="solid"/>
                    </a:lnT>
                  </a:tcPr>
                </a:tc>
                <a:tc>
                  <a:txBody>
                    <a:bodyPr/>
                    <a:lstStyle/>
                    <a:p>
                      <a:pPr marL="12065">
                        <a:lnSpc>
                          <a:spcPct val="100000"/>
                        </a:lnSpc>
                        <a:spcBef>
                          <a:spcPts val="70"/>
                        </a:spcBef>
                      </a:pPr>
                      <a:r>
                        <a:rPr dirty="0" sz="1600" spc="-20">
                          <a:solidFill>
                            <a:srgbClr val="4E3629"/>
                          </a:solidFill>
                          <a:latin typeface="Calibri"/>
                          <a:cs typeface="Calibri"/>
                        </a:rPr>
                        <a:t>5922</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rPr>
                        <a:t>Hiram</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rPr>
                        <a:t>Peters</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rPr>
                        <a:t>3715832249</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hlinkClick r:id="rId2"/>
                        </a:rPr>
                        <a:t>hpeters@yahoo.com</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84480">
                <a:tc vMerge="1">
                  <a:txBody>
                    <a:bodyPr/>
                    <a:lstStyle/>
                    <a:p>
                      <a:pPr/>
                    </a:p>
                  </a:txBody>
                  <a:tcPr marL="0" marR="0" marB="0" marT="0">
                    <a:lnR w="12700">
                      <a:solidFill>
                        <a:srgbClr val="D1350F"/>
                      </a:solidFill>
                      <a:prstDash val="solid"/>
                    </a:lnR>
                    <a:lnT w="38100">
                      <a:solidFill>
                        <a:srgbClr val="EC2814"/>
                      </a:solidFill>
                      <a:prstDash val="solid"/>
                    </a:lnT>
                  </a:tcPr>
                </a:tc>
                <a:tc>
                  <a:txBody>
                    <a:bodyPr/>
                    <a:lstStyle/>
                    <a:p>
                      <a:pPr marL="12065">
                        <a:lnSpc>
                          <a:spcPct val="100000"/>
                        </a:lnSpc>
                        <a:spcBef>
                          <a:spcPts val="70"/>
                        </a:spcBef>
                      </a:pPr>
                      <a:r>
                        <a:rPr dirty="0" sz="1600" spc="-20">
                          <a:solidFill>
                            <a:srgbClr val="4E3629"/>
                          </a:solidFill>
                          <a:latin typeface="Calibri"/>
                          <a:cs typeface="Calibri"/>
                        </a:rPr>
                        <a:t>5857</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rPr>
                        <a:t>Serena</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rPr>
                        <a:t>Jones</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rPr>
                        <a:t>7035335900</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hlinkClick r:id="rId3"/>
                        </a:rPr>
                        <a:t>serena.jones@jones.com</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84480">
                <a:tc vMerge="1">
                  <a:txBody>
                    <a:bodyPr/>
                    <a:lstStyle/>
                    <a:p>
                      <a:pPr/>
                    </a:p>
                  </a:txBody>
                  <a:tcPr marL="0" marR="0" marB="0" marT="0">
                    <a:lnR w="12700">
                      <a:solidFill>
                        <a:srgbClr val="D1350F"/>
                      </a:solidFill>
                      <a:prstDash val="solid"/>
                    </a:lnR>
                    <a:lnT w="38100">
                      <a:solidFill>
                        <a:srgbClr val="EC2814"/>
                      </a:solidFill>
                      <a:prstDash val="solid"/>
                    </a:lnT>
                  </a:tcPr>
                </a:tc>
                <a:tc>
                  <a:txBody>
                    <a:bodyPr/>
                    <a:lstStyle/>
                    <a:p>
                      <a:pPr marL="12065">
                        <a:lnSpc>
                          <a:spcPct val="100000"/>
                        </a:lnSpc>
                        <a:spcBef>
                          <a:spcPts val="70"/>
                        </a:spcBef>
                      </a:pPr>
                      <a:r>
                        <a:rPr dirty="0" sz="1600" spc="-20">
                          <a:solidFill>
                            <a:srgbClr val="4E3629"/>
                          </a:solidFill>
                          <a:latin typeface="Calibri"/>
                          <a:cs typeface="Calibri"/>
                        </a:rPr>
                        <a:t>6133</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rPr>
                        <a:t>Lauren</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1430">
                        <a:lnSpc>
                          <a:spcPct val="100000"/>
                        </a:lnSpc>
                        <a:spcBef>
                          <a:spcPts val="70"/>
                        </a:spcBef>
                      </a:pPr>
                      <a:r>
                        <a:rPr dirty="0" sz="1600" spc="-10">
                          <a:solidFill>
                            <a:srgbClr val="4E3629"/>
                          </a:solidFill>
                          <a:latin typeface="Calibri"/>
                          <a:cs typeface="Calibri"/>
                        </a:rPr>
                        <a:t>Vigil</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1430">
                        <a:lnSpc>
                          <a:spcPct val="100000"/>
                        </a:lnSpc>
                        <a:spcBef>
                          <a:spcPts val="70"/>
                        </a:spcBef>
                      </a:pPr>
                      <a:r>
                        <a:rPr dirty="0" sz="1600" spc="-10">
                          <a:solidFill>
                            <a:srgbClr val="4E3629"/>
                          </a:solidFill>
                          <a:latin typeface="Calibri"/>
                          <a:cs typeface="Calibri"/>
                        </a:rPr>
                        <a:t>4072220090</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1430">
                        <a:lnSpc>
                          <a:spcPct val="100000"/>
                        </a:lnSpc>
                        <a:spcBef>
                          <a:spcPts val="70"/>
                        </a:spcBef>
                      </a:pPr>
                      <a:r>
                        <a:rPr dirty="0" sz="1600" spc="-10">
                          <a:solidFill>
                            <a:srgbClr val="4E3629"/>
                          </a:solidFill>
                          <a:latin typeface="Calibri"/>
                          <a:cs typeface="Calibri"/>
                          <a:hlinkClick r:id="rId4"/>
                        </a:rPr>
                        <a:t>lbv@lbv.net</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84480">
                <a:tc vMerge="1">
                  <a:txBody>
                    <a:bodyPr/>
                    <a:lstStyle/>
                    <a:p>
                      <a:pPr/>
                    </a:p>
                  </a:txBody>
                  <a:tcPr marL="0" marR="0" marB="0" marT="0">
                    <a:lnR w="12700">
                      <a:solidFill>
                        <a:srgbClr val="D1350F"/>
                      </a:solidFill>
                      <a:prstDash val="solid"/>
                    </a:lnR>
                    <a:lnT w="38100">
                      <a:solidFill>
                        <a:srgbClr val="EC2814"/>
                      </a:solidFill>
                      <a:prstDash val="solid"/>
                    </a:lnT>
                  </a:tcPr>
                </a:tc>
                <a:tc>
                  <a:txBody>
                    <a:bodyPr/>
                    <a:lstStyle/>
                    <a:p>
                      <a:pPr marL="11430">
                        <a:lnSpc>
                          <a:spcPct val="100000"/>
                        </a:lnSpc>
                        <a:spcBef>
                          <a:spcPts val="70"/>
                        </a:spcBef>
                      </a:pPr>
                      <a:r>
                        <a:rPr dirty="0" sz="1600" spc="-20">
                          <a:solidFill>
                            <a:srgbClr val="4E3629"/>
                          </a:solidFill>
                          <a:latin typeface="Calibri"/>
                          <a:cs typeface="Calibri"/>
                        </a:rPr>
                        <a:t>7234</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1430">
                        <a:lnSpc>
                          <a:spcPct val="100000"/>
                        </a:lnSpc>
                        <a:spcBef>
                          <a:spcPts val="70"/>
                        </a:spcBef>
                      </a:pPr>
                      <a:r>
                        <a:rPr dirty="0" sz="1600" spc="-10">
                          <a:solidFill>
                            <a:srgbClr val="4E3629"/>
                          </a:solidFill>
                          <a:latin typeface="Calibri"/>
                          <a:cs typeface="Calibri"/>
                        </a:rPr>
                        <a:t>Lonny</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1430">
                        <a:lnSpc>
                          <a:spcPct val="100000"/>
                        </a:lnSpc>
                        <a:spcBef>
                          <a:spcPts val="70"/>
                        </a:spcBef>
                      </a:pPr>
                      <a:r>
                        <a:rPr dirty="0" sz="1600" spc="-10">
                          <a:solidFill>
                            <a:srgbClr val="4E3629"/>
                          </a:solidFill>
                          <a:latin typeface="Calibri"/>
                          <a:cs typeface="Calibri"/>
                        </a:rPr>
                        <a:t>Vigil</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1430">
                        <a:lnSpc>
                          <a:spcPct val="100000"/>
                        </a:lnSpc>
                        <a:spcBef>
                          <a:spcPts val="70"/>
                        </a:spcBef>
                      </a:pPr>
                      <a:r>
                        <a:rPr dirty="0" sz="1600" spc="-10">
                          <a:solidFill>
                            <a:srgbClr val="4E3629"/>
                          </a:solidFill>
                          <a:latin typeface="Calibri"/>
                          <a:cs typeface="Calibri"/>
                        </a:rPr>
                        <a:t>4072220091</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1430">
                        <a:lnSpc>
                          <a:spcPct val="100000"/>
                        </a:lnSpc>
                        <a:spcBef>
                          <a:spcPts val="70"/>
                        </a:spcBef>
                      </a:pPr>
                      <a:r>
                        <a:rPr dirty="0" sz="1600" spc="-10">
                          <a:solidFill>
                            <a:srgbClr val="4E3629"/>
                          </a:solidFill>
                          <a:latin typeface="Calibri"/>
                          <a:cs typeface="Calibri"/>
                          <a:hlinkClick r:id="rId4"/>
                        </a:rPr>
                        <a:t>lbv@lbv.net</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11" name="object 11" descr=""/>
          <p:cNvSpPr txBox="1"/>
          <p:nvPr/>
        </p:nvSpPr>
        <p:spPr>
          <a:xfrm>
            <a:off x="3709732" y="6180217"/>
            <a:ext cx="4410075" cy="254000"/>
          </a:xfrm>
          <a:prstGeom prst="rect">
            <a:avLst/>
          </a:prstGeom>
        </p:spPr>
        <p:txBody>
          <a:bodyPr wrap="square" lIns="0" tIns="0" rIns="0" bIns="0" rtlCol="0" vert="horz">
            <a:spAutoFit/>
          </a:bodyPr>
          <a:lstStyle/>
          <a:p>
            <a:pPr marL="12700">
              <a:lnSpc>
                <a:spcPts val="1810"/>
              </a:lnSpc>
            </a:pPr>
            <a:r>
              <a:rPr dirty="0" sz="1800">
                <a:solidFill>
                  <a:srgbClr val="FF0000"/>
                </a:solidFill>
                <a:latin typeface="Calibri"/>
                <a:cs typeface="Calibri"/>
              </a:rPr>
              <a:t>Esta</a:t>
            </a:r>
            <a:r>
              <a:rPr dirty="0" sz="1800" spc="-55">
                <a:solidFill>
                  <a:srgbClr val="FF0000"/>
                </a:solidFill>
                <a:latin typeface="Calibri"/>
                <a:cs typeface="Calibri"/>
              </a:rPr>
              <a:t> </a:t>
            </a:r>
            <a:r>
              <a:rPr dirty="0" sz="1800">
                <a:solidFill>
                  <a:srgbClr val="FF0000"/>
                </a:solidFill>
                <a:latin typeface="Calibri"/>
                <a:cs typeface="Calibri"/>
              </a:rPr>
              <a:t>combinación</a:t>
            </a:r>
            <a:r>
              <a:rPr dirty="0" sz="1800" spc="-35">
                <a:solidFill>
                  <a:srgbClr val="FF0000"/>
                </a:solidFill>
                <a:latin typeface="Calibri"/>
                <a:cs typeface="Calibri"/>
              </a:rPr>
              <a:t> </a:t>
            </a:r>
            <a:r>
              <a:rPr dirty="0" sz="1800">
                <a:solidFill>
                  <a:srgbClr val="FF0000"/>
                </a:solidFill>
                <a:latin typeface="Calibri"/>
                <a:cs typeface="Calibri"/>
              </a:rPr>
              <a:t>de</a:t>
            </a:r>
            <a:r>
              <a:rPr dirty="0" sz="1800" spc="-40">
                <a:solidFill>
                  <a:srgbClr val="FF0000"/>
                </a:solidFill>
                <a:latin typeface="Calibri"/>
                <a:cs typeface="Calibri"/>
              </a:rPr>
              <a:t> </a:t>
            </a:r>
            <a:r>
              <a:rPr dirty="0" sz="1800">
                <a:solidFill>
                  <a:srgbClr val="FF0000"/>
                </a:solidFill>
                <a:latin typeface="Calibri"/>
                <a:cs typeface="Calibri"/>
              </a:rPr>
              <a:t>columnas</a:t>
            </a:r>
            <a:r>
              <a:rPr dirty="0" sz="1800" spc="-40">
                <a:solidFill>
                  <a:srgbClr val="FF0000"/>
                </a:solidFill>
                <a:latin typeface="Calibri"/>
                <a:cs typeface="Calibri"/>
              </a:rPr>
              <a:t> </a:t>
            </a:r>
            <a:r>
              <a:rPr dirty="0" sz="1800">
                <a:solidFill>
                  <a:srgbClr val="FF0000"/>
                </a:solidFill>
                <a:latin typeface="Calibri"/>
                <a:cs typeface="Calibri"/>
              </a:rPr>
              <a:t>debe</a:t>
            </a:r>
            <a:r>
              <a:rPr dirty="0" sz="1800" spc="-50">
                <a:solidFill>
                  <a:srgbClr val="FF0000"/>
                </a:solidFill>
                <a:latin typeface="Calibri"/>
                <a:cs typeface="Calibri"/>
              </a:rPr>
              <a:t> </a:t>
            </a:r>
            <a:r>
              <a:rPr dirty="0" sz="1800">
                <a:solidFill>
                  <a:srgbClr val="FF0000"/>
                </a:solidFill>
                <a:latin typeface="Calibri"/>
                <a:cs typeface="Calibri"/>
              </a:rPr>
              <a:t>ser</a:t>
            </a:r>
            <a:r>
              <a:rPr dirty="0" sz="1800" spc="-50">
                <a:solidFill>
                  <a:srgbClr val="FF0000"/>
                </a:solidFill>
                <a:latin typeface="Calibri"/>
                <a:cs typeface="Calibri"/>
              </a:rPr>
              <a:t> </a:t>
            </a:r>
            <a:r>
              <a:rPr dirty="0" sz="1800" spc="-10" b="1">
                <a:solidFill>
                  <a:srgbClr val="FF0000"/>
                </a:solidFill>
                <a:latin typeface="Calibri"/>
                <a:cs typeface="Calibri"/>
              </a:rPr>
              <a:t>ÚNICA</a:t>
            </a:r>
            <a:endParaRPr sz="1800">
              <a:latin typeface="Calibri"/>
              <a:cs typeface="Calibri"/>
            </a:endParaRPr>
          </a:p>
        </p:txBody>
      </p:sp>
      <p:sp>
        <p:nvSpPr>
          <p:cNvPr id="12" name="object 12"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13" name="object 13"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29</a:t>
            </a:r>
          </a:p>
        </p:txBody>
      </p:sp>
      <p:sp>
        <p:nvSpPr>
          <p:cNvPr id="14" name="object 14"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Clave</a:t>
            </a:r>
            <a:r>
              <a:rPr dirty="0" spc="-114"/>
              <a:t> </a:t>
            </a:r>
            <a:r>
              <a:rPr dirty="0"/>
              <a:t>Única</a:t>
            </a:r>
            <a:r>
              <a:rPr dirty="0" spc="-85"/>
              <a:t> </a:t>
            </a:r>
            <a:r>
              <a:rPr dirty="0" spc="-10"/>
              <a:t>Compuesta</a:t>
            </a:r>
          </a:p>
        </p:txBody>
      </p:sp>
      <p:sp>
        <p:nvSpPr>
          <p:cNvPr id="3" name="object 3" descr=""/>
          <p:cNvSpPr txBox="1"/>
          <p:nvPr/>
        </p:nvSpPr>
        <p:spPr>
          <a:xfrm>
            <a:off x="483552" y="1415417"/>
            <a:ext cx="8063230" cy="28587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10">
                <a:solidFill>
                  <a:srgbClr val="4E3629"/>
                </a:solidFill>
                <a:latin typeface="Calibri"/>
                <a:cs typeface="Calibri"/>
              </a:rPr>
              <a:t>Para</a:t>
            </a:r>
            <a:r>
              <a:rPr dirty="0" sz="2800" spc="-70">
                <a:solidFill>
                  <a:srgbClr val="4E3629"/>
                </a:solidFill>
                <a:latin typeface="Calibri"/>
                <a:cs typeface="Calibri"/>
              </a:rPr>
              <a:t> </a:t>
            </a:r>
            <a:r>
              <a:rPr dirty="0" sz="2800">
                <a:solidFill>
                  <a:srgbClr val="4E3629"/>
                </a:solidFill>
                <a:latin typeface="Calibri"/>
                <a:cs typeface="Calibri"/>
              </a:rPr>
              <a:t>cumplir</a:t>
            </a:r>
            <a:r>
              <a:rPr dirty="0" sz="2800" spc="-40">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spc="-10">
                <a:solidFill>
                  <a:srgbClr val="4E3629"/>
                </a:solidFill>
                <a:latin typeface="Calibri"/>
                <a:cs typeface="Calibri"/>
              </a:rPr>
              <a:t>restricción</a:t>
            </a:r>
            <a:r>
              <a:rPr dirty="0" sz="2800" spc="-50">
                <a:solidFill>
                  <a:srgbClr val="4E3629"/>
                </a:solidFill>
                <a:latin typeface="Calibri"/>
                <a:cs typeface="Calibri"/>
              </a:rPr>
              <a:t> </a:t>
            </a:r>
            <a:r>
              <a:rPr dirty="0" sz="2800">
                <a:solidFill>
                  <a:srgbClr val="4E3629"/>
                </a:solidFill>
                <a:latin typeface="Calibri"/>
                <a:cs typeface="Calibri"/>
              </a:rPr>
              <a:t>que</a:t>
            </a:r>
            <a:r>
              <a:rPr dirty="0" sz="2800" spc="-50">
                <a:solidFill>
                  <a:srgbClr val="4E3629"/>
                </a:solidFill>
                <a:latin typeface="Calibri"/>
                <a:cs typeface="Calibri"/>
              </a:rPr>
              <a:t> </a:t>
            </a:r>
            <a:r>
              <a:rPr dirty="0" sz="2800">
                <a:solidFill>
                  <a:srgbClr val="4E3629"/>
                </a:solidFill>
                <a:latin typeface="Calibri"/>
                <a:cs typeface="Calibri"/>
              </a:rPr>
              <a:t>designa</a:t>
            </a:r>
            <a:r>
              <a:rPr dirty="0" sz="2800" spc="-60">
                <a:solidFill>
                  <a:srgbClr val="4E3629"/>
                </a:solidFill>
                <a:latin typeface="Calibri"/>
                <a:cs typeface="Calibri"/>
              </a:rPr>
              <a:t> </a:t>
            </a:r>
            <a:r>
              <a:rPr dirty="0" sz="2800">
                <a:solidFill>
                  <a:srgbClr val="4E3629"/>
                </a:solidFill>
                <a:latin typeface="Calibri"/>
                <a:cs typeface="Calibri"/>
              </a:rPr>
              <a:t>una</a:t>
            </a:r>
            <a:r>
              <a:rPr dirty="0" sz="2800" spc="-55">
                <a:solidFill>
                  <a:srgbClr val="4E3629"/>
                </a:solidFill>
                <a:latin typeface="Calibri"/>
                <a:cs typeface="Calibri"/>
              </a:rPr>
              <a:t> </a:t>
            </a:r>
            <a:r>
              <a:rPr dirty="0" sz="2800" spc="-10">
                <a:solidFill>
                  <a:srgbClr val="4E3629"/>
                </a:solidFill>
                <a:latin typeface="Calibri"/>
                <a:cs typeface="Calibri"/>
              </a:rPr>
              <a:t>clave </a:t>
            </a:r>
            <a:r>
              <a:rPr dirty="0" sz="2800" spc="-10">
                <a:solidFill>
                  <a:srgbClr val="4E3629"/>
                </a:solidFill>
                <a:latin typeface="Calibri"/>
                <a:cs typeface="Calibri"/>
              </a:rPr>
              <a:t>	</a:t>
            </a:r>
            <a:r>
              <a:rPr dirty="0" sz="2800">
                <a:solidFill>
                  <a:srgbClr val="4E3629"/>
                </a:solidFill>
                <a:latin typeface="Calibri"/>
                <a:cs typeface="Calibri"/>
              </a:rPr>
              <a:t>única</a:t>
            </a:r>
            <a:r>
              <a:rPr dirty="0" sz="2800" spc="-35">
                <a:solidFill>
                  <a:srgbClr val="4E3629"/>
                </a:solidFill>
                <a:latin typeface="Calibri"/>
                <a:cs typeface="Calibri"/>
              </a:rPr>
              <a:t> </a:t>
            </a:r>
            <a:r>
              <a:rPr dirty="0" sz="2800" spc="-10">
                <a:solidFill>
                  <a:srgbClr val="4E3629"/>
                </a:solidFill>
                <a:latin typeface="Calibri"/>
                <a:cs typeface="Calibri"/>
              </a:rPr>
              <a:t>compuesta,</a:t>
            </a:r>
            <a:r>
              <a:rPr dirty="0" sz="2800" spc="-35">
                <a:solidFill>
                  <a:srgbClr val="4E3629"/>
                </a:solidFill>
                <a:latin typeface="Calibri"/>
                <a:cs typeface="Calibri"/>
              </a:rPr>
              <a:t> </a:t>
            </a:r>
            <a:r>
              <a:rPr dirty="0" u="heavy" sz="2800">
                <a:solidFill>
                  <a:srgbClr val="4E3629"/>
                </a:solidFill>
                <a:uFill>
                  <a:solidFill>
                    <a:srgbClr val="EC2814"/>
                  </a:solidFill>
                </a:uFill>
                <a:latin typeface="Calibri"/>
                <a:cs typeface="Calibri"/>
              </a:rPr>
              <a:t>dos</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filas</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tabla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no</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pueden</a:t>
            </a:r>
            <a:r>
              <a:rPr dirty="0" u="heavy" sz="2800" spc="-3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tener</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la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misma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combinación</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valores</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las</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columnas</a:t>
            </a:r>
            <a:r>
              <a:rPr dirty="0" u="heavy" sz="2800" spc="-3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de</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clave</a:t>
            </a:r>
            <a:endParaRPr sz="2800">
              <a:latin typeface="Calibri"/>
              <a:cs typeface="Calibri"/>
            </a:endParaRPr>
          </a:p>
          <a:p>
            <a:pPr marL="182880" marR="88900"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Además,</a:t>
            </a:r>
            <a:r>
              <a:rPr dirty="0" sz="2800" spc="-70">
                <a:solidFill>
                  <a:srgbClr val="4E3629"/>
                </a:solidFill>
                <a:latin typeface="Calibri"/>
                <a:cs typeface="Calibri"/>
              </a:rPr>
              <a:t> </a:t>
            </a:r>
            <a:r>
              <a:rPr dirty="0" sz="2800">
                <a:solidFill>
                  <a:srgbClr val="4E3629"/>
                </a:solidFill>
                <a:latin typeface="Calibri"/>
                <a:cs typeface="Calibri"/>
              </a:rPr>
              <a:t>cualquier</a:t>
            </a:r>
            <a:r>
              <a:rPr dirty="0" sz="2800" spc="-70">
                <a:solidFill>
                  <a:srgbClr val="4E3629"/>
                </a:solidFill>
                <a:latin typeface="Calibri"/>
                <a:cs typeface="Calibri"/>
              </a:rPr>
              <a:t> </a:t>
            </a:r>
            <a:r>
              <a:rPr dirty="0" sz="2800">
                <a:solidFill>
                  <a:srgbClr val="4E3629"/>
                </a:solidFill>
                <a:latin typeface="Calibri"/>
                <a:cs typeface="Calibri"/>
              </a:rPr>
              <a:t>fila</a:t>
            </a:r>
            <a:r>
              <a:rPr dirty="0" sz="2800" spc="-85">
                <a:solidFill>
                  <a:srgbClr val="4E3629"/>
                </a:solidFill>
                <a:latin typeface="Calibri"/>
                <a:cs typeface="Calibri"/>
              </a:rPr>
              <a:t> </a:t>
            </a:r>
            <a:r>
              <a:rPr dirty="0" sz="2800">
                <a:solidFill>
                  <a:srgbClr val="4E3629"/>
                </a:solidFill>
                <a:latin typeface="Calibri"/>
                <a:cs typeface="Calibri"/>
              </a:rPr>
              <a:t>que</a:t>
            </a:r>
            <a:r>
              <a:rPr dirty="0" sz="2800" spc="-65">
                <a:solidFill>
                  <a:srgbClr val="4E3629"/>
                </a:solidFill>
                <a:latin typeface="Calibri"/>
                <a:cs typeface="Calibri"/>
              </a:rPr>
              <a:t> </a:t>
            </a:r>
            <a:r>
              <a:rPr dirty="0" sz="2800" spc="-10">
                <a:solidFill>
                  <a:srgbClr val="4E3629"/>
                </a:solidFill>
                <a:latin typeface="Calibri"/>
                <a:cs typeface="Calibri"/>
              </a:rPr>
              <a:t>contenga</a:t>
            </a:r>
            <a:r>
              <a:rPr dirty="0" sz="2800" spc="-90">
                <a:solidFill>
                  <a:srgbClr val="4E3629"/>
                </a:solidFill>
                <a:latin typeface="Calibri"/>
                <a:cs typeface="Calibri"/>
              </a:rPr>
              <a:t> </a:t>
            </a:r>
            <a:r>
              <a:rPr dirty="0" sz="2800">
                <a:solidFill>
                  <a:srgbClr val="4E3629"/>
                </a:solidFill>
                <a:latin typeface="Calibri"/>
                <a:cs typeface="Calibri"/>
              </a:rPr>
              <a:t>valores</a:t>
            </a:r>
            <a:r>
              <a:rPr dirty="0" sz="2800" spc="-90">
                <a:solidFill>
                  <a:srgbClr val="4E3629"/>
                </a:solidFill>
                <a:latin typeface="Calibri"/>
                <a:cs typeface="Calibri"/>
              </a:rPr>
              <a:t> </a:t>
            </a:r>
            <a:r>
              <a:rPr dirty="0" sz="2800">
                <a:solidFill>
                  <a:srgbClr val="4E3629"/>
                </a:solidFill>
                <a:latin typeface="Calibri"/>
                <a:cs typeface="Calibri"/>
              </a:rPr>
              <a:t>nulos</a:t>
            </a:r>
            <a:r>
              <a:rPr dirty="0" sz="2800" spc="-55">
                <a:solidFill>
                  <a:srgbClr val="4E3629"/>
                </a:solidFill>
                <a:latin typeface="Calibri"/>
                <a:cs typeface="Calibri"/>
              </a:rPr>
              <a:t> </a:t>
            </a:r>
            <a:r>
              <a:rPr dirty="0" sz="2800" spc="-25">
                <a:solidFill>
                  <a:srgbClr val="4E3629"/>
                </a:solidFill>
                <a:latin typeface="Calibri"/>
                <a:cs typeface="Calibri"/>
              </a:rPr>
              <a:t>en </a:t>
            </a:r>
            <a:r>
              <a:rPr dirty="0" sz="2800" spc="-25">
                <a:solidFill>
                  <a:srgbClr val="4E3629"/>
                </a:solidFill>
                <a:latin typeface="Calibri"/>
                <a:cs typeface="Calibri"/>
              </a:rPr>
              <a:t>	</a:t>
            </a:r>
            <a:r>
              <a:rPr dirty="0" sz="2800">
                <a:solidFill>
                  <a:srgbClr val="4E3629"/>
                </a:solidFill>
                <a:latin typeface="Calibri"/>
                <a:cs typeface="Calibri"/>
              </a:rPr>
              <a:t>todas</a:t>
            </a:r>
            <a:r>
              <a:rPr dirty="0" sz="2800" spc="-70">
                <a:solidFill>
                  <a:srgbClr val="4E3629"/>
                </a:solidFill>
                <a:latin typeface="Calibri"/>
                <a:cs typeface="Calibri"/>
              </a:rPr>
              <a:t> </a:t>
            </a:r>
            <a:r>
              <a:rPr dirty="0" sz="2800">
                <a:solidFill>
                  <a:srgbClr val="4E3629"/>
                </a:solidFill>
                <a:latin typeface="Calibri"/>
                <a:cs typeface="Calibri"/>
              </a:rPr>
              <a:t>las</a:t>
            </a:r>
            <a:r>
              <a:rPr dirty="0" sz="2800" spc="-85">
                <a:solidFill>
                  <a:srgbClr val="4E3629"/>
                </a:solidFill>
                <a:latin typeface="Calibri"/>
                <a:cs typeface="Calibri"/>
              </a:rPr>
              <a:t> </a:t>
            </a:r>
            <a:r>
              <a:rPr dirty="0" sz="2800">
                <a:solidFill>
                  <a:srgbClr val="4E3629"/>
                </a:solidFill>
                <a:latin typeface="Calibri"/>
                <a:cs typeface="Calibri"/>
              </a:rPr>
              <a:t>columnas</a:t>
            </a:r>
            <a:r>
              <a:rPr dirty="0" sz="2800" spc="-5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clave</a:t>
            </a:r>
            <a:r>
              <a:rPr dirty="0" sz="2800" spc="-85">
                <a:solidFill>
                  <a:srgbClr val="4E3629"/>
                </a:solidFill>
                <a:latin typeface="Calibri"/>
                <a:cs typeface="Calibri"/>
              </a:rPr>
              <a:t> </a:t>
            </a:r>
            <a:r>
              <a:rPr dirty="0" sz="2800" spc="-10">
                <a:solidFill>
                  <a:srgbClr val="4E3629"/>
                </a:solidFill>
                <a:latin typeface="Calibri"/>
                <a:cs typeface="Calibri"/>
              </a:rPr>
              <a:t>automáticamente</a:t>
            </a:r>
            <a:r>
              <a:rPr dirty="0" sz="2800" spc="-80">
                <a:solidFill>
                  <a:srgbClr val="4E3629"/>
                </a:solidFill>
                <a:latin typeface="Calibri"/>
                <a:cs typeface="Calibri"/>
              </a:rPr>
              <a:t> </a:t>
            </a:r>
            <a:r>
              <a:rPr dirty="0" sz="2800" spc="-10">
                <a:solidFill>
                  <a:srgbClr val="4E3629"/>
                </a:solidFill>
                <a:latin typeface="Calibri"/>
                <a:cs typeface="Calibri"/>
              </a:rPr>
              <a:t>cumple </a:t>
            </a:r>
            <a:r>
              <a:rPr dirty="0" sz="2800" spc="-10">
                <a:solidFill>
                  <a:srgbClr val="4E3629"/>
                </a:solidFill>
                <a:latin typeface="Calibri"/>
                <a:cs typeface="Calibri"/>
              </a:rPr>
              <a:t>	</a:t>
            </a:r>
            <a:r>
              <a:rPr dirty="0" sz="2800">
                <a:solidFill>
                  <a:srgbClr val="4E3629"/>
                </a:solidFill>
                <a:latin typeface="Calibri"/>
                <a:cs typeface="Calibri"/>
              </a:rPr>
              <a:t>la</a:t>
            </a:r>
            <a:r>
              <a:rPr dirty="0" sz="2800" spc="-5">
                <a:solidFill>
                  <a:srgbClr val="4E3629"/>
                </a:solidFill>
                <a:latin typeface="Calibri"/>
                <a:cs typeface="Calibri"/>
              </a:rPr>
              <a:t> </a:t>
            </a:r>
            <a:r>
              <a:rPr dirty="0" sz="2800" spc="-10">
                <a:solidFill>
                  <a:srgbClr val="4E3629"/>
                </a:solidFill>
                <a:latin typeface="Calibri"/>
                <a:cs typeface="Calibri"/>
              </a:rPr>
              <a:t>restricción</a:t>
            </a:r>
            <a:endParaRPr sz="2800">
              <a:latin typeface="Calibri"/>
              <a:cs typeface="Calibri"/>
            </a:endParaRPr>
          </a:p>
        </p:txBody>
      </p:sp>
      <p:grpSp>
        <p:nvGrpSpPr>
          <p:cNvPr id="4" name="object 4" descr=""/>
          <p:cNvGrpSpPr/>
          <p:nvPr/>
        </p:nvGrpSpPr>
        <p:grpSpPr>
          <a:xfrm>
            <a:off x="5530605" y="5772146"/>
            <a:ext cx="190500" cy="334010"/>
            <a:chOff x="5530605" y="5772146"/>
            <a:chExt cx="190500" cy="334010"/>
          </a:xfrm>
        </p:grpSpPr>
        <p:sp>
          <p:nvSpPr>
            <p:cNvPr id="5" name="object 5" descr=""/>
            <p:cNvSpPr/>
            <p:nvPr/>
          </p:nvSpPr>
          <p:spPr>
            <a:xfrm>
              <a:off x="5625846" y="5943599"/>
              <a:ext cx="0" cy="162560"/>
            </a:xfrm>
            <a:custGeom>
              <a:avLst/>
              <a:gdLst/>
              <a:ahLst/>
              <a:cxnLst/>
              <a:rect l="l" t="t" r="r" b="b"/>
              <a:pathLst>
                <a:path w="0" h="162560">
                  <a:moveTo>
                    <a:pt x="0" y="162306"/>
                  </a:moveTo>
                  <a:lnTo>
                    <a:pt x="0" y="0"/>
                  </a:lnTo>
                </a:path>
              </a:pathLst>
            </a:custGeom>
            <a:ln w="38100">
              <a:solidFill>
                <a:srgbClr val="D1350F"/>
              </a:solidFill>
            </a:ln>
          </p:spPr>
          <p:txBody>
            <a:bodyPr wrap="square" lIns="0" tIns="0" rIns="0" bIns="0" rtlCol="0"/>
            <a:lstStyle/>
            <a:p/>
          </p:txBody>
        </p:sp>
        <p:sp>
          <p:nvSpPr>
            <p:cNvPr id="6" name="object 6" descr=""/>
            <p:cNvSpPr/>
            <p:nvPr/>
          </p:nvSpPr>
          <p:spPr>
            <a:xfrm>
              <a:off x="5530605" y="5772146"/>
              <a:ext cx="190500" cy="191135"/>
            </a:xfrm>
            <a:custGeom>
              <a:avLst/>
              <a:gdLst/>
              <a:ahLst/>
              <a:cxnLst/>
              <a:rect l="l" t="t" r="r" b="b"/>
              <a:pathLst>
                <a:path w="190500" h="191135">
                  <a:moveTo>
                    <a:pt x="95237" y="0"/>
                  </a:moveTo>
                  <a:lnTo>
                    <a:pt x="0" y="190512"/>
                  </a:lnTo>
                  <a:lnTo>
                    <a:pt x="190500" y="190499"/>
                  </a:lnTo>
                  <a:lnTo>
                    <a:pt x="95237" y="0"/>
                  </a:lnTo>
                  <a:close/>
                </a:path>
              </a:pathLst>
            </a:custGeom>
            <a:solidFill>
              <a:srgbClr val="D1350F"/>
            </a:solidFill>
          </p:spPr>
          <p:txBody>
            <a:bodyPr wrap="square" lIns="0" tIns="0" rIns="0" bIns="0" rtlCol="0"/>
            <a:lstStyle/>
            <a:p/>
          </p:txBody>
        </p:sp>
      </p:grpSp>
      <p:grpSp>
        <p:nvGrpSpPr>
          <p:cNvPr id="7" name="object 7" descr=""/>
          <p:cNvGrpSpPr/>
          <p:nvPr/>
        </p:nvGrpSpPr>
        <p:grpSpPr>
          <a:xfrm>
            <a:off x="6597405" y="5772146"/>
            <a:ext cx="190500" cy="334010"/>
            <a:chOff x="6597405" y="5772146"/>
            <a:chExt cx="190500" cy="334010"/>
          </a:xfrm>
        </p:grpSpPr>
        <p:sp>
          <p:nvSpPr>
            <p:cNvPr id="8" name="object 8" descr=""/>
            <p:cNvSpPr/>
            <p:nvPr/>
          </p:nvSpPr>
          <p:spPr>
            <a:xfrm>
              <a:off x="6692646" y="5943599"/>
              <a:ext cx="0" cy="162560"/>
            </a:xfrm>
            <a:custGeom>
              <a:avLst/>
              <a:gdLst/>
              <a:ahLst/>
              <a:cxnLst/>
              <a:rect l="l" t="t" r="r" b="b"/>
              <a:pathLst>
                <a:path w="0" h="162560">
                  <a:moveTo>
                    <a:pt x="0" y="162306"/>
                  </a:moveTo>
                  <a:lnTo>
                    <a:pt x="0" y="0"/>
                  </a:lnTo>
                </a:path>
              </a:pathLst>
            </a:custGeom>
            <a:ln w="38100">
              <a:solidFill>
                <a:srgbClr val="D1350F"/>
              </a:solidFill>
            </a:ln>
          </p:spPr>
          <p:txBody>
            <a:bodyPr wrap="square" lIns="0" tIns="0" rIns="0" bIns="0" rtlCol="0"/>
            <a:lstStyle/>
            <a:p/>
          </p:txBody>
        </p:sp>
        <p:sp>
          <p:nvSpPr>
            <p:cNvPr id="9" name="object 9" descr=""/>
            <p:cNvSpPr/>
            <p:nvPr/>
          </p:nvSpPr>
          <p:spPr>
            <a:xfrm>
              <a:off x="6597405" y="5772146"/>
              <a:ext cx="190500" cy="191135"/>
            </a:xfrm>
            <a:custGeom>
              <a:avLst/>
              <a:gdLst/>
              <a:ahLst/>
              <a:cxnLst/>
              <a:rect l="l" t="t" r="r" b="b"/>
              <a:pathLst>
                <a:path w="190500" h="191135">
                  <a:moveTo>
                    <a:pt x="95237" y="0"/>
                  </a:moveTo>
                  <a:lnTo>
                    <a:pt x="0" y="190512"/>
                  </a:lnTo>
                  <a:lnTo>
                    <a:pt x="190500" y="190499"/>
                  </a:lnTo>
                  <a:lnTo>
                    <a:pt x="95237" y="0"/>
                  </a:lnTo>
                  <a:close/>
                </a:path>
              </a:pathLst>
            </a:custGeom>
            <a:solidFill>
              <a:srgbClr val="D1350F"/>
            </a:solidFill>
          </p:spPr>
          <p:txBody>
            <a:bodyPr wrap="square" lIns="0" tIns="0" rIns="0" bIns="0" rtlCol="0"/>
            <a:lstStyle/>
            <a:p/>
          </p:txBody>
        </p:sp>
      </p:grpSp>
      <p:graphicFrame>
        <p:nvGraphicFramePr>
          <p:cNvPr id="10" name="object 10" descr=""/>
          <p:cNvGraphicFramePr>
            <a:graphicFrameLocks noGrp="1"/>
          </p:cNvGraphicFramePr>
          <p:nvPr/>
        </p:nvGraphicFramePr>
        <p:xfrm>
          <a:off x="1018004" y="4286984"/>
          <a:ext cx="7517765" cy="1422400"/>
        </p:xfrm>
        <a:graphic>
          <a:graphicData uri="http://schemas.openxmlformats.org/drawingml/2006/table">
            <a:tbl>
              <a:tblPr firstRow="1" bandRow="1">
                <a:tableStyleId>{2D5ABB26-0587-4C30-8999-92F81FD0307C}</a:tableStyleId>
              </a:tblPr>
              <a:tblGrid>
                <a:gridCol w="1579880"/>
                <a:gridCol w="1223009"/>
                <a:gridCol w="1146810"/>
                <a:gridCol w="1223010"/>
                <a:gridCol w="2254885"/>
              </a:tblGrid>
              <a:tr h="284480">
                <a:tc>
                  <a:txBody>
                    <a:bodyPr/>
                    <a:lstStyle/>
                    <a:p>
                      <a:pPr marL="12700">
                        <a:lnSpc>
                          <a:spcPct val="100000"/>
                        </a:lnSpc>
                        <a:spcBef>
                          <a:spcPts val="70"/>
                        </a:spcBef>
                      </a:pPr>
                      <a:r>
                        <a:rPr dirty="0" sz="1600" spc="-10" b="1">
                          <a:solidFill>
                            <a:srgbClr val="4E3629"/>
                          </a:solidFill>
                          <a:latin typeface="Calibri"/>
                          <a:cs typeface="Calibri"/>
                        </a:rPr>
                        <a:t>CLIENT_NUMBER</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065">
                        <a:lnSpc>
                          <a:spcPct val="100000"/>
                        </a:lnSpc>
                        <a:spcBef>
                          <a:spcPts val="70"/>
                        </a:spcBef>
                      </a:pPr>
                      <a:r>
                        <a:rPr dirty="0" sz="1600" spc="-10" b="1">
                          <a:solidFill>
                            <a:srgbClr val="4E3629"/>
                          </a:solidFill>
                          <a:latin typeface="Calibri"/>
                          <a:cs typeface="Calibri"/>
                        </a:rPr>
                        <a:t>FIRST_NAME</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065">
                        <a:lnSpc>
                          <a:spcPct val="100000"/>
                        </a:lnSpc>
                        <a:spcBef>
                          <a:spcPts val="70"/>
                        </a:spcBef>
                      </a:pPr>
                      <a:r>
                        <a:rPr dirty="0" sz="1600" spc="-10" b="1">
                          <a:solidFill>
                            <a:srgbClr val="4E3629"/>
                          </a:solidFill>
                          <a:latin typeface="Calibri"/>
                          <a:cs typeface="Calibri"/>
                        </a:rPr>
                        <a:t>LAST_NAME</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065">
                        <a:lnSpc>
                          <a:spcPct val="100000"/>
                        </a:lnSpc>
                        <a:spcBef>
                          <a:spcPts val="70"/>
                        </a:spcBef>
                      </a:pPr>
                      <a:r>
                        <a:rPr dirty="0" sz="1600" spc="-10" b="1">
                          <a:solidFill>
                            <a:srgbClr val="4E3629"/>
                          </a:solidFill>
                          <a:latin typeface="Calibri"/>
                          <a:cs typeface="Calibri"/>
                        </a:rPr>
                        <a:t>PHONE</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065">
                        <a:lnSpc>
                          <a:spcPct val="100000"/>
                        </a:lnSpc>
                        <a:spcBef>
                          <a:spcPts val="70"/>
                        </a:spcBef>
                      </a:pPr>
                      <a:r>
                        <a:rPr dirty="0" sz="1600" spc="-10" b="1">
                          <a:solidFill>
                            <a:srgbClr val="4E3629"/>
                          </a:solidFill>
                          <a:latin typeface="Calibri"/>
                          <a:cs typeface="Calibri"/>
                        </a:rPr>
                        <a:t>EMAIL</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84480">
                <a:tc>
                  <a:txBody>
                    <a:bodyPr/>
                    <a:lstStyle/>
                    <a:p>
                      <a:pPr marL="12065">
                        <a:lnSpc>
                          <a:spcPct val="100000"/>
                        </a:lnSpc>
                        <a:spcBef>
                          <a:spcPts val="70"/>
                        </a:spcBef>
                      </a:pPr>
                      <a:r>
                        <a:rPr dirty="0" sz="1600" spc="-20">
                          <a:solidFill>
                            <a:srgbClr val="4E3629"/>
                          </a:solidFill>
                          <a:latin typeface="Calibri"/>
                          <a:cs typeface="Calibri"/>
                        </a:rPr>
                        <a:t>5922</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rPr>
                        <a:t>Hiram</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rPr>
                        <a:t>Peters</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rPr>
                        <a:t>3715832249</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hlinkClick r:id="rId2"/>
                        </a:rPr>
                        <a:t>hpeters@yahoo.com</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84480">
                <a:tc>
                  <a:txBody>
                    <a:bodyPr/>
                    <a:lstStyle/>
                    <a:p>
                      <a:pPr marL="12065">
                        <a:lnSpc>
                          <a:spcPct val="100000"/>
                        </a:lnSpc>
                        <a:spcBef>
                          <a:spcPts val="70"/>
                        </a:spcBef>
                      </a:pPr>
                      <a:r>
                        <a:rPr dirty="0" sz="1600" spc="-20">
                          <a:solidFill>
                            <a:srgbClr val="4E3629"/>
                          </a:solidFill>
                          <a:latin typeface="Calibri"/>
                          <a:cs typeface="Calibri"/>
                        </a:rPr>
                        <a:t>5857</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rPr>
                        <a:t>Serena</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rPr>
                        <a:t>Jones</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rPr>
                        <a:t>7035335900</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hlinkClick r:id="rId3"/>
                        </a:rPr>
                        <a:t>serena.jones@jones.com</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84480">
                <a:tc>
                  <a:txBody>
                    <a:bodyPr/>
                    <a:lstStyle/>
                    <a:p>
                      <a:pPr marL="12065">
                        <a:lnSpc>
                          <a:spcPct val="100000"/>
                        </a:lnSpc>
                        <a:spcBef>
                          <a:spcPts val="70"/>
                        </a:spcBef>
                      </a:pPr>
                      <a:r>
                        <a:rPr dirty="0" sz="1600" spc="-20">
                          <a:solidFill>
                            <a:srgbClr val="4E3629"/>
                          </a:solidFill>
                          <a:latin typeface="Calibri"/>
                          <a:cs typeface="Calibri"/>
                        </a:rPr>
                        <a:t>6133</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065">
                        <a:lnSpc>
                          <a:spcPct val="100000"/>
                        </a:lnSpc>
                        <a:spcBef>
                          <a:spcPts val="70"/>
                        </a:spcBef>
                      </a:pPr>
                      <a:r>
                        <a:rPr dirty="0" sz="1600" spc="-10">
                          <a:solidFill>
                            <a:srgbClr val="4E3629"/>
                          </a:solidFill>
                          <a:latin typeface="Calibri"/>
                          <a:cs typeface="Calibri"/>
                        </a:rPr>
                        <a:t>Lauren</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1430">
                        <a:lnSpc>
                          <a:spcPct val="100000"/>
                        </a:lnSpc>
                        <a:spcBef>
                          <a:spcPts val="70"/>
                        </a:spcBef>
                      </a:pPr>
                      <a:r>
                        <a:rPr dirty="0" sz="1600" spc="-10">
                          <a:solidFill>
                            <a:srgbClr val="4E3629"/>
                          </a:solidFill>
                          <a:latin typeface="Calibri"/>
                          <a:cs typeface="Calibri"/>
                        </a:rPr>
                        <a:t>Vigil</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1430">
                        <a:lnSpc>
                          <a:spcPct val="100000"/>
                        </a:lnSpc>
                        <a:spcBef>
                          <a:spcPts val="70"/>
                        </a:spcBef>
                      </a:pPr>
                      <a:r>
                        <a:rPr dirty="0" sz="1600" spc="-10">
                          <a:solidFill>
                            <a:srgbClr val="4E3629"/>
                          </a:solidFill>
                          <a:latin typeface="Calibri"/>
                          <a:cs typeface="Calibri"/>
                        </a:rPr>
                        <a:t>4072220090</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1430">
                        <a:lnSpc>
                          <a:spcPct val="100000"/>
                        </a:lnSpc>
                        <a:spcBef>
                          <a:spcPts val="70"/>
                        </a:spcBef>
                      </a:pPr>
                      <a:r>
                        <a:rPr dirty="0" sz="1600" spc="-10">
                          <a:solidFill>
                            <a:srgbClr val="4E3629"/>
                          </a:solidFill>
                          <a:latin typeface="Calibri"/>
                          <a:cs typeface="Calibri"/>
                          <a:hlinkClick r:id="rId4"/>
                        </a:rPr>
                        <a:t>lbv@lbv.net</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84480">
                <a:tc>
                  <a:txBody>
                    <a:bodyPr/>
                    <a:lstStyle/>
                    <a:p>
                      <a:pPr marL="11430">
                        <a:lnSpc>
                          <a:spcPct val="100000"/>
                        </a:lnSpc>
                        <a:spcBef>
                          <a:spcPts val="70"/>
                        </a:spcBef>
                      </a:pPr>
                      <a:r>
                        <a:rPr dirty="0" sz="1600" spc="-20">
                          <a:solidFill>
                            <a:srgbClr val="4E3629"/>
                          </a:solidFill>
                          <a:latin typeface="Calibri"/>
                          <a:cs typeface="Calibri"/>
                        </a:rPr>
                        <a:t>7234</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1430">
                        <a:lnSpc>
                          <a:spcPct val="100000"/>
                        </a:lnSpc>
                        <a:spcBef>
                          <a:spcPts val="70"/>
                        </a:spcBef>
                      </a:pPr>
                      <a:r>
                        <a:rPr dirty="0" sz="1600" spc="-10">
                          <a:solidFill>
                            <a:srgbClr val="4E3629"/>
                          </a:solidFill>
                          <a:latin typeface="Calibri"/>
                          <a:cs typeface="Calibri"/>
                        </a:rPr>
                        <a:t>Lonny</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1430">
                        <a:lnSpc>
                          <a:spcPct val="100000"/>
                        </a:lnSpc>
                        <a:spcBef>
                          <a:spcPts val="70"/>
                        </a:spcBef>
                      </a:pPr>
                      <a:r>
                        <a:rPr dirty="0" sz="1600" spc="-10">
                          <a:solidFill>
                            <a:srgbClr val="4E3629"/>
                          </a:solidFill>
                          <a:latin typeface="Calibri"/>
                          <a:cs typeface="Calibri"/>
                        </a:rPr>
                        <a:t>Vigil</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1430">
                        <a:lnSpc>
                          <a:spcPct val="100000"/>
                        </a:lnSpc>
                        <a:spcBef>
                          <a:spcPts val="70"/>
                        </a:spcBef>
                      </a:pPr>
                      <a:r>
                        <a:rPr dirty="0" sz="1600" spc="-10">
                          <a:solidFill>
                            <a:srgbClr val="4E3629"/>
                          </a:solidFill>
                          <a:latin typeface="Calibri"/>
                          <a:cs typeface="Calibri"/>
                        </a:rPr>
                        <a:t>4072220091</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1430">
                        <a:lnSpc>
                          <a:spcPct val="100000"/>
                        </a:lnSpc>
                        <a:spcBef>
                          <a:spcPts val="70"/>
                        </a:spcBef>
                      </a:pPr>
                      <a:r>
                        <a:rPr dirty="0" sz="1600" spc="-10">
                          <a:solidFill>
                            <a:srgbClr val="4E3629"/>
                          </a:solidFill>
                          <a:latin typeface="Calibri"/>
                          <a:cs typeface="Calibri"/>
                          <a:hlinkClick r:id="rId4"/>
                        </a:rPr>
                        <a:t>lbv@lbv.net</a:t>
                      </a:r>
                      <a:endParaRPr sz="1600">
                        <a:latin typeface="Calibri"/>
                        <a:cs typeface="Calibri"/>
                      </a:endParaRPr>
                    </a:p>
                  </a:txBody>
                  <a:tcPr marL="0" marR="0" marB="0" marT="88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11" name="object 11" descr=""/>
          <p:cNvSpPr txBox="1"/>
          <p:nvPr/>
        </p:nvSpPr>
        <p:spPr>
          <a:xfrm>
            <a:off x="3709732" y="6180217"/>
            <a:ext cx="4410075" cy="254000"/>
          </a:xfrm>
          <a:prstGeom prst="rect">
            <a:avLst/>
          </a:prstGeom>
        </p:spPr>
        <p:txBody>
          <a:bodyPr wrap="square" lIns="0" tIns="0" rIns="0" bIns="0" rtlCol="0" vert="horz">
            <a:spAutoFit/>
          </a:bodyPr>
          <a:lstStyle/>
          <a:p>
            <a:pPr marL="12700">
              <a:lnSpc>
                <a:spcPts val="1810"/>
              </a:lnSpc>
            </a:pPr>
            <a:r>
              <a:rPr dirty="0" sz="1800">
                <a:solidFill>
                  <a:srgbClr val="FF0000"/>
                </a:solidFill>
                <a:latin typeface="Calibri"/>
                <a:cs typeface="Calibri"/>
              </a:rPr>
              <a:t>Esta</a:t>
            </a:r>
            <a:r>
              <a:rPr dirty="0" sz="1800" spc="-55">
                <a:solidFill>
                  <a:srgbClr val="FF0000"/>
                </a:solidFill>
                <a:latin typeface="Calibri"/>
                <a:cs typeface="Calibri"/>
              </a:rPr>
              <a:t> </a:t>
            </a:r>
            <a:r>
              <a:rPr dirty="0" sz="1800">
                <a:solidFill>
                  <a:srgbClr val="FF0000"/>
                </a:solidFill>
                <a:latin typeface="Calibri"/>
                <a:cs typeface="Calibri"/>
              </a:rPr>
              <a:t>combinación</a:t>
            </a:r>
            <a:r>
              <a:rPr dirty="0" sz="1800" spc="-35">
                <a:solidFill>
                  <a:srgbClr val="FF0000"/>
                </a:solidFill>
                <a:latin typeface="Calibri"/>
                <a:cs typeface="Calibri"/>
              </a:rPr>
              <a:t> </a:t>
            </a:r>
            <a:r>
              <a:rPr dirty="0" sz="1800">
                <a:solidFill>
                  <a:srgbClr val="FF0000"/>
                </a:solidFill>
                <a:latin typeface="Calibri"/>
                <a:cs typeface="Calibri"/>
              </a:rPr>
              <a:t>de</a:t>
            </a:r>
            <a:r>
              <a:rPr dirty="0" sz="1800" spc="-40">
                <a:solidFill>
                  <a:srgbClr val="FF0000"/>
                </a:solidFill>
                <a:latin typeface="Calibri"/>
                <a:cs typeface="Calibri"/>
              </a:rPr>
              <a:t> </a:t>
            </a:r>
            <a:r>
              <a:rPr dirty="0" sz="1800">
                <a:solidFill>
                  <a:srgbClr val="FF0000"/>
                </a:solidFill>
                <a:latin typeface="Calibri"/>
                <a:cs typeface="Calibri"/>
              </a:rPr>
              <a:t>columnas</a:t>
            </a:r>
            <a:r>
              <a:rPr dirty="0" sz="1800" spc="-40">
                <a:solidFill>
                  <a:srgbClr val="FF0000"/>
                </a:solidFill>
                <a:latin typeface="Calibri"/>
                <a:cs typeface="Calibri"/>
              </a:rPr>
              <a:t> </a:t>
            </a:r>
            <a:r>
              <a:rPr dirty="0" sz="1800">
                <a:solidFill>
                  <a:srgbClr val="FF0000"/>
                </a:solidFill>
                <a:latin typeface="Calibri"/>
                <a:cs typeface="Calibri"/>
              </a:rPr>
              <a:t>debe</a:t>
            </a:r>
            <a:r>
              <a:rPr dirty="0" sz="1800" spc="-50">
                <a:solidFill>
                  <a:srgbClr val="FF0000"/>
                </a:solidFill>
                <a:latin typeface="Calibri"/>
                <a:cs typeface="Calibri"/>
              </a:rPr>
              <a:t> </a:t>
            </a:r>
            <a:r>
              <a:rPr dirty="0" sz="1800">
                <a:solidFill>
                  <a:srgbClr val="FF0000"/>
                </a:solidFill>
                <a:latin typeface="Calibri"/>
                <a:cs typeface="Calibri"/>
              </a:rPr>
              <a:t>ser</a:t>
            </a:r>
            <a:r>
              <a:rPr dirty="0" sz="1800" spc="-50">
                <a:solidFill>
                  <a:srgbClr val="FF0000"/>
                </a:solidFill>
                <a:latin typeface="Calibri"/>
                <a:cs typeface="Calibri"/>
              </a:rPr>
              <a:t> </a:t>
            </a:r>
            <a:r>
              <a:rPr dirty="0" sz="1800" spc="-10" b="1">
                <a:solidFill>
                  <a:srgbClr val="FF0000"/>
                </a:solidFill>
                <a:latin typeface="Calibri"/>
                <a:cs typeface="Calibri"/>
              </a:rPr>
              <a:t>ÚNICA</a:t>
            </a:r>
            <a:endParaRPr sz="1800">
              <a:latin typeface="Calibri"/>
              <a:cs typeface="Calibri"/>
            </a:endParaRPr>
          </a:p>
        </p:txBody>
      </p:sp>
      <p:sp>
        <p:nvSpPr>
          <p:cNvPr id="12" name="object 12"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13" name="object 13"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30</a:t>
            </a:r>
          </a:p>
        </p:txBody>
      </p:sp>
      <p:sp>
        <p:nvSpPr>
          <p:cNvPr id="14" name="object 14"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8110855" cy="528320"/>
          </a:xfrm>
          <a:prstGeom prst="rect"/>
        </p:spPr>
        <p:txBody>
          <a:bodyPr wrap="square" lIns="0" tIns="12700" rIns="0" bIns="0" rtlCol="0" vert="horz">
            <a:spAutoFit/>
          </a:bodyPr>
          <a:lstStyle/>
          <a:p>
            <a:pPr marL="12700">
              <a:lnSpc>
                <a:spcPct val="100000"/>
              </a:lnSpc>
              <a:spcBef>
                <a:spcPts val="100"/>
              </a:spcBef>
            </a:pPr>
            <a:r>
              <a:rPr dirty="0" spc="-10"/>
              <a:t>Restricciones</a:t>
            </a:r>
            <a:r>
              <a:rPr dirty="0" spc="-45"/>
              <a:t> </a:t>
            </a:r>
            <a:r>
              <a:rPr dirty="0"/>
              <a:t>Creadas</a:t>
            </a:r>
            <a:r>
              <a:rPr dirty="0" spc="-75"/>
              <a:t> </a:t>
            </a:r>
            <a:r>
              <a:rPr dirty="0"/>
              <a:t>en</a:t>
            </a:r>
            <a:r>
              <a:rPr dirty="0" spc="-50"/>
              <a:t> </a:t>
            </a:r>
            <a:r>
              <a:rPr dirty="0"/>
              <a:t>la</a:t>
            </a:r>
            <a:r>
              <a:rPr dirty="0" spc="-55"/>
              <a:t> </a:t>
            </a:r>
            <a:r>
              <a:rPr dirty="0"/>
              <a:t>Creación</a:t>
            </a:r>
            <a:r>
              <a:rPr dirty="0" spc="-50"/>
              <a:t> </a:t>
            </a:r>
            <a:r>
              <a:rPr dirty="0"/>
              <a:t>de</a:t>
            </a:r>
            <a:r>
              <a:rPr dirty="0" spc="-40"/>
              <a:t> </a:t>
            </a:r>
            <a:r>
              <a:rPr dirty="0"/>
              <a:t>la</a:t>
            </a:r>
            <a:r>
              <a:rPr dirty="0" spc="-55"/>
              <a:t> </a:t>
            </a:r>
            <a:r>
              <a:rPr dirty="0" spc="-10"/>
              <a:t>Tabla</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1</a:t>
            </a:r>
          </a:p>
          <a:p>
            <a:pPr marL="12700" marR="5080">
              <a:lnSpc>
                <a:spcPts val="919"/>
              </a:lnSpc>
              <a:spcBef>
                <a:spcPts val="60"/>
              </a:spcBef>
            </a:pPr>
            <a:r>
              <a:rPr dirty="0" spc="-10"/>
              <a:t>Introducción</a:t>
            </a:r>
            <a:r>
              <a:rPr dirty="0" spc="25"/>
              <a:t> </a:t>
            </a:r>
            <a:r>
              <a:rPr dirty="0"/>
              <a:t>a</a:t>
            </a:r>
            <a:r>
              <a:rPr dirty="0" spc="-5"/>
              <a:t> </a:t>
            </a:r>
            <a:r>
              <a:rPr dirty="0"/>
              <a:t>las</a:t>
            </a:r>
            <a:r>
              <a:rPr dirty="0" spc="5"/>
              <a:t> </a:t>
            </a:r>
            <a:r>
              <a:rPr dirty="0" spc="-10"/>
              <a:t>Restricciones;</a:t>
            </a:r>
            <a:r>
              <a:rPr dirty="0" spc="500"/>
              <a:t> </a:t>
            </a:r>
            <a:r>
              <a:rPr dirty="0" spc="-10"/>
              <a:t>Restricciones</a:t>
            </a:r>
            <a:r>
              <a:rPr dirty="0" spc="35"/>
              <a:t> </a:t>
            </a:r>
            <a:r>
              <a:rPr dirty="0"/>
              <a:t>NOT</a:t>
            </a:r>
            <a:r>
              <a:rPr dirty="0" spc="-5"/>
              <a:t> </a:t>
            </a:r>
            <a:r>
              <a:rPr dirty="0"/>
              <a:t>NULL</a:t>
            </a:r>
            <a:r>
              <a:rPr dirty="0" spc="-15"/>
              <a:t> </a:t>
            </a:r>
            <a:r>
              <a:rPr dirty="0"/>
              <a:t>y </a:t>
            </a:r>
            <a:r>
              <a:rPr dirty="0" spc="-10"/>
              <a:t>UNIQUE</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31</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174990" cy="4112895"/>
          </a:xfrm>
          <a:prstGeom prst="rect">
            <a:avLst/>
          </a:prstGeom>
        </p:spPr>
        <p:txBody>
          <a:bodyPr wrap="square" lIns="0" tIns="59690" rIns="0" bIns="0" rtlCol="0" vert="horz">
            <a:spAutoFit/>
          </a:bodyPr>
          <a:lstStyle/>
          <a:p>
            <a:pPr marL="159385" marR="52069"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Al</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agregar</a:t>
            </a:r>
            <a:r>
              <a:rPr dirty="0" u="heavy" sz="2800" spc="-10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3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restricción</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NOT</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NULL</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como</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parte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la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sentencia</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creación</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2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tabla,</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base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datos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Oracle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creará</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2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restricción</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Check</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base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3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datos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para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aplicar</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NOT</a:t>
            </a:r>
            <a:r>
              <a:rPr dirty="0" u="heavy" sz="2800" spc="-5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NULL</a:t>
            </a:r>
            <a:endParaRPr sz="2800">
              <a:latin typeface="Calibri"/>
              <a:cs typeface="Calibri"/>
            </a:endParaRPr>
          </a:p>
          <a:p>
            <a:pPr marL="182880" marR="267335"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creación</a:t>
            </a:r>
            <a:r>
              <a:rPr dirty="0" sz="2800" spc="-5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esta</a:t>
            </a:r>
            <a:r>
              <a:rPr dirty="0" sz="2800" spc="-40">
                <a:solidFill>
                  <a:srgbClr val="4E3629"/>
                </a:solidFill>
                <a:latin typeface="Calibri"/>
                <a:cs typeface="Calibri"/>
              </a:rPr>
              <a:t> </a:t>
            </a:r>
            <a:r>
              <a:rPr dirty="0" sz="2800" spc="-10">
                <a:solidFill>
                  <a:srgbClr val="4E3629"/>
                </a:solidFill>
                <a:latin typeface="Calibri"/>
                <a:cs typeface="Calibri"/>
              </a:rPr>
              <a:t>restricción</a:t>
            </a:r>
            <a:r>
              <a:rPr dirty="0" sz="2800" spc="-40">
                <a:solidFill>
                  <a:srgbClr val="4E3629"/>
                </a:solidFill>
                <a:latin typeface="Calibri"/>
                <a:cs typeface="Calibri"/>
              </a:rPr>
              <a:t> </a:t>
            </a:r>
            <a:r>
              <a:rPr dirty="0" sz="2800">
                <a:solidFill>
                  <a:srgbClr val="4E3629"/>
                </a:solidFill>
                <a:latin typeface="Calibri"/>
                <a:cs typeface="Calibri"/>
              </a:rPr>
              <a:t>puede</a:t>
            </a:r>
            <a:r>
              <a:rPr dirty="0" sz="2800" spc="-35">
                <a:solidFill>
                  <a:srgbClr val="4E3629"/>
                </a:solidFill>
                <a:latin typeface="Calibri"/>
                <a:cs typeface="Calibri"/>
              </a:rPr>
              <a:t> </a:t>
            </a:r>
            <a:r>
              <a:rPr dirty="0" sz="2800">
                <a:solidFill>
                  <a:srgbClr val="4E3629"/>
                </a:solidFill>
                <a:latin typeface="Calibri"/>
                <a:cs typeface="Calibri"/>
              </a:rPr>
              <a:t>ser</a:t>
            </a:r>
            <a:r>
              <a:rPr dirty="0" sz="2800" spc="-50">
                <a:solidFill>
                  <a:srgbClr val="4E3629"/>
                </a:solidFill>
                <a:latin typeface="Calibri"/>
                <a:cs typeface="Calibri"/>
              </a:rPr>
              <a:t> </a:t>
            </a:r>
            <a:r>
              <a:rPr dirty="0" sz="2800">
                <a:solidFill>
                  <a:srgbClr val="4E3629"/>
                </a:solidFill>
                <a:latin typeface="Calibri"/>
                <a:cs typeface="Calibri"/>
              </a:rPr>
              <a:t>casi</a:t>
            </a:r>
            <a:r>
              <a:rPr dirty="0" sz="2800" spc="-50">
                <a:solidFill>
                  <a:srgbClr val="4E3629"/>
                </a:solidFill>
                <a:latin typeface="Calibri"/>
                <a:cs typeface="Calibri"/>
              </a:rPr>
              <a:t> </a:t>
            </a:r>
            <a:r>
              <a:rPr dirty="0" sz="2800" spc="-10">
                <a:solidFill>
                  <a:srgbClr val="4E3629"/>
                </a:solidFill>
                <a:latin typeface="Calibri"/>
                <a:cs typeface="Calibri"/>
              </a:rPr>
              <a:t>invisible </a:t>
            </a:r>
            <a:r>
              <a:rPr dirty="0" sz="2800" spc="-10">
                <a:solidFill>
                  <a:srgbClr val="4E3629"/>
                </a:solidFill>
                <a:latin typeface="Calibri"/>
                <a:cs typeface="Calibri"/>
              </a:rPr>
              <a:t>	</a:t>
            </a:r>
            <a:r>
              <a:rPr dirty="0" sz="2800">
                <a:solidFill>
                  <a:srgbClr val="4E3629"/>
                </a:solidFill>
                <a:latin typeface="Calibri"/>
                <a:cs typeface="Calibri"/>
              </a:rPr>
              <a:t>para</a:t>
            </a:r>
            <a:r>
              <a:rPr dirty="0" sz="2800" spc="-55">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usuario</a:t>
            </a:r>
            <a:r>
              <a:rPr dirty="0" sz="2800" spc="-20">
                <a:solidFill>
                  <a:srgbClr val="4E3629"/>
                </a:solidFill>
                <a:latin typeface="Calibri"/>
                <a:cs typeface="Calibri"/>
              </a:rPr>
              <a:t> </a:t>
            </a:r>
            <a:r>
              <a:rPr dirty="0" sz="2800">
                <a:solidFill>
                  <a:srgbClr val="4E3629"/>
                </a:solidFill>
                <a:latin typeface="Calibri"/>
                <a:cs typeface="Calibri"/>
              </a:rPr>
              <a:t>al</a:t>
            </a:r>
            <a:r>
              <a:rPr dirty="0" sz="2800" spc="-75">
                <a:solidFill>
                  <a:srgbClr val="4E3629"/>
                </a:solidFill>
                <a:latin typeface="Calibri"/>
                <a:cs typeface="Calibri"/>
              </a:rPr>
              <a:t> </a:t>
            </a:r>
            <a:r>
              <a:rPr dirty="0" sz="2800">
                <a:solidFill>
                  <a:srgbClr val="4E3629"/>
                </a:solidFill>
                <a:latin typeface="Calibri"/>
                <a:cs typeface="Calibri"/>
              </a:rPr>
              <a:t>crear</a:t>
            </a:r>
            <a:r>
              <a:rPr dirty="0" sz="2800" spc="-6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tabla:</a:t>
            </a:r>
            <a:r>
              <a:rPr dirty="0" sz="2800" spc="-50">
                <a:solidFill>
                  <a:srgbClr val="4E3629"/>
                </a:solidFill>
                <a:latin typeface="Calibri"/>
                <a:cs typeface="Calibri"/>
              </a:rPr>
              <a:t> </a:t>
            </a:r>
            <a:r>
              <a:rPr dirty="0" sz="2800">
                <a:solidFill>
                  <a:srgbClr val="4E3629"/>
                </a:solidFill>
                <a:latin typeface="Calibri"/>
                <a:cs typeface="Calibri"/>
              </a:rPr>
              <a:t>Oracle</a:t>
            </a:r>
            <a:r>
              <a:rPr dirty="0" sz="2800" spc="-65">
                <a:solidFill>
                  <a:srgbClr val="4E3629"/>
                </a:solidFill>
                <a:latin typeface="Calibri"/>
                <a:cs typeface="Calibri"/>
              </a:rPr>
              <a:t> </a:t>
            </a:r>
            <a:r>
              <a:rPr dirty="0" sz="2800">
                <a:solidFill>
                  <a:srgbClr val="4E3629"/>
                </a:solidFill>
                <a:latin typeface="Calibri"/>
                <a:cs typeface="Calibri"/>
              </a:rPr>
              <a:t>solo</a:t>
            </a:r>
            <a:r>
              <a:rPr dirty="0" sz="2800" spc="-45">
                <a:solidFill>
                  <a:srgbClr val="4E3629"/>
                </a:solidFill>
                <a:latin typeface="Calibri"/>
                <a:cs typeface="Calibri"/>
              </a:rPr>
              <a:t> </a:t>
            </a:r>
            <a:r>
              <a:rPr dirty="0" sz="2800">
                <a:solidFill>
                  <a:srgbClr val="4E3629"/>
                </a:solidFill>
                <a:latin typeface="Calibri"/>
                <a:cs typeface="Calibri"/>
              </a:rPr>
              <a:t>lo</a:t>
            </a:r>
            <a:r>
              <a:rPr dirty="0" sz="2800" spc="-55">
                <a:solidFill>
                  <a:srgbClr val="4E3629"/>
                </a:solidFill>
                <a:latin typeface="Calibri"/>
                <a:cs typeface="Calibri"/>
              </a:rPr>
              <a:t> </a:t>
            </a:r>
            <a:r>
              <a:rPr dirty="0" sz="2800" spc="-20">
                <a:solidFill>
                  <a:srgbClr val="4E3629"/>
                </a:solidFill>
                <a:latin typeface="Calibri"/>
                <a:cs typeface="Calibri"/>
              </a:rPr>
              <a:t>hace</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Al</a:t>
            </a:r>
            <a:r>
              <a:rPr dirty="0" sz="2800" spc="-50">
                <a:solidFill>
                  <a:srgbClr val="4E3629"/>
                </a:solidFill>
                <a:latin typeface="Calibri"/>
                <a:cs typeface="Calibri"/>
              </a:rPr>
              <a:t> </a:t>
            </a:r>
            <a:r>
              <a:rPr dirty="0" sz="2800">
                <a:solidFill>
                  <a:srgbClr val="4E3629"/>
                </a:solidFill>
                <a:latin typeface="Calibri"/>
                <a:cs typeface="Calibri"/>
              </a:rPr>
              <a:t>final</a:t>
            </a:r>
            <a:r>
              <a:rPr dirty="0" sz="2800" spc="-5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sentencia</a:t>
            </a:r>
            <a:r>
              <a:rPr dirty="0" sz="2800" spc="-3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creación</a:t>
            </a:r>
            <a:r>
              <a:rPr dirty="0" sz="2800" spc="-5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tabla,</a:t>
            </a:r>
            <a:r>
              <a:rPr dirty="0" sz="2800" spc="-40">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spc="-10">
                <a:solidFill>
                  <a:srgbClr val="4E3629"/>
                </a:solidFill>
                <a:latin typeface="Calibri"/>
                <a:cs typeface="Calibri"/>
              </a:rPr>
              <a:t>muestra </a:t>
            </a:r>
            <a:r>
              <a:rPr dirty="0" sz="2800" spc="-10">
                <a:solidFill>
                  <a:srgbClr val="4E3629"/>
                </a:solidFill>
                <a:latin typeface="Calibri"/>
                <a:cs typeface="Calibri"/>
              </a:rPr>
              <a:t>	</a:t>
            </a:r>
            <a:r>
              <a:rPr dirty="0" sz="2800">
                <a:solidFill>
                  <a:srgbClr val="4E3629"/>
                </a:solidFill>
                <a:latin typeface="Calibri"/>
                <a:cs typeface="Calibri"/>
              </a:rPr>
              <a:t>el</a:t>
            </a:r>
            <a:r>
              <a:rPr dirty="0" sz="2800" spc="-85">
                <a:solidFill>
                  <a:srgbClr val="4E3629"/>
                </a:solidFill>
                <a:latin typeface="Calibri"/>
                <a:cs typeface="Calibri"/>
              </a:rPr>
              <a:t> </a:t>
            </a:r>
            <a:r>
              <a:rPr dirty="0" sz="2800">
                <a:solidFill>
                  <a:srgbClr val="4E3629"/>
                </a:solidFill>
                <a:latin typeface="Calibri"/>
                <a:cs typeface="Calibri"/>
              </a:rPr>
              <a:t>mensaje</a:t>
            </a:r>
            <a:r>
              <a:rPr dirty="0" sz="2800" spc="-65">
                <a:solidFill>
                  <a:srgbClr val="4E3629"/>
                </a:solidFill>
                <a:latin typeface="Calibri"/>
                <a:cs typeface="Calibri"/>
              </a:rPr>
              <a:t> </a:t>
            </a:r>
            <a:r>
              <a:rPr dirty="0" sz="2800" spc="-25">
                <a:solidFill>
                  <a:srgbClr val="4E3629"/>
                </a:solidFill>
                <a:latin typeface="Calibri"/>
                <a:cs typeface="Calibri"/>
              </a:rPr>
              <a:t>"Table</a:t>
            </a:r>
            <a:r>
              <a:rPr dirty="0" sz="2800" spc="-70">
                <a:solidFill>
                  <a:srgbClr val="4E3629"/>
                </a:solidFill>
                <a:latin typeface="Calibri"/>
                <a:cs typeface="Calibri"/>
              </a:rPr>
              <a:t> </a:t>
            </a:r>
            <a:r>
              <a:rPr dirty="0" sz="2800">
                <a:solidFill>
                  <a:srgbClr val="4E3629"/>
                </a:solidFill>
                <a:latin typeface="Calibri"/>
                <a:cs typeface="Calibri"/>
              </a:rPr>
              <a:t>created",</a:t>
            </a:r>
            <a:r>
              <a:rPr dirty="0" sz="2800" spc="-65">
                <a:solidFill>
                  <a:srgbClr val="4E3629"/>
                </a:solidFill>
                <a:latin typeface="Calibri"/>
                <a:cs typeface="Calibri"/>
              </a:rPr>
              <a:t> </a:t>
            </a:r>
            <a:r>
              <a:rPr dirty="0" sz="2800">
                <a:solidFill>
                  <a:srgbClr val="4E3629"/>
                </a:solidFill>
                <a:latin typeface="Calibri"/>
                <a:cs typeface="Calibri"/>
              </a:rPr>
              <a:t>pero</a:t>
            </a:r>
            <a:r>
              <a:rPr dirty="0" sz="2800" spc="-60">
                <a:solidFill>
                  <a:srgbClr val="4E3629"/>
                </a:solidFill>
                <a:latin typeface="Calibri"/>
                <a:cs typeface="Calibri"/>
              </a:rPr>
              <a:t> </a:t>
            </a:r>
            <a:r>
              <a:rPr dirty="0" sz="2800">
                <a:solidFill>
                  <a:srgbClr val="4E3629"/>
                </a:solidFill>
                <a:latin typeface="Calibri"/>
                <a:cs typeface="Calibri"/>
              </a:rPr>
              <a:t>no</a:t>
            </a:r>
            <a:r>
              <a:rPr dirty="0" sz="2800" spc="-65">
                <a:solidFill>
                  <a:srgbClr val="4E3629"/>
                </a:solidFill>
                <a:latin typeface="Calibri"/>
                <a:cs typeface="Calibri"/>
              </a:rPr>
              <a:t> </a:t>
            </a:r>
            <a:r>
              <a:rPr dirty="0" sz="2800">
                <a:solidFill>
                  <a:srgbClr val="4E3629"/>
                </a:solidFill>
                <a:latin typeface="Calibri"/>
                <a:cs typeface="Calibri"/>
              </a:rPr>
              <a:t>se</a:t>
            </a:r>
            <a:r>
              <a:rPr dirty="0" sz="2800" spc="-75">
                <a:solidFill>
                  <a:srgbClr val="4E3629"/>
                </a:solidFill>
                <a:latin typeface="Calibri"/>
                <a:cs typeface="Calibri"/>
              </a:rPr>
              <a:t> </a:t>
            </a:r>
            <a:r>
              <a:rPr dirty="0" sz="2800" spc="-10">
                <a:solidFill>
                  <a:srgbClr val="4E3629"/>
                </a:solidFill>
                <a:latin typeface="Calibri"/>
                <a:cs typeface="Calibri"/>
              </a:rPr>
              <a:t>proporcionan </a:t>
            </a:r>
            <a:r>
              <a:rPr dirty="0" sz="2800" spc="-10">
                <a:solidFill>
                  <a:srgbClr val="4E3629"/>
                </a:solidFill>
                <a:latin typeface="Calibri"/>
                <a:cs typeface="Calibri"/>
              </a:rPr>
              <a:t>	</a:t>
            </a:r>
            <a:r>
              <a:rPr dirty="0" sz="2800">
                <a:solidFill>
                  <a:srgbClr val="4E3629"/>
                </a:solidFill>
                <a:latin typeface="Calibri"/>
                <a:cs typeface="Calibri"/>
              </a:rPr>
              <a:t>detalles</a:t>
            </a:r>
            <a:r>
              <a:rPr dirty="0" sz="2800" spc="-65">
                <a:solidFill>
                  <a:srgbClr val="4E3629"/>
                </a:solidFill>
                <a:latin typeface="Calibri"/>
                <a:cs typeface="Calibri"/>
              </a:rPr>
              <a:t> </a:t>
            </a:r>
            <a:r>
              <a:rPr dirty="0" sz="2800">
                <a:solidFill>
                  <a:srgbClr val="4E3629"/>
                </a:solidFill>
                <a:latin typeface="Calibri"/>
                <a:cs typeface="Calibri"/>
              </a:rPr>
              <a:t>sobre</a:t>
            </a:r>
            <a:r>
              <a:rPr dirty="0" sz="2800" spc="-65">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número</a:t>
            </a:r>
            <a:r>
              <a:rPr dirty="0" sz="2800" spc="-50">
                <a:solidFill>
                  <a:srgbClr val="4E3629"/>
                </a:solidFill>
                <a:latin typeface="Calibri"/>
                <a:cs typeface="Calibri"/>
              </a:rPr>
              <a:t> </a:t>
            </a:r>
            <a:r>
              <a:rPr dirty="0" sz="2800">
                <a:solidFill>
                  <a:srgbClr val="4E3629"/>
                </a:solidFill>
                <a:latin typeface="Calibri"/>
                <a:cs typeface="Calibri"/>
              </a:rPr>
              <a:t>o</a:t>
            </a:r>
            <a:r>
              <a:rPr dirty="0" sz="2800" spc="-60">
                <a:solidFill>
                  <a:srgbClr val="4E3629"/>
                </a:solidFill>
                <a:latin typeface="Calibri"/>
                <a:cs typeface="Calibri"/>
              </a:rPr>
              <a:t> </a:t>
            </a:r>
            <a:r>
              <a:rPr dirty="0" sz="2800">
                <a:solidFill>
                  <a:srgbClr val="4E3629"/>
                </a:solidFill>
                <a:latin typeface="Calibri"/>
                <a:cs typeface="Calibri"/>
              </a:rPr>
              <a:t>tipos</a:t>
            </a:r>
            <a:r>
              <a:rPr dirty="0" sz="2800" spc="-6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10">
                <a:solidFill>
                  <a:srgbClr val="4E3629"/>
                </a:solidFill>
                <a:latin typeface="Calibri"/>
                <a:cs typeface="Calibri"/>
              </a:rPr>
              <a:t>restricciones</a:t>
            </a:r>
            <a:r>
              <a:rPr dirty="0" sz="2800" spc="-40">
                <a:solidFill>
                  <a:srgbClr val="4E3629"/>
                </a:solidFill>
                <a:latin typeface="Calibri"/>
                <a:cs typeface="Calibri"/>
              </a:rPr>
              <a:t> </a:t>
            </a:r>
            <a:r>
              <a:rPr dirty="0" sz="2800" spc="-25">
                <a:solidFill>
                  <a:srgbClr val="4E3629"/>
                </a:solidFill>
                <a:latin typeface="Calibri"/>
                <a:cs typeface="Calibri"/>
              </a:rPr>
              <a:t>que </a:t>
            </a:r>
            <a:r>
              <a:rPr dirty="0" sz="2800" spc="-25">
                <a:solidFill>
                  <a:srgbClr val="4E3629"/>
                </a:solidFill>
                <a:latin typeface="Calibri"/>
                <a:cs typeface="Calibri"/>
              </a:rPr>
              <a:t>	</a:t>
            </a:r>
            <a:r>
              <a:rPr dirty="0" sz="2800">
                <a:solidFill>
                  <a:srgbClr val="4E3629"/>
                </a:solidFill>
                <a:latin typeface="Calibri"/>
                <a:cs typeface="Calibri"/>
              </a:rPr>
              <a:t>también</a:t>
            </a:r>
            <a:r>
              <a:rPr dirty="0" sz="2800" spc="-35">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han</a:t>
            </a:r>
            <a:r>
              <a:rPr dirty="0" sz="2800" spc="-30">
                <a:solidFill>
                  <a:srgbClr val="4E3629"/>
                </a:solidFill>
                <a:latin typeface="Calibri"/>
                <a:cs typeface="Calibri"/>
              </a:rPr>
              <a:t> </a:t>
            </a:r>
            <a:r>
              <a:rPr dirty="0" sz="2800" spc="-10">
                <a:solidFill>
                  <a:srgbClr val="4E3629"/>
                </a:solidFill>
                <a:latin typeface="Calibri"/>
                <a:cs typeface="Calibri"/>
              </a:rPr>
              <a:t>creado</a:t>
            </a:r>
            <a:endParaRPr sz="28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Oracle Academy</dc:creator>
  <dc:title>PowerPoint Presentation</dc:title>
  <dcterms:created xsi:type="dcterms:W3CDTF">2025-06-01T17:57:38Z</dcterms:created>
  <dcterms:modified xsi:type="dcterms:W3CDTF">2025-06-01T17:57:38Z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2025-02-23T00:00:00Z</vt:filetime>
  </property>
  <property fmtid="{D5CDD505-2E9C-101B-9397-08002B2CF9AE}" pid="3" name="Creator">
    <vt:lpwstr>Acrobat PDFMaker 20 for PowerPoint</vt:lpwstr>
  </property>
  <property fmtid="{D5CDD505-2E9C-101B-9397-08002B2CF9AE}" pid="4" name="LastSaved">
    <vt:filetime>2025-06-01T00:00:00Z</vt:filetime>
  </property>
  <property fmtid="{D5CDD505-2E9C-101B-9397-08002B2CF9AE}" pid="5" name="Producer">
    <vt:lpwstr>macOS Version 15.2 (Build 24C101) Quartz PDFContext</vt:lpwstr>
  </property>
</Properties>
</file>