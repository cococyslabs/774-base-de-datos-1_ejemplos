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18:52:06</a:t>
            </a:r>
          </a:p>
          <a:p>
            <a:r>
              <a:t>--------------------------------------------</a:t>
            </a:r>
          </a:p>
          <a:p>
            <a:r>
              <a:t>Las funciones anidadas se evalúan a partir de la función más profunda, continuando hacia la             menos profunda.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18:52:11</a:t>
            </a:r>
          </a:p>
          <a:p>
            <a:r>
              <a:t>--------------------------------------------</a:t>
            </a:r>
          </a:p>
          <a:p>
            <a:r>
              <a:t>LONG es un tipo de dato de caracteres de longitud variable de hasta 2 GB de tamaño. Los tipos de dato se tratan más detalladamente más adelante en el curso.</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18:52:11</a:t>
            </a:r>
          </a:p>
          <a:p>
            <a:r>
              <a:t>--------------------------------------------</a:t>
            </a:r>
          </a:p>
          <a:p>
            <a:r>
              <a:t>NVL2 comprueba si la expresión 1 (commission_pct) tiene un valor. Si tiene un valor, se devuelve               la expresión 2 (salary + (salary * commission_pct). Si la expresión 1 es NULL, se devuelve la         expresión 3 (salary).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18:52:13</a:t>
            </a:r>
          </a:p>
          <a:p>
            <a:r>
              <a:t>--------------------------------------------</a:t>
            </a:r>
          </a:p>
          <a:p>
            <a:r>
              <a:t>A menudo se utilizan funciones NULLIF después de realizar proyectos de migración de datos para probar si los datos del sistema de destino son los mismos que en los sistemas de origen iniciales. Por lo tanto,   se utiliza NULLIF para buscar excepciones, no coincidencias, normalmente valores nulos como resultado           de un valor NULLIF correcto, ya que desea que los datos de los sistemas de origen y destino sean exactamente los mismos.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7" name="Holder 7"/>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5" name="Holder 5"/>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4" name="Holder 4"/>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748031"/>
            <a:ext cx="6708775" cy="52831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483552" y="1415417"/>
            <a:ext cx="8094345" cy="2474595"/>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2874191" y="6516395"/>
            <a:ext cx="726439" cy="24955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6" name="Holder 6"/>
          <p:cNvSpPr>
            <a:spLocks noGrp="1"/>
          </p:cNvSpPr>
          <p:nvPr>
            <p:ph type="sldNum" idx="7" sz="quarter"/>
          </p:nvPr>
        </p:nvSpPr>
        <p:spPr>
          <a:xfrm>
            <a:off x="8725090" y="6567768"/>
            <a:ext cx="217170" cy="152400"/>
          </a:xfrm>
          <a:prstGeom prst="rect">
            <a:avLst/>
          </a:prstGeom>
        </p:spPr>
        <p:txBody>
          <a:bodyPr wrap="square" lIns="0" tIns="0" rIns="0" bIns="0">
            <a:spAutoFit/>
          </a:bodyPr>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3.xml"/><Relationship Id="rId5"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slide" Target="slide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title"/>
          </p:nvPr>
        </p:nvSpPr>
        <p:spPr>
          <a:xfrm>
            <a:off x="958315" y="862895"/>
            <a:ext cx="7047865" cy="1342390"/>
          </a:xfrm>
          <a:prstGeom prst="rect"/>
        </p:spPr>
        <p:txBody>
          <a:bodyPr wrap="square" lIns="0" tIns="153670" rIns="0" bIns="0" rtlCol="0" vert="horz">
            <a:spAutoFit/>
          </a:bodyPr>
          <a:lstStyle/>
          <a:p>
            <a:pPr marL="12700" marR="5080">
              <a:lnSpc>
                <a:spcPts val="4610"/>
              </a:lnSpc>
              <a:spcBef>
                <a:spcPts val="1210"/>
              </a:spcBef>
            </a:pPr>
            <a:r>
              <a:rPr dirty="0" sz="4800"/>
              <a:t>Database</a:t>
            </a:r>
            <a:r>
              <a:rPr dirty="0" sz="4800" spc="-190"/>
              <a:t> </a:t>
            </a:r>
            <a:r>
              <a:rPr dirty="0" sz="4800" spc="-20"/>
              <a:t>Programming</a:t>
            </a:r>
            <a:r>
              <a:rPr dirty="0" sz="4800" spc="-185"/>
              <a:t> </a:t>
            </a:r>
            <a:r>
              <a:rPr dirty="0" sz="4800" spc="-20"/>
              <a:t>with </a:t>
            </a:r>
            <a:r>
              <a:rPr dirty="0" sz="4800" spc="-25"/>
              <a:t>SQL</a:t>
            </a:r>
            <a:endParaRPr sz="4800"/>
          </a:p>
        </p:txBody>
      </p:sp>
      <p:sp>
        <p:nvSpPr>
          <p:cNvPr id="8" name="object 8" descr=""/>
          <p:cNvSpPr txBox="1"/>
          <p:nvPr/>
        </p:nvSpPr>
        <p:spPr>
          <a:xfrm>
            <a:off x="962879" y="2400950"/>
            <a:ext cx="2024380"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5-</a:t>
            </a:r>
            <a:r>
              <a:rPr dirty="0" sz="2400" spc="-50" b="1">
                <a:solidFill>
                  <a:srgbClr val="4E3629"/>
                </a:solidFill>
                <a:latin typeface="Calibri"/>
                <a:cs typeface="Calibri"/>
              </a:rPr>
              <a:t>2</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Funciones</a:t>
            </a:r>
            <a:r>
              <a:rPr dirty="0" sz="2400" spc="-55" b="1">
                <a:solidFill>
                  <a:srgbClr val="4E3629"/>
                </a:solidFill>
                <a:latin typeface="Calibri"/>
                <a:cs typeface="Calibri"/>
              </a:rPr>
              <a:t> </a:t>
            </a:r>
            <a:r>
              <a:rPr dirty="0" sz="2400" spc="-20" b="1">
                <a:solidFill>
                  <a:srgbClr val="4E3629"/>
                </a:solidFill>
                <a:latin typeface="Calibri"/>
                <a:cs typeface="Calibri"/>
              </a:rPr>
              <a:t>NULL</a:t>
            </a:r>
            <a:endParaRPr sz="2400">
              <a:latin typeface="Calibri"/>
              <a:cs typeface="Calibri"/>
            </a:endParaRPr>
          </a:p>
        </p:txBody>
      </p:sp>
      <p:pic>
        <p:nvPicPr>
          <p:cNvPr id="9" name="object 9" descr=""/>
          <p:cNvPicPr/>
          <p:nvPr/>
        </p:nvPicPr>
        <p:blipFill>
          <a:blip r:embed="rId4" cstate="print"/>
          <a:stretch>
            <a:fillRect/>
          </a:stretch>
        </p:blipFill>
        <p:spPr>
          <a:xfrm>
            <a:off x="3697223" y="3485388"/>
            <a:ext cx="5059680" cy="29717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Método</a:t>
            </a:r>
            <a:r>
              <a:rPr dirty="0" spc="-70"/>
              <a:t> </a:t>
            </a:r>
            <a:r>
              <a:rPr dirty="0"/>
              <a:t>de</a:t>
            </a:r>
            <a:r>
              <a:rPr dirty="0" spc="-55"/>
              <a:t> </a:t>
            </a:r>
            <a:r>
              <a:rPr dirty="0" spc="-10"/>
              <a:t>Evaluación</a:t>
            </a:r>
            <a:r>
              <a:rPr dirty="0" spc="-50"/>
              <a:t> </a:t>
            </a:r>
            <a:r>
              <a:rPr dirty="0"/>
              <a:t>de</a:t>
            </a:r>
            <a:r>
              <a:rPr dirty="0" spc="-55"/>
              <a:t> </a:t>
            </a:r>
            <a:r>
              <a:rPr dirty="0"/>
              <a:t>las</a:t>
            </a:r>
            <a:r>
              <a:rPr dirty="0" spc="-75"/>
              <a:t> </a:t>
            </a:r>
            <a:r>
              <a:rPr dirty="0" spc="-10"/>
              <a:t>Funciones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5</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9989"/>
            <a:ext cx="8163559" cy="4495800"/>
          </a:xfrm>
          <a:prstGeom prst="rect">
            <a:avLst/>
          </a:prstGeom>
        </p:spPr>
        <p:txBody>
          <a:bodyPr wrap="square" lIns="0" tIns="57785" rIns="0" bIns="0" rtlCol="0" vert="horz">
            <a:spAutoFit/>
          </a:bodyPr>
          <a:lstStyle/>
          <a:p>
            <a:pPr marL="184785" marR="796290" indent="-172720">
              <a:lnSpc>
                <a:spcPts val="2810"/>
              </a:lnSpc>
              <a:spcBef>
                <a:spcPts val="455"/>
              </a:spcBef>
              <a:buClr>
                <a:srgbClr val="D1350F"/>
              </a:buClr>
              <a:buFont typeface="Arial MT"/>
              <a:buChar char="•"/>
              <a:tabLst>
                <a:tab pos="184785" algn="l"/>
              </a:tabLst>
            </a:pPr>
            <a:r>
              <a:rPr dirty="0" sz="2600">
                <a:solidFill>
                  <a:srgbClr val="4E3629"/>
                </a:solidFill>
                <a:latin typeface="Calibri"/>
                <a:cs typeface="Calibri"/>
              </a:rPr>
              <a:t>Hasta</a:t>
            </a:r>
            <a:r>
              <a:rPr dirty="0" sz="2600" spc="-45">
                <a:solidFill>
                  <a:srgbClr val="4E3629"/>
                </a:solidFill>
                <a:latin typeface="Calibri"/>
                <a:cs typeface="Calibri"/>
              </a:rPr>
              <a:t> </a:t>
            </a:r>
            <a:r>
              <a:rPr dirty="0" sz="2600">
                <a:solidFill>
                  <a:srgbClr val="4E3629"/>
                </a:solidFill>
                <a:latin typeface="Calibri"/>
                <a:cs typeface="Calibri"/>
              </a:rPr>
              <a:t>ahora,</a:t>
            </a:r>
            <a:r>
              <a:rPr dirty="0" sz="2600" spc="-45">
                <a:solidFill>
                  <a:srgbClr val="4E3629"/>
                </a:solidFill>
                <a:latin typeface="Calibri"/>
                <a:cs typeface="Calibri"/>
              </a:rPr>
              <a:t> </a:t>
            </a:r>
            <a:r>
              <a:rPr dirty="0" sz="2600">
                <a:solidFill>
                  <a:srgbClr val="4E3629"/>
                </a:solidFill>
                <a:latin typeface="Calibri"/>
                <a:cs typeface="Calibri"/>
              </a:rPr>
              <a:t>ha</a:t>
            </a:r>
            <a:r>
              <a:rPr dirty="0" sz="2600" spc="-40">
                <a:solidFill>
                  <a:srgbClr val="4E3629"/>
                </a:solidFill>
                <a:latin typeface="Calibri"/>
                <a:cs typeface="Calibri"/>
              </a:rPr>
              <a:t> </a:t>
            </a:r>
            <a:r>
              <a:rPr dirty="0" sz="2600">
                <a:solidFill>
                  <a:srgbClr val="4E3629"/>
                </a:solidFill>
                <a:latin typeface="Calibri"/>
                <a:cs typeface="Calibri"/>
              </a:rPr>
              <a:t>aplicado</a:t>
            </a:r>
            <a:r>
              <a:rPr dirty="0" sz="2600" spc="-50">
                <a:solidFill>
                  <a:srgbClr val="4E3629"/>
                </a:solidFill>
                <a:latin typeface="Calibri"/>
                <a:cs typeface="Calibri"/>
              </a:rPr>
              <a:t> </a:t>
            </a:r>
            <a:r>
              <a:rPr dirty="0" sz="2600">
                <a:solidFill>
                  <a:srgbClr val="4E3629"/>
                </a:solidFill>
                <a:latin typeface="Calibri"/>
                <a:cs typeface="Calibri"/>
              </a:rPr>
              <a:t>funciones</a:t>
            </a:r>
            <a:r>
              <a:rPr dirty="0" sz="2600" spc="-7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a:solidFill>
                  <a:srgbClr val="4E3629"/>
                </a:solidFill>
                <a:latin typeface="Calibri"/>
                <a:cs typeface="Calibri"/>
              </a:rPr>
              <a:t>una</a:t>
            </a:r>
            <a:r>
              <a:rPr dirty="0" sz="2600" spc="-60">
                <a:solidFill>
                  <a:srgbClr val="4E3629"/>
                </a:solidFill>
                <a:latin typeface="Calibri"/>
                <a:cs typeface="Calibri"/>
              </a:rPr>
              <a:t> </a:t>
            </a:r>
            <a:r>
              <a:rPr dirty="0" sz="2600">
                <a:solidFill>
                  <a:srgbClr val="4E3629"/>
                </a:solidFill>
                <a:latin typeface="Calibri"/>
                <a:cs typeface="Calibri"/>
              </a:rPr>
              <a:t>sola</a:t>
            </a:r>
            <a:r>
              <a:rPr dirty="0" sz="2600" spc="-40">
                <a:solidFill>
                  <a:srgbClr val="4E3629"/>
                </a:solidFill>
                <a:latin typeface="Calibri"/>
                <a:cs typeface="Calibri"/>
              </a:rPr>
              <a:t> </a:t>
            </a:r>
            <a:r>
              <a:rPr dirty="0" sz="2600">
                <a:solidFill>
                  <a:srgbClr val="4E3629"/>
                </a:solidFill>
                <a:latin typeface="Calibri"/>
                <a:cs typeface="Calibri"/>
              </a:rPr>
              <a:t>fila</a:t>
            </a:r>
            <a:r>
              <a:rPr dirty="0" sz="2600" spc="-40">
                <a:solidFill>
                  <a:srgbClr val="4E3629"/>
                </a:solidFill>
                <a:latin typeface="Calibri"/>
                <a:cs typeface="Calibri"/>
              </a:rPr>
              <a:t> </a:t>
            </a:r>
            <a:r>
              <a:rPr dirty="0" sz="2600" spc="-25">
                <a:solidFill>
                  <a:srgbClr val="4E3629"/>
                </a:solidFill>
                <a:latin typeface="Calibri"/>
                <a:cs typeface="Calibri"/>
              </a:rPr>
              <a:t>en </a:t>
            </a:r>
            <a:r>
              <a:rPr dirty="0" sz="2600">
                <a:solidFill>
                  <a:srgbClr val="4E3629"/>
                </a:solidFill>
                <a:latin typeface="Calibri"/>
                <a:cs typeface="Calibri"/>
              </a:rPr>
              <a:t>sentencias</a:t>
            </a:r>
            <a:r>
              <a:rPr dirty="0" sz="2600" spc="-120">
                <a:solidFill>
                  <a:srgbClr val="4E3629"/>
                </a:solidFill>
                <a:latin typeface="Calibri"/>
                <a:cs typeface="Calibri"/>
              </a:rPr>
              <a:t> </a:t>
            </a:r>
            <a:r>
              <a:rPr dirty="0" sz="2600" spc="-10">
                <a:solidFill>
                  <a:srgbClr val="4E3629"/>
                </a:solidFill>
                <a:latin typeface="Calibri"/>
                <a:cs typeface="Calibri"/>
              </a:rPr>
              <a:t>simples</a:t>
            </a:r>
            <a:endParaRPr sz="2600">
              <a:latin typeface="Calibri"/>
              <a:cs typeface="Calibri"/>
            </a:endParaRPr>
          </a:p>
          <a:p>
            <a:pPr marL="184785" marR="2274570" indent="-172720">
              <a:lnSpc>
                <a:spcPts val="2810"/>
              </a:lnSpc>
              <a:spcBef>
                <a:spcPts val="800"/>
              </a:spcBef>
              <a:buClr>
                <a:srgbClr val="D1350F"/>
              </a:buClr>
              <a:buFont typeface="Arial MT"/>
              <a:buChar char="•"/>
              <a:tabLst>
                <a:tab pos="184785" algn="l"/>
              </a:tabLst>
            </a:pPr>
            <a:r>
              <a:rPr dirty="0" sz="2600">
                <a:solidFill>
                  <a:srgbClr val="4E3629"/>
                </a:solidFill>
                <a:latin typeface="Calibri"/>
                <a:cs typeface="Calibri"/>
              </a:rPr>
              <a:t>Sin</a:t>
            </a:r>
            <a:r>
              <a:rPr dirty="0" sz="2600" spc="-55">
                <a:solidFill>
                  <a:srgbClr val="4E3629"/>
                </a:solidFill>
                <a:latin typeface="Calibri"/>
                <a:cs typeface="Calibri"/>
              </a:rPr>
              <a:t> </a:t>
            </a:r>
            <a:r>
              <a:rPr dirty="0" sz="2600" spc="-10">
                <a:solidFill>
                  <a:srgbClr val="4E3629"/>
                </a:solidFill>
                <a:latin typeface="Calibri"/>
                <a:cs typeface="Calibri"/>
              </a:rPr>
              <a:t>embargo,</a:t>
            </a:r>
            <a:r>
              <a:rPr dirty="0" sz="2600" spc="-45">
                <a:solidFill>
                  <a:srgbClr val="4E3629"/>
                </a:solidFill>
                <a:latin typeface="Calibri"/>
                <a:cs typeface="Calibri"/>
              </a:rPr>
              <a:t> </a:t>
            </a:r>
            <a:r>
              <a:rPr dirty="0" sz="2600">
                <a:solidFill>
                  <a:srgbClr val="4E3629"/>
                </a:solidFill>
                <a:latin typeface="Calibri"/>
                <a:cs typeface="Calibri"/>
              </a:rPr>
              <a:t>es</a:t>
            </a:r>
            <a:r>
              <a:rPr dirty="0" sz="2600" spc="-50">
                <a:solidFill>
                  <a:srgbClr val="4E3629"/>
                </a:solidFill>
                <a:latin typeface="Calibri"/>
                <a:cs typeface="Calibri"/>
              </a:rPr>
              <a:t> </a:t>
            </a:r>
            <a:r>
              <a:rPr dirty="0" sz="2600">
                <a:solidFill>
                  <a:srgbClr val="4E3629"/>
                </a:solidFill>
                <a:latin typeface="Calibri"/>
                <a:cs typeface="Calibri"/>
              </a:rPr>
              <a:t>posible</a:t>
            </a:r>
            <a:r>
              <a:rPr dirty="0" sz="2600" spc="-65">
                <a:solidFill>
                  <a:srgbClr val="4E3629"/>
                </a:solidFill>
                <a:latin typeface="Calibri"/>
                <a:cs typeface="Calibri"/>
              </a:rPr>
              <a:t> </a:t>
            </a:r>
            <a:r>
              <a:rPr dirty="0" sz="2600">
                <a:solidFill>
                  <a:srgbClr val="4E3629"/>
                </a:solidFill>
                <a:latin typeface="Calibri"/>
                <a:cs typeface="Calibri"/>
              </a:rPr>
              <a:t>anidar</a:t>
            </a:r>
            <a:r>
              <a:rPr dirty="0" sz="2600" spc="-45">
                <a:solidFill>
                  <a:srgbClr val="4E3629"/>
                </a:solidFill>
                <a:latin typeface="Calibri"/>
                <a:cs typeface="Calibri"/>
              </a:rPr>
              <a:t> </a:t>
            </a:r>
            <a:r>
              <a:rPr dirty="0" sz="2600">
                <a:solidFill>
                  <a:srgbClr val="4E3629"/>
                </a:solidFill>
                <a:latin typeface="Calibri"/>
                <a:cs typeface="Calibri"/>
              </a:rPr>
              <a:t>funciones</a:t>
            </a:r>
            <a:r>
              <a:rPr dirty="0" sz="2600" spc="-70">
                <a:solidFill>
                  <a:srgbClr val="4E3629"/>
                </a:solidFill>
                <a:latin typeface="Calibri"/>
                <a:cs typeface="Calibri"/>
              </a:rPr>
              <a:t> </a:t>
            </a:r>
            <a:r>
              <a:rPr dirty="0" sz="2600" spc="-50">
                <a:solidFill>
                  <a:srgbClr val="4E3629"/>
                </a:solidFill>
                <a:latin typeface="Calibri"/>
                <a:cs typeface="Calibri"/>
              </a:rPr>
              <a:t>a </a:t>
            </a:r>
            <a:r>
              <a:rPr dirty="0" sz="2600">
                <a:solidFill>
                  <a:srgbClr val="4E3629"/>
                </a:solidFill>
                <a:latin typeface="Calibri"/>
                <a:cs typeface="Calibri"/>
              </a:rPr>
              <a:t>cualquier</a:t>
            </a:r>
            <a:r>
              <a:rPr dirty="0" sz="2600" spc="-45">
                <a:solidFill>
                  <a:srgbClr val="4E3629"/>
                </a:solidFill>
                <a:latin typeface="Calibri"/>
                <a:cs typeface="Calibri"/>
              </a:rPr>
              <a:t> </a:t>
            </a:r>
            <a:r>
              <a:rPr dirty="0" sz="2600" spc="-10">
                <a:solidFill>
                  <a:srgbClr val="4E3629"/>
                </a:solidFill>
                <a:latin typeface="Calibri"/>
                <a:cs typeface="Calibri"/>
              </a:rPr>
              <a:t>profundidad</a:t>
            </a:r>
            <a:endParaRPr sz="2600">
              <a:latin typeface="Calibri"/>
              <a:cs typeface="Calibri"/>
            </a:endParaRPr>
          </a:p>
          <a:p>
            <a:pPr marL="184785" marR="1151890" indent="-172720">
              <a:lnSpc>
                <a:spcPts val="2810"/>
              </a:lnSpc>
              <a:spcBef>
                <a:spcPts val="785"/>
              </a:spcBef>
              <a:buClr>
                <a:srgbClr val="D1350F"/>
              </a:buClr>
              <a:buFont typeface="Arial MT"/>
              <a:buChar char="•"/>
              <a:tabLst>
                <a:tab pos="184785" algn="l"/>
              </a:tabLst>
            </a:pPr>
            <a:r>
              <a:rPr dirty="0" sz="2600">
                <a:solidFill>
                  <a:srgbClr val="4E3629"/>
                </a:solidFill>
                <a:latin typeface="Calibri"/>
                <a:cs typeface="Calibri"/>
              </a:rPr>
              <a:t>Es</a:t>
            </a:r>
            <a:r>
              <a:rPr dirty="0" sz="2600" spc="-35">
                <a:solidFill>
                  <a:srgbClr val="4E3629"/>
                </a:solidFill>
                <a:latin typeface="Calibri"/>
                <a:cs typeface="Calibri"/>
              </a:rPr>
              <a:t> </a:t>
            </a:r>
            <a:r>
              <a:rPr dirty="0" sz="2600" spc="-10">
                <a:solidFill>
                  <a:srgbClr val="4E3629"/>
                </a:solidFill>
                <a:latin typeface="Calibri"/>
                <a:cs typeface="Calibri"/>
              </a:rPr>
              <a:t>importante</a:t>
            </a:r>
            <a:r>
              <a:rPr dirty="0" sz="2600" spc="-45">
                <a:solidFill>
                  <a:srgbClr val="4E3629"/>
                </a:solidFill>
                <a:latin typeface="Calibri"/>
                <a:cs typeface="Calibri"/>
              </a:rPr>
              <a:t> </a:t>
            </a:r>
            <a:r>
              <a:rPr dirty="0" sz="2600">
                <a:solidFill>
                  <a:srgbClr val="4E3629"/>
                </a:solidFill>
                <a:latin typeface="Calibri"/>
                <a:cs typeface="Calibri"/>
              </a:rPr>
              <a:t>saber</a:t>
            </a:r>
            <a:r>
              <a:rPr dirty="0" sz="2600" spc="-50">
                <a:solidFill>
                  <a:srgbClr val="4E3629"/>
                </a:solidFill>
                <a:latin typeface="Calibri"/>
                <a:cs typeface="Calibri"/>
              </a:rPr>
              <a:t> </a:t>
            </a:r>
            <a:r>
              <a:rPr dirty="0" sz="2600">
                <a:solidFill>
                  <a:srgbClr val="4E3629"/>
                </a:solidFill>
                <a:latin typeface="Calibri"/>
                <a:cs typeface="Calibri"/>
              </a:rPr>
              <a:t>cómo</a:t>
            </a:r>
            <a:r>
              <a:rPr dirty="0" sz="2600" spc="-25">
                <a:solidFill>
                  <a:srgbClr val="4E3629"/>
                </a:solidFill>
                <a:latin typeface="Calibri"/>
                <a:cs typeface="Calibri"/>
              </a:rPr>
              <a:t> </a:t>
            </a:r>
            <a:r>
              <a:rPr dirty="0" sz="2600">
                <a:solidFill>
                  <a:srgbClr val="4E3629"/>
                </a:solidFill>
                <a:latin typeface="Calibri"/>
                <a:cs typeface="Calibri"/>
              </a:rPr>
              <a:t>se</a:t>
            </a:r>
            <a:r>
              <a:rPr dirty="0" sz="2600" spc="-55">
                <a:solidFill>
                  <a:srgbClr val="4E3629"/>
                </a:solidFill>
                <a:latin typeface="Calibri"/>
                <a:cs typeface="Calibri"/>
              </a:rPr>
              <a:t> </a:t>
            </a:r>
            <a:r>
              <a:rPr dirty="0" sz="2600">
                <a:solidFill>
                  <a:srgbClr val="4E3629"/>
                </a:solidFill>
                <a:latin typeface="Calibri"/>
                <a:cs typeface="Calibri"/>
              </a:rPr>
              <a:t>evalúan</a:t>
            </a:r>
            <a:r>
              <a:rPr dirty="0" sz="2600" spc="-45">
                <a:solidFill>
                  <a:srgbClr val="4E3629"/>
                </a:solidFill>
                <a:latin typeface="Calibri"/>
                <a:cs typeface="Calibri"/>
              </a:rPr>
              <a:t> </a:t>
            </a:r>
            <a:r>
              <a:rPr dirty="0" sz="2600">
                <a:solidFill>
                  <a:srgbClr val="4E3629"/>
                </a:solidFill>
                <a:latin typeface="Calibri"/>
                <a:cs typeface="Calibri"/>
              </a:rPr>
              <a:t>las</a:t>
            </a:r>
            <a:r>
              <a:rPr dirty="0" sz="2600" spc="-45">
                <a:solidFill>
                  <a:srgbClr val="4E3629"/>
                </a:solidFill>
                <a:latin typeface="Calibri"/>
                <a:cs typeface="Calibri"/>
              </a:rPr>
              <a:t> </a:t>
            </a:r>
            <a:r>
              <a:rPr dirty="0" sz="2600" spc="-10">
                <a:solidFill>
                  <a:srgbClr val="4E3629"/>
                </a:solidFill>
                <a:latin typeface="Calibri"/>
                <a:cs typeface="Calibri"/>
              </a:rPr>
              <a:t>funciones anidadas</a:t>
            </a:r>
            <a:endParaRPr sz="2600">
              <a:latin typeface="Calibri"/>
              <a:cs typeface="Calibri"/>
            </a:endParaRPr>
          </a:p>
          <a:p>
            <a:pPr marL="184785" marR="5080" indent="-172720">
              <a:lnSpc>
                <a:spcPts val="2810"/>
              </a:lnSpc>
              <a:spcBef>
                <a:spcPts val="805"/>
              </a:spcBef>
              <a:buClr>
                <a:srgbClr val="D1350F"/>
              </a:buClr>
              <a:buFont typeface="Arial MT"/>
              <a:buChar char="•"/>
              <a:tabLst>
                <a:tab pos="184785" algn="l"/>
              </a:tabLst>
            </a:pPr>
            <a:r>
              <a:rPr dirty="0" u="heavy" sz="2600">
                <a:solidFill>
                  <a:srgbClr val="4E3629"/>
                </a:solidFill>
                <a:uFill>
                  <a:solidFill>
                    <a:srgbClr val="EC2814"/>
                  </a:solidFill>
                </a:uFill>
                <a:latin typeface="Calibri"/>
                <a:cs typeface="Calibri"/>
              </a:rPr>
              <a:t>"Anidación"</a:t>
            </a:r>
            <a:r>
              <a:rPr dirty="0" u="heavy" sz="2600" spc="-6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hace</a:t>
            </a:r>
            <a:r>
              <a:rPr dirty="0" u="heavy" sz="2600" spc="-45">
                <a:solidFill>
                  <a:srgbClr val="4E3629"/>
                </a:solidFill>
                <a:uFill>
                  <a:solidFill>
                    <a:srgbClr val="EC2814"/>
                  </a:solidFill>
                </a:uFill>
                <a:latin typeface="Calibri"/>
                <a:cs typeface="Calibri"/>
              </a:rPr>
              <a:t> </a:t>
            </a:r>
            <a:r>
              <a:rPr dirty="0" u="heavy" sz="2600" spc="-20">
                <a:solidFill>
                  <a:srgbClr val="4E3629"/>
                </a:solidFill>
                <a:uFill>
                  <a:solidFill>
                    <a:srgbClr val="EC2814"/>
                  </a:solidFill>
                </a:uFill>
                <a:latin typeface="Calibri"/>
                <a:cs typeface="Calibri"/>
              </a:rPr>
              <a:t>referencia</a:t>
            </a:r>
            <a:r>
              <a:rPr dirty="0" u="heavy" sz="2600" spc="-6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a</a:t>
            </a:r>
            <a:r>
              <a:rPr dirty="0" u="heavy" sz="2600" spc="-2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una</a:t>
            </a:r>
            <a:r>
              <a:rPr dirty="0" u="heavy" sz="2600" spc="-4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cosa</a:t>
            </a:r>
            <a:r>
              <a:rPr dirty="0" u="heavy" sz="2600" spc="-2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que</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está</a:t>
            </a:r>
            <a:r>
              <a:rPr dirty="0" u="heavy" sz="2600" spc="-4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incluida</a:t>
            </a:r>
            <a:r>
              <a:rPr dirty="0" u="heavy" sz="2600" spc="-50">
                <a:solidFill>
                  <a:srgbClr val="4E3629"/>
                </a:solidFill>
                <a:uFill>
                  <a:solidFill>
                    <a:srgbClr val="EC2814"/>
                  </a:solidFill>
                </a:uFill>
                <a:latin typeface="Calibri"/>
                <a:cs typeface="Calibri"/>
              </a:rPr>
              <a:t> </a:t>
            </a:r>
            <a:r>
              <a:rPr dirty="0" u="heavy" sz="2600" spc="-25">
                <a:solidFill>
                  <a:srgbClr val="4E3629"/>
                </a:solidFill>
                <a:uFill>
                  <a:solidFill>
                    <a:srgbClr val="EC2814"/>
                  </a:solidFill>
                </a:uFill>
                <a:latin typeface="Calibri"/>
                <a:cs typeface="Calibri"/>
              </a:rPr>
              <a:t>en</a:t>
            </a:r>
            <a:r>
              <a:rPr dirty="0" sz="2600" spc="-25">
                <a:solidFill>
                  <a:srgbClr val="4E3629"/>
                </a:solidFill>
                <a:latin typeface="Calibri"/>
                <a:cs typeface="Calibri"/>
              </a:rPr>
              <a:t> </a:t>
            </a:r>
            <a:r>
              <a:rPr dirty="0" u="heavy" sz="2600">
                <a:solidFill>
                  <a:srgbClr val="4E3629"/>
                </a:solidFill>
                <a:uFill>
                  <a:solidFill>
                    <a:srgbClr val="EC2814"/>
                  </a:solidFill>
                </a:uFill>
                <a:latin typeface="Calibri"/>
                <a:cs typeface="Calibri"/>
              </a:rPr>
              <a:t>otra</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cosa</a:t>
            </a:r>
            <a:r>
              <a:rPr dirty="0" sz="2600" spc="-50">
                <a:solidFill>
                  <a:srgbClr val="4E3629"/>
                </a:solidFill>
                <a:latin typeface="Calibri"/>
                <a:cs typeface="Calibri"/>
              </a:rPr>
              <a:t> </a:t>
            </a:r>
            <a:r>
              <a:rPr dirty="0" sz="2600">
                <a:solidFill>
                  <a:srgbClr val="4E3629"/>
                </a:solidFill>
                <a:latin typeface="Calibri"/>
                <a:cs typeface="Calibri"/>
              </a:rPr>
              <a:t>(como</a:t>
            </a:r>
            <a:r>
              <a:rPr dirty="0" sz="2600" spc="-45">
                <a:solidFill>
                  <a:srgbClr val="4E3629"/>
                </a:solidFill>
                <a:latin typeface="Calibri"/>
                <a:cs typeface="Calibri"/>
              </a:rPr>
              <a:t> </a:t>
            </a:r>
            <a:r>
              <a:rPr dirty="0" sz="2600">
                <a:solidFill>
                  <a:srgbClr val="4E3629"/>
                </a:solidFill>
                <a:latin typeface="Calibri"/>
                <a:cs typeface="Calibri"/>
              </a:rPr>
              <a:t>un</a:t>
            </a:r>
            <a:r>
              <a:rPr dirty="0" sz="2600" spc="-60">
                <a:solidFill>
                  <a:srgbClr val="4E3629"/>
                </a:solidFill>
                <a:latin typeface="Calibri"/>
                <a:cs typeface="Calibri"/>
              </a:rPr>
              <a:t> </a:t>
            </a:r>
            <a:r>
              <a:rPr dirty="0" sz="2600">
                <a:solidFill>
                  <a:srgbClr val="4E3629"/>
                </a:solidFill>
                <a:latin typeface="Calibri"/>
                <a:cs typeface="Calibri"/>
              </a:rPr>
              <a:t>huevo</a:t>
            </a:r>
            <a:r>
              <a:rPr dirty="0" sz="2600" spc="-70">
                <a:solidFill>
                  <a:srgbClr val="4E3629"/>
                </a:solidFill>
                <a:latin typeface="Calibri"/>
                <a:cs typeface="Calibri"/>
              </a:rPr>
              <a:t> </a:t>
            </a:r>
            <a:r>
              <a:rPr dirty="0" sz="2600">
                <a:solidFill>
                  <a:srgbClr val="4E3629"/>
                </a:solidFill>
                <a:latin typeface="Calibri"/>
                <a:cs typeface="Calibri"/>
              </a:rPr>
              <a:t>dentro</a:t>
            </a:r>
            <a:r>
              <a:rPr dirty="0" sz="2600" spc="-80">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un</a:t>
            </a:r>
            <a:r>
              <a:rPr dirty="0" sz="2600" spc="-65">
                <a:solidFill>
                  <a:srgbClr val="4E3629"/>
                </a:solidFill>
                <a:latin typeface="Calibri"/>
                <a:cs typeface="Calibri"/>
              </a:rPr>
              <a:t> </a:t>
            </a:r>
            <a:r>
              <a:rPr dirty="0" sz="2600" spc="-10">
                <a:solidFill>
                  <a:srgbClr val="4E3629"/>
                </a:solidFill>
                <a:latin typeface="Calibri"/>
                <a:cs typeface="Calibri"/>
              </a:rPr>
              <a:t>nido)</a:t>
            </a:r>
            <a:endParaRPr sz="2600">
              <a:latin typeface="Calibri"/>
              <a:cs typeface="Calibri"/>
            </a:endParaRPr>
          </a:p>
          <a:p>
            <a:pPr marL="184785" indent="-172085">
              <a:lnSpc>
                <a:spcPct val="100000"/>
              </a:lnSpc>
              <a:spcBef>
                <a:spcPts val="445"/>
              </a:spcBef>
              <a:buClr>
                <a:srgbClr val="D1350F"/>
              </a:buClr>
              <a:buFont typeface="Arial MT"/>
              <a:buChar char="•"/>
              <a:tabLst>
                <a:tab pos="184785" algn="l"/>
              </a:tabLst>
            </a:pP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siguiente</a:t>
            </a:r>
            <a:r>
              <a:rPr dirty="0" sz="2600" spc="-70">
                <a:solidFill>
                  <a:srgbClr val="4E3629"/>
                </a:solidFill>
                <a:latin typeface="Calibri"/>
                <a:cs typeface="Calibri"/>
              </a:rPr>
              <a:t> </a:t>
            </a:r>
            <a:r>
              <a:rPr dirty="0" sz="2600">
                <a:solidFill>
                  <a:srgbClr val="4E3629"/>
                </a:solidFill>
                <a:latin typeface="Calibri"/>
                <a:cs typeface="Calibri"/>
              </a:rPr>
              <a:t>ejemplo</a:t>
            </a:r>
            <a:r>
              <a:rPr dirty="0" sz="2600" spc="-55">
                <a:solidFill>
                  <a:srgbClr val="4E3629"/>
                </a:solidFill>
                <a:latin typeface="Calibri"/>
                <a:cs typeface="Calibri"/>
              </a:rPr>
              <a:t> </a:t>
            </a:r>
            <a:r>
              <a:rPr dirty="0" sz="2600" spc="-10">
                <a:solidFill>
                  <a:srgbClr val="4E3629"/>
                </a:solidFill>
                <a:latin typeface="Calibri"/>
                <a:cs typeface="Calibri"/>
              </a:rPr>
              <a:t>muestra</a:t>
            </a:r>
            <a:r>
              <a:rPr dirty="0" sz="2600" spc="-75">
                <a:solidFill>
                  <a:srgbClr val="4E3629"/>
                </a:solidFill>
                <a:latin typeface="Calibri"/>
                <a:cs typeface="Calibri"/>
              </a:rPr>
              <a:t> </a:t>
            </a:r>
            <a:r>
              <a:rPr dirty="0" sz="2600">
                <a:solidFill>
                  <a:srgbClr val="4E3629"/>
                </a:solidFill>
                <a:latin typeface="Calibri"/>
                <a:cs typeface="Calibri"/>
              </a:rPr>
              <a:t>una</a:t>
            </a:r>
            <a:r>
              <a:rPr dirty="0" sz="2600" spc="-50">
                <a:solidFill>
                  <a:srgbClr val="4E3629"/>
                </a:solidFill>
                <a:latin typeface="Calibri"/>
                <a:cs typeface="Calibri"/>
              </a:rPr>
              <a:t> </a:t>
            </a:r>
            <a:r>
              <a:rPr dirty="0" sz="2600">
                <a:solidFill>
                  <a:srgbClr val="4E3629"/>
                </a:solidFill>
                <a:latin typeface="Calibri"/>
                <a:cs typeface="Calibri"/>
              </a:rPr>
              <a:t>función</a:t>
            </a:r>
            <a:r>
              <a:rPr dirty="0" sz="2600" spc="-50">
                <a:solidFill>
                  <a:srgbClr val="4E3629"/>
                </a:solidFill>
                <a:latin typeface="Calibri"/>
                <a:cs typeface="Calibri"/>
              </a:rPr>
              <a:t> </a:t>
            </a:r>
            <a:r>
              <a:rPr dirty="0" sz="2600" spc="-10">
                <a:solidFill>
                  <a:srgbClr val="4E3629"/>
                </a:solidFill>
                <a:latin typeface="Calibri"/>
                <a:cs typeface="Calibri"/>
              </a:rPr>
              <a:t>anidada</a:t>
            </a:r>
            <a:endParaRPr sz="2600">
              <a:latin typeface="Calibri"/>
              <a:cs typeface="Calibri"/>
            </a:endParaRPr>
          </a:p>
          <a:p>
            <a:pPr marL="184785" marR="951230" indent="-172720">
              <a:lnSpc>
                <a:spcPts val="2810"/>
              </a:lnSpc>
              <a:spcBef>
                <a:spcPts val="835"/>
              </a:spcBef>
              <a:buClr>
                <a:srgbClr val="D1350F"/>
              </a:buClr>
              <a:buFont typeface="Arial MT"/>
              <a:buChar char="•"/>
              <a:tabLst>
                <a:tab pos="184785" algn="l"/>
              </a:tabLst>
            </a:pPr>
            <a:r>
              <a:rPr dirty="0" sz="2600">
                <a:solidFill>
                  <a:srgbClr val="4E3629"/>
                </a:solidFill>
                <a:latin typeface="Calibri"/>
                <a:cs typeface="Calibri"/>
              </a:rPr>
              <a:t>El</a:t>
            </a:r>
            <a:r>
              <a:rPr dirty="0" sz="2600" spc="-50">
                <a:solidFill>
                  <a:srgbClr val="4E3629"/>
                </a:solidFill>
                <a:latin typeface="Calibri"/>
                <a:cs typeface="Calibri"/>
              </a:rPr>
              <a:t> </a:t>
            </a:r>
            <a:r>
              <a:rPr dirty="0" sz="2600">
                <a:solidFill>
                  <a:srgbClr val="4E3629"/>
                </a:solidFill>
                <a:latin typeface="Calibri"/>
                <a:cs typeface="Calibri"/>
              </a:rPr>
              <a:t>proceso</a:t>
            </a:r>
            <a:r>
              <a:rPr dirty="0" sz="2600" spc="-60">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evaluación</a:t>
            </a:r>
            <a:r>
              <a:rPr dirty="0" sz="2600" spc="-70">
                <a:solidFill>
                  <a:srgbClr val="4E3629"/>
                </a:solidFill>
                <a:latin typeface="Calibri"/>
                <a:cs typeface="Calibri"/>
              </a:rPr>
              <a:t> </a:t>
            </a:r>
            <a:r>
              <a:rPr dirty="0" sz="2600">
                <a:solidFill>
                  <a:srgbClr val="4E3629"/>
                </a:solidFill>
                <a:latin typeface="Calibri"/>
                <a:cs typeface="Calibri"/>
              </a:rPr>
              <a:t>empieza</a:t>
            </a:r>
            <a:r>
              <a:rPr dirty="0" sz="2600" spc="-70">
                <a:solidFill>
                  <a:srgbClr val="4E3629"/>
                </a:solidFill>
                <a:latin typeface="Calibri"/>
                <a:cs typeface="Calibri"/>
              </a:rPr>
              <a:t> </a:t>
            </a:r>
            <a:r>
              <a:rPr dirty="0" sz="2600">
                <a:solidFill>
                  <a:srgbClr val="4E3629"/>
                </a:solidFill>
                <a:latin typeface="Calibri"/>
                <a:cs typeface="Calibri"/>
              </a:rPr>
              <a:t>desde</a:t>
            </a:r>
            <a:r>
              <a:rPr dirty="0" sz="2600" spc="-75">
                <a:solidFill>
                  <a:srgbClr val="4E3629"/>
                </a:solidFill>
                <a:latin typeface="Calibri"/>
                <a:cs typeface="Calibri"/>
              </a:rPr>
              <a:t> </a:t>
            </a:r>
            <a:r>
              <a:rPr dirty="0" sz="2600">
                <a:solidFill>
                  <a:srgbClr val="4E3629"/>
                </a:solidFill>
                <a:latin typeface="Calibri"/>
                <a:cs typeface="Calibri"/>
              </a:rPr>
              <a:t>el</a:t>
            </a:r>
            <a:r>
              <a:rPr dirty="0" sz="2600" spc="-55">
                <a:solidFill>
                  <a:srgbClr val="4E3629"/>
                </a:solidFill>
                <a:latin typeface="Calibri"/>
                <a:cs typeface="Calibri"/>
              </a:rPr>
              <a:t> </a:t>
            </a:r>
            <a:r>
              <a:rPr dirty="0" sz="2600">
                <a:solidFill>
                  <a:srgbClr val="4E3629"/>
                </a:solidFill>
                <a:latin typeface="Calibri"/>
                <a:cs typeface="Calibri"/>
              </a:rPr>
              <a:t>nivel</a:t>
            </a:r>
            <a:r>
              <a:rPr dirty="0" sz="2600" spc="-55">
                <a:solidFill>
                  <a:srgbClr val="4E3629"/>
                </a:solidFill>
                <a:latin typeface="Calibri"/>
                <a:cs typeface="Calibri"/>
              </a:rPr>
              <a:t> </a:t>
            </a:r>
            <a:r>
              <a:rPr dirty="0" sz="2600" spc="-25">
                <a:solidFill>
                  <a:srgbClr val="4E3629"/>
                </a:solidFill>
                <a:latin typeface="Calibri"/>
                <a:cs typeface="Calibri"/>
              </a:rPr>
              <a:t>más </a:t>
            </a:r>
            <a:r>
              <a:rPr dirty="0" sz="2600">
                <a:solidFill>
                  <a:srgbClr val="4E3629"/>
                </a:solidFill>
                <a:latin typeface="Calibri"/>
                <a:cs typeface="Calibri"/>
              </a:rPr>
              <a:t>profundo</a:t>
            </a:r>
            <a:r>
              <a:rPr dirty="0" sz="2600" spc="-90">
                <a:solidFill>
                  <a:srgbClr val="4E3629"/>
                </a:solidFill>
                <a:latin typeface="Calibri"/>
                <a:cs typeface="Calibri"/>
              </a:rPr>
              <a:t> </a:t>
            </a:r>
            <a:r>
              <a:rPr dirty="0" sz="2600">
                <a:solidFill>
                  <a:srgbClr val="4E3629"/>
                </a:solidFill>
                <a:latin typeface="Calibri"/>
                <a:cs typeface="Calibri"/>
              </a:rPr>
              <a:t>hasta</a:t>
            </a:r>
            <a:r>
              <a:rPr dirty="0" sz="2600" spc="-45">
                <a:solidFill>
                  <a:srgbClr val="4E3629"/>
                </a:solidFill>
                <a:latin typeface="Calibri"/>
                <a:cs typeface="Calibri"/>
              </a:rPr>
              <a:t> </a:t>
            </a:r>
            <a:r>
              <a:rPr dirty="0" sz="2600">
                <a:solidFill>
                  <a:srgbClr val="4E3629"/>
                </a:solidFill>
                <a:latin typeface="Calibri"/>
                <a:cs typeface="Calibri"/>
              </a:rPr>
              <a:t>el</a:t>
            </a:r>
            <a:r>
              <a:rPr dirty="0" sz="2600" spc="-60">
                <a:solidFill>
                  <a:srgbClr val="4E3629"/>
                </a:solidFill>
                <a:latin typeface="Calibri"/>
                <a:cs typeface="Calibri"/>
              </a:rPr>
              <a:t> </a:t>
            </a:r>
            <a:r>
              <a:rPr dirty="0" sz="2600">
                <a:solidFill>
                  <a:srgbClr val="4E3629"/>
                </a:solidFill>
                <a:latin typeface="Calibri"/>
                <a:cs typeface="Calibri"/>
              </a:rPr>
              <a:t>nivel</a:t>
            </a:r>
            <a:r>
              <a:rPr dirty="0" sz="2600" spc="-70">
                <a:solidFill>
                  <a:srgbClr val="4E3629"/>
                </a:solidFill>
                <a:latin typeface="Calibri"/>
                <a:cs typeface="Calibri"/>
              </a:rPr>
              <a:t> </a:t>
            </a:r>
            <a:r>
              <a:rPr dirty="0" sz="2600">
                <a:solidFill>
                  <a:srgbClr val="4E3629"/>
                </a:solidFill>
                <a:latin typeface="Calibri"/>
                <a:cs typeface="Calibri"/>
              </a:rPr>
              <a:t>menos</a:t>
            </a:r>
            <a:r>
              <a:rPr dirty="0" sz="2600" spc="-60">
                <a:solidFill>
                  <a:srgbClr val="4E3629"/>
                </a:solidFill>
                <a:latin typeface="Calibri"/>
                <a:cs typeface="Calibri"/>
              </a:rPr>
              <a:t> </a:t>
            </a:r>
            <a:r>
              <a:rPr dirty="0" sz="2600" spc="-10">
                <a:solidFill>
                  <a:srgbClr val="4E3629"/>
                </a:solidFill>
                <a:latin typeface="Calibri"/>
                <a:cs typeface="Calibri"/>
              </a:rPr>
              <a:t>profundo</a:t>
            </a:r>
            <a:endParaRPr sz="26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Método</a:t>
            </a:r>
            <a:r>
              <a:rPr dirty="0" spc="-70"/>
              <a:t> </a:t>
            </a:r>
            <a:r>
              <a:rPr dirty="0"/>
              <a:t>de</a:t>
            </a:r>
            <a:r>
              <a:rPr dirty="0" spc="-55"/>
              <a:t> </a:t>
            </a:r>
            <a:r>
              <a:rPr dirty="0" spc="-10"/>
              <a:t>Evaluación</a:t>
            </a:r>
            <a:r>
              <a:rPr dirty="0" spc="-50"/>
              <a:t> </a:t>
            </a:r>
            <a:r>
              <a:rPr dirty="0"/>
              <a:t>de</a:t>
            </a:r>
            <a:r>
              <a:rPr dirty="0" spc="-55"/>
              <a:t> </a:t>
            </a:r>
            <a:r>
              <a:rPr dirty="0"/>
              <a:t>las</a:t>
            </a:r>
            <a:r>
              <a:rPr dirty="0" spc="-75"/>
              <a:t> </a:t>
            </a:r>
            <a:r>
              <a:rPr dirty="0" spc="-10"/>
              <a:t>Funciones</a:t>
            </a:r>
          </a:p>
        </p:txBody>
      </p:sp>
      <p:sp>
        <p:nvSpPr>
          <p:cNvPr id="3" name="object 3" descr=""/>
          <p:cNvSpPr txBox="1"/>
          <p:nvPr/>
        </p:nvSpPr>
        <p:spPr>
          <a:xfrm>
            <a:off x="483552" y="2850345"/>
            <a:ext cx="4104004" cy="858519"/>
          </a:xfrm>
          <a:prstGeom prst="rect">
            <a:avLst/>
          </a:prstGeom>
        </p:spPr>
        <p:txBody>
          <a:bodyPr wrap="square" lIns="0" tIns="34290" rIns="0" bIns="0" rtlCol="0" vert="horz">
            <a:spAutoFit/>
          </a:bodyPr>
          <a:lstStyle/>
          <a:p>
            <a:pPr marL="183515" indent="-170815">
              <a:lnSpc>
                <a:spcPct val="100000"/>
              </a:lnSpc>
              <a:spcBef>
                <a:spcPts val="270"/>
              </a:spcBef>
              <a:buClr>
                <a:srgbClr val="D1350F"/>
              </a:buClr>
              <a:buFont typeface="Arial MT"/>
              <a:buChar char="•"/>
              <a:tabLst>
                <a:tab pos="183515" algn="l"/>
              </a:tabLst>
            </a:pPr>
            <a:r>
              <a:rPr dirty="0" sz="2800">
                <a:solidFill>
                  <a:srgbClr val="4E3629"/>
                </a:solidFill>
                <a:latin typeface="Calibri"/>
                <a:cs typeface="Calibri"/>
              </a:rPr>
              <a:t>Los</a:t>
            </a:r>
            <a:r>
              <a:rPr dirty="0" sz="2800" spc="-105">
                <a:solidFill>
                  <a:srgbClr val="4E3629"/>
                </a:solidFill>
                <a:latin typeface="Calibri"/>
                <a:cs typeface="Calibri"/>
              </a:rPr>
              <a:t> </a:t>
            </a:r>
            <a:r>
              <a:rPr dirty="0" sz="2800">
                <a:solidFill>
                  <a:srgbClr val="4E3629"/>
                </a:solidFill>
                <a:latin typeface="Calibri"/>
                <a:cs typeface="Calibri"/>
              </a:rPr>
              <a:t>resultados</a:t>
            </a:r>
            <a:r>
              <a:rPr dirty="0" sz="2800" spc="-80">
                <a:solidFill>
                  <a:srgbClr val="4E3629"/>
                </a:solidFill>
                <a:latin typeface="Calibri"/>
                <a:cs typeface="Calibri"/>
              </a:rPr>
              <a:t> </a:t>
            </a:r>
            <a:r>
              <a:rPr dirty="0" sz="2800" spc="-20">
                <a:solidFill>
                  <a:srgbClr val="4E3629"/>
                </a:solidFill>
                <a:latin typeface="Calibri"/>
                <a:cs typeface="Calibri"/>
              </a:rPr>
              <a:t>son:</a:t>
            </a:r>
            <a:endParaRPr sz="2800">
              <a:latin typeface="Calibri"/>
              <a:cs typeface="Calibri"/>
            </a:endParaRPr>
          </a:p>
          <a:p>
            <a:pPr marL="355600">
              <a:lnSpc>
                <a:spcPct val="100000"/>
              </a:lnSpc>
              <a:spcBef>
                <a:spcPts val="145"/>
              </a:spcBef>
            </a:pPr>
            <a:r>
              <a:rPr dirty="0" sz="2400">
                <a:solidFill>
                  <a:srgbClr val="D1350F"/>
                </a:solidFill>
                <a:latin typeface="Calibri"/>
                <a:cs typeface="Calibri"/>
              </a:rPr>
              <a:t>−</a:t>
            </a:r>
            <a:r>
              <a:rPr dirty="0" sz="2400">
                <a:solidFill>
                  <a:srgbClr val="4E3629"/>
                </a:solidFill>
                <a:latin typeface="Calibri"/>
                <a:cs typeface="Calibri"/>
              </a:rPr>
              <a:t>Friday,</a:t>
            </a:r>
            <a:r>
              <a:rPr dirty="0" sz="2400" spc="-80">
                <a:solidFill>
                  <a:srgbClr val="4E3629"/>
                </a:solidFill>
                <a:latin typeface="Calibri"/>
                <a:cs typeface="Calibri"/>
              </a:rPr>
              <a:t> </a:t>
            </a:r>
            <a:r>
              <a:rPr dirty="0" sz="2400">
                <a:solidFill>
                  <a:srgbClr val="4E3629"/>
                </a:solidFill>
                <a:latin typeface="Calibri"/>
                <a:cs typeface="Calibri"/>
              </a:rPr>
              <a:t>December</a:t>
            </a:r>
            <a:r>
              <a:rPr dirty="0" sz="2400" spc="-80">
                <a:solidFill>
                  <a:srgbClr val="4E3629"/>
                </a:solidFill>
                <a:latin typeface="Calibri"/>
                <a:cs typeface="Calibri"/>
              </a:rPr>
              <a:t> </a:t>
            </a:r>
            <a:r>
              <a:rPr dirty="0" sz="2400">
                <a:solidFill>
                  <a:srgbClr val="4E3629"/>
                </a:solidFill>
                <a:latin typeface="Calibri"/>
                <a:cs typeface="Calibri"/>
              </a:rPr>
              <a:t>18th,</a:t>
            </a:r>
            <a:r>
              <a:rPr dirty="0" sz="2400" spc="-70">
                <a:solidFill>
                  <a:srgbClr val="4E3629"/>
                </a:solidFill>
                <a:latin typeface="Calibri"/>
                <a:cs typeface="Calibri"/>
              </a:rPr>
              <a:t> </a:t>
            </a:r>
            <a:r>
              <a:rPr dirty="0" sz="2400" spc="-20">
                <a:solidFill>
                  <a:srgbClr val="4E3629"/>
                </a:solidFill>
                <a:latin typeface="Calibri"/>
                <a:cs typeface="Calibri"/>
              </a:rPr>
              <a:t>1987</a:t>
            </a:r>
            <a:endParaRPr sz="2400">
              <a:latin typeface="Calibri"/>
              <a:cs typeface="Calibri"/>
            </a:endParaRPr>
          </a:p>
        </p:txBody>
      </p:sp>
      <p:sp>
        <p:nvSpPr>
          <p:cNvPr id="4" name="object 4" descr=""/>
          <p:cNvSpPr txBox="1"/>
          <p:nvPr/>
        </p:nvSpPr>
        <p:spPr>
          <a:xfrm>
            <a:off x="405384" y="1336547"/>
            <a:ext cx="8345805" cy="1341120"/>
          </a:xfrm>
          <a:prstGeom prst="rect">
            <a:avLst/>
          </a:prstGeom>
          <a:solidFill>
            <a:srgbClr val="9DBEC4">
              <a:alpha val="50199"/>
            </a:srgbClr>
          </a:solidFill>
        </p:spPr>
        <p:txBody>
          <a:bodyPr wrap="square" lIns="0" tIns="94615" rIns="0" bIns="0" rtlCol="0" vert="horz">
            <a:spAutoFit/>
          </a:bodyPr>
          <a:lstStyle/>
          <a:p>
            <a:pPr>
              <a:lnSpc>
                <a:spcPct val="100000"/>
              </a:lnSpc>
              <a:spcBef>
                <a:spcPts val="745"/>
              </a:spcBef>
            </a:pPr>
            <a:r>
              <a:rPr dirty="0" sz="1800" b="1">
                <a:solidFill>
                  <a:srgbClr val="4E3629"/>
                </a:solidFill>
                <a:latin typeface="Courier New"/>
                <a:cs typeface="Courier New"/>
              </a:rPr>
              <a:t>SELECT</a:t>
            </a:r>
            <a:r>
              <a:rPr dirty="0" sz="1800" spc="-35" b="1">
                <a:solidFill>
                  <a:srgbClr val="4E3629"/>
                </a:solidFill>
                <a:latin typeface="Courier New"/>
                <a:cs typeface="Courier New"/>
              </a:rPr>
              <a:t> </a:t>
            </a:r>
            <a:r>
              <a:rPr dirty="0" sz="1800" spc="-10" b="1">
                <a:solidFill>
                  <a:srgbClr val="4E3629"/>
                </a:solidFill>
                <a:latin typeface="Courier New"/>
                <a:cs typeface="Courier New"/>
              </a:rPr>
              <a:t>TO_CHAR(NEXT_DAY(ADD_MONTHS(hire_date,</a:t>
            </a:r>
            <a:r>
              <a:rPr dirty="0" sz="1800" spc="-20" b="1">
                <a:solidFill>
                  <a:srgbClr val="4E3629"/>
                </a:solidFill>
                <a:latin typeface="Courier New"/>
                <a:cs typeface="Courier New"/>
              </a:rPr>
              <a:t> </a:t>
            </a:r>
            <a:r>
              <a:rPr dirty="0" sz="1800" b="1">
                <a:solidFill>
                  <a:srgbClr val="4E3629"/>
                </a:solidFill>
                <a:latin typeface="Courier New"/>
                <a:cs typeface="Courier New"/>
              </a:rPr>
              <a:t>6),</a:t>
            </a:r>
            <a:r>
              <a:rPr dirty="0" sz="1800" spc="-30" b="1">
                <a:solidFill>
                  <a:srgbClr val="4E3629"/>
                </a:solidFill>
                <a:latin typeface="Courier New"/>
                <a:cs typeface="Courier New"/>
              </a:rPr>
              <a:t> </a:t>
            </a:r>
            <a:r>
              <a:rPr dirty="0" sz="1800" spc="-10" b="1">
                <a:solidFill>
                  <a:srgbClr val="4E3629"/>
                </a:solidFill>
                <a:latin typeface="Courier New"/>
                <a:cs typeface="Courier New"/>
              </a:rPr>
              <a:t>'FRIDAY'),</a:t>
            </a:r>
            <a:endParaRPr sz="1800">
              <a:latin typeface="Courier New"/>
              <a:cs typeface="Courier New"/>
            </a:endParaRPr>
          </a:p>
          <a:p>
            <a:pPr marR="1922145">
              <a:lnSpc>
                <a:spcPct val="100000"/>
              </a:lnSpc>
            </a:pPr>
            <a:r>
              <a:rPr dirty="0" sz="1800" b="1">
                <a:solidFill>
                  <a:srgbClr val="4E3629"/>
                </a:solidFill>
                <a:latin typeface="Courier New"/>
                <a:cs typeface="Courier New"/>
              </a:rPr>
              <a:t>'fmDay,</a:t>
            </a:r>
            <a:r>
              <a:rPr dirty="0" sz="1800" spc="-65" b="1">
                <a:solidFill>
                  <a:srgbClr val="4E3629"/>
                </a:solidFill>
                <a:latin typeface="Courier New"/>
                <a:cs typeface="Courier New"/>
              </a:rPr>
              <a:t> </a:t>
            </a:r>
            <a:r>
              <a:rPr dirty="0" sz="1800" b="1">
                <a:solidFill>
                  <a:srgbClr val="4E3629"/>
                </a:solidFill>
                <a:latin typeface="Courier New"/>
                <a:cs typeface="Courier New"/>
              </a:rPr>
              <a:t>Month</a:t>
            </a:r>
            <a:r>
              <a:rPr dirty="0" sz="1800" spc="-50" b="1">
                <a:solidFill>
                  <a:srgbClr val="4E3629"/>
                </a:solidFill>
                <a:latin typeface="Courier New"/>
                <a:cs typeface="Courier New"/>
              </a:rPr>
              <a:t> </a:t>
            </a:r>
            <a:r>
              <a:rPr dirty="0" sz="1800" b="1">
                <a:solidFill>
                  <a:srgbClr val="4E3629"/>
                </a:solidFill>
                <a:latin typeface="Courier New"/>
                <a:cs typeface="Courier New"/>
              </a:rPr>
              <a:t>ddth,</a:t>
            </a:r>
            <a:r>
              <a:rPr dirty="0" sz="1800" spc="-50" b="1">
                <a:solidFill>
                  <a:srgbClr val="4E3629"/>
                </a:solidFill>
                <a:latin typeface="Courier New"/>
                <a:cs typeface="Courier New"/>
              </a:rPr>
              <a:t> </a:t>
            </a:r>
            <a:r>
              <a:rPr dirty="0" sz="1800" b="1">
                <a:solidFill>
                  <a:srgbClr val="4E3629"/>
                </a:solidFill>
                <a:latin typeface="Courier New"/>
                <a:cs typeface="Courier New"/>
              </a:rPr>
              <a:t>YYYY')</a:t>
            </a:r>
            <a:r>
              <a:rPr dirty="0" sz="1800" spc="-50" b="1">
                <a:solidFill>
                  <a:srgbClr val="4E3629"/>
                </a:solidFill>
                <a:latin typeface="Courier New"/>
                <a:cs typeface="Courier New"/>
              </a:rPr>
              <a:t> </a:t>
            </a:r>
            <a:r>
              <a:rPr dirty="0" sz="1800" b="1">
                <a:solidFill>
                  <a:srgbClr val="4E3629"/>
                </a:solidFill>
                <a:latin typeface="Courier New"/>
                <a:cs typeface="Courier New"/>
              </a:rPr>
              <a:t>AS</a:t>
            </a:r>
            <a:r>
              <a:rPr dirty="0" sz="1800" spc="-50" b="1">
                <a:solidFill>
                  <a:srgbClr val="4E3629"/>
                </a:solidFill>
                <a:latin typeface="Courier New"/>
                <a:cs typeface="Courier New"/>
              </a:rPr>
              <a:t> </a:t>
            </a:r>
            <a:r>
              <a:rPr dirty="0" sz="1800" b="1">
                <a:solidFill>
                  <a:srgbClr val="4E3629"/>
                </a:solidFill>
                <a:latin typeface="Courier New"/>
                <a:cs typeface="Courier New"/>
              </a:rPr>
              <a:t>"Next</a:t>
            </a:r>
            <a:r>
              <a:rPr dirty="0" sz="1800" spc="-50" b="1">
                <a:solidFill>
                  <a:srgbClr val="4E3629"/>
                </a:solidFill>
                <a:latin typeface="Courier New"/>
                <a:cs typeface="Courier New"/>
              </a:rPr>
              <a:t> </a:t>
            </a:r>
            <a:r>
              <a:rPr dirty="0" sz="1800" spc="-10" b="1">
                <a:solidFill>
                  <a:srgbClr val="4E3629"/>
                </a:solidFill>
                <a:latin typeface="Courier New"/>
                <a:cs typeface="Courier New"/>
              </a:rPr>
              <a:t>Evaluation"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70" b="1">
                <a:solidFill>
                  <a:srgbClr val="4E3629"/>
                </a:solidFill>
                <a:latin typeface="Courier New"/>
                <a:cs typeface="Courier New"/>
              </a:rPr>
              <a:t> </a:t>
            </a:r>
            <a:r>
              <a:rPr dirty="0" sz="1800" b="1">
                <a:solidFill>
                  <a:srgbClr val="4E3629"/>
                </a:solidFill>
                <a:latin typeface="Courier New"/>
                <a:cs typeface="Courier New"/>
              </a:rPr>
              <a:t>employee_id</a:t>
            </a:r>
            <a:r>
              <a:rPr dirty="0" sz="1800" spc="-45" b="1">
                <a:solidFill>
                  <a:srgbClr val="4E3629"/>
                </a:solidFill>
                <a:latin typeface="Courier New"/>
                <a:cs typeface="Courier New"/>
              </a:rPr>
              <a:t> </a:t>
            </a:r>
            <a:r>
              <a:rPr dirty="0" sz="1800" b="1">
                <a:solidFill>
                  <a:srgbClr val="4E3629"/>
                </a:solidFill>
                <a:latin typeface="Courier New"/>
                <a:cs typeface="Courier New"/>
              </a:rPr>
              <a:t>=</a:t>
            </a:r>
            <a:r>
              <a:rPr dirty="0" sz="1800" spc="-55" b="1">
                <a:solidFill>
                  <a:srgbClr val="4E3629"/>
                </a:solidFill>
                <a:latin typeface="Courier New"/>
                <a:cs typeface="Courier New"/>
              </a:rPr>
              <a:t> </a:t>
            </a:r>
            <a:r>
              <a:rPr dirty="0" sz="1800" spc="-20" b="1">
                <a:solidFill>
                  <a:srgbClr val="4E3629"/>
                </a:solidFill>
                <a:latin typeface="Courier New"/>
                <a:cs typeface="Courier New"/>
              </a:rPr>
              <a:t>100;</a:t>
            </a:r>
            <a:endParaRPr sz="1800">
              <a:latin typeface="Courier New"/>
              <a:cs typeface="Courier New"/>
            </a:endParaRPr>
          </a:p>
        </p:txBody>
      </p:sp>
      <p:grpSp>
        <p:nvGrpSpPr>
          <p:cNvPr id="5" name="object 5" descr=""/>
          <p:cNvGrpSpPr/>
          <p:nvPr/>
        </p:nvGrpSpPr>
        <p:grpSpPr>
          <a:xfrm>
            <a:off x="5387340" y="3561588"/>
            <a:ext cx="3185160" cy="2428240"/>
            <a:chOff x="5387340" y="3561588"/>
            <a:chExt cx="3185160" cy="2428240"/>
          </a:xfrm>
        </p:grpSpPr>
        <p:pic>
          <p:nvPicPr>
            <p:cNvPr id="6" name="object 6" descr=""/>
            <p:cNvPicPr/>
            <p:nvPr/>
          </p:nvPicPr>
          <p:blipFill>
            <a:blip r:embed="rId2" cstate="print"/>
            <a:stretch>
              <a:fillRect/>
            </a:stretch>
          </p:blipFill>
          <p:spPr>
            <a:xfrm>
              <a:off x="5387340" y="3561588"/>
              <a:ext cx="3185160" cy="2427731"/>
            </a:xfrm>
            <a:prstGeom prst="rect">
              <a:avLst/>
            </a:prstGeom>
          </p:spPr>
        </p:pic>
        <p:pic>
          <p:nvPicPr>
            <p:cNvPr id="7" name="object 7" descr=""/>
            <p:cNvPicPr/>
            <p:nvPr/>
          </p:nvPicPr>
          <p:blipFill>
            <a:blip r:embed="rId3" cstate="print"/>
            <a:stretch>
              <a:fillRect/>
            </a:stretch>
          </p:blipFill>
          <p:spPr>
            <a:xfrm>
              <a:off x="5483352" y="3649980"/>
              <a:ext cx="2993134" cy="2250947"/>
            </a:xfrm>
            <a:prstGeom prst="rect">
              <a:avLst/>
            </a:prstGeom>
          </p:spPr>
        </p:pic>
      </p:grpSp>
      <p:sp>
        <p:nvSpPr>
          <p:cNvPr id="8" name="object 8"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6</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Método</a:t>
            </a:r>
            <a:r>
              <a:rPr dirty="0" spc="-70"/>
              <a:t> </a:t>
            </a:r>
            <a:r>
              <a:rPr dirty="0"/>
              <a:t>de</a:t>
            </a:r>
            <a:r>
              <a:rPr dirty="0" spc="-55"/>
              <a:t> </a:t>
            </a:r>
            <a:r>
              <a:rPr dirty="0" spc="-10"/>
              <a:t>Evaluación</a:t>
            </a:r>
            <a:r>
              <a:rPr dirty="0" spc="-50"/>
              <a:t> </a:t>
            </a:r>
            <a:r>
              <a:rPr dirty="0"/>
              <a:t>de</a:t>
            </a:r>
            <a:r>
              <a:rPr dirty="0" spc="-55"/>
              <a:t> </a:t>
            </a:r>
            <a:r>
              <a:rPr dirty="0"/>
              <a:t>las</a:t>
            </a:r>
            <a:r>
              <a:rPr dirty="0" spc="-75"/>
              <a:t> </a:t>
            </a:r>
            <a:r>
              <a:rPr dirty="0" spc="-10"/>
              <a:t>Funciones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7</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2643761"/>
            <a:ext cx="8046084" cy="3161665"/>
          </a:xfrm>
          <a:prstGeom prst="rect">
            <a:avLst/>
          </a:prstGeom>
        </p:spPr>
        <p:txBody>
          <a:bodyPr wrap="square" lIns="0" tIns="89535" rIns="0" bIns="0" rtlCol="0" vert="horz">
            <a:spAutoFit/>
          </a:bodyPr>
          <a:lstStyle/>
          <a:p>
            <a:pPr marL="184785" marR="220979" indent="-172720">
              <a:lnSpc>
                <a:spcPts val="2500"/>
              </a:lnSpc>
              <a:spcBef>
                <a:spcPts val="705"/>
              </a:spcBef>
              <a:buClr>
                <a:srgbClr val="D1350F"/>
              </a:buClr>
              <a:buFont typeface="Arial MT"/>
              <a:buChar char="•"/>
              <a:tabLst>
                <a:tab pos="184785" algn="l"/>
              </a:tabLst>
            </a:pPr>
            <a:r>
              <a:rPr dirty="0" sz="2600">
                <a:solidFill>
                  <a:srgbClr val="4E3629"/>
                </a:solidFill>
                <a:latin typeface="Calibri"/>
                <a:cs typeface="Calibri"/>
              </a:rPr>
              <a:t>Paso</a:t>
            </a:r>
            <a:r>
              <a:rPr dirty="0" sz="2600" spc="-40">
                <a:solidFill>
                  <a:srgbClr val="4E3629"/>
                </a:solidFill>
                <a:latin typeface="Calibri"/>
                <a:cs typeface="Calibri"/>
              </a:rPr>
              <a:t> </a:t>
            </a:r>
            <a:r>
              <a:rPr dirty="0" sz="2600">
                <a:solidFill>
                  <a:srgbClr val="4E3629"/>
                </a:solidFill>
                <a:latin typeface="Calibri"/>
                <a:cs typeface="Calibri"/>
              </a:rPr>
              <a:t>1:</a:t>
            </a:r>
            <a:r>
              <a:rPr dirty="0" sz="2600" spc="-35">
                <a:solidFill>
                  <a:srgbClr val="4E3629"/>
                </a:solidFill>
                <a:latin typeface="Calibri"/>
                <a:cs typeface="Calibri"/>
              </a:rPr>
              <a:t> </a:t>
            </a:r>
            <a:r>
              <a:rPr dirty="0" sz="2600">
                <a:solidFill>
                  <a:srgbClr val="4E3629"/>
                </a:solidFill>
                <a:latin typeface="Calibri"/>
                <a:cs typeface="Calibri"/>
              </a:rPr>
              <a:t>A</a:t>
            </a:r>
            <a:r>
              <a:rPr dirty="0" sz="2600" spc="-55">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a:solidFill>
                  <a:srgbClr val="4E3629"/>
                </a:solidFill>
                <a:latin typeface="Calibri"/>
                <a:cs typeface="Calibri"/>
              </a:rPr>
              <a:t>fecha</a:t>
            </a:r>
            <a:r>
              <a:rPr dirty="0" sz="2600" spc="-55">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spc="-20">
                <a:solidFill>
                  <a:srgbClr val="4E3629"/>
                </a:solidFill>
                <a:latin typeface="Calibri"/>
                <a:cs typeface="Calibri"/>
              </a:rPr>
              <a:t>contratación</a:t>
            </a:r>
            <a:r>
              <a:rPr dirty="0" sz="2600" spc="-40">
                <a:solidFill>
                  <a:srgbClr val="4E3629"/>
                </a:solidFill>
                <a:latin typeface="Calibri"/>
                <a:cs typeface="Calibri"/>
              </a:rPr>
              <a:t> </a:t>
            </a:r>
            <a:r>
              <a:rPr dirty="0" sz="2600">
                <a:solidFill>
                  <a:srgbClr val="4E3629"/>
                </a:solidFill>
                <a:latin typeface="Calibri"/>
                <a:cs typeface="Calibri"/>
              </a:rPr>
              <a:t>se</a:t>
            </a:r>
            <a:r>
              <a:rPr dirty="0" sz="2600" spc="-50">
                <a:solidFill>
                  <a:srgbClr val="4E3629"/>
                </a:solidFill>
                <a:latin typeface="Calibri"/>
                <a:cs typeface="Calibri"/>
              </a:rPr>
              <a:t> </a:t>
            </a:r>
            <a:r>
              <a:rPr dirty="0" sz="2600">
                <a:solidFill>
                  <a:srgbClr val="4E3629"/>
                </a:solidFill>
                <a:latin typeface="Calibri"/>
                <a:cs typeface="Calibri"/>
              </a:rPr>
              <a:t>le</a:t>
            </a:r>
            <a:r>
              <a:rPr dirty="0" sz="2600" spc="-45">
                <a:solidFill>
                  <a:srgbClr val="4E3629"/>
                </a:solidFill>
                <a:latin typeface="Calibri"/>
                <a:cs typeface="Calibri"/>
              </a:rPr>
              <a:t> </a:t>
            </a:r>
            <a:r>
              <a:rPr dirty="0" sz="2600">
                <a:solidFill>
                  <a:srgbClr val="4E3629"/>
                </a:solidFill>
                <a:latin typeface="Calibri"/>
                <a:cs typeface="Calibri"/>
              </a:rPr>
              <a:t>van</a:t>
            </a:r>
            <a:r>
              <a:rPr dirty="0" sz="2600" spc="-50">
                <a:solidFill>
                  <a:srgbClr val="4E3629"/>
                </a:solidFill>
                <a:latin typeface="Calibri"/>
                <a:cs typeface="Calibri"/>
              </a:rPr>
              <a:t> </a:t>
            </a:r>
            <a:r>
              <a:rPr dirty="0" sz="2600">
                <a:solidFill>
                  <a:srgbClr val="4E3629"/>
                </a:solidFill>
                <a:latin typeface="Calibri"/>
                <a:cs typeface="Calibri"/>
              </a:rPr>
              <a:t>a</a:t>
            </a:r>
            <a:r>
              <a:rPr dirty="0" sz="2600" spc="-25">
                <a:solidFill>
                  <a:srgbClr val="4E3629"/>
                </a:solidFill>
                <a:latin typeface="Calibri"/>
                <a:cs typeface="Calibri"/>
              </a:rPr>
              <a:t> </a:t>
            </a:r>
            <a:r>
              <a:rPr dirty="0" sz="2600">
                <a:solidFill>
                  <a:srgbClr val="4E3629"/>
                </a:solidFill>
                <a:latin typeface="Calibri"/>
                <a:cs typeface="Calibri"/>
              </a:rPr>
              <a:t>agregar</a:t>
            </a:r>
            <a:r>
              <a:rPr dirty="0" sz="2600" spc="-35">
                <a:solidFill>
                  <a:srgbClr val="4E3629"/>
                </a:solidFill>
                <a:latin typeface="Calibri"/>
                <a:cs typeface="Calibri"/>
              </a:rPr>
              <a:t> </a:t>
            </a:r>
            <a:r>
              <a:rPr dirty="0" sz="2600" spc="-20">
                <a:solidFill>
                  <a:srgbClr val="4E3629"/>
                </a:solidFill>
                <a:latin typeface="Calibri"/>
                <a:cs typeface="Calibri"/>
              </a:rPr>
              <a:t>seis </a:t>
            </a:r>
            <a:r>
              <a:rPr dirty="0" sz="2600" spc="-10">
                <a:solidFill>
                  <a:srgbClr val="4E3629"/>
                </a:solidFill>
                <a:latin typeface="Calibri"/>
                <a:cs typeface="Calibri"/>
              </a:rPr>
              <a:t>meses</a:t>
            </a:r>
            <a:endParaRPr sz="2600">
              <a:latin typeface="Calibri"/>
              <a:cs typeface="Calibri"/>
            </a:endParaRPr>
          </a:p>
          <a:p>
            <a:pPr marL="184785" marR="500380" indent="-172720">
              <a:lnSpc>
                <a:spcPts val="2500"/>
              </a:lnSpc>
              <a:spcBef>
                <a:spcPts val="795"/>
              </a:spcBef>
              <a:buClr>
                <a:srgbClr val="D1350F"/>
              </a:buClr>
              <a:buFont typeface="Arial MT"/>
              <a:buChar char="•"/>
              <a:tabLst>
                <a:tab pos="184785" algn="l"/>
              </a:tabLst>
            </a:pPr>
            <a:r>
              <a:rPr dirty="0" sz="2600">
                <a:solidFill>
                  <a:srgbClr val="4E3629"/>
                </a:solidFill>
                <a:latin typeface="Calibri"/>
                <a:cs typeface="Calibri"/>
              </a:rPr>
              <a:t>Paso</a:t>
            </a:r>
            <a:r>
              <a:rPr dirty="0" sz="2600" spc="-40">
                <a:solidFill>
                  <a:srgbClr val="4E3629"/>
                </a:solidFill>
                <a:latin typeface="Calibri"/>
                <a:cs typeface="Calibri"/>
              </a:rPr>
              <a:t> </a:t>
            </a:r>
            <a:r>
              <a:rPr dirty="0" sz="2600">
                <a:solidFill>
                  <a:srgbClr val="4E3629"/>
                </a:solidFill>
                <a:latin typeface="Calibri"/>
                <a:cs typeface="Calibri"/>
              </a:rPr>
              <a:t>2:</a:t>
            </a:r>
            <a:r>
              <a:rPr dirty="0" sz="2600" spc="-35">
                <a:solidFill>
                  <a:srgbClr val="4E3629"/>
                </a:solidFill>
                <a:latin typeface="Calibri"/>
                <a:cs typeface="Calibri"/>
              </a:rPr>
              <a:t> </a:t>
            </a:r>
            <a:r>
              <a:rPr dirty="0" sz="2600">
                <a:solidFill>
                  <a:srgbClr val="4E3629"/>
                </a:solidFill>
                <a:latin typeface="Calibri"/>
                <a:cs typeface="Calibri"/>
              </a:rPr>
              <a:t>Se</a:t>
            </a:r>
            <a:r>
              <a:rPr dirty="0" sz="2600" spc="-50">
                <a:solidFill>
                  <a:srgbClr val="4E3629"/>
                </a:solidFill>
                <a:latin typeface="Calibri"/>
                <a:cs typeface="Calibri"/>
              </a:rPr>
              <a:t> </a:t>
            </a:r>
            <a:r>
              <a:rPr dirty="0" sz="2600" spc="-10">
                <a:solidFill>
                  <a:srgbClr val="4E3629"/>
                </a:solidFill>
                <a:latin typeface="Calibri"/>
                <a:cs typeface="Calibri"/>
              </a:rPr>
              <a:t>identificará</a:t>
            </a:r>
            <a:r>
              <a:rPr dirty="0" sz="2600" spc="-70">
                <a:solidFill>
                  <a:srgbClr val="4E3629"/>
                </a:solidFill>
                <a:latin typeface="Calibri"/>
                <a:cs typeface="Calibri"/>
              </a:rPr>
              <a:t> </a:t>
            </a:r>
            <a:r>
              <a:rPr dirty="0" sz="2600">
                <a:solidFill>
                  <a:srgbClr val="4E3629"/>
                </a:solidFill>
                <a:latin typeface="Calibri"/>
                <a:cs typeface="Calibri"/>
              </a:rPr>
              <a:t>el</a:t>
            </a:r>
            <a:r>
              <a:rPr dirty="0" sz="2600" spc="-35">
                <a:solidFill>
                  <a:srgbClr val="4E3629"/>
                </a:solidFill>
                <a:latin typeface="Calibri"/>
                <a:cs typeface="Calibri"/>
              </a:rPr>
              <a:t> </a:t>
            </a:r>
            <a:r>
              <a:rPr dirty="0" sz="2600">
                <a:solidFill>
                  <a:srgbClr val="4E3629"/>
                </a:solidFill>
                <a:latin typeface="Calibri"/>
                <a:cs typeface="Calibri"/>
              </a:rPr>
              <a:t>primer</a:t>
            </a:r>
            <a:r>
              <a:rPr dirty="0" sz="2600" spc="-45">
                <a:solidFill>
                  <a:srgbClr val="4E3629"/>
                </a:solidFill>
                <a:latin typeface="Calibri"/>
                <a:cs typeface="Calibri"/>
              </a:rPr>
              <a:t> </a:t>
            </a:r>
            <a:r>
              <a:rPr dirty="0" sz="2600">
                <a:solidFill>
                  <a:srgbClr val="4E3629"/>
                </a:solidFill>
                <a:latin typeface="Calibri"/>
                <a:cs typeface="Calibri"/>
              </a:rPr>
              <a:t>viernes</a:t>
            </a:r>
            <a:r>
              <a:rPr dirty="0" sz="2600" spc="-65">
                <a:solidFill>
                  <a:srgbClr val="4E3629"/>
                </a:solidFill>
                <a:latin typeface="Calibri"/>
                <a:cs typeface="Calibri"/>
              </a:rPr>
              <a:t> </a:t>
            </a:r>
            <a:r>
              <a:rPr dirty="0" sz="2600">
                <a:solidFill>
                  <a:srgbClr val="4E3629"/>
                </a:solidFill>
                <a:latin typeface="Calibri"/>
                <a:cs typeface="Calibri"/>
              </a:rPr>
              <a:t>siguiente</a:t>
            </a:r>
            <a:r>
              <a:rPr dirty="0" sz="2600" spc="-65">
                <a:solidFill>
                  <a:srgbClr val="4E3629"/>
                </a:solidFill>
                <a:latin typeface="Calibri"/>
                <a:cs typeface="Calibri"/>
              </a:rPr>
              <a:t> </a:t>
            </a:r>
            <a:r>
              <a:rPr dirty="0" sz="2600">
                <a:solidFill>
                  <a:srgbClr val="4E3629"/>
                </a:solidFill>
                <a:latin typeface="Calibri"/>
                <a:cs typeface="Calibri"/>
              </a:rPr>
              <a:t>al</a:t>
            </a:r>
            <a:r>
              <a:rPr dirty="0" sz="2600" spc="-35">
                <a:solidFill>
                  <a:srgbClr val="4E3629"/>
                </a:solidFill>
                <a:latin typeface="Calibri"/>
                <a:cs typeface="Calibri"/>
              </a:rPr>
              <a:t> </a:t>
            </a:r>
            <a:r>
              <a:rPr dirty="0" sz="2600" spc="-25">
                <a:solidFill>
                  <a:srgbClr val="4E3629"/>
                </a:solidFill>
                <a:latin typeface="Calibri"/>
                <a:cs typeface="Calibri"/>
              </a:rPr>
              <a:t>día </a:t>
            </a:r>
            <a:r>
              <a:rPr dirty="0" sz="2600">
                <a:solidFill>
                  <a:srgbClr val="4E3629"/>
                </a:solidFill>
                <a:latin typeface="Calibri"/>
                <a:cs typeface="Calibri"/>
              </a:rPr>
              <a:t>devuelto</a:t>
            </a:r>
            <a:r>
              <a:rPr dirty="0" sz="2600" spc="-60">
                <a:solidFill>
                  <a:srgbClr val="4E3629"/>
                </a:solidFill>
                <a:latin typeface="Calibri"/>
                <a:cs typeface="Calibri"/>
              </a:rPr>
              <a:t> </a:t>
            </a:r>
            <a:r>
              <a:rPr dirty="0" sz="2600">
                <a:solidFill>
                  <a:srgbClr val="4E3629"/>
                </a:solidFill>
                <a:latin typeface="Calibri"/>
                <a:cs typeface="Calibri"/>
              </a:rPr>
              <a:t>en</a:t>
            </a:r>
            <a:r>
              <a:rPr dirty="0" sz="2600" spc="-40">
                <a:solidFill>
                  <a:srgbClr val="4E3629"/>
                </a:solidFill>
                <a:latin typeface="Calibri"/>
                <a:cs typeface="Calibri"/>
              </a:rPr>
              <a:t> </a:t>
            </a: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paso</a:t>
            </a:r>
            <a:r>
              <a:rPr dirty="0" sz="2600" spc="-35">
                <a:solidFill>
                  <a:srgbClr val="4E3629"/>
                </a:solidFill>
                <a:latin typeface="Calibri"/>
                <a:cs typeface="Calibri"/>
              </a:rPr>
              <a:t> </a:t>
            </a:r>
            <a:r>
              <a:rPr dirty="0" sz="2600" spc="-50">
                <a:solidFill>
                  <a:srgbClr val="4E3629"/>
                </a:solidFill>
                <a:latin typeface="Calibri"/>
                <a:cs typeface="Calibri"/>
              </a:rPr>
              <a:t>1</a:t>
            </a:r>
            <a:endParaRPr sz="2600">
              <a:latin typeface="Calibri"/>
              <a:cs typeface="Calibri"/>
            </a:endParaRPr>
          </a:p>
          <a:p>
            <a:pPr marL="184785" marR="5080"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Paso</a:t>
            </a:r>
            <a:r>
              <a:rPr dirty="0" sz="2600" spc="-50">
                <a:solidFill>
                  <a:srgbClr val="4E3629"/>
                </a:solidFill>
                <a:latin typeface="Calibri"/>
                <a:cs typeface="Calibri"/>
              </a:rPr>
              <a:t> </a:t>
            </a:r>
            <a:r>
              <a:rPr dirty="0" sz="2600">
                <a:solidFill>
                  <a:srgbClr val="4E3629"/>
                </a:solidFill>
                <a:latin typeface="Calibri"/>
                <a:cs typeface="Calibri"/>
              </a:rPr>
              <a:t>3:</a:t>
            </a:r>
            <a:r>
              <a:rPr dirty="0" sz="2600" spc="-40">
                <a:solidFill>
                  <a:srgbClr val="4E3629"/>
                </a:solidFill>
                <a:latin typeface="Calibri"/>
                <a:cs typeface="Calibri"/>
              </a:rPr>
              <a:t> </a:t>
            </a:r>
            <a:r>
              <a:rPr dirty="0" sz="2600">
                <a:solidFill>
                  <a:srgbClr val="4E3629"/>
                </a:solidFill>
                <a:latin typeface="Calibri"/>
                <a:cs typeface="Calibri"/>
              </a:rPr>
              <a:t>Al</a:t>
            </a:r>
            <a:r>
              <a:rPr dirty="0" sz="2600" spc="-60">
                <a:solidFill>
                  <a:srgbClr val="4E3629"/>
                </a:solidFill>
                <a:latin typeface="Calibri"/>
                <a:cs typeface="Calibri"/>
              </a:rPr>
              <a:t> </a:t>
            </a:r>
            <a:r>
              <a:rPr dirty="0" sz="2600" spc="-10">
                <a:solidFill>
                  <a:srgbClr val="4E3629"/>
                </a:solidFill>
                <a:latin typeface="Calibri"/>
                <a:cs typeface="Calibri"/>
              </a:rPr>
              <a:t>formato</a:t>
            </a:r>
            <a:r>
              <a:rPr dirty="0" sz="2600" spc="-25">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fecha</a:t>
            </a:r>
            <a:r>
              <a:rPr dirty="0" sz="2600" spc="-60">
                <a:solidFill>
                  <a:srgbClr val="4E3629"/>
                </a:solidFill>
                <a:latin typeface="Calibri"/>
                <a:cs typeface="Calibri"/>
              </a:rPr>
              <a:t> </a:t>
            </a:r>
            <a:r>
              <a:rPr dirty="0" sz="2600">
                <a:solidFill>
                  <a:srgbClr val="4E3629"/>
                </a:solidFill>
                <a:latin typeface="Calibri"/>
                <a:cs typeface="Calibri"/>
              </a:rPr>
              <a:t>por</a:t>
            </a:r>
            <a:r>
              <a:rPr dirty="0" sz="2600" spc="-40">
                <a:solidFill>
                  <a:srgbClr val="4E3629"/>
                </a:solidFill>
                <a:latin typeface="Calibri"/>
                <a:cs typeface="Calibri"/>
              </a:rPr>
              <a:t> </a:t>
            </a:r>
            <a:r>
              <a:rPr dirty="0" sz="2600" spc="-10">
                <a:solidFill>
                  <a:srgbClr val="4E3629"/>
                </a:solidFill>
                <a:latin typeface="Calibri"/>
                <a:cs typeface="Calibri"/>
              </a:rPr>
              <a:t>defecto</a:t>
            </a:r>
            <a:r>
              <a:rPr dirty="0" sz="2600" spc="-65">
                <a:solidFill>
                  <a:srgbClr val="4E3629"/>
                </a:solidFill>
                <a:latin typeface="Calibri"/>
                <a:cs typeface="Calibri"/>
              </a:rPr>
              <a:t> </a:t>
            </a:r>
            <a:r>
              <a:rPr dirty="0" sz="2600">
                <a:solidFill>
                  <a:srgbClr val="4E3629"/>
                </a:solidFill>
                <a:latin typeface="Calibri"/>
                <a:cs typeface="Calibri"/>
              </a:rPr>
              <a:t>se</a:t>
            </a:r>
            <a:r>
              <a:rPr dirty="0" sz="2600" spc="-50">
                <a:solidFill>
                  <a:srgbClr val="4E3629"/>
                </a:solidFill>
                <a:latin typeface="Calibri"/>
                <a:cs typeface="Calibri"/>
              </a:rPr>
              <a:t> </a:t>
            </a:r>
            <a:r>
              <a:rPr dirty="0" sz="2600">
                <a:solidFill>
                  <a:srgbClr val="4E3629"/>
                </a:solidFill>
                <a:latin typeface="Calibri"/>
                <a:cs typeface="Calibri"/>
              </a:rPr>
              <a:t>le</a:t>
            </a:r>
            <a:r>
              <a:rPr dirty="0" sz="2600" spc="-55">
                <a:solidFill>
                  <a:srgbClr val="4E3629"/>
                </a:solidFill>
                <a:latin typeface="Calibri"/>
                <a:cs typeface="Calibri"/>
              </a:rPr>
              <a:t> </a:t>
            </a:r>
            <a:r>
              <a:rPr dirty="0" sz="2600" spc="-10">
                <a:solidFill>
                  <a:srgbClr val="4E3629"/>
                </a:solidFill>
                <a:latin typeface="Calibri"/>
                <a:cs typeface="Calibri"/>
              </a:rPr>
              <a:t>aplicará formato</a:t>
            </a:r>
            <a:r>
              <a:rPr dirty="0" sz="2600" spc="-50">
                <a:solidFill>
                  <a:srgbClr val="4E3629"/>
                </a:solidFill>
                <a:latin typeface="Calibri"/>
                <a:cs typeface="Calibri"/>
              </a:rPr>
              <a:t> </a:t>
            </a:r>
            <a:r>
              <a:rPr dirty="0" sz="2600">
                <a:solidFill>
                  <a:srgbClr val="4E3629"/>
                </a:solidFill>
                <a:latin typeface="Calibri"/>
                <a:cs typeface="Calibri"/>
              </a:rPr>
              <a:t>para</a:t>
            </a:r>
            <a:r>
              <a:rPr dirty="0" sz="2600" spc="-55">
                <a:solidFill>
                  <a:srgbClr val="4E3629"/>
                </a:solidFill>
                <a:latin typeface="Calibri"/>
                <a:cs typeface="Calibri"/>
              </a:rPr>
              <a:t> </a:t>
            </a:r>
            <a:r>
              <a:rPr dirty="0" sz="2600">
                <a:solidFill>
                  <a:srgbClr val="4E3629"/>
                </a:solidFill>
                <a:latin typeface="Calibri"/>
                <a:cs typeface="Calibri"/>
              </a:rPr>
              <a:t>que</a:t>
            </a:r>
            <a:r>
              <a:rPr dirty="0" sz="2600" spc="-75">
                <a:solidFill>
                  <a:srgbClr val="4E3629"/>
                </a:solidFill>
                <a:latin typeface="Calibri"/>
                <a:cs typeface="Calibri"/>
              </a:rPr>
              <a:t> </a:t>
            </a:r>
            <a:r>
              <a:rPr dirty="0" sz="2600">
                <a:solidFill>
                  <a:srgbClr val="4E3629"/>
                </a:solidFill>
                <a:latin typeface="Calibri"/>
                <a:cs typeface="Calibri"/>
              </a:rPr>
              <a:t>muestre</a:t>
            </a:r>
            <a:r>
              <a:rPr dirty="0" sz="2600" spc="-85">
                <a:solidFill>
                  <a:srgbClr val="4E3629"/>
                </a:solidFill>
                <a:latin typeface="Calibri"/>
                <a:cs typeface="Calibri"/>
              </a:rPr>
              <a:t> </a:t>
            </a:r>
            <a:r>
              <a:rPr dirty="0" sz="2600">
                <a:solidFill>
                  <a:srgbClr val="4E3629"/>
                </a:solidFill>
                <a:latin typeface="Calibri"/>
                <a:cs typeface="Calibri"/>
              </a:rPr>
              <a:t>la</a:t>
            </a:r>
            <a:r>
              <a:rPr dirty="0" sz="2600" spc="-55">
                <a:solidFill>
                  <a:srgbClr val="4E3629"/>
                </a:solidFill>
                <a:latin typeface="Calibri"/>
                <a:cs typeface="Calibri"/>
              </a:rPr>
              <a:t> </a:t>
            </a:r>
            <a:r>
              <a:rPr dirty="0" sz="2600">
                <a:solidFill>
                  <a:srgbClr val="4E3629"/>
                </a:solidFill>
                <a:latin typeface="Calibri"/>
                <a:cs typeface="Calibri"/>
              </a:rPr>
              <a:t>fecha</a:t>
            </a:r>
            <a:r>
              <a:rPr dirty="0" sz="2600" spc="-75">
                <a:solidFill>
                  <a:srgbClr val="4E3629"/>
                </a:solidFill>
                <a:latin typeface="Calibri"/>
                <a:cs typeface="Calibri"/>
              </a:rPr>
              <a:t> </a:t>
            </a:r>
            <a:r>
              <a:rPr dirty="0" sz="2600">
                <a:solidFill>
                  <a:srgbClr val="4E3629"/>
                </a:solidFill>
                <a:latin typeface="Calibri"/>
                <a:cs typeface="Calibri"/>
              </a:rPr>
              <a:t>devuelta</a:t>
            </a:r>
            <a:r>
              <a:rPr dirty="0" sz="2600" spc="-80">
                <a:solidFill>
                  <a:srgbClr val="4E3629"/>
                </a:solidFill>
                <a:latin typeface="Calibri"/>
                <a:cs typeface="Calibri"/>
              </a:rPr>
              <a:t> </a:t>
            </a:r>
            <a:r>
              <a:rPr dirty="0" sz="2600">
                <a:solidFill>
                  <a:srgbClr val="4E3629"/>
                </a:solidFill>
                <a:latin typeface="Calibri"/>
                <a:cs typeface="Calibri"/>
              </a:rPr>
              <a:t>por</a:t>
            </a:r>
            <a:r>
              <a:rPr dirty="0" sz="2600" spc="-55">
                <a:solidFill>
                  <a:srgbClr val="4E3629"/>
                </a:solidFill>
                <a:latin typeface="Calibri"/>
                <a:cs typeface="Calibri"/>
              </a:rPr>
              <a:t> </a:t>
            </a:r>
            <a:r>
              <a:rPr dirty="0" sz="2600">
                <a:solidFill>
                  <a:srgbClr val="4E3629"/>
                </a:solidFill>
                <a:latin typeface="Calibri"/>
                <a:cs typeface="Calibri"/>
              </a:rPr>
              <a:t>el</a:t>
            </a:r>
            <a:r>
              <a:rPr dirty="0" sz="2600" spc="-60">
                <a:solidFill>
                  <a:srgbClr val="4E3629"/>
                </a:solidFill>
                <a:latin typeface="Calibri"/>
                <a:cs typeface="Calibri"/>
              </a:rPr>
              <a:t> </a:t>
            </a:r>
            <a:r>
              <a:rPr dirty="0" sz="2600">
                <a:solidFill>
                  <a:srgbClr val="4E3629"/>
                </a:solidFill>
                <a:latin typeface="Calibri"/>
                <a:cs typeface="Calibri"/>
              </a:rPr>
              <a:t>paso</a:t>
            </a:r>
            <a:r>
              <a:rPr dirty="0" sz="2600" spc="-60">
                <a:solidFill>
                  <a:srgbClr val="4E3629"/>
                </a:solidFill>
                <a:latin typeface="Calibri"/>
                <a:cs typeface="Calibri"/>
              </a:rPr>
              <a:t> </a:t>
            </a:r>
            <a:r>
              <a:rPr dirty="0" sz="2600" spc="-50">
                <a:solidFill>
                  <a:srgbClr val="4E3629"/>
                </a:solidFill>
                <a:latin typeface="Calibri"/>
                <a:cs typeface="Calibri"/>
              </a:rPr>
              <a:t>2 </a:t>
            </a:r>
            <a:r>
              <a:rPr dirty="0" sz="2600">
                <a:solidFill>
                  <a:srgbClr val="4E3629"/>
                </a:solidFill>
                <a:latin typeface="Calibri"/>
                <a:cs typeface="Calibri"/>
              </a:rPr>
              <a:t>en</a:t>
            </a:r>
            <a:r>
              <a:rPr dirty="0" sz="2600" spc="-45">
                <a:solidFill>
                  <a:srgbClr val="4E3629"/>
                </a:solidFill>
                <a:latin typeface="Calibri"/>
                <a:cs typeface="Calibri"/>
              </a:rPr>
              <a:t> </a:t>
            </a:r>
            <a:r>
              <a:rPr dirty="0" sz="2600">
                <a:solidFill>
                  <a:srgbClr val="4E3629"/>
                </a:solidFill>
                <a:latin typeface="Calibri"/>
                <a:cs typeface="Calibri"/>
              </a:rPr>
              <a:t>un</a:t>
            </a:r>
            <a:r>
              <a:rPr dirty="0" sz="2600" spc="-40">
                <a:solidFill>
                  <a:srgbClr val="4E3629"/>
                </a:solidFill>
                <a:latin typeface="Calibri"/>
                <a:cs typeface="Calibri"/>
              </a:rPr>
              <a:t> </a:t>
            </a:r>
            <a:r>
              <a:rPr dirty="0" sz="2600" spc="-10">
                <a:solidFill>
                  <a:srgbClr val="4E3629"/>
                </a:solidFill>
                <a:latin typeface="Calibri"/>
                <a:cs typeface="Calibri"/>
              </a:rPr>
              <a:t>formato</a:t>
            </a:r>
            <a:r>
              <a:rPr dirty="0" sz="2600" spc="-25">
                <a:solidFill>
                  <a:srgbClr val="4E3629"/>
                </a:solidFill>
                <a:latin typeface="Calibri"/>
                <a:cs typeface="Calibri"/>
              </a:rPr>
              <a:t> </a:t>
            </a:r>
            <a:r>
              <a:rPr dirty="0" sz="2600">
                <a:solidFill>
                  <a:srgbClr val="4E3629"/>
                </a:solidFill>
                <a:latin typeface="Calibri"/>
                <a:cs typeface="Calibri"/>
              </a:rPr>
              <a:t>similar</a:t>
            </a:r>
            <a:r>
              <a:rPr dirty="0" sz="2600" spc="-35">
                <a:solidFill>
                  <a:srgbClr val="4E3629"/>
                </a:solidFill>
                <a:latin typeface="Calibri"/>
                <a:cs typeface="Calibri"/>
              </a:rPr>
              <a:t> </a:t>
            </a:r>
            <a:r>
              <a:rPr dirty="0" sz="2600">
                <a:solidFill>
                  <a:srgbClr val="4E3629"/>
                </a:solidFill>
                <a:latin typeface="Calibri"/>
                <a:cs typeface="Calibri"/>
              </a:rPr>
              <a:t>a:</a:t>
            </a:r>
            <a:r>
              <a:rPr dirty="0" sz="2600" spc="-15">
                <a:solidFill>
                  <a:srgbClr val="4E3629"/>
                </a:solidFill>
                <a:latin typeface="Calibri"/>
                <a:cs typeface="Calibri"/>
              </a:rPr>
              <a:t> </a:t>
            </a:r>
            <a:r>
              <a:rPr dirty="0" sz="2600">
                <a:solidFill>
                  <a:srgbClr val="4E3629"/>
                </a:solidFill>
                <a:latin typeface="Calibri"/>
                <a:cs typeface="Calibri"/>
              </a:rPr>
              <a:t>Viernes,</a:t>
            </a:r>
            <a:r>
              <a:rPr dirty="0" sz="2600" spc="-65">
                <a:solidFill>
                  <a:srgbClr val="4E3629"/>
                </a:solidFill>
                <a:latin typeface="Calibri"/>
                <a:cs typeface="Calibri"/>
              </a:rPr>
              <a:t> </a:t>
            </a:r>
            <a:r>
              <a:rPr dirty="0" sz="2600">
                <a:solidFill>
                  <a:srgbClr val="4E3629"/>
                </a:solidFill>
                <a:latin typeface="Calibri"/>
                <a:cs typeface="Calibri"/>
              </a:rPr>
              <a:t>18</a:t>
            </a:r>
            <a:r>
              <a:rPr dirty="0" sz="2600" spc="-45">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a:solidFill>
                  <a:srgbClr val="4E3629"/>
                </a:solidFill>
                <a:latin typeface="Calibri"/>
                <a:cs typeface="Calibri"/>
              </a:rPr>
              <a:t>diciembre</a:t>
            </a:r>
            <a:r>
              <a:rPr dirty="0" sz="2600" spc="-60">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spc="-10">
                <a:solidFill>
                  <a:srgbClr val="4E3629"/>
                </a:solidFill>
                <a:latin typeface="Calibri"/>
                <a:cs typeface="Calibri"/>
              </a:rPr>
              <a:t>1987, </a:t>
            </a:r>
            <a:r>
              <a:rPr dirty="0" sz="2600">
                <a:solidFill>
                  <a:srgbClr val="4E3629"/>
                </a:solidFill>
                <a:latin typeface="Calibri"/>
                <a:cs typeface="Calibri"/>
              </a:rPr>
              <a:t>y</a:t>
            </a:r>
            <a:r>
              <a:rPr dirty="0" sz="2600" spc="-30">
                <a:solidFill>
                  <a:srgbClr val="4E3629"/>
                </a:solidFill>
                <a:latin typeface="Calibri"/>
                <a:cs typeface="Calibri"/>
              </a:rPr>
              <a:t> </a:t>
            </a:r>
            <a:r>
              <a:rPr dirty="0" sz="2600" spc="-10">
                <a:solidFill>
                  <a:srgbClr val="4E3629"/>
                </a:solidFill>
                <a:latin typeface="Calibri"/>
                <a:cs typeface="Calibri"/>
              </a:rPr>
              <a:t>aparecerá</a:t>
            </a:r>
            <a:r>
              <a:rPr dirty="0" sz="2600" spc="-45">
                <a:solidFill>
                  <a:srgbClr val="4E3629"/>
                </a:solidFill>
                <a:latin typeface="Calibri"/>
                <a:cs typeface="Calibri"/>
              </a:rPr>
              <a:t> </a:t>
            </a:r>
            <a:r>
              <a:rPr dirty="0" sz="2600">
                <a:solidFill>
                  <a:srgbClr val="4E3629"/>
                </a:solidFill>
                <a:latin typeface="Calibri"/>
                <a:cs typeface="Calibri"/>
              </a:rPr>
              <a:t>en</a:t>
            </a:r>
            <a:r>
              <a:rPr dirty="0" sz="2600" spc="-35">
                <a:solidFill>
                  <a:srgbClr val="4E3629"/>
                </a:solidFill>
                <a:latin typeface="Calibri"/>
                <a:cs typeface="Calibri"/>
              </a:rPr>
              <a:t> </a:t>
            </a:r>
            <a:r>
              <a:rPr dirty="0" sz="2600">
                <a:solidFill>
                  <a:srgbClr val="4E3629"/>
                </a:solidFill>
                <a:latin typeface="Calibri"/>
                <a:cs typeface="Calibri"/>
              </a:rPr>
              <a:t>la</a:t>
            </a:r>
            <a:r>
              <a:rPr dirty="0" sz="2600" spc="-20">
                <a:solidFill>
                  <a:srgbClr val="4E3629"/>
                </a:solidFill>
                <a:latin typeface="Calibri"/>
                <a:cs typeface="Calibri"/>
              </a:rPr>
              <a:t> </a:t>
            </a:r>
            <a:r>
              <a:rPr dirty="0" sz="2600">
                <a:solidFill>
                  <a:srgbClr val="4E3629"/>
                </a:solidFill>
                <a:latin typeface="Calibri"/>
                <a:cs typeface="Calibri"/>
              </a:rPr>
              <a:t>salida</a:t>
            </a:r>
            <a:r>
              <a:rPr dirty="0" sz="2600" spc="-35">
                <a:solidFill>
                  <a:srgbClr val="4E3629"/>
                </a:solidFill>
                <a:latin typeface="Calibri"/>
                <a:cs typeface="Calibri"/>
              </a:rPr>
              <a:t> </a:t>
            </a:r>
            <a:r>
              <a:rPr dirty="0" sz="2600">
                <a:solidFill>
                  <a:srgbClr val="4E3629"/>
                </a:solidFill>
                <a:latin typeface="Calibri"/>
                <a:cs typeface="Calibri"/>
              </a:rPr>
              <a:t>bajo</a:t>
            </a:r>
            <a:r>
              <a:rPr dirty="0" sz="2600" spc="-25">
                <a:solidFill>
                  <a:srgbClr val="4E3629"/>
                </a:solidFill>
                <a:latin typeface="Calibri"/>
                <a:cs typeface="Calibri"/>
              </a:rPr>
              <a:t> </a:t>
            </a:r>
            <a:r>
              <a:rPr dirty="0" sz="2600">
                <a:solidFill>
                  <a:srgbClr val="4E3629"/>
                </a:solidFill>
                <a:latin typeface="Calibri"/>
                <a:cs typeface="Calibri"/>
              </a:rPr>
              <a:t>el</a:t>
            </a:r>
            <a:r>
              <a:rPr dirty="0" sz="2600" spc="-20">
                <a:solidFill>
                  <a:srgbClr val="4E3629"/>
                </a:solidFill>
                <a:latin typeface="Calibri"/>
                <a:cs typeface="Calibri"/>
              </a:rPr>
              <a:t> </a:t>
            </a:r>
            <a:r>
              <a:rPr dirty="0" sz="2600">
                <a:solidFill>
                  <a:srgbClr val="4E3629"/>
                </a:solidFill>
                <a:latin typeface="Calibri"/>
                <a:cs typeface="Calibri"/>
              </a:rPr>
              <a:t>nombre</a:t>
            </a:r>
            <a:r>
              <a:rPr dirty="0" sz="2600" spc="-35">
                <a:solidFill>
                  <a:srgbClr val="4E3629"/>
                </a:solidFill>
                <a:latin typeface="Calibri"/>
                <a:cs typeface="Calibri"/>
              </a:rPr>
              <a:t> </a:t>
            </a:r>
            <a:r>
              <a:rPr dirty="0" sz="2600">
                <a:solidFill>
                  <a:srgbClr val="4E3629"/>
                </a:solidFill>
                <a:latin typeface="Calibri"/>
                <a:cs typeface="Calibri"/>
              </a:rPr>
              <a:t>de</a:t>
            </a:r>
            <a:r>
              <a:rPr dirty="0" sz="2600" spc="-45">
                <a:solidFill>
                  <a:srgbClr val="4E3629"/>
                </a:solidFill>
                <a:latin typeface="Calibri"/>
                <a:cs typeface="Calibri"/>
              </a:rPr>
              <a:t> </a:t>
            </a:r>
            <a:r>
              <a:rPr dirty="0" sz="2600">
                <a:solidFill>
                  <a:srgbClr val="4E3629"/>
                </a:solidFill>
                <a:latin typeface="Calibri"/>
                <a:cs typeface="Calibri"/>
              </a:rPr>
              <a:t>la</a:t>
            </a:r>
            <a:r>
              <a:rPr dirty="0" sz="2600" spc="-15">
                <a:solidFill>
                  <a:srgbClr val="4E3629"/>
                </a:solidFill>
                <a:latin typeface="Calibri"/>
                <a:cs typeface="Calibri"/>
              </a:rPr>
              <a:t> </a:t>
            </a:r>
            <a:r>
              <a:rPr dirty="0" sz="2600" spc="-10">
                <a:solidFill>
                  <a:srgbClr val="4E3629"/>
                </a:solidFill>
                <a:latin typeface="Calibri"/>
                <a:cs typeface="Calibri"/>
              </a:rPr>
              <a:t>columna </a:t>
            </a:r>
            <a:r>
              <a:rPr dirty="0" sz="2600">
                <a:solidFill>
                  <a:srgbClr val="4E3629"/>
                </a:solidFill>
                <a:latin typeface="Calibri"/>
                <a:cs typeface="Calibri"/>
              </a:rPr>
              <a:t>"Next</a:t>
            </a:r>
            <a:r>
              <a:rPr dirty="0" sz="2600" spc="-80">
                <a:solidFill>
                  <a:srgbClr val="4E3629"/>
                </a:solidFill>
                <a:latin typeface="Calibri"/>
                <a:cs typeface="Calibri"/>
              </a:rPr>
              <a:t> </a:t>
            </a:r>
            <a:r>
              <a:rPr dirty="0" sz="2600" spc="-10">
                <a:solidFill>
                  <a:srgbClr val="4E3629"/>
                </a:solidFill>
                <a:latin typeface="Calibri"/>
                <a:cs typeface="Calibri"/>
              </a:rPr>
              <a:t>Evaluation"</a:t>
            </a:r>
            <a:endParaRPr sz="2600">
              <a:latin typeface="Calibri"/>
              <a:cs typeface="Calibri"/>
            </a:endParaRPr>
          </a:p>
        </p:txBody>
      </p:sp>
      <p:sp>
        <p:nvSpPr>
          <p:cNvPr id="4" name="object 4" descr=""/>
          <p:cNvSpPr txBox="1"/>
          <p:nvPr/>
        </p:nvSpPr>
        <p:spPr>
          <a:xfrm>
            <a:off x="405384" y="1336547"/>
            <a:ext cx="8345805" cy="1196340"/>
          </a:xfrm>
          <a:prstGeom prst="rect">
            <a:avLst/>
          </a:prstGeom>
          <a:solidFill>
            <a:srgbClr val="9DBEC4">
              <a:alpha val="50199"/>
            </a:srgbClr>
          </a:solidFill>
        </p:spPr>
        <p:txBody>
          <a:bodyPr wrap="square" lIns="0" tIns="21590" rIns="0" bIns="0" rtlCol="0" vert="horz">
            <a:spAutoFit/>
          </a:bodyPr>
          <a:lstStyle/>
          <a:p>
            <a:pPr marL="102870">
              <a:lnSpc>
                <a:spcPct val="100000"/>
              </a:lnSpc>
              <a:spcBef>
                <a:spcPts val="170"/>
              </a:spcBef>
            </a:pPr>
            <a:r>
              <a:rPr dirty="0" sz="1800" b="1">
                <a:solidFill>
                  <a:srgbClr val="4E3629"/>
                </a:solidFill>
                <a:latin typeface="Courier New"/>
                <a:cs typeface="Courier New"/>
              </a:rPr>
              <a:t>SELECT</a:t>
            </a:r>
            <a:r>
              <a:rPr dirty="0" sz="1800" spc="-20" b="1">
                <a:solidFill>
                  <a:srgbClr val="4E3629"/>
                </a:solidFill>
                <a:latin typeface="Courier New"/>
                <a:cs typeface="Courier New"/>
              </a:rPr>
              <a:t> </a:t>
            </a:r>
            <a:r>
              <a:rPr dirty="0" sz="1800" spc="-10" b="1">
                <a:solidFill>
                  <a:srgbClr val="00B050"/>
                </a:solidFill>
                <a:latin typeface="Courier New"/>
                <a:cs typeface="Courier New"/>
              </a:rPr>
              <a:t>TO_CHAR(</a:t>
            </a:r>
            <a:r>
              <a:rPr dirty="0" sz="1800" spc="-10" b="1">
                <a:solidFill>
                  <a:srgbClr val="00B0F0"/>
                </a:solidFill>
                <a:latin typeface="Courier New"/>
                <a:cs typeface="Courier New"/>
              </a:rPr>
              <a:t>NEXT_DAY(</a:t>
            </a:r>
            <a:r>
              <a:rPr dirty="0" sz="1800" spc="-10" b="1">
                <a:solidFill>
                  <a:srgbClr val="D1350F"/>
                </a:solidFill>
                <a:latin typeface="Courier New"/>
                <a:cs typeface="Courier New"/>
              </a:rPr>
              <a:t>ADD_MONTHS(</a:t>
            </a:r>
            <a:r>
              <a:rPr dirty="0" sz="1800" spc="-10" b="1">
                <a:solidFill>
                  <a:srgbClr val="4E3629"/>
                </a:solidFill>
                <a:latin typeface="Courier New"/>
                <a:cs typeface="Courier New"/>
              </a:rPr>
              <a:t>hire_date,</a:t>
            </a:r>
            <a:r>
              <a:rPr dirty="0" sz="1800" spc="-15" b="1">
                <a:solidFill>
                  <a:srgbClr val="4E3629"/>
                </a:solidFill>
                <a:latin typeface="Courier New"/>
                <a:cs typeface="Courier New"/>
              </a:rPr>
              <a:t> </a:t>
            </a:r>
            <a:r>
              <a:rPr dirty="0" sz="1800" b="1">
                <a:solidFill>
                  <a:srgbClr val="4E3629"/>
                </a:solidFill>
                <a:latin typeface="Courier New"/>
                <a:cs typeface="Courier New"/>
              </a:rPr>
              <a:t>6</a:t>
            </a:r>
            <a:r>
              <a:rPr dirty="0" sz="1800" b="1">
                <a:solidFill>
                  <a:srgbClr val="D1350F"/>
                </a:solidFill>
                <a:latin typeface="Courier New"/>
                <a:cs typeface="Courier New"/>
              </a:rPr>
              <a:t>)</a:t>
            </a:r>
            <a:r>
              <a:rPr dirty="0" sz="1800" b="1">
                <a:solidFill>
                  <a:srgbClr val="4E3629"/>
                </a:solidFill>
                <a:latin typeface="Courier New"/>
                <a:cs typeface="Courier New"/>
              </a:rPr>
              <a:t>,</a:t>
            </a:r>
            <a:r>
              <a:rPr dirty="0" sz="1800" spc="-20" b="1">
                <a:solidFill>
                  <a:srgbClr val="4E3629"/>
                </a:solidFill>
                <a:latin typeface="Courier New"/>
                <a:cs typeface="Courier New"/>
              </a:rPr>
              <a:t> </a:t>
            </a:r>
            <a:r>
              <a:rPr dirty="0" sz="1800" spc="-10" b="1">
                <a:solidFill>
                  <a:srgbClr val="4E3629"/>
                </a:solidFill>
                <a:latin typeface="Courier New"/>
                <a:cs typeface="Courier New"/>
              </a:rPr>
              <a:t>'FRIDAY’</a:t>
            </a:r>
            <a:r>
              <a:rPr dirty="0" sz="1800" spc="-10" b="1">
                <a:solidFill>
                  <a:srgbClr val="00B0F0"/>
                </a:solidFill>
                <a:latin typeface="Courier New"/>
                <a:cs typeface="Courier New"/>
              </a:rPr>
              <a:t>)</a:t>
            </a:r>
            <a:r>
              <a:rPr dirty="0" sz="1800" spc="-10" b="1">
                <a:solidFill>
                  <a:srgbClr val="4E3629"/>
                </a:solidFill>
                <a:latin typeface="Courier New"/>
                <a:cs typeface="Courier New"/>
              </a:rPr>
              <a:t>,</a:t>
            </a:r>
            <a:endParaRPr sz="1800">
              <a:latin typeface="Courier New"/>
              <a:cs typeface="Courier New"/>
            </a:endParaRPr>
          </a:p>
          <a:p>
            <a:pPr marL="102870" marR="1582420" indent="235585">
              <a:lnSpc>
                <a:spcPct val="100000"/>
              </a:lnSpc>
            </a:pPr>
            <a:r>
              <a:rPr dirty="0" sz="1800" b="1">
                <a:solidFill>
                  <a:srgbClr val="4E3629"/>
                </a:solidFill>
                <a:latin typeface="Courier New"/>
                <a:cs typeface="Courier New"/>
              </a:rPr>
              <a:t>'fmDay,</a:t>
            </a:r>
            <a:r>
              <a:rPr dirty="0" sz="1800" spc="-65" b="1">
                <a:solidFill>
                  <a:srgbClr val="4E3629"/>
                </a:solidFill>
                <a:latin typeface="Courier New"/>
                <a:cs typeface="Courier New"/>
              </a:rPr>
              <a:t> </a:t>
            </a:r>
            <a:r>
              <a:rPr dirty="0" sz="1800" b="1">
                <a:solidFill>
                  <a:srgbClr val="4E3629"/>
                </a:solidFill>
                <a:latin typeface="Courier New"/>
                <a:cs typeface="Courier New"/>
              </a:rPr>
              <a:t>Month</a:t>
            </a:r>
            <a:r>
              <a:rPr dirty="0" sz="1800" spc="-50" b="1">
                <a:solidFill>
                  <a:srgbClr val="4E3629"/>
                </a:solidFill>
                <a:latin typeface="Courier New"/>
                <a:cs typeface="Courier New"/>
              </a:rPr>
              <a:t> </a:t>
            </a:r>
            <a:r>
              <a:rPr dirty="0" sz="1800" b="1">
                <a:solidFill>
                  <a:srgbClr val="4E3629"/>
                </a:solidFill>
                <a:latin typeface="Courier New"/>
                <a:cs typeface="Courier New"/>
              </a:rPr>
              <a:t>ddth,</a:t>
            </a:r>
            <a:r>
              <a:rPr dirty="0" sz="1800" spc="-50" b="1">
                <a:solidFill>
                  <a:srgbClr val="4E3629"/>
                </a:solidFill>
                <a:latin typeface="Courier New"/>
                <a:cs typeface="Courier New"/>
              </a:rPr>
              <a:t> </a:t>
            </a:r>
            <a:r>
              <a:rPr dirty="0" sz="1800" b="1">
                <a:solidFill>
                  <a:srgbClr val="4E3629"/>
                </a:solidFill>
                <a:latin typeface="Courier New"/>
                <a:cs typeface="Courier New"/>
              </a:rPr>
              <a:t>YYYY')</a:t>
            </a:r>
            <a:r>
              <a:rPr dirty="0" sz="1800" spc="-55" b="1">
                <a:solidFill>
                  <a:srgbClr val="4E3629"/>
                </a:solidFill>
                <a:latin typeface="Courier New"/>
                <a:cs typeface="Courier New"/>
              </a:rPr>
              <a:t> </a:t>
            </a:r>
            <a:r>
              <a:rPr dirty="0" sz="1800" b="1">
                <a:solidFill>
                  <a:srgbClr val="4E3629"/>
                </a:solidFill>
                <a:latin typeface="Courier New"/>
                <a:cs typeface="Courier New"/>
              </a:rPr>
              <a:t>AS</a:t>
            </a:r>
            <a:r>
              <a:rPr dirty="0" sz="1800" spc="-50" b="1">
                <a:solidFill>
                  <a:srgbClr val="4E3629"/>
                </a:solidFill>
                <a:latin typeface="Courier New"/>
                <a:cs typeface="Courier New"/>
              </a:rPr>
              <a:t> </a:t>
            </a:r>
            <a:r>
              <a:rPr dirty="0" sz="1800" b="1">
                <a:solidFill>
                  <a:srgbClr val="4E3629"/>
                </a:solidFill>
                <a:latin typeface="Courier New"/>
                <a:cs typeface="Courier New"/>
              </a:rPr>
              <a:t>"Next</a:t>
            </a:r>
            <a:r>
              <a:rPr dirty="0" sz="1800" spc="-50" b="1">
                <a:solidFill>
                  <a:srgbClr val="4E3629"/>
                </a:solidFill>
                <a:latin typeface="Courier New"/>
                <a:cs typeface="Courier New"/>
              </a:rPr>
              <a:t> </a:t>
            </a:r>
            <a:r>
              <a:rPr dirty="0" sz="1800" spc="-10" b="1">
                <a:solidFill>
                  <a:srgbClr val="4E3629"/>
                </a:solidFill>
                <a:latin typeface="Courier New"/>
                <a:cs typeface="Courier New"/>
              </a:rPr>
              <a:t>Evaluation"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102870">
              <a:lnSpc>
                <a:spcPct val="100000"/>
              </a:lnSpc>
            </a:pPr>
            <a:r>
              <a:rPr dirty="0" sz="1800" b="1">
                <a:solidFill>
                  <a:srgbClr val="4E3629"/>
                </a:solidFill>
                <a:latin typeface="Courier New"/>
                <a:cs typeface="Courier New"/>
              </a:rPr>
              <a:t>WHERE</a:t>
            </a:r>
            <a:r>
              <a:rPr dirty="0" sz="1800" spc="-65" b="1">
                <a:solidFill>
                  <a:srgbClr val="4E3629"/>
                </a:solidFill>
                <a:latin typeface="Courier New"/>
                <a:cs typeface="Courier New"/>
              </a:rPr>
              <a:t> </a:t>
            </a:r>
            <a:r>
              <a:rPr dirty="0" sz="1800" b="1">
                <a:solidFill>
                  <a:srgbClr val="4E3629"/>
                </a:solidFill>
                <a:latin typeface="Courier New"/>
                <a:cs typeface="Courier New"/>
              </a:rPr>
              <a:t>employee_id</a:t>
            </a:r>
            <a:r>
              <a:rPr dirty="0" sz="1800" spc="-50" b="1">
                <a:solidFill>
                  <a:srgbClr val="4E3629"/>
                </a:solidFill>
                <a:latin typeface="Courier New"/>
                <a:cs typeface="Courier New"/>
              </a:rPr>
              <a:t> </a:t>
            </a:r>
            <a:r>
              <a:rPr dirty="0" sz="1800" b="1">
                <a:solidFill>
                  <a:srgbClr val="4E3629"/>
                </a:solidFill>
                <a:latin typeface="Courier New"/>
                <a:cs typeface="Courier New"/>
              </a:rPr>
              <a:t>=</a:t>
            </a:r>
            <a:r>
              <a:rPr dirty="0" sz="1800" spc="-50" b="1">
                <a:solidFill>
                  <a:srgbClr val="4E3629"/>
                </a:solidFill>
                <a:latin typeface="Courier New"/>
                <a:cs typeface="Courier New"/>
              </a:rPr>
              <a:t> </a:t>
            </a:r>
            <a:r>
              <a:rPr dirty="0" sz="1800" spc="-20" b="1">
                <a:solidFill>
                  <a:srgbClr val="4E3629"/>
                </a:solidFill>
                <a:latin typeface="Courier New"/>
                <a:cs typeface="Courier New"/>
              </a:rPr>
              <a:t>100;</a:t>
            </a:r>
            <a:endParaRPr sz="1800">
              <a:latin typeface="Courier New"/>
              <a:cs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7760334" cy="528320"/>
          </a:xfrm>
          <a:prstGeom prst="rect"/>
        </p:spPr>
        <p:txBody>
          <a:bodyPr wrap="square" lIns="0" tIns="12700" rIns="0" bIns="0" rtlCol="0" vert="horz">
            <a:spAutoFit/>
          </a:bodyPr>
          <a:lstStyle/>
          <a:p>
            <a:pPr marL="12700">
              <a:lnSpc>
                <a:spcPct val="100000"/>
              </a:lnSpc>
              <a:spcBef>
                <a:spcPts val="100"/>
              </a:spcBef>
            </a:pPr>
            <a:r>
              <a:rPr dirty="0"/>
              <a:t>Funciones</a:t>
            </a:r>
            <a:r>
              <a:rPr dirty="0" spc="-80"/>
              <a:t> </a:t>
            </a:r>
            <a:r>
              <a:rPr dirty="0"/>
              <a:t>Relacionadas</a:t>
            </a:r>
            <a:r>
              <a:rPr dirty="0" spc="-105"/>
              <a:t> </a:t>
            </a:r>
            <a:r>
              <a:rPr dirty="0"/>
              <a:t>con</a:t>
            </a:r>
            <a:r>
              <a:rPr dirty="0" spc="-105"/>
              <a:t> </a:t>
            </a:r>
            <a:r>
              <a:rPr dirty="0"/>
              <a:t>los</a:t>
            </a:r>
            <a:r>
              <a:rPr dirty="0" spc="-95"/>
              <a:t> </a:t>
            </a:r>
            <a:r>
              <a:rPr dirty="0" spc="-25"/>
              <a:t>Valores</a:t>
            </a:r>
            <a:r>
              <a:rPr dirty="0" spc="-114"/>
              <a:t> </a:t>
            </a:r>
            <a:r>
              <a:rPr dirty="0" spc="-10"/>
              <a:t>Nulos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8</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55371"/>
            <a:ext cx="7731125" cy="3991610"/>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Al</a:t>
            </a:r>
            <a:r>
              <a:rPr dirty="0" sz="2800" spc="-65">
                <a:solidFill>
                  <a:srgbClr val="4E3629"/>
                </a:solidFill>
                <a:latin typeface="Calibri"/>
                <a:cs typeface="Calibri"/>
              </a:rPr>
              <a:t> </a:t>
            </a:r>
            <a:r>
              <a:rPr dirty="0" sz="2800">
                <a:solidFill>
                  <a:srgbClr val="4E3629"/>
                </a:solidFill>
                <a:latin typeface="Calibri"/>
                <a:cs typeface="Calibri"/>
              </a:rPr>
              <a:t>principio</a:t>
            </a:r>
            <a:r>
              <a:rPr dirty="0" sz="2800" spc="-35">
                <a:solidFill>
                  <a:srgbClr val="4E3629"/>
                </a:solidFill>
                <a:latin typeface="Calibri"/>
                <a:cs typeface="Calibri"/>
              </a:rPr>
              <a:t> </a:t>
            </a:r>
            <a:r>
              <a:rPr dirty="0" sz="2800">
                <a:solidFill>
                  <a:srgbClr val="4E3629"/>
                </a:solidFill>
                <a:latin typeface="Calibri"/>
                <a:cs typeface="Calibri"/>
              </a:rPr>
              <a:t>del</a:t>
            </a:r>
            <a:r>
              <a:rPr dirty="0" sz="2800" spc="-65">
                <a:solidFill>
                  <a:srgbClr val="4E3629"/>
                </a:solidFill>
                <a:latin typeface="Calibri"/>
                <a:cs typeface="Calibri"/>
              </a:rPr>
              <a:t> </a:t>
            </a:r>
            <a:r>
              <a:rPr dirty="0" sz="2800" spc="-10">
                <a:solidFill>
                  <a:srgbClr val="4E3629"/>
                </a:solidFill>
                <a:latin typeface="Calibri"/>
                <a:cs typeface="Calibri"/>
              </a:rPr>
              <a:t>curso,</a:t>
            </a:r>
            <a:r>
              <a:rPr dirty="0" sz="2800" spc="-55">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spc="-10">
                <a:solidFill>
                  <a:srgbClr val="4E3629"/>
                </a:solidFill>
                <a:latin typeface="Calibri"/>
                <a:cs typeface="Calibri"/>
              </a:rPr>
              <a:t>presentó</a:t>
            </a:r>
            <a:r>
              <a:rPr dirty="0" sz="2800" spc="-4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término</a:t>
            </a:r>
            <a:r>
              <a:rPr dirty="0" sz="2800" spc="-60">
                <a:solidFill>
                  <a:srgbClr val="4E3629"/>
                </a:solidFill>
                <a:latin typeface="Calibri"/>
                <a:cs typeface="Calibri"/>
              </a:rPr>
              <a:t> </a:t>
            </a:r>
            <a:r>
              <a:rPr dirty="0" sz="2800" spc="-10">
                <a:solidFill>
                  <a:srgbClr val="4E3629"/>
                </a:solidFill>
                <a:latin typeface="Calibri"/>
                <a:cs typeface="Calibri"/>
              </a:rPr>
              <a:t>"nulo"</a:t>
            </a:r>
            <a:endParaRPr sz="2800">
              <a:latin typeface="Calibri"/>
              <a:cs typeface="Calibri"/>
            </a:endParaRPr>
          </a:p>
          <a:p>
            <a:pPr marL="159385" marR="90805" indent="-147320">
              <a:lnSpc>
                <a:spcPts val="3030"/>
              </a:lnSpc>
              <a:spcBef>
                <a:spcPts val="844"/>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a:t>
            </a:r>
            <a:r>
              <a:rPr dirty="0" sz="2800" spc="-5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está</a:t>
            </a:r>
            <a:r>
              <a:rPr dirty="0" sz="2800" spc="-55">
                <a:solidFill>
                  <a:srgbClr val="4E3629"/>
                </a:solidFill>
                <a:latin typeface="Calibri"/>
                <a:cs typeface="Calibri"/>
              </a:rPr>
              <a:t> </a:t>
            </a:r>
            <a:r>
              <a:rPr dirty="0" sz="2800">
                <a:solidFill>
                  <a:srgbClr val="4E3629"/>
                </a:solidFill>
                <a:latin typeface="Calibri"/>
                <a:cs typeface="Calibri"/>
              </a:rPr>
              <a:t>disponible, que</a:t>
            </a:r>
            <a:r>
              <a:rPr dirty="0" sz="2800" spc="-45">
                <a:solidFill>
                  <a:srgbClr val="4E3629"/>
                </a:solidFill>
                <a:latin typeface="Calibri"/>
                <a:cs typeface="Calibri"/>
              </a:rPr>
              <a:t> </a:t>
            </a:r>
            <a:r>
              <a:rPr dirty="0" sz="2800">
                <a:solidFill>
                  <a:srgbClr val="4E3629"/>
                </a:solidFill>
                <a:latin typeface="Calibri"/>
                <a:cs typeface="Calibri"/>
              </a:rPr>
              <a:t>está</a:t>
            </a:r>
            <a:r>
              <a:rPr dirty="0" sz="2800" spc="-40">
                <a:solidFill>
                  <a:srgbClr val="4E3629"/>
                </a:solidFill>
                <a:latin typeface="Calibri"/>
                <a:cs typeface="Calibri"/>
              </a:rPr>
              <a:t> </a:t>
            </a:r>
            <a:r>
              <a:rPr dirty="0" sz="2800" spc="-25">
                <a:solidFill>
                  <a:srgbClr val="4E3629"/>
                </a:solidFill>
                <a:latin typeface="Calibri"/>
                <a:cs typeface="Calibri"/>
              </a:rPr>
              <a:t>sin 	asignar,</a:t>
            </a:r>
            <a:r>
              <a:rPr dirty="0" sz="2800" spc="-50">
                <a:solidFill>
                  <a:srgbClr val="4E3629"/>
                </a:solidFill>
                <a:latin typeface="Calibri"/>
                <a:cs typeface="Calibri"/>
              </a:rPr>
              <a:t> </a:t>
            </a:r>
            <a:r>
              <a:rPr dirty="0" u="heavy" sz="2800">
                <a:solidFill>
                  <a:srgbClr val="4E3629"/>
                </a:solidFill>
                <a:uFill>
                  <a:solidFill>
                    <a:srgbClr val="EC2814"/>
                  </a:solidFill>
                </a:uFill>
                <a:latin typeface="Calibri"/>
                <a:cs typeface="Calibri"/>
              </a:rPr>
              <a:t>es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desconocido</a:t>
            </a:r>
            <a:r>
              <a:rPr dirty="0" sz="2800" spc="-25">
                <a:solidFill>
                  <a:srgbClr val="4E3629"/>
                </a:solidFill>
                <a:latin typeface="Calibri"/>
                <a:cs typeface="Calibri"/>
              </a:rPr>
              <a:t> </a:t>
            </a:r>
            <a:r>
              <a:rPr dirty="0" sz="2800">
                <a:solidFill>
                  <a:srgbClr val="4E3629"/>
                </a:solidFill>
                <a:latin typeface="Calibri"/>
                <a:cs typeface="Calibri"/>
              </a:rPr>
              <a:t>o</a:t>
            </a:r>
            <a:r>
              <a:rPr dirty="0" sz="2800" spc="-5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no</a:t>
            </a:r>
            <a:r>
              <a:rPr dirty="0" sz="2800" spc="-4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10">
                <a:solidFill>
                  <a:srgbClr val="4E3629"/>
                </a:solidFill>
                <a:latin typeface="Calibri"/>
                <a:cs typeface="Calibri"/>
              </a:rPr>
              <a:t>aplicable</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Como</a:t>
            </a:r>
            <a:r>
              <a:rPr dirty="0" sz="2800" spc="-70">
                <a:solidFill>
                  <a:srgbClr val="4E3629"/>
                </a:solidFill>
                <a:latin typeface="Calibri"/>
                <a:cs typeface="Calibri"/>
              </a:rPr>
              <a:t> </a:t>
            </a:r>
            <a:r>
              <a:rPr dirty="0" sz="2800" spc="-10">
                <a:solidFill>
                  <a:srgbClr val="4E3629"/>
                </a:solidFill>
                <a:latin typeface="Calibri"/>
                <a:cs typeface="Calibri"/>
              </a:rPr>
              <a:t>resultado,</a:t>
            </a:r>
            <a:r>
              <a:rPr dirty="0" sz="2800" spc="-40">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podemos</a:t>
            </a:r>
            <a:r>
              <a:rPr dirty="0" sz="2800" spc="-55">
                <a:solidFill>
                  <a:srgbClr val="4E3629"/>
                </a:solidFill>
                <a:latin typeface="Calibri"/>
                <a:cs typeface="Calibri"/>
              </a:rPr>
              <a:t> </a:t>
            </a:r>
            <a:r>
              <a:rPr dirty="0" sz="2800" spc="-10">
                <a:solidFill>
                  <a:srgbClr val="4E3629"/>
                </a:solidFill>
                <a:latin typeface="Calibri"/>
                <a:cs typeface="Calibri"/>
              </a:rPr>
              <a:t>comprobar</a:t>
            </a:r>
            <a:r>
              <a:rPr dirty="0" sz="2800" spc="-40">
                <a:solidFill>
                  <a:srgbClr val="4E3629"/>
                </a:solidFill>
                <a:latin typeface="Calibri"/>
                <a:cs typeface="Calibri"/>
              </a:rPr>
              <a:t> </a:t>
            </a:r>
            <a:r>
              <a:rPr dirty="0" sz="2800">
                <a:solidFill>
                  <a:srgbClr val="4E3629"/>
                </a:solidFill>
                <a:latin typeface="Calibri"/>
                <a:cs typeface="Calibri"/>
              </a:rPr>
              <a:t>si</a:t>
            </a:r>
            <a:r>
              <a:rPr dirty="0" sz="2800" spc="-65">
                <a:solidFill>
                  <a:srgbClr val="4E3629"/>
                </a:solidFill>
                <a:latin typeface="Calibri"/>
                <a:cs typeface="Calibri"/>
              </a:rPr>
              <a:t> </a:t>
            </a:r>
            <a:r>
              <a:rPr dirty="0" sz="2800">
                <a:solidFill>
                  <a:srgbClr val="4E3629"/>
                </a:solidFill>
                <a:latin typeface="Calibri"/>
                <a:cs typeface="Calibri"/>
              </a:rPr>
              <a:t>es</a:t>
            </a:r>
            <a:r>
              <a:rPr dirty="0" sz="2800" spc="-7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mismo</a:t>
            </a:r>
            <a:r>
              <a:rPr dirty="0" sz="2800" spc="-65">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a:solidFill>
                  <a:srgbClr val="4E3629"/>
                </a:solidFill>
                <a:latin typeface="Calibri"/>
                <a:cs typeface="Calibri"/>
              </a:rPr>
              <a:t>otro</a:t>
            </a:r>
            <a:r>
              <a:rPr dirty="0" sz="2800" spc="-75">
                <a:solidFill>
                  <a:srgbClr val="4E3629"/>
                </a:solidFill>
                <a:latin typeface="Calibri"/>
                <a:cs typeface="Calibri"/>
              </a:rPr>
              <a:t> </a:t>
            </a:r>
            <a:r>
              <a:rPr dirty="0" sz="2800" spc="-35">
                <a:solidFill>
                  <a:srgbClr val="4E3629"/>
                </a:solidFill>
                <a:latin typeface="Calibri"/>
                <a:cs typeface="Calibri"/>
              </a:rPr>
              <a:t>valor,</a:t>
            </a:r>
            <a:r>
              <a:rPr dirty="0" sz="2800" spc="-85">
                <a:solidFill>
                  <a:srgbClr val="4E3629"/>
                </a:solidFill>
                <a:latin typeface="Calibri"/>
                <a:cs typeface="Calibri"/>
              </a:rPr>
              <a:t> </a:t>
            </a:r>
            <a:r>
              <a:rPr dirty="0" sz="2800">
                <a:solidFill>
                  <a:srgbClr val="4E3629"/>
                </a:solidFill>
                <a:latin typeface="Calibri"/>
                <a:cs typeface="Calibri"/>
              </a:rPr>
              <a:t>porque</a:t>
            </a:r>
            <a:r>
              <a:rPr dirty="0" sz="2800" spc="-65">
                <a:solidFill>
                  <a:srgbClr val="4E3629"/>
                </a:solidFill>
                <a:latin typeface="Calibri"/>
                <a:cs typeface="Calibri"/>
              </a:rPr>
              <a:t> </a:t>
            </a:r>
            <a:r>
              <a:rPr dirty="0" sz="2800">
                <a:solidFill>
                  <a:srgbClr val="4E3629"/>
                </a:solidFill>
                <a:latin typeface="Calibri"/>
                <a:cs typeface="Calibri"/>
              </a:rPr>
              <a:t>no</a:t>
            </a:r>
            <a:r>
              <a:rPr dirty="0" sz="2800" spc="-75">
                <a:solidFill>
                  <a:srgbClr val="4E3629"/>
                </a:solidFill>
                <a:latin typeface="Calibri"/>
                <a:cs typeface="Calibri"/>
              </a:rPr>
              <a:t> </a:t>
            </a:r>
            <a:r>
              <a:rPr dirty="0" sz="2800">
                <a:solidFill>
                  <a:srgbClr val="4E3629"/>
                </a:solidFill>
                <a:latin typeface="Calibri"/>
                <a:cs typeface="Calibri"/>
              </a:rPr>
              <a:t>sabemos</a:t>
            </a:r>
            <a:r>
              <a:rPr dirty="0" sz="2800" spc="-65">
                <a:solidFill>
                  <a:srgbClr val="4E3629"/>
                </a:solidFill>
                <a:latin typeface="Calibri"/>
                <a:cs typeface="Calibri"/>
              </a:rPr>
              <a:t> </a:t>
            </a:r>
            <a:r>
              <a:rPr dirty="0" sz="2800">
                <a:solidFill>
                  <a:srgbClr val="4E3629"/>
                </a:solidFill>
                <a:latin typeface="Calibri"/>
                <a:cs typeface="Calibri"/>
              </a:rPr>
              <a:t>qué</a:t>
            </a:r>
            <a:r>
              <a:rPr dirty="0" sz="2800" spc="-65">
                <a:solidFill>
                  <a:srgbClr val="4E3629"/>
                </a:solidFill>
                <a:latin typeface="Calibri"/>
                <a:cs typeface="Calibri"/>
              </a:rPr>
              <a:t> </a:t>
            </a:r>
            <a:r>
              <a:rPr dirty="0" sz="2800" spc="-10">
                <a:solidFill>
                  <a:srgbClr val="4E3629"/>
                </a:solidFill>
                <a:latin typeface="Calibri"/>
                <a:cs typeface="Calibri"/>
              </a:rPr>
              <a:t>valor 	tiene</a:t>
            </a:r>
            <a:endParaRPr sz="2800">
              <a:latin typeface="Calibri"/>
              <a:cs typeface="Calibri"/>
            </a:endParaRPr>
          </a:p>
          <a:p>
            <a:pPr marL="183515" indent="-170815">
              <a:lnSpc>
                <a:spcPct val="100000"/>
              </a:lnSpc>
              <a:spcBef>
                <a:spcPts val="395"/>
              </a:spcBef>
              <a:buClr>
                <a:srgbClr val="D1350F"/>
              </a:buClr>
              <a:buFont typeface="Arial MT"/>
              <a:buChar char="•"/>
              <a:tabLst>
                <a:tab pos="183515" algn="l"/>
              </a:tabLst>
            </a:pPr>
            <a:r>
              <a:rPr dirty="0" sz="2800">
                <a:solidFill>
                  <a:srgbClr val="4E3629"/>
                </a:solidFill>
                <a:latin typeface="Calibri"/>
                <a:cs typeface="Calibri"/>
              </a:rPr>
              <a:t>No</a:t>
            </a:r>
            <a:r>
              <a:rPr dirty="0" sz="2800" spc="-25">
                <a:solidFill>
                  <a:srgbClr val="4E3629"/>
                </a:solidFill>
                <a:latin typeface="Calibri"/>
                <a:cs typeface="Calibri"/>
              </a:rPr>
              <a:t> </a:t>
            </a:r>
            <a:r>
              <a:rPr dirty="0" sz="2800">
                <a:solidFill>
                  <a:srgbClr val="4E3629"/>
                </a:solidFill>
                <a:latin typeface="Calibri"/>
                <a:cs typeface="Calibri"/>
              </a:rPr>
              <a:t>es</a:t>
            </a:r>
            <a:r>
              <a:rPr dirty="0" sz="2800" spc="-35">
                <a:solidFill>
                  <a:srgbClr val="4E3629"/>
                </a:solidFill>
                <a:latin typeface="Calibri"/>
                <a:cs typeface="Calibri"/>
              </a:rPr>
              <a:t> </a:t>
            </a:r>
            <a:r>
              <a:rPr dirty="0" sz="2800">
                <a:solidFill>
                  <a:srgbClr val="4E3629"/>
                </a:solidFill>
                <a:latin typeface="Calibri"/>
                <a:cs typeface="Calibri"/>
              </a:rPr>
              <a:t>igual</a:t>
            </a:r>
            <a:r>
              <a:rPr dirty="0" sz="2800" spc="-25">
                <a:solidFill>
                  <a:srgbClr val="4E3629"/>
                </a:solidFill>
                <a:latin typeface="Calibri"/>
                <a:cs typeface="Calibri"/>
              </a:rPr>
              <a:t> </a:t>
            </a:r>
            <a:r>
              <a:rPr dirty="0" sz="2800">
                <a:solidFill>
                  <a:srgbClr val="4E3629"/>
                </a:solidFill>
                <a:latin typeface="Calibri"/>
                <a:cs typeface="Calibri"/>
              </a:rPr>
              <a:t>a</a:t>
            </a:r>
            <a:r>
              <a:rPr dirty="0" sz="2800" spc="-40">
                <a:solidFill>
                  <a:srgbClr val="4E3629"/>
                </a:solidFill>
                <a:latin typeface="Calibri"/>
                <a:cs typeface="Calibri"/>
              </a:rPr>
              <a:t> </a:t>
            </a:r>
            <a:r>
              <a:rPr dirty="0" sz="2800">
                <a:solidFill>
                  <a:srgbClr val="4E3629"/>
                </a:solidFill>
                <a:latin typeface="Calibri"/>
                <a:cs typeface="Calibri"/>
              </a:rPr>
              <a:t>nada,</a:t>
            </a:r>
            <a:r>
              <a:rPr dirty="0" sz="2800" spc="-25">
                <a:solidFill>
                  <a:srgbClr val="4E3629"/>
                </a:solidFill>
                <a:latin typeface="Calibri"/>
                <a:cs typeface="Calibri"/>
              </a:rPr>
              <a:t> </a:t>
            </a:r>
            <a:r>
              <a:rPr dirty="0" sz="2800">
                <a:solidFill>
                  <a:srgbClr val="4E3629"/>
                </a:solidFill>
                <a:latin typeface="Calibri"/>
                <a:cs typeface="Calibri"/>
              </a:rPr>
              <a:t>ni</a:t>
            </a:r>
            <a:r>
              <a:rPr dirty="0" sz="2800" spc="-20">
                <a:solidFill>
                  <a:srgbClr val="4E3629"/>
                </a:solidFill>
                <a:latin typeface="Calibri"/>
                <a:cs typeface="Calibri"/>
              </a:rPr>
              <a:t> </a:t>
            </a:r>
            <a:r>
              <a:rPr dirty="0" sz="2800">
                <a:solidFill>
                  <a:srgbClr val="4E3629"/>
                </a:solidFill>
                <a:latin typeface="Calibri"/>
                <a:cs typeface="Calibri"/>
              </a:rPr>
              <a:t>siquiera</a:t>
            </a:r>
            <a:r>
              <a:rPr dirty="0" sz="2800" spc="-10">
                <a:solidFill>
                  <a:srgbClr val="4E3629"/>
                </a:solidFill>
                <a:latin typeface="Calibri"/>
                <a:cs typeface="Calibri"/>
              </a:rPr>
              <a:t> </a:t>
            </a:r>
            <a:r>
              <a:rPr dirty="0" sz="2800">
                <a:solidFill>
                  <a:srgbClr val="4E3629"/>
                </a:solidFill>
                <a:latin typeface="Calibri"/>
                <a:cs typeface="Calibri"/>
              </a:rPr>
              <a:t>a</a:t>
            </a:r>
            <a:r>
              <a:rPr dirty="0" sz="2800" spc="-25">
                <a:solidFill>
                  <a:srgbClr val="4E3629"/>
                </a:solidFill>
                <a:latin typeface="Calibri"/>
                <a:cs typeface="Calibri"/>
              </a:rPr>
              <a:t> </a:t>
            </a:r>
            <a:r>
              <a:rPr dirty="0" sz="2800" spc="-20">
                <a:solidFill>
                  <a:srgbClr val="4E3629"/>
                </a:solidFill>
                <a:latin typeface="Calibri"/>
                <a:cs typeface="Calibri"/>
              </a:rPr>
              <a:t>cero</a:t>
            </a:r>
            <a:endParaRPr sz="2800">
              <a:latin typeface="Calibri"/>
              <a:cs typeface="Calibri"/>
            </a:endParaRPr>
          </a:p>
          <a:p>
            <a:pPr marL="182880" marR="83185"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Pero</a:t>
            </a:r>
            <a:r>
              <a:rPr dirty="0" sz="2800" spc="-5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sea</a:t>
            </a:r>
            <a:r>
              <a:rPr dirty="0" sz="2800" spc="-55">
                <a:solidFill>
                  <a:srgbClr val="4E3629"/>
                </a:solidFill>
                <a:latin typeface="Calibri"/>
                <a:cs typeface="Calibri"/>
              </a:rPr>
              <a:t> </a:t>
            </a:r>
            <a:r>
              <a:rPr dirty="0" sz="2800" spc="-10">
                <a:solidFill>
                  <a:srgbClr val="4E3629"/>
                </a:solidFill>
                <a:latin typeface="Calibri"/>
                <a:cs typeface="Calibri"/>
              </a:rPr>
              <a:t>realmente</a:t>
            </a:r>
            <a:r>
              <a:rPr dirty="0" sz="2800" spc="-70">
                <a:solidFill>
                  <a:srgbClr val="4E3629"/>
                </a:solidFill>
                <a:latin typeface="Calibri"/>
                <a:cs typeface="Calibri"/>
              </a:rPr>
              <a:t> </a:t>
            </a:r>
            <a:r>
              <a:rPr dirty="0" sz="2800">
                <a:solidFill>
                  <a:srgbClr val="4E3629"/>
                </a:solidFill>
                <a:latin typeface="Calibri"/>
                <a:cs typeface="Calibri"/>
              </a:rPr>
              <a:t>nada</a:t>
            </a:r>
            <a:r>
              <a:rPr dirty="0" sz="2800" spc="-5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significa</a:t>
            </a:r>
            <a:r>
              <a:rPr dirty="0" sz="2800" spc="-5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sea</a:t>
            </a:r>
            <a:r>
              <a:rPr dirty="0" sz="2800" spc="-45">
                <a:solidFill>
                  <a:srgbClr val="4E3629"/>
                </a:solidFill>
                <a:latin typeface="Calibri"/>
                <a:cs typeface="Calibri"/>
              </a:rPr>
              <a:t> </a:t>
            </a:r>
            <a:r>
              <a:rPr dirty="0" sz="2800" spc="-10">
                <a:solidFill>
                  <a:srgbClr val="4E3629"/>
                </a:solidFill>
                <a:latin typeface="Calibri"/>
                <a:cs typeface="Calibri"/>
              </a:rPr>
              <a:t>importante</a:t>
            </a:r>
            <a:endParaRPr sz="28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12" y="748031"/>
            <a:ext cx="7760334" cy="528320"/>
          </a:xfrm>
          <a:prstGeom prst="rect"/>
        </p:spPr>
        <p:txBody>
          <a:bodyPr wrap="square" lIns="0" tIns="12700" rIns="0" bIns="0" rtlCol="0" vert="horz">
            <a:spAutoFit/>
          </a:bodyPr>
          <a:lstStyle/>
          <a:p>
            <a:pPr marL="12700">
              <a:lnSpc>
                <a:spcPct val="100000"/>
              </a:lnSpc>
              <a:spcBef>
                <a:spcPts val="100"/>
              </a:spcBef>
            </a:pPr>
            <a:r>
              <a:rPr dirty="0"/>
              <a:t>Funciones</a:t>
            </a:r>
            <a:r>
              <a:rPr dirty="0" spc="-80"/>
              <a:t> </a:t>
            </a:r>
            <a:r>
              <a:rPr dirty="0"/>
              <a:t>Relacionadas</a:t>
            </a:r>
            <a:r>
              <a:rPr dirty="0" spc="-105"/>
              <a:t> </a:t>
            </a:r>
            <a:r>
              <a:rPr dirty="0"/>
              <a:t>con</a:t>
            </a:r>
            <a:r>
              <a:rPr dirty="0" spc="-105"/>
              <a:t> </a:t>
            </a:r>
            <a:r>
              <a:rPr dirty="0"/>
              <a:t>los</a:t>
            </a:r>
            <a:r>
              <a:rPr dirty="0" spc="-95"/>
              <a:t> </a:t>
            </a:r>
            <a:r>
              <a:rPr dirty="0" spc="-25"/>
              <a:t>Valores</a:t>
            </a:r>
            <a:r>
              <a:rPr dirty="0" spc="-114"/>
              <a:t> </a:t>
            </a:r>
            <a:r>
              <a:rPr dirty="0" spc="-10"/>
              <a:t>Nulos</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9</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55371"/>
            <a:ext cx="8155305" cy="3877310"/>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Imagine</a:t>
            </a:r>
            <a:r>
              <a:rPr dirty="0" sz="2800" spc="-65">
                <a:solidFill>
                  <a:srgbClr val="4E3629"/>
                </a:solidFill>
                <a:latin typeface="Calibri"/>
                <a:cs typeface="Calibri"/>
              </a:rPr>
              <a:t> </a:t>
            </a:r>
            <a:r>
              <a:rPr dirty="0" sz="2800">
                <a:solidFill>
                  <a:srgbClr val="4E3629"/>
                </a:solidFill>
                <a:latin typeface="Calibri"/>
                <a:cs typeface="Calibri"/>
              </a:rPr>
              <a:t>esta</a:t>
            </a:r>
            <a:r>
              <a:rPr dirty="0" sz="2800" spc="-35">
                <a:solidFill>
                  <a:srgbClr val="4E3629"/>
                </a:solidFill>
                <a:latin typeface="Calibri"/>
                <a:cs typeface="Calibri"/>
              </a:rPr>
              <a:t> </a:t>
            </a:r>
            <a:r>
              <a:rPr dirty="0" sz="2800" spc="-10">
                <a:solidFill>
                  <a:srgbClr val="4E3629"/>
                </a:solidFill>
                <a:latin typeface="Calibri"/>
                <a:cs typeface="Calibri"/>
              </a:rPr>
              <a:t>pregunta:</a:t>
            </a:r>
            <a:r>
              <a:rPr dirty="0" sz="2800" spc="-30">
                <a:solidFill>
                  <a:srgbClr val="4E3629"/>
                </a:solidFill>
                <a:latin typeface="Calibri"/>
                <a:cs typeface="Calibri"/>
              </a:rPr>
              <a:t> </a:t>
            </a:r>
            <a:r>
              <a:rPr dirty="0" sz="2800">
                <a:solidFill>
                  <a:srgbClr val="4E3629"/>
                </a:solidFill>
                <a:latin typeface="Calibri"/>
                <a:cs typeface="Calibri"/>
              </a:rPr>
              <a:t>¿Es</a:t>
            </a:r>
            <a:r>
              <a:rPr dirty="0" sz="2800" spc="-40">
                <a:solidFill>
                  <a:srgbClr val="4E3629"/>
                </a:solidFill>
                <a:latin typeface="Calibri"/>
                <a:cs typeface="Calibri"/>
              </a:rPr>
              <a:t> </a:t>
            </a:r>
            <a:r>
              <a:rPr dirty="0" sz="2800">
                <a:solidFill>
                  <a:srgbClr val="4E3629"/>
                </a:solidFill>
                <a:latin typeface="Calibri"/>
                <a:cs typeface="Calibri"/>
              </a:rPr>
              <a:t>cierto</a:t>
            </a:r>
            <a:r>
              <a:rPr dirty="0" sz="2800" spc="-55">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X</a:t>
            </a:r>
            <a:r>
              <a:rPr dirty="0" sz="2800" spc="-55">
                <a:solidFill>
                  <a:srgbClr val="4E3629"/>
                </a:solidFill>
                <a:latin typeface="Calibri"/>
                <a:cs typeface="Calibri"/>
              </a:rPr>
              <a:t> </a:t>
            </a:r>
            <a:r>
              <a:rPr dirty="0" sz="2800">
                <a:solidFill>
                  <a:srgbClr val="4E3629"/>
                </a:solidFill>
                <a:latin typeface="Calibri"/>
                <a:cs typeface="Calibri"/>
              </a:rPr>
              <a:t>=</a:t>
            </a:r>
            <a:r>
              <a:rPr dirty="0" sz="2800" spc="-40">
                <a:solidFill>
                  <a:srgbClr val="4E3629"/>
                </a:solidFill>
                <a:latin typeface="Calibri"/>
                <a:cs typeface="Calibri"/>
              </a:rPr>
              <a:t> </a:t>
            </a:r>
            <a:r>
              <a:rPr dirty="0" sz="2800" spc="-25">
                <a:solidFill>
                  <a:srgbClr val="4E3629"/>
                </a:solidFill>
                <a:latin typeface="Calibri"/>
                <a:cs typeface="Calibri"/>
              </a:rPr>
              <a:t>Y?</a:t>
            </a:r>
            <a:endParaRPr sz="2800">
              <a:latin typeface="Calibri"/>
              <a:cs typeface="Calibri"/>
            </a:endParaRPr>
          </a:p>
          <a:p>
            <a:pPr marL="183515" indent="-170815">
              <a:lnSpc>
                <a:spcPct val="100000"/>
              </a:lnSpc>
              <a:spcBef>
                <a:spcPts val="470"/>
              </a:spcBef>
              <a:buClr>
                <a:srgbClr val="D1350F"/>
              </a:buClr>
              <a:buFont typeface="Arial MT"/>
              <a:buChar char="•"/>
              <a:tabLst>
                <a:tab pos="183515" algn="l"/>
              </a:tabLst>
            </a:pPr>
            <a:r>
              <a:rPr dirty="0" sz="2800" spc="-1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responderla</a:t>
            </a:r>
            <a:r>
              <a:rPr dirty="0" sz="2800" spc="-30">
                <a:solidFill>
                  <a:srgbClr val="4E3629"/>
                </a:solidFill>
                <a:latin typeface="Calibri"/>
                <a:cs typeface="Calibri"/>
              </a:rPr>
              <a:t> </a:t>
            </a:r>
            <a:r>
              <a:rPr dirty="0" sz="2800">
                <a:solidFill>
                  <a:srgbClr val="4E3629"/>
                </a:solidFill>
                <a:latin typeface="Calibri"/>
                <a:cs typeface="Calibri"/>
              </a:rPr>
              <a:t>tiene</a:t>
            </a:r>
            <a:r>
              <a:rPr dirty="0" sz="2800" spc="-55">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conocer</a:t>
            </a:r>
            <a:r>
              <a:rPr dirty="0" sz="2800" spc="-55">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valores</a:t>
            </a:r>
            <a:r>
              <a:rPr dirty="0" sz="2800" spc="-7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X</a:t>
            </a:r>
            <a:r>
              <a:rPr dirty="0" sz="2800" spc="-65">
                <a:solidFill>
                  <a:srgbClr val="4E3629"/>
                </a:solidFill>
                <a:latin typeface="Calibri"/>
                <a:cs typeface="Calibri"/>
              </a:rPr>
              <a:t> </a:t>
            </a:r>
            <a:r>
              <a:rPr dirty="0" sz="2800">
                <a:solidFill>
                  <a:srgbClr val="4E3629"/>
                </a:solidFill>
                <a:latin typeface="Calibri"/>
                <a:cs typeface="Calibri"/>
              </a:rPr>
              <a:t>e</a:t>
            </a:r>
            <a:r>
              <a:rPr dirty="0" sz="2800" spc="-65">
                <a:solidFill>
                  <a:srgbClr val="4E3629"/>
                </a:solidFill>
                <a:latin typeface="Calibri"/>
                <a:cs typeface="Calibri"/>
              </a:rPr>
              <a:t> </a:t>
            </a:r>
            <a:r>
              <a:rPr dirty="0" sz="2800" spc="-50">
                <a:solidFill>
                  <a:srgbClr val="4E3629"/>
                </a:solidFill>
                <a:latin typeface="Calibri"/>
                <a:cs typeface="Calibri"/>
              </a:rPr>
              <a:t>Y</a:t>
            </a:r>
            <a:endParaRPr sz="2800">
              <a:latin typeface="Calibri"/>
              <a:cs typeface="Calibri"/>
            </a:endParaRPr>
          </a:p>
          <a:p>
            <a:pPr marL="182880" marR="34798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Oracle</a:t>
            </a:r>
            <a:r>
              <a:rPr dirty="0" sz="2800" spc="-110">
                <a:solidFill>
                  <a:srgbClr val="4E3629"/>
                </a:solidFill>
                <a:latin typeface="Calibri"/>
                <a:cs typeface="Calibri"/>
              </a:rPr>
              <a:t> </a:t>
            </a:r>
            <a:r>
              <a:rPr dirty="0" sz="2800">
                <a:solidFill>
                  <a:srgbClr val="4E3629"/>
                </a:solidFill>
                <a:latin typeface="Calibri"/>
                <a:cs typeface="Calibri"/>
              </a:rPr>
              <a:t>tiene</a:t>
            </a:r>
            <a:r>
              <a:rPr dirty="0" sz="2800" spc="-110">
                <a:solidFill>
                  <a:srgbClr val="4E3629"/>
                </a:solidFill>
                <a:latin typeface="Calibri"/>
                <a:cs typeface="Calibri"/>
              </a:rPr>
              <a:t> </a:t>
            </a:r>
            <a:r>
              <a:rPr dirty="0" sz="2800">
                <a:solidFill>
                  <a:srgbClr val="4E3629"/>
                </a:solidFill>
                <a:latin typeface="Calibri"/>
                <a:cs typeface="Calibri"/>
              </a:rPr>
              <a:t>cuatro</a:t>
            </a:r>
            <a:r>
              <a:rPr dirty="0" sz="2800" spc="-95">
                <a:solidFill>
                  <a:srgbClr val="4E3629"/>
                </a:solidFill>
                <a:latin typeface="Calibri"/>
                <a:cs typeface="Calibri"/>
              </a:rPr>
              <a:t> </a:t>
            </a:r>
            <a:r>
              <a:rPr dirty="0" sz="2800">
                <a:solidFill>
                  <a:srgbClr val="4E3629"/>
                </a:solidFill>
                <a:latin typeface="Calibri"/>
                <a:cs typeface="Calibri"/>
              </a:rPr>
              <a:t>funciones</a:t>
            </a:r>
            <a:r>
              <a:rPr dirty="0" sz="2800" spc="-80">
                <a:solidFill>
                  <a:srgbClr val="4E3629"/>
                </a:solidFill>
                <a:latin typeface="Calibri"/>
                <a:cs typeface="Calibri"/>
              </a:rPr>
              <a:t> </a:t>
            </a:r>
            <a:r>
              <a:rPr dirty="0" sz="2800">
                <a:solidFill>
                  <a:srgbClr val="4E3629"/>
                </a:solidFill>
                <a:latin typeface="Calibri"/>
                <a:cs typeface="Calibri"/>
              </a:rPr>
              <a:t>generales</a:t>
            </a:r>
            <a:r>
              <a:rPr dirty="0" sz="2800" spc="-110">
                <a:solidFill>
                  <a:srgbClr val="4E3629"/>
                </a:solidFill>
                <a:latin typeface="Calibri"/>
                <a:cs typeface="Calibri"/>
              </a:rPr>
              <a:t> </a:t>
            </a:r>
            <a:r>
              <a:rPr dirty="0" sz="2800" spc="-10">
                <a:solidFill>
                  <a:srgbClr val="4E3629"/>
                </a:solidFill>
                <a:latin typeface="Calibri"/>
                <a:cs typeface="Calibri"/>
              </a:rPr>
              <a:t>relacionadas </a:t>
            </a:r>
            <a:r>
              <a:rPr dirty="0" sz="2800" spc="-10">
                <a:solidFill>
                  <a:srgbClr val="4E3629"/>
                </a:solidFill>
                <a:latin typeface="Calibri"/>
                <a:cs typeface="Calibri"/>
              </a:rPr>
              <a:t>	</a:t>
            </a:r>
            <a:r>
              <a:rPr dirty="0" sz="2800">
                <a:solidFill>
                  <a:srgbClr val="4E3629"/>
                </a:solidFill>
                <a:latin typeface="Calibri"/>
                <a:cs typeface="Calibri"/>
              </a:rPr>
              <a:t>con</a:t>
            </a:r>
            <a:r>
              <a:rPr dirty="0" sz="2800" spc="-45">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uso</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valores</a:t>
            </a:r>
            <a:r>
              <a:rPr dirty="0" sz="2800" spc="-55">
                <a:solidFill>
                  <a:srgbClr val="4E3629"/>
                </a:solidFill>
                <a:latin typeface="Calibri"/>
                <a:cs typeface="Calibri"/>
              </a:rPr>
              <a:t> </a:t>
            </a:r>
            <a:r>
              <a:rPr dirty="0" sz="2800" spc="-10">
                <a:solidFill>
                  <a:srgbClr val="4E3629"/>
                </a:solidFill>
                <a:latin typeface="Calibri"/>
                <a:cs typeface="Calibri"/>
              </a:rPr>
              <a:t>nulos</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Lst>
            </a:pPr>
            <a:r>
              <a:rPr dirty="0" sz="2800">
                <a:solidFill>
                  <a:srgbClr val="4E3629"/>
                </a:solidFill>
                <a:latin typeface="Calibri"/>
                <a:cs typeface="Calibri"/>
              </a:rPr>
              <a:t>Las</a:t>
            </a:r>
            <a:r>
              <a:rPr dirty="0" sz="2800" spc="-95">
                <a:solidFill>
                  <a:srgbClr val="4E3629"/>
                </a:solidFill>
                <a:latin typeface="Calibri"/>
                <a:cs typeface="Calibri"/>
              </a:rPr>
              <a:t> </a:t>
            </a:r>
            <a:r>
              <a:rPr dirty="0" sz="2800">
                <a:solidFill>
                  <a:srgbClr val="4E3629"/>
                </a:solidFill>
                <a:latin typeface="Calibri"/>
                <a:cs typeface="Calibri"/>
              </a:rPr>
              <a:t>cuatro</a:t>
            </a:r>
            <a:r>
              <a:rPr dirty="0" sz="2800" spc="-75">
                <a:solidFill>
                  <a:srgbClr val="4E3629"/>
                </a:solidFill>
                <a:latin typeface="Calibri"/>
                <a:cs typeface="Calibri"/>
              </a:rPr>
              <a:t> </a:t>
            </a:r>
            <a:r>
              <a:rPr dirty="0" sz="2800">
                <a:solidFill>
                  <a:srgbClr val="4E3629"/>
                </a:solidFill>
                <a:latin typeface="Calibri"/>
                <a:cs typeface="Calibri"/>
              </a:rPr>
              <a:t>funciones</a:t>
            </a:r>
            <a:r>
              <a:rPr dirty="0" sz="2800" spc="-60">
                <a:solidFill>
                  <a:srgbClr val="4E3629"/>
                </a:solidFill>
                <a:latin typeface="Calibri"/>
                <a:cs typeface="Calibri"/>
              </a:rPr>
              <a:t> </a:t>
            </a:r>
            <a:r>
              <a:rPr dirty="0" sz="2800" spc="-20">
                <a:solidFill>
                  <a:srgbClr val="4E3629"/>
                </a:solidFill>
                <a:latin typeface="Calibri"/>
                <a:cs typeface="Calibri"/>
              </a:rPr>
              <a:t>son:</a:t>
            </a:r>
            <a:endParaRPr sz="2800">
              <a:latin typeface="Calibri"/>
              <a:cs typeface="Calibri"/>
            </a:endParaRPr>
          </a:p>
          <a:p>
            <a:pPr marL="355600">
              <a:lnSpc>
                <a:spcPct val="100000"/>
              </a:lnSpc>
              <a:spcBef>
                <a:spcPts val="145"/>
              </a:spcBef>
            </a:pPr>
            <a:r>
              <a:rPr dirty="0" sz="2400" spc="-20">
                <a:solidFill>
                  <a:srgbClr val="D1350F"/>
                </a:solidFill>
                <a:latin typeface="Calibri"/>
                <a:cs typeface="Calibri"/>
              </a:rPr>
              <a:t>−</a:t>
            </a:r>
            <a:r>
              <a:rPr dirty="0" sz="2400" spc="-20">
                <a:solidFill>
                  <a:srgbClr val="4E3629"/>
                </a:solidFill>
                <a:latin typeface="Calibri"/>
                <a:cs typeface="Calibri"/>
              </a:rPr>
              <a:t>NVL</a:t>
            </a:r>
            <a:endParaRPr sz="2400">
              <a:latin typeface="Calibri"/>
              <a:cs typeface="Calibri"/>
            </a:endParaRPr>
          </a:p>
          <a:p>
            <a:pPr marL="355600">
              <a:lnSpc>
                <a:spcPct val="100000"/>
              </a:lnSpc>
              <a:spcBef>
                <a:spcPts val="110"/>
              </a:spcBef>
            </a:pPr>
            <a:r>
              <a:rPr dirty="0" sz="2400" spc="-10">
                <a:solidFill>
                  <a:srgbClr val="D1350F"/>
                </a:solidFill>
                <a:latin typeface="Calibri"/>
                <a:cs typeface="Calibri"/>
              </a:rPr>
              <a:t>−</a:t>
            </a:r>
            <a:r>
              <a:rPr dirty="0" sz="2400" spc="-10">
                <a:solidFill>
                  <a:srgbClr val="4E3629"/>
                </a:solidFill>
                <a:latin typeface="Calibri"/>
                <a:cs typeface="Calibri"/>
              </a:rPr>
              <a:t>NVL2</a:t>
            </a:r>
            <a:endParaRPr sz="2400">
              <a:latin typeface="Calibri"/>
              <a:cs typeface="Calibri"/>
            </a:endParaRPr>
          </a:p>
          <a:p>
            <a:pPr marL="355600">
              <a:lnSpc>
                <a:spcPct val="100000"/>
              </a:lnSpc>
              <a:spcBef>
                <a:spcPts val="105"/>
              </a:spcBef>
            </a:pPr>
            <a:r>
              <a:rPr dirty="0" sz="2400" spc="-10">
                <a:solidFill>
                  <a:srgbClr val="D1350F"/>
                </a:solidFill>
                <a:latin typeface="Calibri"/>
                <a:cs typeface="Calibri"/>
              </a:rPr>
              <a:t>−</a:t>
            </a:r>
            <a:r>
              <a:rPr dirty="0" sz="2400" spc="-10">
                <a:solidFill>
                  <a:srgbClr val="4E3629"/>
                </a:solidFill>
                <a:latin typeface="Calibri"/>
                <a:cs typeface="Calibri"/>
              </a:rPr>
              <a:t>NULLIF</a:t>
            </a:r>
            <a:endParaRPr sz="2400">
              <a:latin typeface="Calibri"/>
              <a:cs typeface="Calibri"/>
            </a:endParaRPr>
          </a:p>
          <a:p>
            <a:pPr marL="355600">
              <a:lnSpc>
                <a:spcPct val="100000"/>
              </a:lnSpc>
              <a:spcBef>
                <a:spcPts val="120"/>
              </a:spcBef>
            </a:pPr>
            <a:r>
              <a:rPr dirty="0" sz="2400" spc="-10">
                <a:solidFill>
                  <a:srgbClr val="D1350F"/>
                </a:solidFill>
                <a:latin typeface="Calibri"/>
                <a:cs typeface="Calibri"/>
              </a:rPr>
              <a:t>−</a:t>
            </a:r>
            <a:r>
              <a:rPr dirty="0" sz="2400" spc="-10">
                <a:solidFill>
                  <a:srgbClr val="4E3629"/>
                </a:solidFill>
                <a:latin typeface="Calibri"/>
                <a:cs typeface="Calibri"/>
              </a:rPr>
              <a:t>COALESCE</a:t>
            </a:r>
            <a:endParaRPr sz="24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Función</a:t>
            </a:r>
            <a:r>
              <a:rPr dirty="0" spc="-95"/>
              <a:t> </a:t>
            </a:r>
            <a:r>
              <a:rPr dirty="0" spc="-25"/>
              <a:t>NVL</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10</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453630" cy="2576195"/>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función</a:t>
            </a:r>
            <a:r>
              <a:rPr dirty="0" u="heavy" sz="2800" spc="-2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NVL</a:t>
            </a:r>
            <a:r>
              <a:rPr dirty="0" u="heavy" sz="2800" spc="-2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convierte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3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valor</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conocido</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tipo</a:t>
            </a:r>
            <a:r>
              <a:rPr dirty="0" u="heavy" sz="2800" spc="-3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fijo,</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fecha,</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0">
                <a:solidFill>
                  <a:srgbClr val="4E3629"/>
                </a:solidFill>
                <a:uFill>
                  <a:solidFill>
                    <a:srgbClr val="EC2814"/>
                  </a:solidFill>
                </a:uFill>
                <a:latin typeface="Calibri"/>
                <a:cs typeface="Calibri"/>
              </a:rPr>
              <a:t>carácter</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numérico</a:t>
            </a:r>
            <a:endParaRPr sz="2800">
              <a:latin typeface="Calibri"/>
              <a:cs typeface="Calibri"/>
            </a:endParaRPr>
          </a:p>
          <a:p>
            <a:pPr marL="182880" marR="163195"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Los</a:t>
            </a:r>
            <a:r>
              <a:rPr dirty="0" sz="2800" spc="-40">
                <a:solidFill>
                  <a:srgbClr val="4E3629"/>
                </a:solidFill>
                <a:latin typeface="Calibri"/>
                <a:cs typeface="Calibri"/>
              </a:rPr>
              <a:t> </a:t>
            </a:r>
            <a:r>
              <a:rPr dirty="0" sz="2800">
                <a:solidFill>
                  <a:srgbClr val="4E3629"/>
                </a:solidFill>
                <a:latin typeface="Calibri"/>
                <a:cs typeface="Calibri"/>
              </a:rPr>
              <a:t>tipos</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columna</a:t>
            </a:r>
            <a:r>
              <a:rPr dirty="0" sz="2800" spc="-2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valor</a:t>
            </a:r>
            <a:r>
              <a:rPr dirty="0" sz="2800" spc="-55">
                <a:solidFill>
                  <a:srgbClr val="4E3629"/>
                </a:solidFill>
                <a:latin typeface="Calibri"/>
                <a:cs typeface="Calibri"/>
              </a:rPr>
              <a:t> </a:t>
            </a:r>
            <a:r>
              <a:rPr dirty="0" sz="2800">
                <a:solidFill>
                  <a:srgbClr val="4E3629"/>
                </a:solidFill>
                <a:latin typeface="Calibri"/>
                <a:cs typeface="Calibri"/>
              </a:rPr>
              <a:t>nulo</a:t>
            </a:r>
            <a:r>
              <a:rPr dirty="0" sz="2800" spc="-25">
                <a:solidFill>
                  <a:srgbClr val="4E3629"/>
                </a:solidFill>
                <a:latin typeface="Calibri"/>
                <a:cs typeface="Calibri"/>
              </a:rPr>
              <a:t> </a:t>
            </a:r>
            <a:r>
              <a:rPr dirty="0" sz="2800">
                <a:solidFill>
                  <a:srgbClr val="4E3629"/>
                </a:solidFill>
                <a:latin typeface="Calibri"/>
                <a:cs typeface="Calibri"/>
              </a:rPr>
              <a:t>y</a:t>
            </a:r>
            <a:r>
              <a:rPr dirty="0" sz="2800" spc="-5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nuevo</a:t>
            </a:r>
            <a:r>
              <a:rPr dirty="0" sz="2800" spc="-55">
                <a:solidFill>
                  <a:srgbClr val="4E3629"/>
                </a:solidFill>
                <a:latin typeface="Calibri"/>
                <a:cs typeface="Calibri"/>
              </a:rPr>
              <a:t> </a:t>
            </a:r>
            <a:r>
              <a:rPr dirty="0" sz="2800">
                <a:solidFill>
                  <a:srgbClr val="4E3629"/>
                </a:solidFill>
                <a:latin typeface="Calibri"/>
                <a:cs typeface="Calibri"/>
              </a:rPr>
              <a:t>valor</a:t>
            </a:r>
            <a:r>
              <a:rPr dirty="0" sz="2800" spc="-65">
                <a:solidFill>
                  <a:srgbClr val="4E3629"/>
                </a:solidFill>
                <a:latin typeface="Calibri"/>
                <a:cs typeface="Calibri"/>
              </a:rPr>
              <a:t> </a:t>
            </a:r>
            <a:r>
              <a:rPr dirty="0" sz="2800">
                <a:solidFill>
                  <a:srgbClr val="4E3629"/>
                </a:solidFill>
                <a:latin typeface="Calibri"/>
                <a:cs typeface="Calibri"/>
              </a:rPr>
              <a:t>deben</a:t>
            </a:r>
            <a:r>
              <a:rPr dirty="0" sz="2800" spc="-45">
                <a:solidFill>
                  <a:srgbClr val="4E3629"/>
                </a:solidFill>
                <a:latin typeface="Calibri"/>
                <a:cs typeface="Calibri"/>
              </a:rPr>
              <a:t> </a:t>
            </a:r>
            <a:r>
              <a:rPr dirty="0" sz="2800">
                <a:solidFill>
                  <a:srgbClr val="4E3629"/>
                </a:solidFill>
                <a:latin typeface="Calibri"/>
                <a:cs typeface="Calibri"/>
              </a:rPr>
              <a:t>ser</a:t>
            </a:r>
            <a:r>
              <a:rPr dirty="0" sz="2800" spc="-55">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spc="-10">
                <a:solidFill>
                  <a:srgbClr val="4E3629"/>
                </a:solidFill>
                <a:latin typeface="Calibri"/>
                <a:cs typeface="Calibri"/>
              </a:rPr>
              <a:t>mismos</a:t>
            </a:r>
            <a:endParaRPr sz="2800">
              <a:latin typeface="Calibri"/>
              <a:cs typeface="Calibri"/>
            </a:endParaRPr>
          </a:p>
          <a:p>
            <a:pPr marL="183515" indent="-170815">
              <a:lnSpc>
                <a:spcPct val="100000"/>
              </a:lnSpc>
              <a:spcBef>
                <a:spcPts val="420"/>
              </a:spcBef>
              <a:buClr>
                <a:srgbClr val="D1350F"/>
              </a:buClr>
              <a:buFont typeface="Arial MT"/>
              <a:buChar char="•"/>
              <a:tabLst>
                <a:tab pos="18351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función</a:t>
            </a:r>
            <a:r>
              <a:rPr dirty="0" sz="2800" spc="-20">
                <a:solidFill>
                  <a:srgbClr val="4E3629"/>
                </a:solidFill>
                <a:latin typeface="Calibri"/>
                <a:cs typeface="Calibri"/>
              </a:rPr>
              <a:t> </a:t>
            </a:r>
            <a:r>
              <a:rPr dirty="0" sz="2800">
                <a:solidFill>
                  <a:srgbClr val="4E3629"/>
                </a:solidFill>
                <a:latin typeface="Calibri"/>
                <a:cs typeface="Calibri"/>
              </a:rPr>
              <a:t>NVL</a:t>
            </a:r>
            <a:r>
              <a:rPr dirty="0" sz="2800" spc="-20">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descr=""/>
          <p:cNvSpPr txBox="1"/>
          <p:nvPr/>
        </p:nvSpPr>
        <p:spPr>
          <a:xfrm>
            <a:off x="483552" y="4510661"/>
            <a:ext cx="7728584"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NVL</a:t>
            </a:r>
            <a:r>
              <a:rPr dirty="0" sz="2800" spc="-5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o</a:t>
            </a:r>
            <a:r>
              <a:rPr dirty="0" sz="2800" spc="-60">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pueden</a:t>
            </a:r>
            <a:r>
              <a:rPr dirty="0" sz="2800" spc="-20">
                <a:solidFill>
                  <a:srgbClr val="4E3629"/>
                </a:solidFill>
                <a:latin typeface="Calibri"/>
                <a:cs typeface="Calibri"/>
              </a:rPr>
              <a:t> </a:t>
            </a:r>
            <a:r>
              <a:rPr dirty="0" sz="2800" spc="-10">
                <a:solidFill>
                  <a:srgbClr val="4E3629"/>
                </a:solidFill>
                <a:latin typeface="Calibri"/>
                <a:cs typeface="Calibri"/>
              </a:rPr>
              <a:t>contener</a:t>
            </a:r>
            <a:r>
              <a:rPr dirty="0" sz="2800" spc="-60">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spc="-10">
                <a:solidFill>
                  <a:srgbClr val="4E3629"/>
                </a:solidFill>
                <a:latin typeface="Calibri"/>
                <a:cs typeface="Calibri"/>
              </a:rPr>
              <a:t>valor </a:t>
            </a:r>
            <a:r>
              <a:rPr dirty="0" sz="2800" spc="-10">
                <a:solidFill>
                  <a:srgbClr val="4E3629"/>
                </a:solidFill>
                <a:latin typeface="Calibri"/>
                <a:cs typeface="Calibri"/>
              </a:rPr>
              <a:t>	</a:t>
            </a:r>
            <a:r>
              <a:rPr dirty="0" sz="2800">
                <a:solidFill>
                  <a:srgbClr val="4E3629"/>
                </a:solidFill>
                <a:latin typeface="Calibri"/>
                <a:cs typeface="Calibri"/>
              </a:rPr>
              <a:t>nulo,</a:t>
            </a:r>
            <a:r>
              <a:rPr dirty="0" sz="2800" spc="-6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valor</a:t>
            </a:r>
            <a:r>
              <a:rPr dirty="0" sz="2800" spc="-80">
                <a:solidFill>
                  <a:srgbClr val="4E3629"/>
                </a:solidFill>
                <a:latin typeface="Calibri"/>
                <a:cs typeface="Calibri"/>
              </a:rPr>
              <a:t> </a:t>
            </a:r>
            <a:r>
              <a:rPr dirty="0" sz="280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sustituir</a:t>
            </a:r>
            <a:r>
              <a:rPr dirty="0" sz="2800" spc="-30">
                <a:solidFill>
                  <a:srgbClr val="4E3629"/>
                </a:solidFill>
                <a:latin typeface="Calibri"/>
                <a:cs typeface="Calibri"/>
              </a:rPr>
              <a:t> </a:t>
            </a:r>
            <a:r>
              <a:rPr dirty="0" sz="2800">
                <a:solidFill>
                  <a:srgbClr val="4E3629"/>
                </a:solidFill>
                <a:latin typeface="Calibri"/>
                <a:cs typeface="Calibri"/>
              </a:rPr>
              <a:t>un</a:t>
            </a:r>
            <a:r>
              <a:rPr dirty="0" sz="2800" spc="-70">
                <a:solidFill>
                  <a:srgbClr val="4E3629"/>
                </a:solidFill>
                <a:latin typeface="Calibri"/>
                <a:cs typeface="Calibri"/>
              </a:rPr>
              <a:t> </a:t>
            </a:r>
            <a:r>
              <a:rPr dirty="0" sz="2800">
                <a:solidFill>
                  <a:srgbClr val="4E3629"/>
                </a:solidFill>
                <a:latin typeface="Calibri"/>
                <a:cs typeface="Calibri"/>
              </a:rPr>
              <a:t>valor</a:t>
            </a:r>
            <a:r>
              <a:rPr dirty="0" sz="2800" spc="-85">
                <a:solidFill>
                  <a:srgbClr val="4E3629"/>
                </a:solidFill>
                <a:latin typeface="Calibri"/>
                <a:cs typeface="Calibri"/>
              </a:rPr>
              <a:t> </a:t>
            </a:r>
            <a:r>
              <a:rPr dirty="0" sz="2800" spc="-10">
                <a:solidFill>
                  <a:srgbClr val="4E3629"/>
                </a:solidFill>
                <a:latin typeface="Calibri"/>
                <a:cs typeface="Calibri"/>
              </a:rPr>
              <a:t>nulo)</a:t>
            </a:r>
            <a:endParaRPr sz="2800">
              <a:latin typeface="Calibri"/>
              <a:cs typeface="Calibri"/>
            </a:endParaRPr>
          </a:p>
        </p:txBody>
      </p:sp>
      <p:sp>
        <p:nvSpPr>
          <p:cNvPr id="5" name="object 5" descr=""/>
          <p:cNvSpPr txBox="1"/>
          <p:nvPr/>
        </p:nvSpPr>
        <p:spPr>
          <a:xfrm>
            <a:off x="405384" y="3982211"/>
            <a:ext cx="8345805" cy="563880"/>
          </a:xfrm>
          <a:prstGeom prst="rect">
            <a:avLst/>
          </a:prstGeom>
          <a:solidFill>
            <a:srgbClr val="9DBEC4">
              <a:alpha val="50199"/>
            </a:srgbClr>
          </a:solidFill>
        </p:spPr>
        <p:txBody>
          <a:bodyPr wrap="square" lIns="0" tIns="0" rIns="0" bIns="0" rtlCol="0" vert="horz">
            <a:spAutoFit/>
          </a:bodyPr>
          <a:lstStyle/>
          <a:p>
            <a:pPr>
              <a:lnSpc>
                <a:spcPts val="2010"/>
              </a:lnSpc>
            </a:pPr>
            <a:r>
              <a:rPr dirty="0" sz="1800" b="1">
                <a:solidFill>
                  <a:srgbClr val="4E3629"/>
                </a:solidFill>
                <a:latin typeface="Courier New"/>
                <a:cs typeface="Courier New"/>
              </a:rPr>
              <a:t>NVL</a:t>
            </a:r>
            <a:r>
              <a:rPr dirty="0" sz="1800" spc="-55" b="1">
                <a:solidFill>
                  <a:srgbClr val="4E3629"/>
                </a:solidFill>
                <a:latin typeface="Courier New"/>
                <a:cs typeface="Courier New"/>
              </a:rPr>
              <a:t> </a:t>
            </a:r>
            <a:r>
              <a:rPr dirty="0" sz="1800" b="1">
                <a:solidFill>
                  <a:srgbClr val="4E3629"/>
                </a:solidFill>
                <a:latin typeface="Courier New"/>
                <a:cs typeface="Courier New"/>
              </a:rPr>
              <a:t>(expression</a:t>
            </a:r>
            <a:r>
              <a:rPr dirty="0" sz="1800" spc="-55" b="1">
                <a:solidFill>
                  <a:srgbClr val="4E3629"/>
                </a:solidFill>
                <a:latin typeface="Courier New"/>
                <a:cs typeface="Courier New"/>
              </a:rPr>
              <a:t> </a:t>
            </a:r>
            <a:r>
              <a:rPr dirty="0" sz="1800" b="1">
                <a:solidFill>
                  <a:srgbClr val="4E3629"/>
                </a:solidFill>
                <a:latin typeface="Courier New"/>
                <a:cs typeface="Courier New"/>
              </a:rPr>
              <a:t>1</a:t>
            </a:r>
            <a:r>
              <a:rPr dirty="0" sz="1800" spc="-45" b="1">
                <a:solidFill>
                  <a:srgbClr val="4E3629"/>
                </a:solidFill>
                <a:latin typeface="Courier New"/>
                <a:cs typeface="Courier New"/>
              </a:rPr>
              <a:t> </a:t>
            </a:r>
            <a:r>
              <a:rPr dirty="0" sz="1800" b="1">
                <a:solidFill>
                  <a:srgbClr val="4E3629"/>
                </a:solidFill>
                <a:latin typeface="Courier New"/>
                <a:cs typeface="Courier New"/>
              </a:rPr>
              <a:t>value</a:t>
            </a:r>
            <a:r>
              <a:rPr dirty="0" sz="1800" spc="-45" b="1">
                <a:solidFill>
                  <a:srgbClr val="4E3629"/>
                </a:solidFill>
                <a:latin typeface="Courier New"/>
                <a:cs typeface="Courier New"/>
              </a:rPr>
              <a:t> </a:t>
            </a:r>
            <a:r>
              <a:rPr dirty="0" sz="1800" b="1">
                <a:solidFill>
                  <a:srgbClr val="4E3629"/>
                </a:solidFill>
                <a:latin typeface="Courier New"/>
                <a:cs typeface="Courier New"/>
              </a:rPr>
              <a:t>that</a:t>
            </a:r>
            <a:r>
              <a:rPr dirty="0" sz="1800" spc="-45" b="1">
                <a:solidFill>
                  <a:srgbClr val="4E3629"/>
                </a:solidFill>
                <a:latin typeface="Courier New"/>
                <a:cs typeface="Courier New"/>
              </a:rPr>
              <a:t> </a:t>
            </a:r>
            <a:r>
              <a:rPr dirty="0" sz="1800" b="1">
                <a:solidFill>
                  <a:srgbClr val="4E3629"/>
                </a:solidFill>
                <a:latin typeface="Courier New"/>
                <a:cs typeface="Courier New"/>
              </a:rPr>
              <a:t>may</a:t>
            </a:r>
            <a:r>
              <a:rPr dirty="0" sz="1800" spc="-60" b="1">
                <a:solidFill>
                  <a:srgbClr val="4E3629"/>
                </a:solidFill>
                <a:latin typeface="Courier New"/>
                <a:cs typeface="Courier New"/>
              </a:rPr>
              <a:t> </a:t>
            </a:r>
            <a:r>
              <a:rPr dirty="0" sz="1800" b="1">
                <a:solidFill>
                  <a:srgbClr val="4E3629"/>
                </a:solidFill>
                <a:latin typeface="Courier New"/>
                <a:cs typeface="Courier New"/>
              </a:rPr>
              <a:t>contain</a:t>
            </a:r>
            <a:r>
              <a:rPr dirty="0" sz="1800" spc="-55" b="1">
                <a:solidFill>
                  <a:srgbClr val="4E3629"/>
                </a:solidFill>
                <a:latin typeface="Courier New"/>
                <a:cs typeface="Courier New"/>
              </a:rPr>
              <a:t> </a:t>
            </a:r>
            <a:r>
              <a:rPr dirty="0" sz="1800" b="1">
                <a:solidFill>
                  <a:srgbClr val="4E3629"/>
                </a:solidFill>
                <a:latin typeface="Courier New"/>
                <a:cs typeface="Courier New"/>
              </a:rPr>
              <a:t>a</a:t>
            </a:r>
            <a:r>
              <a:rPr dirty="0" sz="1800" spc="-55" b="1">
                <a:solidFill>
                  <a:srgbClr val="4E3629"/>
                </a:solidFill>
                <a:latin typeface="Courier New"/>
                <a:cs typeface="Courier New"/>
              </a:rPr>
              <a:t> </a:t>
            </a:r>
            <a:r>
              <a:rPr dirty="0" sz="1800" b="1">
                <a:solidFill>
                  <a:srgbClr val="4E3629"/>
                </a:solidFill>
                <a:latin typeface="Courier New"/>
                <a:cs typeface="Courier New"/>
              </a:rPr>
              <a:t>null,</a:t>
            </a:r>
            <a:r>
              <a:rPr dirty="0" sz="1800" spc="-55" b="1">
                <a:solidFill>
                  <a:srgbClr val="4E3629"/>
                </a:solidFill>
                <a:latin typeface="Courier New"/>
                <a:cs typeface="Courier New"/>
              </a:rPr>
              <a:t> </a:t>
            </a:r>
            <a:r>
              <a:rPr dirty="0" sz="1800" b="1">
                <a:solidFill>
                  <a:srgbClr val="4E3629"/>
                </a:solidFill>
                <a:latin typeface="Courier New"/>
                <a:cs typeface="Courier New"/>
              </a:rPr>
              <a:t>expression</a:t>
            </a:r>
            <a:r>
              <a:rPr dirty="0" sz="1800" spc="-50" b="1">
                <a:solidFill>
                  <a:srgbClr val="4E3629"/>
                </a:solidFill>
                <a:latin typeface="Courier New"/>
                <a:cs typeface="Courier New"/>
              </a:rPr>
              <a:t> 2</a:t>
            </a:r>
            <a:endParaRPr sz="1800">
              <a:latin typeface="Courier New"/>
              <a:cs typeface="Courier New"/>
            </a:endParaRPr>
          </a:p>
          <a:p>
            <a:pPr>
              <a:lnSpc>
                <a:spcPct val="100000"/>
              </a:lnSpc>
            </a:pPr>
            <a:r>
              <a:rPr dirty="0" sz="1800" b="1">
                <a:solidFill>
                  <a:srgbClr val="4E3629"/>
                </a:solidFill>
                <a:latin typeface="Courier New"/>
                <a:cs typeface="Courier New"/>
              </a:rPr>
              <a:t>value</a:t>
            </a:r>
            <a:r>
              <a:rPr dirty="0" sz="1800" spc="-60" b="1">
                <a:solidFill>
                  <a:srgbClr val="4E3629"/>
                </a:solidFill>
                <a:latin typeface="Courier New"/>
                <a:cs typeface="Courier New"/>
              </a:rPr>
              <a:t> </a:t>
            </a:r>
            <a:r>
              <a:rPr dirty="0" sz="1800" b="1">
                <a:solidFill>
                  <a:srgbClr val="4E3629"/>
                </a:solidFill>
                <a:latin typeface="Courier New"/>
                <a:cs typeface="Courier New"/>
              </a:rPr>
              <a:t>to</a:t>
            </a:r>
            <a:r>
              <a:rPr dirty="0" sz="1800" spc="-50" b="1">
                <a:solidFill>
                  <a:srgbClr val="4E3629"/>
                </a:solidFill>
                <a:latin typeface="Courier New"/>
                <a:cs typeface="Courier New"/>
              </a:rPr>
              <a:t> </a:t>
            </a:r>
            <a:r>
              <a:rPr dirty="0" sz="1800" b="1">
                <a:solidFill>
                  <a:srgbClr val="4E3629"/>
                </a:solidFill>
                <a:latin typeface="Courier New"/>
                <a:cs typeface="Courier New"/>
              </a:rPr>
              <a:t>substitute</a:t>
            </a:r>
            <a:r>
              <a:rPr dirty="0" sz="1800" spc="-50" b="1">
                <a:solidFill>
                  <a:srgbClr val="4E3629"/>
                </a:solidFill>
                <a:latin typeface="Courier New"/>
                <a:cs typeface="Courier New"/>
              </a:rPr>
              <a:t> </a:t>
            </a:r>
            <a:r>
              <a:rPr dirty="0" sz="1800" b="1">
                <a:solidFill>
                  <a:srgbClr val="4E3629"/>
                </a:solidFill>
                <a:latin typeface="Courier New"/>
                <a:cs typeface="Courier New"/>
              </a:rPr>
              <a:t>for</a:t>
            </a:r>
            <a:r>
              <a:rPr dirty="0" sz="1800" spc="-40" b="1">
                <a:solidFill>
                  <a:srgbClr val="4E3629"/>
                </a:solidFill>
                <a:latin typeface="Courier New"/>
                <a:cs typeface="Courier New"/>
              </a:rPr>
              <a:t> </a:t>
            </a:r>
            <a:r>
              <a:rPr dirty="0" sz="1800" spc="-10" b="1">
                <a:solidFill>
                  <a:srgbClr val="4E3629"/>
                </a:solidFill>
                <a:latin typeface="Courier New"/>
                <a:cs typeface="Courier New"/>
              </a:rPr>
              <a:t>null)</a:t>
            </a:r>
            <a:endParaRPr sz="1800">
              <a:latin typeface="Courier New"/>
              <a:cs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Función</a:t>
            </a:r>
            <a:r>
              <a:rPr dirty="0" spc="-95"/>
              <a:t> </a:t>
            </a:r>
            <a:r>
              <a:rPr dirty="0" spc="-25"/>
              <a:t>NVL</a:t>
            </a:r>
          </a:p>
        </p:txBody>
      </p:sp>
      <p:sp>
        <p:nvSpPr>
          <p:cNvPr id="7" name="object 7"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11</a:t>
            </a: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671434"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siguiente</a:t>
            </a:r>
            <a:r>
              <a:rPr dirty="0" sz="2800" spc="-60">
                <a:solidFill>
                  <a:srgbClr val="4E3629"/>
                </a:solidFill>
                <a:latin typeface="Calibri"/>
                <a:cs typeface="Calibri"/>
              </a:rPr>
              <a:t> </a:t>
            </a:r>
            <a:r>
              <a:rPr dirty="0" sz="2800">
                <a:solidFill>
                  <a:srgbClr val="4E3629"/>
                </a:solidFill>
                <a:latin typeface="Calibri"/>
                <a:cs typeface="Calibri"/>
              </a:rPr>
              <a:t>consulta</a:t>
            </a:r>
            <a:r>
              <a:rPr dirty="0" sz="2800" spc="-35">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utiliza</a:t>
            </a:r>
            <a:r>
              <a:rPr dirty="0" sz="2800" spc="-5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función</a:t>
            </a:r>
            <a:r>
              <a:rPr dirty="0" sz="2800" spc="-55">
                <a:solidFill>
                  <a:srgbClr val="4E3629"/>
                </a:solidFill>
                <a:latin typeface="Calibri"/>
                <a:cs typeface="Calibri"/>
              </a:rPr>
              <a:t> </a:t>
            </a:r>
            <a:r>
              <a:rPr dirty="0" sz="2800">
                <a:solidFill>
                  <a:srgbClr val="4E3629"/>
                </a:solidFill>
                <a:latin typeface="Calibri"/>
                <a:cs typeface="Calibri"/>
              </a:rPr>
              <a:t>NVL</a:t>
            </a:r>
            <a:r>
              <a:rPr dirty="0" sz="2800" spc="-50">
                <a:solidFill>
                  <a:srgbClr val="4E3629"/>
                </a:solidFill>
                <a:latin typeface="Calibri"/>
                <a:cs typeface="Calibri"/>
              </a:rPr>
              <a:t> </a:t>
            </a:r>
            <a:r>
              <a:rPr dirty="0" sz="2800" spc="-25">
                <a:solidFill>
                  <a:srgbClr val="4E3629"/>
                </a:solidFill>
                <a:latin typeface="Calibri"/>
                <a:cs typeface="Calibri"/>
              </a:rPr>
              <a:t>con </a:t>
            </a:r>
            <a:r>
              <a:rPr dirty="0" sz="2800" spc="-25">
                <a:solidFill>
                  <a:srgbClr val="4E3629"/>
                </a:solidFill>
                <a:latin typeface="Calibri"/>
                <a:cs typeface="Calibri"/>
              </a:rPr>
              <a:t>	</a:t>
            </a:r>
            <a:r>
              <a:rPr dirty="0" sz="2800">
                <a:solidFill>
                  <a:srgbClr val="4E3629"/>
                </a:solidFill>
                <a:latin typeface="Calibri"/>
                <a:cs typeface="Calibri"/>
              </a:rPr>
              <a:t>tipos</a:t>
            </a:r>
            <a:r>
              <a:rPr dirty="0" sz="2800" spc="-3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dato</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carácter:</a:t>
            </a:r>
            <a:endParaRPr sz="2800">
              <a:latin typeface="Calibri"/>
              <a:cs typeface="Calibri"/>
            </a:endParaRPr>
          </a:p>
        </p:txBody>
      </p:sp>
      <p:sp>
        <p:nvSpPr>
          <p:cNvPr id="4" name="object 4" descr=""/>
          <p:cNvSpPr txBox="1"/>
          <p:nvPr/>
        </p:nvSpPr>
        <p:spPr>
          <a:xfrm>
            <a:off x="483552" y="3742565"/>
            <a:ext cx="4606290" cy="836294"/>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nulos</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sustituyen</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por</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texto</a:t>
            </a:r>
            <a:r>
              <a:rPr dirty="0" u="heavy" sz="2800" spc="-7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'None'</a:t>
            </a:r>
            <a:endParaRPr sz="2800">
              <a:latin typeface="Calibri"/>
              <a:cs typeface="Calibri"/>
            </a:endParaRPr>
          </a:p>
        </p:txBody>
      </p:sp>
      <p:graphicFrame>
        <p:nvGraphicFramePr>
          <p:cNvPr id="5" name="object 5" descr=""/>
          <p:cNvGraphicFramePr>
            <a:graphicFrameLocks noGrp="1"/>
          </p:cNvGraphicFramePr>
          <p:nvPr/>
        </p:nvGraphicFramePr>
        <p:xfrm>
          <a:off x="5254949" y="3868157"/>
          <a:ext cx="3566795" cy="2413000"/>
        </p:xfrm>
        <a:graphic>
          <a:graphicData uri="http://schemas.openxmlformats.org/drawingml/2006/table">
            <a:tbl>
              <a:tblPr firstRow="1" bandRow="1">
                <a:tableStyleId>{2D5ABB26-0587-4C30-8999-92F81FD0307C}</a:tableStyleId>
              </a:tblPr>
              <a:tblGrid>
                <a:gridCol w="2167255"/>
                <a:gridCol w="1310640"/>
              </a:tblGrid>
              <a:tr h="464184">
                <a:tc>
                  <a:txBody>
                    <a:bodyPr/>
                    <a:lstStyle/>
                    <a:p>
                      <a:pPr marL="71755">
                        <a:lnSpc>
                          <a:spcPct val="100000"/>
                        </a:lnSpc>
                        <a:spcBef>
                          <a:spcPts val="765"/>
                        </a:spcBef>
                      </a:pPr>
                      <a:r>
                        <a:rPr dirty="0" sz="1600" spc="-10" b="1">
                          <a:solidFill>
                            <a:srgbClr val="4E3629"/>
                          </a:solidFill>
                          <a:latin typeface="Calibri"/>
                          <a:cs typeface="Calibri"/>
                        </a:rPr>
                        <a:t>COUNTRY_NAME</a:t>
                      </a:r>
                      <a:endParaRPr sz="1600">
                        <a:latin typeface="Calibri"/>
                        <a:cs typeface="Calibri"/>
                      </a:endParaRPr>
                    </a:p>
                  </a:txBody>
                  <a:tcPr marL="0" marR="0" marB="0" marT="9715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765"/>
                        </a:spcBef>
                      </a:pPr>
                      <a:r>
                        <a:rPr dirty="0" sz="1600" spc="-10" b="1">
                          <a:solidFill>
                            <a:srgbClr val="4E3629"/>
                          </a:solidFill>
                          <a:latin typeface="Calibri"/>
                          <a:cs typeface="Calibri"/>
                        </a:rPr>
                        <a:t>Internet</a:t>
                      </a:r>
                      <a:r>
                        <a:rPr dirty="0" sz="1600" spc="-20" b="1">
                          <a:solidFill>
                            <a:srgbClr val="4E3629"/>
                          </a:solidFill>
                          <a:latin typeface="Calibri"/>
                          <a:cs typeface="Calibri"/>
                        </a:rPr>
                        <a:t> extn</a:t>
                      </a:r>
                      <a:endParaRPr sz="1600">
                        <a:latin typeface="Calibri"/>
                        <a:cs typeface="Calibri"/>
                      </a:endParaRPr>
                    </a:p>
                  </a:txBody>
                  <a:tcPr marL="0" marR="0" marB="0" marT="9715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70840">
                <a:tc>
                  <a:txBody>
                    <a:bodyPr/>
                    <a:lstStyle/>
                    <a:p>
                      <a:pPr marL="71755">
                        <a:lnSpc>
                          <a:spcPct val="100000"/>
                        </a:lnSpc>
                        <a:spcBef>
                          <a:spcPts val="400"/>
                        </a:spcBef>
                      </a:pPr>
                      <a:r>
                        <a:rPr dirty="0" sz="1600">
                          <a:solidFill>
                            <a:srgbClr val="4E3629"/>
                          </a:solidFill>
                          <a:latin typeface="Calibri"/>
                          <a:cs typeface="Calibri"/>
                        </a:rPr>
                        <a:t>Juan</a:t>
                      </a:r>
                      <a:r>
                        <a:rPr dirty="0" sz="1600" spc="-35">
                          <a:solidFill>
                            <a:srgbClr val="4E3629"/>
                          </a:solidFill>
                          <a:latin typeface="Calibri"/>
                          <a:cs typeface="Calibri"/>
                        </a:rPr>
                        <a:t> </a:t>
                      </a:r>
                      <a:r>
                        <a:rPr dirty="0" sz="1600">
                          <a:solidFill>
                            <a:srgbClr val="4E3629"/>
                          </a:solidFill>
                          <a:latin typeface="Calibri"/>
                          <a:cs typeface="Calibri"/>
                        </a:rPr>
                        <a:t>de</a:t>
                      </a:r>
                      <a:r>
                        <a:rPr dirty="0" sz="1600" spc="-20">
                          <a:solidFill>
                            <a:srgbClr val="4E3629"/>
                          </a:solidFill>
                          <a:latin typeface="Calibri"/>
                          <a:cs typeface="Calibri"/>
                        </a:rPr>
                        <a:t> </a:t>
                      </a:r>
                      <a:r>
                        <a:rPr dirty="0" sz="1600">
                          <a:solidFill>
                            <a:srgbClr val="4E3629"/>
                          </a:solidFill>
                          <a:latin typeface="Calibri"/>
                          <a:cs typeface="Calibri"/>
                        </a:rPr>
                        <a:t>Nova</a:t>
                      </a:r>
                      <a:r>
                        <a:rPr dirty="0" sz="1600" spc="-5">
                          <a:solidFill>
                            <a:srgbClr val="4E3629"/>
                          </a:solidFill>
                          <a:latin typeface="Calibri"/>
                          <a:cs typeface="Calibri"/>
                        </a:rPr>
                        <a:t> </a:t>
                      </a:r>
                      <a:r>
                        <a:rPr dirty="0" sz="1600" spc="-10">
                          <a:solidFill>
                            <a:srgbClr val="4E3629"/>
                          </a:solidFill>
                          <a:latin typeface="Calibri"/>
                          <a:cs typeface="Calibri"/>
                        </a:rPr>
                        <a:t>Island</a:t>
                      </a:r>
                      <a:endParaRPr sz="1600">
                        <a:latin typeface="Calibri"/>
                        <a:cs typeface="Calibri"/>
                      </a:endParaRPr>
                    </a:p>
                  </a:txBody>
                  <a:tcPr marL="0" marR="0" marB="0" marT="508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400"/>
                        </a:spcBef>
                      </a:pPr>
                      <a:r>
                        <a:rPr dirty="0" sz="1600" spc="-20">
                          <a:solidFill>
                            <a:srgbClr val="4E3629"/>
                          </a:solidFill>
                          <a:latin typeface="Calibri"/>
                          <a:cs typeface="Calibri"/>
                        </a:rPr>
                        <a:t>None</a:t>
                      </a:r>
                      <a:endParaRPr sz="1600">
                        <a:latin typeface="Calibri"/>
                        <a:cs typeface="Calibri"/>
                      </a:endParaRPr>
                    </a:p>
                  </a:txBody>
                  <a:tcPr marL="0" marR="0" marB="0" marT="508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81000">
                <a:tc>
                  <a:txBody>
                    <a:bodyPr/>
                    <a:lstStyle/>
                    <a:p>
                      <a:pPr marL="71755">
                        <a:lnSpc>
                          <a:spcPct val="100000"/>
                        </a:lnSpc>
                        <a:spcBef>
                          <a:spcPts val="440"/>
                        </a:spcBef>
                      </a:pPr>
                      <a:r>
                        <a:rPr dirty="0" sz="1600">
                          <a:solidFill>
                            <a:srgbClr val="4E3629"/>
                          </a:solidFill>
                          <a:latin typeface="Calibri"/>
                          <a:cs typeface="Calibri"/>
                        </a:rPr>
                        <a:t>Europa</a:t>
                      </a:r>
                      <a:r>
                        <a:rPr dirty="0" sz="1600" spc="-60">
                          <a:solidFill>
                            <a:srgbClr val="4E3629"/>
                          </a:solidFill>
                          <a:latin typeface="Calibri"/>
                          <a:cs typeface="Calibri"/>
                        </a:rPr>
                        <a:t> </a:t>
                      </a:r>
                      <a:r>
                        <a:rPr dirty="0" sz="1600" spc="-10">
                          <a:solidFill>
                            <a:srgbClr val="4E3629"/>
                          </a:solidFill>
                          <a:latin typeface="Calibri"/>
                          <a:cs typeface="Calibri"/>
                        </a:rPr>
                        <a:t>Island</a:t>
                      </a:r>
                      <a:endParaRPr sz="1600">
                        <a:latin typeface="Calibri"/>
                        <a:cs typeface="Calibri"/>
                      </a:endParaRPr>
                    </a:p>
                  </a:txBody>
                  <a:tcPr marL="0" marR="0" marB="0" marT="558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440"/>
                        </a:spcBef>
                      </a:pPr>
                      <a:r>
                        <a:rPr dirty="0" sz="1600" spc="-20">
                          <a:solidFill>
                            <a:srgbClr val="4E3629"/>
                          </a:solidFill>
                          <a:latin typeface="Calibri"/>
                          <a:cs typeface="Calibri"/>
                        </a:rPr>
                        <a:t>None</a:t>
                      </a:r>
                      <a:endParaRPr sz="1600">
                        <a:latin typeface="Calibri"/>
                        <a:cs typeface="Calibri"/>
                      </a:endParaRPr>
                    </a:p>
                  </a:txBody>
                  <a:tcPr marL="0" marR="0" marB="0" marT="558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402590">
                <a:tc>
                  <a:txBody>
                    <a:bodyPr/>
                    <a:lstStyle/>
                    <a:p>
                      <a:pPr marL="71755">
                        <a:lnSpc>
                          <a:spcPct val="100000"/>
                        </a:lnSpc>
                        <a:spcBef>
                          <a:spcPts val="525"/>
                        </a:spcBef>
                      </a:pPr>
                      <a:r>
                        <a:rPr dirty="0" sz="1600">
                          <a:solidFill>
                            <a:srgbClr val="4E3629"/>
                          </a:solidFill>
                          <a:latin typeface="Calibri"/>
                          <a:cs typeface="Calibri"/>
                        </a:rPr>
                        <a:t>Republic</a:t>
                      </a:r>
                      <a:r>
                        <a:rPr dirty="0" sz="1600" spc="-50">
                          <a:solidFill>
                            <a:srgbClr val="4E3629"/>
                          </a:solidFill>
                          <a:latin typeface="Calibri"/>
                          <a:cs typeface="Calibri"/>
                        </a:rPr>
                        <a:t> </a:t>
                      </a:r>
                      <a:r>
                        <a:rPr dirty="0" sz="1600">
                          <a:solidFill>
                            <a:srgbClr val="4E3629"/>
                          </a:solidFill>
                          <a:latin typeface="Calibri"/>
                          <a:cs typeface="Calibri"/>
                        </a:rPr>
                        <a:t>of</a:t>
                      </a:r>
                      <a:r>
                        <a:rPr dirty="0" sz="1600" spc="-15">
                          <a:solidFill>
                            <a:srgbClr val="4E3629"/>
                          </a:solidFill>
                          <a:latin typeface="Calibri"/>
                          <a:cs typeface="Calibri"/>
                        </a:rPr>
                        <a:t> </a:t>
                      </a:r>
                      <a:r>
                        <a:rPr dirty="0" sz="1600" spc="-10">
                          <a:solidFill>
                            <a:srgbClr val="4E3629"/>
                          </a:solidFill>
                          <a:latin typeface="Calibri"/>
                          <a:cs typeface="Calibri"/>
                        </a:rPr>
                        <a:t>Zimbabwe</a:t>
                      </a:r>
                      <a:endParaRPr sz="1600">
                        <a:latin typeface="Calibri"/>
                        <a:cs typeface="Calibri"/>
                      </a:endParaRPr>
                    </a:p>
                  </a:txBody>
                  <a:tcPr marL="0" marR="0" marB="0" marT="666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25"/>
                        </a:spcBef>
                      </a:pPr>
                      <a:r>
                        <a:rPr dirty="0" sz="1600" spc="-25">
                          <a:solidFill>
                            <a:srgbClr val="4E3629"/>
                          </a:solidFill>
                          <a:latin typeface="Calibri"/>
                          <a:cs typeface="Calibri"/>
                        </a:rPr>
                        <a:t>.zw</a:t>
                      </a:r>
                      <a:endParaRPr sz="1600">
                        <a:latin typeface="Calibri"/>
                        <a:cs typeface="Calibri"/>
                      </a:endParaRPr>
                    </a:p>
                  </a:txBody>
                  <a:tcPr marL="0" marR="0" marB="0" marT="666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413384">
                <a:tc>
                  <a:txBody>
                    <a:bodyPr/>
                    <a:lstStyle/>
                    <a:p>
                      <a:pPr marL="71755">
                        <a:lnSpc>
                          <a:spcPct val="100000"/>
                        </a:lnSpc>
                        <a:spcBef>
                          <a:spcPts val="565"/>
                        </a:spcBef>
                      </a:pPr>
                      <a:r>
                        <a:rPr dirty="0" sz="1600">
                          <a:solidFill>
                            <a:srgbClr val="4E3629"/>
                          </a:solidFill>
                          <a:latin typeface="Calibri"/>
                          <a:cs typeface="Calibri"/>
                        </a:rPr>
                        <a:t>Republic</a:t>
                      </a:r>
                      <a:r>
                        <a:rPr dirty="0" sz="1600" spc="-50">
                          <a:solidFill>
                            <a:srgbClr val="4E3629"/>
                          </a:solidFill>
                          <a:latin typeface="Calibri"/>
                          <a:cs typeface="Calibri"/>
                        </a:rPr>
                        <a:t> </a:t>
                      </a:r>
                      <a:r>
                        <a:rPr dirty="0" sz="1600">
                          <a:solidFill>
                            <a:srgbClr val="4E3629"/>
                          </a:solidFill>
                          <a:latin typeface="Calibri"/>
                          <a:cs typeface="Calibri"/>
                        </a:rPr>
                        <a:t>of</a:t>
                      </a:r>
                      <a:r>
                        <a:rPr dirty="0" sz="1600" spc="-15">
                          <a:solidFill>
                            <a:srgbClr val="4E3629"/>
                          </a:solidFill>
                          <a:latin typeface="Calibri"/>
                          <a:cs typeface="Calibri"/>
                        </a:rPr>
                        <a:t> </a:t>
                      </a:r>
                      <a:r>
                        <a:rPr dirty="0" sz="1600" spc="-10">
                          <a:solidFill>
                            <a:srgbClr val="4E3629"/>
                          </a:solidFill>
                          <a:latin typeface="Calibri"/>
                          <a:cs typeface="Calibri"/>
                        </a:rPr>
                        <a:t>Zambia</a:t>
                      </a:r>
                      <a:endParaRPr sz="1600">
                        <a:latin typeface="Calibri"/>
                        <a:cs typeface="Calibri"/>
                      </a:endParaRPr>
                    </a:p>
                  </a:txBody>
                  <a:tcPr marL="0" marR="0" marB="0" marT="717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65"/>
                        </a:spcBef>
                      </a:pPr>
                      <a:r>
                        <a:rPr dirty="0" sz="1600" spc="-25">
                          <a:solidFill>
                            <a:srgbClr val="4E3629"/>
                          </a:solidFill>
                          <a:latin typeface="Calibri"/>
                          <a:cs typeface="Calibri"/>
                        </a:rPr>
                        <a:t>.zm</a:t>
                      </a:r>
                      <a:endParaRPr sz="1600">
                        <a:latin typeface="Calibri"/>
                        <a:cs typeface="Calibri"/>
                      </a:endParaRPr>
                    </a:p>
                  </a:txBody>
                  <a:tcPr marL="0" marR="0" marB="0" marT="717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81000">
                <a:tc>
                  <a:txBody>
                    <a:bodyPr/>
                    <a:lstStyle/>
                    <a:p>
                      <a:pPr marL="71755">
                        <a:lnSpc>
                          <a:spcPct val="100000"/>
                        </a:lnSpc>
                        <a:spcBef>
                          <a:spcPts val="439"/>
                        </a:spcBef>
                      </a:pPr>
                      <a:r>
                        <a:rPr dirty="0" sz="1600">
                          <a:solidFill>
                            <a:srgbClr val="4E3629"/>
                          </a:solidFill>
                          <a:latin typeface="Calibri"/>
                          <a:cs typeface="Calibri"/>
                        </a:rPr>
                        <a:t>Republic</a:t>
                      </a:r>
                      <a:r>
                        <a:rPr dirty="0" sz="1600" spc="-50">
                          <a:solidFill>
                            <a:srgbClr val="4E3629"/>
                          </a:solidFill>
                          <a:latin typeface="Calibri"/>
                          <a:cs typeface="Calibri"/>
                        </a:rPr>
                        <a:t> </a:t>
                      </a:r>
                      <a:r>
                        <a:rPr dirty="0" sz="1600">
                          <a:solidFill>
                            <a:srgbClr val="4E3629"/>
                          </a:solidFill>
                          <a:latin typeface="Calibri"/>
                          <a:cs typeface="Calibri"/>
                        </a:rPr>
                        <a:t>of</a:t>
                      </a:r>
                      <a:r>
                        <a:rPr dirty="0" sz="1600" spc="-15">
                          <a:solidFill>
                            <a:srgbClr val="4E3629"/>
                          </a:solidFill>
                          <a:latin typeface="Calibri"/>
                          <a:cs typeface="Calibri"/>
                        </a:rPr>
                        <a:t> </a:t>
                      </a:r>
                      <a:r>
                        <a:rPr dirty="0" sz="1600">
                          <a:solidFill>
                            <a:srgbClr val="4E3629"/>
                          </a:solidFill>
                          <a:latin typeface="Calibri"/>
                          <a:cs typeface="Calibri"/>
                        </a:rPr>
                        <a:t>South</a:t>
                      </a:r>
                      <a:r>
                        <a:rPr dirty="0" sz="1600" spc="-20">
                          <a:solidFill>
                            <a:srgbClr val="4E3629"/>
                          </a:solidFill>
                          <a:latin typeface="Calibri"/>
                          <a:cs typeface="Calibri"/>
                        </a:rPr>
                        <a:t> </a:t>
                      </a:r>
                      <a:r>
                        <a:rPr dirty="0" sz="1600" spc="-10">
                          <a:solidFill>
                            <a:srgbClr val="4E3629"/>
                          </a:solidFill>
                          <a:latin typeface="Calibri"/>
                          <a:cs typeface="Calibri"/>
                        </a:rPr>
                        <a:t>Africa</a:t>
                      </a:r>
                      <a:endParaRPr sz="1600">
                        <a:latin typeface="Calibri"/>
                        <a:cs typeface="Calibri"/>
                      </a:endParaRPr>
                    </a:p>
                  </a:txBody>
                  <a:tcPr marL="0" marR="0" marB="0" marT="5587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439"/>
                        </a:spcBef>
                      </a:pPr>
                      <a:r>
                        <a:rPr dirty="0" sz="1600" spc="-25">
                          <a:solidFill>
                            <a:srgbClr val="4E3629"/>
                          </a:solidFill>
                          <a:latin typeface="Calibri"/>
                          <a:cs typeface="Calibri"/>
                        </a:rPr>
                        <a:t>.za</a:t>
                      </a:r>
                      <a:endParaRPr sz="1600">
                        <a:latin typeface="Calibri"/>
                        <a:cs typeface="Calibri"/>
                      </a:endParaRPr>
                    </a:p>
                  </a:txBody>
                  <a:tcPr marL="0" marR="0" marB="0" marT="5587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6" name="object 6" descr=""/>
          <p:cNvSpPr txBox="1"/>
          <p:nvPr/>
        </p:nvSpPr>
        <p:spPr>
          <a:xfrm>
            <a:off x="405384" y="2253995"/>
            <a:ext cx="8345805" cy="1442085"/>
          </a:xfrm>
          <a:prstGeom prst="rect">
            <a:avLst/>
          </a:prstGeom>
          <a:solidFill>
            <a:srgbClr val="9DBEC4">
              <a:alpha val="50199"/>
            </a:srgbClr>
          </a:solidFill>
        </p:spPr>
        <p:txBody>
          <a:bodyPr wrap="square" lIns="0" tIns="7620" rIns="0" bIns="0" rtlCol="0" vert="horz">
            <a:spAutoFit/>
          </a:bodyPr>
          <a:lstStyle/>
          <a:p>
            <a:pPr marL="273685" marR="1239520" indent="-274955">
              <a:lnSpc>
                <a:spcPct val="100000"/>
              </a:lnSpc>
              <a:spcBef>
                <a:spcPts val="60"/>
              </a:spcBef>
            </a:pPr>
            <a:r>
              <a:rPr dirty="0" sz="1800" b="1">
                <a:solidFill>
                  <a:srgbClr val="4E3629"/>
                </a:solidFill>
                <a:latin typeface="Courier New"/>
                <a:cs typeface="Courier New"/>
              </a:rPr>
              <a:t>SELECT</a:t>
            </a:r>
            <a:r>
              <a:rPr dirty="0" sz="1800" spc="-135" b="1">
                <a:solidFill>
                  <a:srgbClr val="4E3629"/>
                </a:solidFill>
                <a:latin typeface="Courier New"/>
                <a:cs typeface="Courier New"/>
              </a:rPr>
              <a:t> </a:t>
            </a:r>
            <a:r>
              <a:rPr dirty="0" sz="1800" b="1">
                <a:solidFill>
                  <a:srgbClr val="4E3629"/>
                </a:solidFill>
                <a:latin typeface="Courier New"/>
                <a:cs typeface="Courier New"/>
              </a:rPr>
              <a:t>country_name,</a:t>
            </a:r>
            <a:r>
              <a:rPr dirty="0" sz="1800" spc="-140" b="1">
                <a:solidFill>
                  <a:srgbClr val="4E3629"/>
                </a:solidFill>
                <a:latin typeface="Courier New"/>
                <a:cs typeface="Courier New"/>
              </a:rPr>
              <a:t> </a:t>
            </a:r>
            <a:r>
              <a:rPr dirty="0" sz="1800" b="1">
                <a:solidFill>
                  <a:srgbClr val="4E3629"/>
                </a:solidFill>
                <a:latin typeface="Courier New"/>
                <a:cs typeface="Courier New"/>
              </a:rPr>
              <a:t>NVL(internet_extension,</a:t>
            </a:r>
            <a:r>
              <a:rPr dirty="0" sz="1800" spc="-135" b="1">
                <a:solidFill>
                  <a:srgbClr val="4E3629"/>
                </a:solidFill>
                <a:latin typeface="Courier New"/>
                <a:cs typeface="Courier New"/>
              </a:rPr>
              <a:t> </a:t>
            </a:r>
            <a:r>
              <a:rPr dirty="0" sz="1800" spc="-10" b="1">
                <a:solidFill>
                  <a:srgbClr val="4E3629"/>
                </a:solidFill>
                <a:latin typeface="Courier New"/>
                <a:cs typeface="Courier New"/>
              </a:rPr>
              <a:t>'None') </a:t>
            </a:r>
            <a:r>
              <a:rPr dirty="0" sz="1800" b="1">
                <a:solidFill>
                  <a:srgbClr val="4E3629"/>
                </a:solidFill>
                <a:latin typeface="Courier New"/>
                <a:cs typeface="Courier New"/>
              </a:rPr>
              <a:t>AS</a:t>
            </a:r>
            <a:r>
              <a:rPr dirty="0" sz="1800" spc="-60" b="1">
                <a:solidFill>
                  <a:srgbClr val="4E3629"/>
                </a:solidFill>
                <a:latin typeface="Courier New"/>
                <a:cs typeface="Courier New"/>
              </a:rPr>
              <a:t> </a:t>
            </a:r>
            <a:r>
              <a:rPr dirty="0" sz="1800" b="1">
                <a:solidFill>
                  <a:srgbClr val="4E3629"/>
                </a:solidFill>
                <a:latin typeface="Courier New"/>
                <a:cs typeface="Courier New"/>
              </a:rPr>
              <a:t>"Internet</a:t>
            </a:r>
            <a:r>
              <a:rPr dirty="0" sz="1800" spc="-55" b="1">
                <a:solidFill>
                  <a:srgbClr val="4E3629"/>
                </a:solidFill>
                <a:latin typeface="Courier New"/>
                <a:cs typeface="Courier New"/>
              </a:rPr>
              <a:t> </a:t>
            </a:r>
            <a:r>
              <a:rPr dirty="0" sz="1800" spc="-20" b="1">
                <a:solidFill>
                  <a:srgbClr val="4E3629"/>
                </a:solidFill>
                <a:latin typeface="Courier New"/>
                <a:cs typeface="Courier New"/>
              </a:rPr>
              <a:t>extn"</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wf_countries</a:t>
            </a:r>
            <a:endParaRPr sz="1800">
              <a:latin typeface="Courier New"/>
              <a:cs typeface="Courier New"/>
            </a:endParaRPr>
          </a:p>
          <a:p>
            <a:pPr marR="3696970">
              <a:lnSpc>
                <a:spcPct val="100000"/>
              </a:lnSpc>
            </a:pPr>
            <a:r>
              <a:rPr dirty="0" sz="1800" b="1">
                <a:solidFill>
                  <a:srgbClr val="4E3629"/>
                </a:solidFill>
                <a:latin typeface="Courier New"/>
                <a:cs typeface="Courier New"/>
              </a:rPr>
              <a:t>WHERE</a:t>
            </a:r>
            <a:r>
              <a:rPr dirty="0" sz="1800" spc="-70" b="1">
                <a:solidFill>
                  <a:srgbClr val="4E3629"/>
                </a:solidFill>
                <a:latin typeface="Courier New"/>
                <a:cs typeface="Courier New"/>
              </a:rPr>
              <a:t> </a:t>
            </a:r>
            <a:r>
              <a:rPr dirty="0" sz="1800" b="1">
                <a:solidFill>
                  <a:srgbClr val="4E3629"/>
                </a:solidFill>
                <a:latin typeface="Courier New"/>
                <a:cs typeface="Courier New"/>
              </a:rPr>
              <a:t>location</a:t>
            </a:r>
            <a:r>
              <a:rPr dirty="0" sz="1800" spc="-60" b="1">
                <a:solidFill>
                  <a:srgbClr val="4E3629"/>
                </a:solidFill>
                <a:latin typeface="Courier New"/>
                <a:cs typeface="Courier New"/>
              </a:rPr>
              <a:t> </a:t>
            </a:r>
            <a:r>
              <a:rPr dirty="0" sz="1800" b="1">
                <a:solidFill>
                  <a:srgbClr val="4E3629"/>
                </a:solidFill>
                <a:latin typeface="Courier New"/>
                <a:cs typeface="Courier New"/>
              </a:rPr>
              <a:t>=</a:t>
            </a:r>
            <a:r>
              <a:rPr dirty="0" sz="1800" spc="-60" b="1">
                <a:solidFill>
                  <a:srgbClr val="4E3629"/>
                </a:solidFill>
                <a:latin typeface="Courier New"/>
                <a:cs typeface="Courier New"/>
              </a:rPr>
              <a:t> </a:t>
            </a:r>
            <a:r>
              <a:rPr dirty="0" sz="1800" b="1">
                <a:solidFill>
                  <a:srgbClr val="4E3629"/>
                </a:solidFill>
                <a:latin typeface="Courier New"/>
                <a:cs typeface="Courier New"/>
              </a:rPr>
              <a:t>'Southern</a:t>
            </a:r>
            <a:r>
              <a:rPr dirty="0" sz="1800" spc="-55" b="1">
                <a:solidFill>
                  <a:srgbClr val="4E3629"/>
                </a:solidFill>
                <a:latin typeface="Courier New"/>
                <a:cs typeface="Courier New"/>
              </a:rPr>
              <a:t> </a:t>
            </a:r>
            <a:r>
              <a:rPr dirty="0" sz="1800" spc="-10" b="1">
                <a:solidFill>
                  <a:srgbClr val="4E3629"/>
                </a:solidFill>
                <a:latin typeface="Courier New"/>
                <a:cs typeface="Courier New"/>
              </a:rPr>
              <a:t>Africa' </a:t>
            </a:r>
            <a:r>
              <a:rPr dirty="0" sz="1800" b="1">
                <a:solidFill>
                  <a:srgbClr val="4E3629"/>
                </a:solidFill>
                <a:latin typeface="Courier New"/>
                <a:cs typeface="Courier New"/>
              </a:rPr>
              <a:t>ORDER</a:t>
            </a:r>
            <a:r>
              <a:rPr dirty="0" sz="1800" spc="-95" b="1">
                <a:solidFill>
                  <a:srgbClr val="4E3629"/>
                </a:solidFill>
                <a:latin typeface="Courier New"/>
                <a:cs typeface="Courier New"/>
              </a:rPr>
              <a:t> </a:t>
            </a:r>
            <a:r>
              <a:rPr dirty="0" sz="1800" b="1">
                <a:solidFill>
                  <a:srgbClr val="4E3629"/>
                </a:solidFill>
                <a:latin typeface="Courier New"/>
                <a:cs typeface="Courier New"/>
              </a:rPr>
              <a:t>BY</a:t>
            </a:r>
            <a:r>
              <a:rPr dirty="0" sz="1800" spc="-80" b="1">
                <a:solidFill>
                  <a:srgbClr val="4E3629"/>
                </a:solidFill>
                <a:latin typeface="Courier New"/>
                <a:cs typeface="Courier New"/>
              </a:rPr>
              <a:t> </a:t>
            </a:r>
            <a:r>
              <a:rPr dirty="0" sz="1800" b="1">
                <a:solidFill>
                  <a:srgbClr val="4E3629"/>
                </a:solidFill>
                <a:latin typeface="Courier New"/>
                <a:cs typeface="Courier New"/>
              </a:rPr>
              <a:t>internet_extension</a:t>
            </a:r>
            <a:r>
              <a:rPr dirty="0" sz="1800" spc="-80" b="1">
                <a:solidFill>
                  <a:srgbClr val="4E3629"/>
                </a:solidFill>
                <a:latin typeface="Courier New"/>
                <a:cs typeface="Courier New"/>
              </a:rPr>
              <a:t> </a:t>
            </a:r>
            <a:r>
              <a:rPr dirty="0" sz="1800" spc="-10" b="1">
                <a:solidFill>
                  <a:srgbClr val="4E3629"/>
                </a:solidFill>
                <a:latin typeface="Courier New"/>
                <a:cs typeface="Courier New"/>
              </a:rPr>
              <a:t>DESC;</a:t>
            </a:r>
            <a:endParaRPr sz="1800">
              <a:latin typeface="Courier New"/>
              <a:cs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Función</a:t>
            </a:r>
            <a:r>
              <a:rPr dirty="0" spc="-95"/>
              <a:t> </a:t>
            </a:r>
            <a:r>
              <a:rPr dirty="0" spc="-25"/>
              <a:t>NVL</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13</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035290" cy="3344545"/>
          </a:xfrm>
          <a:prstGeom prst="rect">
            <a:avLst/>
          </a:prstGeom>
        </p:spPr>
        <p:txBody>
          <a:bodyPr wrap="square" lIns="0" tIns="59690" rIns="0" bIns="0" rtlCol="0" vert="horz">
            <a:spAutoFit/>
          </a:bodyPr>
          <a:lstStyle/>
          <a:p>
            <a:pPr marL="159385" marR="5080" indent="-147320">
              <a:lnSpc>
                <a:spcPts val="3030"/>
              </a:lnSpc>
              <a:spcBef>
                <a:spcPts val="470"/>
              </a:spcBef>
              <a:buClr>
                <a:srgbClr val="D1350F"/>
              </a:buClr>
              <a:buFont typeface="Arial MT"/>
              <a:buChar char="•"/>
              <a:tabLst>
                <a:tab pos="184785" algn="l"/>
              </a:tabLst>
            </a:pPr>
            <a:r>
              <a:rPr dirty="0" u="heavy" sz="2800" spc="-5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utilizar</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función</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NVL</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convertir</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5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valores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de</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columna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contengan</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valores</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nulos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7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un</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número</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antes</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realizar</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8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cálculos</a:t>
            </a:r>
            <a:endParaRPr sz="2800">
              <a:latin typeface="Calibri"/>
              <a:cs typeface="Calibri"/>
            </a:endParaRPr>
          </a:p>
          <a:p>
            <a:pPr marL="182880" marR="35687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Cuando</a:t>
            </a:r>
            <a:r>
              <a:rPr dirty="0" sz="2800" spc="-6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realiza</a:t>
            </a:r>
            <a:r>
              <a:rPr dirty="0" sz="2800" spc="-80">
                <a:solidFill>
                  <a:srgbClr val="4E3629"/>
                </a:solidFill>
                <a:latin typeface="Calibri"/>
                <a:cs typeface="Calibri"/>
              </a:rPr>
              <a:t> </a:t>
            </a:r>
            <a:r>
              <a:rPr dirty="0" sz="2800">
                <a:solidFill>
                  <a:srgbClr val="4E3629"/>
                </a:solidFill>
                <a:latin typeface="Calibri"/>
                <a:cs typeface="Calibri"/>
              </a:rPr>
              <a:t>un</a:t>
            </a:r>
            <a:r>
              <a:rPr dirty="0" sz="2800" spc="-70">
                <a:solidFill>
                  <a:srgbClr val="4E3629"/>
                </a:solidFill>
                <a:latin typeface="Calibri"/>
                <a:cs typeface="Calibri"/>
              </a:rPr>
              <a:t> </a:t>
            </a:r>
            <a:r>
              <a:rPr dirty="0" sz="2800">
                <a:solidFill>
                  <a:srgbClr val="4E3629"/>
                </a:solidFill>
                <a:latin typeface="Calibri"/>
                <a:cs typeface="Calibri"/>
              </a:rPr>
              <a:t>cálculo</a:t>
            </a:r>
            <a:r>
              <a:rPr dirty="0" sz="2800" spc="-65">
                <a:solidFill>
                  <a:srgbClr val="4E3629"/>
                </a:solidFill>
                <a:latin typeface="Calibri"/>
                <a:cs typeface="Calibri"/>
              </a:rPr>
              <a:t> </a:t>
            </a:r>
            <a:r>
              <a:rPr dirty="0" sz="2800">
                <a:solidFill>
                  <a:srgbClr val="4E3629"/>
                </a:solidFill>
                <a:latin typeface="Calibri"/>
                <a:cs typeface="Calibri"/>
              </a:rPr>
              <a:t>aritmético</a:t>
            </a:r>
            <a:r>
              <a:rPr dirty="0" sz="2800" spc="-75">
                <a:solidFill>
                  <a:srgbClr val="4E3629"/>
                </a:solidFill>
                <a:latin typeface="Calibri"/>
                <a:cs typeface="Calibri"/>
              </a:rPr>
              <a:t> </a:t>
            </a:r>
            <a:r>
              <a:rPr dirty="0" sz="2800">
                <a:solidFill>
                  <a:srgbClr val="4E3629"/>
                </a:solidFill>
                <a:latin typeface="Calibri"/>
                <a:cs typeface="Calibri"/>
              </a:rPr>
              <a:t>con</a:t>
            </a:r>
            <a:r>
              <a:rPr dirty="0" sz="2800" spc="-70">
                <a:solidFill>
                  <a:srgbClr val="4E3629"/>
                </a:solidFill>
                <a:latin typeface="Calibri"/>
                <a:cs typeface="Calibri"/>
              </a:rPr>
              <a:t> </a:t>
            </a:r>
            <a:r>
              <a:rPr dirty="0" sz="2800">
                <a:solidFill>
                  <a:srgbClr val="4E3629"/>
                </a:solidFill>
                <a:latin typeface="Calibri"/>
                <a:cs typeface="Calibri"/>
              </a:rPr>
              <a:t>un</a:t>
            </a:r>
            <a:r>
              <a:rPr dirty="0" sz="2800" spc="-60">
                <a:solidFill>
                  <a:srgbClr val="4E3629"/>
                </a:solidFill>
                <a:latin typeface="Calibri"/>
                <a:cs typeface="Calibri"/>
              </a:rPr>
              <a:t> </a:t>
            </a:r>
            <a:r>
              <a:rPr dirty="0" sz="2800" spc="-10">
                <a:solidFill>
                  <a:srgbClr val="4E3629"/>
                </a:solidFill>
                <a:latin typeface="Calibri"/>
                <a:cs typeface="Calibri"/>
              </a:rPr>
              <a:t>valor </a:t>
            </a:r>
            <a:r>
              <a:rPr dirty="0" sz="2800" spc="-10">
                <a:solidFill>
                  <a:srgbClr val="4E3629"/>
                </a:solidFill>
                <a:latin typeface="Calibri"/>
                <a:cs typeface="Calibri"/>
              </a:rPr>
              <a:t>	</a:t>
            </a:r>
            <a:r>
              <a:rPr dirty="0" sz="2800">
                <a:solidFill>
                  <a:srgbClr val="4E3629"/>
                </a:solidFill>
                <a:latin typeface="Calibri"/>
                <a:cs typeface="Calibri"/>
              </a:rPr>
              <a:t>nulo,</a:t>
            </a:r>
            <a:r>
              <a:rPr dirty="0" sz="2800" spc="-60">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resultado</a:t>
            </a:r>
            <a:r>
              <a:rPr dirty="0" sz="2800" spc="-55">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20">
                <a:solidFill>
                  <a:srgbClr val="4E3629"/>
                </a:solidFill>
                <a:latin typeface="Calibri"/>
                <a:cs typeface="Calibri"/>
              </a:rPr>
              <a:t>nulo</a:t>
            </a:r>
            <a:endParaRPr sz="2800">
              <a:latin typeface="Calibri"/>
              <a:cs typeface="Calibri"/>
            </a:endParaRPr>
          </a:p>
          <a:p>
            <a:pPr marL="182880" marR="66484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función</a:t>
            </a:r>
            <a:r>
              <a:rPr dirty="0" sz="2800" spc="-25">
                <a:solidFill>
                  <a:srgbClr val="4E3629"/>
                </a:solidFill>
                <a:latin typeface="Calibri"/>
                <a:cs typeface="Calibri"/>
              </a:rPr>
              <a:t> </a:t>
            </a:r>
            <a:r>
              <a:rPr dirty="0" sz="2800">
                <a:solidFill>
                  <a:srgbClr val="4E3629"/>
                </a:solidFill>
                <a:latin typeface="Calibri"/>
                <a:cs typeface="Calibri"/>
              </a:rPr>
              <a:t>NVL</a:t>
            </a:r>
            <a:r>
              <a:rPr dirty="0" sz="2800" spc="-30">
                <a:solidFill>
                  <a:srgbClr val="4E3629"/>
                </a:solidFill>
                <a:latin typeface="Calibri"/>
                <a:cs typeface="Calibri"/>
              </a:rPr>
              <a:t> </a:t>
            </a:r>
            <a:r>
              <a:rPr dirty="0" sz="2800">
                <a:solidFill>
                  <a:srgbClr val="4E3629"/>
                </a:solidFill>
                <a:latin typeface="Calibri"/>
                <a:cs typeface="Calibri"/>
              </a:rPr>
              <a:t>puede</a:t>
            </a:r>
            <a:r>
              <a:rPr dirty="0" sz="2800" spc="-30">
                <a:solidFill>
                  <a:srgbClr val="4E3629"/>
                </a:solidFill>
                <a:latin typeface="Calibri"/>
                <a:cs typeface="Calibri"/>
              </a:rPr>
              <a:t> </a:t>
            </a:r>
            <a:r>
              <a:rPr dirty="0" sz="2800" spc="-10">
                <a:solidFill>
                  <a:srgbClr val="4E3629"/>
                </a:solidFill>
                <a:latin typeface="Calibri"/>
                <a:cs typeface="Calibri"/>
              </a:rPr>
              <a:t>convertir</a:t>
            </a:r>
            <a:r>
              <a:rPr dirty="0" sz="2800" spc="-4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valor</a:t>
            </a:r>
            <a:r>
              <a:rPr dirty="0" sz="2800" spc="-40">
                <a:solidFill>
                  <a:srgbClr val="4E3629"/>
                </a:solidFill>
                <a:latin typeface="Calibri"/>
                <a:cs typeface="Calibri"/>
              </a:rPr>
              <a:t> </a:t>
            </a:r>
            <a:r>
              <a:rPr dirty="0" sz="2800">
                <a:solidFill>
                  <a:srgbClr val="4E3629"/>
                </a:solidFill>
                <a:latin typeface="Calibri"/>
                <a:cs typeface="Calibri"/>
              </a:rPr>
              <a:t>null</a:t>
            </a:r>
            <a:r>
              <a:rPr dirty="0" sz="2800" spc="-3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spc="-25">
                <a:solidFill>
                  <a:srgbClr val="4E3629"/>
                </a:solidFill>
                <a:latin typeface="Calibri"/>
                <a:cs typeface="Calibri"/>
              </a:rPr>
              <a:t>un </a:t>
            </a:r>
            <a:r>
              <a:rPr dirty="0" sz="2800" spc="-25">
                <a:solidFill>
                  <a:srgbClr val="4E3629"/>
                </a:solidFill>
                <a:latin typeface="Calibri"/>
                <a:cs typeface="Calibri"/>
              </a:rPr>
              <a:t>	</a:t>
            </a:r>
            <a:r>
              <a:rPr dirty="0" sz="2800">
                <a:solidFill>
                  <a:srgbClr val="4E3629"/>
                </a:solidFill>
                <a:latin typeface="Calibri"/>
                <a:cs typeface="Calibri"/>
              </a:rPr>
              <a:t>número</a:t>
            </a:r>
            <a:r>
              <a:rPr dirty="0" sz="2800" spc="-50">
                <a:solidFill>
                  <a:srgbClr val="4E3629"/>
                </a:solidFill>
                <a:latin typeface="Calibri"/>
                <a:cs typeface="Calibri"/>
              </a:rPr>
              <a:t> </a:t>
            </a:r>
            <a:r>
              <a:rPr dirty="0" sz="2800">
                <a:solidFill>
                  <a:srgbClr val="4E3629"/>
                </a:solidFill>
                <a:latin typeface="Calibri"/>
                <a:cs typeface="Calibri"/>
              </a:rPr>
              <a:t>antes</a:t>
            </a:r>
            <a:r>
              <a:rPr dirty="0" sz="2800" spc="-5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realicen</a:t>
            </a:r>
            <a:r>
              <a:rPr dirty="0" sz="2800" spc="-60">
                <a:solidFill>
                  <a:srgbClr val="4E3629"/>
                </a:solidFill>
                <a:latin typeface="Calibri"/>
                <a:cs typeface="Calibri"/>
              </a:rPr>
              <a:t> </a:t>
            </a:r>
            <a:r>
              <a:rPr dirty="0" sz="2800">
                <a:solidFill>
                  <a:srgbClr val="4E3629"/>
                </a:solidFill>
                <a:latin typeface="Calibri"/>
                <a:cs typeface="Calibri"/>
              </a:rPr>
              <a:t>los</a:t>
            </a:r>
            <a:r>
              <a:rPr dirty="0" sz="2800" spc="-75">
                <a:solidFill>
                  <a:srgbClr val="4E3629"/>
                </a:solidFill>
                <a:latin typeface="Calibri"/>
                <a:cs typeface="Calibri"/>
              </a:rPr>
              <a:t> </a:t>
            </a:r>
            <a:r>
              <a:rPr dirty="0" sz="2800" spc="-10">
                <a:solidFill>
                  <a:srgbClr val="4E3629"/>
                </a:solidFill>
                <a:latin typeface="Calibri"/>
                <a:cs typeface="Calibri"/>
              </a:rPr>
              <a:t>cálculos </a:t>
            </a:r>
            <a:r>
              <a:rPr dirty="0" sz="2800" spc="-10">
                <a:solidFill>
                  <a:srgbClr val="4E3629"/>
                </a:solidFill>
                <a:latin typeface="Calibri"/>
                <a:cs typeface="Calibri"/>
              </a:rPr>
              <a:t>	</a:t>
            </a:r>
            <a:r>
              <a:rPr dirty="0" sz="2800">
                <a:solidFill>
                  <a:srgbClr val="4E3629"/>
                </a:solidFill>
                <a:latin typeface="Calibri"/>
                <a:cs typeface="Calibri"/>
              </a:rPr>
              <a:t>aritméticos</a:t>
            </a:r>
            <a:r>
              <a:rPr dirty="0" sz="2800" spc="-80">
                <a:solidFill>
                  <a:srgbClr val="4E3629"/>
                </a:solidFill>
                <a:latin typeface="Calibri"/>
                <a:cs typeface="Calibri"/>
              </a:rPr>
              <a:t> </a:t>
            </a: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evitar</a:t>
            </a:r>
            <a:r>
              <a:rPr dirty="0" sz="2800" spc="-90">
                <a:solidFill>
                  <a:srgbClr val="4E3629"/>
                </a:solidFill>
                <a:latin typeface="Calibri"/>
                <a:cs typeface="Calibri"/>
              </a:rPr>
              <a:t> </a:t>
            </a:r>
            <a:r>
              <a:rPr dirty="0" sz="2800">
                <a:solidFill>
                  <a:srgbClr val="4E3629"/>
                </a:solidFill>
                <a:latin typeface="Calibri"/>
                <a:cs typeface="Calibri"/>
              </a:rPr>
              <a:t>un</a:t>
            </a:r>
            <a:r>
              <a:rPr dirty="0" sz="2800" spc="-70">
                <a:solidFill>
                  <a:srgbClr val="4E3629"/>
                </a:solidFill>
                <a:latin typeface="Calibri"/>
                <a:cs typeface="Calibri"/>
              </a:rPr>
              <a:t> </a:t>
            </a:r>
            <a:r>
              <a:rPr dirty="0" sz="2800" spc="-10">
                <a:solidFill>
                  <a:srgbClr val="4E3629"/>
                </a:solidFill>
                <a:latin typeface="Calibri"/>
                <a:cs typeface="Calibri"/>
              </a:rPr>
              <a:t>resultado</a:t>
            </a:r>
            <a:r>
              <a:rPr dirty="0" sz="2800" spc="-65">
                <a:solidFill>
                  <a:srgbClr val="4E3629"/>
                </a:solidFill>
                <a:latin typeface="Calibri"/>
                <a:cs typeface="Calibri"/>
              </a:rPr>
              <a:t> </a:t>
            </a:r>
            <a:r>
              <a:rPr dirty="0" sz="2800" spc="-20">
                <a:solidFill>
                  <a:srgbClr val="4E3629"/>
                </a:solidFill>
                <a:latin typeface="Calibri"/>
                <a:cs typeface="Calibri"/>
              </a:rPr>
              <a:t>nulo</a:t>
            </a:r>
            <a:endParaRPr sz="2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Función</a:t>
            </a:r>
            <a:r>
              <a:rPr dirty="0" spc="-95"/>
              <a:t> </a:t>
            </a:r>
            <a:r>
              <a:rPr dirty="0" spc="-25"/>
              <a:t>NVL</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14</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908925" cy="170624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150" algn="l"/>
              </a:tabLst>
            </a:pP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ejemplo,</a:t>
            </a:r>
            <a:r>
              <a:rPr dirty="0" sz="2800" spc="-3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spc="-10">
                <a:solidFill>
                  <a:srgbClr val="4E3629"/>
                </a:solidFill>
                <a:latin typeface="Calibri"/>
                <a:cs typeface="Calibri"/>
              </a:rPr>
              <a:t>commission_pct</a:t>
            </a:r>
            <a:r>
              <a:rPr dirty="0" sz="2800">
                <a:solidFill>
                  <a:srgbClr val="4E3629"/>
                </a:solidFill>
                <a:latin typeface="Calibri"/>
                <a:cs typeface="Calibri"/>
              </a:rPr>
              <a:t> 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employees</a:t>
            </a:r>
            <a:r>
              <a:rPr dirty="0" sz="2800" spc="-125">
                <a:solidFill>
                  <a:srgbClr val="4E3629"/>
                </a:solidFill>
                <a:latin typeface="Calibri"/>
                <a:cs typeface="Calibri"/>
              </a:rPr>
              <a:t> </a:t>
            </a:r>
            <a:r>
              <a:rPr dirty="0" sz="2800">
                <a:solidFill>
                  <a:srgbClr val="4E3629"/>
                </a:solidFill>
                <a:latin typeface="Calibri"/>
                <a:cs typeface="Calibri"/>
              </a:rPr>
              <a:t>contiene</a:t>
            </a:r>
            <a:r>
              <a:rPr dirty="0" sz="2800" spc="-125">
                <a:solidFill>
                  <a:srgbClr val="4E3629"/>
                </a:solidFill>
                <a:latin typeface="Calibri"/>
                <a:cs typeface="Calibri"/>
              </a:rPr>
              <a:t> </a:t>
            </a:r>
            <a:r>
              <a:rPr dirty="0" sz="2800">
                <a:solidFill>
                  <a:srgbClr val="4E3629"/>
                </a:solidFill>
                <a:latin typeface="Calibri"/>
                <a:cs typeface="Calibri"/>
              </a:rPr>
              <a:t>valores</a:t>
            </a:r>
            <a:r>
              <a:rPr dirty="0" sz="2800" spc="-140">
                <a:solidFill>
                  <a:srgbClr val="4E3629"/>
                </a:solidFill>
                <a:latin typeface="Calibri"/>
                <a:cs typeface="Calibri"/>
              </a:rPr>
              <a:t> </a:t>
            </a:r>
            <a:r>
              <a:rPr dirty="0" sz="2800" spc="-10">
                <a:solidFill>
                  <a:srgbClr val="4E3629"/>
                </a:solidFill>
                <a:latin typeface="Calibri"/>
                <a:cs typeface="Calibri"/>
              </a:rPr>
              <a:t>nulos</a:t>
            </a:r>
            <a:endParaRPr sz="2800">
              <a:latin typeface="Calibri"/>
              <a:cs typeface="Calibri"/>
            </a:endParaRPr>
          </a:p>
          <a:p>
            <a:pPr marL="182880" marR="15684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función</a:t>
            </a:r>
            <a:r>
              <a:rPr dirty="0" sz="2800" spc="-35">
                <a:solidFill>
                  <a:srgbClr val="4E3629"/>
                </a:solidFill>
                <a:latin typeface="Calibri"/>
                <a:cs typeface="Calibri"/>
              </a:rPr>
              <a:t> </a:t>
            </a:r>
            <a:r>
              <a:rPr dirty="0" sz="2800">
                <a:solidFill>
                  <a:srgbClr val="4E3629"/>
                </a:solidFill>
                <a:latin typeface="Calibri"/>
                <a:cs typeface="Calibri"/>
              </a:rPr>
              <a:t>NVL</a:t>
            </a:r>
            <a:r>
              <a:rPr dirty="0" sz="2800" spc="-3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utiliza</a:t>
            </a:r>
            <a:r>
              <a:rPr dirty="0" sz="2800" spc="-50">
                <a:solidFill>
                  <a:srgbClr val="4E3629"/>
                </a:solidFill>
                <a:latin typeface="Calibri"/>
                <a:cs typeface="Calibri"/>
              </a:rPr>
              <a:t> </a:t>
            </a:r>
            <a:r>
              <a:rPr dirty="0" sz="2800">
                <a:solidFill>
                  <a:srgbClr val="4E3629"/>
                </a:solidFill>
                <a:latin typeface="Calibri"/>
                <a:cs typeface="Calibri"/>
              </a:rPr>
              <a:t>para</a:t>
            </a:r>
            <a:r>
              <a:rPr dirty="0" sz="2800" spc="-55">
                <a:solidFill>
                  <a:srgbClr val="4E3629"/>
                </a:solidFill>
                <a:latin typeface="Calibri"/>
                <a:cs typeface="Calibri"/>
              </a:rPr>
              <a:t> </a:t>
            </a:r>
            <a:r>
              <a:rPr dirty="0" sz="2800">
                <a:solidFill>
                  <a:srgbClr val="4E3629"/>
                </a:solidFill>
                <a:latin typeface="Calibri"/>
                <a:cs typeface="Calibri"/>
              </a:rPr>
              <a:t>cambiar</a:t>
            </a:r>
            <a:r>
              <a:rPr dirty="0" sz="2800" spc="-5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nulo</a:t>
            </a:r>
            <a:r>
              <a:rPr dirty="0" sz="2800" spc="-40">
                <a:solidFill>
                  <a:srgbClr val="4E3629"/>
                </a:solidFill>
                <a:latin typeface="Calibri"/>
                <a:cs typeface="Calibri"/>
              </a:rPr>
              <a:t> </a:t>
            </a:r>
            <a:r>
              <a:rPr dirty="0" sz="2800" spc="-50">
                <a:solidFill>
                  <a:srgbClr val="4E3629"/>
                </a:solidFill>
                <a:latin typeface="Calibri"/>
                <a:cs typeface="Calibri"/>
              </a:rPr>
              <a:t>a </a:t>
            </a:r>
            <a:r>
              <a:rPr dirty="0" sz="2800" spc="-50">
                <a:solidFill>
                  <a:srgbClr val="4E3629"/>
                </a:solidFill>
                <a:latin typeface="Calibri"/>
                <a:cs typeface="Calibri"/>
              </a:rPr>
              <a:t>	</a:t>
            </a:r>
            <a:r>
              <a:rPr dirty="0" sz="2800">
                <a:solidFill>
                  <a:srgbClr val="4E3629"/>
                </a:solidFill>
                <a:latin typeface="Calibri"/>
                <a:cs typeface="Calibri"/>
              </a:rPr>
              <a:t>cero</a:t>
            </a:r>
            <a:r>
              <a:rPr dirty="0" sz="2800" spc="-70">
                <a:solidFill>
                  <a:srgbClr val="4E3629"/>
                </a:solidFill>
                <a:latin typeface="Calibri"/>
                <a:cs typeface="Calibri"/>
              </a:rPr>
              <a:t> </a:t>
            </a:r>
            <a:r>
              <a:rPr dirty="0" sz="2800">
                <a:solidFill>
                  <a:srgbClr val="4E3629"/>
                </a:solidFill>
                <a:latin typeface="Calibri"/>
                <a:cs typeface="Calibri"/>
              </a:rPr>
              <a:t>antes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cálculos</a:t>
            </a:r>
            <a:r>
              <a:rPr dirty="0" sz="2800" spc="-65">
                <a:solidFill>
                  <a:srgbClr val="4E3629"/>
                </a:solidFill>
                <a:latin typeface="Calibri"/>
                <a:cs typeface="Calibri"/>
              </a:rPr>
              <a:t> </a:t>
            </a:r>
            <a:r>
              <a:rPr dirty="0" sz="2800" spc="-10">
                <a:solidFill>
                  <a:srgbClr val="4E3629"/>
                </a:solidFill>
                <a:latin typeface="Calibri"/>
                <a:cs typeface="Calibri"/>
              </a:rPr>
              <a:t>aritméticos</a:t>
            </a:r>
            <a:endParaRPr sz="2800">
              <a:latin typeface="Calibri"/>
              <a:cs typeface="Calibri"/>
            </a:endParaRPr>
          </a:p>
        </p:txBody>
      </p:sp>
      <p:graphicFrame>
        <p:nvGraphicFramePr>
          <p:cNvPr id="4" name="object 4" descr=""/>
          <p:cNvGraphicFramePr>
            <a:graphicFrameLocks noGrp="1"/>
          </p:cNvGraphicFramePr>
          <p:nvPr/>
        </p:nvGraphicFramePr>
        <p:xfrm>
          <a:off x="5791908" y="3751324"/>
          <a:ext cx="2904490" cy="2174240"/>
        </p:xfrm>
        <a:graphic>
          <a:graphicData uri="http://schemas.openxmlformats.org/drawingml/2006/table">
            <a:tbl>
              <a:tblPr firstRow="1" bandRow="1">
                <a:tableStyleId>{2D5ABB26-0587-4C30-8999-92F81FD0307C}</a:tableStyleId>
              </a:tblPr>
              <a:tblGrid>
                <a:gridCol w="1407795"/>
                <a:gridCol w="1407795"/>
              </a:tblGrid>
              <a:tr h="343535">
                <a:tc>
                  <a:txBody>
                    <a:bodyPr/>
                    <a:lstStyle/>
                    <a:p>
                      <a:pPr marL="71755">
                        <a:lnSpc>
                          <a:spcPct val="100000"/>
                        </a:lnSpc>
                        <a:spcBef>
                          <a:spcPts val="290"/>
                        </a:spcBef>
                      </a:pPr>
                      <a:r>
                        <a:rPr dirty="0" sz="1600" spc="-10" b="1">
                          <a:solidFill>
                            <a:srgbClr val="4E3629"/>
                          </a:solidFill>
                          <a:latin typeface="Calibri"/>
                          <a:cs typeface="Calibri"/>
                        </a:rPr>
                        <a:t>LAST_NAME</a:t>
                      </a:r>
                      <a:endParaRPr sz="1600">
                        <a:latin typeface="Calibri"/>
                        <a:cs typeface="Calibri"/>
                      </a:endParaRPr>
                    </a:p>
                  </a:txBody>
                  <a:tcPr marL="0" marR="0" marB="0" marT="3683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90"/>
                        </a:spcBef>
                      </a:pPr>
                      <a:r>
                        <a:rPr dirty="0" sz="1600" spc="-10" b="1">
                          <a:solidFill>
                            <a:srgbClr val="4E3629"/>
                          </a:solidFill>
                          <a:latin typeface="Calibri"/>
                          <a:cs typeface="Calibri"/>
                        </a:rPr>
                        <a:t>Commission</a:t>
                      </a:r>
                      <a:endParaRPr sz="1600">
                        <a:latin typeface="Calibri"/>
                        <a:cs typeface="Calibri"/>
                      </a:endParaRPr>
                    </a:p>
                  </a:txBody>
                  <a:tcPr marL="0" marR="0" marB="0" marT="3683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07975">
                <a:tc>
                  <a:txBody>
                    <a:bodyPr/>
                    <a:lstStyle/>
                    <a:p>
                      <a:pPr marL="71755">
                        <a:lnSpc>
                          <a:spcPct val="100000"/>
                        </a:lnSpc>
                        <a:spcBef>
                          <a:spcPts val="150"/>
                        </a:spcBef>
                      </a:pPr>
                      <a:r>
                        <a:rPr dirty="0" sz="1600" spc="-10">
                          <a:solidFill>
                            <a:srgbClr val="4E3629"/>
                          </a:solidFill>
                          <a:latin typeface="Calibri"/>
                          <a:cs typeface="Calibri"/>
                        </a:rPr>
                        <a:t>Zlotkey</a:t>
                      </a:r>
                      <a:endParaRPr sz="1600">
                        <a:latin typeface="Calibri"/>
                        <a:cs typeface="Calibri"/>
                      </a:endParaRPr>
                    </a:p>
                  </a:txBody>
                  <a:tcPr marL="0" marR="0" marB="0" marT="1905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150"/>
                        </a:spcBef>
                      </a:pPr>
                      <a:r>
                        <a:rPr dirty="0" sz="1600" spc="-25">
                          <a:solidFill>
                            <a:srgbClr val="4E3629"/>
                          </a:solidFill>
                          <a:latin typeface="Calibri"/>
                          <a:cs typeface="Calibri"/>
                        </a:rPr>
                        <a:t>50</a:t>
                      </a:r>
                      <a:endParaRPr sz="1600">
                        <a:latin typeface="Calibri"/>
                        <a:cs typeface="Calibri"/>
                      </a:endParaRPr>
                    </a:p>
                  </a:txBody>
                  <a:tcPr marL="0" marR="0" marB="0" marT="1905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15595">
                <a:tc>
                  <a:txBody>
                    <a:bodyPr/>
                    <a:lstStyle/>
                    <a:p>
                      <a:pPr marL="71755">
                        <a:lnSpc>
                          <a:spcPct val="100000"/>
                        </a:lnSpc>
                        <a:spcBef>
                          <a:spcPts val="180"/>
                        </a:spcBef>
                      </a:pPr>
                      <a:r>
                        <a:rPr dirty="0" sz="1600" spc="-20">
                          <a:solidFill>
                            <a:srgbClr val="4E3629"/>
                          </a:solidFill>
                          <a:latin typeface="Calibri"/>
                          <a:cs typeface="Calibri"/>
                        </a:rPr>
                        <a:t>Abel</a:t>
                      </a:r>
                      <a:endParaRPr sz="1600">
                        <a:latin typeface="Calibri"/>
                        <a:cs typeface="Calibri"/>
                      </a:endParaRPr>
                    </a:p>
                  </a:txBody>
                  <a:tcPr marL="0" marR="0" marB="0" marT="228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80"/>
                        </a:spcBef>
                      </a:pPr>
                      <a:r>
                        <a:rPr dirty="0" sz="1600" spc="-25">
                          <a:solidFill>
                            <a:srgbClr val="4E3629"/>
                          </a:solidFill>
                          <a:latin typeface="Calibri"/>
                          <a:cs typeface="Calibri"/>
                        </a:rPr>
                        <a:t>75</a:t>
                      </a:r>
                      <a:endParaRPr sz="1600">
                        <a:latin typeface="Calibri"/>
                        <a:cs typeface="Calibri"/>
                      </a:endParaRPr>
                    </a:p>
                  </a:txBody>
                  <a:tcPr marL="0" marR="0" marB="0" marT="228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04165">
                <a:tc>
                  <a:txBody>
                    <a:bodyPr/>
                    <a:lstStyle/>
                    <a:p>
                      <a:pPr marL="71755">
                        <a:lnSpc>
                          <a:spcPct val="100000"/>
                        </a:lnSpc>
                        <a:spcBef>
                          <a:spcPts val="140"/>
                        </a:spcBef>
                      </a:pPr>
                      <a:r>
                        <a:rPr dirty="0" sz="1600" spc="-10">
                          <a:solidFill>
                            <a:srgbClr val="4E3629"/>
                          </a:solidFill>
                          <a:latin typeface="Calibri"/>
                          <a:cs typeface="Calibri"/>
                        </a:rPr>
                        <a:t>Taylor</a:t>
                      </a:r>
                      <a:endParaRPr sz="1600">
                        <a:latin typeface="Calibri"/>
                        <a:cs typeface="Calibri"/>
                      </a:endParaRPr>
                    </a:p>
                  </a:txBody>
                  <a:tcPr marL="0" marR="0" marB="0" marT="177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40"/>
                        </a:spcBef>
                      </a:pPr>
                      <a:r>
                        <a:rPr dirty="0" sz="1600" spc="-25">
                          <a:solidFill>
                            <a:srgbClr val="4E3629"/>
                          </a:solidFill>
                          <a:latin typeface="Calibri"/>
                          <a:cs typeface="Calibri"/>
                        </a:rPr>
                        <a:t>50</a:t>
                      </a:r>
                      <a:endParaRPr sz="1600">
                        <a:latin typeface="Calibri"/>
                        <a:cs typeface="Calibri"/>
                      </a:endParaRPr>
                    </a:p>
                  </a:txBody>
                  <a:tcPr marL="0" marR="0" marB="0" marT="177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04800">
                <a:tc>
                  <a:txBody>
                    <a:bodyPr/>
                    <a:lstStyle/>
                    <a:p>
                      <a:pPr marL="71755">
                        <a:lnSpc>
                          <a:spcPct val="100000"/>
                        </a:lnSpc>
                        <a:spcBef>
                          <a:spcPts val="140"/>
                        </a:spcBef>
                      </a:pPr>
                      <a:r>
                        <a:rPr dirty="0" sz="1600" spc="-20">
                          <a:solidFill>
                            <a:srgbClr val="4E3629"/>
                          </a:solidFill>
                          <a:latin typeface="Calibri"/>
                          <a:cs typeface="Calibri"/>
                        </a:rPr>
                        <a:t>King</a:t>
                      </a:r>
                      <a:endParaRPr sz="1600">
                        <a:latin typeface="Calibri"/>
                        <a:cs typeface="Calibri"/>
                      </a:endParaRPr>
                    </a:p>
                  </a:txBody>
                  <a:tcPr marL="0" marR="0" marB="0" marT="177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40"/>
                        </a:spcBef>
                      </a:pPr>
                      <a:r>
                        <a:rPr dirty="0" sz="1600" spc="-50">
                          <a:solidFill>
                            <a:srgbClr val="4E3629"/>
                          </a:solidFill>
                          <a:latin typeface="Calibri"/>
                          <a:cs typeface="Calibri"/>
                        </a:rPr>
                        <a:t>0</a:t>
                      </a:r>
                      <a:endParaRPr sz="1600">
                        <a:latin typeface="Calibri"/>
                        <a:cs typeface="Calibri"/>
                      </a:endParaRPr>
                    </a:p>
                  </a:txBody>
                  <a:tcPr marL="0" marR="0" marB="0" marT="1778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15595">
                <a:tc>
                  <a:txBody>
                    <a:bodyPr/>
                    <a:lstStyle/>
                    <a:p>
                      <a:pPr marL="71755">
                        <a:lnSpc>
                          <a:spcPct val="100000"/>
                        </a:lnSpc>
                        <a:spcBef>
                          <a:spcPts val="180"/>
                        </a:spcBef>
                      </a:pPr>
                      <a:r>
                        <a:rPr dirty="0" sz="1600" spc="-10">
                          <a:solidFill>
                            <a:srgbClr val="4E3629"/>
                          </a:solidFill>
                          <a:latin typeface="Calibri"/>
                          <a:cs typeface="Calibri"/>
                        </a:rPr>
                        <a:t>Kochhar</a:t>
                      </a:r>
                      <a:endParaRPr sz="1600">
                        <a:latin typeface="Calibri"/>
                        <a:cs typeface="Calibri"/>
                      </a:endParaRPr>
                    </a:p>
                  </a:txBody>
                  <a:tcPr marL="0" marR="0" marB="0" marT="228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80"/>
                        </a:spcBef>
                      </a:pPr>
                      <a:r>
                        <a:rPr dirty="0" sz="1600" spc="-50">
                          <a:solidFill>
                            <a:srgbClr val="4E3629"/>
                          </a:solidFill>
                          <a:latin typeface="Calibri"/>
                          <a:cs typeface="Calibri"/>
                        </a:rPr>
                        <a:t>0</a:t>
                      </a:r>
                      <a:endParaRPr sz="1600">
                        <a:latin typeface="Calibri"/>
                        <a:cs typeface="Calibri"/>
                      </a:endParaRPr>
                    </a:p>
                  </a:txBody>
                  <a:tcPr marL="0" marR="0" marB="0" marT="228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2575">
                <a:tc>
                  <a:txBody>
                    <a:bodyPr/>
                    <a:lstStyle/>
                    <a:p>
                      <a:pPr marL="71755">
                        <a:lnSpc>
                          <a:spcPct val="100000"/>
                        </a:lnSpc>
                        <a:spcBef>
                          <a:spcPts val="55"/>
                        </a:spcBef>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5"/>
                        </a:spcBef>
                      </a:pPr>
                      <a:r>
                        <a:rPr dirty="0" sz="1600" spc="-50">
                          <a:solidFill>
                            <a:srgbClr val="4E3629"/>
                          </a:solidFill>
                          <a:latin typeface="Calibri"/>
                          <a:cs typeface="Calibri"/>
                        </a:rPr>
                        <a:t>0</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405384" y="3758184"/>
            <a:ext cx="4707890" cy="1442085"/>
          </a:xfrm>
          <a:prstGeom prst="rect">
            <a:avLst/>
          </a:prstGeom>
          <a:solidFill>
            <a:srgbClr val="9DBEC4">
              <a:alpha val="50199"/>
            </a:srgbClr>
          </a:solidFill>
        </p:spPr>
        <p:txBody>
          <a:bodyPr wrap="square" lIns="0" tIns="6985" rIns="0" bIns="0" rtlCol="0" vert="horz">
            <a:spAutoFit/>
          </a:bodyPr>
          <a:lstStyle/>
          <a:p>
            <a:pPr marR="1151255">
              <a:lnSpc>
                <a:spcPct val="100000"/>
              </a:lnSpc>
              <a:spcBef>
                <a:spcPts val="55"/>
              </a:spcBef>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last_name, </a:t>
            </a:r>
            <a:r>
              <a:rPr dirty="0" sz="1800" b="1">
                <a:solidFill>
                  <a:srgbClr val="4E3629"/>
                </a:solidFill>
                <a:latin typeface="Courier New"/>
                <a:cs typeface="Courier New"/>
              </a:rPr>
              <a:t>NVL(commission_pct,</a:t>
            </a:r>
            <a:r>
              <a:rPr dirty="0" sz="1800" spc="-175" b="1">
                <a:solidFill>
                  <a:srgbClr val="4E3629"/>
                </a:solidFill>
                <a:latin typeface="Courier New"/>
                <a:cs typeface="Courier New"/>
              </a:rPr>
              <a:t> </a:t>
            </a:r>
            <a:r>
              <a:rPr dirty="0" sz="1800" spc="-10" b="1">
                <a:solidFill>
                  <a:srgbClr val="4E3629"/>
                </a:solidFill>
                <a:latin typeface="Courier New"/>
                <a:cs typeface="Courier New"/>
              </a:rPr>
              <a:t>0)*250</a:t>
            </a:r>
            <a:endParaRPr sz="1800">
              <a:latin typeface="Courier New"/>
              <a:cs typeface="Courier New"/>
            </a:endParaRPr>
          </a:p>
          <a:p>
            <a:pPr marR="2379345" indent="274320">
              <a:lnSpc>
                <a:spcPct val="100000"/>
              </a:lnSpc>
            </a:pPr>
            <a:r>
              <a:rPr dirty="0" sz="1800" b="1">
                <a:solidFill>
                  <a:srgbClr val="4E3629"/>
                </a:solidFill>
                <a:latin typeface="Courier New"/>
                <a:cs typeface="Courier New"/>
              </a:rPr>
              <a:t>AS</a:t>
            </a:r>
            <a:r>
              <a:rPr dirty="0" sz="1800" spc="-30" b="1">
                <a:solidFill>
                  <a:srgbClr val="4E3629"/>
                </a:solidFill>
                <a:latin typeface="Courier New"/>
                <a:cs typeface="Courier New"/>
              </a:rPr>
              <a:t> </a:t>
            </a:r>
            <a:r>
              <a:rPr dirty="0" sz="1800" spc="-10" b="1">
                <a:solidFill>
                  <a:srgbClr val="4E3629"/>
                </a:solidFill>
                <a:latin typeface="Courier New"/>
                <a:cs typeface="Courier New"/>
              </a:rPr>
              <a:t>"Commission"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95" b="1">
                <a:solidFill>
                  <a:srgbClr val="4E3629"/>
                </a:solidFill>
                <a:latin typeface="Courier New"/>
                <a:cs typeface="Courier New"/>
              </a:rPr>
              <a:t> </a:t>
            </a:r>
            <a:r>
              <a:rPr dirty="0" sz="1800" b="1">
                <a:solidFill>
                  <a:srgbClr val="4E3629"/>
                </a:solidFill>
                <a:latin typeface="Courier New"/>
                <a:cs typeface="Courier New"/>
              </a:rPr>
              <a:t>department_id</a:t>
            </a:r>
            <a:r>
              <a:rPr dirty="0" sz="1800" spc="-85" b="1">
                <a:solidFill>
                  <a:srgbClr val="4E3629"/>
                </a:solidFill>
                <a:latin typeface="Courier New"/>
                <a:cs typeface="Courier New"/>
              </a:rPr>
              <a:t> </a:t>
            </a:r>
            <a:r>
              <a:rPr dirty="0" sz="1800" spc="-10" b="1">
                <a:solidFill>
                  <a:srgbClr val="4E3629"/>
                </a:solidFill>
                <a:latin typeface="Courier New"/>
                <a:cs typeface="Courier New"/>
              </a:rPr>
              <a:t>IN(80,90);</a:t>
            </a:r>
            <a:endParaRPr sz="1800">
              <a:latin typeface="Courier New"/>
              <a:cs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Función</a:t>
            </a:r>
            <a:r>
              <a:rPr dirty="0" spc="-95"/>
              <a:t> </a:t>
            </a:r>
            <a:r>
              <a:rPr dirty="0" spc="-20"/>
              <a:t>NVL2</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15</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65735"/>
            <a:ext cx="8088630" cy="4439920"/>
          </a:xfrm>
          <a:prstGeom prst="rect">
            <a:avLst/>
          </a:prstGeom>
        </p:spPr>
        <p:txBody>
          <a:bodyPr wrap="square" lIns="0" tIns="35560" rIns="0" bIns="0" rtlCol="0" vert="horz">
            <a:spAutoFit/>
          </a:bodyPr>
          <a:lstStyle/>
          <a:p>
            <a:pPr marL="184785" indent="-172085">
              <a:lnSpc>
                <a:spcPct val="100000"/>
              </a:lnSpc>
              <a:spcBef>
                <a:spcPts val="280"/>
              </a:spcBef>
              <a:buClr>
                <a:srgbClr val="D1350F"/>
              </a:buClr>
              <a:buFont typeface="Arial MT"/>
              <a:buChar char="•"/>
              <a:tabLst>
                <a:tab pos="184785" algn="l"/>
              </a:tabLst>
            </a:pPr>
            <a:r>
              <a:rPr dirty="0" sz="2600">
                <a:solidFill>
                  <a:srgbClr val="4E3629"/>
                </a:solidFill>
                <a:latin typeface="Calibri"/>
                <a:cs typeface="Calibri"/>
              </a:rPr>
              <a:t>La</a:t>
            </a:r>
            <a:r>
              <a:rPr dirty="0" sz="2600" spc="-35">
                <a:solidFill>
                  <a:srgbClr val="4E3629"/>
                </a:solidFill>
                <a:latin typeface="Calibri"/>
                <a:cs typeface="Calibri"/>
              </a:rPr>
              <a:t> </a:t>
            </a:r>
            <a:r>
              <a:rPr dirty="0" sz="2600">
                <a:solidFill>
                  <a:srgbClr val="4E3629"/>
                </a:solidFill>
                <a:latin typeface="Calibri"/>
                <a:cs typeface="Calibri"/>
              </a:rPr>
              <a:t>función</a:t>
            </a:r>
            <a:r>
              <a:rPr dirty="0" sz="2600" spc="-60">
                <a:solidFill>
                  <a:srgbClr val="4E3629"/>
                </a:solidFill>
                <a:latin typeface="Calibri"/>
                <a:cs typeface="Calibri"/>
              </a:rPr>
              <a:t> </a:t>
            </a:r>
            <a:r>
              <a:rPr dirty="0" sz="2600">
                <a:solidFill>
                  <a:srgbClr val="4E3629"/>
                </a:solidFill>
                <a:latin typeface="Calibri"/>
                <a:cs typeface="Calibri"/>
              </a:rPr>
              <a:t>NVL2</a:t>
            </a:r>
            <a:r>
              <a:rPr dirty="0" sz="2600" spc="-50">
                <a:solidFill>
                  <a:srgbClr val="4E3629"/>
                </a:solidFill>
                <a:latin typeface="Calibri"/>
                <a:cs typeface="Calibri"/>
              </a:rPr>
              <a:t> </a:t>
            </a:r>
            <a:r>
              <a:rPr dirty="0" sz="2600">
                <a:solidFill>
                  <a:srgbClr val="4E3629"/>
                </a:solidFill>
                <a:latin typeface="Calibri"/>
                <a:cs typeface="Calibri"/>
              </a:rPr>
              <a:t>evalúa</a:t>
            </a:r>
            <a:r>
              <a:rPr dirty="0" sz="2600" spc="-50">
                <a:solidFill>
                  <a:srgbClr val="4E3629"/>
                </a:solidFill>
                <a:latin typeface="Calibri"/>
                <a:cs typeface="Calibri"/>
              </a:rPr>
              <a:t> </a:t>
            </a:r>
            <a:r>
              <a:rPr dirty="0" sz="2600">
                <a:solidFill>
                  <a:srgbClr val="4E3629"/>
                </a:solidFill>
                <a:latin typeface="Calibri"/>
                <a:cs typeface="Calibri"/>
              </a:rPr>
              <a:t>una</a:t>
            </a:r>
            <a:r>
              <a:rPr dirty="0" sz="2600" spc="-50">
                <a:solidFill>
                  <a:srgbClr val="4E3629"/>
                </a:solidFill>
                <a:latin typeface="Calibri"/>
                <a:cs typeface="Calibri"/>
              </a:rPr>
              <a:t> </a:t>
            </a:r>
            <a:r>
              <a:rPr dirty="0" sz="2600" spc="-10">
                <a:solidFill>
                  <a:srgbClr val="4E3629"/>
                </a:solidFill>
                <a:latin typeface="Calibri"/>
                <a:cs typeface="Calibri"/>
              </a:rPr>
              <a:t>expresión</a:t>
            </a:r>
            <a:r>
              <a:rPr dirty="0" sz="2600" spc="-70">
                <a:solidFill>
                  <a:srgbClr val="4E3629"/>
                </a:solidFill>
                <a:latin typeface="Calibri"/>
                <a:cs typeface="Calibri"/>
              </a:rPr>
              <a:t> </a:t>
            </a:r>
            <a:r>
              <a:rPr dirty="0" sz="2600">
                <a:solidFill>
                  <a:srgbClr val="4E3629"/>
                </a:solidFill>
                <a:latin typeface="Calibri"/>
                <a:cs typeface="Calibri"/>
              </a:rPr>
              <a:t>con</a:t>
            </a:r>
            <a:r>
              <a:rPr dirty="0" sz="2600" spc="-40">
                <a:solidFill>
                  <a:srgbClr val="4E3629"/>
                </a:solidFill>
                <a:latin typeface="Calibri"/>
                <a:cs typeface="Calibri"/>
              </a:rPr>
              <a:t> </a:t>
            </a:r>
            <a:r>
              <a:rPr dirty="0" sz="2600">
                <a:solidFill>
                  <a:srgbClr val="4E3629"/>
                </a:solidFill>
                <a:latin typeface="Calibri"/>
                <a:cs typeface="Calibri"/>
              </a:rPr>
              <a:t>tres</a:t>
            </a:r>
            <a:r>
              <a:rPr dirty="0" sz="2600" spc="-50">
                <a:solidFill>
                  <a:srgbClr val="4E3629"/>
                </a:solidFill>
                <a:latin typeface="Calibri"/>
                <a:cs typeface="Calibri"/>
              </a:rPr>
              <a:t> </a:t>
            </a:r>
            <a:r>
              <a:rPr dirty="0" sz="2600" spc="-10">
                <a:solidFill>
                  <a:srgbClr val="4E3629"/>
                </a:solidFill>
                <a:latin typeface="Calibri"/>
                <a:cs typeface="Calibri"/>
              </a:rPr>
              <a:t>valores</a:t>
            </a:r>
            <a:endParaRPr sz="2600">
              <a:latin typeface="Calibri"/>
              <a:cs typeface="Calibri"/>
            </a:endParaRPr>
          </a:p>
          <a:p>
            <a:pPr marL="184785" marR="324485"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Si</a:t>
            </a:r>
            <a:r>
              <a:rPr dirty="0" sz="2600" spc="-35">
                <a:solidFill>
                  <a:srgbClr val="4E3629"/>
                </a:solidFill>
                <a:latin typeface="Calibri"/>
                <a:cs typeface="Calibri"/>
              </a:rPr>
              <a:t> </a:t>
            </a: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primer</a:t>
            </a:r>
            <a:r>
              <a:rPr dirty="0" sz="2600" spc="-45">
                <a:solidFill>
                  <a:srgbClr val="4E3629"/>
                </a:solidFill>
                <a:latin typeface="Calibri"/>
                <a:cs typeface="Calibri"/>
              </a:rPr>
              <a:t> </a:t>
            </a:r>
            <a:r>
              <a:rPr dirty="0" sz="2600">
                <a:solidFill>
                  <a:srgbClr val="4E3629"/>
                </a:solidFill>
                <a:latin typeface="Calibri"/>
                <a:cs typeface="Calibri"/>
              </a:rPr>
              <a:t>valor</a:t>
            </a:r>
            <a:r>
              <a:rPr dirty="0" sz="2600" spc="-15">
                <a:solidFill>
                  <a:srgbClr val="4E3629"/>
                </a:solidFill>
                <a:latin typeface="Calibri"/>
                <a:cs typeface="Calibri"/>
              </a:rPr>
              <a:t> </a:t>
            </a:r>
            <a:r>
              <a:rPr dirty="0" sz="2600">
                <a:solidFill>
                  <a:srgbClr val="4E3629"/>
                </a:solidFill>
                <a:latin typeface="Calibri"/>
                <a:cs typeface="Calibri"/>
              </a:rPr>
              <a:t>no</a:t>
            </a:r>
            <a:r>
              <a:rPr dirty="0" sz="2600" spc="-40">
                <a:solidFill>
                  <a:srgbClr val="4E3629"/>
                </a:solidFill>
                <a:latin typeface="Calibri"/>
                <a:cs typeface="Calibri"/>
              </a:rPr>
              <a:t> </a:t>
            </a:r>
            <a:r>
              <a:rPr dirty="0" sz="2600">
                <a:solidFill>
                  <a:srgbClr val="4E3629"/>
                </a:solidFill>
                <a:latin typeface="Calibri"/>
                <a:cs typeface="Calibri"/>
              </a:rPr>
              <a:t>es</a:t>
            </a:r>
            <a:r>
              <a:rPr dirty="0" sz="2600" spc="-55">
                <a:solidFill>
                  <a:srgbClr val="4E3629"/>
                </a:solidFill>
                <a:latin typeface="Calibri"/>
                <a:cs typeface="Calibri"/>
              </a:rPr>
              <a:t> </a:t>
            </a:r>
            <a:r>
              <a:rPr dirty="0" sz="2600">
                <a:solidFill>
                  <a:srgbClr val="4E3629"/>
                </a:solidFill>
                <a:latin typeface="Calibri"/>
                <a:cs typeface="Calibri"/>
              </a:rPr>
              <a:t>nulo,</a:t>
            </a:r>
            <a:r>
              <a:rPr dirty="0" sz="2600" spc="-35">
                <a:solidFill>
                  <a:srgbClr val="4E3629"/>
                </a:solidFill>
                <a:latin typeface="Calibri"/>
                <a:cs typeface="Calibri"/>
              </a:rPr>
              <a:t> </a:t>
            </a:r>
            <a:r>
              <a:rPr dirty="0" sz="2600">
                <a:solidFill>
                  <a:srgbClr val="4E3629"/>
                </a:solidFill>
                <a:latin typeface="Calibri"/>
                <a:cs typeface="Calibri"/>
              </a:rPr>
              <a:t>la</a:t>
            </a:r>
            <a:r>
              <a:rPr dirty="0" sz="2600" spc="-35">
                <a:solidFill>
                  <a:srgbClr val="4E3629"/>
                </a:solidFill>
                <a:latin typeface="Calibri"/>
                <a:cs typeface="Calibri"/>
              </a:rPr>
              <a:t> </a:t>
            </a:r>
            <a:r>
              <a:rPr dirty="0" sz="2600">
                <a:solidFill>
                  <a:srgbClr val="4E3629"/>
                </a:solidFill>
                <a:latin typeface="Calibri"/>
                <a:cs typeface="Calibri"/>
              </a:rPr>
              <a:t>función</a:t>
            </a:r>
            <a:r>
              <a:rPr dirty="0" sz="2600" spc="-45">
                <a:solidFill>
                  <a:srgbClr val="4E3629"/>
                </a:solidFill>
                <a:latin typeface="Calibri"/>
                <a:cs typeface="Calibri"/>
              </a:rPr>
              <a:t> </a:t>
            </a:r>
            <a:r>
              <a:rPr dirty="0" sz="2600">
                <a:solidFill>
                  <a:srgbClr val="4E3629"/>
                </a:solidFill>
                <a:latin typeface="Calibri"/>
                <a:cs typeface="Calibri"/>
              </a:rPr>
              <a:t>NVL2</a:t>
            </a:r>
            <a:r>
              <a:rPr dirty="0" sz="2600" spc="-55">
                <a:solidFill>
                  <a:srgbClr val="4E3629"/>
                </a:solidFill>
                <a:latin typeface="Calibri"/>
                <a:cs typeface="Calibri"/>
              </a:rPr>
              <a:t> </a:t>
            </a:r>
            <a:r>
              <a:rPr dirty="0" sz="2600">
                <a:solidFill>
                  <a:srgbClr val="4E3629"/>
                </a:solidFill>
                <a:latin typeface="Calibri"/>
                <a:cs typeface="Calibri"/>
              </a:rPr>
              <a:t>devuelve</a:t>
            </a:r>
            <a:r>
              <a:rPr dirty="0" sz="2600" spc="-65">
                <a:solidFill>
                  <a:srgbClr val="4E3629"/>
                </a:solidFill>
                <a:latin typeface="Calibri"/>
                <a:cs typeface="Calibri"/>
              </a:rPr>
              <a:t> </a:t>
            </a:r>
            <a:r>
              <a:rPr dirty="0" sz="2600" spc="-25">
                <a:solidFill>
                  <a:srgbClr val="4E3629"/>
                </a:solidFill>
                <a:latin typeface="Calibri"/>
                <a:cs typeface="Calibri"/>
              </a:rPr>
              <a:t>la </a:t>
            </a:r>
            <a:r>
              <a:rPr dirty="0" sz="2600">
                <a:solidFill>
                  <a:srgbClr val="4E3629"/>
                </a:solidFill>
                <a:latin typeface="Calibri"/>
                <a:cs typeface="Calibri"/>
              </a:rPr>
              <a:t>segunda</a:t>
            </a:r>
            <a:r>
              <a:rPr dirty="0" sz="2600" spc="-45">
                <a:solidFill>
                  <a:srgbClr val="4E3629"/>
                </a:solidFill>
                <a:latin typeface="Calibri"/>
                <a:cs typeface="Calibri"/>
              </a:rPr>
              <a:t> </a:t>
            </a:r>
            <a:r>
              <a:rPr dirty="0" sz="2600" spc="-10">
                <a:solidFill>
                  <a:srgbClr val="4E3629"/>
                </a:solidFill>
                <a:latin typeface="Calibri"/>
                <a:cs typeface="Calibri"/>
              </a:rPr>
              <a:t>expresión</a:t>
            </a:r>
            <a:endParaRPr sz="2600">
              <a:latin typeface="Calibri"/>
              <a:cs typeface="Calibri"/>
            </a:endParaRPr>
          </a:p>
          <a:p>
            <a:pPr marL="184785" indent="-172085">
              <a:lnSpc>
                <a:spcPct val="100000"/>
              </a:lnSpc>
              <a:spcBef>
                <a:spcPts val="180"/>
              </a:spcBef>
              <a:buClr>
                <a:srgbClr val="D1350F"/>
              </a:buClr>
              <a:buFont typeface="Arial MT"/>
              <a:buChar char="•"/>
              <a:tabLst>
                <a:tab pos="184785" algn="l"/>
              </a:tabLst>
            </a:pPr>
            <a:r>
              <a:rPr dirty="0" sz="2600">
                <a:solidFill>
                  <a:srgbClr val="4E3629"/>
                </a:solidFill>
                <a:latin typeface="Calibri"/>
                <a:cs typeface="Calibri"/>
              </a:rPr>
              <a:t>Si</a:t>
            </a:r>
            <a:r>
              <a:rPr dirty="0" sz="2600" spc="-40">
                <a:solidFill>
                  <a:srgbClr val="4E3629"/>
                </a:solidFill>
                <a:latin typeface="Calibri"/>
                <a:cs typeface="Calibri"/>
              </a:rPr>
              <a:t> </a:t>
            </a:r>
            <a:r>
              <a:rPr dirty="0" sz="2600">
                <a:solidFill>
                  <a:srgbClr val="4E3629"/>
                </a:solidFill>
                <a:latin typeface="Calibri"/>
                <a:cs typeface="Calibri"/>
              </a:rPr>
              <a:t>el</a:t>
            </a:r>
            <a:r>
              <a:rPr dirty="0" sz="2600" spc="-45">
                <a:solidFill>
                  <a:srgbClr val="4E3629"/>
                </a:solidFill>
                <a:latin typeface="Calibri"/>
                <a:cs typeface="Calibri"/>
              </a:rPr>
              <a:t> </a:t>
            </a:r>
            <a:r>
              <a:rPr dirty="0" sz="2600">
                <a:solidFill>
                  <a:srgbClr val="4E3629"/>
                </a:solidFill>
                <a:latin typeface="Calibri"/>
                <a:cs typeface="Calibri"/>
              </a:rPr>
              <a:t>primer</a:t>
            </a:r>
            <a:r>
              <a:rPr dirty="0" sz="2600" spc="-45">
                <a:solidFill>
                  <a:srgbClr val="4E3629"/>
                </a:solidFill>
                <a:latin typeface="Calibri"/>
                <a:cs typeface="Calibri"/>
              </a:rPr>
              <a:t> </a:t>
            </a:r>
            <a:r>
              <a:rPr dirty="0" sz="2600">
                <a:solidFill>
                  <a:srgbClr val="4E3629"/>
                </a:solidFill>
                <a:latin typeface="Calibri"/>
                <a:cs typeface="Calibri"/>
              </a:rPr>
              <a:t>valor</a:t>
            </a:r>
            <a:r>
              <a:rPr dirty="0" sz="2600" spc="-25">
                <a:solidFill>
                  <a:srgbClr val="4E3629"/>
                </a:solidFill>
                <a:latin typeface="Calibri"/>
                <a:cs typeface="Calibri"/>
              </a:rPr>
              <a:t> </a:t>
            </a:r>
            <a:r>
              <a:rPr dirty="0" sz="2600">
                <a:solidFill>
                  <a:srgbClr val="4E3629"/>
                </a:solidFill>
                <a:latin typeface="Calibri"/>
                <a:cs typeface="Calibri"/>
              </a:rPr>
              <a:t>es</a:t>
            </a:r>
            <a:r>
              <a:rPr dirty="0" sz="2600" spc="-60">
                <a:solidFill>
                  <a:srgbClr val="4E3629"/>
                </a:solidFill>
                <a:latin typeface="Calibri"/>
                <a:cs typeface="Calibri"/>
              </a:rPr>
              <a:t> </a:t>
            </a:r>
            <a:r>
              <a:rPr dirty="0" sz="2600">
                <a:solidFill>
                  <a:srgbClr val="4E3629"/>
                </a:solidFill>
                <a:latin typeface="Calibri"/>
                <a:cs typeface="Calibri"/>
              </a:rPr>
              <a:t>nulo,</a:t>
            </a:r>
            <a:r>
              <a:rPr dirty="0" sz="2600" spc="-40">
                <a:solidFill>
                  <a:srgbClr val="4E3629"/>
                </a:solidFill>
                <a:latin typeface="Calibri"/>
                <a:cs typeface="Calibri"/>
              </a:rPr>
              <a:t> </a:t>
            </a:r>
            <a:r>
              <a:rPr dirty="0" sz="2600">
                <a:solidFill>
                  <a:srgbClr val="4E3629"/>
                </a:solidFill>
                <a:latin typeface="Calibri"/>
                <a:cs typeface="Calibri"/>
              </a:rPr>
              <a:t>se</a:t>
            </a:r>
            <a:r>
              <a:rPr dirty="0" sz="2600" spc="-50">
                <a:solidFill>
                  <a:srgbClr val="4E3629"/>
                </a:solidFill>
                <a:latin typeface="Calibri"/>
                <a:cs typeface="Calibri"/>
              </a:rPr>
              <a:t> </a:t>
            </a:r>
            <a:r>
              <a:rPr dirty="0" sz="2600" spc="-10">
                <a:solidFill>
                  <a:srgbClr val="4E3629"/>
                </a:solidFill>
                <a:latin typeface="Calibri"/>
                <a:cs typeface="Calibri"/>
              </a:rPr>
              <a:t>devolverá</a:t>
            </a:r>
            <a:r>
              <a:rPr dirty="0" sz="2600" spc="-60">
                <a:solidFill>
                  <a:srgbClr val="4E3629"/>
                </a:solidFill>
                <a:latin typeface="Calibri"/>
                <a:cs typeface="Calibri"/>
              </a:rPr>
              <a:t> </a:t>
            </a:r>
            <a:r>
              <a:rPr dirty="0" sz="2600">
                <a:solidFill>
                  <a:srgbClr val="4E3629"/>
                </a:solidFill>
                <a:latin typeface="Calibri"/>
                <a:cs typeface="Calibri"/>
              </a:rPr>
              <a:t>la</a:t>
            </a:r>
            <a:r>
              <a:rPr dirty="0" sz="2600" spc="-35">
                <a:solidFill>
                  <a:srgbClr val="4E3629"/>
                </a:solidFill>
                <a:latin typeface="Calibri"/>
                <a:cs typeface="Calibri"/>
              </a:rPr>
              <a:t> </a:t>
            </a:r>
            <a:r>
              <a:rPr dirty="0" sz="2600" spc="-10">
                <a:solidFill>
                  <a:srgbClr val="4E3629"/>
                </a:solidFill>
                <a:latin typeface="Calibri"/>
                <a:cs typeface="Calibri"/>
              </a:rPr>
              <a:t>tercera</a:t>
            </a:r>
            <a:r>
              <a:rPr dirty="0" sz="2600" spc="-75">
                <a:solidFill>
                  <a:srgbClr val="4E3629"/>
                </a:solidFill>
                <a:latin typeface="Calibri"/>
                <a:cs typeface="Calibri"/>
              </a:rPr>
              <a:t> </a:t>
            </a:r>
            <a:r>
              <a:rPr dirty="0" sz="2600" spc="-10">
                <a:solidFill>
                  <a:srgbClr val="4E3629"/>
                </a:solidFill>
                <a:latin typeface="Calibri"/>
                <a:cs typeface="Calibri"/>
              </a:rPr>
              <a:t>expresión</a:t>
            </a:r>
            <a:endParaRPr sz="2600">
              <a:latin typeface="Calibri"/>
              <a:cs typeface="Calibri"/>
            </a:endParaRPr>
          </a:p>
          <a:p>
            <a:pPr marL="184785" marR="259079"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Los</a:t>
            </a:r>
            <a:r>
              <a:rPr dirty="0" sz="2600" spc="-25">
                <a:solidFill>
                  <a:srgbClr val="4E3629"/>
                </a:solidFill>
                <a:latin typeface="Calibri"/>
                <a:cs typeface="Calibri"/>
              </a:rPr>
              <a:t> </a:t>
            </a:r>
            <a:r>
              <a:rPr dirty="0" sz="2600" spc="-10">
                <a:solidFill>
                  <a:srgbClr val="4E3629"/>
                </a:solidFill>
                <a:latin typeface="Calibri"/>
                <a:cs typeface="Calibri"/>
              </a:rPr>
              <a:t>valores</a:t>
            </a:r>
            <a:r>
              <a:rPr dirty="0" sz="2600" spc="-40">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spc="-10">
                <a:solidFill>
                  <a:srgbClr val="4E3629"/>
                </a:solidFill>
                <a:latin typeface="Calibri"/>
                <a:cs typeface="Calibri"/>
              </a:rPr>
              <a:t>expresión</a:t>
            </a:r>
            <a:r>
              <a:rPr dirty="0" sz="2600" spc="-60">
                <a:solidFill>
                  <a:srgbClr val="4E3629"/>
                </a:solidFill>
                <a:latin typeface="Calibri"/>
                <a:cs typeface="Calibri"/>
              </a:rPr>
              <a:t> </a:t>
            </a:r>
            <a:r>
              <a:rPr dirty="0" sz="2600">
                <a:solidFill>
                  <a:srgbClr val="4E3629"/>
                </a:solidFill>
                <a:latin typeface="Calibri"/>
                <a:cs typeface="Calibri"/>
              </a:rPr>
              <a:t>1</a:t>
            </a:r>
            <a:r>
              <a:rPr dirty="0" sz="2600" spc="-40">
                <a:solidFill>
                  <a:srgbClr val="4E3629"/>
                </a:solidFill>
                <a:latin typeface="Calibri"/>
                <a:cs typeface="Calibri"/>
              </a:rPr>
              <a:t> </a:t>
            </a:r>
            <a:r>
              <a:rPr dirty="0" sz="2600">
                <a:solidFill>
                  <a:srgbClr val="4E3629"/>
                </a:solidFill>
                <a:latin typeface="Calibri"/>
                <a:cs typeface="Calibri"/>
              </a:rPr>
              <a:t>pueden</a:t>
            </a:r>
            <a:r>
              <a:rPr dirty="0" sz="2600" spc="-65">
                <a:solidFill>
                  <a:srgbClr val="4E3629"/>
                </a:solidFill>
                <a:latin typeface="Calibri"/>
                <a:cs typeface="Calibri"/>
              </a:rPr>
              <a:t> </a:t>
            </a:r>
            <a:r>
              <a:rPr dirty="0" sz="2600">
                <a:solidFill>
                  <a:srgbClr val="4E3629"/>
                </a:solidFill>
                <a:latin typeface="Calibri"/>
                <a:cs typeface="Calibri"/>
              </a:rPr>
              <a:t>tener</a:t>
            </a:r>
            <a:r>
              <a:rPr dirty="0" sz="2600" spc="-40">
                <a:solidFill>
                  <a:srgbClr val="4E3629"/>
                </a:solidFill>
                <a:latin typeface="Calibri"/>
                <a:cs typeface="Calibri"/>
              </a:rPr>
              <a:t> </a:t>
            </a:r>
            <a:r>
              <a:rPr dirty="0" sz="2600">
                <a:solidFill>
                  <a:srgbClr val="4E3629"/>
                </a:solidFill>
                <a:latin typeface="Calibri"/>
                <a:cs typeface="Calibri"/>
              </a:rPr>
              <a:t>cualquier</a:t>
            </a:r>
            <a:r>
              <a:rPr dirty="0" sz="2600" spc="-60">
                <a:solidFill>
                  <a:srgbClr val="4E3629"/>
                </a:solidFill>
                <a:latin typeface="Calibri"/>
                <a:cs typeface="Calibri"/>
              </a:rPr>
              <a:t> </a:t>
            </a:r>
            <a:r>
              <a:rPr dirty="0" sz="2600" spc="-20">
                <a:solidFill>
                  <a:srgbClr val="4E3629"/>
                </a:solidFill>
                <a:latin typeface="Calibri"/>
                <a:cs typeface="Calibri"/>
              </a:rPr>
              <a:t>tipo </a:t>
            </a:r>
            <a:r>
              <a:rPr dirty="0" sz="2600">
                <a:solidFill>
                  <a:srgbClr val="4E3629"/>
                </a:solidFill>
                <a:latin typeface="Calibri"/>
                <a:cs typeface="Calibri"/>
              </a:rPr>
              <a:t>de</a:t>
            </a:r>
            <a:r>
              <a:rPr dirty="0" sz="2600" spc="-25">
                <a:solidFill>
                  <a:srgbClr val="4E3629"/>
                </a:solidFill>
                <a:latin typeface="Calibri"/>
                <a:cs typeface="Calibri"/>
              </a:rPr>
              <a:t> </a:t>
            </a:r>
            <a:r>
              <a:rPr dirty="0" sz="2600" spc="-20">
                <a:solidFill>
                  <a:srgbClr val="4E3629"/>
                </a:solidFill>
                <a:latin typeface="Calibri"/>
                <a:cs typeface="Calibri"/>
              </a:rPr>
              <a:t>dato</a:t>
            </a:r>
            <a:endParaRPr sz="2600">
              <a:latin typeface="Calibri"/>
              <a:cs typeface="Calibri"/>
            </a:endParaRPr>
          </a:p>
          <a:p>
            <a:pPr marL="184785" marR="5080" indent="-172720">
              <a:lnSpc>
                <a:spcPts val="2500"/>
              </a:lnSpc>
              <a:spcBef>
                <a:spcPts val="800"/>
              </a:spcBef>
              <a:buClr>
                <a:srgbClr val="D1350F"/>
              </a:buClr>
              <a:buFont typeface="Arial MT"/>
              <a:buChar char="•"/>
              <a:tabLst>
                <a:tab pos="184785" algn="l"/>
              </a:tabLst>
            </a:pPr>
            <a:r>
              <a:rPr dirty="0" sz="2600">
                <a:solidFill>
                  <a:srgbClr val="4E3629"/>
                </a:solidFill>
                <a:latin typeface="Calibri"/>
                <a:cs typeface="Calibri"/>
              </a:rPr>
              <a:t>La</a:t>
            </a:r>
            <a:r>
              <a:rPr dirty="0" sz="2600" spc="-30">
                <a:solidFill>
                  <a:srgbClr val="4E3629"/>
                </a:solidFill>
                <a:latin typeface="Calibri"/>
                <a:cs typeface="Calibri"/>
              </a:rPr>
              <a:t> </a:t>
            </a:r>
            <a:r>
              <a:rPr dirty="0" sz="2600" spc="-10">
                <a:solidFill>
                  <a:srgbClr val="4E3629"/>
                </a:solidFill>
                <a:latin typeface="Calibri"/>
                <a:cs typeface="Calibri"/>
              </a:rPr>
              <a:t>expresión</a:t>
            </a:r>
            <a:r>
              <a:rPr dirty="0" sz="2600" spc="-60">
                <a:solidFill>
                  <a:srgbClr val="4E3629"/>
                </a:solidFill>
                <a:latin typeface="Calibri"/>
                <a:cs typeface="Calibri"/>
              </a:rPr>
              <a:t> </a:t>
            </a:r>
            <a:r>
              <a:rPr dirty="0" sz="2600">
                <a:solidFill>
                  <a:srgbClr val="4E3629"/>
                </a:solidFill>
                <a:latin typeface="Calibri"/>
                <a:cs typeface="Calibri"/>
              </a:rPr>
              <a:t>2</a:t>
            </a:r>
            <a:r>
              <a:rPr dirty="0" sz="2600" spc="-40">
                <a:solidFill>
                  <a:srgbClr val="4E3629"/>
                </a:solidFill>
                <a:latin typeface="Calibri"/>
                <a:cs typeface="Calibri"/>
              </a:rPr>
              <a:t> </a:t>
            </a:r>
            <a:r>
              <a:rPr dirty="0" sz="2600">
                <a:solidFill>
                  <a:srgbClr val="4E3629"/>
                </a:solidFill>
                <a:latin typeface="Calibri"/>
                <a:cs typeface="Calibri"/>
              </a:rPr>
              <a:t>y</a:t>
            </a:r>
            <a:r>
              <a:rPr dirty="0" sz="2600" spc="-30">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a:solidFill>
                  <a:srgbClr val="4E3629"/>
                </a:solidFill>
                <a:latin typeface="Calibri"/>
                <a:cs typeface="Calibri"/>
              </a:rPr>
              <a:t>expresión</a:t>
            </a:r>
            <a:r>
              <a:rPr dirty="0" sz="2600" spc="-50">
                <a:solidFill>
                  <a:srgbClr val="4E3629"/>
                </a:solidFill>
                <a:latin typeface="Calibri"/>
                <a:cs typeface="Calibri"/>
              </a:rPr>
              <a:t> </a:t>
            </a:r>
            <a:r>
              <a:rPr dirty="0" sz="2600">
                <a:solidFill>
                  <a:srgbClr val="4E3629"/>
                </a:solidFill>
                <a:latin typeface="Calibri"/>
                <a:cs typeface="Calibri"/>
              </a:rPr>
              <a:t>3</a:t>
            </a:r>
            <a:r>
              <a:rPr dirty="0" sz="2600" spc="-40">
                <a:solidFill>
                  <a:srgbClr val="4E3629"/>
                </a:solidFill>
                <a:latin typeface="Calibri"/>
                <a:cs typeface="Calibri"/>
              </a:rPr>
              <a:t> </a:t>
            </a:r>
            <a:r>
              <a:rPr dirty="0" sz="2600">
                <a:solidFill>
                  <a:srgbClr val="4E3629"/>
                </a:solidFill>
                <a:latin typeface="Calibri"/>
                <a:cs typeface="Calibri"/>
              </a:rPr>
              <a:t>pueden</a:t>
            </a:r>
            <a:r>
              <a:rPr dirty="0" sz="2600" spc="-65">
                <a:solidFill>
                  <a:srgbClr val="4E3629"/>
                </a:solidFill>
                <a:latin typeface="Calibri"/>
                <a:cs typeface="Calibri"/>
              </a:rPr>
              <a:t> </a:t>
            </a:r>
            <a:r>
              <a:rPr dirty="0" sz="2600">
                <a:solidFill>
                  <a:srgbClr val="4E3629"/>
                </a:solidFill>
                <a:latin typeface="Calibri"/>
                <a:cs typeface="Calibri"/>
              </a:rPr>
              <a:t>tener</a:t>
            </a:r>
            <a:r>
              <a:rPr dirty="0" sz="2600" spc="-55">
                <a:solidFill>
                  <a:srgbClr val="4E3629"/>
                </a:solidFill>
                <a:latin typeface="Calibri"/>
                <a:cs typeface="Calibri"/>
              </a:rPr>
              <a:t> </a:t>
            </a:r>
            <a:r>
              <a:rPr dirty="0" sz="2600">
                <a:solidFill>
                  <a:srgbClr val="4E3629"/>
                </a:solidFill>
                <a:latin typeface="Calibri"/>
                <a:cs typeface="Calibri"/>
              </a:rPr>
              <a:t>cualquier</a:t>
            </a:r>
            <a:r>
              <a:rPr dirty="0" sz="2600" spc="-45">
                <a:solidFill>
                  <a:srgbClr val="4E3629"/>
                </a:solidFill>
                <a:latin typeface="Calibri"/>
                <a:cs typeface="Calibri"/>
              </a:rPr>
              <a:t> </a:t>
            </a:r>
            <a:r>
              <a:rPr dirty="0" sz="2600" spc="-20">
                <a:solidFill>
                  <a:srgbClr val="4E3629"/>
                </a:solidFill>
                <a:latin typeface="Calibri"/>
                <a:cs typeface="Calibri"/>
              </a:rPr>
              <a:t>tipo </a:t>
            </a:r>
            <a:r>
              <a:rPr dirty="0" sz="2600">
                <a:solidFill>
                  <a:srgbClr val="4E3629"/>
                </a:solidFill>
                <a:latin typeface="Calibri"/>
                <a:cs typeface="Calibri"/>
              </a:rPr>
              <a:t>de</a:t>
            </a:r>
            <a:r>
              <a:rPr dirty="0" sz="2600" spc="-95">
                <a:solidFill>
                  <a:srgbClr val="4E3629"/>
                </a:solidFill>
                <a:latin typeface="Calibri"/>
                <a:cs typeface="Calibri"/>
              </a:rPr>
              <a:t> </a:t>
            </a:r>
            <a:r>
              <a:rPr dirty="0" sz="2600">
                <a:solidFill>
                  <a:srgbClr val="4E3629"/>
                </a:solidFill>
                <a:latin typeface="Calibri"/>
                <a:cs typeface="Calibri"/>
              </a:rPr>
              <a:t>dato,</a:t>
            </a:r>
            <a:r>
              <a:rPr dirty="0" sz="2600" spc="-85">
                <a:solidFill>
                  <a:srgbClr val="4E3629"/>
                </a:solidFill>
                <a:latin typeface="Calibri"/>
                <a:cs typeface="Calibri"/>
              </a:rPr>
              <a:t> </a:t>
            </a:r>
            <a:r>
              <a:rPr dirty="0" sz="2600" spc="-10">
                <a:solidFill>
                  <a:srgbClr val="4E3629"/>
                </a:solidFill>
                <a:latin typeface="Calibri"/>
                <a:cs typeface="Calibri"/>
              </a:rPr>
              <a:t>excepto</a:t>
            </a:r>
            <a:r>
              <a:rPr dirty="0" sz="2600" spc="-105">
                <a:solidFill>
                  <a:srgbClr val="4E3629"/>
                </a:solidFill>
                <a:latin typeface="Calibri"/>
                <a:cs typeface="Calibri"/>
              </a:rPr>
              <a:t> </a:t>
            </a:r>
            <a:r>
              <a:rPr dirty="0" sz="2600" spc="-20">
                <a:solidFill>
                  <a:srgbClr val="4E3629"/>
                </a:solidFill>
                <a:latin typeface="Calibri"/>
                <a:cs typeface="Calibri"/>
              </a:rPr>
              <a:t>LONG</a:t>
            </a:r>
            <a:endParaRPr sz="2600">
              <a:latin typeface="Calibri"/>
              <a:cs typeface="Calibri"/>
            </a:endParaRPr>
          </a:p>
          <a:p>
            <a:pPr marL="184785" marR="41275"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tipo</a:t>
            </a:r>
            <a:r>
              <a:rPr dirty="0" sz="2600" spc="-40">
                <a:solidFill>
                  <a:srgbClr val="4E3629"/>
                </a:solidFill>
                <a:latin typeface="Calibri"/>
                <a:cs typeface="Calibri"/>
              </a:rPr>
              <a:t> </a:t>
            </a:r>
            <a:r>
              <a:rPr dirty="0" sz="2600">
                <a:solidFill>
                  <a:srgbClr val="4E3629"/>
                </a:solidFill>
                <a:latin typeface="Calibri"/>
                <a:cs typeface="Calibri"/>
              </a:rPr>
              <a:t>de</a:t>
            </a:r>
            <a:r>
              <a:rPr dirty="0" sz="2600" spc="-50">
                <a:solidFill>
                  <a:srgbClr val="4E3629"/>
                </a:solidFill>
                <a:latin typeface="Calibri"/>
                <a:cs typeface="Calibri"/>
              </a:rPr>
              <a:t> </a:t>
            </a:r>
            <a:r>
              <a:rPr dirty="0" sz="2600">
                <a:solidFill>
                  <a:srgbClr val="4E3629"/>
                </a:solidFill>
                <a:latin typeface="Calibri"/>
                <a:cs typeface="Calibri"/>
              </a:rPr>
              <a:t>dato</a:t>
            </a:r>
            <a:r>
              <a:rPr dirty="0" sz="2600" spc="-40">
                <a:solidFill>
                  <a:srgbClr val="4E3629"/>
                </a:solidFill>
                <a:latin typeface="Calibri"/>
                <a:cs typeface="Calibri"/>
              </a:rPr>
              <a:t> </a:t>
            </a:r>
            <a:r>
              <a:rPr dirty="0" sz="2600">
                <a:solidFill>
                  <a:srgbClr val="4E3629"/>
                </a:solidFill>
                <a:latin typeface="Calibri"/>
                <a:cs typeface="Calibri"/>
              </a:rPr>
              <a:t>del</a:t>
            </a:r>
            <a:r>
              <a:rPr dirty="0" sz="2600" spc="-45">
                <a:solidFill>
                  <a:srgbClr val="4E3629"/>
                </a:solidFill>
                <a:latin typeface="Calibri"/>
                <a:cs typeface="Calibri"/>
              </a:rPr>
              <a:t> </a:t>
            </a:r>
            <a:r>
              <a:rPr dirty="0" sz="2600">
                <a:solidFill>
                  <a:srgbClr val="4E3629"/>
                </a:solidFill>
                <a:latin typeface="Calibri"/>
                <a:cs typeface="Calibri"/>
              </a:rPr>
              <a:t>valor</a:t>
            </a:r>
            <a:r>
              <a:rPr dirty="0" sz="2600" spc="-35">
                <a:solidFill>
                  <a:srgbClr val="4E3629"/>
                </a:solidFill>
                <a:latin typeface="Calibri"/>
                <a:cs typeface="Calibri"/>
              </a:rPr>
              <a:t> </a:t>
            </a:r>
            <a:r>
              <a:rPr dirty="0" sz="2600">
                <a:solidFill>
                  <a:srgbClr val="4E3629"/>
                </a:solidFill>
                <a:latin typeface="Calibri"/>
                <a:cs typeface="Calibri"/>
              </a:rPr>
              <a:t>devuelto</a:t>
            </a:r>
            <a:r>
              <a:rPr dirty="0" sz="2600" spc="-65">
                <a:solidFill>
                  <a:srgbClr val="4E3629"/>
                </a:solidFill>
                <a:latin typeface="Calibri"/>
                <a:cs typeface="Calibri"/>
              </a:rPr>
              <a:t> </a:t>
            </a:r>
            <a:r>
              <a:rPr dirty="0" sz="2600">
                <a:solidFill>
                  <a:srgbClr val="4E3629"/>
                </a:solidFill>
                <a:latin typeface="Calibri"/>
                <a:cs typeface="Calibri"/>
              </a:rPr>
              <a:t>siempre</a:t>
            </a:r>
            <a:r>
              <a:rPr dirty="0" sz="2600" spc="-60">
                <a:solidFill>
                  <a:srgbClr val="4E3629"/>
                </a:solidFill>
                <a:latin typeface="Calibri"/>
                <a:cs typeface="Calibri"/>
              </a:rPr>
              <a:t> </a:t>
            </a:r>
            <a:r>
              <a:rPr dirty="0" sz="2600">
                <a:solidFill>
                  <a:srgbClr val="4E3629"/>
                </a:solidFill>
                <a:latin typeface="Calibri"/>
                <a:cs typeface="Calibri"/>
              </a:rPr>
              <a:t>es</a:t>
            </a:r>
            <a:r>
              <a:rPr dirty="0" sz="2600" spc="-60">
                <a:solidFill>
                  <a:srgbClr val="4E3629"/>
                </a:solidFill>
                <a:latin typeface="Calibri"/>
                <a:cs typeface="Calibri"/>
              </a:rPr>
              <a:t> </a:t>
            </a:r>
            <a:r>
              <a:rPr dirty="0" sz="2600">
                <a:solidFill>
                  <a:srgbClr val="4E3629"/>
                </a:solidFill>
                <a:latin typeface="Calibri"/>
                <a:cs typeface="Calibri"/>
              </a:rPr>
              <a:t>el</a:t>
            </a:r>
            <a:r>
              <a:rPr dirty="0" sz="2600" spc="-35">
                <a:solidFill>
                  <a:srgbClr val="4E3629"/>
                </a:solidFill>
                <a:latin typeface="Calibri"/>
                <a:cs typeface="Calibri"/>
              </a:rPr>
              <a:t> </a:t>
            </a:r>
            <a:r>
              <a:rPr dirty="0" sz="2600">
                <a:solidFill>
                  <a:srgbClr val="4E3629"/>
                </a:solidFill>
                <a:latin typeface="Calibri"/>
                <a:cs typeface="Calibri"/>
              </a:rPr>
              <a:t>mismo</a:t>
            </a:r>
            <a:r>
              <a:rPr dirty="0" sz="2600" spc="-55">
                <a:solidFill>
                  <a:srgbClr val="4E3629"/>
                </a:solidFill>
                <a:latin typeface="Calibri"/>
                <a:cs typeface="Calibri"/>
              </a:rPr>
              <a:t> </a:t>
            </a:r>
            <a:r>
              <a:rPr dirty="0" sz="2600" spc="-25">
                <a:solidFill>
                  <a:srgbClr val="4E3629"/>
                </a:solidFill>
                <a:latin typeface="Calibri"/>
                <a:cs typeface="Calibri"/>
              </a:rPr>
              <a:t>que </a:t>
            </a:r>
            <a:r>
              <a:rPr dirty="0" sz="2600">
                <a:solidFill>
                  <a:srgbClr val="4E3629"/>
                </a:solidFill>
                <a:latin typeface="Calibri"/>
                <a:cs typeface="Calibri"/>
              </a:rPr>
              <a:t>el</a:t>
            </a:r>
            <a:r>
              <a:rPr dirty="0" sz="2600" spc="-30">
                <a:solidFill>
                  <a:srgbClr val="4E3629"/>
                </a:solidFill>
                <a:latin typeface="Calibri"/>
                <a:cs typeface="Calibri"/>
              </a:rPr>
              <a:t> </a:t>
            </a:r>
            <a:r>
              <a:rPr dirty="0" sz="2600">
                <a:solidFill>
                  <a:srgbClr val="4E3629"/>
                </a:solidFill>
                <a:latin typeface="Calibri"/>
                <a:cs typeface="Calibri"/>
              </a:rPr>
              <a:t>tipo</a:t>
            </a:r>
            <a:r>
              <a:rPr dirty="0" sz="2600" spc="-20">
                <a:solidFill>
                  <a:srgbClr val="4E3629"/>
                </a:solidFill>
                <a:latin typeface="Calibri"/>
                <a:cs typeface="Calibri"/>
              </a:rPr>
              <a:t> </a:t>
            </a:r>
            <a:r>
              <a:rPr dirty="0" sz="2600">
                <a:solidFill>
                  <a:srgbClr val="4E3629"/>
                </a:solidFill>
                <a:latin typeface="Calibri"/>
                <a:cs typeface="Calibri"/>
              </a:rPr>
              <a:t>de</a:t>
            </a:r>
            <a:r>
              <a:rPr dirty="0" sz="2600" spc="-30">
                <a:solidFill>
                  <a:srgbClr val="4E3629"/>
                </a:solidFill>
                <a:latin typeface="Calibri"/>
                <a:cs typeface="Calibri"/>
              </a:rPr>
              <a:t> </a:t>
            </a:r>
            <a:r>
              <a:rPr dirty="0" sz="2600">
                <a:solidFill>
                  <a:srgbClr val="4E3629"/>
                </a:solidFill>
                <a:latin typeface="Calibri"/>
                <a:cs typeface="Calibri"/>
              </a:rPr>
              <a:t>dato</a:t>
            </a:r>
            <a:r>
              <a:rPr dirty="0" sz="2600" spc="-20">
                <a:solidFill>
                  <a:srgbClr val="4E3629"/>
                </a:solidFill>
                <a:latin typeface="Calibri"/>
                <a:cs typeface="Calibri"/>
              </a:rPr>
              <a:t> </a:t>
            </a:r>
            <a:r>
              <a:rPr dirty="0" sz="2600">
                <a:solidFill>
                  <a:srgbClr val="4E3629"/>
                </a:solidFill>
                <a:latin typeface="Calibri"/>
                <a:cs typeface="Calibri"/>
              </a:rPr>
              <a:t>de</a:t>
            </a:r>
            <a:r>
              <a:rPr dirty="0" sz="2600" spc="-30">
                <a:solidFill>
                  <a:srgbClr val="4E3629"/>
                </a:solidFill>
                <a:latin typeface="Calibri"/>
                <a:cs typeface="Calibri"/>
              </a:rPr>
              <a:t> </a:t>
            </a:r>
            <a:r>
              <a:rPr dirty="0" sz="2600">
                <a:solidFill>
                  <a:srgbClr val="4E3629"/>
                </a:solidFill>
                <a:latin typeface="Calibri"/>
                <a:cs typeface="Calibri"/>
              </a:rPr>
              <a:t>la</a:t>
            </a:r>
            <a:r>
              <a:rPr dirty="0" sz="2600" spc="-20">
                <a:solidFill>
                  <a:srgbClr val="4E3629"/>
                </a:solidFill>
                <a:latin typeface="Calibri"/>
                <a:cs typeface="Calibri"/>
              </a:rPr>
              <a:t> </a:t>
            </a:r>
            <a:r>
              <a:rPr dirty="0" sz="2600" spc="-10">
                <a:solidFill>
                  <a:srgbClr val="4E3629"/>
                </a:solidFill>
                <a:latin typeface="Calibri"/>
                <a:cs typeface="Calibri"/>
              </a:rPr>
              <a:t>expresión</a:t>
            </a:r>
            <a:r>
              <a:rPr dirty="0" sz="2600" spc="-55">
                <a:solidFill>
                  <a:srgbClr val="4E3629"/>
                </a:solidFill>
                <a:latin typeface="Calibri"/>
                <a:cs typeface="Calibri"/>
              </a:rPr>
              <a:t> </a:t>
            </a:r>
            <a:r>
              <a:rPr dirty="0" sz="2600">
                <a:solidFill>
                  <a:srgbClr val="4E3629"/>
                </a:solidFill>
                <a:latin typeface="Calibri"/>
                <a:cs typeface="Calibri"/>
              </a:rPr>
              <a:t>2,</a:t>
            </a:r>
            <a:r>
              <a:rPr dirty="0" sz="2600" spc="-20">
                <a:solidFill>
                  <a:srgbClr val="4E3629"/>
                </a:solidFill>
                <a:latin typeface="Calibri"/>
                <a:cs typeface="Calibri"/>
              </a:rPr>
              <a:t> </a:t>
            </a:r>
            <a:r>
              <a:rPr dirty="0" sz="2600">
                <a:solidFill>
                  <a:srgbClr val="4E3629"/>
                </a:solidFill>
                <a:latin typeface="Calibri"/>
                <a:cs typeface="Calibri"/>
              </a:rPr>
              <a:t>a</a:t>
            </a:r>
            <a:r>
              <a:rPr dirty="0" sz="2600" spc="-15">
                <a:solidFill>
                  <a:srgbClr val="4E3629"/>
                </a:solidFill>
                <a:latin typeface="Calibri"/>
                <a:cs typeface="Calibri"/>
              </a:rPr>
              <a:t> </a:t>
            </a:r>
            <a:r>
              <a:rPr dirty="0" sz="2600">
                <a:solidFill>
                  <a:srgbClr val="4E3629"/>
                </a:solidFill>
                <a:latin typeface="Calibri"/>
                <a:cs typeface="Calibri"/>
              </a:rPr>
              <a:t>menos</a:t>
            </a:r>
            <a:r>
              <a:rPr dirty="0" sz="2600" spc="-30">
                <a:solidFill>
                  <a:srgbClr val="4E3629"/>
                </a:solidFill>
                <a:latin typeface="Calibri"/>
                <a:cs typeface="Calibri"/>
              </a:rPr>
              <a:t> </a:t>
            </a:r>
            <a:r>
              <a:rPr dirty="0" sz="2600">
                <a:solidFill>
                  <a:srgbClr val="4E3629"/>
                </a:solidFill>
                <a:latin typeface="Calibri"/>
                <a:cs typeface="Calibri"/>
              </a:rPr>
              <a:t>que</a:t>
            </a:r>
            <a:r>
              <a:rPr dirty="0" sz="2600" spc="-45">
                <a:solidFill>
                  <a:srgbClr val="4E3629"/>
                </a:solidFill>
                <a:latin typeface="Calibri"/>
                <a:cs typeface="Calibri"/>
              </a:rPr>
              <a:t> </a:t>
            </a:r>
            <a:r>
              <a:rPr dirty="0" sz="2600">
                <a:solidFill>
                  <a:srgbClr val="4E3629"/>
                </a:solidFill>
                <a:latin typeface="Calibri"/>
                <a:cs typeface="Calibri"/>
              </a:rPr>
              <a:t>la</a:t>
            </a:r>
            <a:r>
              <a:rPr dirty="0" sz="2600" spc="-15">
                <a:solidFill>
                  <a:srgbClr val="4E3629"/>
                </a:solidFill>
                <a:latin typeface="Calibri"/>
                <a:cs typeface="Calibri"/>
              </a:rPr>
              <a:t> </a:t>
            </a:r>
            <a:r>
              <a:rPr dirty="0" sz="2600" spc="-10">
                <a:solidFill>
                  <a:srgbClr val="4E3629"/>
                </a:solidFill>
                <a:latin typeface="Calibri"/>
                <a:cs typeface="Calibri"/>
              </a:rPr>
              <a:t>expresión </a:t>
            </a:r>
            <a:r>
              <a:rPr dirty="0" sz="2600">
                <a:solidFill>
                  <a:srgbClr val="4E3629"/>
                </a:solidFill>
                <a:latin typeface="Calibri"/>
                <a:cs typeface="Calibri"/>
              </a:rPr>
              <a:t>2</a:t>
            </a:r>
            <a:r>
              <a:rPr dirty="0" sz="2600" spc="-55">
                <a:solidFill>
                  <a:srgbClr val="4E3629"/>
                </a:solidFill>
                <a:latin typeface="Calibri"/>
                <a:cs typeface="Calibri"/>
              </a:rPr>
              <a:t> </a:t>
            </a:r>
            <a:r>
              <a:rPr dirty="0" sz="2600">
                <a:solidFill>
                  <a:srgbClr val="4E3629"/>
                </a:solidFill>
                <a:latin typeface="Calibri"/>
                <a:cs typeface="Calibri"/>
              </a:rPr>
              <a:t>sean</a:t>
            </a:r>
            <a:r>
              <a:rPr dirty="0" sz="2600" spc="-50">
                <a:solidFill>
                  <a:srgbClr val="4E3629"/>
                </a:solidFill>
                <a:latin typeface="Calibri"/>
                <a:cs typeface="Calibri"/>
              </a:rPr>
              <a:t> </a:t>
            </a:r>
            <a:r>
              <a:rPr dirty="0" sz="2600">
                <a:solidFill>
                  <a:srgbClr val="4E3629"/>
                </a:solidFill>
                <a:latin typeface="Calibri"/>
                <a:cs typeface="Calibri"/>
              </a:rPr>
              <a:t>datos</a:t>
            </a:r>
            <a:r>
              <a:rPr dirty="0" sz="2600" spc="-5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spc="-10">
                <a:solidFill>
                  <a:srgbClr val="4E3629"/>
                </a:solidFill>
                <a:latin typeface="Calibri"/>
                <a:cs typeface="Calibri"/>
              </a:rPr>
              <a:t>caracteres,</a:t>
            </a:r>
            <a:r>
              <a:rPr dirty="0" sz="2600" spc="-75">
                <a:solidFill>
                  <a:srgbClr val="4E3629"/>
                </a:solidFill>
                <a:latin typeface="Calibri"/>
                <a:cs typeface="Calibri"/>
              </a:rPr>
              <a:t> </a:t>
            </a:r>
            <a:r>
              <a:rPr dirty="0" sz="2600">
                <a:solidFill>
                  <a:srgbClr val="4E3629"/>
                </a:solidFill>
                <a:latin typeface="Calibri"/>
                <a:cs typeface="Calibri"/>
              </a:rPr>
              <a:t>en</a:t>
            </a:r>
            <a:r>
              <a:rPr dirty="0" sz="2600" spc="-50">
                <a:solidFill>
                  <a:srgbClr val="4E3629"/>
                </a:solidFill>
                <a:latin typeface="Calibri"/>
                <a:cs typeface="Calibri"/>
              </a:rPr>
              <a:t> </a:t>
            </a:r>
            <a:r>
              <a:rPr dirty="0" sz="2600">
                <a:solidFill>
                  <a:srgbClr val="4E3629"/>
                </a:solidFill>
                <a:latin typeface="Calibri"/>
                <a:cs typeface="Calibri"/>
              </a:rPr>
              <a:t>cuyo</a:t>
            </a:r>
            <a:r>
              <a:rPr dirty="0" sz="2600" spc="-40">
                <a:solidFill>
                  <a:srgbClr val="4E3629"/>
                </a:solidFill>
                <a:latin typeface="Calibri"/>
                <a:cs typeface="Calibri"/>
              </a:rPr>
              <a:t> </a:t>
            </a:r>
            <a:r>
              <a:rPr dirty="0" sz="2600">
                <a:solidFill>
                  <a:srgbClr val="4E3629"/>
                </a:solidFill>
                <a:latin typeface="Calibri"/>
                <a:cs typeface="Calibri"/>
              </a:rPr>
              <a:t>caso,</a:t>
            </a:r>
            <a:r>
              <a:rPr dirty="0" sz="2600" spc="-45">
                <a:solidFill>
                  <a:srgbClr val="4E3629"/>
                </a:solidFill>
                <a:latin typeface="Calibri"/>
                <a:cs typeface="Calibri"/>
              </a:rPr>
              <a:t> </a:t>
            </a:r>
            <a:r>
              <a:rPr dirty="0" sz="2600">
                <a:solidFill>
                  <a:srgbClr val="4E3629"/>
                </a:solidFill>
                <a:latin typeface="Calibri"/>
                <a:cs typeface="Calibri"/>
              </a:rPr>
              <a:t>el</a:t>
            </a:r>
            <a:r>
              <a:rPr dirty="0" sz="2600" spc="-35">
                <a:solidFill>
                  <a:srgbClr val="4E3629"/>
                </a:solidFill>
                <a:latin typeface="Calibri"/>
                <a:cs typeface="Calibri"/>
              </a:rPr>
              <a:t> </a:t>
            </a:r>
            <a:r>
              <a:rPr dirty="0" sz="2600">
                <a:solidFill>
                  <a:srgbClr val="4E3629"/>
                </a:solidFill>
                <a:latin typeface="Calibri"/>
                <a:cs typeface="Calibri"/>
              </a:rPr>
              <a:t>tipo</a:t>
            </a:r>
            <a:r>
              <a:rPr dirty="0" sz="2600" spc="-45">
                <a:solidFill>
                  <a:srgbClr val="4E3629"/>
                </a:solidFill>
                <a:latin typeface="Calibri"/>
                <a:cs typeface="Calibri"/>
              </a:rPr>
              <a:t> </a:t>
            </a:r>
            <a:r>
              <a:rPr dirty="0" sz="2600" spc="-10">
                <a:solidFill>
                  <a:srgbClr val="4E3629"/>
                </a:solidFill>
                <a:latin typeface="Calibri"/>
                <a:cs typeface="Calibri"/>
              </a:rPr>
              <a:t>devuelto </a:t>
            </a:r>
            <a:r>
              <a:rPr dirty="0" sz="2600">
                <a:solidFill>
                  <a:srgbClr val="4E3629"/>
                </a:solidFill>
                <a:latin typeface="Calibri"/>
                <a:cs typeface="Calibri"/>
              </a:rPr>
              <a:t>es</a:t>
            </a:r>
            <a:r>
              <a:rPr dirty="0" sz="2600" spc="-30">
                <a:solidFill>
                  <a:srgbClr val="4E3629"/>
                </a:solidFill>
                <a:latin typeface="Calibri"/>
                <a:cs typeface="Calibri"/>
              </a:rPr>
              <a:t> </a:t>
            </a:r>
            <a:r>
              <a:rPr dirty="0" sz="2600" spc="-10">
                <a:solidFill>
                  <a:srgbClr val="4E3629"/>
                </a:solidFill>
                <a:latin typeface="Calibri"/>
                <a:cs typeface="Calibri"/>
              </a:rPr>
              <a:t>VARCHAR2</a:t>
            </a:r>
            <a:endParaRPr sz="26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Función</a:t>
            </a:r>
            <a:r>
              <a:rPr dirty="0" spc="-95"/>
              <a:t> </a:t>
            </a:r>
            <a:r>
              <a:rPr dirty="0" spc="-20"/>
              <a:t>NVL2</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16</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3020695"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función</a:t>
            </a:r>
            <a:r>
              <a:rPr dirty="0" sz="2800" spc="-30">
                <a:solidFill>
                  <a:srgbClr val="4E3629"/>
                </a:solidFill>
                <a:latin typeface="Calibri"/>
                <a:cs typeface="Calibri"/>
              </a:rPr>
              <a:t> </a:t>
            </a:r>
            <a:r>
              <a:rPr dirty="0" sz="2800">
                <a:solidFill>
                  <a:srgbClr val="4E3629"/>
                </a:solidFill>
                <a:latin typeface="Calibri"/>
                <a:cs typeface="Calibri"/>
              </a:rPr>
              <a:t>NVL2</a:t>
            </a:r>
            <a:r>
              <a:rPr dirty="0" sz="2800" spc="-35">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descr=""/>
          <p:cNvSpPr txBox="1"/>
          <p:nvPr/>
        </p:nvSpPr>
        <p:spPr>
          <a:xfrm>
            <a:off x="483552" y="2872361"/>
            <a:ext cx="7722234"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Una</a:t>
            </a:r>
            <a:r>
              <a:rPr dirty="0" sz="2800" spc="-55">
                <a:solidFill>
                  <a:srgbClr val="4E3629"/>
                </a:solidFill>
                <a:latin typeface="Calibri"/>
                <a:cs typeface="Calibri"/>
              </a:rPr>
              <a:t> </a:t>
            </a:r>
            <a:r>
              <a:rPr dirty="0" sz="2800">
                <a:solidFill>
                  <a:srgbClr val="4E3629"/>
                </a:solidFill>
                <a:latin typeface="Calibri"/>
                <a:cs typeface="Calibri"/>
              </a:rPr>
              <a:t>manera</a:t>
            </a:r>
            <a:r>
              <a:rPr dirty="0" sz="2800" spc="-40">
                <a:solidFill>
                  <a:srgbClr val="4E3629"/>
                </a:solidFill>
                <a:latin typeface="Calibri"/>
                <a:cs typeface="Calibri"/>
              </a:rPr>
              <a:t> </a:t>
            </a:r>
            <a:r>
              <a:rPr dirty="0" sz="2800">
                <a:solidFill>
                  <a:srgbClr val="4E3629"/>
                </a:solidFill>
                <a:latin typeface="Calibri"/>
                <a:cs typeface="Calibri"/>
              </a:rPr>
              <a:t>fácil</a:t>
            </a:r>
            <a:r>
              <a:rPr dirty="0" sz="2800" spc="-6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recordar</a:t>
            </a:r>
            <a:r>
              <a:rPr dirty="0" sz="2800" spc="-65">
                <a:solidFill>
                  <a:srgbClr val="4E3629"/>
                </a:solidFill>
                <a:latin typeface="Calibri"/>
                <a:cs typeface="Calibri"/>
              </a:rPr>
              <a:t> </a:t>
            </a:r>
            <a:r>
              <a:rPr dirty="0" sz="2800">
                <a:solidFill>
                  <a:srgbClr val="4E3629"/>
                </a:solidFill>
                <a:latin typeface="Calibri"/>
                <a:cs typeface="Calibri"/>
              </a:rPr>
              <a:t>NVL2</a:t>
            </a:r>
            <a:r>
              <a:rPr dirty="0" sz="2800" spc="-30">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a:solidFill>
                  <a:srgbClr val="4E3629"/>
                </a:solidFill>
                <a:latin typeface="Calibri"/>
                <a:cs typeface="Calibri"/>
              </a:rPr>
              <a:t>pensar:</a:t>
            </a:r>
            <a:r>
              <a:rPr dirty="0" sz="2800" spc="-40">
                <a:solidFill>
                  <a:srgbClr val="4E3629"/>
                </a:solidFill>
                <a:latin typeface="Calibri"/>
                <a:cs typeface="Calibri"/>
              </a:rPr>
              <a:t> </a:t>
            </a:r>
            <a:r>
              <a:rPr dirty="0" sz="2800">
                <a:solidFill>
                  <a:srgbClr val="4E3629"/>
                </a:solidFill>
                <a:latin typeface="Calibri"/>
                <a:cs typeface="Calibri"/>
              </a:rPr>
              <a:t>"si</a:t>
            </a:r>
            <a:r>
              <a:rPr dirty="0" sz="2800" spc="-4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expresión</a:t>
            </a:r>
            <a:r>
              <a:rPr dirty="0" sz="2800" spc="-55">
                <a:solidFill>
                  <a:srgbClr val="4E3629"/>
                </a:solidFill>
                <a:latin typeface="Calibri"/>
                <a:cs typeface="Calibri"/>
              </a:rPr>
              <a:t> </a:t>
            </a:r>
            <a:r>
              <a:rPr dirty="0" sz="2800">
                <a:solidFill>
                  <a:srgbClr val="4E3629"/>
                </a:solidFill>
                <a:latin typeface="Calibri"/>
                <a:cs typeface="Calibri"/>
              </a:rPr>
              <a:t>1</a:t>
            </a:r>
            <a:r>
              <a:rPr dirty="0" sz="2800" spc="-85">
                <a:solidFill>
                  <a:srgbClr val="4E3629"/>
                </a:solidFill>
                <a:latin typeface="Calibri"/>
                <a:cs typeface="Calibri"/>
              </a:rPr>
              <a:t> </a:t>
            </a:r>
            <a:r>
              <a:rPr dirty="0" sz="2800">
                <a:solidFill>
                  <a:srgbClr val="4E3629"/>
                </a:solidFill>
                <a:latin typeface="Calibri"/>
                <a:cs typeface="Calibri"/>
              </a:rPr>
              <a:t>tiene</a:t>
            </a:r>
            <a:r>
              <a:rPr dirty="0" sz="2800" spc="-70">
                <a:solidFill>
                  <a:srgbClr val="4E3629"/>
                </a:solidFill>
                <a:latin typeface="Calibri"/>
                <a:cs typeface="Calibri"/>
              </a:rPr>
              <a:t> </a:t>
            </a:r>
            <a:r>
              <a:rPr dirty="0" sz="2800">
                <a:solidFill>
                  <a:srgbClr val="4E3629"/>
                </a:solidFill>
                <a:latin typeface="Calibri"/>
                <a:cs typeface="Calibri"/>
              </a:rPr>
              <a:t>un</a:t>
            </a:r>
            <a:r>
              <a:rPr dirty="0" sz="2800" spc="-65">
                <a:solidFill>
                  <a:srgbClr val="4E3629"/>
                </a:solidFill>
                <a:latin typeface="Calibri"/>
                <a:cs typeface="Calibri"/>
              </a:rPr>
              <a:t> </a:t>
            </a:r>
            <a:r>
              <a:rPr dirty="0" sz="2800" spc="-35">
                <a:solidFill>
                  <a:srgbClr val="4E3629"/>
                </a:solidFill>
                <a:latin typeface="Calibri"/>
                <a:cs typeface="Calibri"/>
              </a:rPr>
              <a:t>valor,</a:t>
            </a:r>
            <a:r>
              <a:rPr dirty="0" sz="2800" spc="-80">
                <a:solidFill>
                  <a:srgbClr val="4E3629"/>
                </a:solidFill>
                <a:latin typeface="Calibri"/>
                <a:cs typeface="Calibri"/>
              </a:rPr>
              <a:t> </a:t>
            </a:r>
            <a:r>
              <a:rPr dirty="0" sz="2800">
                <a:solidFill>
                  <a:srgbClr val="4E3629"/>
                </a:solidFill>
                <a:latin typeface="Calibri"/>
                <a:cs typeface="Calibri"/>
              </a:rPr>
              <a:t>sustituir</a:t>
            </a:r>
            <a:r>
              <a:rPr dirty="0" sz="2800" spc="-45">
                <a:solidFill>
                  <a:srgbClr val="4E3629"/>
                </a:solidFill>
                <a:latin typeface="Calibri"/>
                <a:cs typeface="Calibri"/>
              </a:rPr>
              <a:t> </a:t>
            </a:r>
            <a:r>
              <a:rPr dirty="0" sz="2800">
                <a:solidFill>
                  <a:srgbClr val="4E3629"/>
                </a:solidFill>
                <a:latin typeface="Calibri"/>
                <a:cs typeface="Calibri"/>
              </a:rPr>
              <a:t>expresión</a:t>
            </a:r>
            <a:r>
              <a:rPr dirty="0" sz="2800" spc="-50">
                <a:solidFill>
                  <a:srgbClr val="4E3629"/>
                </a:solidFill>
                <a:latin typeface="Calibri"/>
                <a:cs typeface="Calibri"/>
              </a:rPr>
              <a:t> </a:t>
            </a:r>
            <a:r>
              <a:rPr dirty="0" sz="2800">
                <a:solidFill>
                  <a:srgbClr val="4E3629"/>
                </a:solidFill>
                <a:latin typeface="Calibri"/>
                <a:cs typeface="Calibri"/>
              </a:rPr>
              <a:t>2;</a:t>
            </a:r>
            <a:r>
              <a:rPr dirty="0" sz="2800" spc="-80">
                <a:solidFill>
                  <a:srgbClr val="4E3629"/>
                </a:solidFill>
                <a:latin typeface="Calibri"/>
                <a:cs typeface="Calibri"/>
              </a:rPr>
              <a:t> </a:t>
            </a:r>
            <a:r>
              <a:rPr dirty="0" sz="2800">
                <a:solidFill>
                  <a:srgbClr val="4E3629"/>
                </a:solidFill>
                <a:latin typeface="Calibri"/>
                <a:cs typeface="Calibri"/>
              </a:rPr>
              <a:t>si</a:t>
            </a:r>
            <a:r>
              <a:rPr dirty="0" sz="2800" spc="-8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expresión</a:t>
            </a:r>
            <a:r>
              <a:rPr dirty="0" sz="2800" spc="-75">
                <a:solidFill>
                  <a:srgbClr val="4E3629"/>
                </a:solidFill>
                <a:latin typeface="Calibri"/>
                <a:cs typeface="Calibri"/>
              </a:rPr>
              <a:t> </a:t>
            </a:r>
            <a:r>
              <a:rPr dirty="0" sz="2800">
                <a:solidFill>
                  <a:srgbClr val="4E3629"/>
                </a:solidFill>
                <a:latin typeface="Calibri"/>
                <a:cs typeface="Calibri"/>
              </a:rPr>
              <a:t>1</a:t>
            </a:r>
            <a:r>
              <a:rPr dirty="0" sz="2800" spc="-95">
                <a:solidFill>
                  <a:srgbClr val="4E3629"/>
                </a:solidFill>
                <a:latin typeface="Calibri"/>
                <a:cs typeface="Calibri"/>
              </a:rPr>
              <a:t> </a:t>
            </a:r>
            <a:r>
              <a:rPr dirty="0" sz="2800">
                <a:solidFill>
                  <a:srgbClr val="4E3629"/>
                </a:solidFill>
                <a:latin typeface="Calibri"/>
                <a:cs typeface="Calibri"/>
              </a:rPr>
              <a:t>es</a:t>
            </a:r>
            <a:r>
              <a:rPr dirty="0" sz="2800" spc="-85">
                <a:solidFill>
                  <a:srgbClr val="4E3629"/>
                </a:solidFill>
                <a:latin typeface="Calibri"/>
                <a:cs typeface="Calibri"/>
              </a:rPr>
              <a:t> </a:t>
            </a:r>
            <a:r>
              <a:rPr dirty="0" sz="2800">
                <a:solidFill>
                  <a:srgbClr val="4E3629"/>
                </a:solidFill>
                <a:latin typeface="Calibri"/>
                <a:cs typeface="Calibri"/>
              </a:rPr>
              <a:t>nula,</a:t>
            </a:r>
            <a:r>
              <a:rPr dirty="0" sz="2800" spc="-80">
                <a:solidFill>
                  <a:srgbClr val="4E3629"/>
                </a:solidFill>
                <a:latin typeface="Calibri"/>
                <a:cs typeface="Calibri"/>
              </a:rPr>
              <a:t> </a:t>
            </a:r>
            <a:r>
              <a:rPr dirty="0" sz="2800">
                <a:solidFill>
                  <a:srgbClr val="4E3629"/>
                </a:solidFill>
                <a:latin typeface="Calibri"/>
                <a:cs typeface="Calibri"/>
              </a:rPr>
              <a:t>sustituir</a:t>
            </a:r>
            <a:r>
              <a:rPr dirty="0" sz="2800" spc="-60">
                <a:solidFill>
                  <a:srgbClr val="4E3629"/>
                </a:solidFill>
                <a:latin typeface="Calibri"/>
                <a:cs typeface="Calibri"/>
              </a:rPr>
              <a:t> </a:t>
            </a:r>
            <a:r>
              <a:rPr dirty="0" sz="2800">
                <a:solidFill>
                  <a:srgbClr val="4E3629"/>
                </a:solidFill>
                <a:latin typeface="Calibri"/>
                <a:cs typeface="Calibri"/>
              </a:rPr>
              <a:t>expresión</a:t>
            </a:r>
            <a:r>
              <a:rPr dirty="0" sz="2800" spc="-70">
                <a:solidFill>
                  <a:srgbClr val="4E3629"/>
                </a:solidFill>
                <a:latin typeface="Calibri"/>
                <a:cs typeface="Calibri"/>
              </a:rPr>
              <a:t> </a:t>
            </a:r>
            <a:r>
              <a:rPr dirty="0" sz="2800" spc="-25">
                <a:solidFill>
                  <a:srgbClr val="4E3629"/>
                </a:solidFill>
                <a:latin typeface="Calibri"/>
                <a:cs typeface="Calibri"/>
              </a:rPr>
              <a:t>3"</a:t>
            </a:r>
            <a:endParaRPr sz="2800">
              <a:latin typeface="Calibri"/>
              <a:cs typeface="Calibri"/>
            </a:endParaRPr>
          </a:p>
        </p:txBody>
      </p:sp>
      <p:sp>
        <p:nvSpPr>
          <p:cNvPr id="5" name="object 5" descr=""/>
          <p:cNvSpPr txBox="1"/>
          <p:nvPr/>
        </p:nvSpPr>
        <p:spPr>
          <a:xfrm>
            <a:off x="405384" y="1865376"/>
            <a:ext cx="8345805" cy="970915"/>
          </a:xfrm>
          <a:prstGeom prst="rect">
            <a:avLst/>
          </a:prstGeom>
          <a:solidFill>
            <a:srgbClr val="9DBEC4">
              <a:alpha val="50199"/>
            </a:srgbClr>
          </a:solidFill>
        </p:spPr>
        <p:txBody>
          <a:bodyPr wrap="square" lIns="0" tIns="45720" rIns="0" bIns="0" rtlCol="0" vert="horz">
            <a:spAutoFit/>
          </a:bodyPr>
          <a:lstStyle/>
          <a:p>
            <a:pPr>
              <a:lnSpc>
                <a:spcPct val="100000"/>
              </a:lnSpc>
              <a:spcBef>
                <a:spcPts val="360"/>
              </a:spcBef>
            </a:pPr>
            <a:r>
              <a:rPr dirty="0" sz="1800" b="1">
                <a:solidFill>
                  <a:srgbClr val="4E3629"/>
                </a:solidFill>
                <a:latin typeface="Courier New"/>
                <a:cs typeface="Courier New"/>
              </a:rPr>
              <a:t>NVL2</a:t>
            </a:r>
            <a:r>
              <a:rPr dirty="0" sz="1800" spc="-60" b="1">
                <a:solidFill>
                  <a:srgbClr val="4E3629"/>
                </a:solidFill>
                <a:latin typeface="Courier New"/>
                <a:cs typeface="Courier New"/>
              </a:rPr>
              <a:t> </a:t>
            </a:r>
            <a:r>
              <a:rPr dirty="0" sz="1800" b="1">
                <a:solidFill>
                  <a:srgbClr val="4E3629"/>
                </a:solidFill>
                <a:latin typeface="Courier New"/>
                <a:cs typeface="Courier New"/>
              </a:rPr>
              <a:t>(expression</a:t>
            </a:r>
            <a:r>
              <a:rPr dirty="0" sz="1800" spc="-45" b="1">
                <a:solidFill>
                  <a:srgbClr val="4E3629"/>
                </a:solidFill>
                <a:latin typeface="Courier New"/>
                <a:cs typeface="Courier New"/>
              </a:rPr>
              <a:t> </a:t>
            </a:r>
            <a:r>
              <a:rPr dirty="0" sz="1800" b="1">
                <a:solidFill>
                  <a:srgbClr val="4E3629"/>
                </a:solidFill>
                <a:latin typeface="Courier New"/>
                <a:cs typeface="Courier New"/>
              </a:rPr>
              <a:t>1</a:t>
            </a:r>
            <a:r>
              <a:rPr dirty="0" sz="1800" spc="-45" b="1">
                <a:solidFill>
                  <a:srgbClr val="4E3629"/>
                </a:solidFill>
                <a:latin typeface="Courier New"/>
                <a:cs typeface="Courier New"/>
              </a:rPr>
              <a:t> </a:t>
            </a:r>
            <a:r>
              <a:rPr dirty="0" sz="1800" b="1">
                <a:solidFill>
                  <a:srgbClr val="4E3629"/>
                </a:solidFill>
                <a:latin typeface="Courier New"/>
                <a:cs typeface="Courier New"/>
              </a:rPr>
              <a:t>value</a:t>
            </a:r>
            <a:r>
              <a:rPr dirty="0" sz="1800" spc="-45" b="1">
                <a:solidFill>
                  <a:srgbClr val="4E3629"/>
                </a:solidFill>
                <a:latin typeface="Courier New"/>
                <a:cs typeface="Courier New"/>
              </a:rPr>
              <a:t> </a:t>
            </a:r>
            <a:r>
              <a:rPr dirty="0" sz="1800" b="1">
                <a:solidFill>
                  <a:srgbClr val="4E3629"/>
                </a:solidFill>
                <a:latin typeface="Courier New"/>
                <a:cs typeface="Courier New"/>
              </a:rPr>
              <a:t>that</a:t>
            </a:r>
            <a:r>
              <a:rPr dirty="0" sz="1800" spc="-50" b="1">
                <a:solidFill>
                  <a:srgbClr val="4E3629"/>
                </a:solidFill>
                <a:latin typeface="Courier New"/>
                <a:cs typeface="Courier New"/>
              </a:rPr>
              <a:t> </a:t>
            </a:r>
            <a:r>
              <a:rPr dirty="0" sz="1800" b="1">
                <a:solidFill>
                  <a:srgbClr val="4E3629"/>
                </a:solidFill>
                <a:latin typeface="Courier New"/>
                <a:cs typeface="Courier New"/>
              </a:rPr>
              <a:t>may</a:t>
            </a:r>
            <a:r>
              <a:rPr dirty="0" sz="1800" spc="-45" b="1">
                <a:solidFill>
                  <a:srgbClr val="4E3629"/>
                </a:solidFill>
                <a:latin typeface="Courier New"/>
                <a:cs typeface="Courier New"/>
              </a:rPr>
              <a:t> </a:t>
            </a:r>
            <a:r>
              <a:rPr dirty="0" sz="1800" b="1">
                <a:solidFill>
                  <a:srgbClr val="4E3629"/>
                </a:solidFill>
                <a:latin typeface="Courier New"/>
                <a:cs typeface="Courier New"/>
              </a:rPr>
              <a:t>contain</a:t>
            </a:r>
            <a:r>
              <a:rPr dirty="0" sz="1800" spc="-45" b="1">
                <a:solidFill>
                  <a:srgbClr val="4E3629"/>
                </a:solidFill>
                <a:latin typeface="Courier New"/>
                <a:cs typeface="Courier New"/>
              </a:rPr>
              <a:t> </a:t>
            </a:r>
            <a:r>
              <a:rPr dirty="0" sz="1800" b="1">
                <a:solidFill>
                  <a:srgbClr val="4E3629"/>
                </a:solidFill>
                <a:latin typeface="Courier New"/>
                <a:cs typeface="Courier New"/>
              </a:rPr>
              <a:t>a</a:t>
            </a:r>
            <a:r>
              <a:rPr dirty="0" sz="1800" spc="-55" b="1">
                <a:solidFill>
                  <a:srgbClr val="4E3629"/>
                </a:solidFill>
                <a:latin typeface="Courier New"/>
                <a:cs typeface="Courier New"/>
              </a:rPr>
              <a:t> </a:t>
            </a:r>
            <a:r>
              <a:rPr dirty="0" sz="1800" b="1">
                <a:solidFill>
                  <a:srgbClr val="4E3629"/>
                </a:solidFill>
                <a:latin typeface="Courier New"/>
                <a:cs typeface="Courier New"/>
              </a:rPr>
              <a:t>null,</a:t>
            </a:r>
            <a:r>
              <a:rPr dirty="0" sz="1800" spc="-45" b="1">
                <a:solidFill>
                  <a:srgbClr val="4E3629"/>
                </a:solidFill>
                <a:latin typeface="Courier New"/>
                <a:cs typeface="Courier New"/>
              </a:rPr>
              <a:t> </a:t>
            </a:r>
            <a:r>
              <a:rPr dirty="0" sz="1800" spc="-10" b="1">
                <a:solidFill>
                  <a:srgbClr val="4E3629"/>
                </a:solidFill>
                <a:latin typeface="Courier New"/>
                <a:cs typeface="Courier New"/>
              </a:rPr>
              <a:t>expression</a:t>
            </a:r>
            <a:endParaRPr sz="1800">
              <a:latin typeface="Courier New"/>
              <a:cs typeface="Courier New"/>
            </a:endParaRPr>
          </a:p>
          <a:p>
            <a:pPr marR="285750">
              <a:lnSpc>
                <a:spcPct val="100000"/>
              </a:lnSpc>
            </a:pPr>
            <a:r>
              <a:rPr dirty="0" sz="1800" b="1">
                <a:solidFill>
                  <a:srgbClr val="4E3629"/>
                </a:solidFill>
                <a:latin typeface="Courier New"/>
                <a:cs typeface="Courier New"/>
              </a:rPr>
              <a:t>2</a:t>
            </a:r>
            <a:r>
              <a:rPr dirty="0" sz="1800" spc="-40" b="1">
                <a:solidFill>
                  <a:srgbClr val="4E3629"/>
                </a:solidFill>
                <a:latin typeface="Courier New"/>
                <a:cs typeface="Courier New"/>
              </a:rPr>
              <a:t> </a:t>
            </a:r>
            <a:r>
              <a:rPr dirty="0" sz="1800" b="1">
                <a:solidFill>
                  <a:srgbClr val="4E3629"/>
                </a:solidFill>
                <a:latin typeface="Courier New"/>
                <a:cs typeface="Courier New"/>
              </a:rPr>
              <a:t>value</a:t>
            </a:r>
            <a:r>
              <a:rPr dirty="0" sz="1800" spc="-45" b="1">
                <a:solidFill>
                  <a:srgbClr val="4E3629"/>
                </a:solidFill>
                <a:latin typeface="Courier New"/>
                <a:cs typeface="Courier New"/>
              </a:rPr>
              <a:t> </a:t>
            </a:r>
            <a:r>
              <a:rPr dirty="0" sz="1800" b="1">
                <a:solidFill>
                  <a:srgbClr val="4E3629"/>
                </a:solidFill>
                <a:latin typeface="Courier New"/>
                <a:cs typeface="Courier New"/>
              </a:rPr>
              <a:t>to</a:t>
            </a:r>
            <a:r>
              <a:rPr dirty="0" sz="1800" spc="-55" b="1">
                <a:solidFill>
                  <a:srgbClr val="4E3629"/>
                </a:solidFill>
                <a:latin typeface="Courier New"/>
                <a:cs typeface="Courier New"/>
              </a:rPr>
              <a:t> </a:t>
            </a:r>
            <a:r>
              <a:rPr dirty="0" sz="1800" b="1">
                <a:solidFill>
                  <a:srgbClr val="4E3629"/>
                </a:solidFill>
                <a:latin typeface="Courier New"/>
                <a:cs typeface="Courier New"/>
              </a:rPr>
              <a:t>return</a:t>
            </a:r>
            <a:r>
              <a:rPr dirty="0" sz="1800" spc="-35" b="1">
                <a:solidFill>
                  <a:srgbClr val="4E3629"/>
                </a:solidFill>
                <a:latin typeface="Courier New"/>
                <a:cs typeface="Courier New"/>
              </a:rPr>
              <a:t> </a:t>
            </a:r>
            <a:r>
              <a:rPr dirty="0" sz="1800" b="1">
                <a:solidFill>
                  <a:srgbClr val="4E3629"/>
                </a:solidFill>
                <a:latin typeface="Courier New"/>
                <a:cs typeface="Courier New"/>
              </a:rPr>
              <a:t>if</a:t>
            </a:r>
            <a:r>
              <a:rPr dirty="0" sz="1800" spc="-45" b="1">
                <a:solidFill>
                  <a:srgbClr val="4E3629"/>
                </a:solidFill>
                <a:latin typeface="Courier New"/>
                <a:cs typeface="Courier New"/>
              </a:rPr>
              <a:t> </a:t>
            </a:r>
            <a:r>
              <a:rPr dirty="0" sz="1800" b="1">
                <a:solidFill>
                  <a:srgbClr val="4E3629"/>
                </a:solidFill>
                <a:latin typeface="Courier New"/>
                <a:cs typeface="Courier New"/>
              </a:rPr>
              <a:t>expression</a:t>
            </a:r>
            <a:r>
              <a:rPr dirty="0" sz="1800" spc="-50" b="1">
                <a:solidFill>
                  <a:srgbClr val="4E3629"/>
                </a:solidFill>
                <a:latin typeface="Courier New"/>
                <a:cs typeface="Courier New"/>
              </a:rPr>
              <a:t> </a:t>
            </a:r>
            <a:r>
              <a:rPr dirty="0" sz="1800" b="1">
                <a:solidFill>
                  <a:srgbClr val="4E3629"/>
                </a:solidFill>
                <a:latin typeface="Courier New"/>
                <a:cs typeface="Courier New"/>
              </a:rPr>
              <a:t>1</a:t>
            </a:r>
            <a:r>
              <a:rPr dirty="0" sz="1800" spc="-45" b="1">
                <a:solidFill>
                  <a:srgbClr val="4E3629"/>
                </a:solidFill>
                <a:latin typeface="Courier New"/>
                <a:cs typeface="Courier New"/>
              </a:rPr>
              <a:t> </a:t>
            </a:r>
            <a:r>
              <a:rPr dirty="0" sz="1800" b="1">
                <a:solidFill>
                  <a:srgbClr val="4E3629"/>
                </a:solidFill>
                <a:latin typeface="Courier New"/>
                <a:cs typeface="Courier New"/>
              </a:rPr>
              <a:t>is</a:t>
            </a:r>
            <a:r>
              <a:rPr dirty="0" sz="1800" spc="-45" b="1">
                <a:solidFill>
                  <a:srgbClr val="4E3629"/>
                </a:solidFill>
                <a:latin typeface="Courier New"/>
                <a:cs typeface="Courier New"/>
              </a:rPr>
              <a:t> </a:t>
            </a:r>
            <a:r>
              <a:rPr dirty="0" sz="1800" b="1">
                <a:solidFill>
                  <a:srgbClr val="4E3629"/>
                </a:solidFill>
                <a:latin typeface="Courier New"/>
                <a:cs typeface="Courier New"/>
              </a:rPr>
              <a:t>not</a:t>
            </a:r>
            <a:r>
              <a:rPr dirty="0" sz="1800" spc="-45" b="1">
                <a:solidFill>
                  <a:srgbClr val="4E3629"/>
                </a:solidFill>
                <a:latin typeface="Courier New"/>
                <a:cs typeface="Courier New"/>
              </a:rPr>
              <a:t> </a:t>
            </a:r>
            <a:r>
              <a:rPr dirty="0" sz="1800" b="1">
                <a:solidFill>
                  <a:srgbClr val="4E3629"/>
                </a:solidFill>
                <a:latin typeface="Courier New"/>
                <a:cs typeface="Courier New"/>
              </a:rPr>
              <a:t>null,</a:t>
            </a:r>
            <a:r>
              <a:rPr dirty="0" sz="1800" spc="-45" b="1">
                <a:solidFill>
                  <a:srgbClr val="4E3629"/>
                </a:solidFill>
                <a:latin typeface="Courier New"/>
                <a:cs typeface="Courier New"/>
              </a:rPr>
              <a:t> </a:t>
            </a:r>
            <a:r>
              <a:rPr dirty="0" sz="1800" b="1">
                <a:solidFill>
                  <a:srgbClr val="4E3629"/>
                </a:solidFill>
                <a:latin typeface="Courier New"/>
                <a:cs typeface="Courier New"/>
              </a:rPr>
              <a:t>expression</a:t>
            </a:r>
            <a:r>
              <a:rPr dirty="0" sz="1800" spc="-45" b="1">
                <a:solidFill>
                  <a:srgbClr val="4E3629"/>
                </a:solidFill>
                <a:latin typeface="Courier New"/>
                <a:cs typeface="Courier New"/>
              </a:rPr>
              <a:t> </a:t>
            </a:r>
            <a:r>
              <a:rPr dirty="0" sz="1800" spc="-50" b="1">
                <a:solidFill>
                  <a:srgbClr val="4E3629"/>
                </a:solidFill>
                <a:latin typeface="Courier New"/>
                <a:cs typeface="Courier New"/>
              </a:rPr>
              <a:t>3 </a:t>
            </a:r>
            <a:r>
              <a:rPr dirty="0" sz="1800" b="1">
                <a:solidFill>
                  <a:srgbClr val="4E3629"/>
                </a:solidFill>
                <a:latin typeface="Courier New"/>
                <a:cs typeface="Courier New"/>
              </a:rPr>
              <a:t>value</a:t>
            </a:r>
            <a:r>
              <a:rPr dirty="0" sz="1800" spc="-55" b="1">
                <a:solidFill>
                  <a:srgbClr val="4E3629"/>
                </a:solidFill>
                <a:latin typeface="Courier New"/>
                <a:cs typeface="Courier New"/>
              </a:rPr>
              <a:t> </a:t>
            </a:r>
            <a:r>
              <a:rPr dirty="0" sz="1800" b="1">
                <a:solidFill>
                  <a:srgbClr val="4E3629"/>
                </a:solidFill>
                <a:latin typeface="Courier New"/>
                <a:cs typeface="Courier New"/>
              </a:rPr>
              <a:t>to</a:t>
            </a:r>
            <a:r>
              <a:rPr dirty="0" sz="1800" spc="-40" b="1">
                <a:solidFill>
                  <a:srgbClr val="4E3629"/>
                </a:solidFill>
                <a:latin typeface="Courier New"/>
                <a:cs typeface="Courier New"/>
              </a:rPr>
              <a:t> </a:t>
            </a:r>
            <a:r>
              <a:rPr dirty="0" sz="1800" b="1">
                <a:solidFill>
                  <a:srgbClr val="4E3629"/>
                </a:solidFill>
                <a:latin typeface="Courier New"/>
                <a:cs typeface="Courier New"/>
              </a:rPr>
              <a:t>replace</a:t>
            </a:r>
            <a:r>
              <a:rPr dirty="0" sz="1800" spc="-45" b="1">
                <a:solidFill>
                  <a:srgbClr val="4E3629"/>
                </a:solidFill>
                <a:latin typeface="Courier New"/>
                <a:cs typeface="Courier New"/>
              </a:rPr>
              <a:t> </a:t>
            </a:r>
            <a:r>
              <a:rPr dirty="0" sz="1800" b="1">
                <a:solidFill>
                  <a:srgbClr val="4E3629"/>
                </a:solidFill>
                <a:latin typeface="Courier New"/>
                <a:cs typeface="Courier New"/>
              </a:rPr>
              <a:t>if</a:t>
            </a:r>
            <a:r>
              <a:rPr dirty="0" sz="1800" spc="-40" b="1">
                <a:solidFill>
                  <a:srgbClr val="4E3629"/>
                </a:solidFill>
                <a:latin typeface="Courier New"/>
                <a:cs typeface="Courier New"/>
              </a:rPr>
              <a:t> </a:t>
            </a:r>
            <a:r>
              <a:rPr dirty="0" sz="1800" b="1">
                <a:solidFill>
                  <a:srgbClr val="4E3629"/>
                </a:solidFill>
                <a:latin typeface="Courier New"/>
                <a:cs typeface="Courier New"/>
              </a:rPr>
              <a:t>expression</a:t>
            </a:r>
            <a:r>
              <a:rPr dirty="0" sz="1800" spc="-45" b="1">
                <a:solidFill>
                  <a:srgbClr val="4E3629"/>
                </a:solidFill>
                <a:latin typeface="Courier New"/>
                <a:cs typeface="Courier New"/>
              </a:rPr>
              <a:t> </a:t>
            </a:r>
            <a:r>
              <a:rPr dirty="0" sz="1800" b="1">
                <a:solidFill>
                  <a:srgbClr val="4E3629"/>
                </a:solidFill>
                <a:latin typeface="Courier New"/>
                <a:cs typeface="Courier New"/>
              </a:rPr>
              <a:t>1</a:t>
            </a:r>
            <a:r>
              <a:rPr dirty="0" sz="1800" spc="-50" b="1">
                <a:solidFill>
                  <a:srgbClr val="4E3629"/>
                </a:solidFill>
                <a:latin typeface="Courier New"/>
                <a:cs typeface="Courier New"/>
              </a:rPr>
              <a:t> </a:t>
            </a:r>
            <a:r>
              <a:rPr dirty="0" sz="1800" b="1">
                <a:solidFill>
                  <a:srgbClr val="4E3629"/>
                </a:solidFill>
                <a:latin typeface="Courier New"/>
                <a:cs typeface="Courier New"/>
              </a:rPr>
              <a:t>is</a:t>
            </a:r>
            <a:r>
              <a:rPr dirty="0" sz="1800" spc="-40" b="1">
                <a:solidFill>
                  <a:srgbClr val="4E3629"/>
                </a:solidFill>
                <a:latin typeface="Courier New"/>
                <a:cs typeface="Courier New"/>
              </a:rPr>
              <a:t> </a:t>
            </a:r>
            <a:r>
              <a:rPr dirty="0" sz="1800" spc="-10" b="1">
                <a:solidFill>
                  <a:srgbClr val="4E3629"/>
                </a:solidFill>
                <a:latin typeface="Courier New"/>
                <a:cs typeface="Courier New"/>
              </a:rPr>
              <a:t>null)</a:t>
            </a:r>
            <a:endParaRPr sz="1800">
              <a:latin typeface="Courier New"/>
              <a:cs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Función</a:t>
            </a:r>
            <a:r>
              <a:rPr dirty="0" spc="-95"/>
              <a:t> </a:t>
            </a:r>
            <a:r>
              <a:rPr dirty="0" spc="-20"/>
              <a:t>NVL2</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17</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6890384"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función</a:t>
            </a:r>
            <a:r>
              <a:rPr dirty="0" sz="2800" spc="-45">
                <a:solidFill>
                  <a:srgbClr val="4E3629"/>
                </a:solidFill>
                <a:latin typeface="Calibri"/>
                <a:cs typeface="Calibri"/>
              </a:rPr>
              <a:t> </a:t>
            </a:r>
            <a:r>
              <a:rPr dirty="0" sz="2800">
                <a:solidFill>
                  <a:srgbClr val="4E3629"/>
                </a:solidFill>
                <a:latin typeface="Calibri"/>
                <a:cs typeface="Calibri"/>
              </a:rPr>
              <a:t>NVL2</a:t>
            </a:r>
            <a:r>
              <a:rPr dirty="0" sz="2800" spc="-45">
                <a:solidFill>
                  <a:srgbClr val="4E3629"/>
                </a:solidFill>
                <a:latin typeface="Calibri"/>
                <a:cs typeface="Calibri"/>
              </a:rPr>
              <a:t> </a:t>
            </a:r>
            <a:r>
              <a:rPr dirty="0" sz="2800" spc="-10">
                <a:solidFill>
                  <a:srgbClr val="4E3629"/>
                </a:solidFill>
                <a:latin typeface="Calibri"/>
                <a:cs typeface="Calibri"/>
              </a:rPr>
              <a:t>mostrada</a:t>
            </a:r>
            <a:r>
              <a:rPr dirty="0" sz="2800" spc="-40">
                <a:solidFill>
                  <a:srgbClr val="4E3629"/>
                </a:solidFill>
                <a:latin typeface="Calibri"/>
                <a:cs typeface="Calibri"/>
              </a:rPr>
              <a:t> </a:t>
            </a:r>
            <a:r>
              <a:rPr dirty="0" sz="2800">
                <a:solidFill>
                  <a:srgbClr val="4E3629"/>
                </a:solidFill>
                <a:latin typeface="Calibri"/>
                <a:cs typeface="Calibri"/>
              </a:rPr>
              <a:t>utiliza</a:t>
            </a:r>
            <a:r>
              <a:rPr dirty="0" sz="2800" spc="-60">
                <a:solidFill>
                  <a:srgbClr val="4E3629"/>
                </a:solidFill>
                <a:latin typeface="Calibri"/>
                <a:cs typeface="Calibri"/>
              </a:rPr>
              <a:t> </a:t>
            </a:r>
            <a:r>
              <a:rPr dirty="0" sz="2800">
                <a:solidFill>
                  <a:srgbClr val="4E3629"/>
                </a:solidFill>
                <a:latin typeface="Calibri"/>
                <a:cs typeface="Calibri"/>
              </a:rPr>
              <a:t>tipos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0">
                <a:solidFill>
                  <a:srgbClr val="4E3629"/>
                </a:solidFill>
                <a:latin typeface="Calibri"/>
                <a:cs typeface="Calibri"/>
              </a:rPr>
              <a:t>dato </a:t>
            </a:r>
            <a:r>
              <a:rPr dirty="0" sz="2800" spc="-20">
                <a:solidFill>
                  <a:srgbClr val="4E3629"/>
                </a:solidFill>
                <a:latin typeface="Calibri"/>
                <a:cs typeface="Calibri"/>
              </a:rPr>
              <a:t>	</a:t>
            </a:r>
            <a:r>
              <a:rPr dirty="0" sz="2800">
                <a:solidFill>
                  <a:srgbClr val="4E3629"/>
                </a:solidFill>
                <a:latin typeface="Calibri"/>
                <a:cs typeface="Calibri"/>
              </a:rPr>
              <a:t>numéricos</a:t>
            </a:r>
            <a:r>
              <a:rPr dirty="0" sz="2800" spc="-30">
                <a:solidFill>
                  <a:srgbClr val="4E3629"/>
                </a:solidFill>
                <a:latin typeface="Calibri"/>
                <a:cs typeface="Calibri"/>
              </a:rPr>
              <a:t> </a:t>
            </a:r>
            <a:r>
              <a:rPr dirty="0" sz="2800">
                <a:solidFill>
                  <a:srgbClr val="4E3629"/>
                </a:solidFill>
                <a:latin typeface="Calibri"/>
                <a:cs typeface="Calibri"/>
              </a:rPr>
              <a:t>para</a:t>
            </a:r>
            <a:r>
              <a:rPr dirty="0" sz="2800" spc="-55">
                <a:solidFill>
                  <a:srgbClr val="4E3629"/>
                </a:solidFill>
                <a:latin typeface="Calibri"/>
                <a:cs typeface="Calibri"/>
              </a:rPr>
              <a:t> </a:t>
            </a:r>
            <a:r>
              <a:rPr dirty="0" sz="2800">
                <a:solidFill>
                  <a:srgbClr val="4E3629"/>
                </a:solidFill>
                <a:latin typeface="Calibri"/>
                <a:cs typeface="Calibri"/>
              </a:rPr>
              <a:t>las</a:t>
            </a:r>
            <a:r>
              <a:rPr dirty="0" sz="2800" spc="-50">
                <a:solidFill>
                  <a:srgbClr val="4E3629"/>
                </a:solidFill>
                <a:latin typeface="Calibri"/>
                <a:cs typeface="Calibri"/>
              </a:rPr>
              <a:t> </a:t>
            </a:r>
            <a:r>
              <a:rPr dirty="0" sz="2800" spc="-10">
                <a:solidFill>
                  <a:srgbClr val="4E3629"/>
                </a:solidFill>
                <a:latin typeface="Calibri"/>
                <a:cs typeface="Calibri"/>
              </a:rPr>
              <a:t>expresiones</a:t>
            </a:r>
            <a:r>
              <a:rPr dirty="0" sz="2800" spc="-25">
                <a:solidFill>
                  <a:srgbClr val="4E3629"/>
                </a:solidFill>
                <a:latin typeface="Calibri"/>
                <a:cs typeface="Calibri"/>
              </a:rPr>
              <a:t> </a:t>
            </a:r>
            <a:r>
              <a:rPr dirty="0" sz="2800">
                <a:solidFill>
                  <a:srgbClr val="4E3629"/>
                </a:solidFill>
                <a:latin typeface="Calibri"/>
                <a:cs typeface="Calibri"/>
              </a:rPr>
              <a:t>1,</a:t>
            </a:r>
            <a:r>
              <a:rPr dirty="0" sz="2800" spc="-50">
                <a:solidFill>
                  <a:srgbClr val="4E3629"/>
                </a:solidFill>
                <a:latin typeface="Calibri"/>
                <a:cs typeface="Calibri"/>
              </a:rPr>
              <a:t> </a:t>
            </a:r>
            <a:r>
              <a:rPr dirty="0" sz="2800">
                <a:solidFill>
                  <a:srgbClr val="4E3629"/>
                </a:solidFill>
                <a:latin typeface="Calibri"/>
                <a:cs typeface="Calibri"/>
              </a:rPr>
              <a:t>2</a:t>
            </a:r>
            <a:r>
              <a:rPr dirty="0" sz="2800" spc="-50">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spc="-50">
                <a:solidFill>
                  <a:srgbClr val="4E3629"/>
                </a:solidFill>
                <a:latin typeface="Calibri"/>
                <a:cs typeface="Calibri"/>
              </a:rPr>
              <a:t>3</a:t>
            </a:r>
            <a:endParaRPr sz="2800">
              <a:latin typeface="Calibri"/>
              <a:cs typeface="Calibri"/>
            </a:endParaRPr>
          </a:p>
        </p:txBody>
      </p:sp>
      <p:sp>
        <p:nvSpPr>
          <p:cNvPr id="4" name="object 4" descr=""/>
          <p:cNvSpPr txBox="1"/>
          <p:nvPr/>
        </p:nvSpPr>
        <p:spPr>
          <a:xfrm>
            <a:off x="405384" y="2266188"/>
            <a:ext cx="8345805" cy="1666239"/>
          </a:xfrm>
          <a:prstGeom prst="rect">
            <a:avLst/>
          </a:prstGeom>
          <a:solidFill>
            <a:srgbClr val="9DBEC4">
              <a:alpha val="50199"/>
            </a:srgbClr>
          </a:solidFill>
        </p:spPr>
        <p:txBody>
          <a:bodyPr wrap="square" lIns="0" tIns="0" rIns="0" bIns="0" rtlCol="0" vert="horz">
            <a:spAutoFit/>
          </a:bodyPr>
          <a:lstStyle/>
          <a:p>
            <a:pPr>
              <a:lnSpc>
                <a:spcPts val="2025"/>
              </a:lnSpc>
            </a:pPr>
            <a:r>
              <a:rPr dirty="0" sz="1800" b="1">
                <a:solidFill>
                  <a:srgbClr val="4E3629"/>
                </a:solidFill>
                <a:latin typeface="Courier New"/>
                <a:cs typeface="Courier New"/>
              </a:rPr>
              <a:t>SELECT</a:t>
            </a:r>
            <a:r>
              <a:rPr dirty="0" sz="1800" spc="-85" b="1">
                <a:solidFill>
                  <a:srgbClr val="4E3629"/>
                </a:solidFill>
                <a:latin typeface="Courier New"/>
                <a:cs typeface="Courier New"/>
              </a:rPr>
              <a:t> </a:t>
            </a:r>
            <a:r>
              <a:rPr dirty="0" sz="1800" b="1">
                <a:solidFill>
                  <a:srgbClr val="4E3629"/>
                </a:solidFill>
                <a:latin typeface="Courier New"/>
                <a:cs typeface="Courier New"/>
              </a:rPr>
              <a:t>last_name,</a:t>
            </a:r>
            <a:r>
              <a:rPr dirty="0" sz="1800" spc="-75" b="1">
                <a:solidFill>
                  <a:srgbClr val="4E3629"/>
                </a:solidFill>
                <a:latin typeface="Courier New"/>
                <a:cs typeface="Courier New"/>
              </a:rPr>
              <a:t> </a:t>
            </a:r>
            <a:r>
              <a:rPr dirty="0" sz="1800" spc="-10" b="1">
                <a:solidFill>
                  <a:srgbClr val="4E3629"/>
                </a:solidFill>
                <a:latin typeface="Courier New"/>
                <a:cs typeface="Courier New"/>
              </a:rPr>
              <a:t>salary,</a:t>
            </a:r>
            <a:endParaRPr sz="1800">
              <a:latin typeface="Courier New"/>
              <a:cs typeface="Courier New"/>
            </a:endParaRPr>
          </a:p>
          <a:p>
            <a:pPr marR="421005" indent="274320">
              <a:lnSpc>
                <a:spcPct val="100000"/>
              </a:lnSpc>
            </a:pPr>
            <a:r>
              <a:rPr dirty="0" sz="1800" b="1">
                <a:solidFill>
                  <a:srgbClr val="4E3629"/>
                </a:solidFill>
                <a:latin typeface="Courier New"/>
                <a:cs typeface="Courier New"/>
              </a:rPr>
              <a:t>NVL2(commission_pct,</a:t>
            </a:r>
            <a:r>
              <a:rPr dirty="0" sz="1800" spc="-85" b="1">
                <a:solidFill>
                  <a:srgbClr val="4E3629"/>
                </a:solidFill>
                <a:latin typeface="Courier New"/>
                <a:cs typeface="Courier New"/>
              </a:rPr>
              <a:t> </a:t>
            </a:r>
            <a:r>
              <a:rPr dirty="0" sz="1800" b="1">
                <a:solidFill>
                  <a:srgbClr val="4E3629"/>
                </a:solidFill>
                <a:latin typeface="Courier New"/>
                <a:cs typeface="Courier New"/>
              </a:rPr>
              <a:t>salary</a:t>
            </a:r>
            <a:r>
              <a:rPr dirty="0" sz="1800" spc="-70" b="1">
                <a:solidFill>
                  <a:srgbClr val="4E3629"/>
                </a:solidFill>
                <a:latin typeface="Courier New"/>
                <a:cs typeface="Courier New"/>
              </a:rPr>
              <a:t> </a:t>
            </a:r>
            <a:r>
              <a:rPr dirty="0" sz="1800" b="1">
                <a:solidFill>
                  <a:srgbClr val="4E3629"/>
                </a:solidFill>
                <a:latin typeface="Courier New"/>
                <a:cs typeface="Courier New"/>
              </a:rPr>
              <a:t>+</a:t>
            </a:r>
            <a:r>
              <a:rPr dirty="0" sz="1800" spc="-75" b="1">
                <a:solidFill>
                  <a:srgbClr val="4E3629"/>
                </a:solidFill>
                <a:latin typeface="Courier New"/>
                <a:cs typeface="Courier New"/>
              </a:rPr>
              <a:t> </a:t>
            </a:r>
            <a:r>
              <a:rPr dirty="0" sz="1800" b="1">
                <a:solidFill>
                  <a:srgbClr val="4E3629"/>
                </a:solidFill>
                <a:latin typeface="Courier New"/>
                <a:cs typeface="Courier New"/>
              </a:rPr>
              <a:t>(salary</a:t>
            </a:r>
            <a:r>
              <a:rPr dirty="0" sz="1800" spc="-60" b="1">
                <a:solidFill>
                  <a:srgbClr val="4E3629"/>
                </a:solidFill>
                <a:latin typeface="Courier New"/>
                <a:cs typeface="Courier New"/>
              </a:rPr>
              <a:t> </a:t>
            </a:r>
            <a:r>
              <a:rPr dirty="0" sz="1800" b="1">
                <a:solidFill>
                  <a:srgbClr val="4E3629"/>
                </a:solidFill>
                <a:latin typeface="Courier New"/>
                <a:cs typeface="Courier New"/>
              </a:rPr>
              <a:t>*</a:t>
            </a:r>
            <a:r>
              <a:rPr dirty="0" sz="1800" spc="-70" b="1">
                <a:solidFill>
                  <a:srgbClr val="4E3629"/>
                </a:solidFill>
                <a:latin typeface="Courier New"/>
                <a:cs typeface="Courier New"/>
              </a:rPr>
              <a:t> </a:t>
            </a:r>
            <a:r>
              <a:rPr dirty="0" sz="1800" spc="-10" b="1">
                <a:solidFill>
                  <a:srgbClr val="4E3629"/>
                </a:solidFill>
                <a:latin typeface="Courier New"/>
                <a:cs typeface="Courier New"/>
              </a:rPr>
              <a:t>commission_pct), salary)</a:t>
            </a:r>
            <a:endParaRPr sz="1800">
              <a:latin typeface="Courier New"/>
              <a:cs typeface="Courier New"/>
            </a:endParaRPr>
          </a:p>
          <a:p>
            <a:pPr marR="6425565" indent="274320">
              <a:lnSpc>
                <a:spcPct val="100000"/>
              </a:lnSpc>
            </a:pPr>
            <a:r>
              <a:rPr dirty="0" sz="1800" b="1">
                <a:solidFill>
                  <a:srgbClr val="4E3629"/>
                </a:solidFill>
                <a:latin typeface="Courier New"/>
                <a:cs typeface="Courier New"/>
              </a:rPr>
              <a:t>AS</a:t>
            </a:r>
            <a:r>
              <a:rPr dirty="0" sz="1800" spc="-30" b="1">
                <a:solidFill>
                  <a:srgbClr val="4E3629"/>
                </a:solidFill>
                <a:latin typeface="Courier New"/>
                <a:cs typeface="Courier New"/>
              </a:rPr>
              <a:t> </a:t>
            </a:r>
            <a:r>
              <a:rPr dirty="0" sz="1800" spc="-10" b="1">
                <a:solidFill>
                  <a:srgbClr val="4E3629"/>
                </a:solidFill>
                <a:latin typeface="Courier New"/>
                <a:cs typeface="Courier New"/>
              </a:rPr>
              <a:t>income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95" b="1">
                <a:solidFill>
                  <a:srgbClr val="4E3629"/>
                </a:solidFill>
                <a:latin typeface="Courier New"/>
                <a:cs typeface="Courier New"/>
              </a:rPr>
              <a:t> </a:t>
            </a:r>
            <a:r>
              <a:rPr dirty="0" sz="1800" b="1">
                <a:solidFill>
                  <a:srgbClr val="4E3629"/>
                </a:solidFill>
                <a:latin typeface="Courier New"/>
                <a:cs typeface="Courier New"/>
              </a:rPr>
              <a:t>department_id</a:t>
            </a:r>
            <a:r>
              <a:rPr dirty="0" sz="1800" spc="-85" b="1">
                <a:solidFill>
                  <a:srgbClr val="4E3629"/>
                </a:solidFill>
                <a:latin typeface="Courier New"/>
                <a:cs typeface="Courier New"/>
              </a:rPr>
              <a:t> </a:t>
            </a:r>
            <a:r>
              <a:rPr dirty="0" sz="1800" spc="-10" b="1">
                <a:solidFill>
                  <a:srgbClr val="4E3629"/>
                </a:solidFill>
                <a:latin typeface="Courier New"/>
                <a:cs typeface="Courier New"/>
              </a:rPr>
              <a:t>IN(80,90);</a:t>
            </a:r>
            <a:endParaRPr sz="1800">
              <a:latin typeface="Courier New"/>
              <a:cs typeface="Courier New"/>
            </a:endParaRPr>
          </a:p>
        </p:txBody>
      </p:sp>
      <p:graphicFrame>
        <p:nvGraphicFramePr>
          <p:cNvPr id="5" name="object 5" descr=""/>
          <p:cNvGraphicFramePr>
            <a:graphicFrameLocks noGrp="1"/>
          </p:cNvGraphicFramePr>
          <p:nvPr/>
        </p:nvGraphicFramePr>
        <p:xfrm>
          <a:off x="4893047" y="4106771"/>
          <a:ext cx="3928745" cy="2378074"/>
        </p:xfrm>
        <a:graphic>
          <a:graphicData uri="http://schemas.openxmlformats.org/drawingml/2006/table">
            <a:tbl>
              <a:tblPr firstRow="1" bandRow="1">
                <a:tableStyleId>{2D5ABB26-0587-4C30-8999-92F81FD0307C}</a:tableStyleId>
              </a:tblPr>
              <a:tblGrid>
                <a:gridCol w="1280160"/>
                <a:gridCol w="1280160"/>
                <a:gridCol w="1280159"/>
              </a:tblGrid>
              <a:tr h="399415">
                <a:tc>
                  <a:txBody>
                    <a:bodyPr/>
                    <a:lstStyle/>
                    <a:p>
                      <a:pPr marL="71755">
                        <a:lnSpc>
                          <a:spcPct val="100000"/>
                        </a:lnSpc>
                        <a:spcBef>
                          <a:spcPts val="509"/>
                        </a:spcBef>
                      </a:pPr>
                      <a:r>
                        <a:rPr dirty="0" sz="1600" spc="-10" b="1">
                          <a:solidFill>
                            <a:srgbClr val="4E3629"/>
                          </a:solidFill>
                          <a:latin typeface="Calibri"/>
                          <a:cs typeface="Calibri"/>
                        </a:rPr>
                        <a:t>LAST_NAME</a:t>
                      </a:r>
                      <a:endParaRPr sz="1600">
                        <a:latin typeface="Calibri"/>
                        <a:cs typeface="Calibri"/>
                      </a:endParaRPr>
                    </a:p>
                  </a:txBody>
                  <a:tcPr marL="0" marR="0" marB="0" marT="647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509"/>
                        </a:spcBef>
                      </a:pPr>
                      <a:r>
                        <a:rPr dirty="0" sz="1600" spc="-10" b="1">
                          <a:solidFill>
                            <a:srgbClr val="4E3629"/>
                          </a:solidFill>
                          <a:latin typeface="Calibri"/>
                          <a:cs typeface="Calibri"/>
                        </a:rPr>
                        <a:t>SALARY</a:t>
                      </a:r>
                      <a:endParaRPr sz="1600">
                        <a:latin typeface="Calibri"/>
                        <a:cs typeface="Calibri"/>
                      </a:endParaRPr>
                    </a:p>
                  </a:txBody>
                  <a:tcPr marL="0" marR="0" marB="0" marT="647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509"/>
                        </a:spcBef>
                      </a:pPr>
                      <a:r>
                        <a:rPr dirty="0" sz="1600" spc="-10" b="1">
                          <a:solidFill>
                            <a:srgbClr val="4E3629"/>
                          </a:solidFill>
                          <a:latin typeface="Calibri"/>
                          <a:cs typeface="Calibri"/>
                        </a:rPr>
                        <a:t>INCOME</a:t>
                      </a:r>
                      <a:endParaRPr sz="1600">
                        <a:latin typeface="Calibri"/>
                        <a:cs typeface="Calibri"/>
                      </a:endParaRPr>
                    </a:p>
                  </a:txBody>
                  <a:tcPr marL="0" marR="0" marB="0" marT="647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46710">
                <a:tc>
                  <a:txBody>
                    <a:bodyPr/>
                    <a:lstStyle/>
                    <a:p>
                      <a:pPr marL="71755">
                        <a:lnSpc>
                          <a:spcPct val="100000"/>
                        </a:lnSpc>
                        <a:spcBef>
                          <a:spcPts val="305"/>
                        </a:spcBef>
                      </a:pPr>
                      <a:r>
                        <a:rPr dirty="0" sz="1600" spc="-10">
                          <a:solidFill>
                            <a:srgbClr val="4E3629"/>
                          </a:solidFill>
                          <a:latin typeface="Calibri"/>
                          <a:cs typeface="Calibri"/>
                        </a:rPr>
                        <a:t>Zlotkey</a:t>
                      </a:r>
                      <a:endParaRPr sz="1600">
                        <a:latin typeface="Calibri"/>
                        <a:cs typeface="Calibri"/>
                      </a:endParaRPr>
                    </a:p>
                  </a:txBody>
                  <a:tcPr marL="0" marR="0" marB="0" marT="3873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5"/>
                        </a:spcBef>
                      </a:pPr>
                      <a:r>
                        <a:rPr dirty="0" sz="1600" spc="-10">
                          <a:solidFill>
                            <a:srgbClr val="4E3629"/>
                          </a:solidFill>
                          <a:latin typeface="Calibri"/>
                          <a:cs typeface="Calibri"/>
                        </a:rPr>
                        <a:t>10500</a:t>
                      </a:r>
                      <a:endParaRPr sz="1600">
                        <a:latin typeface="Calibri"/>
                        <a:cs typeface="Calibri"/>
                      </a:endParaRPr>
                    </a:p>
                  </a:txBody>
                  <a:tcPr marL="0" marR="0" marB="0" marT="3873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05"/>
                        </a:spcBef>
                      </a:pPr>
                      <a:r>
                        <a:rPr dirty="0" sz="1600" spc="-10">
                          <a:solidFill>
                            <a:srgbClr val="4E3629"/>
                          </a:solidFill>
                          <a:latin typeface="Calibri"/>
                          <a:cs typeface="Calibri"/>
                        </a:rPr>
                        <a:t>12600</a:t>
                      </a:r>
                      <a:endParaRPr sz="1600">
                        <a:latin typeface="Calibri"/>
                        <a:cs typeface="Calibri"/>
                      </a:endParaRPr>
                    </a:p>
                  </a:txBody>
                  <a:tcPr marL="0" marR="0" marB="0" marT="3873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37185">
                <a:tc>
                  <a:txBody>
                    <a:bodyPr/>
                    <a:lstStyle/>
                    <a:p>
                      <a:pPr marL="72390">
                        <a:lnSpc>
                          <a:spcPct val="100000"/>
                        </a:lnSpc>
                        <a:spcBef>
                          <a:spcPts val="265"/>
                        </a:spcBef>
                      </a:pPr>
                      <a:r>
                        <a:rPr dirty="0" sz="1600" spc="-20">
                          <a:solidFill>
                            <a:srgbClr val="4E3629"/>
                          </a:solidFill>
                          <a:latin typeface="Calibri"/>
                          <a:cs typeface="Calibri"/>
                        </a:rPr>
                        <a:t>Abel</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65"/>
                        </a:spcBef>
                      </a:pPr>
                      <a:r>
                        <a:rPr dirty="0" sz="1600" spc="-10">
                          <a:solidFill>
                            <a:srgbClr val="4E3629"/>
                          </a:solidFill>
                          <a:latin typeface="Calibri"/>
                          <a:cs typeface="Calibri"/>
                        </a:rPr>
                        <a:t>11000</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65"/>
                        </a:spcBef>
                      </a:pPr>
                      <a:r>
                        <a:rPr dirty="0" sz="1600" spc="-10">
                          <a:solidFill>
                            <a:srgbClr val="4E3629"/>
                          </a:solidFill>
                          <a:latin typeface="Calibri"/>
                          <a:cs typeface="Calibri"/>
                        </a:rPr>
                        <a:t>14300</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7185">
                <a:tc>
                  <a:txBody>
                    <a:bodyPr/>
                    <a:lstStyle/>
                    <a:p>
                      <a:pPr marL="72390">
                        <a:lnSpc>
                          <a:spcPct val="100000"/>
                        </a:lnSpc>
                        <a:spcBef>
                          <a:spcPts val="265"/>
                        </a:spcBef>
                      </a:pPr>
                      <a:r>
                        <a:rPr dirty="0" sz="1600" spc="-10">
                          <a:solidFill>
                            <a:srgbClr val="4E3629"/>
                          </a:solidFill>
                          <a:latin typeface="Calibri"/>
                          <a:cs typeface="Calibri"/>
                        </a:rPr>
                        <a:t>Taylor</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65"/>
                        </a:spcBef>
                      </a:pPr>
                      <a:r>
                        <a:rPr dirty="0" sz="1600" spc="-20">
                          <a:solidFill>
                            <a:srgbClr val="4E3629"/>
                          </a:solidFill>
                          <a:latin typeface="Calibri"/>
                          <a:cs typeface="Calibri"/>
                        </a:rPr>
                        <a:t>8600</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65"/>
                        </a:spcBef>
                      </a:pPr>
                      <a:r>
                        <a:rPr dirty="0" sz="1600" spc="-10">
                          <a:solidFill>
                            <a:srgbClr val="4E3629"/>
                          </a:solidFill>
                          <a:latin typeface="Calibri"/>
                          <a:cs typeface="Calibri"/>
                        </a:rPr>
                        <a:t>10320</a:t>
                      </a:r>
                      <a:endParaRPr sz="1600">
                        <a:latin typeface="Calibri"/>
                        <a:cs typeface="Calibri"/>
                      </a:endParaRPr>
                    </a:p>
                  </a:txBody>
                  <a:tcPr marL="0" marR="0" marB="0" marT="3365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26390">
                <a:tc>
                  <a:txBody>
                    <a:bodyPr/>
                    <a:lstStyle/>
                    <a:p>
                      <a:pPr marL="72390">
                        <a:lnSpc>
                          <a:spcPct val="100000"/>
                        </a:lnSpc>
                        <a:spcBef>
                          <a:spcPts val="225"/>
                        </a:spcBef>
                      </a:pPr>
                      <a:r>
                        <a:rPr dirty="0" sz="1600" spc="-20">
                          <a:solidFill>
                            <a:srgbClr val="4E3629"/>
                          </a:solidFill>
                          <a:latin typeface="Calibri"/>
                          <a:cs typeface="Calibri"/>
                        </a:rPr>
                        <a:t>King</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25"/>
                        </a:spcBef>
                      </a:pPr>
                      <a:r>
                        <a:rPr dirty="0" sz="1600" spc="-10">
                          <a:solidFill>
                            <a:srgbClr val="4E3629"/>
                          </a:solidFill>
                          <a:latin typeface="Calibri"/>
                          <a:cs typeface="Calibri"/>
                        </a:rPr>
                        <a:t>24000</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2390">
                        <a:lnSpc>
                          <a:spcPct val="100000"/>
                        </a:lnSpc>
                        <a:spcBef>
                          <a:spcPts val="225"/>
                        </a:spcBef>
                      </a:pPr>
                      <a:r>
                        <a:rPr dirty="0" sz="1600" spc="-10">
                          <a:solidFill>
                            <a:srgbClr val="4E3629"/>
                          </a:solidFill>
                          <a:latin typeface="Calibri"/>
                          <a:cs typeface="Calibri"/>
                        </a:rPr>
                        <a:t>24000</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26390">
                <a:tc>
                  <a:txBody>
                    <a:bodyPr/>
                    <a:lstStyle/>
                    <a:p>
                      <a:pPr marL="72390">
                        <a:lnSpc>
                          <a:spcPct val="100000"/>
                        </a:lnSpc>
                        <a:spcBef>
                          <a:spcPts val="225"/>
                        </a:spcBef>
                      </a:pPr>
                      <a:r>
                        <a:rPr dirty="0" sz="1600" spc="-10">
                          <a:solidFill>
                            <a:srgbClr val="4E3629"/>
                          </a:solidFill>
                          <a:latin typeface="Calibri"/>
                          <a:cs typeface="Calibri"/>
                        </a:rPr>
                        <a:t>Kochhar</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ct val="100000"/>
                        </a:lnSpc>
                        <a:spcBef>
                          <a:spcPts val="225"/>
                        </a:spcBef>
                      </a:pPr>
                      <a:r>
                        <a:rPr dirty="0" sz="1600" spc="-10">
                          <a:solidFill>
                            <a:srgbClr val="4E3629"/>
                          </a:solidFill>
                          <a:latin typeface="Calibri"/>
                          <a:cs typeface="Calibri"/>
                        </a:rPr>
                        <a:t>17000</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ct val="100000"/>
                        </a:lnSpc>
                        <a:spcBef>
                          <a:spcPts val="225"/>
                        </a:spcBef>
                      </a:pPr>
                      <a:r>
                        <a:rPr dirty="0" sz="1600" spc="-10">
                          <a:solidFill>
                            <a:srgbClr val="4E3629"/>
                          </a:solidFill>
                          <a:latin typeface="Calibri"/>
                          <a:cs typeface="Calibri"/>
                        </a:rPr>
                        <a:t>17000</a:t>
                      </a:r>
                      <a:endParaRPr sz="1600">
                        <a:latin typeface="Calibri"/>
                        <a:cs typeface="Calibri"/>
                      </a:endParaRPr>
                    </a:p>
                  </a:txBody>
                  <a:tcPr marL="0" marR="0" marB="0" marT="285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04800">
                <a:tc>
                  <a:txBody>
                    <a:bodyPr/>
                    <a:lstStyle/>
                    <a:p>
                      <a:pPr marL="73025">
                        <a:lnSpc>
                          <a:spcPct val="100000"/>
                        </a:lnSpc>
                        <a:spcBef>
                          <a:spcPts val="135"/>
                        </a:spcBef>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171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ct val="100000"/>
                        </a:lnSpc>
                        <a:spcBef>
                          <a:spcPts val="135"/>
                        </a:spcBef>
                      </a:pPr>
                      <a:r>
                        <a:rPr dirty="0" sz="1600" spc="-10">
                          <a:solidFill>
                            <a:srgbClr val="4E3629"/>
                          </a:solidFill>
                          <a:latin typeface="Calibri"/>
                          <a:cs typeface="Calibri"/>
                        </a:rPr>
                        <a:t>17000</a:t>
                      </a:r>
                      <a:endParaRPr sz="1600">
                        <a:latin typeface="Calibri"/>
                        <a:cs typeface="Calibri"/>
                      </a:endParaRPr>
                    </a:p>
                  </a:txBody>
                  <a:tcPr marL="0" marR="0" marB="0" marT="171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3025">
                        <a:lnSpc>
                          <a:spcPct val="100000"/>
                        </a:lnSpc>
                        <a:spcBef>
                          <a:spcPts val="135"/>
                        </a:spcBef>
                      </a:pPr>
                      <a:r>
                        <a:rPr dirty="0" sz="1600" spc="-10">
                          <a:solidFill>
                            <a:srgbClr val="4E3629"/>
                          </a:solidFill>
                          <a:latin typeface="Calibri"/>
                          <a:cs typeface="Calibri"/>
                        </a:rPr>
                        <a:t>17000</a:t>
                      </a:r>
                      <a:endParaRPr sz="1600">
                        <a:latin typeface="Calibri"/>
                        <a:cs typeface="Calibri"/>
                      </a:endParaRPr>
                    </a:p>
                  </a:txBody>
                  <a:tcPr marL="0" marR="0" marB="0" marT="171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Función</a:t>
            </a:r>
            <a:r>
              <a:rPr dirty="0" spc="-95"/>
              <a:t> </a:t>
            </a:r>
            <a:r>
              <a:rPr dirty="0" spc="-10"/>
              <a:t>NULLIF</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18</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355371"/>
            <a:ext cx="7094855" cy="2352675"/>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función</a:t>
            </a:r>
            <a:r>
              <a:rPr dirty="0" sz="2800" spc="-45">
                <a:solidFill>
                  <a:srgbClr val="4E3629"/>
                </a:solidFill>
                <a:latin typeface="Calibri"/>
                <a:cs typeface="Calibri"/>
              </a:rPr>
              <a:t> </a:t>
            </a:r>
            <a:r>
              <a:rPr dirty="0" sz="2800">
                <a:solidFill>
                  <a:srgbClr val="4E3629"/>
                </a:solidFill>
                <a:latin typeface="Calibri"/>
                <a:cs typeface="Calibri"/>
              </a:rPr>
              <a:t>NULLIF</a:t>
            </a:r>
            <a:r>
              <a:rPr dirty="0" sz="2800" spc="-60">
                <a:solidFill>
                  <a:srgbClr val="4E3629"/>
                </a:solidFill>
                <a:latin typeface="Calibri"/>
                <a:cs typeface="Calibri"/>
              </a:rPr>
              <a:t> </a:t>
            </a:r>
            <a:r>
              <a:rPr dirty="0" sz="2800">
                <a:solidFill>
                  <a:srgbClr val="4E3629"/>
                </a:solidFill>
                <a:latin typeface="Calibri"/>
                <a:cs typeface="Calibri"/>
              </a:rPr>
              <a:t>compara</a:t>
            </a:r>
            <a:r>
              <a:rPr dirty="0" sz="2800" spc="-60">
                <a:solidFill>
                  <a:srgbClr val="4E3629"/>
                </a:solidFill>
                <a:latin typeface="Calibri"/>
                <a:cs typeface="Calibri"/>
              </a:rPr>
              <a:t> </a:t>
            </a:r>
            <a:r>
              <a:rPr dirty="0" sz="2800">
                <a:solidFill>
                  <a:srgbClr val="4E3629"/>
                </a:solidFill>
                <a:latin typeface="Calibri"/>
                <a:cs typeface="Calibri"/>
              </a:rPr>
              <a:t>dos</a:t>
            </a:r>
            <a:r>
              <a:rPr dirty="0" sz="2800" spc="-60">
                <a:solidFill>
                  <a:srgbClr val="4E3629"/>
                </a:solidFill>
                <a:latin typeface="Calibri"/>
                <a:cs typeface="Calibri"/>
              </a:rPr>
              <a:t> </a:t>
            </a:r>
            <a:r>
              <a:rPr dirty="0" sz="2800" spc="-10">
                <a:solidFill>
                  <a:srgbClr val="4E3629"/>
                </a:solidFill>
                <a:latin typeface="Calibri"/>
                <a:cs typeface="Calibri"/>
              </a:rPr>
              <a:t>expresiones</a:t>
            </a:r>
            <a:endParaRPr sz="2800">
              <a:latin typeface="Calibri"/>
              <a:cs typeface="Calibri"/>
            </a:endParaRPr>
          </a:p>
          <a:p>
            <a:pPr marL="183515" indent="-170815">
              <a:lnSpc>
                <a:spcPct val="100000"/>
              </a:lnSpc>
              <a:spcBef>
                <a:spcPts val="470"/>
              </a:spcBef>
              <a:buClr>
                <a:srgbClr val="D1350F"/>
              </a:buClr>
              <a:buFont typeface="Arial MT"/>
              <a:buChar char="•"/>
              <a:tabLst>
                <a:tab pos="18351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son</a:t>
            </a:r>
            <a:r>
              <a:rPr dirty="0" sz="2800" spc="-45">
                <a:solidFill>
                  <a:srgbClr val="4E3629"/>
                </a:solidFill>
                <a:latin typeface="Calibri"/>
                <a:cs typeface="Calibri"/>
              </a:rPr>
              <a:t> </a:t>
            </a:r>
            <a:r>
              <a:rPr dirty="0" sz="2800">
                <a:solidFill>
                  <a:srgbClr val="4E3629"/>
                </a:solidFill>
                <a:latin typeface="Calibri"/>
                <a:cs typeface="Calibri"/>
              </a:rPr>
              <a:t>iguales,</a:t>
            </a:r>
            <a:r>
              <a:rPr dirty="0" sz="2800" spc="-4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función</a:t>
            </a:r>
            <a:r>
              <a:rPr dirty="0" sz="2800" spc="-35">
                <a:solidFill>
                  <a:srgbClr val="4E3629"/>
                </a:solidFill>
                <a:latin typeface="Calibri"/>
                <a:cs typeface="Calibri"/>
              </a:rPr>
              <a:t> </a:t>
            </a:r>
            <a:r>
              <a:rPr dirty="0" sz="2800">
                <a:solidFill>
                  <a:srgbClr val="4E3629"/>
                </a:solidFill>
                <a:latin typeface="Calibri"/>
                <a:cs typeface="Calibri"/>
              </a:rPr>
              <a:t>devuelve</a:t>
            </a:r>
            <a:r>
              <a:rPr dirty="0" sz="2800" spc="-45">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spc="-20">
                <a:solidFill>
                  <a:srgbClr val="4E3629"/>
                </a:solidFill>
                <a:latin typeface="Calibri"/>
                <a:cs typeface="Calibri"/>
              </a:rPr>
              <a:t>nulo</a:t>
            </a:r>
            <a:endParaRPr sz="2800">
              <a:latin typeface="Calibri"/>
              <a:cs typeface="Calibri"/>
            </a:endParaRPr>
          </a:p>
          <a:p>
            <a:pPr marL="182880" marR="508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Si</a:t>
            </a:r>
            <a:r>
              <a:rPr dirty="0" sz="2800" spc="-45">
                <a:solidFill>
                  <a:srgbClr val="4E3629"/>
                </a:solidFill>
                <a:latin typeface="Calibri"/>
                <a:cs typeface="Calibri"/>
              </a:rPr>
              <a:t> </a:t>
            </a:r>
            <a:r>
              <a:rPr dirty="0" sz="2800">
                <a:solidFill>
                  <a:srgbClr val="4E3629"/>
                </a:solidFill>
                <a:latin typeface="Calibri"/>
                <a:cs typeface="Calibri"/>
              </a:rPr>
              <a:t>no</a:t>
            </a:r>
            <a:r>
              <a:rPr dirty="0" sz="2800" spc="-50">
                <a:solidFill>
                  <a:srgbClr val="4E3629"/>
                </a:solidFill>
                <a:latin typeface="Calibri"/>
                <a:cs typeface="Calibri"/>
              </a:rPr>
              <a:t> </a:t>
            </a:r>
            <a:r>
              <a:rPr dirty="0" sz="2800">
                <a:solidFill>
                  <a:srgbClr val="4E3629"/>
                </a:solidFill>
                <a:latin typeface="Calibri"/>
                <a:cs typeface="Calibri"/>
              </a:rPr>
              <a:t>son</a:t>
            </a:r>
            <a:r>
              <a:rPr dirty="0" sz="2800" spc="-35">
                <a:solidFill>
                  <a:srgbClr val="4E3629"/>
                </a:solidFill>
                <a:latin typeface="Calibri"/>
                <a:cs typeface="Calibri"/>
              </a:rPr>
              <a:t> </a:t>
            </a:r>
            <a:r>
              <a:rPr dirty="0" sz="2800">
                <a:solidFill>
                  <a:srgbClr val="4E3629"/>
                </a:solidFill>
                <a:latin typeface="Calibri"/>
                <a:cs typeface="Calibri"/>
              </a:rPr>
              <a:t>iguales,</a:t>
            </a:r>
            <a:r>
              <a:rPr dirty="0" sz="2800" spc="-3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función</a:t>
            </a:r>
            <a:r>
              <a:rPr dirty="0" sz="2800" spc="-30">
                <a:solidFill>
                  <a:srgbClr val="4E3629"/>
                </a:solidFill>
                <a:latin typeface="Calibri"/>
                <a:cs typeface="Calibri"/>
              </a:rPr>
              <a:t> </a:t>
            </a:r>
            <a:r>
              <a:rPr dirty="0" sz="2800">
                <a:solidFill>
                  <a:srgbClr val="4E3629"/>
                </a:solidFill>
                <a:latin typeface="Calibri"/>
                <a:cs typeface="Calibri"/>
              </a:rPr>
              <a:t>devuelve</a:t>
            </a:r>
            <a:r>
              <a:rPr dirty="0" sz="2800" spc="-3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spc="-10">
                <a:solidFill>
                  <a:srgbClr val="4E3629"/>
                </a:solidFill>
                <a:latin typeface="Calibri"/>
                <a:cs typeface="Calibri"/>
              </a:rPr>
              <a:t>primera 	expresión</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Lst>
            </a:pP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función</a:t>
            </a:r>
            <a:r>
              <a:rPr dirty="0" sz="2800" spc="-20">
                <a:solidFill>
                  <a:srgbClr val="4E3629"/>
                </a:solidFill>
                <a:latin typeface="Calibri"/>
                <a:cs typeface="Calibri"/>
              </a:rPr>
              <a:t> </a:t>
            </a:r>
            <a:r>
              <a:rPr dirty="0" sz="2800">
                <a:solidFill>
                  <a:srgbClr val="4E3629"/>
                </a:solidFill>
                <a:latin typeface="Calibri"/>
                <a:cs typeface="Calibri"/>
              </a:rPr>
              <a:t>NULLIF</a:t>
            </a:r>
            <a:r>
              <a:rPr dirty="0" sz="2800" spc="-40">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descr=""/>
          <p:cNvSpPr txBox="1"/>
          <p:nvPr/>
        </p:nvSpPr>
        <p:spPr>
          <a:xfrm>
            <a:off x="405384" y="3913632"/>
            <a:ext cx="8345805" cy="367665"/>
          </a:xfrm>
          <a:prstGeom prst="rect">
            <a:avLst/>
          </a:prstGeom>
          <a:solidFill>
            <a:srgbClr val="9DBEC4">
              <a:alpha val="50199"/>
            </a:srgbClr>
          </a:solidFill>
        </p:spPr>
        <p:txBody>
          <a:bodyPr wrap="square" lIns="0" tIns="18415" rIns="0" bIns="0" rtlCol="0" vert="horz">
            <a:spAutoFit/>
          </a:bodyPr>
          <a:lstStyle/>
          <a:p>
            <a:pPr>
              <a:lnSpc>
                <a:spcPct val="100000"/>
              </a:lnSpc>
              <a:spcBef>
                <a:spcPts val="145"/>
              </a:spcBef>
            </a:pPr>
            <a:r>
              <a:rPr dirty="0" sz="1800" b="1">
                <a:solidFill>
                  <a:srgbClr val="4E3629"/>
                </a:solidFill>
                <a:latin typeface="Courier New"/>
                <a:cs typeface="Courier New"/>
              </a:rPr>
              <a:t>NULLIF(expression</a:t>
            </a:r>
            <a:r>
              <a:rPr dirty="0" sz="1800" spc="-100" b="1">
                <a:solidFill>
                  <a:srgbClr val="4E3629"/>
                </a:solidFill>
                <a:latin typeface="Courier New"/>
                <a:cs typeface="Courier New"/>
              </a:rPr>
              <a:t> </a:t>
            </a:r>
            <a:r>
              <a:rPr dirty="0" sz="1800" b="1">
                <a:solidFill>
                  <a:srgbClr val="4E3629"/>
                </a:solidFill>
                <a:latin typeface="Courier New"/>
                <a:cs typeface="Courier New"/>
              </a:rPr>
              <a:t>1,</a:t>
            </a:r>
            <a:r>
              <a:rPr dirty="0" sz="1800" spc="-100" b="1">
                <a:solidFill>
                  <a:srgbClr val="4E3629"/>
                </a:solidFill>
                <a:latin typeface="Courier New"/>
                <a:cs typeface="Courier New"/>
              </a:rPr>
              <a:t> </a:t>
            </a:r>
            <a:r>
              <a:rPr dirty="0" sz="1800" b="1">
                <a:solidFill>
                  <a:srgbClr val="4E3629"/>
                </a:solidFill>
                <a:latin typeface="Courier New"/>
                <a:cs typeface="Courier New"/>
              </a:rPr>
              <a:t>expression</a:t>
            </a:r>
            <a:r>
              <a:rPr dirty="0" sz="1800" spc="-95" b="1">
                <a:solidFill>
                  <a:srgbClr val="4E3629"/>
                </a:solidFill>
                <a:latin typeface="Courier New"/>
                <a:cs typeface="Courier New"/>
              </a:rPr>
              <a:t> </a:t>
            </a:r>
            <a:r>
              <a:rPr dirty="0" sz="1800" spc="-25" b="1">
                <a:solidFill>
                  <a:srgbClr val="4E3629"/>
                </a:solidFill>
                <a:latin typeface="Courier New"/>
                <a:cs typeface="Courier New"/>
              </a:rPr>
              <a:t>2)</a:t>
            </a:r>
            <a:endParaRPr sz="1800">
              <a:latin typeface="Courier New"/>
              <a:cs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Función</a:t>
            </a:r>
            <a:r>
              <a:rPr dirty="0" spc="-95"/>
              <a:t> </a:t>
            </a:r>
            <a:r>
              <a:rPr dirty="0" spc="-10"/>
              <a:t>NULLIF</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5-</a:t>
            </a:r>
            <a:r>
              <a:rPr dirty="0" spc="-50"/>
              <a:t>2</a:t>
            </a:r>
          </a:p>
          <a:p>
            <a:pPr marL="12700">
              <a:lnSpc>
                <a:spcPts val="965"/>
              </a:lnSpc>
            </a:pPr>
            <a:r>
              <a:rPr dirty="0"/>
              <a:t>Funciones</a:t>
            </a:r>
            <a:r>
              <a:rPr dirty="0" spc="-45"/>
              <a:t> </a:t>
            </a:r>
            <a:r>
              <a:rPr dirty="0" spc="-20"/>
              <a:t>NULL</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19</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a:spLocks noGrp="1"/>
          </p:cNvSpPr>
          <p:nvPr>
            <p:ph type="body" idx="1"/>
          </p:nvPr>
        </p:nvSpPr>
        <p:spPr>
          <a:prstGeom prst="rect"/>
        </p:spPr>
        <p:txBody>
          <a:bodyPr wrap="square" lIns="0" tIns="59690" rIns="0" bIns="0" rtlCol="0" vert="horz">
            <a:spAutoFit/>
          </a:bodyPr>
          <a:lstStyle/>
          <a:p>
            <a:pPr marL="182880" marR="539750" indent="-170815">
              <a:lnSpc>
                <a:spcPts val="3030"/>
              </a:lnSpc>
              <a:spcBef>
                <a:spcPts val="470"/>
              </a:spcBef>
              <a:buClr>
                <a:srgbClr val="D1350F"/>
              </a:buClr>
              <a:buFont typeface="Arial MT"/>
              <a:buChar char="•"/>
              <a:tabLst>
                <a:tab pos="184785" algn="l"/>
              </a:tabLst>
            </a:pPr>
            <a:r>
              <a:rPr dirty="0"/>
              <a:t>En</a:t>
            </a:r>
            <a:r>
              <a:rPr dirty="0" spc="-75"/>
              <a:t> </a:t>
            </a:r>
            <a:r>
              <a:rPr dirty="0"/>
              <a:t>este</a:t>
            </a:r>
            <a:r>
              <a:rPr dirty="0" spc="-80"/>
              <a:t> </a:t>
            </a:r>
            <a:r>
              <a:rPr dirty="0"/>
              <a:t>ejemplo,</a:t>
            </a:r>
            <a:r>
              <a:rPr dirty="0" spc="-65"/>
              <a:t> </a:t>
            </a:r>
            <a:r>
              <a:rPr dirty="0"/>
              <a:t>NULLIF</a:t>
            </a:r>
            <a:r>
              <a:rPr dirty="0" spc="-80"/>
              <a:t> </a:t>
            </a:r>
            <a:r>
              <a:rPr dirty="0"/>
              <a:t>compara</a:t>
            </a:r>
            <a:r>
              <a:rPr dirty="0" spc="-65"/>
              <a:t> </a:t>
            </a:r>
            <a:r>
              <a:rPr dirty="0"/>
              <a:t>la</a:t>
            </a:r>
            <a:r>
              <a:rPr dirty="0" spc="-75"/>
              <a:t> </a:t>
            </a:r>
            <a:r>
              <a:rPr dirty="0"/>
              <a:t>longitud</a:t>
            </a:r>
            <a:r>
              <a:rPr dirty="0" spc="-50"/>
              <a:t> </a:t>
            </a:r>
            <a:r>
              <a:rPr dirty="0"/>
              <a:t>de</a:t>
            </a:r>
            <a:r>
              <a:rPr dirty="0" spc="-80"/>
              <a:t> </a:t>
            </a:r>
            <a:r>
              <a:rPr dirty="0" spc="-25"/>
              <a:t>los </a:t>
            </a:r>
            <a:r>
              <a:rPr dirty="0" spc="-25"/>
              <a:t>	</a:t>
            </a:r>
            <a:r>
              <a:rPr dirty="0"/>
              <a:t>nombres</a:t>
            </a:r>
            <a:r>
              <a:rPr dirty="0" spc="-35"/>
              <a:t> </a:t>
            </a:r>
            <a:r>
              <a:rPr dirty="0"/>
              <a:t>y</a:t>
            </a:r>
            <a:r>
              <a:rPr dirty="0" spc="-65"/>
              <a:t> </a:t>
            </a:r>
            <a:r>
              <a:rPr dirty="0"/>
              <a:t>apellidos</a:t>
            </a:r>
            <a:r>
              <a:rPr dirty="0" spc="-40"/>
              <a:t> </a:t>
            </a:r>
            <a:r>
              <a:rPr dirty="0"/>
              <a:t>de</a:t>
            </a:r>
            <a:r>
              <a:rPr dirty="0" spc="-55"/>
              <a:t> </a:t>
            </a:r>
            <a:r>
              <a:rPr dirty="0"/>
              <a:t>los</a:t>
            </a:r>
            <a:r>
              <a:rPr dirty="0" spc="-55"/>
              <a:t> </a:t>
            </a:r>
            <a:r>
              <a:rPr dirty="0" spc="-10"/>
              <a:t>empleados</a:t>
            </a:r>
          </a:p>
          <a:p>
            <a:pPr marL="182880" marR="5080" indent="-170815">
              <a:lnSpc>
                <a:spcPts val="3030"/>
              </a:lnSpc>
              <a:spcBef>
                <a:spcPts val="795"/>
              </a:spcBef>
              <a:buClr>
                <a:srgbClr val="D1350F"/>
              </a:buClr>
              <a:buFont typeface="Arial MT"/>
              <a:buChar char="•"/>
              <a:tabLst>
                <a:tab pos="184785" algn="l"/>
              </a:tabLst>
            </a:pPr>
            <a:r>
              <a:rPr dirty="0"/>
              <a:t>Si</a:t>
            </a:r>
            <a:r>
              <a:rPr dirty="0" spc="-45"/>
              <a:t> </a:t>
            </a:r>
            <a:r>
              <a:rPr dirty="0"/>
              <a:t>la</a:t>
            </a:r>
            <a:r>
              <a:rPr dirty="0" spc="-50"/>
              <a:t> </a:t>
            </a:r>
            <a:r>
              <a:rPr dirty="0"/>
              <a:t>longitud</a:t>
            </a:r>
            <a:r>
              <a:rPr dirty="0" spc="-20"/>
              <a:t> </a:t>
            </a:r>
            <a:r>
              <a:rPr dirty="0"/>
              <a:t>de</a:t>
            </a:r>
            <a:r>
              <a:rPr dirty="0" spc="-45"/>
              <a:t> </a:t>
            </a:r>
            <a:r>
              <a:rPr dirty="0"/>
              <a:t>ambos</a:t>
            </a:r>
            <a:r>
              <a:rPr dirty="0" spc="-25"/>
              <a:t> </a:t>
            </a:r>
            <a:r>
              <a:rPr dirty="0" spc="-10"/>
              <a:t>elementos</a:t>
            </a:r>
            <a:r>
              <a:rPr dirty="0" spc="-40"/>
              <a:t> </a:t>
            </a:r>
            <a:r>
              <a:rPr dirty="0"/>
              <a:t>es</a:t>
            </a:r>
            <a:r>
              <a:rPr dirty="0" spc="-45"/>
              <a:t> </a:t>
            </a:r>
            <a:r>
              <a:rPr dirty="0"/>
              <a:t>la</a:t>
            </a:r>
            <a:r>
              <a:rPr dirty="0" spc="-40"/>
              <a:t> </a:t>
            </a:r>
            <a:r>
              <a:rPr dirty="0"/>
              <a:t>misma,</a:t>
            </a:r>
            <a:r>
              <a:rPr dirty="0" spc="-25"/>
              <a:t> </a:t>
            </a:r>
            <a:r>
              <a:rPr dirty="0" spc="-10"/>
              <a:t>NULLIF </a:t>
            </a:r>
            <a:r>
              <a:rPr dirty="0" spc="-10"/>
              <a:t>	</a:t>
            </a:r>
            <a:r>
              <a:rPr dirty="0"/>
              <a:t>devuelve</a:t>
            </a:r>
            <a:r>
              <a:rPr dirty="0" spc="-50"/>
              <a:t> </a:t>
            </a:r>
            <a:r>
              <a:rPr dirty="0"/>
              <a:t>NULL</a:t>
            </a:r>
            <a:r>
              <a:rPr dirty="0" spc="-45"/>
              <a:t> </a:t>
            </a:r>
            <a:r>
              <a:rPr dirty="0"/>
              <a:t>(como</a:t>
            </a:r>
            <a:r>
              <a:rPr dirty="0" spc="-60"/>
              <a:t> </a:t>
            </a:r>
            <a:r>
              <a:rPr dirty="0"/>
              <a:t>en</a:t>
            </a:r>
            <a:r>
              <a:rPr dirty="0" spc="-50"/>
              <a:t> </a:t>
            </a:r>
            <a:r>
              <a:rPr dirty="0"/>
              <a:t>la</a:t>
            </a:r>
            <a:r>
              <a:rPr dirty="0" spc="-55"/>
              <a:t> </a:t>
            </a:r>
            <a:r>
              <a:rPr dirty="0"/>
              <a:t>fila</a:t>
            </a:r>
            <a:r>
              <a:rPr dirty="0" spc="-60"/>
              <a:t> </a:t>
            </a:r>
            <a:r>
              <a:rPr dirty="0"/>
              <a:t>2</a:t>
            </a:r>
            <a:r>
              <a:rPr dirty="0" spc="-50"/>
              <a:t> </a:t>
            </a:r>
            <a:r>
              <a:rPr dirty="0"/>
              <a:t>Curtis</a:t>
            </a:r>
            <a:r>
              <a:rPr dirty="0" spc="-40"/>
              <a:t> </a:t>
            </a:r>
            <a:r>
              <a:rPr dirty="0"/>
              <a:t>Davies);</a:t>
            </a:r>
            <a:r>
              <a:rPr dirty="0" spc="-40"/>
              <a:t> </a:t>
            </a:r>
            <a:r>
              <a:rPr dirty="0"/>
              <a:t>de</a:t>
            </a:r>
            <a:r>
              <a:rPr dirty="0" spc="-55"/>
              <a:t> </a:t>
            </a:r>
            <a:r>
              <a:rPr dirty="0" spc="-25"/>
              <a:t>lo </a:t>
            </a:r>
            <a:r>
              <a:rPr dirty="0" spc="-25"/>
              <a:t>	</a:t>
            </a:r>
            <a:r>
              <a:rPr dirty="0" spc="-20"/>
              <a:t>contrario,</a:t>
            </a:r>
            <a:r>
              <a:rPr dirty="0" spc="-35"/>
              <a:t> </a:t>
            </a:r>
            <a:r>
              <a:rPr dirty="0"/>
              <a:t>se</a:t>
            </a:r>
            <a:r>
              <a:rPr dirty="0" spc="-30"/>
              <a:t> </a:t>
            </a:r>
            <a:r>
              <a:rPr dirty="0"/>
              <a:t>devuelve</a:t>
            </a:r>
            <a:r>
              <a:rPr dirty="0" spc="-30"/>
              <a:t> </a:t>
            </a:r>
            <a:r>
              <a:rPr dirty="0"/>
              <a:t>el</a:t>
            </a:r>
            <a:r>
              <a:rPr dirty="0" spc="-50"/>
              <a:t> </a:t>
            </a:r>
            <a:r>
              <a:rPr dirty="0"/>
              <a:t>valor</a:t>
            </a:r>
            <a:r>
              <a:rPr dirty="0" spc="-60"/>
              <a:t> </a:t>
            </a:r>
            <a:r>
              <a:rPr dirty="0"/>
              <a:t>LENGTH</a:t>
            </a:r>
            <a:r>
              <a:rPr dirty="0" spc="-35"/>
              <a:t> </a:t>
            </a:r>
            <a:r>
              <a:rPr dirty="0"/>
              <a:t>de</a:t>
            </a:r>
            <a:r>
              <a:rPr dirty="0" spc="-30"/>
              <a:t> </a:t>
            </a:r>
            <a:r>
              <a:rPr dirty="0"/>
              <a:t>la</a:t>
            </a:r>
            <a:r>
              <a:rPr dirty="0" spc="-50"/>
              <a:t> </a:t>
            </a:r>
            <a:r>
              <a:rPr dirty="0" spc="-10"/>
              <a:t>expresión </a:t>
            </a:r>
            <a:r>
              <a:rPr dirty="0" spc="-10"/>
              <a:t>	</a:t>
            </a:r>
            <a:r>
              <a:rPr dirty="0"/>
              <a:t>1</a:t>
            </a:r>
            <a:r>
              <a:rPr dirty="0" spc="-10"/>
              <a:t> </a:t>
            </a:r>
            <a:r>
              <a:rPr dirty="0"/>
              <a:t>de </a:t>
            </a:r>
            <a:r>
              <a:rPr dirty="0" spc="-10"/>
              <a:t>first_name</a:t>
            </a:r>
          </a:p>
        </p:txBody>
      </p:sp>
      <p:graphicFrame>
        <p:nvGraphicFramePr>
          <p:cNvPr id="4" name="object 4" descr=""/>
          <p:cNvGraphicFramePr>
            <a:graphicFrameLocks noGrp="1"/>
          </p:cNvGraphicFramePr>
          <p:nvPr/>
        </p:nvGraphicFramePr>
        <p:xfrm>
          <a:off x="782637" y="4917904"/>
          <a:ext cx="7654925" cy="1143000"/>
        </p:xfrm>
        <a:graphic>
          <a:graphicData uri="http://schemas.openxmlformats.org/drawingml/2006/table">
            <a:tbl>
              <a:tblPr firstRow="1" bandRow="1">
                <a:tableStyleId>{2D5ABB26-0587-4C30-8999-92F81FD0307C}</a:tableStyleId>
              </a:tblPr>
              <a:tblGrid>
                <a:gridCol w="1414780"/>
                <a:gridCol w="1330959"/>
                <a:gridCol w="1402714"/>
                <a:gridCol w="1176020"/>
                <a:gridCol w="2245995"/>
              </a:tblGrid>
              <a:tr h="335280">
                <a:tc>
                  <a:txBody>
                    <a:bodyPr/>
                    <a:lstStyle/>
                    <a:p>
                      <a:pPr marL="71755">
                        <a:lnSpc>
                          <a:spcPct val="100000"/>
                        </a:lnSpc>
                        <a:spcBef>
                          <a:spcPts val="270"/>
                        </a:spcBef>
                      </a:pPr>
                      <a:r>
                        <a:rPr dirty="0" sz="1600" spc="-10" b="1">
                          <a:solidFill>
                            <a:srgbClr val="4E3629"/>
                          </a:solidFill>
                          <a:latin typeface="Calibri"/>
                          <a:cs typeface="Calibri"/>
                        </a:rPr>
                        <a:t>FIRST_NAME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70"/>
                        </a:spcBef>
                      </a:pPr>
                      <a:r>
                        <a:rPr dirty="0" sz="1600" b="1">
                          <a:solidFill>
                            <a:srgbClr val="4E3629"/>
                          </a:solidFill>
                          <a:latin typeface="Calibri"/>
                          <a:cs typeface="Calibri"/>
                        </a:rPr>
                        <a:t>Length</a:t>
                      </a:r>
                      <a:r>
                        <a:rPr dirty="0" sz="1600" spc="-40" b="1">
                          <a:solidFill>
                            <a:srgbClr val="4E3629"/>
                          </a:solidFill>
                          <a:latin typeface="Calibri"/>
                          <a:cs typeface="Calibri"/>
                        </a:rPr>
                        <a:t> </a:t>
                      </a:r>
                      <a:r>
                        <a:rPr dirty="0" sz="1600" spc="-25" b="1">
                          <a:solidFill>
                            <a:srgbClr val="4E3629"/>
                          </a:solidFill>
                          <a:latin typeface="Calibri"/>
                          <a:cs typeface="Calibri"/>
                        </a:rPr>
                        <a:t>FN</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70"/>
                        </a:spcBef>
                      </a:pPr>
                      <a:r>
                        <a:rPr dirty="0" sz="1600" spc="-10" b="1">
                          <a:solidFill>
                            <a:srgbClr val="4E3629"/>
                          </a:solidFill>
                          <a:latin typeface="Calibri"/>
                          <a:cs typeface="Calibri"/>
                        </a:rPr>
                        <a:t>LAST_NAME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70"/>
                        </a:spcBef>
                      </a:pPr>
                      <a:r>
                        <a:rPr dirty="0" sz="1600" b="1">
                          <a:solidFill>
                            <a:srgbClr val="4E3629"/>
                          </a:solidFill>
                          <a:latin typeface="Calibri"/>
                          <a:cs typeface="Calibri"/>
                        </a:rPr>
                        <a:t>Length</a:t>
                      </a:r>
                      <a:r>
                        <a:rPr dirty="0" sz="1600" spc="-40" b="1">
                          <a:solidFill>
                            <a:srgbClr val="4E3629"/>
                          </a:solidFill>
                          <a:latin typeface="Calibri"/>
                          <a:cs typeface="Calibri"/>
                        </a:rPr>
                        <a:t> </a:t>
                      </a:r>
                      <a:r>
                        <a:rPr dirty="0" sz="1600" spc="-25" b="1">
                          <a:solidFill>
                            <a:srgbClr val="4E3629"/>
                          </a:solidFill>
                          <a:latin typeface="Calibri"/>
                          <a:cs typeface="Calibri"/>
                        </a:rPr>
                        <a:t>LN</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70"/>
                        </a:spcBef>
                      </a:pPr>
                      <a:r>
                        <a:rPr dirty="0" sz="1600" b="1">
                          <a:solidFill>
                            <a:srgbClr val="4E3629"/>
                          </a:solidFill>
                          <a:latin typeface="Calibri"/>
                          <a:cs typeface="Calibri"/>
                        </a:rPr>
                        <a:t>Compare</a:t>
                      </a:r>
                      <a:r>
                        <a:rPr dirty="0" sz="1600" spc="-70" b="1">
                          <a:solidFill>
                            <a:srgbClr val="4E3629"/>
                          </a:solidFill>
                          <a:latin typeface="Calibri"/>
                          <a:cs typeface="Calibri"/>
                        </a:rPr>
                        <a:t> </a:t>
                      </a:r>
                      <a:r>
                        <a:rPr dirty="0" sz="1600" spc="-20" b="1">
                          <a:solidFill>
                            <a:srgbClr val="4E3629"/>
                          </a:solidFill>
                          <a:latin typeface="Calibri"/>
                          <a:cs typeface="Calibri"/>
                        </a:rPr>
                        <a:t>Them</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69240">
                <a:tc>
                  <a:txBody>
                    <a:bodyPr/>
                    <a:lstStyle/>
                    <a:p>
                      <a:pPr marL="71755">
                        <a:lnSpc>
                          <a:spcPct val="100000"/>
                        </a:lnSpc>
                      </a:pPr>
                      <a:r>
                        <a:rPr dirty="0" sz="1600" spc="-10">
                          <a:solidFill>
                            <a:srgbClr val="4E3629"/>
                          </a:solidFill>
                          <a:latin typeface="Calibri"/>
                          <a:cs typeface="Calibri"/>
                        </a:rPr>
                        <a:t>Ellen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pPr>
                      <a:r>
                        <a:rPr dirty="0" sz="1600" spc="-20">
                          <a:solidFill>
                            <a:srgbClr val="4E3629"/>
                          </a:solidFill>
                          <a:latin typeface="Calibri"/>
                          <a:cs typeface="Calibri"/>
                        </a:rPr>
                        <a:t>Abel</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4</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69240">
                <a:tc>
                  <a:txBody>
                    <a:bodyPr/>
                    <a:lstStyle/>
                    <a:p>
                      <a:pPr marL="71755">
                        <a:lnSpc>
                          <a:spcPct val="100000"/>
                        </a:lnSpc>
                      </a:pPr>
                      <a:r>
                        <a:rPr dirty="0" sz="1600" spc="-10">
                          <a:solidFill>
                            <a:srgbClr val="4E3629"/>
                          </a:solidFill>
                          <a:latin typeface="Calibri"/>
                          <a:cs typeface="Calibri"/>
                        </a:rPr>
                        <a:t>Curtis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pPr>
                      <a:r>
                        <a:rPr dirty="0" sz="1600" spc="-10">
                          <a:solidFill>
                            <a:srgbClr val="4E3629"/>
                          </a:solidFill>
                          <a:latin typeface="Calibri"/>
                          <a:cs typeface="Calibri"/>
                        </a:rPr>
                        <a:t>Davies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pPr>
                      <a:r>
                        <a:rPr dirty="0" sz="1600" spc="-50">
                          <a:solidFill>
                            <a:srgbClr val="4E3629"/>
                          </a:solidFill>
                          <a:latin typeface="Calibri"/>
                          <a:cs typeface="Calibri"/>
                        </a:rPr>
                        <a: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9240">
                <a:tc>
                  <a:txBody>
                    <a:bodyPr/>
                    <a:lstStyle/>
                    <a:p>
                      <a:pPr marL="71755">
                        <a:lnSpc>
                          <a:spcPts val="1920"/>
                        </a:lnSpc>
                      </a:pPr>
                      <a:r>
                        <a:rPr dirty="0" sz="1600" spc="-25">
                          <a:solidFill>
                            <a:srgbClr val="4E3629"/>
                          </a:solidFill>
                          <a:latin typeface="Calibri"/>
                          <a:cs typeface="Calibri"/>
                        </a:rPr>
                        <a:t>Lex</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20"/>
                        </a:lnSpc>
                      </a:pPr>
                      <a:r>
                        <a:rPr dirty="0" sz="1600" spc="-50">
                          <a:solidFill>
                            <a:srgbClr val="4E3629"/>
                          </a:solidFill>
                          <a:latin typeface="Calibri"/>
                          <a:cs typeface="Calibri"/>
                        </a:rPr>
                        <a:t>3</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20"/>
                        </a:lnSpc>
                      </a:pPr>
                      <a:r>
                        <a:rPr dirty="0" sz="1600" spc="-50">
                          <a:solidFill>
                            <a:srgbClr val="4E3629"/>
                          </a:solidFill>
                          <a:latin typeface="Calibri"/>
                          <a:cs typeface="Calibri"/>
                        </a:rPr>
                        <a:t>7</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1920"/>
                        </a:lnSpc>
                      </a:pPr>
                      <a:r>
                        <a:rPr dirty="0" sz="1600" spc="-50">
                          <a:solidFill>
                            <a:srgbClr val="4E3629"/>
                          </a:solidFill>
                          <a:latin typeface="Calibri"/>
                          <a:cs typeface="Calibri"/>
                        </a:rPr>
                        <a:t>3</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405384" y="3918203"/>
            <a:ext cx="8345805" cy="1005840"/>
          </a:xfrm>
          <a:prstGeom prst="rect">
            <a:avLst/>
          </a:prstGeom>
          <a:solidFill>
            <a:srgbClr val="9DBEC4">
              <a:alpha val="50199"/>
            </a:srgbClr>
          </a:solidFill>
        </p:spPr>
        <p:txBody>
          <a:bodyPr wrap="square" lIns="0" tIns="0" rIns="0" bIns="0" rtlCol="0" vert="horz">
            <a:spAutoFit/>
          </a:bodyPr>
          <a:lstStyle/>
          <a:p>
            <a:pPr>
              <a:lnSpc>
                <a:spcPts val="1720"/>
              </a:lnSpc>
            </a:pPr>
            <a:r>
              <a:rPr dirty="0" sz="1700" b="1">
                <a:solidFill>
                  <a:srgbClr val="4E3629"/>
                </a:solidFill>
                <a:latin typeface="Courier New"/>
                <a:cs typeface="Courier New"/>
              </a:rPr>
              <a:t>SELECT</a:t>
            </a:r>
            <a:r>
              <a:rPr dirty="0" sz="1700" spc="-70" b="1">
                <a:solidFill>
                  <a:srgbClr val="4E3629"/>
                </a:solidFill>
                <a:latin typeface="Courier New"/>
                <a:cs typeface="Courier New"/>
              </a:rPr>
              <a:t> </a:t>
            </a:r>
            <a:r>
              <a:rPr dirty="0" sz="1700" b="1">
                <a:solidFill>
                  <a:srgbClr val="4E3629"/>
                </a:solidFill>
                <a:latin typeface="Courier New"/>
                <a:cs typeface="Courier New"/>
              </a:rPr>
              <a:t>first_name,</a:t>
            </a:r>
            <a:r>
              <a:rPr dirty="0" sz="1700" spc="-65" b="1">
                <a:solidFill>
                  <a:srgbClr val="4E3629"/>
                </a:solidFill>
                <a:latin typeface="Courier New"/>
                <a:cs typeface="Courier New"/>
              </a:rPr>
              <a:t> </a:t>
            </a:r>
            <a:r>
              <a:rPr dirty="0" sz="1700" b="1">
                <a:solidFill>
                  <a:srgbClr val="4E3629"/>
                </a:solidFill>
                <a:latin typeface="Courier New"/>
                <a:cs typeface="Courier New"/>
              </a:rPr>
              <a:t>LENGTH(first_name)</a:t>
            </a:r>
            <a:r>
              <a:rPr dirty="0" sz="1700" spc="-80" b="1">
                <a:solidFill>
                  <a:srgbClr val="4E3629"/>
                </a:solidFill>
                <a:latin typeface="Courier New"/>
                <a:cs typeface="Courier New"/>
              </a:rPr>
              <a:t> </a:t>
            </a:r>
            <a:r>
              <a:rPr dirty="0" sz="1700" b="1">
                <a:solidFill>
                  <a:srgbClr val="4E3629"/>
                </a:solidFill>
                <a:latin typeface="Courier New"/>
                <a:cs typeface="Courier New"/>
              </a:rPr>
              <a:t>AS</a:t>
            </a:r>
            <a:r>
              <a:rPr dirty="0" sz="1700" spc="-65" b="1">
                <a:solidFill>
                  <a:srgbClr val="4E3629"/>
                </a:solidFill>
                <a:latin typeface="Courier New"/>
                <a:cs typeface="Courier New"/>
              </a:rPr>
              <a:t> </a:t>
            </a:r>
            <a:r>
              <a:rPr dirty="0" sz="1700" b="1">
                <a:solidFill>
                  <a:srgbClr val="4E3629"/>
                </a:solidFill>
                <a:latin typeface="Courier New"/>
                <a:cs typeface="Courier New"/>
              </a:rPr>
              <a:t>"Length</a:t>
            </a:r>
            <a:r>
              <a:rPr dirty="0" sz="1700" spc="-75" b="1">
                <a:solidFill>
                  <a:srgbClr val="4E3629"/>
                </a:solidFill>
                <a:latin typeface="Courier New"/>
                <a:cs typeface="Courier New"/>
              </a:rPr>
              <a:t> </a:t>
            </a:r>
            <a:r>
              <a:rPr dirty="0" sz="1700" b="1">
                <a:solidFill>
                  <a:srgbClr val="4E3629"/>
                </a:solidFill>
                <a:latin typeface="Courier New"/>
                <a:cs typeface="Courier New"/>
              </a:rPr>
              <a:t>FN",</a:t>
            </a:r>
            <a:r>
              <a:rPr dirty="0" sz="1700" spc="-80" b="1">
                <a:solidFill>
                  <a:srgbClr val="4E3629"/>
                </a:solidFill>
                <a:latin typeface="Courier New"/>
                <a:cs typeface="Courier New"/>
              </a:rPr>
              <a:t> </a:t>
            </a:r>
            <a:r>
              <a:rPr dirty="0" sz="1700" spc="-10" b="1">
                <a:solidFill>
                  <a:srgbClr val="4E3629"/>
                </a:solidFill>
                <a:latin typeface="Courier New"/>
                <a:cs typeface="Courier New"/>
              </a:rPr>
              <a:t>last_name,</a:t>
            </a:r>
            <a:endParaRPr sz="1700">
              <a:latin typeface="Courier New"/>
              <a:cs typeface="Courier New"/>
            </a:endParaRPr>
          </a:p>
          <a:p>
            <a:pPr marL="258445" marR="263525">
              <a:lnSpc>
                <a:spcPct val="100000"/>
              </a:lnSpc>
            </a:pPr>
            <a:r>
              <a:rPr dirty="0" sz="1700" b="1">
                <a:solidFill>
                  <a:srgbClr val="4E3629"/>
                </a:solidFill>
                <a:latin typeface="Courier New"/>
                <a:cs typeface="Courier New"/>
              </a:rPr>
              <a:t>LENGTH(last_name)</a:t>
            </a:r>
            <a:r>
              <a:rPr dirty="0" sz="1700" spc="-75" b="1">
                <a:solidFill>
                  <a:srgbClr val="4E3629"/>
                </a:solidFill>
                <a:latin typeface="Courier New"/>
                <a:cs typeface="Courier New"/>
              </a:rPr>
              <a:t> </a:t>
            </a:r>
            <a:r>
              <a:rPr dirty="0" sz="1700" b="1">
                <a:solidFill>
                  <a:srgbClr val="4E3629"/>
                </a:solidFill>
                <a:latin typeface="Courier New"/>
                <a:cs typeface="Courier New"/>
              </a:rPr>
              <a:t>AS</a:t>
            </a:r>
            <a:r>
              <a:rPr dirty="0" sz="1700" spc="-75" b="1">
                <a:solidFill>
                  <a:srgbClr val="4E3629"/>
                </a:solidFill>
                <a:latin typeface="Courier New"/>
                <a:cs typeface="Courier New"/>
              </a:rPr>
              <a:t> </a:t>
            </a:r>
            <a:r>
              <a:rPr dirty="0" sz="1700" b="1">
                <a:solidFill>
                  <a:srgbClr val="4E3629"/>
                </a:solidFill>
                <a:latin typeface="Courier New"/>
                <a:cs typeface="Courier New"/>
              </a:rPr>
              <a:t>"Length</a:t>
            </a:r>
            <a:r>
              <a:rPr dirty="0" sz="1700" spc="-70" b="1">
                <a:solidFill>
                  <a:srgbClr val="4E3629"/>
                </a:solidFill>
                <a:latin typeface="Courier New"/>
                <a:cs typeface="Courier New"/>
              </a:rPr>
              <a:t> </a:t>
            </a:r>
            <a:r>
              <a:rPr dirty="0" sz="1700" b="1">
                <a:solidFill>
                  <a:srgbClr val="4E3629"/>
                </a:solidFill>
                <a:latin typeface="Courier New"/>
                <a:cs typeface="Courier New"/>
              </a:rPr>
              <a:t>LN",</a:t>
            </a:r>
            <a:r>
              <a:rPr dirty="0" sz="1700" spc="-75" b="1">
                <a:solidFill>
                  <a:srgbClr val="4E3629"/>
                </a:solidFill>
                <a:latin typeface="Courier New"/>
                <a:cs typeface="Courier New"/>
              </a:rPr>
              <a:t> </a:t>
            </a:r>
            <a:r>
              <a:rPr dirty="0" sz="1700" spc="-10" b="1">
                <a:solidFill>
                  <a:srgbClr val="4E3629"/>
                </a:solidFill>
                <a:latin typeface="Courier New"/>
                <a:cs typeface="Courier New"/>
              </a:rPr>
              <a:t>NULLIF(LENGTH(first_name), </a:t>
            </a:r>
            <a:r>
              <a:rPr dirty="0" sz="1700" b="1">
                <a:solidFill>
                  <a:srgbClr val="4E3629"/>
                </a:solidFill>
                <a:latin typeface="Courier New"/>
                <a:cs typeface="Courier New"/>
              </a:rPr>
              <a:t>LENGTH(last_name))</a:t>
            </a:r>
            <a:r>
              <a:rPr dirty="0" sz="1700" spc="-95" b="1">
                <a:solidFill>
                  <a:srgbClr val="4E3629"/>
                </a:solidFill>
                <a:latin typeface="Courier New"/>
                <a:cs typeface="Courier New"/>
              </a:rPr>
              <a:t> </a:t>
            </a:r>
            <a:r>
              <a:rPr dirty="0" sz="1700" b="1">
                <a:solidFill>
                  <a:srgbClr val="4E3629"/>
                </a:solidFill>
                <a:latin typeface="Courier New"/>
                <a:cs typeface="Courier New"/>
              </a:rPr>
              <a:t>AS</a:t>
            </a:r>
            <a:r>
              <a:rPr dirty="0" sz="1700" spc="-100" b="1">
                <a:solidFill>
                  <a:srgbClr val="4E3629"/>
                </a:solidFill>
                <a:latin typeface="Courier New"/>
                <a:cs typeface="Courier New"/>
              </a:rPr>
              <a:t> </a:t>
            </a:r>
            <a:r>
              <a:rPr dirty="0" sz="1700" b="1">
                <a:solidFill>
                  <a:srgbClr val="4E3629"/>
                </a:solidFill>
                <a:latin typeface="Courier New"/>
                <a:cs typeface="Courier New"/>
              </a:rPr>
              <a:t>"Compare</a:t>
            </a:r>
            <a:r>
              <a:rPr dirty="0" sz="1700" spc="-75" b="1">
                <a:solidFill>
                  <a:srgbClr val="4E3629"/>
                </a:solidFill>
                <a:latin typeface="Courier New"/>
                <a:cs typeface="Courier New"/>
              </a:rPr>
              <a:t> </a:t>
            </a:r>
            <a:r>
              <a:rPr dirty="0" sz="1700" spc="-10" b="1">
                <a:solidFill>
                  <a:srgbClr val="4E3629"/>
                </a:solidFill>
                <a:latin typeface="Courier New"/>
                <a:cs typeface="Courier New"/>
              </a:rPr>
              <a:t>Them"</a:t>
            </a:r>
            <a:endParaRPr sz="1700">
              <a:latin typeface="Courier New"/>
              <a:cs typeface="Courier New"/>
            </a:endParaRPr>
          </a:p>
          <a:p>
            <a:pPr>
              <a:lnSpc>
                <a:spcPct val="100000"/>
              </a:lnSpc>
            </a:pPr>
            <a:r>
              <a:rPr dirty="0" sz="1700" b="1">
                <a:solidFill>
                  <a:srgbClr val="4E3629"/>
                </a:solidFill>
                <a:latin typeface="Courier New"/>
                <a:cs typeface="Courier New"/>
              </a:rPr>
              <a:t>FROM</a:t>
            </a:r>
            <a:r>
              <a:rPr dirty="0" sz="1700" spc="-50" b="1">
                <a:solidFill>
                  <a:srgbClr val="4E3629"/>
                </a:solidFill>
                <a:latin typeface="Courier New"/>
                <a:cs typeface="Courier New"/>
              </a:rPr>
              <a:t> </a:t>
            </a:r>
            <a:r>
              <a:rPr dirty="0" sz="1700" spc="-10" b="1">
                <a:solidFill>
                  <a:srgbClr val="4E3629"/>
                </a:solidFill>
                <a:latin typeface="Courier New"/>
                <a:cs typeface="Courier New"/>
              </a:rPr>
              <a:t>employees;</a:t>
            </a:r>
            <a:endParaRPr sz="1700">
              <a:latin typeface="Courier New"/>
              <a:cs typeface="Courier New"/>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Oracle Academy</dc:creator>
  <dc:title>PowerPoint Presentation</dc:title>
  <dcterms:created xsi:type="dcterms:W3CDTF">2025-06-01T18:23:56Z</dcterms:created>
  <dcterms:modified xsi:type="dcterms:W3CDTF">2025-06-01T18:23:56Z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2025-04-07T00:00:00Z</vt:filetime>
  </property>
  <property fmtid="{D5CDD505-2E9C-101B-9397-08002B2CF9AE}" pid="3" name="Creator">
    <vt:lpwstr>Acrobat PDFMaker 20 for PowerPoint</vt:lpwstr>
  </property>
  <property fmtid="{D5CDD505-2E9C-101B-9397-08002B2CF9AE}" pid="4" name="LastSaved">
    <vt:filetime>2025-06-01T00:00:00Z</vt:filetime>
  </property>
  <property fmtid="{D5CDD505-2E9C-101B-9397-08002B2CF9AE}" pid="5" name="Producer">
    <vt:lpwstr>macOS Version 15.3.1 (Build 24D70) Quartz PDFContext</vt:lpwstr>
  </property>
</Properties>
</file>