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18:49:46</a:t>
            </a:r>
          </a:p>
          <a:p>
            <a:r>
              <a:t>--------------------------------------------</a:t>
            </a:r>
          </a:p>
          <a:p>
            <a:r>
              <a:t>Las funciones de una sola fila son un código predefinido y muy potente que acepta argumentos y devuelven un valor. Un argumento se puede definir como un nombre de columna, una expresión o una constante.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18:49:47</a:t>
            </a:r>
          </a:p>
          <a:p>
            <a:r>
              <a:t>--------------------------------------------</a:t>
            </a:r>
          </a:p>
          <a:p>
            <a:r>
              <a:t>El motivo por el que Oracle diferencia entre 'V' y 'v' se debe al modo en el que almacena los caracteres.             No almacena los caracteres directamente, sino sus correspondientes valores binarios, dependiendo del juego de caracteres de la base de datos. En la mayoría del mundo occidental, se habrá utilizado un juego de caracteres ACSII como juego de caracteres de la base de datos, y los códigos binarios para 'V' y 'v' son números distintos; por lo tanto, Oracle no considera que sean iguales.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18:49:48</a:t>
            </a:r>
          </a:p>
          <a:p>
            <a:r>
              <a:t>--------------------------------------------</a:t>
            </a:r>
          </a:p>
          <a:p>
            <a:r>
              <a:t>El uso de las funciones de manipulación de mayúsculas/minúsculas en la cláusula WHERE le permite recuperar filas, independientemente de si están almacenadas en la tabla en mayúscula o minúscula. El uso de las funciones de manipulación de mayúsculas/minúsculas en la cláusula SELECT modifica la forma en la que se muestran los resultados de la consulta.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18:49:50</a:t>
            </a:r>
          </a:p>
          <a:p>
            <a:r>
              <a:t>--------------------------------------------</a:t>
            </a:r>
          </a:p>
          <a:p>
            <a:r>
              <a:t>El segundo ejemplo devuelve el número de caracteres en cada apellido de los empleados.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18:49:51</a:t>
            </a:r>
          </a:p>
          <a:p>
            <a:r>
              <a:t>--------------------------------------------</a:t>
            </a:r>
          </a:p>
          <a:p>
            <a:r>
              <a:t>Ejemplo 1: elimina la primera 'a' del inicio de la cadena 'abcba' Ejemplo 2: elimina la última 'a' del final de la cadena 'abcba'</a:t>
            </a:r>
          </a:p>
          <a:p>
            <a:r>
              <a:t>Ejemplo 3: elimina tanto la primera 'a' como la última 'a' de la cadena 'abcba'. Si se omite LEADING, TRAILING o BOTH, la función devuelve BOTH (ambos).</a:t>
            </a:r>
          </a:p>
          <a:p>
            <a:r>
              <a:t>Si el carácter especificado no es el primer (o último) carácter de la cadena, no se recorta, por ejemplo TRIM (LEADING 'a' FROM 'xyz') devolvería 'xyz'</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18:49:52</a:t>
            </a:r>
          </a:p>
          <a:p>
            <a:r>
              <a:t>--------------------------------------------</a:t>
            </a:r>
          </a:p>
          <a:p>
            <a:r>
              <a:t>Ejemplo 1: todas las instancias de 'J' en la cadena 'JACK and JUE' se sustituye por 'BL'. Ejemplo 2: si el argumento de cadena de sustitución se omite, se suprime string_to_replace. Por lo tanto todas las instancias de 'J' en la cadena 'JACK and JUE' se sustituye por 'BL'.</a:t>
            </a:r>
          </a:p>
          <a:p>
            <a:r>
              <a:t>Ejemplo 3: cada instancia del carácter 'a' en los apellidos del empleado se sustituye por un carácter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18:49:53</a:t>
            </a:r>
          </a:p>
          <a:p>
            <a:r>
              <a:t>--------------------------------------------</a:t>
            </a:r>
          </a:p>
          <a:p>
            <a:r>
              <a:t>El primer ejemplo utiliza un alias para la cabecera de columna, y es más legible y fácil de recordar que el segundo ejemplo que no tiene ningún alias de columna.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7" name="Holder 7"/>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5" name="Holder 5"/>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4" name="Holder 4"/>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748031"/>
            <a:ext cx="7111365" cy="52831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360362" y="1441450"/>
            <a:ext cx="8435340" cy="3183254"/>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2576521" y="6472031"/>
            <a:ext cx="2052954" cy="367029"/>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Holder 6"/>
          <p:cNvSpPr>
            <a:spLocks noGrp="1"/>
          </p:cNvSpPr>
          <p:nvPr>
            <p:ph type="sldNum" idx="7" sz="quarter"/>
          </p:nvPr>
        </p:nvSpPr>
        <p:spPr>
          <a:xfrm>
            <a:off x="8601456" y="6567768"/>
            <a:ext cx="340804" cy="155865"/>
          </a:xfrm>
          <a:prstGeom prst="rect">
            <a:avLst/>
          </a:prstGeom>
        </p:spPr>
        <p:txBody>
          <a:bodyPr wrap="square" lIns="0" tIns="0" rIns="0" bIns="0">
            <a:spAutoFit/>
          </a:bodyPr>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slide" Target="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slide" Target="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slide" Target="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slide" Target="slide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title"/>
          </p:nvPr>
        </p:nvSpPr>
        <p:spPr>
          <a:xfrm>
            <a:off x="958315" y="862895"/>
            <a:ext cx="7047865" cy="1342390"/>
          </a:xfrm>
          <a:prstGeom prst="rect"/>
        </p:spPr>
        <p:txBody>
          <a:bodyPr wrap="square" lIns="0" tIns="153670" rIns="0" bIns="0" rtlCol="0" vert="horz">
            <a:spAutoFit/>
          </a:bodyPr>
          <a:lstStyle/>
          <a:p>
            <a:pPr marL="12700" marR="5080">
              <a:lnSpc>
                <a:spcPts val="4610"/>
              </a:lnSpc>
              <a:spcBef>
                <a:spcPts val="1210"/>
              </a:spcBef>
            </a:pPr>
            <a:r>
              <a:rPr dirty="0" sz="4800"/>
              <a:t>Database</a:t>
            </a:r>
            <a:r>
              <a:rPr dirty="0" sz="4800" spc="-190"/>
              <a:t> </a:t>
            </a:r>
            <a:r>
              <a:rPr dirty="0" sz="4800" spc="-20"/>
              <a:t>Programming</a:t>
            </a:r>
            <a:r>
              <a:rPr dirty="0" sz="4800" spc="-185"/>
              <a:t> </a:t>
            </a:r>
            <a:r>
              <a:rPr dirty="0" sz="4800" spc="-20"/>
              <a:t>with </a:t>
            </a:r>
            <a:r>
              <a:rPr dirty="0" sz="4800" spc="-25"/>
              <a:t>SQL</a:t>
            </a:r>
            <a:endParaRPr sz="4800"/>
          </a:p>
        </p:txBody>
      </p:sp>
      <p:sp>
        <p:nvSpPr>
          <p:cNvPr id="8" name="object 8" descr=""/>
          <p:cNvSpPr txBox="1"/>
          <p:nvPr/>
        </p:nvSpPr>
        <p:spPr>
          <a:xfrm>
            <a:off x="962879" y="2400950"/>
            <a:ext cx="7253605"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4-</a:t>
            </a:r>
            <a:r>
              <a:rPr dirty="0" sz="2400" spc="-50" b="1">
                <a:solidFill>
                  <a:srgbClr val="4E3629"/>
                </a:solidFill>
                <a:latin typeface="Calibri"/>
                <a:cs typeface="Calibri"/>
              </a:rPr>
              <a:t>1</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Manipulación</a:t>
            </a:r>
            <a:r>
              <a:rPr dirty="0" sz="2400" spc="-50" b="1">
                <a:solidFill>
                  <a:srgbClr val="4E3629"/>
                </a:solidFill>
                <a:latin typeface="Calibri"/>
                <a:cs typeface="Calibri"/>
              </a:rPr>
              <a:t> </a:t>
            </a:r>
            <a:r>
              <a:rPr dirty="0" sz="2400" b="1">
                <a:solidFill>
                  <a:srgbClr val="4E3629"/>
                </a:solidFill>
                <a:latin typeface="Calibri"/>
                <a:cs typeface="Calibri"/>
              </a:rPr>
              <a:t>de</a:t>
            </a:r>
            <a:r>
              <a:rPr dirty="0" sz="2400" spc="-15" b="1">
                <a:solidFill>
                  <a:srgbClr val="4E3629"/>
                </a:solidFill>
                <a:latin typeface="Calibri"/>
                <a:cs typeface="Calibri"/>
              </a:rPr>
              <a:t> </a:t>
            </a:r>
            <a:r>
              <a:rPr dirty="0" sz="2400" spc="-10" b="1">
                <a:solidFill>
                  <a:srgbClr val="4E3629"/>
                </a:solidFill>
                <a:latin typeface="Calibri"/>
                <a:cs typeface="Calibri"/>
              </a:rPr>
              <a:t>Mayúsculas/Minúsculas</a:t>
            </a:r>
            <a:r>
              <a:rPr dirty="0" sz="2400" spc="-20" b="1">
                <a:solidFill>
                  <a:srgbClr val="4E3629"/>
                </a:solidFill>
                <a:latin typeface="Calibri"/>
                <a:cs typeface="Calibri"/>
              </a:rPr>
              <a:t> </a:t>
            </a:r>
            <a:r>
              <a:rPr dirty="0" sz="2400" b="1">
                <a:solidFill>
                  <a:srgbClr val="4E3629"/>
                </a:solidFill>
                <a:latin typeface="Calibri"/>
                <a:cs typeface="Calibri"/>
              </a:rPr>
              <a:t>y</a:t>
            </a:r>
            <a:r>
              <a:rPr dirty="0" sz="2400" spc="-40" b="1">
                <a:solidFill>
                  <a:srgbClr val="4E3629"/>
                </a:solidFill>
                <a:latin typeface="Calibri"/>
                <a:cs typeface="Calibri"/>
              </a:rPr>
              <a:t> </a:t>
            </a:r>
            <a:r>
              <a:rPr dirty="0" sz="2400" b="1">
                <a:solidFill>
                  <a:srgbClr val="4E3629"/>
                </a:solidFill>
                <a:latin typeface="Calibri"/>
                <a:cs typeface="Calibri"/>
              </a:rPr>
              <a:t>de</a:t>
            </a:r>
            <a:r>
              <a:rPr dirty="0" sz="2400" spc="-25" b="1">
                <a:solidFill>
                  <a:srgbClr val="4E3629"/>
                </a:solidFill>
                <a:latin typeface="Calibri"/>
                <a:cs typeface="Calibri"/>
              </a:rPr>
              <a:t> </a:t>
            </a:r>
            <a:r>
              <a:rPr dirty="0" sz="2400" spc="-10" b="1">
                <a:solidFill>
                  <a:srgbClr val="4E3629"/>
                </a:solidFill>
                <a:latin typeface="Calibri"/>
                <a:cs typeface="Calibri"/>
              </a:rPr>
              <a:t>Caracteres</a:t>
            </a:r>
            <a:endParaRPr sz="2400">
              <a:latin typeface="Calibri"/>
              <a:cs typeface="Calibri"/>
            </a:endParaRPr>
          </a:p>
        </p:txBody>
      </p:sp>
      <p:pic>
        <p:nvPicPr>
          <p:cNvPr id="9" name="object 9"/>
          <p:cNvPicPr/>
          <p:nvPr/>
        </p:nvPicPr>
        <p:blipFill>
          <a:blip r:embed="rId4" cstate="print"/>
          <a:stretch>
            <a:fillRect/>
          </a:stretch>
        </p:blipFill>
        <p:spPr>
          <a:xfrm>
            <a:off x="3698747" y="3485388"/>
            <a:ext cx="5058156" cy="29657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Tabla</a:t>
            </a:r>
            <a:r>
              <a:rPr dirty="0" spc="-145"/>
              <a:t> </a:t>
            </a:r>
            <a:r>
              <a:rPr dirty="0" spc="-20"/>
              <a:t>DUAL</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50"/>
              <a:t>5</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81889"/>
            <a:ext cx="8045450" cy="4272280"/>
          </a:xfrm>
          <a:prstGeom prst="rect">
            <a:avLst/>
          </a:prstGeom>
        </p:spPr>
        <p:txBody>
          <a:bodyPr wrap="square" lIns="0" tIns="97155" rIns="0" bIns="0" rtlCol="0" vert="horz">
            <a:spAutoFit/>
          </a:bodyPr>
          <a:lstStyle/>
          <a:p>
            <a:pPr marL="182880" marR="57531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a:solidFill>
                  <a:srgbClr val="4E3629"/>
                </a:solidFill>
                <a:latin typeface="Calibri"/>
                <a:cs typeface="Calibri"/>
              </a:rPr>
              <a:t>DUAL</a:t>
            </a:r>
            <a:r>
              <a:rPr dirty="0" sz="2800" spc="-40">
                <a:solidFill>
                  <a:srgbClr val="4E3629"/>
                </a:solidFill>
                <a:latin typeface="Calibri"/>
                <a:cs typeface="Calibri"/>
              </a:rPr>
              <a:t> </a:t>
            </a:r>
            <a:r>
              <a:rPr dirty="0" sz="2800">
                <a:solidFill>
                  <a:srgbClr val="4E3629"/>
                </a:solidFill>
                <a:latin typeface="Calibri"/>
                <a:cs typeface="Calibri"/>
              </a:rPr>
              <a:t>tiene</a:t>
            </a:r>
            <a:r>
              <a:rPr dirty="0" sz="2800" spc="-45">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fila</a:t>
            </a:r>
            <a:r>
              <a:rPr dirty="0" sz="2800" spc="-50">
                <a:solidFill>
                  <a:srgbClr val="4E3629"/>
                </a:solidFill>
                <a:latin typeface="Calibri"/>
                <a:cs typeface="Calibri"/>
              </a:rPr>
              <a:t> </a:t>
            </a:r>
            <a:r>
              <a:rPr dirty="0" sz="2800">
                <a:solidFill>
                  <a:srgbClr val="4E3629"/>
                </a:solidFill>
                <a:latin typeface="Calibri"/>
                <a:cs typeface="Calibri"/>
              </a:rPr>
              <a:t>denominada</a:t>
            </a:r>
            <a:r>
              <a:rPr dirty="0" sz="2800" spc="-25">
                <a:solidFill>
                  <a:srgbClr val="4E3629"/>
                </a:solidFill>
                <a:latin typeface="Calibri"/>
                <a:cs typeface="Calibri"/>
              </a:rPr>
              <a:t> </a:t>
            </a:r>
            <a:r>
              <a:rPr dirty="0" sz="2800">
                <a:solidFill>
                  <a:srgbClr val="4E3629"/>
                </a:solidFill>
                <a:latin typeface="Calibri"/>
                <a:cs typeface="Calibri"/>
              </a:rPr>
              <a:t>"X"</a:t>
            </a:r>
            <a:r>
              <a:rPr dirty="0" sz="2800" spc="-40">
                <a:solidFill>
                  <a:srgbClr val="4E3629"/>
                </a:solidFill>
                <a:latin typeface="Calibri"/>
                <a:cs typeface="Calibri"/>
              </a:rPr>
              <a:t> </a:t>
            </a:r>
            <a:r>
              <a:rPr dirty="0" sz="2800">
                <a:solidFill>
                  <a:srgbClr val="4E3629"/>
                </a:solidFill>
                <a:latin typeface="Calibri"/>
                <a:cs typeface="Calibri"/>
              </a:rPr>
              <a:t>y</a:t>
            </a:r>
            <a:r>
              <a:rPr dirty="0" sz="2800" spc="-55">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114">
                <a:solidFill>
                  <a:srgbClr val="4E3629"/>
                </a:solidFill>
                <a:latin typeface="Calibri"/>
                <a:cs typeface="Calibri"/>
              </a:rPr>
              <a:t> </a:t>
            </a:r>
            <a:r>
              <a:rPr dirty="0" sz="2800">
                <a:solidFill>
                  <a:srgbClr val="4E3629"/>
                </a:solidFill>
                <a:latin typeface="Calibri"/>
                <a:cs typeface="Calibri"/>
              </a:rPr>
              <a:t>denominada</a:t>
            </a:r>
            <a:r>
              <a:rPr dirty="0" sz="2800" spc="-100">
                <a:solidFill>
                  <a:srgbClr val="4E3629"/>
                </a:solidFill>
                <a:latin typeface="Calibri"/>
                <a:cs typeface="Calibri"/>
              </a:rPr>
              <a:t> </a:t>
            </a:r>
            <a:r>
              <a:rPr dirty="0" sz="2800" spc="-10">
                <a:solidFill>
                  <a:srgbClr val="4E3629"/>
                </a:solidFill>
                <a:latin typeface="Calibri"/>
                <a:cs typeface="Calibri"/>
              </a:rPr>
              <a:t>"DUMMY"</a:t>
            </a:r>
            <a:endParaRPr sz="2800">
              <a:latin typeface="Calibri"/>
              <a:cs typeface="Calibri"/>
            </a:endParaRPr>
          </a:p>
          <a:p>
            <a:pPr>
              <a:lnSpc>
                <a:spcPct val="100000"/>
              </a:lnSpc>
              <a:buClr>
                <a:srgbClr val="D1350F"/>
              </a:buClr>
              <a:buFont typeface="Arial MT"/>
              <a:buChar char="•"/>
            </a:pPr>
            <a:endParaRPr sz="2800">
              <a:latin typeface="Calibri"/>
              <a:cs typeface="Calibri"/>
            </a:endParaRPr>
          </a:p>
          <a:p>
            <a:pPr>
              <a:lnSpc>
                <a:spcPct val="100000"/>
              </a:lnSpc>
              <a:spcBef>
                <a:spcPts val="940"/>
              </a:spcBef>
              <a:buClr>
                <a:srgbClr val="D1350F"/>
              </a:buClr>
              <a:buFont typeface="Arial MT"/>
              <a:buChar char="•"/>
            </a:pPr>
            <a:endParaRPr sz="2800">
              <a:latin typeface="Calibri"/>
              <a:cs typeface="Calibri"/>
            </a:endParaRPr>
          </a:p>
          <a:p>
            <a:pPr marL="159385" marR="35560" indent="-147320">
              <a:lnSpc>
                <a:spcPct val="80000"/>
              </a:lnSpc>
              <a:spcBef>
                <a:spcPts val="5"/>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9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DUAL</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crear</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sentencias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SELECT</a:t>
            </a:r>
            <a:r>
              <a:rPr dirty="0" u="heavy" sz="2800" spc="-75">
                <a:solidFill>
                  <a:srgbClr val="4E3629"/>
                </a:solidFill>
                <a:uFill>
                  <a:solidFill>
                    <a:srgbClr val="EC2814"/>
                  </a:solidFill>
                </a:uFill>
                <a:latin typeface="Calibri"/>
                <a:cs typeface="Calibri"/>
              </a:rPr>
              <a:t> </a:t>
            </a:r>
            <a:r>
              <a:rPr dirty="0" u="heavy" sz="2800" spc="-50">
                <a:solidFill>
                  <a:srgbClr val="4E3629"/>
                </a:solidFill>
                <a:uFill>
                  <a:solidFill>
                    <a:srgbClr val="EC2814"/>
                  </a:solidFill>
                </a:uFill>
                <a:latin typeface="Calibri"/>
                <a:cs typeface="Calibri"/>
              </a:rPr>
              <a:t>y</a:t>
            </a:r>
            <a:r>
              <a:rPr dirty="0" sz="2800" spc="-50">
                <a:solidFill>
                  <a:srgbClr val="4E3629"/>
                </a:solidFill>
                <a:latin typeface="Calibri"/>
                <a:cs typeface="Calibri"/>
              </a:rPr>
              <a:t> </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ejecutar</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funciones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estén</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directamente</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relacionadas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base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datos</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concreta</a:t>
            </a:r>
            <a:endParaRPr sz="2800">
              <a:latin typeface="Calibri"/>
              <a:cs typeface="Calibri"/>
            </a:endParaRPr>
          </a:p>
          <a:p>
            <a:pPr marL="182880" marR="5080"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Las</a:t>
            </a:r>
            <a:r>
              <a:rPr dirty="0" sz="2800" spc="-85">
                <a:solidFill>
                  <a:srgbClr val="4E3629"/>
                </a:solidFill>
                <a:latin typeface="Calibri"/>
                <a:cs typeface="Calibri"/>
              </a:rPr>
              <a:t> </a:t>
            </a:r>
            <a:r>
              <a:rPr dirty="0" sz="2800">
                <a:solidFill>
                  <a:srgbClr val="4E3629"/>
                </a:solidFill>
                <a:latin typeface="Calibri"/>
                <a:cs typeface="Calibri"/>
              </a:rPr>
              <a:t>consultas</a:t>
            </a:r>
            <a:r>
              <a:rPr dirty="0" sz="2800" spc="-55">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utilizan</a:t>
            </a:r>
            <a:r>
              <a:rPr dirty="0" sz="2800" spc="-65">
                <a:solidFill>
                  <a:srgbClr val="4E3629"/>
                </a:solidFill>
                <a:latin typeface="Calibri"/>
                <a:cs typeface="Calibri"/>
              </a:rPr>
              <a:t> </a:t>
            </a: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tabla</a:t>
            </a:r>
            <a:r>
              <a:rPr dirty="0" sz="2800" spc="-70">
                <a:solidFill>
                  <a:srgbClr val="4E3629"/>
                </a:solidFill>
                <a:latin typeface="Calibri"/>
                <a:cs typeface="Calibri"/>
              </a:rPr>
              <a:t> </a:t>
            </a:r>
            <a:r>
              <a:rPr dirty="0" sz="2800">
                <a:solidFill>
                  <a:srgbClr val="4E3629"/>
                </a:solidFill>
                <a:latin typeface="Calibri"/>
                <a:cs typeface="Calibri"/>
              </a:rPr>
              <a:t>DUAL</a:t>
            </a:r>
            <a:r>
              <a:rPr dirty="0" sz="2800" spc="-70">
                <a:solidFill>
                  <a:srgbClr val="4E3629"/>
                </a:solidFill>
                <a:latin typeface="Calibri"/>
                <a:cs typeface="Calibri"/>
              </a:rPr>
              <a:t> </a:t>
            </a:r>
            <a:r>
              <a:rPr dirty="0" sz="2800">
                <a:solidFill>
                  <a:srgbClr val="4E3629"/>
                </a:solidFill>
                <a:latin typeface="Calibri"/>
                <a:cs typeface="Calibri"/>
              </a:rPr>
              <a:t>devuelven</a:t>
            </a:r>
            <a:r>
              <a:rPr dirty="0" sz="2800" spc="-65">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fila</a:t>
            </a:r>
            <a:r>
              <a:rPr dirty="0" sz="2800" spc="-70">
                <a:solidFill>
                  <a:srgbClr val="4E3629"/>
                </a:solidFill>
                <a:latin typeface="Calibri"/>
                <a:cs typeface="Calibri"/>
              </a:rPr>
              <a:t> </a:t>
            </a:r>
            <a:r>
              <a:rPr dirty="0" sz="2800">
                <a:solidFill>
                  <a:srgbClr val="4E3629"/>
                </a:solidFill>
                <a:latin typeface="Calibri"/>
                <a:cs typeface="Calibri"/>
              </a:rPr>
              <a:t>como</a:t>
            </a:r>
            <a:r>
              <a:rPr dirty="0" sz="2800" spc="-70">
                <a:solidFill>
                  <a:srgbClr val="4E3629"/>
                </a:solidFill>
                <a:latin typeface="Calibri"/>
                <a:cs typeface="Calibri"/>
              </a:rPr>
              <a:t> </a:t>
            </a:r>
            <a:r>
              <a:rPr dirty="0" sz="2800" spc="-10">
                <a:solidFill>
                  <a:srgbClr val="4E3629"/>
                </a:solidFill>
                <a:latin typeface="Calibri"/>
                <a:cs typeface="Calibri"/>
              </a:rPr>
              <a:t>resultado.</a:t>
            </a:r>
            <a:r>
              <a:rPr dirty="0" sz="2800" spc="-35">
                <a:solidFill>
                  <a:srgbClr val="4E3629"/>
                </a:solidFill>
                <a:latin typeface="Calibri"/>
                <a:cs typeface="Calibri"/>
              </a:rPr>
              <a:t> </a:t>
            </a:r>
            <a:r>
              <a:rPr dirty="0" u="heavy" sz="2800">
                <a:solidFill>
                  <a:srgbClr val="4E3629"/>
                </a:solidFill>
                <a:uFill>
                  <a:solidFill>
                    <a:srgbClr val="EC2814"/>
                  </a:solidFill>
                </a:uFill>
                <a:latin typeface="Calibri"/>
                <a:cs typeface="Calibri"/>
              </a:rPr>
              <a:t>DUAL</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ser</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útil</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realizar</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cálculos</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también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evaluar</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expresiones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6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no</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derivan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3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tabla</a:t>
            </a:r>
            <a:endParaRPr sz="2800">
              <a:latin typeface="Calibri"/>
              <a:cs typeface="Calibri"/>
            </a:endParaRPr>
          </a:p>
        </p:txBody>
      </p:sp>
      <p:graphicFrame>
        <p:nvGraphicFramePr>
          <p:cNvPr id="4" name="object 4" descr=""/>
          <p:cNvGraphicFramePr>
            <a:graphicFrameLocks noGrp="1"/>
          </p:cNvGraphicFramePr>
          <p:nvPr/>
        </p:nvGraphicFramePr>
        <p:xfrm>
          <a:off x="3623884" y="2281087"/>
          <a:ext cx="1697355" cy="731520"/>
        </p:xfrm>
        <a:graphic>
          <a:graphicData uri="http://schemas.openxmlformats.org/drawingml/2006/table">
            <a:tbl>
              <a:tblPr firstRow="1" bandRow="1">
                <a:tableStyleId>{2D5ABB26-0587-4C30-8999-92F81FD0307C}</a:tableStyleId>
              </a:tblPr>
              <a:tblGrid>
                <a:gridCol w="1607820"/>
              </a:tblGrid>
              <a:tr h="365760">
                <a:tc>
                  <a:txBody>
                    <a:bodyPr/>
                    <a:lstStyle/>
                    <a:p>
                      <a:pPr marL="91440">
                        <a:lnSpc>
                          <a:spcPct val="100000"/>
                        </a:lnSpc>
                        <a:spcBef>
                          <a:spcPts val="265"/>
                        </a:spcBef>
                      </a:pPr>
                      <a:r>
                        <a:rPr dirty="0" sz="1800" spc="-10">
                          <a:solidFill>
                            <a:srgbClr val="4E3629"/>
                          </a:solidFill>
                          <a:latin typeface="Calibri"/>
                          <a:cs typeface="Calibri"/>
                        </a:rPr>
                        <a:t>DUMMY</a:t>
                      </a:r>
                      <a:endParaRPr sz="18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65760">
                <a:tc>
                  <a:txBody>
                    <a:bodyPr/>
                    <a:lstStyle/>
                    <a:p>
                      <a:pPr marL="91440">
                        <a:lnSpc>
                          <a:spcPct val="100000"/>
                        </a:lnSpc>
                        <a:spcBef>
                          <a:spcPts val="260"/>
                        </a:spcBef>
                      </a:pPr>
                      <a:r>
                        <a:rPr dirty="0" sz="1800" spc="-50">
                          <a:solidFill>
                            <a:srgbClr val="4E3629"/>
                          </a:solidFill>
                          <a:latin typeface="Calibri"/>
                          <a:cs typeface="Calibri"/>
                        </a:rPr>
                        <a:t>X</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Tabla</a:t>
            </a:r>
            <a:r>
              <a:rPr dirty="0" spc="-145"/>
              <a:t> </a:t>
            </a:r>
            <a:r>
              <a:rPr dirty="0" spc="-20"/>
              <a:t>DUAL</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50"/>
              <a:t>6</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66100" cy="306070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DUAL</a:t>
            </a:r>
            <a:r>
              <a:rPr dirty="0" sz="2800" spc="-65">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spc="-10">
                <a:solidFill>
                  <a:srgbClr val="4E3629"/>
                </a:solidFill>
                <a:latin typeface="Calibri"/>
                <a:cs typeface="Calibri"/>
              </a:rPr>
              <a:t>utilizará</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60">
                <a:solidFill>
                  <a:srgbClr val="4E3629"/>
                </a:solidFill>
                <a:latin typeface="Calibri"/>
                <a:cs typeface="Calibri"/>
              </a:rPr>
              <a:t> </a:t>
            </a:r>
            <a:r>
              <a:rPr dirty="0" sz="2800">
                <a:solidFill>
                  <a:srgbClr val="4E3629"/>
                </a:solidFill>
                <a:latin typeface="Calibri"/>
                <a:cs typeface="Calibri"/>
              </a:rPr>
              <a:t>obtener</a:t>
            </a:r>
            <a:r>
              <a:rPr dirty="0" sz="2800" spc="-70">
                <a:solidFill>
                  <a:srgbClr val="4E3629"/>
                </a:solidFill>
                <a:latin typeface="Calibri"/>
                <a:cs typeface="Calibri"/>
              </a:rPr>
              <a:t> </a:t>
            </a:r>
            <a:r>
              <a:rPr dirty="0" sz="2800">
                <a:solidFill>
                  <a:srgbClr val="4E3629"/>
                </a:solidFill>
                <a:latin typeface="Calibri"/>
                <a:cs typeface="Calibri"/>
              </a:rPr>
              <a:t>muchas</a:t>
            </a:r>
            <a:r>
              <a:rPr dirty="0" sz="2800" spc="-6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las</a:t>
            </a:r>
            <a:r>
              <a:rPr dirty="0" sz="2800" spc="-75">
                <a:solidFill>
                  <a:srgbClr val="4E3629"/>
                </a:solidFill>
                <a:latin typeface="Calibri"/>
                <a:cs typeface="Calibri"/>
              </a:rPr>
              <a:t> </a:t>
            </a:r>
            <a:r>
              <a:rPr dirty="0" sz="2800" spc="-10">
                <a:solidFill>
                  <a:srgbClr val="4E3629"/>
                </a:solidFill>
                <a:latin typeface="Calibri"/>
                <a:cs typeface="Calibri"/>
              </a:rPr>
              <a:t>funciones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sola</a:t>
            </a:r>
            <a:r>
              <a:rPr dirty="0" sz="2800" spc="-35">
                <a:solidFill>
                  <a:srgbClr val="4E3629"/>
                </a:solidFill>
                <a:latin typeface="Calibri"/>
                <a:cs typeface="Calibri"/>
              </a:rPr>
              <a:t> </a:t>
            </a:r>
            <a:r>
              <a:rPr dirty="0" sz="2800" spc="-20">
                <a:solidFill>
                  <a:srgbClr val="4E3629"/>
                </a:solidFill>
                <a:latin typeface="Calibri"/>
                <a:cs typeface="Calibri"/>
              </a:rPr>
              <a:t>fila</a:t>
            </a:r>
            <a:endParaRPr sz="2800">
              <a:latin typeface="Calibri"/>
              <a:cs typeface="Calibri"/>
            </a:endParaRPr>
          </a:p>
          <a:p>
            <a:pPr marL="182880" marR="25400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este</a:t>
            </a:r>
            <a:r>
              <a:rPr dirty="0" sz="2800" spc="-80">
                <a:solidFill>
                  <a:srgbClr val="4E3629"/>
                </a:solidFill>
                <a:latin typeface="Calibri"/>
                <a:cs typeface="Calibri"/>
              </a:rPr>
              <a:t> </a:t>
            </a:r>
            <a:r>
              <a:rPr dirty="0" sz="2800">
                <a:solidFill>
                  <a:srgbClr val="4E3629"/>
                </a:solidFill>
                <a:latin typeface="Calibri"/>
                <a:cs typeface="Calibri"/>
              </a:rPr>
              <a:t>ejemplo,</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tabla</a:t>
            </a:r>
            <a:r>
              <a:rPr dirty="0" sz="2800" spc="-75">
                <a:solidFill>
                  <a:srgbClr val="4E3629"/>
                </a:solidFill>
                <a:latin typeface="Calibri"/>
                <a:cs typeface="Calibri"/>
              </a:rPr>
              <a:t> </a:t>
            </a:r>
            <a:r>
              <a:rPr dirty="0" sz="2800">
                <a:solidFill>
                  <a:srgbClr val="4E3629"/>
                </a:solidFill>
                <a:latin typeface="Calibri"/>
                <a:cs typeface="Calibri"/>
              </a:rPr>
              <a:t>DUAL</a:t>
            </a:r>
            <a:r>
              <a:rPr dirty="0" sz="2800" spc="-65">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a:solidFill>
                  <a:srgbClr val="4E3629"/>
                </a:solidFill>
                <a:latin typeface="Calibri"/>
                <a:cs typeface="Calibri"/>
              </a:rPr>
              <a:t>utiliza</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60">
                <a:solidFill>
                  <a:srgbClr val="4E3629"/>
                </a:solidFill>
                <a:latin typeface="Calibri"/>
                <a:cs typeface="Calibri"/>
              </a:rPr>
              <a:t> </a:t>
            </a:r>
            <a:r>
              <a:rPr dirty="0" sz="2800" spc="-10">
                <a:solidFill>
                  <a:srgbClr val="4E3629"/>
                </a:solidFill>
                <a:latin typeface="Calibri"/>
                <a:cs typeface="Calibri"/>
              </a:rPr>
              <a:t>ejecutar </a:t>
            </a:r>
            <a:r>
              <a:rPr dirty="0" sz="2800" spc="-10">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sentencia</a:t>
            </a:r>
            <a:r>
              <a:rPr dirty="0" sz="2800" spc="-60">
                <a:solidFill>
                  <a:srgbClr val="4E3629"/>
                </a:solidFill>
                <a:latin typeface="Calibri"/>
                <a:cs typeface="Calibri"/>
              </a:rPr>
              <a:t> </a:t>
            </a:r>
            <a:r>
              <a:rPr dirty="0" sz="2800">
                <a:solidFill>
                  <a:srgbClr val="4E3629"/>
                </a:solidFill>
                <a:latin typeface="Calibri"/>
                <a:cs typeface="Calibri"/>
              </a:rPr>
              <a:t>SELECT</a:t>
            </a:r>
            <a:r>
              <a:rPr dirty="0" sz="2800" spc="-70">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spc="-10">
                <a:solidFill>
                  <a:srgbClr val="4E3629"/>
                </a:solidFill>
                <a:latin typeface="Calibri"/>
                <a:cs typeface="Calibri"/>
              </a:rPr>
              <a:t>contenga</a:t>
            </a:r>
            <a:r>
              <a:rPr dirty="0" sz="2800" spc="-70">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cálculo</a:t>
            </a:r>
            <a:endParaRPr sz="2800">
              <a:latin typeface="Calibri"/>
              <a:cs typeface="Calibri"/>
            </a:endParaRPr>
          </a:p>
          <a:p>
            <a:pPr marL="182880" marR="508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Como</a:t>
            </a:r>
            <a:r>
              <a:rPr dirty="0" sz="2800" spc="-75">
                <a:solidFill>
                  <a:srgbClr val="4E3629"/>
                </a:solidFill>
                <a:latin typeface="Calibri"/>
                <a:cs typeface="Calibri"/>
              </a:rPr>
              <a:t> </a:t>
            </a:r>
            <a:r>
              <a:rPr dirty="0" sz="2800">
                <a:solidFill>
                  <a:srgbClr val="4E3629"/>
                </a:solidFill>
                <a:latin typeface="Calibri"/>
                <a:cs typeface="Calibri"/>
              </a:rPr>
              <a:t>puede</a:t>
            </a:r>
            <a:r>
              <a:rPr dirty="0" sz="2800" spc="-35">
                <a:solidFill>
                  <a:srgbClr val="4E3629"/>
                </a:solidFill>
                <a:latin typeface="Calibri"/>
                <a:cs typeface="Calibri"/>
              </a:rPr>
              <a:t> </a:t>
            </a:r>
            <a:r>
              <a:rPr dirty="0" sz="2800" spc="-50">
                <a:solidFill>
                  <a:srgbClr val="4E3629"/>
                </a:solidFill>
                <a:latin typeface="Calibri"/>
                <a:cs typeface="Calibri"/>
              </a:rPr>
              <a:t>ver,</a:t>
            </a:r>
            <a:r>
              <a:rPr dirty="0" sz="2800" spc="-7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sentencia</a:t>
            </a:r>
            <a:r>
              <a:rPr dirty="0" sz="2800" spc="-50">
                <a:solidFill>
                  <a:srgbClr val="4E3629"/>
                </a:solidFill>
                <a:latin typeface="Calibri"/>
                <a:cs typeface="Calibri"/>
              </a:rPr>
              <a:t> </a:t>
            </a:r>
            <a:r>
              <a:rPr dirty="0" sz="2800">
                <a:solidFill>
                  <a:srgbClr val="4E3629"/>
                </a:solidFill>
                <a:latin typeface="Calibri"/>
                <a:cs typeface="Calibri"/>
              </a:rPr>
              <a:t>SELECT</a:t>
            </a:r>
            <a:r>
              <a:rPr dirty="0" sz="2800" spc="-70">
                <a:solidFill>
                  <a:srgbClr val="4E3629"/>
                </a:solidFill>
                <a:latin typeface="Calibri"/>
                <a:cs typeface="Calibri"/>
              </a:rPr>
              <a:t> </a:t>
            </a:r>
            <a:r>
              <a:rPr dirty="0" sz="2800">
                <a:solidFill>
                  <a:srgbClr val="4E3629"/>
                </a:solidFill>
                <a:latin typeface="Calibri"/>
                <a:cs typeface="Calibri"/>
              </a:rPr>
              <a:t>devuelve</a:t>
            </a:r>
            <a:r>
              <a:rPr dirty="0" sz="2800" spc="-5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valor </a:t>
            </a:r>
            <a:r>
              <a:rPr dirty="0" sz="2800" spc="-10">
                <a:solidFill>
                  <a:srgbClr val="4E3629"/>
                </a:solidFill>
                <a:latin typeface="Calibri"/>
                <a:cs typeface="Calibri"/>
              </a:rPr>
              <a:t>	</a:t>
            </a:r>
            <a:r>
              <a:rPr dirty="0" sz="2800">
                <a:solidFill>
                  <a:srgbClr val="4E3629"/>
                </a:solidFill>
                <a:latin typeface="Calibri"/>
                <a:cs typeface="Calibri"/>
              </a:rPr>
              <a:t>que</a:t>
            </a:r>
            <a:r>
              <a:rPr dirty="0" sz="2800" spc="-30">
                <a:solidFill>
                  <a:srgbClr val="4E3629"/>
                </a:solidFill>
                <a:latin typeface="Calibri"/>
                <a:cs typeface="Calibri"/>
              </a:rPr>
              <a:t> </a:t>
            </a:r>
            <a:r>
              <a:rPr dirty="0" sz="2800">
                <a:solidFill>
                  <a:srgbClr val="4E3629"/>
                </a:solidFill>
                <a:latin typeface="Calibri"/>
                <a:cs typeface="Calibri"/>
              </a:rPr>
              <a:t>no</a:t>
            </a:r>
            <a:r>
              <a:rPr dirty="0" sz="2800" spc="-35">
                <a:solidFill>
                  <a:srgbClr val="4E3629"/>
                </a:solidFill>
                <a:latin typeface="Calibri"/>
                <a:cs typeface="Calibri"/>
              </a:rPr>
              <a:t> </a:t>
            </a:r>
            <a:r>
              <a:rPr dirty="0" sz="2800" spc="-10">
                <a:solidFill>
                  <a:srgbClr val="4E3629"/>
                </a:solidFill>
                <a:latin typeface="Calibri"/>
                <a:cs typeface="Calibri"/>
              </a:rPr>
              <a:t>existe</a:t>
            </a:r>
            <a:r>
              <a:rPr dirty="0" sz="2800" spc="-5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tabla</a:t>
            </a:r>
            <a:r>
              <a:rPr dirty="0" sz="2800" spc="-45">
                <a:solidFill>
                  <a:srgbClr val="4E3629"/>
                </a:solidFill>
                <a:latin typeface="Calibri"/>
                <a:cs typeface="Calibri"/>
              </a:rPr>
              <a:t> </a:t>
            </a:r>
            <a:r>
              <a:rPr dirty="0" sz="2800" spc="-20">
                <a:solidFill>
                  <a:srgbClr val="4E3629"/>
                </a:solidFill>
                <a:latin typeface="Calibri"/>
                <a:cs typeface="Calibri"/>
              </a:rPr>
              <a:t>DUAL</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Lst>
            </a:pP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devuelto</a:t>
            </a:r>
            <a:r>
              <a:rPr dirty="0" sz="2800" spc="-30">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spc="-10">
                <a:solidFill>
                  <a:srgbClr val="4E3629"/>
                </a:solidFill>
                <a:latin typeface="Calibri"/>
                <a:cs typeface="Calibri"/>
              </a:rPr>
              <a:t>resultado</a:t>
            </a:r>
            <a:r>
              <a:rPr dirty="0" sz="2800" spc="-35">
                <a:solidFill>
                  <a:srgbClr val="4E3629"/>
                </a:solidFill>
                <a:latin typeface="Calibri"/>
                <a:cs typeface="Calibri"/>
              </a:rPr>
              <a:t> </a:t>
            </a:r>
            <a:r>
              <a:rPr dirty="0" sz="2800">
                <a:solidFill>
                  <a:srgbClr val="4E3629"/>
                </a:solidFill>
                <a:latin typeface="Calibri"/>
                <a:cs typeface="Calibri"/>
              </a:rPr>
              <a:t>del</a:t>
            </a:r>
            <a:r>
              <a:rPr dirty="0" sz="2800" spc="-45">
                <a:solidFill>
                  <a:srgbClr val="4E3629"/>
                </a:solidFill>
                <a:latin typeface="Calibri"/>
                <a:cs typeface="Calibri"/>
              </a:rPr>
              <a:t> </a:t>
            </a:r>
            <a:r>
              <a:rPr dirty="0" sz="2800">
                <a:solidFill>
                  <a:srgbClr val="4E3629"/>
                </a:solidFill>
                <a:latin typeface="Calibri"/>
                <a:cs typeface="Calibri"/>
              </a:rPr>
              <a:t>cálculo</a:t>
            </a:r>
            <a:r>
              <a:rPr dirty="0" sz="2800" spc="-45">
                <a:solidFill>
                  <a:srgbClr val="4E3629"/>
                </a:solidFill>
                <a:latin typeface="Calibri"/>
                <a:cs typeface="Calibri"/>
              </a:rPr>
              <a:t> </a:t>
            </a:r>
            <a:r>
              <a:rPr dirty="0" sz="2800" spc="-10">
                <a:solidFill>
                  <a:srgbClr val="4E3629"/>
                </a:solidFill>
                <a:latin typeface="Calibri"/>
                <a:cs typeface="Calibri"/>
              </a:rPr>
              <a:t>ejecutado</a:t>
            </a:r>
            <a:endParaRPr sz="2800">
              <a:latin typeface="Calibri"/>
              <a:cs typeface="Calibri"/>
            </a:endParaRPr>
          </a:p>
        </p:txBody>
      </p:sp>
      <p:sp>
        <p:nvSpPr>
          <p:cNvPr id="4" name="object 4" descr=""/>
          <p:cNvSpPr txBox="1"/>
          <p:nvPr/>
        </p:nvSpPr>
        <p:spPr>
          <a:xfrm>
            <a:off x="405384" y="4853940"/>
            <a:ext cx="3857625" cy="858519"/>
          </a:xfrm>
          <a:prstGeom prst="rect">
            <a:avLst/>
          </a:prstGeom>
          <a:solidFill>
            <a:srgbClr val="9DBEC4">
              <a:alpha val="50199"/>
            </a:srgbClr>
          </a:solidFill>
        </p:spPr>
        <p:txBody>
          <a:bodyPr wrap="square" lIns="0" tIns="126364" rIns="0" bIns="0" rtlCol="0" vert="horz">
            <a:spAutoFit/>
          </a:bodyPr>
          <a:lstStyle/>
          <a:p>
            <a:pPr marR="1118870">
              <a:lnSpc>
                <a:spcPct val="100000"/>
              </a:lnSpc>
              <a:spcBef>
                <a:spcPts val="994"/>
              </a:spcBef>
            </a:pPr>
            <a:r>
              <a:rPr dirty="0" sz="1800" b="1">
                <a:solidFill>
                  <a:srgbClr val="4E3629"/>
                </a:solidFill>
                <a:latin typeface="Courier New"/>
                <a:cs typeface="Courier New"/>
              </a:rPr>
              <a:t>SELECT</a:t>
            </a:r>
            <a:r>
              <a:rPr dirty="0" sz="1800" spc="-60" b="1">
                <a:solidFill>
                  <a:srgbClr val="4E3629"/>
                </a:solidFill>
                <a:latin typeface="Courier New"/>
                <a:cs typeface="Courier New"/>
              </a:rPr>
              <a:t> </a:t>
            </a:r>
            <a:r>
              <a:rPr dirty="0" sz="1800" b="1">
                <a:solidFill>
                  <a:srgbClr val="4E3629"/>
                </a:solidFill>
                <a:latin typeface="Courier New"/>
                <a:cs typeface="Courier New"/>
              </a:rPr>
              <a:t>(319/29)</a:t>
            </a:r>
            <a:r>
              <a:rPr dirty="0" sz="1800" spc="-50" b="1">
                <a:solidFill>
                  <a:srgbClr val="4E3629"/>
                </a:solidFill>
                <a:latin typeface="Courier New"/>
                <a:cs typeface="Courier New"/>
              </a:rPr>
              <a:t> </a:t>
            </a:r>
            <a:r>
              <a:rPr dirty="0" sz="1800" b="1">
                <a:solidFill>
                  <a:srgbClr val="4E3629"/>
                </a:solidFill>
                <a:latin typeface="Courier New"/>
                <a:cs typeface="Courier New"/>
              </a:rPr>
              <a:t>+</a:t>
            </a:r>
            <a:r>
              <a:rPr dirty="0" sz="1800" spc="-45" b="1">
                <a:solidFill>
                  <a:srgbClr val="4E3629"/>
                </a:solidFill>
                <a:latin typeface="Courier New"/>
                <a:cs typeface="Courier New"/>
              </a:rPr>
              <a:t> </a:t>
            </a:r>
            <a:r>
              <a:rPr dirty="0" sz="1800" spc="-25" b="1">
                <a:solidFill>
                  <a:srgbClr val="4E3629"/>
                </a:solidFill>
                <a:latin typeface="Courier New"/>
                <a:cs typeface="Courier New"/>
              </a:rPr>
              <a:t>12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DUAL;</a:t>
            </a:r>
            <a:endParaRPr sz="1800">
              <a:latin typeface="Courier New"/>
              <a:cs typeface="Courier New"/>
            </a:endParaRPr>
          </a:p>
        </p:txBody>
      </p:sp>
      <p:graphicFrame>
        <p:nvGraphicFramePr>
          <p:cNvPr id="5" name="object 5" descr=""/>
          <p:cNvGraphicFramePr>
            <a:graphicFrameLocks noGrp="1"/>
          </p:cNvGraphicFramePr>
          <p:nvPr/>
        </p:nvGraphicFramePr>
        <p:xfrm>
          <a:off x="6896607" y="4847238"/>
          <a:ext cx="1936750" cy="793750"/>
        </p:xfrm>
        <a:graphic>
          <a:graphicData uri="http://schemas.openxmlformats.org/drawingml/2006/table">
            <a:tbl>
              <a:tblPr firstRow="1" bandRow="1">
                <a:tableStyleId>{2D5ABB26-0587-4C30-8999-92F81FD0307C}</a:tableStyleId>
              </a:tblPr>
              <a:tblGrid>
                <a:gridCol w="1847850"/>
              </a:tblGrid>
              <a:tr h="396875">
                <a:tc>
                  <a:txBody>
                    <a:bodyPr/>
                    <a:lstStyle/>
                    <a:p>
                      <a:pPr marL="91440">
                        <a:lnSpc>
                          <a:spcPct val="100000"/>
                        </a:lnSpc>
                        <a:spcBef>
                          <a:spcPts val="265"/>
                        </a:spcBef>
                      </a:pPr>
                      <a:r>
                        <a:rPr dirty="0" sz="1800" spc="-10">
                          <a:solidFill>
                            <a:srgbClr val="4E3629"/>
                          </a:solidFill>
                          <a:latin typeface="Calibri"/>
                          <a:cs typeface="Calibri"/>
                        </a:rPr>
                        <a:t>(319/29)+12</a:t>
                      </a:r>
                      <a:endParaRPr sz="18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96875">
                <a:tc>
                  <a:txBody>
                    <a:bodyPr/>
                    <a:lstStyle/>
                    <a:p>
                      <a:pPr marL="91440">
                        <a:lnSpc>
                          <a:spcPct val="100000"/>
                        </a:lnSpc>
                        <a:spcBef>
                          <a:spcPts val="260"/>
                        </a:spcBef>
                      </a:pPr>
                      <a:r>
                        <a:rPr dirty="0" sz="1800" spc="-25">
                          <a:solidFill>
                            <a:srgbClr val="4E3629"/>
                          </a:solidFill>
                          <a:latin typeface="Calibri"/>
                          <a:cs typeface="Calibri"/>
                        </a:rPr>
                        <a:t>23</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6953250" cy="528320"/>
          </a:xfrm>
          <a:prstGeom prst="rect"/>
        </p:spPr>
        <p:txBody>
          <a:bodyPr wrap="square" lIns="0" tIns="12700" rIns="0" bIns="0" rtlCol="0" vert="horz">
            <a:spAutoFit/>
          </a:bodyPr>
          <a:lstStyle/>
          <a:p>
            <a:pPr marL="12700">
              <a:lnSpc>
                <a:spcPct val="100000"/>
              </a:lnSpc>
              <a:spcBef>
                <a:spcPts val="100"/>
              </a:spcBef>
            </a:pPr>
            <a:r>
              <a:rPr dirty="0"/>
              <a:t>Funciones</a:t>
            </a:r>
            <a:r>
              <a:rPr dirty="0" spc="-25"/>
              <a:t> </a:t>
            </a:r>
            <a:r>
              <a:rPr dirty="0"/>
              <a:t>de</a:t>
            </a:r>
            <a:r>
              <a:rPr dirty="0" spc="-60"/>
              <a:t> </a:t>
            </a:r>
            <a:r>
              <a:rPr dirty="0" spc="-10"/>
              <a:t>Caracteres</a:t>
            </a:r>
            <a:r>
              <a:rPr dirty="0" spc="-75"/>
              <a:t> </a:t>
            </a:r>
            <a:r>
              <a:rPr dirty="0"/>
              <a:t>de</a:t>
            </a:r>
            <a:r>
              <a:rPr dirty="0" spc="-45"/>
              <a:t> </a:t>
            </a:r>
            <a:r>
              <a:rPr dirty="0"/>
              <a:t>Una</a:t>
            </a:r>
            <a:r>
              <a:rPr dirty="0" spc="-45"/>
              <a:t> </a:t>
            </a:r>
            <a:r>
              <a:rPr dirty="0"/>
              <a:t>Sola</a:t>
            </a:r>
            <a:r>
              <a:rPr dirty="0" spc="-60"/>
              <a:t> </a:t>
            </a:r>
            <a:r>
              <a:rPr dirty="0" spc="-20"/>
              <a:t>Fila</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50"/>
              <a:t>7</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941309" cy="3124835"/>
          </a:xfrm>
          <a:prstGeom prst="rect">
            <a:avLst/>
          </a:prstGeom>
        </p:spPr>
        <p:txBody>
          <a:bodyPr wrap="square" lIns="0" tIns="59690" rIns="0" bIns="0" rtlCol="0" vert="horz">
            <a:spAutoFit/>
          </a:bodyPr>
          <a:lstStyle/>
          <a:p>
            <a:pPr marL="182880" marR="1397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45">
                <a:solidFill>
                  <a:srgbClr val="4E3629"/>
                </a:solidFill>
                <a:latin typeface="Calibri"/>
                <a:cs typeface="Calibri"/>
              </a:rPr>
              <a:t> </a:t>
            </a:r>
            <a:r>
              <a:rPr dirty="0" sz="2800">
                <a:solidFill>
                  <a:srgbClr val="4E3629"/>
                </a:solidFill>
                <a:latin typeface="Calibri"/>
                <a:cs typeface="Calibri"/>
              </a:rPr>
              <a:t>funciones</a:t>
            </a:r>
            <a:r>
              <a:rPr dirty="0" sz="2800" spc="-10">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spc="-10">
                <a:solidFill>
                  <a:srgbClr val="4E3629"/>
                </a:solidFill>
                <a:latin typeface="Calibri"/>
                <a:cs typeface="Calibri"/>
              </a:rPr>
              <a:t>caracteres</a:t>
            </a:r>
            <a:r>
              <a:rPr dirty="0" sz="2800" spc="-5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sola</a:t>
            </a:r>
            <a:r>
              <a:rPr dirty="0" sz="2800" spc="-35">
                <a:solidFill>
                  <a:srgbClr val="4E3629"/>
                </a:solidFill>
                <a:latin typeface="Calibri"/>
                <a:cs typeface="Calibri"/>
              </a:rPr>
              <a:t> </a:t>
            </a:r>
            <a:r>
              <a:rPr dirty="0" sz="2800">
                <a:solidFill>
                  <a:srgbClr val="4E3629"/>
                </a:solidFill>
                <a:latin typeface="Calibri"/>
                <a:cs typeface="Calibri"/>
              </a:rPr>
              <a:t>fila</a:t>
            </a:r>
            <a:r>
              <a:rPr dirty="0" sz="2800" spc="-35">
                <a:solidFill>
                  <a:srgbClr val="4E3629"/>
                </a:solidFill>
                <a:latin typeface="Calibri"/>
                <a:cs typeface="Calibri"/>
              </a:rPr>
              <a:t> </a:t>
            </a:r>
            <a:r>
              <a:rPr dirty="0" sz="2800">
                <a:solidFill>
                  <a:srgbClr val="4E3629"/>
                </a:solidFill>
                <a:latin typeface="Calibri"/>
                <a:cs typeface="Calibri"/>
              </a:rPr>
              <a:t>se</a:t>
            </a:r>
            <a:r>
              <a:rPr dirty="0" sz="2800" spc="-35">
                <a:solidFill>
                  <a:srgbClr val="4E3629"/>
                </a:solidFill>
                <a:latin typeface="Calibri"/>
                <a:cs typeface="Calibri"/>
              </a:rPr>
              <a:t> </a:t>
            </a:r>
            <a:r>
              <a:rPr dirty="0" sz="2800" spc="-10">
                <a:solidFill>
                  <a:srgbClr val="4E3629"/>
                </a:solidFill>
                <a:latin typeface="Calibri"/>
                <a:cs typeface="Calibri"/>
              </a:rPr>
              <a:t>dividen </a:t>
            </a:r>
            <a:r>
              <a:rPr dirty="0" sz="2800" spc="-10">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a:solidFill>
                  <a:srgbClr val="4E3629"/>
                </a:solidFill>
                <a:latin typeface="Calibri"/>
                <a:cs typeface="Calibri"/>
              </a:rPr>
              <a:t>dos</a:t>
            </a:r>
            <a:r>
              <a:rPr dirty="0" sz="2800" spc="-30">
                <a:solidFill>
                  <a:srgbClr val="4E3629"/>
                </a:solidFill>
                <a:latin typeface="Calibri"/>
                <a:cs typeface="Calibri"/>
              </a:rPr>
              <a:t> </a:t>
            </a:r>
            <a:r>
              <a:rPr dirty="0" sz="2800" spc="-10">
                <a:solidFill>
                  <a:srgbClr val="4E3629"/>
                </a:solidFill>
                <a:latin typeface="Calibri"/>
                <a:cs typeface="Calibri"/>
              </a:rPr>
              <a:t>categorías:</a:t>
            </a:r>
            <a:endParaRPr sz="2800">
              <a:latin typeface="Calibri"/>
              <a:cs typeface="Calibri"/>
            </a:endParaRPr>
          </a:p>
          <a:p>
            <a:pPr marL="530860" marR="45720" indent="-175260">
              <a:lnSpc>
                <a:spcPts val="2590"/>
              </a:lnSpc>
              <a:spcBef>
                <a:spcPts val="425"/>
              </a:spcBef>
            </a:pPr>
            <a:r>
              <a:rPr dirty="0" sz="2400">
                <a:solidFill>
                  <a:srgbClr val="D1350F"/>
                </a:solidFill>
                <a:latin typeface="Calibri"/>
                <a:cs typeface="Calibri"/>
              </a:rPr>
              <a:t>−</a:t>
            </a:r>
            <a:r>
              <a:rPr dirty="0" sz="2400">
                <a:solidFill>
                  <a:srgbClr val="4E3629"/>
                </a:solidFill>
                <a:latin typeface="Calibri"/>
                <a:cs typeface="Calibri"/>
              </a:rPr>
              <a:t>Funciones</a:t>
            </a:r>
            <a:r>
              <a:rPr dirty="0" sz="2400" spc="-20">
                <a:solidFill>
                  <a:srgbClr val="4E3629"/>
                </a:solidFill>
                <a:latin typeface="Calibri"/>
                <a:cs typeface="Calibri"/>
              </a:rPr>
              <a:t> </a:t>
            </a:r>
            <a:r>
              <a:rPr dirty="0" sz="2400">
                <a:solidFill>
                  <a:srgbClr val="4E3629"/>
                </a:solidFill>
                <a:latin typeface="Calibri"/>
                <a:cs typeface="Calibri"/>
              </a:rPr>
              <a:t>que</a:t>
            </a:r>
            <a:r>
              <a:rPr dirty="0" sz="2400" spc="-5">
                <a:solidFill>
                  <a:srgbClr val="4E3629"/>
                </a:solidFill>
                <a:latin typeface="Calibri"/>
                <a:cs typeface="Calibri"/>
              </a:rPr>
              <a:t> </a:t>
            </a:r>
            <a:r>
              <a:rPr dirty="0" sz="2400" spc="-10">
                <a:solidFill>
                  <a:srgbClr val="4E3629"/>
                </a:solidFill>
                <a:latin typeface="Calibri"/>
                <a:cs typeface="Calibri"/>
              </a:rPr>
              <a:t>convierten</a:t>
            </a:r>
            <a:r>
              <a:rPr dirty="0" sz="2400" spc="-25">
                <a:solidFill>
                  <a:srgbClr val="4E3629"/>
                </a:solidFill>
                <a:latin typeface="Calibri"/>
                <a:cs typeface="Calibri"/>
              </a:rPr>
              <a:t> </a:t>
            </a:r>
            <a:r>
              <a:rPr dirty="0" sz="2400">
                <a:solidFill>
                  <a:srgbClr val="4E3629"/>
                </a:solidFill>
                <a:latin typeface="Calibri"/>
                <a:cs typeface="Calibri"/>
              </a:rPr>
              <a:t>las</a:t>
            </a:r>
            <a:r>
              <a:rPr dirty="0" sz="2400" spc="-15">
                <a:solidFill>
                  <a:srgbClr val="4E3629"/>
                </a:solidFill>
                <a:latin typeface="Calibri"/>
                <a:cs typeface="Calibri"/>
              </a:rPr>
              <a:t> </a:t>
            </a:r>
            <a:r>
              <a:rPr dirty="0" sz="2400" spc="-10">
                <a:solidFill>
                  <a:srgbClr val="4E3629"/>
                </a:solidFill>
                <a:latin typeface="Calibri"/>
                <a:cs typeface="Calibri"/>
              </a:rPr>
              <a:t>mayúsculas/minúsculas</a:t>
            </a:r>
            <a:r>
              <a:rPr dirty="0" sz="2400" spc="-40">
                <a:solidFill>
                  <a:srgbClr val="4E3629"/>
                </a:solidFill>
                <a:latin typeface="Calibri"/>
                <a:cs typeface="Calibri"/>
              </a:rPr>
              <a:t> </a:t>
            </a:r>
            <a:r>
              <a:rPr dirty="0" sz="2400">
                <a:solidFill>
                  <a:srgbClr val="4E3629"/>
                </a:solidFill>
                <a:latin typeface="Calibri"/>
                <a:cs typeface="Calibri"/>
              </a:rPr>
              <a:t>de</a:t>
            </a:r>
            <a:r>
              <a:rPr dirty="0" sz="2400" spc="-5">
                <a:solidFill>
                  <a:srgbClr val="4E3629"/>
                </a:solidFill>
                <a:latin typeface="Calibri"/>
                <a:cs typeface="Calibri"/>
              </a:rPr>
              <a:t> </a:t>
            </a:r>
            <a:r>
              <a:rPr dirty="0" sz="2400" spc="-25">
                <a:solidFill>
                  <a:srgbClr val="4E3629"/>
                </a:solidFill>
                <a:latin typeface="Calibri"/>
                <a:cs typeface="Calibri"/>
              </a:rPr>
              <a:t>las </a:t>
            </a:r>
            <a:r>
              <a:rPr dirty="0" sz="2400">
                <a:solidFill>
                  <a:srgbClr val="4E3629"/>
                </a:solidFill>
                <a:latin typeface="Calibri"/>
                <a:cs typeface="Calibri"/>
              </a:rPr>
              <a:t>cadenas</a:t>
            </a:r>
            <a:r>
              <a:rPr dirty="0" sz="2400" spc="-60">
                <a:solidFill>
                  <a:srgbClr val="4E3629"/>
                </a:solidFill>
                <a:latin typeface="Calibri"/>
                <a:cs typeface="Calibri"/>
              </a:rPr>
              <a:t> </a:t>
            </a:r>
            <a:r>
              <a:rPr dirty="0" sz="2400">
                <a:solidFill>
                  <a:srgbClr val="4E3629"/>
                </a:solidFill>
                <a:latin typeface="Calibri"/>
                <a:cs typeface="Calibri"/>
              </a:rPr>
              <a:t>de</a:t>
            </a:r>
            <a:r>
              <a:rPr dirty="0" sz="2400" spc="-50">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530860" marR="711200"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Funciones</a:t>
            </a:r>
            <a:r>
              <a:rPr dirty="0" sz="2400" spc="-45">
                <a:solidFill>
                  <a:srgbClr val="4E3629"/>
                </a:solidFill>
                <a:latin typeface="Calibri"/>
                <a:cs typeface="Calibri"/>
              </a:rPr>
              <a:t> </a:t>
            </a:r>
            <a:r>
              <a:rPr dirty="0" sz="2400">
                <a:solidFill>
                  <a:srgbClr val="4E3629"/>
                </a:solidFill>
                <a:latin typeface="Calibri"/>
                <a:cs typeface="Calibri"/>
              </a:rPr>
              <a:t>que</a:t>
            </a:r>
            <a:r>
              <a:rPr dirty="0" sz="2400" spc="-30">
                <a:solidFill>
                  <a:srgbClr val="4E3629"/>
                </a:solidFill>
                <a:latin typeface="Calibri"/>
                <a:cs typeface="Calibri"/>
              </a:rPr>
              <a:t> </a:t>
            </a:r>
            <a:r>
              <a:rPr dirty="0" sz="2400">
                <a:solidFill>
                  <a:srgbClr val="4E3629"/>
                </a:solidFill>
                <a:latin typeface="Calibri"/>
                <a:cs typeface="Calibri"/>
              </a:rPr>
              <a:t>puede</a:t>
            </a:r>
            <a:r>
              <a:rPr dirty="0" sz="2400" spc="-30">
                <a:solidFill>
                  <a:srgbClr val="4E3629"/>
                </a:solidFill>
                <a:latin typeface="Calibri"/>
                <a:cs typeface="Calibri"/>
              </a:rPr>
              <a:t> </a:t>
            </a:r>
            <a:r>
              <a:rPr dirty="0" sz="2400" spc="-35">
                <a:solidFill>
                  <a:srgbClr val="4E3629"/>
                </a:solidFill>
                <a:latin typeface="Calibri"/>
                <a:cs typeface="Calibri"/>
              </a:rPr>
              <a:t>unir, extraer,</a:t>
            </a:r>
            <a:r>
              <a:rPr dirty="0" sz="2400" spc="-70">
                <a:solidFill>
                  <a:srgbClr val="4E3629"/>
                </a:solidFill>
                <a:latin typeface="Calibri"/>
                <a:cs typeface="Calibri"/>
              </a:rPr>
              <a:t> </a:t>
            </a:r>
            <a:r>
              <a:rPr dirty="0" sz="2400" spc="-30">
                <a:solidFill>
                  <a:srgbClr val="4E3629"/>
                </a:solidFill>
                <a:latin typeface="Calibri"/>
                <a:cs typeface="Calibri"/>
              </a:rPr>
              <a:t>mostrar,</a:t>
            </a:r>
            <a:r>
              <a:rPr dirty="0" sz="2400" spc="-45">
                <a:solidFill>
                  <a:srgbClr val="4E3629"/>
                </a:solidFill>
                <a:latin typeface="Calibri"/>
                <a:cs typeface="Calibri"/>
              </a:rPr>
              <a:t> </a:t>
            </a:r>
            <a:r>
              <a:rPr dirty="0" sz="2400" spc="-10">
                <a:solidFill>
                  <a:srgbClr val="4E3629"/>
                </a:solidFill>
                <a:latin typeface="Calibri"/>
                <a:cs typeface="Calibri"/>
              </a:rPr>
              <a:t>encontrar, </a:t>
            </a:r>
            <a:r>
              <a:rPr dirty="0" sz="2400">
                <a:solidFill>
                  <a:srgbClr val="4E3629"/>
                </a:solidFill>
                <a:latin typeface="Calibri"/>
                <a:cs typeface="Calibri"/>
              </a:rPr>
              <a:t>rellenar</a:t>
            </a:r>
            <a:r>
              <a:rPr dirty="0" sz="2400" spc="-70">
                <a:solidFill>
                  <a:srgbClr val="4E3629"/>
                </a:solidFill>
                <a:latin typeface="Calibri"/>
                <a:cs typeface="Calibri"/>
              </a:rPr>
              <a:t> </a:t>
            </a:r>
            <a:r>
              <a:rPr dirty="0" sz="2400">
                <a:solidFill>
                  <a:srgbClr val="4E3629"/>
                </a:solidFill>
                <a:latin typeface="Calibri"/>
                <a:cs typeface="Calibri"/>
              </a:rPr>
              <a:t>y</a:t>
            </a:r>
            <a:r>
              <a:rPr dirty="0" sz="2400" spc="-50">
                <a:solidFill>
                  <a:srgbClr val="4E3629"/>
                </a:solidFill>
                <a:latin typeface="Calibri"/>
                <a:cs typeface="Calibri"/>
              </a:rPr>
              <a:t> </a:t>
            </a:r>
            <a:r>
              <a:rPr dirty="0" sz="2400" spc="-10">
                <a:solidFill>
                  <a:srgbClr val="4E3629"/>
                </a:solidFill>
                <a:latin typeface="Calibri"/>
                <a:cs typeface="Calibri"/>
              </a:rPr>
              <a:t>recortar</a:t>
            </a:r>
            <a:r>
              <a:rPr dirty="0" sz="2400" spc="-75">
                <a:solidFill>
                  <a:srgbClr val="4E3629"/>
                </a:solidFill>
                <a:latin typeface="Calibri"/>
                <a:cs typeface="Calibri"/>
              </a:rPr>
              <a:t> </a:t>
            </a:r>
            <a:r>
              <a:rPr dirty="0" sz="2400">
                <a:solidFill>
                  <a:srgbClr val="4E3629"/>
                </a:solidFill>
                <a:latin typeface="Calibri"/>
                <a:cs typeface="Calibri"/>
              </a:rPr>
              <a:t>cadenas</a:t>
            </a:r>
            <a:r>
              <a:rPr dirty="0" sz="2400" spc="-60">
                <a:solidFill>
                  <a:srgbClr val="4E3629"/>
                </a:solidFill>
                <a:latin typeface="Calibri"/>
                <a:cs typeface="Calibri"/>
              </a:rPr>
              <a:t> </a:t>
            </a:r>
            <a:r>
              <a:rPr dirty="0" sz="2400">
                <a:solidFill>
                  <a:srgbClr val="4E3629"/>
                </a:solidFill>
                <a:latin typeface="Calibri"/>
                <a:cs typeface="Calibri"/>
              </a:rPr>
              <a:t>de</a:t>
            </a:r>
            <a:r>
              <a:rPr dirty="0" sz="2400" spc="-50">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159385" marR="5080" indent="-147320">
              <a:lnSpc>
                <a:spcPts val="3030"/>
              </a:lnSpc>
              <a:spcBef>
                <a:spcPts val="78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funciones</a:t>
            </a:r>
            <a:r>
              <a:rPr dirty="0" u="heavy" sz="2800" spc="-1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sola</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pueden</a:t>
            </a:r>
            <a:r>
              <a:rPr dirty="0" u="heavy" sz="2800" spc="-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utilizar</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las</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cláusulas</a:t>
            </a:r>
            <a:r>
              <a:rPr dirty="0" u="heavy" sz="2800" spc="-40">
                <a:solidFill>
                  <a:srgbClr val="4E3629"/>
                </a:solidFill>
                <a:uFill>
                  <a:solidFill>
                    <a:srgbClr val="EC2814"/>
                  </a:solidFill>
                </a:uFill>
                <a:latin typeface="Calibri"/>
                <a:cs typeface="Calibri"/>
              </a:rPr>
              <a:t> </a:t>
            </a:r>
            <a:r>
              <a:rPr dirty="0" u="heavy" sz="2800" spc="-35">
                <a:solidFill>
                  <a:srgbClr val="4E3629"/>
                </a:solidFill>
                <a:uFill>
                  <a:solidFill>
                    <a:srgbClr val="EC2814"/>
                  </a:solidFill>
                </a:uFill>
                <a:latin typeface="Calibri"/>
                <a:cs typeface="Calibri"/>
              </a:rPr>
              <a:t>SELECT,</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WHERE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ORDER</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BY</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Funciones</a:t>
            </a:r>
            <a:r>
              <a:rPr dirty="0" spc="-25"/>
              <a:t> </a:t>
            </a:r>
            <a:r>
              <a:rPr dirty="0"/>
              <a:t>de</a:t>
            </a:r>
            <a:r>
              <a:rPr dirty="0" spc="-60"/>
              <a:t> </a:t>
            </a:r>
            <a:r>
              <a:rPr dirty="0" spc="-10"/>
              <a:t>Caracteres</a:t>
            </a:r>
            <a:r>
              <a:rPr dirty="0" spc="-75"/>
              <a:t> </a:t>
            </a:r>
            <a:r>
              <a:rPr dirty="0"/>
              <a:t>de</a:t>
            </a:r>
            <a:r>
              <a:rPr dirty="0" spc="-45"/>
              <a:t> </a:t>
            </a:r>
            <a:r>
              <a:rPr dirty="0"/>
              <a:t>Una</a:t>
            </a:r>
            <a:r>
              <a:rPr dirty="0" spc="-45"/>
              <a:t> </a:t>
            </a:r>
            <a:r>
              <a:rPr dirty="0"/>
              <a:t>Sola</a:t>
            </a:r>
            <a:r>
              <a:rPr dirty="0" spc="-60"/>
              <a:t> </a:t>
            </a:r>
            <a:r>
              <a:rPr dirty="0" spc="-20"/>
              <a:t>Fila</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50"/>
              <a:t>8</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81889"/>
            <a:ext cx="8163559" cy="4409440"/>
          </a:xfrm>
          <a:prstGeom prst="rect">
            <a:avLst/>
          </a:prstGeom>
        </p:spPr>
        <p:txBody>
          <a:bodyPr wrap="square" lIns="0" tIns="97155" rIns="0" bIns="0" rtlCol="0" vert="horz">
            <a:spAutoFit/>
          </a:bodyPr>
          <a:lstStyle/>
          <a:p>
            <a:pPr marL="182880" marR="508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Las</a:t>
            </a:r>
            <a:r>
              <a:rPr dirty="0" sz="2800" spc="-75">
                <a:solidFill>
                  <a:srgbClr val="4E3629"/>
                </a:solidFill>
                <a:latin typeface="Calibri"/>
                <a:cs typeface="Calibri"/>
              </a:rPr>
              <a:t> </a:t>
            </a:r>
            <a:r>
              <a:rPr dirty="0" sz="2800">
                <a:solidFill>
                  <a:srgbClr val="4E3629"/>
                </a:solidFill>
                <a:latin typeface="Calibri"/>
                <a:cs typeface="Calibri"/>
              </a:rPr>
              <a:t>funciones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manipulación</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mayúsculas/minúsculas</a:t>
            </a:r>
            <a:r>
              <a:rPr dirty="0" sz="2800" spc="-55">
                <a:solidFill>
                  <a:srgbClr val="4E3629"/>
                </a:solidFill>
                <a:latin typeface="Calibri"/>
                <a:cs typeface="Calibri"/>
              </a:rPr>
              <a:t> </a:t>
            </a:r>
            <a:r>
              <a:rPr dirty="0" sz="2800">
                <a:solidFill>
                  <a:srgbClr val="4E3629"/>
                </a:solidFill>
                <a:latin typeface="Calibri"/>
                <a:cs typeface="Calibri"/>
              </a:rPr>
              <a:t>son</a:t>
            </a:r>
            <a:r>
              <a:rPr dirty="0" sz="2800" spc="-80">
                <a:solidFill>
                  <a:srgbClr val="4E3629"/>
                </a:solidFill>
                <a:latin typeface="Calibri"/>
                <a:cs typeface="Calibri"/>
              </a:rPr>
              <a:t> </a:t>
            </a:r>
            <a:r>
              <a:rPr dirty="0" sz="2800" spc="-10">
                <a:solidFill>
                  <a:srgbClr val="4E3629"/>
                </a:solidFill>
                <a:latin typeface="Calibri"/>
                <a:cs typeface="Calibri"/>
              </a:rPr>
              <a:t>importantes</a:t>
            </a:r>
            <a:r>
              <a:rPr dirty="0" sz="2800" spc="-80">
                <a:solidFill>
                  <a:srgbClr val="4E3629"/>
                </a:solidFill>
                <a:latin typeface="Calibri"/>
                <a:cs typeface="Calibri"/>
              </a:rPr>
              <a:t> </a:t>
            </a:r>
            <a:r>
              <a:rPr dirty="0" sz="2800">
                <a:solidFill>
                  <a:srgbClr val="4E3629"/>
                </a:solidFill>
                <a:latin typeface="Calibri"/>
                <a:cs typeface="Calibri"/>
              </a:rPr>
              <a:t>porque</a:t>
            </a:r>
            <a:r>
              <a:rPr dirty="0" sz="2800" spc="-70">
                <a:solidFill>
                  <a:srgbClr val="4E3629"/>
                </a:solidFill>
                <a:latin typeface="Calibri"/>
                <a:cs typeface="Calibri"/>
              </a:rPr>
              <a:t> </a:t>
            </a:r>
            <a:r>
              <a:rPr dirty="0" sz="2800" spc="-10">
                <a:solidFill>
                  <a:srgbClr val="4E3629"/>
                </a:solidFill>
                <a:latin typeface="Calibri"/>
                <a:cs typeface="Calibri"/>
              </a:rPr>
              <a:t>puede </a:t>
            </a:r>
            <a:r>
              <a:rPr dirty="0" sz="2800" spc="-1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no</a:t>
            </a:r>
            <a:r>
              <a:rPr dirty="0" sz="2800" spc="-50">
                <a:solidFill>
                  <a:srgbClr val="4E3629"/>
                </a:solidFill>
                <a:latin typeface="Calibri"/>
                <a:cs typeface="Calibri"/>
              </a:rPr>
              <a:t> </a:t>
            </a:r>
            <a:r>
              <a:rPr dirty="0" sz="2800">
                <a:solidFill>
                  <a:srgbClr val="4E3629"/>
                </a:solidFill>
                <a:latin typeface="Calibri"/>
                <a:cs typeface="Calibri"/>
              </a:rPr>
              <a:t>siempre</a:t>
            </a:r>
            <a:r>
              <a:rPr dirty="0" sz="2800" spc="-50">
                <a:solidFill>
                  <a:srgbClr val="4E3629"/>
                </a:solidFill>
                <a:latin typeface="Calibri"/>
                <a:cs typeface="Calibri"/>
              </a:rPr>
              <a:t> </a:t>
            </a:r>
            <a:r>
              <a:rPr dirty="0" sz="2800">
                <a:solidFill>
                  <a:srgbClr val="4E3629"/>
                </a:solidFill>
                <a:latin typeface="Calibri"/>
                <a:cs typeface="Calibri"/>
              </a:rPr>
              <a:t>sepa</a:t>
            </a:r>
            <a:r>
              <a:rPr dirty="0" sz="2800" spc="-50">
                <a:solidFill>
                  <a:srgbClr val="4E3629"/>
                </a:solidFill>
                <a:latin typeface="Calibri"/>
                <a:cs typeface="Calibri"/>
              </a:rPr>
              <a:t> </a:t>
            </a:r>
            <a:r>
              <a:rPr dirty="0" sz="2800">
                <a:solidFill>
                  <a:srgbClr val="4E3629"/>
                </a:solidFill>
                <a:latin typeface="Calibri"/>
                <a:cs typeface="Calibri"/>
              </a:rPr>
              <a:t>cómo</a:t>
            </a:r>
            <a:r>
              <a:rPr dirty="0" sz="2800" spc="-5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han</a:t>
            </a:r>
            <a:r>
              <a:rPr dirty="0" sz="2800" spc="-55">
                <a:solidFill>
                  <a:srgbClr val="4E3629"/>
                </a:solidFill>
                <a:latin typeface="Calibri"/>
                <a:cs typeface="Calibri"/>
              </a:rPr>
              <a:t> </a:t>
            </a:r>
            <a:r>
              <a:rPr dirty="0" sz="2800">
                <a:solidFill>
                  <a:srgbClr val="4E3629"/>
                </a:solidFill>
                <a:latin typeface="Calibri"/>
                <a:cs typeface="Calibri"/>
              </a:rPr>
              <a:t>escrito</a:t>
            </a:r>
            <a:r>
              <a:rPr dirty="0" sz="2800" spc="-50">
                <a:solidFill>
                  <a:srgbClr val="4E3629"/>
                </a:solidFill>
                <a:latin typeface="Calibri"/>
                <a:cs typeface="Calibri"/>
              </a:rPr>
              <a:t> </a:t>
            </a:r>
            <a:r>
              <a:rPr dirty="0" sz="2800" spc="-10">
                <a:solidFill>
                  <a:srgbClr val="4E3629"/>
                </a:solidFill>
                <a:latin typeface="Calibri"/>
                <a:cs typeface="Calibri"/>
              </a:rPr>
              <a:t>(mayúscula, </a:t>
            </a:r>
            <a:r>
              <a:rPr dirty="0" sz="2800" spc="-10">
                <a:solidFill>
                  <a:srgbClr val="4E3629"/>
                </a:solidFill>
                <a:latin typeface="Calibri"/>
                <a:cs typeface="Calibri"/>
              </a:rPr>
              <a:t>	</a:t>
            </a:r>
            <a:r>
              <a:rPr dirty="0" sz="2800">
                <a:solidFill>
                  <a:srgbClr val="4E3629"/>
                </a:solidFill>
                <a:latin typeface="Calibri"/>
                <a:cs typeface="Calibri"/>
              </a:rPr>
              <a:t>minúscula</a:t>
            </a:r>
            <a:r>
              <a:rPr dirty="0" sz="2800" spc="-40">
                <a:solidFill>
                  <a:srgbClr val="4E3629"/>
                </a:solidFill>
                <a:latin typeface="Calibri"/>
                <a:cs typeface="Calibri"/>
              </a:rPr>
              <a:t> </a:t>
            </a:r>
            <a:r>
              <a:rPr dirty="0" sz="2800">
                <a:solidFill>
                  <a:srgbClr val="4E3629"/>
                </a:solidFill>
                <a:latin typeface="Calibri"/>
                <a:cs typeface="Calibri"/>
              </a:rPr>
              <a:t>o</a:t>
            </a:r>
            <a:r>
              <a:rPr dirty="0" sz="2800" spc="-75">
                <a:solidFill>
                  <a:srgbClr val="4E3629"/>
                </a:solidFill>
                <a:latin typeface="Calibri"/>
                <a:cs typeface="Calibri"/>
              </a:rPr>
              <a:t> </a:t>
            </a:r>
            <a:r>
              <a:rPr dirty="0" sz="2800">
                <a:solidFill>
                  <a:srgbClr val="4E3629"/>
                </a:solidFill>
                <a:latin typeface="Calibri"/>
                <a:cs typeface="Calibri"/>
              </a:rPr>
              <a:t>mayúsculas</a:t>
            </a:r>
            <a:r>
              <a:rPr dirty="0" sz="2800" spc="-60">
                <a:solidFill>
                  <a:srgbClr val="4E3629"/>
                </a:solidFill>
                <a:latin typeface="Calibri"/>
                <a:cs typeface="Calibri"/>
              </a:rPr>
              <a:t> </a:t>
            </a:r>
            <a:r>
              <a:rPr dirty="0" sz="2800">
                <a:solidFill>
                  <a:srgbClr val="4E3629"/>
                </a:solidFill>
                <a:latin typeface="Calibri"/>
                <a:cs typeface="Calibri"/>
              </a:rPr>
              <a:t>y</a:t>
            </a:r>
            <a:r>
              <a:rPr dirty="0" sz="2800" spc="-70">
                <a:solidFill>
                  <a:srgbClr val="4E3629"/>
                </a:solidFill>
                <a:latin typeface="Calibri"/>
                <a:cs typeface="Calibri"/>
              </a:rPr>
              <a:t> </a:t>
            </a:r>
            <a:r>
              <a:rPr dirty="0" sz="2800">
                <a:solidFill>
                  <a:srgbClr val="4E3629"/>
                </a:solidFill>
                <a:latin typeface="Calibri"/>
                <a:cs typeface="Calibri"/>
              </a:rPr>
              <a:t>minúsculas)</a:t>
            </a:r>
            <a:r>
              <a:rPr dirty="0" sz="2800" spc="-40">
                <a:solidFill>
                  <a:srgbClr val="4E3629"/>
                </a:solidFill>
                <a:latin typeface="Calibri"/>
                <a:cs typeface="Calibri"/>
              </a:rPr>
              <a:t> </a:t>
            </a:r>
            <a:r>
              <a:rPr dirty="0" sz="2800">
                <a:solidFill>
                  <a:srgbClr val="4E3629"/>
                </a:solidFill>
                <a:latin typeface="Calibri"/>
                <a:cs typeface="Calibri"/>
              </a:rPr>
              <a:t>los</a:t>
            </a:r>
            <a:r>
              <a:rPr dirty="0" sz="2800" spc="-70">
                <a:solidFill>
                  <a:srgbClr val="4E3629"/>
                </a:solidFill>
                <a:latin typeface="Calibri"/>
                <a:cs typeface="Calibri"/>
              </a:rPr>
              <a:t> </a:t>
            </a:r>
            <a:r>
              <a:rPr dirty="0" sz="2800" spc="-10">
                <a:solidFill>
                  <a:srgbClr val="4E3629"/>
                </a:solidFill>
                <a:latin typeface="Calibri"/>
                <a:cs typeface="Calibri"/>
              </a:rPr>
              <a:t>datos </a:t>
            </a:r>
            <a:r>
              <a:rPr dirty="0" sz="2800" spc="-10">
                <a:solidFill>
                  <a:srgbClr val="4E3629"/>
                </a:solidFill>
                <a:latin typeface="Calibri"/>
                <a:cs typeface="Calibri"/>
              </a:rPr>
              <a:t>	</a:t>
            </a:r>
            <a:r>
              <a:rPr dirty="0" sz="2800">
                <a:solidFill>
                  <a:srgbClr val="4E3629"/>
                </a:solidFill>
                <a:latin typeface="Calibri"/>
                <a:cs typeface="Calibri"/>
              </a:rPr>
              <a:t>almacenados</a:t>
            </a:r>
            <a:r>
              <a:rPr dirty="0" sz="2800" spc="-30">
                <a:solidFill>
                  <a:srgbClr val="4E3629"/>
                </a:solidFill>
                <a:latin typeface="Calibri"/>
                <a:cs typeface="Calibri"/>
              </a:rPr>
              <a:t> </a:t>
            </a:r>
            <a:r>
              <a:rPr dirty="0" sz="2800">
                <a:solidFill>
                  <a:srgbClr val="4E3629"/>
                </a:solidFill>
                <a:latin typeface="Calibri"/>
                <a:cs typeface="Calibri"/>
              </a:rPr>
              <a:t>en</a:t>
            </a:r>
            <a:r>
              <a:rPr dirty="0" sz="2800" spc="-3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base</a:t>
            </a:r>
            <a:r>
              <a:rPr dirty="0" sz="2800" spc="-25">
                <a:solidFill>
                  <a:srgbClr val="4E3629"/>
                </a:solidFill>
                <a:latin typeface="Calibri"/>
                <a:cs typeface="Calibri"/>
              </a:rPr>
              <a:t> </a:t>
            </a:r>
            <a:r>
              <a:rPr dirty="0" sz="2800">
                <a:solidFill>
                  <a:srgbClr val="4E3629"/>
                </a:solidFill>
                <a:latin typeface="Calibri"/>
                <a:cs typeface="Calibri"/>
              </a:rPr>
              <a:t>de</a:t>
            </a:r>
            <a:r>
              <a:rPr dirty="0" sz="2800" spc="-2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algn="just" marL="159385" marR="118745" indent="-147320">
              <a:lnSpc>
                <a:spcPct val="80000"/>
              </a:lnSpc>
              <a:spcBef>
                <a:spcPts val="81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manipulación</a:t>
            </a:r>
            <a:r>
              <a:rPr dirty="0" u="heavy" sz="2800" spc="4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mayúsculas/minúsculas</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e </a:t>
            </a:r>
            <a:r>
              <a:rPr dirty="0" u="heavy" sz="2800" spc="-20">
                <a:solidFill>
                  <a:srgbClr val="4E3629"/>
                </a:solidFill>
                <a:uFill>
                  <a:solidFill>
                    <a:srgbClr val="EC2814"/>
                  </a:solidFill>
                </a:uFill>
                <a:latin typeface="Calibri"/>
                <a:cs typeface="Calibri"/>
              </a:rPr>
              <a:t>permite</a:t>
            </a:r>
            <a:r>
              <a:rPr dirty="0" sz="2800">
                <a:solidFill>
                  <a:srgbClr val="4E3629"/>
                </a:solidFill>
                <a:latin typeface="Calibri"/>
                <a:cs typeface="Calibri"/>
              </a:rPr>
              <a:t> </a:t>
            </a:r>
            <a:r>
              <a:rPr dirty="0" sz="2800">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convertir</a:t>
            </a:r>
            <a:r>
              <a:rPr dirty="0" u="heavy" sz="2800" spc="1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temporalmente</a:t>
            </a:r>
            <a:r>
              <a:rPr dirty="0" u="heavy" sz="2800" spc="1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los</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datos</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de</a:t>
            </a:r>
            <a:r>
              <a:rPr dirty="0" u="heavy" sz="280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base</a:t>
            </a:r>
            <a:r>
              <a:rPr dirty="0" u="heavy" sz="2800" spc="1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de</a:t>
            </a:r>
            <a:r>
              <a:rPr dirty="0" u="heavy" sz="2800" spc="1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datos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en</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mayúsculas</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minúsculas,</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según</a:t>
            </a:r>
            <a:r>
              <a:rPr dirty="0" u="heavy" sz="2800" spc="20">
                <a:solidFill>
                  <a:srgbClr val="4E3629"/>
                </a:solidFill>
                <a:uFill>
                  <a:solidFill>
                    <a:srgbClr val="EC2814"/>
                  </a:solidFill>
                </a:uFill>
                <a:latin typeface="Calibri"/>
                <a:cs typeface="Calibri"/>
              </a:rPr>
              <a:t> </a:t>
            </a:r>
            <a:r>
              <a:rPr dirty="0" u="heavy" sz="2800" spc="-5">
                <a:solidFill>
                  <a:srgbClr val="4E3629"/>
                </a:solidFill>
                <a:uFill>
                  <a:solidFill>
                    <a:srgbClr val="EC2814"/>
                  </a:solidFill>
                </a:uFill>
                <a:latin typeface="Calibri"/>
                <a:cs typeface="Calibri"/>
              </a:rPr>
              <a:t>desee</a:t>
            </a:r>
            <a:endParaRPr sz="2800">
              <a:latin typeface="Calibri"/>
              <a:cs typeface="Calibri"/>
            </a:endParaRPr>
          </a:p>
          <a:p>
            <a:pPr marL="182880" marR="90170" indent="-170815">
              <a:lnSpc>
                <a:spcPct val="80000"/>
              </a:lnSpc>
              <a:spcBef>
                <a:spcPts val="795"/>
              </a:spcBef>
              <a:buClr>
                <a:srgbClr val="D1350F"/>
              </a:buClr>
              <a:buFont typeface="Arial MT"/>
              <a:buChar char="•"/>
              <a:tabLst>
                <a:tab pos="184785" algn="l"/>
              </a:tabLst>
            </a:pP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evita</a:t>
            </a:r>
            <a:r>
              <a:rPr dirty="0" sz="2800" spc="-4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hecho</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no</a:t>
            </a:r>
            <a:r>
              <a:rPr dirty="0" sz="2800" spc="-35">
                <a:solidFill>
                  <a:srgbClr val="4E3629"/>
                </a:solidFill>
                <a:latin typeface="Calibri"/>
                <a:cs typeface="Calibri"/>
              </a:rPr>
              <a:t> </a:t>
            </a:r>
            <a:r>
              <a:rPr dirty="0" sz="2800">
                <a:solidFill>
                  <a:srgbClr val="4E3629"/>
                </a:solidFill>
                <a:latin typeface="Calibri"/>
                <a:cs typeface="Calibri"/>
              </a:rPr>
              <a:t>coincidan</a:t>
            </a:r>
            <a:r>
              <a:rPr dirty="0" sz="2800" spc="-25">
                <a:solidFill>
                  <a:srgbClr val="4E3629"/>
                </a:solidFill>
                <a:latin typeface="Calibri"/>
                <a:cs typeface="Calibri"/>
              </a:rPr>
              <a:t> el </a:t>
            </a:r>
            <a:r>
              <a:rPr dirty="0" sz="2800" spc="-25">
                <a:solidFill>
                  <a:srgbClr val="4E3629"/>
                </a:solidFill>
                <a:latin typeface="Calibri"/>
                <a:cs typeface="Calibri"/>
              </a:rPr>
              <a:t>	</a:t>
            </a:r>
            <a:r>
              <a:rPr dirty="0" sz="2800" spc="-10">
                <a:solidFill>
                  <a:srgbClr val="4E3629"/>
                </a:solidFill>
                <a:latin typeface="Calibri"/>
                <a:cs typeface="Calibri"/>
              </a:rPr>
              <a:t>almacenamiento</a:t>
            </a:r>
            <a:r>
              <a:rPr dirty="0" sz="2800" spc="-45">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spc="-10">
                <a:solidFill>
                  <a:srgbClr val="4E3629"/>
                </a:solidFill>
                <a:latin typeface="Calibri"/>
                <a:cs typeface="Calibri"/>
              </a:rPr>
              <a:t>mayúsculas/minúsculas</a:t>
            </a:r>
            <a:r>
              <a:rPr dirty="0" sz="2800" spc="10">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spc="-20">
                <a:solidFill>
                  <a:srgbClr val="4E3629"/>
                </a:solidFill>
                <a:latin typeface="Calibri"/>
                <a:cs typeface="Calibri"/>
              </a:rPr>
              <a:t>base </a:t>
            </a:r>
            <a:r>
              <a:rPr dirty="0" sz="2800" spc="-2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y</a:t>
            </a:r>
            <a:r>
              <a:rPr dirty="0" sz="2800" spc="-5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redacción</a:t>
            </a:r>
            <a:r>
              <a:rPr dirty="0" sz="2800" spc="-4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mayúsculas/minúsculas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las</a:t>
            </a:r>
            <a:r>
              <a:rPr dirty="0" sz="2800" spc="-20">
                <a:solidFill>
                  <a:srgbClr val="4E3629"/>
                </a:solidFill>
                <a:latin typeface="Calibri"/>
                <a:cs typeface="Calibri"/>
              </a:rPr>
              <a:t> </a:t>
            </a:r>
            <a:r>
              <a:rPr dirty="0" sz="2800" spc="-10">
                <a:solidFill>
                  <a:srgbClr val="4E3629"/>
                </a:solidFill>
                <a:latin typeface="Calibri"/>
                <a:cs typeface="Calibri"/>
              </a:rPr>
              <a:t>solicitudes</a:t>
            </a:r>
            <a:endParaRPr sz="28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4572761" y="3912108"/>
            <a:ext cx="0" cy="2032635"/>
          </a:xfrm>
          <a:custGeom>
            <a:avLst/>
            <a:gdLst/>
            <a:ahLst/>
            <a:cxnLst/>
            <a:rect l="l" t="t" r="r" b="b"/>
            <a:pathLst>
              <a:path w="0" h="2032635">
                <a:moveTo>
                  <a:pt x="0" y="0"/>
                </a:moveTo>
                <a:lnTo>
                  <a:pt x="0" y="2032254"/>
                </a:lnTo>
              </a:path>
            </a:pathLst>
          </a:custGeom>
          <a:ln w="19811">
            <a:solidFill>
              <a:srgbClr val="E0E2E1"/>
            </a:solidFill>
          </a:ln>
        </p:spPr>
        <p:txBody>
          <a:bodyPr wrap="square" lIns="0" tIns="0" rIns="0" bIns="0" rtlCol="0"/>
          <a:lstStyle/>
          <a:p/>
        </p:txBody>
      </p:sp>
      <p:sp>
        <p:nvSpPr>
          <p:cNvPr id="3" name="object 3" descr=""/>
          <p:cNvSpPr/>
          <p:nvPr/>
        </p:nvSpPr>
        <p:spPr>
          <a:xfrm>
            <a:off x="4572761" y="1524761"/>
            <a:ext cx="0" cy="1310005"/>
          </a:xfrm>
          <a:custGeom>
            <a:avLst/>
            <a:gdLst/>
            <a:ahLst/>
            <a:cxnLst/>
            <a:rect l="l" t="t" r="r" b="b"/>
            <a:pathLst>
              <a:path w="0" h="1310005">
                <a:moveTo>
                  <a:pt x="0" y="0"/>
                </a:moveTo>
                <a:lnTo>
                  <a:pt x="0" y="1309877"/>
                </a:lnTo>
              </a:path>
            </a:pathLst>
          </a:custGeom>
          <a:ln w="19811">
            <a:solidFill>
              <a:srgbClr val="E0E2E1"/>
            </a:solidFill>
          </a:ln>
        </p:spPr>
        <p:txBody>
          <a:bodyPr wrap="square" lIns="0" tIns="0" rIns="0" bIns="0" rtlCol="0"/>
          <a:lstStyle/>
          <a:p/>
        </p:txBody>
      </p:sp>
      <p:sp>
        <p:nvSpPr>
          <p:cNvPr id="4" name="object 4" descr=""/>
          <p:cNvSpPr txBox="1"/>
          <p:nvPr/>
        </p:nvSpPr>
        <p:spPr>
          <a:xfrm>
            <a:off x="483552" y="1491489"/>
            <a:ext cx="2879090" cy="836294"/>
          </a:xfrm>
          <a:prstGeom prst="rect">
            <a:avLst/>
          </a:prstGeom>
        </p:spPr>
        <p:txBody>
          <a:bodyPr wrap="square" lIns="0" tIns="59690" rIns="0" bIns="0" rtlCol="0" vert="horz">
            <a:spAutoFit/>
          </a:bodyPr>
          <a:lstStyle/>
          <a:p>
            <a:pPr marL="469900" marR="5080" indent="-457200">
              <a:lnSpc>
                <a:spcPts val="3030"/>
              </a:lnSpc>
              <a:spcBef>
                <a:spcPts val="470"/>
              </a:spcBef>
              <a:buClr>
                <a:srgbClr val="D1350F"/>
              </a:buClr>
              <a:buFont typeface="Arial MT"/>
              <a:buChar char="•"/>
              <a:tabLst>
                <a:tab pos="469900" algn="l"/>
              </a:tabLst>
            </a:pP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funciones</a:t>
            </a:r>
            <a:r>
              <a:rPr dirty="0" sz="2800" spc="-30">
                <a:solidFill>
                  <a:srgbClr val="4E3629"/>
                </a:solidFill>
                <a:latin typeface="Calibri"/>
                <a:cs typeface="Calibri"/>
              </a:rPr>
              <a:t> </a:t>
            </a:r>
            <a:r>
              <a:rPr dirty="0" sz="2800" spc="-25">
                <a:solidFill>
                  <a:srgbClr val="4E3629"/>
                </a:solidFill>
                <a:latin typeface="Calibri"/>
                <a:cs typeface="Calibri"/>
              </a:rPr>
              <a:t>de </a:t>
            </a:r>
            <a:r>
              <a:rPr dirty="0" sz="2800">
                <a:solidFill>
                  <a:srgbClr val="4E3629"/>
                </a:solidFill>
                <a:latin typeface="Calibri"/>
                <a:cs typeface="Calibri"/>
              </a:rPr>
              <a:t>manipulación</a:t>
            </a:r>
            <a:r>
              <a:rPr dirty="0" sz="2800" spc="-155">
                <a:solidFill>
                  <a:srgbClr val="4E3629"/>
                </a:solidFill>
                <a:latin typeface="Calibri"/>
                <a:cs typeface="Calibri"/>
              </a:rPr>
              <a:t> </a:t>
            </a:r>
            <a:r>
              <a:rPr dirty="0" sz="2800" spc="-25">
                <a:solidFill>
                  <a:srgbClr val="4E3629"/>
                </a:solidFill>
                <a:latin typeface="Calibri"/>
                <a:cs typeface="Calibri"/>
              </a:rPr>
              <a:t>de</a:t>
            </a:r>
            <a:endParaRPr sz="2800">
              <a:latin typeface="Calibri"/>
              <a:cs typeface="Calibri"/>
            </a:endParaRPr>
          </a:p>
        </p:txBody>
      </p:sp>
      <p:sp>
        <p:nvSpPr>
          <p:cNvPr id="5" name="object 5" descr=""/>
          <p:cNvSpPr txBox="1"/>
          <p:nvPr/>
        </p:nvSpPr>
        <p:spPr>
          <a:xfrm>
            <a:off x="940752" y="2259907"/>
            <a:ext cx="3426460" cy="452120"/>
          </a:xfrm>
          <a:prstGeom prst="rect">
            <a:avLst/>
          </a:prstGeom>
        </p:spPr>
        <p:txBody>
          <a:bodyPr wrap="square" lIns="0" tIns="12065" rIns="0" bIns="0" rtlCol="0" vert="horz">
            <a:spAutoFit/>
          </a:bodyPr>
          <a:lstStyle/>
          <a:p>
            <a:pPr marL="12700">
              <a:lnSpc>
                <a:spcPct val="100000"/>
              </a:lnSpc>
              <a:spcBef>
                <a:spcPts val="95"/>
              </a:spcBef>
            </a:pPr>
            <a:r>
              <a:rPr dirty="0" sz="2800" spc="-10">
                <a:solidFill>
                  <a:srgbClr val="4E3629"/>
                </a:solidFill>
                <a:latin typeface="Calibri"/>
                <a:cs typeface="Calibri"/>
              </a:rPr>
              <a:t>mayúsculas/minúsculas</a:t>
            </a:r>
            <a:endParaRPr sz="2800">
              <a:latin typeface="Calibri"/>
              <a:cs typeface="Calibri"/>
            </a:endParaRPr>
          </a:p>
        </p:txBody>
      </p:sp>
      <p:sp>
        <p:nvSpPr>
          <p:cNvPr id="6" name="object 6" descr=""/>
          <p:cNvSpPr txBox="1"/>
          <p:nvPr/>
        </p:nvSpPr>
        <p:spPr>
          <a:xfrm>
            <a:off x="940752" y="2644118"/>
            <a:ext cx="3215005" cy="3141345"/>
          </a:xfrm>
          <a:prstGeom prst="rect">
            <a:avLst/>
          </a:prstGeom>
        </p:spPr>
        <p:txBody>
          <a:bodyPr wrap="square" lIns="0" tIns="59690" rIns="0" bIns="0" rtlCol="0" vert="horz">
            <a:spAutoFit/>
          </a:bodyPr>
          <a:lstStyle/>
          <a:p>
            <a:pPr marL="12700" marR="5080">
              <a:lnSpc>
                <a:spcPts val="3030"/>
              </a:lnSpc>
              <a:spcBef>
                <a:spcPts val="470"/>
              </a:spcBef>
            </a:pPr>
            <a:r>
              <a:rPr dirty="0" sz="2800">
                <a:solidFill>
                  <a:srgbClr val="4E3629"/>
                </a:solidFill>
                <a:latin typeface="Calibri"/>
                <a:cs typeface="Calibri"/>
              </a:rPr>
              <a:t>se</a:t>
            </a:r>
            <a:r>
              <a:rPr dirty="0" sz="2800" spc="-75">
                <a:solidFill>
                  <a:srgbClr val="4E3629"/>
                </a:solidFill>
                <a:latin typeface="Calibri"/>
                <a:cs typeface="Calibri"/>
              </a:rPr>
              <a:t> </a:t>
            </a:r>
            <a:r>
              <a:rPr dirty="0" sz="2800">
                <a:solidFill>
                  <a:srgbClr val="4E3629"/>
                </a:solidFill>
                <a:latin typeface="Calibri"/>
                <a:cs typeface="Calibri"/>
              </a:rPr>
              <a:t>utilizan</a:t>
            </a:r>
            <a:r>
              <a:rPr dirty="0" sz="2800" spc="-50">
                <a:solidFill>
                  <a:srgbClr val="4E3629"/>
                </a:solidFill>
                <a:latin typeface="Calibri"/>
                <a:cs typeface="Calibri"/>
              </a:rPr>
              <a:t> </a:t>
            </a:r>
            <a:r>
              <a:rPr dirty="0" sz="2800" spc="-20">
                <a:solidFill>
                  <a:srgbClr val="4E3629"/>
                </a:solidFill>
                <a:latin typeface="Calibri"/>
                <a:cs typeface="Calibri"/>
              </a:rPr>
              <a:t>para </a:t>
            </a:r>
            <a:r>
              <a:rPr dirty="0" sz="2800" spc="-10">
                <a:solidFill>
                  <a:srgbClr val="4E3629"/>
                </a:solidFill>
                <a:latin typeface="Calibri"/>
                <a:cs typeface="Calibri"/>
              </a:rPr>
              <a:t>convertir</a:t>
            </a:r>
            <a:r>
              <a:rPr dirty="0" sz="2800" spc="-70">
                <a:solidFill>
                  <a:srgbClr val="4E3629"/>
                </a:solidFill>
                <a:latin typeface="Calibri"/>
                <a:cs typeface="Calibri"/>
              </a:rPr>
              <a:t> </a:t>
            </a:r>
            <a:r>
              <a:rPr dirty="0" sz="2800">
                <a:solidFill>
                  <a:srgbClr val="4E3629"/>
                </a:solidFill>
                <a:latin typeface="Calibri"/>
                <a:cs typeface="Calibri"/>
              </a:rPr>
              <a:t>los</a:t>
            </a:r>
            <a:r>
              <a:rPr dirty="0" sz="2800" spc="-70">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spc="-25">
                <a:solidFill>
                  <a:srgbClr val="4E3629"/>
                </a:solidFill>
                <a:latin typeface="Calibri"/>
                <a:cs typeface="Calibri"/>
              </a:rPr>
              <a:t>del </a:t>
            </a:r>
            <a:r>
              <a:rPr dirty="0" sz="2800">
                <a:solidFill>
                  <a:srgbClr val="4E3629"/>
                </a:solidFill>
                <a:latin typeface="Calibri"/>
                <a:cs typeface="Calibri"/>
              </a:rPr>
              <a:t>estado</a:t>
            </a:r>
            <a:r>
              <a:rPr dirty="0" sz="2800" spc="-45">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spc="-25">
                <a:solidFill>
                  <a:srgbClr val="4E3629"/>
                </a:solidFill>
                <a:latin typeface="Calibri"/>
                <a:cs typeface="Calibri"/>
              </a:rPr>
              <a:t>se </a:t>
            </a:r>
            <a:r>
              <a:rPr dirty="0" sz="2800">
                <a:solidFill>
                  <a:srgbClr val="4E3629"/>
                </a:solidFill>
                <a:latin typeface="Calibri"/>
                <a:cs typeface="Calibri"/>
              </a:rPr>
              <a:t>almacenan</a:t>
            </a:r>
            <a:r>
              <a:rPr dirty="0" sz="2800" spc="-5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spc="-25">
                <a:solidFill>
                  <a:srgbClr val="4E3629"/>
                </a:solidFill>
                <a:latin typeface="Calibri"/>
                <a:cs typeface="Calibri"/>
              </a:rPr>
              <a:t>una </a:t>
            </a:r>
            <a:r>
              <a:rPr dirty="0" sz="2800">
                <a:solidFill>
                  <a:srgbClr val="4E3629"/>
                </a:solidFill>
                <a:latin typeface="Calibri"/>
                <a:cs typeface="Calibri"/>
              </a:rPr>
              <a:t>tabla</a:t>
            </a:r>
            <a:r>
              <a:rPr dirty="0" sz="2800" spc="-35">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spc="-10">
                <a:solidFill>
                  <a:srgbClr val="4E3629"/>
                </a:solidFill>
                <a:latin typeface="Calibri"/>
                <a:cs typeface="Calibri"/>
              </a:rPr>
              <a:t>mayúsculas, </a:t>
            </a:r>
            <a:r>
              <a:rPr dirty="0" sz="2800">
                <a:solidFill>
                  <a:srgbClr val="4E3629"/>
                </a:solidFill>
                <a:latin typeface="Calibri"/>
                <a:cs typeface="Calibri"/>
              </a:rPr>
              <a:t>minúsculas</a:t>
            </a:r>
            <a:r>
              <a:rPr dirty="0" sz="2800" spc="-85">
                <a:solidFill>
                  <a:srgbClr val="4E3629"/>
                </a:solidFill>
                <a:latin typeface="Calibri"/>
                <a:cs typeface="Calibri"/>
              </a:rPr>
              <a:t> </a:t>
            </a:r>
            <a:r>
              <a:rPr dirty="0" sz="2800" spc="-50">
                <a:solidFill>
                  <a:srgbClr val="4E3629"/>
                </a:solidFill>
                <a:latin typeface="Calibri"/>
                <a:cs typeface="Calibri"/>
              </a:rPr>
              <a:t>o </a:t>
            </a:r>
            <a:r>
              <a:rPr dirty="0" sz="2800">
                <a:solidFill>
                  <a:srgbClr val="4E3629"/>
                </a:solidFill>
                <a:latin typeface="Calibri"/>
                <a:cs typeface="Calibri"/>
              </a:rPr>
              <a:t>mayúsculas</a:t>
            </a:r>
            <a:r>
              <a:rPr dirty="0" sz="2800" spc="-150">
                <a:solidFill>
                  <a:srgbClr val="4E3629"/>
                </a:solidFill>
                <a:latin typeface="Calibri"/>
                <a:cs typeface="Calibri"/>
              </a:rPr>
              <a:t> </a:t>
            </a:r>
            <a:r>
              <a:rPr dirty="0" sz="2800" spc="-50">
                <a:solidFill>
                  <a:srgbClr val="4E3629"/>
                </a:solidFill>
                <a:latin typeface="Calibri"/>
                <a:cs typeface="Calibri"/>
              </a:rPr>
              <a:t>y </a:t>
            </a:r>
            <a:r>
              <a:rPr dirty="0" sz="2800" spc="-10">
                <a:solidFill>
                  <a:srgbClr val="4E3629"/>
                </a:solidFill>
                <a:latin typeface="Calibri"/>
                <a:cs typeface="Calibri"/>
              </a:rPr>
              <a:t>minúsculas</a:t>
            </a:r>
            <a:endParaRPr sz="2800">
              <a:latin typeface="Calibri"/>
              <a:cs typeface="Calibri"/>
            </a:endParaRPr>
          </a:p>
        </p:txBody>
      </p:sp>
      <p:sp>
        <p:nvSpPr>
          <p:cNvPr id="7" name="object 7"/>
          <p:cNvSpPr txBox="1">
            <a:spLocks noGrp="1"/>
          </p:cNvSpPr>
          <p:nvPr>
            <p:ph type="title"/>
          </p:nvPr>
        </p:nvSpPr>
        <p:spPr>
          <a:xfrm>
            <a:off x="392112" y="385319"/>
            <a:ext cx="4735830" cy="894080"/>
          </a:xfrm>
          <a:prstGeom prst="rect"/>
        </p:spPr>
        <p:txBody>
          <a:bodyPr wrap="square" lIns="0" tIns="64135" rIns="0" bIns="0" rtlCol="0" vert="horz">
            <a:spAutoFit/>
          </a:bodyPr>
          <a:lstStyle/>
          <a:p>
            <a:pPr marL="12700" marR="5080">
              <a:lnSpc>
                <a:spcPts val="3240"/>
              </a:lnSpc>
              <a:spcBef>
                <a:spcPts val="505"/>
              </a:spcBef>
            </a:pPr>
            <a:r>
              <a:rPr dirty="0" sz="3000"/>
              <a:t>Funciones</a:t>
            </a:r>
            <a:r>
              <a:rPr dirty="0" sz="3000" spc="-65"/>
              <a:t> </a:t>
            </a:r>
            <a:r>
              <a:rPr dirty="0" sz="3000"/>
              <a:t>de</a:t>
            </a:r>
            <a:r>
              <a:rPr dirty="0" sz="3000" spc="-45"/>
              <a:t> </a:t>
            </a:r>
            <a:r>
              <a:rPr dirty="0" sz="3000"/>
              <a:t>Manipulación</a:t>
            </a:r>
            <a:r>
              <a:rPr dirty="0" sz="3000" spc="-55"/>
              <a:t> </a:t>
            </a:r>
            <a:r>
              <a:rPr dirty="0" sz="3000" spc="-25"/>
              <a:t>de </a:t>
            </a:r>
            <a:r>
              <a:rPr dirty="0" sz="3000" spc="-10"/>
              <a:t>Mayúsculas/Minúsculas</a:t>
            </a:r>
            <a:endParaRPr sz="3000"/>
          </a:p>
        </p:txBody>
      </p:sp>
      <p:sp>
        <p:nvSpPr>
          <p:cNvPr id="8" name="object 8" descr=""/>
          <p:cNvSpPr txBox="1"/>
          <p:nvPr/>
        </p:nvSpPr>
        <p:spPr>
          <a:xfrm>
            <a:off x="4357115" y="2834639"/>
            <a:ext cx="1889760" cy="1077595"/>
          </a:xfrm>
          <a:prstGeom prst="rect">
            <a:avLst/>
          </a:prstGeom>
          <a:solidFill>
            <a:srgbClr val="D1350F"/>
          </a:solidFill>
          <a:ln w="12192">
            <a:solidFill>
              <a:srgbClr val="992408"/>
            </a:solidFill>
          </a:ln>
        </p:spPr>
        <p:txBody>
          <a:bodyPr wrap="square" lIns="0" tIns="29209" rIns="0" bIns="0" rtlCol="0" vert="horz">
            <a:spAutoFit/>
          </a:bodyPr>
          <a:lstStyle/>
          <a:p>
            <a:pPr algn="ctr" marL="225425" marR="219710">
              <a:lnSpc>
                <a:spcPct val="100000"/>
              </a:lnSpc>
              <a:spcBef>
                <a:spcPts val="229"/>
              </a:spcBef>
            </a:pPr>
            <a:r>
              <a:rPr dirty="0" sz="2000" b="1">
                <a:solidFill>
                  <a:srgbClr val="FFFFFF"/>
                </a:solidFill>
                <a:latin typeface="Calibri"/>
                <a:cs typeface="Calibri"/>
              </a:rPr>
              <a:t>Funciones</a:t>
            </a:r>
            <a:r>
              <a:rPr dirty="0" sz="2000" spc="-80" b="1">
                <a:solidFill>
                  <a:srgbClr val="FFFFFF"/>
                </a:solidFill>
                <a:latin typeface="Calibri"/>
                <a:cs typeface="Calibri"/>
              </a:rPr>
              <a:t> </a:t>
            </a:r>
            <a:r>
              <a:rPr dirty="0" sz="2000" spc="-25" b="1">
                <a:solidFill>
                  <a:srgbClr val="FFFFFF"/>
                </a:solidFill>
                <a:latin typeface="Calibri"/>
                <a:cs typeface="Calibri"/>
              </a:rPr>
              <a:t>de </a:t>
            </a:r>
            <a:r>
              <a:rPr dirty="0" sz="2000" spc="-10" b="1">
                <a:solidFill>
                  <a:srgbClr val="FFFFFF"/>
                </a:solidFill>
                <a:latin typeface="Calibri"/>
                <a:cs typeface="Calibri"/>
              </a:rPr>
              <a:t>manipulación</a:t>
            </a:r>
            <a:endParaRPr sz="2000">
              <a:latin typeface="Calibri"/>
              <a:cs typeface="Calibri"/>
            </a:endParaRPr>
          </a:p>
          <a:p>
            <a:pPr algn="ctr">
              <a:lnSpc>
                <a:spcPct val="100000"/>
              </a:lnSpc>
              <a:spcBef>
                <a:spcPts val="480"/>
              </a:spcBef>
            </a:pPr>
            <a:r>
              <a:rPr dirty="0" sz="2000" spc="-10" b="1">
                <a:solidFill>
                  <a:srgbClr val="FFFFFF"/>
                </a:solidFill>
                <a:latin typeface="Calibri"/>
                <a:cs typeface="Calibri"/>
              </a:rPr>
              <a:t>Funciones</a:t>
            </a:r>
            <a:endParaRPr sz="2000">
              <a:latin typeface="Calibri"/>
              <a:cs typeface="Calibri"/>
            </a:endParaRPr>
          </a:p>
        </p:txBody>
      </p:sp>
      <p:grpSp>
        <p:nvGrpSpPr>
          <p:cNvPr id="9" name="object 9" descr=""/>
          <p:cNvGrpSpPr/>
          <p:nvPr/>
        </p:nvGrpSpPr>
        <p:grpSpPr>
          <a:xfrm>
            <a:off x="6866890" y="2832861"/>
            <a:ext cx="1902460" cy="1090295"/>
            <a:chOff x="6866890" y="2832861"/>
            <a:chExt cx="1902460" cy="1090295"/>
          </a:xfrm>
        </p:grpSpPr>
        <p:sp>
          <p:nvSpPr>
            <p:cNvPr id="10" name="object 10" descr=""/>
            <p:cNvSpPr/>
            <p:nvPr/>
          </p:nvSpPr>
          <p:spPr>
            <a:xfrm>
              <a:off x="6873240" y="2839211"/>
              <a:ext cx="1889760" cy="1077595"/>
            </a:xfrm>
            <a:custGeom>
              <a:avLst/>
              <a:gdLst/>
              <a:ahLst/>
              <a:cxnLst/>
              <a:rect l="l" t="t" r="r" b="b"/>
              <a:pathLst>
                <a:path w="1889759" h="1077595">
                  <a:moveTo>
                    <a:pt x="1889759" y="0"/>
                  </a:moveTo>
                  <a:lnTo>
                    <a:pt x="0" y="0"/>
                  </a:lnTo>
                  <a:lnTo>
                    <a:pt x="0" y="1077468"/>
                  </a:lnTo>
                  <a:lnTo>
                    <a:pt x="1889759" y="1077468"/>
                  </a:lnTo>
                  <a:lnTo>
                    <a:pt x="1889759" y="0"/>
                  </a:lnTo>
                  <a:close/>
                </a:path>
              </a:pathLst>
            </a:custGeom>
            <a:solidFill>
              <a:srgbClr val="D1350F"/>
            </a:solidFill>
          </p:spPr>
          <p:txBody>
            <a:bodyPr wrap="square" lIns="0" tIns="0" rIns="0" bIns="0" rtlCol="0"/>
            <a:lstStyle/>
            <a:p/>
          </p:txBody>
        </p:sp>
        <p:sp>
          <p:nvSpPr>
            <p:cNvPr id="11" name="object 11" descr=""/>
            <p:cNvSpPr/>
            <p:nvPr/>
          </p:nvSpPr>
          <p:spPr>
            <a:xfrm>
              <a:off x="6873240" y="2839211"/>
              <a:ext cx="1889760" cy="1077595"/>
            </a:xfrm>
            <a:custGeom>
              <a:avLst/>
              <a:gdLst/>
              <a:ahLst/>
              <a:cxnLst/>
              <a:rect l="l" t="t" r="r" b="b"/>
              <a:pathLst>
                <a:path w="1889759" h="1077595">
                  <a:moveTo>
                    <a:pt x="0" y="1077468"/>
                  </a:moveTo>
                  <a:lnTo>
                    <a:pt x="1889759" y="1077468"/>
                  </a:lnTo>
                  <a:lnTo>
                    <a:pt x="1889759" y="0"/>
                  </a:lnTo>
                  <a:lnTo>
                    <a:pt x="0" y="0"/>
                  </a:lnTo>
                  <a:lnTo>
                    <a:pt x="0" y="1077468"/>
                  </a:lnTo>
                  <a:close/>
                </a:path>
              </a:pathLst>
            </a:custGeom>
            <a:ln w="12192">
              <a:solidFill>
                <a:srgbClr val="992408"/>
              </a:solidFill>
            </a:ln>
          </p:spPr>
          <p:txBody>
            <a:bodyPr wrap="square" lIns="0" tIns="0" rIns="0" bIns="0" rtlCol="0"/>
            <a:lstStyle/>
            <a:p/>
          </p:txBody>
        </p:sp>
      </p:grpSp>
      <p:sp>
        <p:nvSpPr>
          <p:cNvPr id="12" name="object 12" descr=""/>
          <p:cNvSpPr txBox="1"/>
          <p:nvPr/>
        </p:nvSpPr>
        <p:spPr>
          <a:xfrm>
            <a:off x="7086327" y="2855531"/>
            <a:ext cx="1462405" cy="1002030"/>
          </a:xfrm>
          <a:prstGeom prst="rect">
            <a:avLst/>
          </a:prstGeom>
        </p:spPr>
        <p:txBody>
          <a:bodyPr wrap="square" lIns="0" tIns="13335" rIns="0" bIns="0" rtlCol="0" vert="horz">
            <a:spAutoFit/>
          </a:bodyPr>
          <a:lstStyle/>
          <a:p>
            <a:pPr algn="ctr" marL="12700" marR="5080" indent="635">
              <a:lnSpc>
                <a:spcPct val="100000"/>
              </a:lnSpc>
              <a:spcBef>
                <a:spcPts val="105"/>
              </a:spcBef>
            </a:pPr>
            <a:r>
              <a:rPr dirty="0" sz="2000" b="1">
                <a:solidFill>
                  <a:srgbClr val="FFFFFF"/>
                </a:solidFill>
                <a:latin typeface="Calibri"/>
                <a:cs typeface="Calibri"/>
              </a:rPr>
              <a:t>Funciones</a:t>
            </a:r>
            <a:r>
              <a:rPr dirty="0" sz="2000" spc="-70" b="1">
                <a:solidFill>
                  <a:srgbClr val="FFFFFF"/>
                </a:solidFill>
                <a:latin typeface="Calibri"/>
                <a:cs typeface="Calibri"/>
              </a:rPr>
              <a:t> </a:t>
            </a:r>
            <a:r>
              <a:rPr dirty="0" sz="2000" spc="-25" b="1">
                <a:solidFill>
                  <a:srgbClr val="FFFFFF"/>
                </a:solidFill>
                <a:latin typeface="Calibri"/>
                <a:cs typeface="Calibri"/>
              </a:rPr>
              <a:t>de </a:t>
            </a:r>
            <a:r>
              <a:rPr dirty="0" sz="2000" spc="-10" b="1">
                <a:solidFill>
                  <a:srgbClr val="FFFFFF"/>
                </a:solidFill>
                <a:latin typeface="Calibri"/>
                <a:cs typeface="Calibri"/>
              </a:rPr>
              <a:t>manipulación</a:t>
            </a:r>
            <a:endParaRPr sz="2000">
              <a:latin typeface="Calibri"/>
              <a:cs typeface="Calibri"/>
            </a:endParaRPr>
          </a:p>
          <a:p>
            <a:pPr algn="ctr">
              <a:lnSpc>
                <a:spcPct val="100000"/>
              </a:lnSpc>
              <a:spcBef>
                <a:spcPts val="480"/>
              </a:spcBef>
            </a:pPr>
            <a:r>
              <a:rPr dirty="0" sz="2000" spc="-10" b="1">
                <a:solidFill>
                  <a:srgbClr val="FFFFFF"/>
                </a:solidFill>
                <a:latin typeface="Calibri"/>
                <a:cs typeface="Calibri"/>
              </a:rPr>
              <a:t>Funciones</a:t>
            </a:r>
            <a:endParaRPr sz="2000">
              <a:latin typeface="Calibri"/>
              <a:cs typeface="Calibri"/>
            </a:endParaRPr>
          </a:p>
        </p:txBody>
      </p:sp>
      <p:grpSp>
        <p:nvGrpSpPr>
          <p:cNvPr id="13" name="object 13" descr=""/>
          <p:cNvGrpSpPr/>
          <p:nvPr/>
        </p:nvGrpSpPr>
        <p:grpSpPr>
          <a:xfrm>
            <a:off x="5431535" y="2074926"/>
            <a:ext cx="2581910" cy="757555"/>
            <a:chOff x="5431535" y="2074926"/>
            <a:chExt cx="2581910" cy="757555"/>
          </a:xfrm>
        </p:grpSpPr>
        <p:sp>
          <p:nvSpPr>
            <p:cNvPr id="14" name="object 14" descr=""/>
            <p:cNvSpPr/>
            <p:nvPr/>
          </p:nvSpPr>
          <p:spPr>
            <a:xfrm>
              <a:off x="5446013" y="2612898"/>
              <a:ext cx="0" cy="219710"/>
            </a:xfrm>
            <a:custGeom>
              <a:avLst/>
              <a:gdLst/>
              <a:ahLst/>
              <a:cxnLst/>
              <a:rect l="l" t="t" r="r" b="b"/>
              <a:pathLst>
                <a:path w="0" h="219710">
                  <a:moveTo>
                    <a:pt x="0" y="219455"/>
                  </a:moveTo>
                  <a:lnTo>
                    <a:pt x="0" y="0"/>
                  </a:lnTo>
                </a:path>
              </a:pathLst>
            </a:custGeom>
            <a:ln w="28956">
              <a:solidFill>
                <a:srgbClr val="4E3629"/>
              </a:solidFill>
            </a:ln>
          </p:spPr>
          <p:txBody>
            <a:bodyPr wrap="square" lIns="0" tIns="0" rIns="0" bIns="0" rtlCol="0"/>
            <a:lstStyle/>
            <a:p/>
          </p:txBody>
        </p:sp>
        <p:sp>
          <p:nvSpPr>
            <p:cNvPr id="15" name="object 15" descr=""/>
            <p:cNvSpPr/>
            <p:nvPr/>
          </p:nvSpPr>
          <p:spPr>
            <a:xfrm>
              <a:off x="7998713" y="2612898"/>
              <a:ext cx="0" cy="210820"/>
            </a:xfrm>
            <a:custGeom>
              <a:avLst/>
              <a:gdLst/>
              <a:ahLst/>
              <a:cxnLst/>
              <a:rect l="l" t="t" r="r" b="b"/>
              <a:pathLst>
                <a:path w="0" h="210819">
                  <a:moveTo>
                    <a:pt x="0" y="210312"/>
                  </a:moveTo>
                  <a:lnTo>
                    <a:pt x="0" y="0"/>
                  </a:lnTo>
                </a:path>
              </a:pathLst>
            </a:custGeom>
            <a:ln w="28956">
              <a:solidFill>
                <a:srgbClr val="4E3629"/>
              </a:solidFill>
            </a:ln>
          </p:spPr>
          <p:txBody>
            <a:bodyPr wrap="square" lIns="0" tIns="0" rIns="0" bIns="0" rtlCol="0"/>
            <a:lstStyle/>
            <a:p/>
          </p:txBody>
        </p:sp>
        <p:sp>
          <p:nvSpPr>
            <p:cNvPr id="16" name="object 16" descr=""/>
            <p:cNvSpPr/>
            <p:nvPr/>
          </p:nvSpPr>
          <p:spPr>
            <a:xfrm>
              <a:off x="5446013" y="2612898"/>
              <a:ext cx="2552700" cy="0"/>
            </a:xfrm>
            <a:custGeom>
              <a:avLst/>
              <a:gdLst/>
              <a:ahLst/>
              <a:cxnLst/>
              <a:rect l="l" t="t" r="r" b="b"/>
              <a:pathLst>
                <a:path w="2552700" h="0">
                  <a:moveTo>
                    <a:pt x="0" y="0"/>
                  </a:moveTo>
                  <a:lnTo>
                    <a:pt x="2552700" y="0"/>
                  </a:lnTo>
                </a:path>
              </a:pathLst>
            </a:custGeom>
            <a:ln w="28956">
              <a:solidFill>
                <a:srgbClr val="4E3629"/>
              </a:solidFill>
            </a:ln>
          </p:spPr>
          <p:txBody>
            <a:bodyPr wrap="square" lIns="0" tIns="0" rIns="0" bIns="0" rtlCol="0"/>
            <a:lstStyle/>
            <a:p/>
          </p:txBody>
        </p:sp>
        <p:sp>
          <p:nvSpPr>
            <p:cNvPr id="17" name="object 17" descr=""/>
            <p:cNvSpPr/>
            <p:nvPr/>
          </p:nvSpPr>
          <p:spPr>
            <a:xfrm>
              <a:off x="6813041" y="2074926"/>
              <a:ext cx="0" cy="538480"/>
            </a:xfrm>
            <a:custGeom>
              <a:avLst/>
              <a:gdLst/>
              <a:ahLst/>
              <a:cxnLst/>
              <a:rect l="l" t="t" r="r" b="b"/>
              <a:pathLst>
                <a:path w="0" h="538480">
                  <a:moveTo>
                    <a:pt x="0" y="537972"/>
                  </a:moveTo>
                  <a:lnTo>
                    <a:pt x="0" y="0"/>
                  </a:lnTo>
                </a:path>
              </a:pathLst>
            </a:custGeom>
            <a:ln w="28956">
              <a:solidFill>
                <a:srgbClr val="4E3629"/>
              </a:solidFill>
            </a:ln>
          </p:spPr>
          <p:txBody>
            <a:bodyPr wrap="square" lIns="0" tIns="0" rIns="0" bIns="0" rtlCol="0"/>
            <a:lstStyle/>
            <a:p/>
          </p:txBody>
        </p:sp>
      </p:grpSp>
      <p:sp>
        <p:nvSpPr>
          <p:cNvPr id="18" name="object 18" descr=""/>
          <p:cNvSpPr txBox="1"/>
          <p:nvPr/>
        </p:nvSpPr>
        <p:spPr>
          <a:xfrm>
            <a:off x="4956021" y="3861502"/>
            <a:ext cx="852169" cy="1122680"/>
          </a:xfrm>
          <a:prstGeom prst="rect">
            <a:avLst/>
          </a:prstGeom>
        </p:spPr>
        <p:txBody>
          <a:bodyPr wrap="square" lIns="0" tIns="12065" rIns="0" bIns="0" rtlCol="0" vert="horz">
            <a:spAutoFit/>
          </a:bodyPr>
          <a:lstStyle/>
          <a:p>
            <a:pPr algn="just" marL="12700" marR="5080">
              <a:lnSpc>
                <a:spcPct val="120000"/>
              </a:lnSpc>
              <a:spcBef>
                <a:spcPts val="95"/>
              </a:spcBef>
            </a:pPr>
            <a:r>
              <a:rPr dirty="0" sz="2000" spc="-10">
                <a:solidFill>
                  <a:srgbClr val="4E3629"/>
                </a:solidFill>
                <a:latin typeface="Calibri"/>
                <a:cs typeface="Calibri"/>
              </a:rPr>
              <a:t>LOWER UPPER INITCAP</a:t>
            </a:r>
            <a:endParaRPr sz="2000">
              <a:latin typeface="Calibri"/>
              <a:cs typeface="Calibri"/>
            </a:endParaRPr>
          </a:p>
        </p:txBody>
      </p:sp>
      <p:sp>
        <p:nvSpPr>
          <p:cNvPr id="22" name="object 22"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23" name="object 23" descr=""/>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50"/>
              <a:t>9</a:t>
            </a:r>
          </a:p>
        </p:txBody>
      </p:sp>
      <p:sp>
        <p:nvSpPr>
          <p:cNvPr id="24" name="object 24"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9" name="object 19" descr=""/>
          <p:cNvSpPr txBox="1"/>
          <p:nvPr/>
        </p:nvSpPr>
        <p:spPr>
          <a:xfrm>
            <a:off x="7311746" y="3861502"/>
            <a:ext cx="1336675" cy="2585720"/>
          </a:xfrm>
          <a:prstGeom prst="rect">
            <a:avLst/>
          </a:prstGeom>
        </p:spPr>
        <p:txBody>
          <a:bodyPr wrap="square" lIns="0" tIns="12065" rIns="0" bIns="0" rtlCol="0" vert="horz">
            <a:spAutoFit/>
          </a:bodyPr>
          <a:lstStyle/>
          <a:p>
            <a:pPr algn="just" marL="12700" marR="459740">
              <a:lnSpc>
                <a:spcPct val="120000"/>
              </a:lnSpc>
              <a:spcBef>
                <a:spcPts val="95"/>
              </a:spcBef>
            </a:pPr>
            <a:r>
              <a:rPr dirty="0" sz="2000" spc="-35">
                <a:solidFill>
                  <a:srgbClr val="4E3629"/>
                </a:solidFill>
                <a:latin typeface="Calibri"/>
                <a:cs typeface="Calibri"/>
              </a:rPr>
              <a:t>CONCAT </a:t>
            </a:r>
            <a:r>
              <a:rPr dirty="0" sz="2000" spc="-10">
                <a:solidFill>
                  <a:srgbClr val="4E3629"/>
                </a:solidFill>
                <a:latin typeface="Calibri"/>
                <a:cs typeface="Calibri"/>
              </a:rPr>
              <a:t>SUBSTR LENGTH INSTR</a:t>
            </a:r>
            <a:endParaRPr sz="2000">
              <a:latin typeface="Calibri"/>
              <a:cs typeface="Calibri"/>
            </a:endParaRPr>
          </a:p>
          <a:p>
            <a:pPr marL="12700" marR="5080">
              <a:lnSpc>
                <a:spcPct val="120000"/>
              </a:lnSpc>
            </a:pPr>
            <a:r>
              <a:rPr dirty="0" sz="2000" spc="-25">
                <a:solidFill>
                  <a:srgbClr val="4E3629"/>
                </a:solidFill>
                <a:latin typeface="Calibri"/>
                <a:cs typeface="Calibri"/>
              </a:rPr>
              <a:t>LPAD</a:t>
            </a:r>
            <a:r>
              <a:rPr dirty="0" sz="2000" spc="-55">
                <a:solidFill>
                  <a:srgbClr val="4E3629"/>
                </a:solidFill>
                <a:latin typeface="Calibri"/>
                <a:cs typeface="Calibri"/>
              </a:rPr>
              <a:t> </a:t>
            </a:r>
            <a:r>
              <a:rPr dirty="0" sz="2000">
                <a:solidFill>
                  <a:srgbClr val="4E3629"/>
                </a:solidFill>
                <a:latin typeface="Calibri"/>
                <a:cs typeface="Calibri"/>
              </a:rPr>
              <a:t>|</a:t>
            </a:r>
            <a:r>
              <a:rPr dirty="0" sz="2000" spc="-45">
                <a:solidFill>
                  <a:srgbClr val="4E3629"/>
                </a:solidFill>
                <a:latin typeface="Calibri"/>
                <a:cs typeface="Calibri"/>
              </a:rPr>
              <a:t> </a:t>
            </a:r>
            <a:r>
              <a:rPr dirty="0" sz="2000" spc="-35">
                <a:solidFill>
                  <a:srgbClr val="4E3629"/>
                </a:solidFill>
                <a:latin typeface="Calibri"/>
                <a:cs typeface="Calibri"/>
              </a:rPr>
              <a:t>RPAD </a:t>
            </a:r>
            <a:r>
              <a:rPr dirty="0" sz="2000" spc="-20">
                <a:solidFill>
                  <a:srgbClr val="4E3629"/>
                </a:solidFill>
                <a:latin typeface="Calibri"/>
                <a:cs typeface="Calibri"/>
              </a:rPr>
              <a:t>TRIM </a:t>
            </a:r>
            <a:r>
              <a:rPr dirty="0" sz="2000" spc="-10">
                <a:solidFill>
                  <a:srgbClr val="4E3629"/>
                </a:solidFill>
                <a:latin typeface="Calibri"/>
                <a:cs typeface="Calibri"/>
              </a:rPr>
              <a:t>REPLACE</a:t>
            </a:r>
            <a:endParaRPr sz="2000">
              <a:latin typeface="Calibri"/>
              <a:cs typeface="Calibri"/>
            </a:endParaRPr>
          </a:p>
        </p:txBody>
      </p:sp>
      <p:sp>
        <p:nvSpPr>
          <p:cNvPr id="20" name="object 20" descr=""/>
          <p:cNvSpPr txBox="1"/>
          <p:nvPr/>
        </p:nvSpPr>
        <p:spPr>
          <a:xfrm>
            <a:off x="5357634" y="1175679"/>
            <a:ext cx="2595245" cy="330835"/>
          </a:xfrm>
          <a:prstGeom prst="rect">
            <a:avLst/>
          </a:prstGeom>
        </p:spPr>
        <p:txBody>
          <a:bodyPr wrap="square" lIns="0" tIns="13335" rIns="0" bIns="0" rtlCol="0" vert="horz">
            <a:spAutoFit/>
          </a:bodyPr>
          <a:lstStyle/>
          <a:p>
            <a:pPr marL="12700">
              <a:lnSpc>
                <a:spcPct val="100000"/>
              </a:lnSpc>
              <a:spcBef>
                <a:spcPts val="105"/>
              </a:spcBef>
            </a:pPr>
            <a:r>
              <a:rPr dirty="0" sz="2000" b="1">
                <a:solidFill>
                  <a:srgbClr val="4E3629"/>
                </a:solidFill>
                <a:latin typeface="Calibri"/>
                <a:cs typeface="Calibri"/>
              </a:rPr>
              <a:t>CHARACTER</a:t>
            </a:r>
            <a:r>
              <a:rPr dirty="0" sz="2000" spc="-75" b="1">
                <a:solidFill>
                  <a:srgbClr val="4E3629"/>
                </a:solidFill>
                <a:latin typeface="Calibri"/>
                <a:cs typeface="Calibri"/>
              </a:rPr>
              <a:t> </a:t>
            </a:r>
            <a:r>
              <a:rPr dirty="0" sz="2000" spc="-10" b="1">
                <a:solidFill>
                  <a:srgbClr val="4E3629"/>
                </a:solidFill>
                <a:latin typeface="Calibri"/>
                <a:cs typeface="Calibri"/>
              </a:rPr>
              <a:t>FUNCTIONS</a:t>
            </a:r>
            <a:endParaRPr sz="2000">
              <a:latin typeface="Calibri"/>
              <a:cs typeface="Calibri"/>
            </a:endParaRPr>
          </a:p>
        </p:txBody>
      </p:sp>
      <p:sp>
        <p:nvSpPr>
          <p:cNvPr id="21" name="object 21" descr=""/>
          <p:cNvSpPr txBox="1"/>
          <p:nvPr/>
        </p:nvSpPr>
        <p:spPr>
          <a:xfrm>
            <a:off x="5503164" y="1650492"/>
            <a:ext cx="2503170" cy="401320"/>
          </a:xfrm>
          <a:prstGeom prst="rect">
            <a:avLst/>
          </a:prstGeom>
          <a:solidFill>
            <a:srgbClr val="D1350F"/>
          </a:solidFill>
          <a:ln w="12192">
            <a:solidFill>
              <a:srgbClr val="992408"/>
            </a:solidFill>
          </a:ln>
        </p:spPr>
        <p:txBody>
          <a:bodyPr wrap="square" lIns="0" tIns="29209" rIns="0" bIns="0" rtlCol="0" vert="horz">
            <a:spAutoFit/>
          </a:bodyPr>
          <a:lstStyle/>
          <a:p>
            <a:pPr marL="95250">
              <a:lnSpc>
                <a:spcPct val="100000"/>
              </a:lnSpc>
              <a:spcBef>
                <a:spcPts val="229"/>
              </a:spcBef>
            </a:pPr>
            <a:r>
              <a:rPr dirty="0" sz="2000" b="1">
                <a:solidFill>
                  <a:srgbClr val="FFFFFF"/>
                </a:solidFill>
                <a:latin typeface="Calibri"/>
                <a:cs typeface="Calibri"/>
              </a:rPr>
              <a:t>Funciones</a:t>
            </a:r>
            <a:r>
              <a:rPr dirty="0" sz="2000" spc="-60" b="1">
                <a:solidFill>
                  <a:srgbClr val="FFFFFF"/>
                </a:solidFill>
                <a:latin typeface="Calibri"/>
                <a:cs typeface="Calibri"/>
              </a:rPr>
              <a:t> </a:t>
            </a:r>
            <a:r>
              <a:rPr dirty="0" sz="2000" b="1">
                <a:solidFill>
                  <a:srgbClr val="FFFFFF"/>
                </a:solidFill>
                <a:latin typeface="Calibri"/>
                <a:cs typeface="Calibri"/>
              </a:rPr>
              <a:t>de</a:t>
            </a:r>
            <a:r>
              <a:rPr dirty="0" sz="2000" spc="-20" b="1">
                <a:solidFill>
                  <a:srgbClr val="FFFFFF"/>
                </a:solidFill>
                <a:latin typeface="Calibri"/>
                <a:cs typeface="Calibri"/>
              </a:rPr>
              <a:t> </a:t>
            </a:r>
            <a:r>
              <a:rPr dirty="0" sz="2000" spc="-10" b="1">
                <a:solidFill>
                  <a:srgbClr val="FFFFFF"/>
                </a:solidFill>
                <a:latin typeface="Calibri"/>
                <a:cs typeface="Calibri"/>
              </a:rPr>
              <a:t>Carácter</a:t>
            </a:r>
            <a:endParaRPr sz="20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385319"/>
            <a:ext cx="4735830" cy="894080"/>
          </a:xfrm>
          <a:prstGeom prst="rect"/>
        </p:spPr>
        <p:txBody>
          <a:bodyPr wrap="square" lIns="0" tIns="64135" rIns="0" bIns="0" rtlCol="0" vert="horz">
            <a:spAutoFit/>
          </a:bodyPr>
          <a:lstStyle/>
          <a:p>
            <a:pPr marL="12700" marR="5080">
              <a:lnSpc>
                <a:spcPts val="3240"/>
              </a:lnSpc>
              <a:spcBef>
                <a:spcPts val="505"/>
              </a:spcBef>
            </a:pPr>
            <a:r>
              <a:rPr dirty="0" sz="3000"/>
              <a:t>Funciones</a:t>
            </a:r>
            <a:r>
              <a:rPr dirty="0" sz="3000" spc="-65"/>
              <a:t> </a:t>
            </a:r>
            <a:r>
              <a:rPr dirty="0" sz="3000"/>
              <a:t>de</a:t>
            </a:r>
            <a:r>
              <a:rPr dirty="0" sz="3000" spc="-45"/>
              <a:t> </a:t>
            </a:r>
            <a:r>
              <a:rPr dirty="0" sz="3000"/>
              <a:t>Manipulación</a:t>
            </a:r>
            <a:r>
              <a:rPr dirty="0" sz="3000" spc="-55"/>
              <a:t> </a:t>
            </a:r>
            <a:r>
              <a:rPr dirty="0" sz="3000" spc="-25"/>
              <a:t>de </a:t>
            </a:r>
            <a:r>
              <a:rPr dirty="0" sz="3000" spc="-10"/>
              <a:t>Mayúsculas/Minúsculas</a:t>
            </a:r>
            <a:endParaRPr sz="3000"/>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12</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24825" cy="4112895"/>
          </a:xfrm>
          <a:prstGeom prst="rect">
            <a:avLst/>
          </a:prstGeom>
        </p:spPr>
        <p:txBody>
          <a:bodyPr wrap="square" lIns="0" tIns="59690" rIns="0" bIns="0" rtlCol="0" vert="horz">
            <a:spAutoFit/>
          </a:bodyPr>
          <a:lstStyle/>
          <a:p>
            <a:pPr marL="182880" marR="6921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75">
                <a:solidFill>
                  <a:srgbClr val="4E3629"/>
                </a:solidFill>
                <a:latin typeface="Calibri"/>
                <a:cs typeface="Calibri"/>
              </a:rPr>
              <a:t> </a:t>
            </a:r>
            <a:r>
              <a:rPr dirty="0" sz="2800">
                <a:solidFill>
                  <a:srgbClr val="4E3629"/>
                </a:solidFill>
                <a:latin typeface="Calibri"/>
                <a:cs typeface="Calibri"/>
              </a:rPr>
              <a:t>funciones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manipulación</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mayúsculas/minúsculas</a:t>
            </a:r>
            <a:r>
              <a:rPr dirty="0" sz="2800" spc="-25">
                <a:solidFill>
                  <a:srgbClr val="4E3629"/>
                </a:solidFill>
                <a:latin typeface="Calibri"/>
                <a:cs typeface="Calibri"/>
              </a:rPr>
              <a:t> </a:t>
            </a:r>
            <a:r>
              <a:rPr dirty="0" sz="2800">
                <a:solidFill>
                  <a:srgbClr val="4E3629"/>
                </a:solidFill>
                <a:latin typeface="Calibri"/>
                <a:cs typeface="Calibri"/>
              </a:rPr>
              <a:t>suelen</a:t>
            </a:r>
            <a:r>
              <a:rPr dirty="0" sz="2800" spc="-55">
                <a:solidFill>
                  <a:srgbClr val="4E3629"/>
                </a:solidFill>
                <a:latin typeface="Calibri"/>
                <a:cs typeface="Calibri"/>
              </a:rPr>
              <a:t> </a:t>
            </a:r>
            <a:r>
              <a:rPr dirty="0" sz="2800">
                <a:solidFill>
                  <a:srgbClr val="4E3629"/>
                </a:solidFill>
                <a:latin typeface="Calibri"/>
                <a:cs typeface="Calibri"/>
              </a:rPr>
              <a:t>ser</a:t>
            </a:r>
            <a:r>
              <a:rPr dirty="0" sz="2800" spc="-65">
                <a:solidFill>
                  <a:srgbClr val="4E3629"/>
                </a:solidFill>
                <a:latin typeface="Calibri"/>
                <a:cs typeface="Calibri"/>
              </a:rPr>
              <a:t> </a:t>
            </a:r>
            <a:r>
              <a:rPr dirty="0" sz="2800">
                <a:solidFill>
                  <a:srgbClr val="4E3629"/>
                </a:solidFill>
                <a:latin typeface="Calibri"/>
                <a:cs typeface="Calibri"/>
              </a:rPr>
              <a:t>útiles</a:t>
            </a:r>
            <a:r>
              <a:rPr dirty="0" sz="2800" spc="-55">
                <a:solidFill>
                  <a:srgbClr val="4E3629"/>
                </a:solidFill>
                <a:latin typeface="Calibri"/>
                <a:cs typeface="Calibri"/>
              </a:rPr>
              <a:t> </a:t>
            </a:r>
            <a:r>
              <a:rPr dirty="0" sz="2800">
                <a:solidFill>
                  <a:srgbClr val="4E3629"/>
                </a:solidFill>
                <a:latin typeface="Calibri"/>
                <a:cs typeface="Calibri"/>
              </a:rPr>
              <a:t>cuando</a:t>
            </a:r>
            <a:r>
              <a:rPr dirty="0" sz="2800" spc="-45">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está</a:t>
            </a:r>
            <a:r>
              <a:rPr dirty="0" sz="2800" spc="-40">
                <a:solidFill>
                  <a:srgbClr val="4E3629"/>
                </a:solidFill>
                <a:latin typeface="Calibri"/>
                <a:cs typeface="Calibri"/>
              </a:rPr>
              <a:t> </a:t>
            </a:r>
            <a:r>
              <a:rPr dirty="0" sz="2800" spc="-10">
                <a:solidFill>
                  <a:srgbClr val="4E3629"/>
                </a:solidFill>
                <a:latin typeface="Calibri"/>
                <a:cs typeface="Calibri"/>
              </a:rPr>
              <a:t>realizando</a:t>
            </a:r>
            <a:r>
              <a:rPr dirty="0" sz="2800" spc="-5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búsqueda</a:t>
            </a:r>
            <a:r>
              <a:rPr dirty="0" sz="2800" spc="-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sabe</a:t>
            </a:r>
            <a:r>
              <a:rPr dirty="0" sz="2800" spc="-45">
                <a:solidFill>
                  <a:srgbClr val="4E3629"/>
                </a:solidFill>
                <a:latin typeface="Calibri"/>
                <a:cs typeface="Calibri"/>
              </a:rPr>
              <a:t> </a:t>
            </a:r>
            <a:r>
              <a:rPr dirty="0" sz="2800">
                <a:solidFill>
                  <a:srgbClr val="4E3629"/>
                </a:solidFill>
                <a:latin typeface="Calibri"/>
                <a:cs typeface="Calibri"/>
              </a:rPr>
              <a:t>si</a:t>
            </a:r>
            <a:r>
              <a:rPr dirty="0" sz="2800" spc="-60">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datos</a:t>
            </a:r>
            <a:r>
              <a:rPr dirty="0" sz="2800" spc="-95">
                <a:solidFill>
                  <a:srgbClr val="4E3629"/>
                </a:solidFill>
                <a:latin typeface="Calibri"/>
                <a:cs typeface="Calibri"/>
              </a:rPr>
              <a:t> </a:t>
            </a:r>
            <a:r>
              <a:rPr dirty="0" sz="2800">
                <a:solidFill>
                  <a:srgbClr val="4E3629"/>
                </a:solidFill>
                <a:latin typeface="Calibri"/>
                <a:cs typeface="Calibri"/>
              </a:rPr>
              <a:t>que</a:t>
            </a:r>
            <a:r>
              <a:rPr dirty="0" sz="2800" spc="-90">
                <a:solidFill>
                  <a:srgbClr val="4E3629"/>
                </a:solidFill>
                <a:latin typeface="Calibri"/>
                <a:cs typeface="Calibri"/>
              </a:rPr>
              <a:t> </a:t>
            </a:r>
            <a:r>
              <a:rPr dirty="0" sz="2800">
                <a:solidFill>
                  <a:srgbClr val="4E3629"/>
                </a:solidFill>
                <a:latin typeface="Calibri"/>
                <a:cs typeface="Calibri"/>
              </a:rPr>
              <a:t>está</a:t>
            </a:r>
            <a:r>
              <a:rPr dirty="0" sz="2800" spc="-90">
                <a:solidFill>
                  <a:srgbClr val="4E3629"/>
                </a:solidFill>
                <a:latin typeface="Calibri"/>
                <a:cs typeface="Calibri"/>
              </a:rPr>
              <a:t> </a:t>
            </a:r>
            <a:r>
              <a:rPr dirty="0" sz="2800">
                <a:solidFill>
                  <a:srgbClr val="4E3629"/>
                </a:solidFill>
                <a:latin typeface="Calibri"/>
                <a:cs typeface="Calibri"/>
              </a:rPr>
              <a:t>buscando</a:t>
            </a:r>
            <a:r>
              <a:rPr dirty="0" sz="2800" spc="-60">
                <a:solidFill>
                  <a:srgbClr val="4E3629"/>
                </a:solidFill>
                <a:latin typeface="Calibri"/>
                <a:cs typeface="Calibri"/>
              </a:rPr>
              <a:t> </a:t>
            </a:r>
            <a:r>
              <a:rPr dirty="0" sz="2800">
                <a:solidFill>
                  <a:srgbClr val="4E3629"/>
                </a:solidFill>
                <a:latin typeface="Calibri"/>
                <a:cs typeface="Calibri"/>
              </a:rPr>
              <a:t>están</a:t>
            </a:r>
            <a:r>
              <a:rPr dirty="0" sz="2800" spc="-95">
                <a:solidFill>
                  <a:srgbClr val="4E3629"/>
                </a:solidFill>
                <a:latin typeface="Calibri"/>
                <a:cs typeface="Calibri"/>
              </a:rPr>
              <a:t> </a:t>
            </a:r>
            <a:r>
              <a:rPr dirty="0" sz="2800">
                <a:solidFill>
                  <a:srgbClr val="4E3629"/>
                </a:solidFill>
                <a:latin typeface="Calibri"/>
                <a:cs typeface="Calibri"/>
              </a:rPr>
              <a:t>en</a:t>
            </a:r>
            <a:r>
              <a:rPr dirty="0" sz="2800" spc="-95">
                <a:solidFill>
                  <a:srgbClr val="4E3629"/>
                </a:solidFill>
                <a:latin typeface="Calibri"/>
                <a:cs typeface="Calibri"/>
              </a:rPr>
              <a:t> </a:t>
            </a:r>
            <a:r>
              <a:rPr dirty="0" sz="2800">
                <a:solidFill>
                  <a:srgbClr val="4E3629"/>
                </a:solidFill>
                <a:latin typeface="Calibri"/>
                <a:cs typeface="Calibri"/>
              </a:rPr>
              <a:t>mayúsculas</a:t>
            </a:r>
            <a:r>
              <a:rPr dirty="0" sz="2800" spc="-75">
                <a:solidFill>
                  <a:srgbClr val="4E3629"/>
                </a:solidFill>
                <a:latin typeface="Calibri"/>
                <a:cs typeface="Calibri"/>
              </a:rPr>
              <a:t> </a:t>
            </a:r>
            <a:r>
              <a:rPr dirty="0" sz="2800" spc="-50">
                <a:solidFill>
                  <a:srgbClr val="4E3629"/>
                </a:solidFill>
                <a:latin typeface="Calibri"/>
                <a:cs typeface="Calibri"/>
              </a:rPr>
              <a:t>o </a:t>
            </a:r>
            <a:r>
              <a:rPr dirty="0" sz="2800" spc="-50">
                <a:solidFill>
                  <a:srgbClr val="4E3629"/>
                </a:solidFill>
                <a:latin typeface="Calibri"/>
                <a:cs typeface="Calibri"/>
              </a:rPr>
              <a:t>	</a:t>
            </a:r>
            <a:r>
              <a:rPr dirty="0" sz="2800" spc="-10">
                <a:solidFill>
                  <a:srgbClr val="4E3629"/>
                </a:solidFill>
                <a:latin typeface="Calibri"/>
                <a:cs typeface="Calibri"/>
              </a:rPr>
              <a:t>minúsculas</a:t>
            </a:r>
            <a:endParaRPr sz="2800">
              <a:latin typeface="Calibri"/>
              <a:cs typeface="Calibri"/>
            </a:endParaRPr>
          </a:p>
          <a:p>
            <a:pPr marL="182880" marR="5080" indent="-170815">
              <a:lnSpc>
                <a:spcPts val="3030"/>
              </a:lnSpc>
              <a:spcBef>
                <a:spcPts val="775"/>
              </a:spcBef>
              <a:buClr>
                <a:srgbClr val="D1350F"/>
              </a:buClr>
              <a:buFont typeface="Arial MT"/>
              <a:buChar char="•"/>
              <a:tabLst>
                <a:tab pos="184785" algn="l"/>
              </a:tabLst>
            </a:pPr>
            <a:r>
              <a:rPr dirty="0" sz="2800">
                <a:solidFill>
                  <a:srgbClr val="4E3629"/>
                </a:solidFill>
                <a:latin typeface="Calibri"/>
                <a:cs typeface="Calibri"/>
              </a:rPr>
              <a:t>Desde</a:t>
            </a:r>
            <a:r>
              <a:rPr dirty="0" sz="2800" spc="-30">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punto</a:t>
            </a:r>
            <a:r>
              <a:rPr dirty="0" sz="2800" spc="-3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vista</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base</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datos,</a:t>
            </a:r>
            <a:r>
              <a:rPr dirty="0" sz="2800" spc="-40">
                <a:solidFill>
                  <a:srgbClr val="4E3629"/>
                </a:solidFill>
                <a:latin typeface="Calibri"/>
                <a:cs typeface="Calibri"/>
              </a:rPr>
              <a:t> </a:t>
            </a:r>
            <a:r>
              <a:rPr dirty="0" sz="2800">
                <a:solidFill>
                  <a:srgbClr val="4E3629"/>
                </a:solidFill>
                <a:latin typeface="Calibri"/>
                <a:cs typeface="Calibri"/>
              </a:rPr>
              <a:t>'V'</a:t>
            </a:r>
            <a:r>
              <a:rPr dirty="0" sz="2800" spc="-55">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a:solidFill>
                  <a:srgbClr val="4E3629"/>
                </a:solidFill>
                <a:latin typeface="Calibri"/>
                <a:cs typeface="Calibri"/>
              </a:rPr>
              <a:t>'v'</a:t>
            </a:r>
            <a:r>
              <a:rPr dirty="0" sz="2800" spc="-55">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son</a:t>
            </a:r>
            <a:r>
              <a:rPr dirty="0" sz="2800" spc="-60">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mismo</a:t>
            </a:r>
            <a:r>
              <a:rPr dirty="0" sz="2800" spc="-50">
                <a:solidFill>
                  <a:srgbClr val="4E3629"/>
                </a:solidFill>
                <a:latin typeface="Calibri"/>
                <a:cs typeface="Calibri"/>
              </a:rPr>
              <a:t> </a:t>
            </a:r>
            <a:r>
              <a:rPr dirty="0" sz="2800" spc="-10">
                <a:solidFill>
                  <a:srgbClr val="4E3629"/>
                </a:solidFill>
                <a:latin typeface="Calibri"/>
                <a:cs typeface="Calibri"/>
              </a:rPr>
              <a:t>carácter</a:t>
            </a:r>
            <a:r>
              <a:rPr dirty="0" sz="2800" spc="-85">
                <a:solidFill>
                  <a:srgbClr val="4E3629"/>
                </a:solidFill>
                <a:latin typeface="Calibri"/>
                <a:cs typeface="Calibri"/>
              </a:rPr>
              <a:t> </a:t>
            </a:r>
            <a:r>
              <a:rPr dirty="0" sz="2800" spc="-5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como</a:t>
            </a:r>
            <a:r>
              <a:rPr dirty="0" sz="2800" spc="-60">
                <a:solidFill>
                  <a:srgbClr val="4E3629"/>
                </a:solidFill>
                <a:latin typeface="Calibri"/>
                <a:cs typeface="Calibri"/>
              </a:rPr>
              <a:t> </a:t>
            </a:r>
            <a:r>
              <a:rPr dirty="0" sz="2800">
                <a:solidFill>
                  <a:srgbClr val="4E3629"/>
                </a:solidFill>
                <a:latin typeface="Calibri"/>
                <a:cs typeface="Calibri"/>
              </a:rPr>
              <a:t>tal,</a:t>
            </a:r>
            <a:r>
              <a:rPr dirty="0" sz="2800" spc="-75">
                <a:solidFill>
                  <a:srgbClr val="4E3629"/>
                </a:solidFill>
                <a:latin typeface="Calibri"/>
                <a:cs typeface="Calibri"/>
              </a:rPr>
              <a:t> </a:t>
            </a:r>
            <a:r>
              <a:rPr dirty="0" sz="2800">
                <a:solidFill>
                  <a:srgbClr val="4E3629"/>
                </a:solidFill>
                <a:latin typeface="Calibri"/>
                <a:cs typeface="Calibri"/>
              </a:rPr>
              <a:t>necesita</a:t>
            </a:r>
            <a:r>
              <a:rPr dirty="0" sz="2800" spc="-60">
                <a:solidFill>
                  <a:srgbClr val="4E3629"/>
                </a:solidFill>
                <a:latin typeface="Calibri"/>
                <a:cs typeface="Calibri"/>
              </a:rPr>
              <a:t> </a:t>
            </a:r>
            <a:r>
              <a:rPr dirty="0" sz="2800" spc="-10">
                <a:solidFill>
                  <a:srgbClr val="4E3629"/>
                </a:solidFill>
                <a:latin typeface="Calibri"/>
                <a:cs typeface="Calibri"/>
              </a:rPr>
              <a:t>buscar </a:t>
            </a:r>
            <a:r>
              <a:rPr dirty="0" sz="2800" spc="-10">
                <a:solidFill>
                  <a:srgbClr val="4E3629"/>
                </a:solidFill>
                <a:latin typeface="Calibri"/>
                <a:cs typeface="Calibri"/>
              </a:rPr>
              <a:t>	</a:t>
            </a:r>
            <a:r>
              <a:rPr dirty="0" sz="2800">
                <a:solidFill>
                  <a:srgbClr val="4E3629"/>
                </a:solidFill>
                <a:latin typeface="Calibri"/>
                <a:cs typeface="Calibri"/>
              </a:rPr>
              <a:t>utilizando</a:t>
            </a:r>
            <a:r>
              <a:rPr dirty="0" sz="2800" spc="-65">
                <a:solidFill>
                  <a:srgbClr val="4E3629"/>
                </a:solidFill>
                <a:latin typeface="Calibri"/>
                <a:cs typeface="Calibri"/>
              </a:rPr>
              <a:t> </a:t>
            </a:r>
            <a:r>
              <a:rPr dirty="0" sz="2800">
                <a:solidFill>
                  <a:srgbClr val="4E3629"/>
                </a:solidFill>
                <a:latin typeface="Calibri"/>
                <a:cs typeface="Calibri"/>
              </a:rPr>
              <a:t>las</a:t>
            </a:r>
            <a:r>
              <a:rPr dirty="0" sz="2800" spc="-105">
                <a:solidFill>
                  <a:srgbClr val="4E3629"/>
                </a:solidFill>
                <a:latin typeface="Calibri"/>
                <a:cs typeface="Calibri"/>
              </a:rPr>
              <a:t> </a:t>
            </a:r>
            <a:r>
              <a:rPr dirty="0" sz="2800" spc="-10">
                <a:solidFill>
                  <a:srgbClr val="4E3629"/>
                </a:solidFill>
                <a:latin typeface="Calibri"/>
                <a:cs typeface="Calibri"/>
              </a:rPr>
              <a:t>mayúsculas/minúsculas</a:t>
            </a:r>
            <a:r>
              <a:rPr dirty="0" sz="2800" spc="-45">
                <a:solidFill>
                  <a:srgbClr val="4E3629"/>
                </a:solidFill>
                <a:latin typeface="Calibri"/>
                <a:cs typeface="Calibri"/>
              </a:rPr>
              <a:t> </a:t>
            </a:r>
            <a:r>
              <a:rPr dirty="0" sz="2800" spc="-10">
                <a:solidFill>
                  <a:srgbClr val="4E3629"/>
                </a:solidFill>
                <a:latin typeface="Calibri"/>
                <a:cs typeface="Calibri"/>
              </a:rPr>
              <a:t>adecuadas</a:t>
            </a:r>
            <a:endParaRPr sz="2800">
              <a:latin typeface="Calibri"/>
              <a:cs typeface="Calibri"/>
            </a:endParaRPr>
          </a:p>
          <a:p>
            <a:pPr marL="159385" marR="203200" indent="-147320">
              <a:lnSpc>
                <a:spcPts val="3030"/>
              </a:lnSpc>
              <a:spcBef>
                <a:spcPts val="785"/>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LOWER(columna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expresión)</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convierte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alfabéticos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minúscula</a:t>
            </a:r>
            <a:endParaRPr sz="2800">
              <a:latin typeface="Calibri"/>
              <a:cs typeface="Calibri"/>
            </a:endParaRPr>
          </a:p>
        </p:txBody>
      </p:sp>
      <p:sp>
        <p:nvSpPr>
          <p:cNvPr id="4" name="object 4" descr=""/>
          <p:cNvSpPr txBox="1"/>
          <p:nvPr/>
        </p:nvSpPr>
        <p:spPr>
          <a:xfrm>
            <a:off x="4437888" y="5410200"/>
            <a:ext cx="4467225" cy="922019"/>
          </a:xfrm>
          <a:prstGeom prst="rect">
            <a:avLst/>
          </a:prstGeom>
          <a:solidFill>
            <a:srgbClr val="9DBEC4">
              <a:alpha val="50199"/>
            </a:srgbClr>
          </a:solidFill>
        </p:spPr>
        <p:txBody>
          <a:bodyPr wrap="square" lIns="0" tIns="0" rIns="0" bIns="0" rtlCol="0" vert="horz">
            <a:spAutoFit/>
          </a:bodyPr>
          <a:lstStyle/>
          <a:p>
            <a:pPr marL="635">
              <a:lnSpc>
                <a:spcPts val="1830"/>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a:t>
            </a:r>
            <a:endParaRPr sz="1800">
              <a:latin typeface="Courier New"/>
              <a:cs typeface="Courier New"/>
            </a:endParaRPr>
          </a:p>
          <a:p>
            <a:pPr marL="635">
              <a:lnSpc>
                <a:spcPct val="100000"/>
              </a:lnSpc>
              <a:spcBef>
                <a:spcPts val="500"/>
              </a:spcBef>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635">
              <a:lnSpc>
                <a:spcPct val="100000"/>
              </a:lnSpc>
              <a:spcBef>
                <a:spcPts val="505"/>
              </a:spcBef>
            </a:pPr>
            <a:r>
              <a:rPr dirty="0" sz="1800" b="1">
                <a:solidFill>
                  <a:srgbClr val="4E3629"/>
                </a:solidFill>
                <a:latin typeface="Courier New"/>
                <a:cs typeface="Courier New"/>
              </a:rPr>
              <a:t>WHERE</a:t>
            </a:r>
            <a:r>
              <a:rPr dirty="0" sz="1800" spc="-85" b="1">
                <a:solidFill>
                  <a:srgbClr val="4E3629"/>
                </a:solidFill>
                <a:latin typeface="Courier New"/>
                <a:cs typeface="Courier New"/>
              </a:rPr>
              <a:t> </a:t>
            </a:r>
            <a:r>
              <a:rPr dirty="0" sz="1800" b="1">
                <a:solidFill>
                  <a:srgbClr val="4E3629"/>
                </a:solidFill>
                <a:latin typeface="Courier New"/>
                <a:cs typeface="Courier New"/>
              </a:rPr>
              <a:t>LOWER(last_name)</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70" b="1">
                <a:solidFill>
                  <a:srgbClr val="4E3629"/>
                </a:solidFill>
                <a:latin typeface="Courier New"/>
                <a:cs typeface="Courier New"/>
              </a:rPr>
              <a:t> </a:t>
            </a:r>
            <a:r>
              <a:rPr dirty="0" sz="1800" spc="-10" b="1">
                <a:solidFill>
                  <a:srgbClr val="4E3629"/>
                </a:solidFill>
                <a:latin typeface="Courier New"/>
                <a:cs typeface="Courier New"/>
              </a:rPr>
              <a:t>'abel';</a:t>
            </a:r>
            <a:endParaRPr sz="1800">
              <a:latin typeface="Courier New"/>
              <a:cs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385319"/>
            <a:ext cx="4735830" cy="894080"/>
          </a:xfrm>
          <a:prstGeom prst="rect"/>
        </p:spPr>
        <p:txBody>
          <a:bodyPr wrap="square" lIns="0" tIns="64135" rIns="0" bIns="0" rtlCol="0" vert="horz">
            <a:spAutoFit/>
          </a:bodyPr>
          <a:lstStyle/>
          <a:p>
            <a:pPr marL="12700" marR="5080">
              <a:lnSpc>
                <a:spcPts val="3240"/>
              </a:lnSpc>
              <a:spcBef>
                <a:spcPts val="505"/>
              </a:spcBef>
            </a:pPr>
            <a:r>
              <a:rPr dirty="0" sz="3000"/>
              <a:t>Funciones</a:t>
            </a:r>
            <a:r>
              <a:rPr dirty="0" sz="3000" spc="-65"/>
              <a:t> </a:t>
            </a:r>
            <a:r>
              <a:rPr dirty="0" sz="3000"/>
              <a:t>de</a:t>
            </a:r>
            <a:r>
              <a:rPr dirty="0" sz="3000" spc="-45"/>
              <a:t> </a:t>
            </a:r>
            <a:r>
              <a:rPr dirty="0" sz="3000"/>
              <a:t>Manipulación</a:t>
            </a:r>
            <a:r>
              <a:rPr dirty="0" sz="3000" spc="-55"/>
              <a:t> </a:t>
            </a:r>
            <a:r>
              <a:rPr dirty="0" sz="3000" spc="-25"/>
              <a:t>de </a:t>
            </a:r>
            <a:r>
              <a:rPr dirty="0" sz="3000" spc="-10"/>
              <a:t>Mayúsculas/Minúsculas</a:t>
            </a:r>
            <a:endParaRPr sz="3000"/>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13</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832090" cy="836294"/>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UPPER(columna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expresión)</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convierte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alfabéticos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mayúscula</a:t>
            </a:r>
            <a:endParaRPr sz="2800">
              <a:latin typeface="Calibri"/>
              <a:cs typeface="Calibri"/>
            </a:endParaRPr>
          </a:p>
        </p:txBody>
      </p:sp>
      <p:sp>
        <p:nvSpPr>
          <p:cNvPr id="4" name="object 4" descr=""/>
          <p:cNvSpPr txBox="1"/>
          <p:nvPr/>
        </p:nvSpPr>
        <p:spPr>
          <a:xfrm>
            <a:off x="483552" y="3256409"/>
            <a:ext cx="8013700" cy="122047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INITCAP(columna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expresión)</a:t>
            </a:r>
            <a:r>
              <a:rPr dirty="0" u="heavy" sz="2800" spc="-4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convierte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7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caracteres</a:t>
            </a:r>
            <a:r>
              <a:rPr dirty="0" u="heavy" sz="2800" spc="-9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alfabéticos</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mayúscula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primera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letra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cada</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palabra</a:t>
            </a:r>
            <a:endParaRPr sz="2800">
              <a:latin typeface="Calibri"/>
              <a:cs typeface="Calibri"/>
            </a:endParaRPr>
          </a:p>
        </p:txBody>
      </p:sp>
      <p:sp>
        <p:nvSpPr>
          <p:cNvPr id="5" name="object 5" descr=""/>
          <p:cNvSpPr txBox="1"/>
          <p:nvPr/>
        </p:nvSpPr>
        <p:spPr>
          <a:xfrm>
            <a:off x="393191" y="2374392"/>
            <a:ext cx="8345805" cy="914400"/>
          </a:xfrm>
          <a:prstGeom prst="rect">
            <a:avLst/>
          </a:prstGeom>
          <a:solidFill>
            <a:srgbClr val="9DBEC4">
              <a:alpha val="50199"/>
            </a:srgbClr>
          </a:solidFill>
        </p:spPr>
        <p:txBody>
          <a:bodyPr wrap="square" lIns="0" tIns="17780" rIns="0" bIns="0" rtlCol="0" vert="horz">
            <a:spAutoFit/>
          </a:bodyPr>
          <a:lstStyle/>
          <a:p>
            <a:pPr marL="1270" marR="5741035">
              <a:lnSpc>
                <a:spcPct val="100000"/>
              </a:lnSpc>
              <a:spcBef>
                <a:spcPts val="140"/>
              </a:spcBef>
              <a:tabLst>
                <a:tab pos="1911985" algn="l"/>
              </a:tabLst>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 </a:t>
            </a:r>
            <a:r>
              <a:rPr dirty="0" sz="1800" b="1">
                <a:solidFill>
                  <a:srgbClr val="4E3629"/>
                </a:solidFill>
                <a:latin typeface="Courier New"/>
                <a:cs typeface="Courier New"/>
              </a:rPr>
              <a:t>FROM</a:t>
            </a:r>
            <a:r>
              <a:rPr dirty="0" sz="1800" spc="-50" b="1">
                <a:solidFill>
                  <a:srgbClr val="4E3629"/>
                </a:solidFill>
                <a:latin typeface="Courier New"/>
                <a:cs typeface="Courier New"/>
              </a:rPr>
              <a:t> </a:t>
            </a:r>
            <a:r>
              <a:rPr dirty="0" sz="1800" spc="-20" b="1">
                <a:solidFill>
                  <a:srgbClr val="4E3629"/>
                </a:solidFill>
                <a:latin typeface="Courier New"/>
                <a:cs typeface="Courier New"/>
              </a:rPr>
              <a:t>empl</a:t>
            </a:r>
            <a:r>
              <a:rPr dirty="0" sz="1800" b="1">
                <a:solidFill>
                  <a:srgbClr val="4E3629"/>
                </a:solidFill>
                <a:latin typeface="Courier New"/>
                <a:cs typeface="Courier New"/>
              </a:rPr>
              <a:t>	</a:t>
            </a:r>
            <a:r>
              <a:rPr dirty="0" sz="1800" spc="-20" b="1">
                <a:solidFill>
                  <a:srgbClr val="4E3629"/>
                </a:solidFill>
                <a:latin typeface="Courier New"/>
                <a:cs typeface="Courier New"/>
              </a:rPr>
              <a:t>oyees</a:t>
            </a:r>
            <a:endParaRPr sz="1800">
              <a:latin typeface="Courier New"/>
              <a:cs typeface="Courier New"/>
            </a:endParaRPr>
          </a:p>
          <a:p>
            <a:pPr marL="1270">
              <a:lnSpc>
                <a:spcPct val="100000"/>
              </a:lnSpc>
            </a:pPr>
            <a:r>
              <a:rPr dirty="0" sz="1800" b="1">
                <a:solidFill>
                  <a:srgbClr val="4E3629"/>
                </a:solidFill>
                <a:latin typeface="Courier New"/>
                <a:cs typeface="Courier New"/>
              </a:rPr>
              <a:t>WHERE</a:t>
            </a:r>
            <a:r>
              <a:rPr dirty="0" sz="1800" spc="-85" b="1">
                <a:solidFill>
                  <a:srgbClr val="4E3629"/>
                </a:solidFill>
                <a:latin typeface="Courier New"/>
                <a:cs typeface="Courier New"/>
              </a:rPr>
              <a:t> </a:t>
            </a:r>
            <a:r>
              <a:rPr dirty="0" sz="1800" b="1">
                <a:solidFill>
                  <a:srgbClr val="4E3629"/>
                </a:solidFill>
                <a:latin typeface="Courier New"/>
                <a:cs typeface="Courier New"/>
              </a:rPr>
              <a:t>UPPER(last_name)</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70" b="1">
                <a:solidFill>
                  <a:srgbClr val="4E3629"/>
                </a:solidFill>
                <a:latin typeface="Courier New"/>
                <a:cs typeface="Courier New"/>
              </a:rPr>
              <a:t> </a:t>
            </a:r>
            <a:r>
              <a:rPr dirty="0" sz="1800" spc="-10" b="1">
                <a:solidFill>
                  <a:srgbClr val="4E3629"/>
                </a:solidFill>
                <a:latin typeface="Courier New"/>
                <a:cs typeface="Courier New"/>
              </a:rPr>
              <a:t>'ABEL';</a:t>
            </a:r>
            <a:endParaRPr sz="1800">
              <a:latin typeface="Courier New"/>
              <a:cs typeface="Courier New"/>
            </a:endParaRPr>
          </a:p>
        </p:txBody>
      </p:sp>
      <p:sp>
        <p:nvSpPr>
          <p:cNvPr id="6" name="object 6" descr=""/>
          <p:cNvSpPr txBox="1"/>
          <p:nvPr/>
        </p:nvSpPr>
        <p:spPr>
          <a:xfrm>
            <a:off x="393191" y="4506467"/>
            <a:ext cx="8345805" cy="1031875"/>
          </a:xfrm>
          <a:prstGeom prst="rect">
            <a:avLst/>
          </a:prstGeom>
          <a:solidFill>
            <a:srgbClr val="9DBEC4">
              <a:alpha val="50199"/>
            </a:srgbClr>
          </a:solidFill>
        </p:spPr>
        <p:txBody>
          <a:bodyPr wrap="square" lIns="0" tIns="76835" rIns="0" bIns="0" rtlCol="0" vert="horz">
            <a:spAutoFit/>
          </a:bodyPr>
          <a:lstStyle/>
          <a:p>
            <a:pPr marL="1270" marR="6150610">
              <a:lnSpc>
                <a:spcPct val="100000"/>
              </a:lnSpc>
              <a:spcBef>
                <a:spcPts val="605"/>
              </a:spcBef>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1270">
              <a:lnSpc>
                <a:spcPct val="100000"/>
              </a:lnSpc>
            </a:pPr>
            <a:r>
              <a:rPr dirty="0" sz="1800" b="1">
                <a:solidFill>
                  <a:srgbClr val="4E3629"/>
                </a:solidFill>
                <a:latin typeface="Courier New"/>
                <a:cs typeface="Courier New"/>
              </a:rPr>
              <a:t>WHERE</a:t>
            </a:r>
            <a:r>
              <a:rPr dirty="0" sz="1800" spc="-90" b="1">
                <a:solidFill>
                  <a:srgbClr val="4E3629"/>
                </a:solidFill>
                <a:latin typeface="Courier New"/>
                <a:cs typeface="Courier New"/>
              </a:rPr>
              <a:t> </a:t>
            </a:r>
            <a:r>
              <a:rPr dirty="0" sz="1800" b="1">
                <a:solidFill>
                  <a:srgbClr val="4E3629"/>
                </a:solidFill>
                <a:latin typeface="Courier New"/>
                <a:cs typeface="Courier New"/>
              </a:rPr>
              <a:t>INITCAP(last_name)</a:t>
            </a:r>
            <a:r>
              <a:rPr dirty="0" sz="1800" spc="-80" b="1">
                <a:solidFill>
                  <a:srgbClr val="4E3629"/>
                </a:solidFill>
                <a:latin typeface="Courier New"/>
                <a:cs typeface="Courier New"/>
              </a:rPr>
              <a:t> </a:t>
            </a:r>
            <a:r>
              <a:rPr dirty="0" sz="1800" b="1">
                <a:solidFill>
                  <a:srgbClr val="4E3629"/>
                </a:solidFill>
                <a:latin typeface="Courier New"/>
                <a:cs typeface="Courier New"/>
              </a:rPr>
              <a:t>=</a:t>
            </a:r>
            <a:r>
              <a:rPr dirty="0" sz="1800" spc="-80" b="1">
                <a:solidFill>
                  <a:srgbClr val="4E3629"/>
                </a:solidFill>
                <a:latin typeface="Courier New"/>
                <a:cs typeface="Courier New"/>
              </a:rPr>
              <a:t> </a:t>
            </a:r>
            <a:r>
              <a:rPr dirty="0" sz="1800" spc="-10" b="1">
                <a:solidFill>
                  <a:srgbClr val="4E3629"/>
                </a:solidFill>
                <a:latin typeface="Courier New"/>
                <a:cs typeface="Courier New"/>
              </a:rPr>
              <a:t>'Abel';</a:t>
            </a:r>
            <a:endParaRPr sz="1800">
              <a:latin typeface="Courier New"/>
              <a:cs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15</a:t>
            </a:r>
            <a:endParaRPr sz="850">
              <a:latin typeface="Calibri"/>
              <a:cs typeface="Calibri"/>
            </a:endParaRPr>
          </a:p>
        </p:txBody>
      </p:sp>
      <p:sp>
        <p:nvSpPr>
          <p:cNvPr id="3" name="object 3" descr=""/>
          <p:cNvSpPr txBox="1"/>
          <p:nvPr/>
        </p:nvSpPr>
        <p:spPr>
          <a:xfrm>
            <a:off x="483552" y="1355371"/>
            <a:ext cx="8167370" cy="2150745"/>
          </a:xfrm>
          <a:prstGeom prst="rect">
            <a:avLst/>
          </a:prstGeom>
        </p:spPr>
        <p:txBody>
          <a:bodyPr wrap="square" lIns="0" tIns="71755" rIns="0" bIns="0" rtlCol="0" vert="horz">
            <a:spAutoFit/>
          </a:bodyPr>
          <a:lstStyle/>
          <a:p>
            <a:pPr marL="160020" indent="-147320">
              <a:lnSpc>
                <a:spcPct val="100000"/>
              </a:lnSpc>
              <a:spcBef>
                <a:spcPts val="565"/>
              </a:spcBef>
              <a:buClr>
                <a:srgbClr val="D1350F"/>
              </a:buClr>
              <a:buFont typeface="Arial MT"/>
              <a:buChar char="•"/>
              <a:tabLst>
                <a:tab pos="160020" algn="l"/>
              </a:tabLst>
            </a:pPr>
            <a:r>
              <a:rPr dirty="0" u="heavy" sz="2800" spc="-515">
                <a:solidFill>
                  <a:srgbClr val="4E3629"/>
                </a:solidFill>
                <a:uFill>
                  <a:solidFill>
                    <a:srgbClr val="EC2814"/>
                  </a:solidFill>
                </a:uFill>
                <a:latin typeface="Calibri"/>
                <a:cs typeface="Calibri"/>
              </a:rPr>
              <a:t> </a:t>
            </a:r>
            <a:r>
              <a:rPr dirty="0" u="heavy" sz="2800" spc="-55">
                <a:solidFill>
                  <a:srgbClr val="4E3629"/>
                </a:solidFill>
                <a:uFill>
                  <a:solidFill>
                    <a:srgbClr val="EC2814"/>
                  </a:solidFill>
                </a:uFill>
                <a:latin typeface="Calibri"/>
                <a:cs typeface="Calibri"/>
              </a:rPr>
              <a:t>CONCAT:</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dos</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valores</a:t>
            </a:r>
            <a:endParaRPr sz="2800">
              <a:latin typeface="Calibri"/>
              <a:cs typeface="Calibri"/>
            </a:endParaRPr>
          </a:p>
          <a:p>
            <a:pPr marL="182880" marR="5080" indent="-170815">
              <a:lnSpc>
                <a:spcPts val="3030"/>
              </a:lnSpc>
              <a:spcBef>
                <a:spcPts val="844"/>
              </a:spcBef>
              <a:buClr>
                <a:srgbClr val="D1350F"/>
              </a:buClr>
              <a:buFont typeface="Arial MT"/>
              <a:buChar char="•"/>
              <a:tabLst>
                <a:tab pos="184785" algn="l"/>
              </a:tabLst>
            </a:pPr>
            <a:r>
              <a:rPr dirty="0" sz="2800" spc="-50">
                <a:solidFill>
                  <a:srgbClr val="4E3629"/>
                </a:solidFill>
                <a:latin typeface="Calibri"/>
                <a:cs typeface="Calibri"/>
              </a:rPr>
              <a:t>Toma</a:t>
            </a:r>
            <a:r>
              <a:rPr dirty="0" sz="2800" spc="-55">
                <a:solidFill>
                  <a:srgbClr val="4E3629"/>
                </a:solidFill>
                <a:latin typeface="Calibri"/>
                <a:cs typeface="Calibri"/>
              </a:rPr>
              <a:t> </a:t>
            </a:r>
            <a:r>
              <a:rPr dirty="0" sz="2800">
                <a:solidFill>
                  <a:srgbClr val="4E3629"/>
                </a:solidFill>
                <a:latin typeface="Calibri"/>
                <a:cs typeface="Calibri"/>
              </a:rPr>
              <a:t>2</a:t>
            </a:r>
            <a:r>
              <a:rPr dirty="0" sz="2800" spc="-45">
                <a:solidFill>
                  <a:srgbClr val="4E3629"/>
                </a:solidFill>
                <a:latin typeface="Calibri"/>
                <a:cs typeface="Calibri"/>
              </a:rPr>
              <a:t> </a:t>
            </a:r>
            <a:r>
              <a:rPr dirty="0" sz="2800" spc="-10">
                <a:solidFill>
                  <a:srgbClr val="4E3629"/>
                </a:solidFill>
                <a:latin typeface="Calibri"/>
                <a:cs typeface="Calibri"/>
              </a:rPr>
              <a:t>argumentos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cadena</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caracteres</a:t>
            </a:r>
            <a:r>
              <a:rPr dirty="0" sz="2800" spc="-70">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une</a:t>
            </a:r>
            <a:r>
              <a:rPr dirty="0" sz="2800" spc="-3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segunda</a:t>
            </a:r>
            <a:r>
              <a:rPr dirty="0" sz="2800" spc="-40">
                <a:solidFill>
                  <a:srgbClr val="4E3629"/>
                </a:solidFill>
                <a:latin typeface="Calibri"/>
                <a:cs typeface="Calibri"/>
              </a:rPr>
              <a:t> </a:t>
            </a:r>
            <a:r>
              <a:rPr dirty="0" sz="2800">
                <a:solidFill>
                  <a:srgbClr val="4E3629"/>
                </a:solidFill>
                <a:latin typeface="Calibri"/>
                <a:cs typeface="Calibri"/>
              </a:rPr>
              <a:t>cadena</a:t>
            </a:r>
            <a:r>
              <a:rPr dirty="0" sz="2800" spc="-50">
                <a:solidFill>
                  <a:srgbClr val="4E3629"/>
                </a:solidFill>
                <a:latin typeface="Calibri"/>
                <a:cs typeface="Calibri"/>
              </a:rPr>
              <a:t> </a:t>
            </a:r>
            <a:r>
              <a:rPr dirty="0" sz="2800">
                <a:solidFill>
                  <a:srgbClr val="4E3629"/>
                </a:solidFill>
                <a:latin typeface="Calibri"/>
                <a:cs typeface="Calibri"/>
              </a:rPr>
              <a:t>a</a:t>
            </a:r>
            <a:r>
              <a:rPr dirty="0" sz="2800" spc="-7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primera.</a:t>
            </a:r>
            <a:r>
              <a:rPr dirty="0" sz="2800" spc="-35">
                <a:solidFill>
                  <a:srgbClr val="4E3629"/>
                </a:solidFill>
                <a:latin typeface="Calibri"/>
                <a:cs typeface="Calibri"/>
              </a:rPr>
              <a:t> </a:t>
            </a:r>
            <a:r>
              <a:rPr dirty="0" sz="2800" spc="-30">
                <a:solidFill>
                  <a:srgbClr val="4E3629"/>
                </a:solidFill>
                <a:latin typeface="Calibri"/>
                <a:cs typeface="Calibri"/>
              </a:rPr>
              <a:t>También</a:t>
            </a:r>
            <a:r>
              <a:rPr dirty="0" sz="2800" spc="-6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spc="-10">
                <a:solidFill>
                  <a:srgbClr val="4E3629"/>
                </a:solidFill>
                <a:latin typeface="Calibri"/>
                <a:cs typeface="Calibri"/>
              </a:rPr>
              <a:t>puede </a:t>
            </a:r>
            <a:r>
              <a:rPr dirty="0" sz="2800" spc="-10">
                <a:solidFill>
                  <a:srgbClr val="4E3629"/>
                </a:solidFill>
                <a:latin typeface="Calibri"/>
                <a:cs typeface="Calibri"/>
              </a:rPr>
              <a:t>	</a:t>
            </a:r>
            <a:r>
              <a:rPr dirty="0" sz="2800">
                <a:solidFill>
                  <a:srgbClr val="4E3629"/>
                </a:solidFill>
                <a:latin typeface="Calibri"/>
                <a:cs typeface="Calibri"/>
              </a:rPr>
              <a:t>escribir</a:t>
            </a:r>
            <a:r>
              <a:rPr dirty="0" sz="2800" spc="-70">
                <a:solidFill>
                  <a:srgbClr val="4E3629"/>
                </a:solidFill>
                <a:latin typeface="Calibri"/>
                <a:cs typeface="Calibri"/>
              </a:rPr>
              <a:t> </a:t>
            </a:r>
            <a:r>
              <a:rPr dirty="0" sz="2800">
                <a:solidFill>
                  <a:srgbClr val="4E3629"/>
                </a:solidFill>
                <a:latin typeface="Calibri"/>
                <a:cs typeface="Calibri"/>
              </a:rPr>
              <a:t>mediante</a:t>
            </a:r>
            <a:r>
              <a:rPr dirty="0" sz="2800" spc="-75">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operador</a:t>
            </a:r>
            <a:r>
              <a:rPr dirty="0" sz="2800" spc="-7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concatenación:</a:t>
            </a:r>
            <a:r>
              <a:rPr dirty="0" sz="2800" spc="-75">
                <a:solidFill>
                  <a:srgbClr val="4E3629"/>
                </a:solidFill>
                <a:latin typeface="Calibri"/>
                <a:cs typeface="Calibri"/>
              </a:rPr>
              <a:t> </a:t>
            </a:r>
            <a:r>
              <a:rPr dirty="0" sz="2800" spc="-10">
                <a:solidFill>
                  <a:srgbClr val="4E3629"/>
                </a:solidFill>
                <a:latin typeface="Calibri"/>
                <a:cs typeface="Calibri"/>
              </a:rPr>
              <a:t>'Hello'</a:t>
            </a:r>
            <a:endParaRPr sz="2800">
              <a:latin typeface="Calibri"/>
              <a:cs typeface="Calibri"/>
            </a:endParaRPr>
          </a:p>
          <a:p>
            <a:pPr marL="184785">
              <a:lnSpc>
                <a:spcPts val="2970"/>
              </a:lnSpc>
            </a:pPr>
            <a:r>
              <a:rPr dirty="0" sz="2800">
                <a:solidFill>
                  <a:srgbClr val="4E3629"/>
                </a:solidFill>
                <a:latin typeface="Calibri"/>
                <a:cs typeface="Calibri"/>
              </a:rPr>
              <a:t>||</a:t>
            </a:r>
            <a:r>
              <a:rPr dirty="0" sz="2800" spc="-30">
                <a:solidFill>
                  <a:srgbClr val="4E3629"/>
                </a:solidFill>
                <a:latin typeface="Calibri"/>
                <a:cs typeface="Calibri"/>
              </a:rPr>
              <a:t> </a:t>
            </a:r>
            <a:r>
              <a:rPr dirty="0" sz="2800" spc="-10">
                <a:solidFill>
                  <a:srgbClr val="4E3629"/>
                </a:solidFill>
                <a:latin typeface="Calibri"/>
                <a:cs typeface="Calibri"/>
              </a:rPr>
              <a:t>'World'</a:t>
            </a:r>
            <a:endParaRPr sz="2800">
              <a:latin typeface="Calibri"/>
              <a:cs typeface="Calibri"/>
            </a:endParaRPr>
          </a:p>
        </p:txBody>
      </p:sp>
      <p:graphicFrame>
        <p:nvGraphicFramePr>
          <p:cNvPr id="4" name="object 4" descr=""/>
          <p:cNvGraphicFramePr>
            <a:graphicFrameLocks noGrp="1"/>
          </p:cNvGraphicFramePr>
          <p:nvPr/>
        </p:nvGraphicFramePr>
        <p:xfrm>
          <a:off x="398462" y="3751326"/>
          <a:ext cx="8435975" cy="1943100"/>
        </p:xfrm>
        <a:graphic>
          <a:graphicData uri="http://schemas.openxmlformats.org/drawingml/2006/table">
            <a:tbl>
              <a:tblPr firstRow="1" bandRow="1">
                <a:tableStyleId>{2D5ABB26-0587-4C30-8999-92F81FD0307C}</a:tableStyleId>
              </a:tblPr>
              <a:tblGrid>
                <a:gridCol w="5892800"/>
                <a:gridCol w="2453004"/>
              </a:tblGrid>
              <a:tr h="395605">
                <a:tc>
                  <a:txBody>
                    <a:bodyPr/>
                    <a:lstStyle/>
                    <a:p>
                      <a:pPr marL="100965">
                        <a:lnSpc>
                          <a:spcPct val="100000"/>
                        </a:lnSpc>
                        <a:spcBef>
                          <a:spcPts val="270"/>
                        </a:spcBef>
                      </a:pPr>
                      <a:r>
                        <a:rPr dirty="0" sz="1600" spc="-10" b="1">
                          <a:solidFill>
                            <a:srgbClr val="4E3629"/>
                          </a:solidFill>
                          <a:latin typeface="Calibri"/>
                          <a:cs typeface="Calibri"/>
                        </a:rPr>
                        <a:t>Ejemplos:</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0965">
                        <a:lnSpc>
                          <a:spcPct val="100000"/>
                        </a:lnSpc>
                        <a:spcBef>
                          <a:spcPts val="259"/>
                        </a:spcBef>
                      </a:pPr>
                      <a:r>
                        <a:rPr dirty="0" sz="1600" spc="-10" b="1">
                          <a:solidFill>
                            <a:srgbClr val="4E3629"/>
                          </a:solidFill>
                          <a:latin typeface="Calibri"/>
                          <a:cs typeface="Calibri"/>
                        </a:rPr>
                        <a:t>resultado</a:t>
                      </a:r>
                      <a:endParaRPr sz="1600">
                        <a:latin typeface="Calibri"/>
                        <a:cs typeface="Calibri"/>
                      </a:endParaRPr>
                    </a:p>
                  </a:txBody>
                  <a:tcPr marL="0" marR="0" marB="0" marT="3301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100965" marR="3145790">
                        <a:lnSpc>
                          <a:spcPts val="2230"/>
                        </a:lnSpc>
                        <a:spcBef>
                          <a:spcPts val="75"/>
                        </a:spcBef>
                      </a:pPr>
                      <a:r>
                        <a:rPr dirty="0" sz="1600">
                          <a:solidFill>
                            <a:srgbClr val="4E3629"/>
                          </a:solidFill>
                          <a:latin typeface="Calibri"/>
                          <a:cs typeface="Calibri"/>
                        </a:rPr>
                        <a:t>SELECT</a:t>
                      </a:r>
                      <a:r>
                        <a:rPr dirty="0" sz="1600" spc="-45">
                          <a:solidFill>
                            <a:srgbClr val="4E3629"/>
                          </a:solidFill>
                          <a:latin typeface="Calibri"/>
                          <a:cs typeface="Calibri"/>
                        </a:rPr>
                        <a:t> </a:t>
                      </a:r>
                      <a:r>
                        <a:rPr dirty="0" sz="1600" spc="-10">
                          <a:solidFill>
                            <a:srgbClr val="4E3629"/>
                          </a:solidFill>
                          <a:latin typeface="Calibri"/>
                          <a:cs typeface="Calibri"/>
                        </a:rPr>
                        <a:t>CONCAT('Hello',</a:t>
                      </a:r>
                      <a:r>
                        <a:rPr dirty="0" sz="1600" spc="-50">
                          <a:solidFill>
                            <a:srgbClr val="4E3629"/>
                          </a:solidFill>
                          <a:latin typeface="Calibri"/>
                          <a:cs typeface="Calibri"/>
                        </a:rPr>
                        <a:t> </a:t>
                      </a:r>
                      <a:r>
                        <a:rPr dirty="0" sz="1600" spc="-10">
                          <a:solidFill>
                            <a:srgbClr val="4E3629"/>
                          </a:solidFill>
                          <a:latin typeface="Calibri"/>
                          <a:cs typeface="Calibri"/>
                        </a:rPr>
                        <a:t>'World')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0965">
                        <a:lnSpc>
                          <a:spcPct val="100000"/>
                        </a:lnSpc>
                        <a:spcBef>
                          <a:spcPts val="270"/>
                        </a:spcBef>
                      </a:pPr>
                      <a:r>
                        <a:rPr dirty="0" sz="1600" spc="-10">
                          <a:solidFill>
                            <a:srgbClr val="4E3629"/>
                          </a:solidFill>
                          <a:latin typeface="Calibri"/>
                          <a:cs typeface="Calibri"/>
                        </a:rPr>
                        <a:t>HelloWorld</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920115">
                <a:tc>
                  <a:txBody>
                    <a:bodyPr/>
                    <a:lstStyle/>
                    <a:p>
                      <a:pPr marL="100965" marR="2505075">
                        <a:lnSpc>
                          <a:spcPts val="2230"/>
                        </a:lnSpc>
                        <a:spcBef>
                          <a:spcPts val="75"/>
                        </a:spcBef>
                      </a:pPr>
                      <a:r>
                        <a:rPr dirty="0" sz="1600">
                          <a:solidFill>
                            <a:srgbClr val="4E3629"/>
                          </a:solidFill>
                          <a:latin typeface="Calibri"/>
                          <a:cs typeface="Calibri"/>
                        </a:rPr>
                        <a:t>SELECT</a:t>
                      </a:r>
                      <a:r>
                        <a:rPr dirty="0" sz="1600" spc="30">
                          <a:solidFill>
                            <a:srgbClr val="4E3629"/>
                          </a:solidFill>
                          <a:latin typeface="Calibri"/>
                          <a:cs typeface="Calibri"/>
                        </a:rPr>
                        <a:t> </a:t>
                      </a:r>
                      <a:r>
                        <a:rPr dirty="0" sz="1600" spc="-20">
                          <a:solidFill>
                            <a:srgbClr val="4E3629"/>
                          </a:solidFill>
                          <a:latin typeface="Calibri"/>
                          <a:cs typeface="Calibri"/>
                        </a:rPr>
                        <a:t>CONCAT(first_name,</a:t>
                      </a:r>
                      <a:r>
                        <a:rPr dirty="0" sz="1600" spc="5">
                          <a:solidFill>
                            <a:srgbClr val="4E3629"/>
                          </a:solidFill>
                          <a:latin typeface="Calibri"/>
                          <a:cs typeface="Calibri"/>
                        </a:rPr>
                        <a:t> </a:t>
                      </a:r>
                      <a:r>
                        <a:rPr dirty="0" sz="1600" spc="-10">
                          <a:solidFill>
                            <a:srgbClr val="4E3629"/>
                          </a:solidFill>
                          <a:latin typeface="Calibri"/>
                          <a:cs typeface="Calibri"/>
                        </a:rPr>
                        <a:t>last_name)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0965" marR="1326515">
                        <a:lnSpc>
                          <a:spcPts val="2300"/>
                        </a:lnSpc>
                        <a:spcBef>
                          <a:spcPts val="15"/>
                        </a:spcBef>
                      </a:pPr>
                      <a:r>
                        <a:rPr dirty="0" sz="1600" spc="-10">
                          <a:solidFill>
                            <a:srgbClr val="4E3629"/>
                          </a:solidFill>
                          <a:latin typeface="Calibri"/>
                          <a:cs typeface="Calibri"/>
                        </a:rPr>
                        <a:t>EllenAbel CurtisDavies</a:t>
                      </a:r>
                      <a:endParaRPr sz="1600">
                        <a:latin typeface="Calibri"/>
                        <a:cs typeface="Calibri"/>
                      </a:endParaRPr>
                    </a:p>
                    <a:p>
                      <a:pPr marL="100965">
                        <a:lnSpc>
                          <a:spcPct val="100000"/>
                        </a:lnSpc>
                        <a:spcBef>
                          <a:spcPts val="265"/>
                        </a:spcBef>
                      </a:pPr>
                      <a:r>
                        <a:rPr dirty="0" sz="1600" spc="-50">
                          <a:solidFill>
                            <a:srgbClr val="4E3629"/>
                          </a:solidFill>
                          <a:latin typeface="Calibri"/>
                          <a:cs typeface="Calibri"/>
                        </a:rPr>
                        <a:t>…</a:t>
                      </a:r>
                      <a:endParaRPr sz="1600">
                        <a:latin typeface="Calibri"/>
                        <a:cs typeface="Calibri"/>
                      </a:endParaRPr>
                    </a:p>
                  </a:txBody>
                  <a:tcPr marL="0" marR="0" marB="0" marT="190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16</a:t>
            </a:r>
            <a:endParaRPr sz="850">
              <a:latin typeface="Calibri"/>
              <a:cs typeface="Calibri"/>
            </a:endParaRPr>
          </a:p>
        </p:txBody>
      </p:sp>
      <p:sp>
        <p:nvSpPr>
          <p:cNvPr id="3" name="object 3" descr=""/>
          <p:cNvSpPr txBox="1"/>
          <p:nvPr/>
        </p:nvSpPr>
        <p:spPr>
          <a:xfrm>
            <a:off x="483552" y="1415417"/>
            <a:ext cx="7681595" cy="2576195"/>
          </a:xfrm>
          <a:prstGeom prst="rect">
            <a:avLst/>
          </a:prstGeom>
        </p:spPr>
        <p:txBody>
          <a:bodyPr wrap="square" lIns="0" tIns="59690" rIns="0" bIns="0" rtlCol="0" vert="horz">
            <a:spAutoFit/>
          </a:bodyPr>
          <a:lstStyle/>
          <a:p>
            <a:pPr marL="159385" marR="120142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SUBSTR:</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extrae</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cadena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longitud</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determinada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Los</a:t>
            </a:r>
            <a:r>
              <a:rPr dirty="0" sz="2800" spc="-70">
                <a:solidFill>
                  <a:srgbClr val="4E3629"/>
                </a:solidFill>
                <a:latin typeface="Calibri"/>
                <a:cs typeface="Calibri"/>
              </a:rPr>
              <a:t> </a:t>
            </a:r>
            <a:r>
              <a:rPr dirty="0" sz="2800" spc="-10">
                <a:solidFill>
                  <a:srgbClr val="4E3629"/>
                </a:solidFill>
                <a:latin typeface="Calibri"/>
                <a:cs typeface="Calibri"/>
              </a:rPr>
              <a:t>argumentos</a:t>
            </a:r>
            <a:r>
              <a:rPr dirty="0" sz="2800" spc="-55">
                <a:solidFill>
                  <a:srgbClr val="4E3629"/>
                </a:solidFill>
                <a:latin typeface="Calibri"/>
                <a:cs typeface="Calibri"/>
              </a:rPr>
              <a:t> </a:t>
            </a:r>
            <a:r>
              <a:rPr dirty="0" sz="2800">
                <a:solidFill>
                  <a:srgbClr val="4E3629"/>
                </a:solidFill>
                <a:latin typeface="Calibri"/>
                <a:cs typeface="Calibri"/>
              </a:rPr>
              <a:t>son</a:t>
            </a:r>
            <a:r>
              <a:rPr dirty="0" sz="2800" spc="-65">
                <a:solidFill>
                  <a:srgbClr val="4E3629"/>
                </a:solidFill>
                <a:latin typeface="Calibri"/>
                <a:cs typeface="Calibri"/>
              </a:rPr>
              <a:t> </a:t>
            </a:r>
            <a:r>
              <a:rPr dirty="0" sz="2800">
                <a:solidFill>
                  <a:srgbClr val="4E3629"/>
                </a:solidFill>
                <a:latin typeface="Calibri"/>
                <a:cs typeface="Calibri"/>
              </a:rPr>
              <a:t>(cadena</a:t>
            </a:r>
            <a:r>
              <a:rPr dirty="0" sz="2800" spc="-5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caracteres,</a:t>
            </a:r>
            <a:r>
              <a:rPr dirty="0" sz="2800" spc="-65">
                <a:solidFill>
                  <a:srgbClr val="4E3629"/>
                </a:solidFill>
                <a:latin typeface="Calibri"/>
                <a:cs typeface="Calibri"/>
              </a:rPr>
              <a:t> </a:t>
            </a:r>
            <a:r>
              <a:rPr dirty="0" sz="2800" spc="-10">
                <a:solidFill>
                  <a:srgbClr val="4E3629"/>
                </a:solidFill>
                <a:latin typeface="Calibri"/>
                <a:cs typeface="Calibri"/>
              </a:rPr>
              <a:t>posición </a:t>
            </a:r>
            <a:r>
              <a:rPr dirty="0" sz="2800" spc="-10">
                <a:solidFill>
                  <a:srgbClr val="4E3629"/>
                </a:solidFill>
                <a:latin typeface="Calibri"/>
                <a:cs typeface="Calibri"/>
              </a:rPr>
              <a:t>	</a:t>
            </a:r>
            <a:r>
              <a:rPr dirty="0" sz="2800">
                <a:solidFill>
                  <a:srgbClr val="4E3629"/>
                </a:solidFill>
                <a:latin typeface="Calibri"/>
                <a:cs typeface="Calibri"/>
              </a:rPr>
              <a:t>inicial,</a:t>
            </a:r>
            <a:r>
              <a:rPr dirty="0" sz="2800" spc="-60">
                <a:solidFill>
                  <a:srgbClr val="4E3629"/>
                </a:solidFill>
                <a:latin typeface="Calibri"/>
                <a:cs typeface="Calibri"/>
              </a:rPr>
              <a:t> </a:t>
            </a:r>
            <a:r>
              <a:rPr dirty="0" sz="2800" spc="-10">
                <a:solidFill>
                  <a:srgbClr val="4E3629"/>
                </a:solidFill>
                <a:latin typeface="Calibri"/>
                <a:cs typeface="Calibri"/>
              </a:rPr>
              <a:t>Length)</a:t>
            </a:r>
            <a:endParaRPr sz="2800">
              <a:latin typeface="Calibri"/>
              <a:cs typeface="Calibri"/>
            </a:endParaRPr>
          </a:p>
          <a:p>
            <a:pPr marL="182880" marR="306705"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El</a:t>
            </a:r>
            <a:r>
              <a:rPr dirty="0" sz="2800" spc="-75">
                <a:solidFill>
                  <a:srgbClr val="4E3629"/>
                </a:solidFill>
                <a:latin typeface="Calibri"/>
                <a:cs typeface="Calibri"/>
              </a:rPr>
              <a:t> </a:t>
            </a:r>
            <a:r>
              <a:rPr dirty="0" sz="2800" spc="-10">
                <a:solidFill>
                  <a:srgbClr val="4E3629"/>
                </a:solidFill>
                <a:latin typeface="Calibri"/>
                <a:cs typeface="Calibri"/>
              </a:rPr>
              <a:t>argumento</a:t>
            </a:r>
            <a:r>
              <a:rPr dirty="0" sz="2800" spc="-55">
                <a:solidFill>
                  <a:srgbClr val="4E3629"/>
                </a:solidFill>
                <a:latin typeface="Calibri"/>
                <a:cs typeface="Calibri"/>
              </a:rPr>
              <a:t> </a:t>
            </a:r>
            <a:r>
              <a:rPr dirty="0" sz="2800">
                <a:solidFill>
                  <a:srgbClr val="4E3629"/>
                </a:solidFill>
                <a:latin typeface="Calibri"/>
                <a:cs typeface="Calibri"/>
              </a:rPr>
              <a:t>Length</a:t>
            </a:r>
            <a:r>
              <a:rPr dirty="0" sz="2800" spc="-4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a:solidFill>
                  <a:srgbClr val="4E3629"/>
                </a:solidFill>
                <a:latin typeface="Calibri"/>
                <a:cs typeface="Calibri"/>
              </a:rPr>
              <a:t>opcional</a:t>
            </a:r>
            <a:r>
              <a:rPr dirty="0" sz="2800" spc="-45">
                <a:solidFill>
                  <a:srgbClr val="4E3629"/>
                </a:solidFill>
                <a:latin typeface="Calibri"/>
                <a:cs typeface="Calibri"/>
              </a:rPr>
              <a:t> </a:t>
            </a:r>
            <a:r>
              <a:rPr dirty="0" sz="2800" spc="-50">
                <a:solidFill>
                  <a:srgbClr val="4E3629"/>
                </a:solidFill>
                <a:latin typeface="Calibri"/>
                <a:cs typeface="Calibri"/>
              </a:rPr>
              <a:t>y,</a:t>
            </a:r>
            <a:r>
              <a:rPr dirty="0" sz="2800" spc="-55">
                <a:solidFill>
                  <a:srgbClr val="4E3629"/>
                </a:solidFill>
                <a:latin typeface="Calibri"/>
                <a:cs typeface="Calibri"/>
              </a:rPr>
              <a:t> </a:t>
            </a: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spc="-10">
                <a:solidFill>
                  <a:srgbClr val="4E3629"/>
                </a:solidFill>
                <a:latin typeface="Calibri"/>
                <a:cs typeface="Calibri"/>
              </a:rPr>
              <a:t>omite, </a:t>
            </a:r>
            <a:r>
              <a:rPr dirty="0" sz="2800" spc="-10">
                <a:solidFill>
                  <a:srgbClr val="4E3629"/>
                </a:solidFill>
                <a:latin typeface="Calibri"/>
                <a:cs typeface="Calibri"/>
              </a:rPr>
              <a:t>	</a:t>
            </a:r>
            <a:r>
              <a:rPr dirty="0" sz="2800">
                <a:solidFill>
                  <a:srgbClr val="4E3629"/>
                </a:solidFill>
                <a:latin typeface="Calibri"/>
                <a:cs typeface="Calibri"/>
              </a:rPr>
              <a:t>devuelve</a:t>
            </a:r>
            <a:r>
              <a:rPr dirty="0" sz="2800" spc="-55">
                <a:solidFill>
                  <a:srgbClr val="4E3629"/>
                </a:solidFill>
                <a:latin typeface="Calibri"/>
                <a:cs typeface="Calibri"/>
              </a:rPr>
              <a:t> </a:t>
            </a:r>
            <a:r>
              <a:rPr dirty="0" sz="2800">
                <a:solidFill>
                  <a:srgbClr val="4E3629"/>
                </a:solidFill>
                <a:latin typeface="Calibri"/>
                <a:cs typeface="Calibri"/>
              </a:rPr>
              <a:t>todos</a:t>
            </a:r>
            <a:r>
              <a:rPr dirty="0" sz="2800" spc="-5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spc="-10">
                <a:solidFill>
                  <a:srgbClr val="4E3629"/>
                </a:solidFill>
                <a:latin typeface="Calibri"/>
                <a:cs typeface="Calibri"/>
              </a:rPr>
              <a:t>caracteres</a:t>
            </a:r>
            <a:r>
              <a:rPr dirty="0" sz="2800" spc="-65">
                <a:solidFill>
                  <a:srgbClr val="4E3629"/>
                </a:solidFill>
                <a:latin typeface="Calibri"/>
                <a:cs typeface="Calibri"/>
              </a:rPr>
              <a:t> </a:t>
            </a:r>
            <a:r>
              <a:rPr dirty="0" sz="2800">
                <a:solidFill>
                  <a:srgbClr val="4E3629"/>
                </a:solidFill>
                <a:latin typeface="Calibri"/>
                <a:cs typeface="Calibri"/>
              </a:rPr>
              <a:t>al</a:t>
            </a:r>
            <a:r>
              <a:rPr dirty="0" sz="2800" spc="-65">
                <a:solidFill>
                  <a:srgbClr val="4E3629"/>
                </a:solidFill>
                <a:latin typeface="Calibri"/>
                <a:cs typeface="Calibri"/>
              </a:rPr>
              <a:t> </a:t>
            </a:r>
            <a:r>
              <a:rPr dirty="0" sz="2800">
                <a:solidFill>
                  <a:srgbClr val="4E3629"/>
                </a:solidFill>
                <a:latin typeface="Calibri"/>
                <a:cs typeface="Calibri"/>
              </a:rPr>
              <a:t>final</a:t>
            </a:r>
            <a:r>
              <a:rPr dirty="0" sz="2800" spc="-5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cadena</a:t>
            </a:r>
            <a:endParaRPr sz="2800">
              <a:latin typeface="Calibri"/>
              <a:cs typeface="Calibri"/>
            </a:endParaRPr>
          </a:p>
        </p:txBody>
      </p:sp>
      <p:graphicFrame>
        <p:nvGraphicFramePr>
          <p:cNvPr id="4" name="object 4" descr=""/>
          <p:cNvGraphicFramePr>
            <a:graphicFrameLocks noGrp="1"/>
          </p:cNvGraphicFramePr>
          <p:nvPr/>
        </p:nvGraphicFramePr>
        <p:xfrm>
          <a:off x="1954212" y="4086726"/>
          <a:ext cx="5891530" cy="2216785"/>
        </p:xfrm>
        <a:graphic>
          <a:graphicData uri="http://schemas.openxmlformats.org/drawingml/2006/table">
            <a:tbl>
              <a:tblPr firstRow="1" bandRow="1">
                <a:tableStyleId>{2D5ABB26-0587-4C30-8999-92F81FD0307C}</a:tableStyleId>
              </a:tblPr>
              <a:tblGrid>
                <a:gridCol w="4299585"/>
                <a:gridCol w="1501775"/>
              </a:tblGrid>
              <a:tr h="334645">
                <a:tc>
                  <a:txBody>
                    <a:bodyPr/>
                    <a:lstStyle/>
                    <a:p>
                      <a:pPr marL="90805">
                        <a:lnSpc>
                          <a:spcPct val="100000"/>
                        </a:lnSpc>
                        <a:spcBef>
                          <a:spcPts val="270"/>
                        </a:spcBef>
                      </a:pPr>
                      <a:r>
                        <a:rPr dirty="0" sz="1600" spc="-10" b="1">
                          <a:solidFill>
                            <a:srgbClr val="4E3629"/>
                          </a:solidFill>
                          <a:latin typeface="Calibri"/>
                          <a:cs typeface="Calibri"/>
                        </a:rPr>
                        <a:t>Ejemplos:</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b="1">
                          <a:solidFill>
                            <a:srgbClr val="4E3629"/>
                          </a:solidFill>
                          <a:latin typeface="Calibri"/>
                          <a:cs typeface="Calibri"/>
                        </a:rPr>
                        <a:t>resultado</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0805" marR="148717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spc="-10">
                          <a:solidFill>
                            <a:srgbClr val="4E3629"/>
                          </a:solidFill>
                          <a:latin typeface="Calibri"/>
                          <a:cs typeface="Calibri"/>
                        </a:rPr>
                        <a:t>SUBSTR('HelloWorld',1,5)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59"/>
                        </a:spcBef>
                      </a:pPr>
                      <a:r>
                        <a:rPr dirty="0" sz="1600" spc="-10">
                          <a:solidFill>
                            <a:srgbClr val="4E3629"/>
                          </a:solidFill>
                          <a:latin typeface="Calibri"/>
                          <a:cs typeface="Calibri"/>
                        </a:rPr>
                        <a:t>Hello</a:t>
                      </a:r>
                      <a:endParaRPr sz="1600">
                        <a:latin typeface="Calibri"/>
                        <a:cs typeface="Calibri"/>
                      </a:endParaRPr>
                    </a:p>
                  </a:txBody>
                  <a:tcPr marL="0" marR="0" marB="0" marT="3301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0805" marR="1589405">
                        <a:lnSpc>
                          <a:spcPts val="2230"/>
                        </a:lnSpc>
                        <a:spcBef>
                          <a:spcPts val="75"/>
                        </a:spcBef>
                      </a:pPr>
                      <a:r>
                        <a:rPr dirty="0" sz="1600">
                          <a:solidFill>
                            <a:srgbClr val="4E3629"/>
                          </a:solidFill>
                          <a:latin typeface="Calibri"/>
                          <a:cs typeface="Calibri"/>
                        </a:rPr>
                        <a:t>SELECT</a:t>
                      </a:r>
                      <a:r>
                        <a:rPr dirty="0" sz="1600" spc="-20">
                          <a:solidFill>
                            <a:srgbClr val="4E3629"/>
                          </a:solidFill>
                          <a:latin typeface="Calibri"/>
                          <a:cs typeface="Calibri"/>
                        </a:rPr>
                        <a:t> </a:t>
                      </a:r>
                      <a:r>
                        <a:rPr dirty="0" sz="1600" spc="-10">
                          <a:solidFill>
                            <a:srgbClr val="4E3629"/>
                          </a:solidFill>
                          <a:latin typeface="Calibri"/>
                          <a:cs typeface="Calibri"/>
                        </a:rPr>
                        <a:t>SUBSTR('HelloWorld',</a:t>
                      </a:r>
                      <a:r>
                        <a:rPr dirty="0" sz="1600" spc="20">
                          <a:solidFill>
                            <a:srgbClr val="4E3629"/>
                          </a:solidFill>
                          <a:latin typeface="Calibri"/>
                          <a:cs typeface="Calibri"/>
                        </a:rPr>
                        <a:t> </a:t>
                      </a:r>
                      <a:r>
                        <a:rPr dirty="0" sz="1600" spc="-25">
                          <a:solidFill>
                            <a:srgbClr val="4E3629"/>
                          </a:solidFill>
                          <a:latin typeface="Calibri"/>
                          <a:cs typeface="Calibri"/>
                        </a:rPr>
                        <a:t>6)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a:solidFill>
                            <a:srgbClr val="4E3629"/>
                          </a:solidFill>
                          <a:latin typeface="Calibri"/>
                          <a:cs typeface="Calibri"/>
                        </a:rPr>
                        <a:t>Mundo</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0805" marR="165227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spc="-10">
                          <a:solidFill>
                            <a:srgbClr val="4E3629"/>
                          </a:solidFill>
                          <a:latin typeface="Calibri"/>
                          <a:cs typeface="Calibri"/>
                        </a:rPr>
                        <a:t>SUBSTR(last_name,1,3)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marR="1078230">
                        <a:lnSpc>
                          <a:spcPts val="2320"/>
                        </a:lnSpc>
                      </a:pPr>
                      <a:r>
                        <a:rPr dirty="0" sz="1600" spc="-25">
                          <a:solidFill>
                            <a:srgbClr val="4E3629"/>
                          </a:solidFill>
                          <a:latin typeface="Calibri"/>
                          <a:cs typeface="Calibri"/>
                        </a:rPr>
                        <a:t>Abe Dav</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17</a:t>
            </a:r>
            <a:endParaRPr sz="850">
              <a:latin typeface="Calibri"/>
              <a:cs typeface="Calibri"/>
            </a:endParaRPr>
          </a:p>
        </p:txBody>
      </p:sp>
      <p:sp>
        <p:nvSpPr>
          <p:cNvPr id="3" name="object 3" descr=""/>
          <p:cNvSpPr txBox="1"/>
          <p:nvPr/>
        </p:nvSpPr>
        <p:spPr>
          <a:xfrm>
            <a:off x="483552" y="1415417"/>
            <a:ext cx="7987665" cy="2090420"/>
          </a:xfrm>
          <a:prstGeom prst="rect">
            <a:avLst/>
          </a:prstGeom>
        </p:spPr>
        <p:txBody>
          <a:bodyPr wrap="square" lIns="0" tIns="59690" rIns="0" bIns="0" rtlCol="0" vert="horz">
            <a:spAutoFit/>
          </a:bodyPr>
          <a:lstStyle/>
          <a:p>
            <a:pPr marL="159385" marR="120650"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LENGTH:</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muestra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longitud</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cadena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como</a:t>
            </a:r>
            <a:r>
              <a:rPr dirty="0" u="heavy" sz="2800" spc="-5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numérico</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función</a:t>
            </a:r>
            <a:r>
              <a:rPr dirty="0" sz="2800" spc="-30">
                <a:solidFill>
                  <a:srgbClr val="4E3629"/>
                </a:solidFill>
                <a:latin typeface="Calibri"/>
                <a:cs typeface="Calibri"/>
              </a:rPr>
              <a:t> </a:t>
            </a:r>
            <a:r>
              <a:rPr dirty="0" sz="2800">
                <a:solidFill>
                  <a:srgbClr val="4E3629"/>
                </a:solidFill>
                <a:latin typeface="Calibri"/>
                <a:cs typeface="Calibri"/>
              </a:rPr>
              <a:t>toma</a:t>
            </a:r>
            <a:r>
              <a:rPr dirty="0" sz="2800" spc="-5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cadena</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caracteres</a:t>
            </a:r>
            <a:r>
              <a:rPr dirty="0" sz="2800" spc="-70">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spc="-10">
                <a:solidFill>
                  <a:srgbClr val="4E3629"/>
                </a:solidFill>
                <a:latin typeface="Calibri"/>
                <a:cs typeface="Calibri"/>
              </a:rPr>
              <a:t>argumento</a:t>
            </a:r>
            <a:r>
              <a:rPr dirty="0" sz="2800" spc="-55">
                <a:solidFill>
                  <a:srgbClr val="4E3629"/>
                </a:solidFill>
                <a:latin typeface="Calibri"/>
                <a:cs typeface="Calibri"/>
              </a:rPr>
              <a:t> </a:t>
            </a:r>
            <a:r>
              <a:rPr dirty="0" sz="2800">
                <a:solidFill>
                  <a:srgbClr val="4E3629"/>
                </a:solidFill>
                <a:latin typeface="Calibri"/>
                <a:cs typeface="Calibri"/>
              </a:rPr>
              <a:t>y</a:t>
            </a:r>
            <a:r>
              <a:rPr dirty="0" sz="2800" spc="-70">
                <a:solidFill>
                  <a:srgbClr val="4E3629"/>
                </a:solidFill>
                <a:latin typeface="Calibri"/>
                <a:cs typeface="Calibri"/>
              </a:rPr>
              <a:t> </a:t>
            </a:r>
            <a:r>
              <a:rPr dirty="0" sz="2800">
                <a:solidFill>
                  <a:srgbClr val="4E3629"/>
                </a:solidFill>
                <a:latin typeface="Calibri"/>
                <a:cs typeface="Calibri"/>
              </a:rPr>
              <a:t>devuelve</a:t>
            </a:r>
            <a:r>
              <a:rPr dirty="0" sz="2800" spc="-5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número</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caracteres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25">
                <a:solidFill>
                  <a:srgbClr val="4E3629"/>
                </a:solidFill>
                <a:latin typeface="Calibri"/>
                <a:cs typeface="Calibri"/>
              </a:rPr>
              <a:t>esa </a:t>
            </a:r>
            <a:r>
              <a:rPr dirty="0" sz="2800" spc="-25">
                <a:solidFill>
                  <a:srgbClr val="4E3629"/>
                </a:solidFill>
                <a:latin typeface="Calibri"/>
                <a:cs typeface="Calibri"/>
              </a:rPr>
              <a:t>	</a:t>
            </a:r>
            <a:r>
              <a:rPr dirty="0" sz="2800">
                <a:solidFill>
                  <a:srgbClr val="4E3629"/>
                </a:solidFill>
                <a:latin typeface="Calibri"/>
                <a:cs typeface="Calibri"/>
              </a:rPr>
              <a:t>cadena</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caracteres</a:t>
            </a:r>
            <a:endParaRPr sz="2800">
              <a:latin typeface="Calibri"/>
              <a:cs typeface="Calibri"/>
            </a:endParaRPr>
          </a:p>
        </p:txBody>
      </p:sp>
      <p:graphicFrame>
        <p:nvGraphicFramePr>
          <p:cNvPr id="4" name="object 4" descr=""/>
          <p:cNvGraphicFramePr>
            <a:graphicFrameLocks noGrp="1"/>
          </p:cNvGraphicFramePr>
          <p:nvPr/>
        </p:nvGraphicFramePr>
        <p:xfrm>
          <a:off x="1198562" y="3751326"/>
          <a:ext cx="6032500" cy="2046604"/>
        </p:xfrm>
        <a:graphic>
          <a:graphicData uri="http://schemas.openxmlformats.org/drawingml/2006/table">
            <a:tbl>
              <a:tblPr firstRow="1" bandRow="1">
                <a:tableStyleId>{2D5ABB26-0587-4C30-8999-92F81FD0307C}</a:tableStyleId>
              </a:tblPr>
              <a:tblGrid>
                <a:gridCol w="4072254"/>
                <a:gridCol w="1871979"/>
              </a:tblGrid>
              <a:tr h="39560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153289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spc="-10">
                          <a:solidFill>
                            <a:srgbClr val="4E3629"/>
                          </a:solidFill>
                          <a:latin typeface="Calibri"/>
                          <a:cs typeface="Calibri"/>
                        </a:rPr>
                        <a:t>LENGTH('HelloWorld')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25">
                          <a:solidFill>
                            <a:srgbClr val="4E3629"/>
                          </a:solidFill>
                          <a:latin typeface="Calibri"/>
                          <a:cs typeface="Calibri"/>
                        </a:rPr>
                        <a:t>10</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23619">
                <a:tc>
                  <a:txBody>
                    <a:bodyPr/>
                    <a:lstStyle/>
                    <a:p>
                      <a:pPr marL="91440" marR="169418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spc="-10">
                          <a:solidFill>
                            <a:srgbClr val="4E3629"/>
                          </a:solidFill>
                          <a:latin typeface="Calibri"/>
                          <a:cs typeface="Calibri"/>
                        </a:rPr>
                        <a:t>LENGTH(last_name)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1800" spc="-50">
                          <a:solidFill>
                            <a:srgbClr val="4E3629"/>
                          </a:solidFill>
                          <a:latin typeface="Calibri"/>
                          <a:cs typeface="Calibri"/>
                        </a:rPr>
                        <a:t>4</a:t>
                      </a:r>
                      <a:endParaRPr sz="1800">
                        <a:latin typeface="Calibri"/>
                        <a:cs typeface="Calibri"/>
                      </a:endParaRPr>
                    </a:p>
                    <a:p>
                      <a:pPr marL="91440">
                        <a:lnSpc>
                          <a:spcPct val="100000"/>
                        </a:lnSpc>
                        <a:spcBef>
                          <a:spcPts val="430"/>
                        </a:spcBef>
                      </a:pPr>
                      <a:r>
                        <a:rPr dirty="0" sz="1800" spc="-50">
                          <a:solidFill>
                            <a:srgbClr val="4E3629"/>
                          </a:solidFill>
                          <a:latin typeface="Calibri"/>
                          <a:cs typeface="Calibri"/>
                        </a:rPr>
                        <a:t>6</a:t>
                      </a:r>
                      <a:endParaRPr sz="1800">
                        <a:latin typeface="Calibri"/>
                        <a:cs typeface="Calibri"/>
                      </a:endParaRPr>
                    </a:p>
                    <a:p>
                      <a:pPr marL="91440">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644499" y="2332595"/>
            <a:ext cx="7567295" cy="1152525"/>
          </a:xfrm>
          <a:custGeom>
            <a:avLst/>
            <a:gdLst/>
            <a:ahLst/>
            <a:cxnLst/>
            <a:rect l="l" t="t" r="r" b="b"/>
            <a:pathLst>
              <a:path w="7567295" h="1152525">
                <a:moveTo>
                  <a:pt x="3785870" y="962469"/>
                </a:moveTo>
                <a:lnTo>
                  <a:pt x="3780548" y="906221"/>
                </a:lnTo>
                <a:lnTo>
                  <a:pt x="3766108" y="854532"/>
                </a:lnTo>
                <a:lnTo>
                  <a:pt x="3744823" y="811961"/>
                </a:lnTo>
                <a:lnTo>
                  <a:pt x="3718979" y="783069"/>
                </a:lnTo>
                <a:lnTo>
                  <a:pt x="3690848" y="772426"/>
                </a:lnTo>
                <a:lnTo>
                  <a:pt x="118986" y="772426"/>
                </a:lnTo>
                <a:lnTo>
                  <a:pt x="65011" y="811961"/>
                </a:lnTo>
                <a:lnTo>
                  <a:pt x="43726" y="854532"/>
                </a:lnTo>
                <a:lnTo>
                  <a:pt x="29273" y="906221"/>
                </a:lnTo>
                <a:lnTo>
                  <a:pt x="23964" y="962469"/>
                </a:lnTo>
                <a:lnTo>
                  <a:pt x="29273" y="1018730"/>
                </a:lnTo>
                <a:lnTo>
                  <a:pt x="43726" y="1070419"/>
                </a:lnTo>
                <a:lnTo>
                  <a:pt x="65011" y="1112989"/>
                </a:lnTo>
                <a:lnTo>
                  <a:pt x="90855" y="1141882"/>
                </a:lnTo>
                <a:lnTo>
                  <a:pt x="118986" y="1152525"/>
                </a:lnTo>
                <a:lnTo>
                  <a:pt x="3690848" y="1152525"/>
                </a:lnTo>
                <a:lnTo>
                  <a:pt x="3744823" y="1112989"/>
                </a:lnTo>
                <a:lnTo>
                  <a:pt x="3766108" y="1070419"/>
                </a:lnTo>
                <a:lnTo>
                  <a:pt x="3780548" y="1018730"/>
                </a:lnTo>
                <a:lnTo>
                  <a:pt x="3785870" y="962469"/>
                </a:lnTo>
                <a:close/>
              </a:path>
              <a:path w="7567295" h="1152525">
                <a:moveTo>
                  <a:pt x="7146709" y="578269"/>
                </a:moveTo>
                <a:lnTo>
                  <a:pt x="7141388" y="522008"/>
                </a:lnTo>
                <a:lnTo>
                  <a:pt x="7126948" y="470319"/>
                </a:lnTo>
                <a:lnTo>
                  <a:pt x="7105663" y="427748"/>
                </a:lnTo>
                <a:lnTo>
                  <a:pt x="7079818" y="398856"/>
                </a:lnTo>
                <a:lnTo>
                  <a:pt x="7051688" y="388213"/>
                </a:lnTo>
                <a:lnTo>
                  <a:pt x="118986" y="388213"/>
                </a:lnTo>
                <a:lnTo>
                  <a:pt x="65011" y="427748"/>
                </a:lnTo>
                <a:lnTo>
                  <a:pt x="43726" y="470319"/>
                </a:lnTo>
                <a:lnTo>
                  <a:pt x="29273" y="522008"/>
                </a:lnTo>
                <a:lnTo>
                  <a:pt x="23964" y="578269"/>
                </a:lnTo>
                <a:lnTo>
                  <a:pt x="29273" y="634517"/>
                </a:lnTo>
                <a:lnTo>
                  <a:pt x="43726" y="686206"/>
                </a:lnTo>
                <a:lnTo>
                  <a:pt x="65011" y="728776"/>
                </a:lnTo>
                <a:lnTo>
                  <a:pt x="90855" y="757669"/>
                </a:lnTo>
                <a:lnTo>
                  <a:pt x="118986" y="768311"/>
                </a:lnTo>
                <a:lnTo>
                  <a:pt x="7051688" y="768311"/>
                </a:lnTo>
                <a:lnTo>
                  <a:pt x="7105663" y="728776"/>
                </a:lnTo>
                <a:lnTo>
                  <a:pt x="7126948" y="686206"/>
                </a:lnTo>
                <a:lnTo>
                  <a:pt x="7141388" y="634517"/>
                </a:lnTo>
                <a:lnTo>
                  <a:pt x="7146709" y="578269"/>
                </a:lnTo>
                <a:close/>
              </a:path>
              <a:path w="7567295" h="1152525">
                <a:moveTo>
                  <a:pt x="7566711" y="193878"/>
                </a:moveTo>
                <a:lnTo>
                  <a:pt x="7561288" y="136486"/>
                </a:lnTo>
                <a:lnTo>
                  <a:pt x="7546556" y="83756"/>
                </a:lnTo>
                <a:lnTo>
                  <a:pt x="7524839" y="40322"/>
                </a:lnTo>
                <a:lnTo>
                  <a:pt x="7498474" y="10858"/>
                </a:lnTo>
                <a:lnTo>
                  <a:pt x="7469772" y="0"/>
                </a:lnTo>
                <a:lnTo>
                  <a:pt x="96939" y="0"/>
                </a:lnTo>
                <a:lnTo>
                  <a:pt x="41871" y="40322"/>
                </a:lnTo>
                <a:lnTo>
                  <a:pt x="20154" y="83756"/>
                </a:lnTo>
                <a:lnTo>
                  <a:pt x="5422" y="136486"/>
                </a:lnTo>
                <a:lnTo>
                  <a:pt x="0" y="193878"/>
                </a:lnTo>
                <a:lnTo>
                  <a:pt x="5422" y="251269"/>
                </a:lnTo>
                <a:lnTo>
                  <a:pt x="20154" y="303999"/>
                </a:lnTo>
                <a:lnTo>
                  <a:pt x="41871" y="347433"/>
                </a:lnTo>
                <a:lnTo>
                  <a:pt x="68237" y="376897"/>
                </a:lnTo>
                <a:lnTo>
                  <a:pt x="96939" y="387756"/>
                </a:lnTo>
                <a:lnTo>
                  <a:pt x="7469772" y="387756"/>
                </a:lnTo>
                <a:lnTo>
                  <a:pt x="7524839" y="347433"/>
                </a:lnTo>
                <a:lnTo>
                  <a:pt x="7546556" y="303999"/>
                </a:lnTo>
                <a:lnTo>
                  <a:pt x="7561288" y="251269"/>
                </a:lnTo>
                <a:lnTo>
                  <a:pt x="7566711" y="193878"/>
                </a:lnTo>
                <a:close/>
              </a:path>
            </a:pathLst>
          </a:custGeom>
          <a:solidFill>
            <a:srgbClr val="FACD5A"/>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9" name="object 9"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18</a:t>
            </a:r>
            <a:endParaRPr sz="850">
              <a:latin typeface="Calibri"/>
              <a:cs typeface="Calibri"/>
            </a:endParaRPr>
          </a:p>
        </p:txBody>
      </p:sp>
      <p:sp>
        <p:nvSpPr>
          <p:cNvPr id="7" name="object 7" descr=""/>
          <p:cNvSpPr txBox="1"/>
          <p:nvPr/>
        </p:nvSpPr>
        <p:spPr>
          <a:xfrm>
            <a:off x="483552" y="1415417"/>
            <a:ext cx="7740015" cy="2960370"/>
          </a:xfrm>
          <a:prstGeom prst="rect">
            <a:avLst/>
          </a:prstGeom>
        </p:spPr>
        <p:txBody>
          <a:bodyPr wrap="square" lIns="0" tIns="59690" rIns="0" bIns="0" rtlCol="0" vert="horz">
            <a:spAutoFit/>
          </a:bodyPr>
          <a:lstStyle/>
          <a:p>
            <a:pPr marL="182880" marR="107061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I</a:t>
            </a:r>
            <a:r>
              <a:rPr dirty="0" u="heavy" sz="2800">
                <a:solidFill>
                  <a:srgbClr val="4E3629"/>
                </a:solidFill>
                <a:uFill>
                  <a:solidFill>
                    <a:srgbClr val="EC2814"/>
                  </a:solidFill>
                </a:uFill>
                <a:latin typeface="Calibri"/>
                <a:cs typeface="Calibri"/>
              </a:rPr>
              <a:t>NSTR:</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encuentra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posición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numérica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8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los</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caracteres</a:t>
            </a:r>
            <a:r>
              <a:rPr dirty="0" u="heavy" sz="2800" spc="-114">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especificados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INSTR</a:t>
            </a:r>
            <a:r>
              <a:rPr dirty="0" sz="2800" spc="-60">
                <a:solidFill>
                  <a:srgbClr val="4E3629"/>
                </a:solidFill>
                <a:latin typeface="Calibri"/>
                <a:cs typeface="Calibri"/>
              </a:rPr>
              <a:t> </a:t>
            </a:r>
            <a:r>
              <a:rPr dirty="0" sz="2800">
                <a:solidFill>
                  <a:srgbClr val="4E3629"/>
                </a:solidFill>
                <a:latin typeface="Calibri"/>
                <a:cs typeface="Calibri"/>
              </a:rPr>
              <a:t>busca</a:t>
            </a:r>
            <a:r>
              <a:rPr dirty="0" sz="2800" spc="-4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primera</a:t>
            </a:r>
            <a:r>
              <a:rPr dirty="0" sz="2800" spc="-60">
                <a:solidFill>
                  <a:srgbClr val="4E3629"/>
                </a:solidFill>
                <a:latin typeface="Calibri"/>
                <a:cs typeface="Calibri"/>
              </a:rPr>
              <a:t> </a:t>
            </a:r>
            <a:r>
              <a:rPr dirty="0" sz="2800">
                <a:solidFill>
                  <a:srgbClr val="4E3629"/>
                </a:solidFill>
                <a:latin typeface="Calibri"/>
                <a:cs typeface="Calibri"/>
              </a:rPr>
              <a:t>incidencia</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subcadena </a:t>
            </a:r>
            <a:r>
              <a:rPr dirty="0" sz="2800" spc="-10">
                <a:solidFill>
                  <a:srgbClr val="4E3629"/>
                </a:solidFill>
                <a:latin typeface="Calibri"/>
                <a:cs typeface="Calibri"/>
              </a:rPr>
              <a:t>	</a:t>
            </a:r>
            <a:r>
              <a:rPr dirty="0" sz="2800">
                <a:solidFill>
                  <a:srgbClr val="4E3629"/>
                </a:solidFill>
                <a:latin typeface="Calibri"/>
                <a:cs typeface="Calibri"/>
              </a:rPr>
              <a:t>dentro</a:t>
            </a:r>
            <a:r>
              <a:rPr dirty="0" sz="2800" spc="-5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cadena</a:t>
            </a:r>
            <a:r>
              <a:rPr dirty="0" sz="2800" spc="-6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caracteres</a:t>
            </a:r>
            <a:r>
              <a:rPr dirty="0" sz="2800" spc="-90">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devuelve</a:t>
            </a:r>
            <a:r>
              <a:rPr dirty="0" sz="2800" spc="-6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posición</a:t>
            </a:r>
            <a:r>
              <a:rPr dirty="0" sz="2800" spc="-50">
                <a:solidFill>
                  <a:srgbClr val="4E3629"/>
                </a:solidFill>
                <a:latin typeface="Calibri"/>
                <a:cs typeface="Calibri"/>
              </a:rPr>
              <a:t> </a:t>
            </a:r>
            <a:r>
              <a:rPr dirty="0" sz="2800">
                <a:solidFill>
                  <a:srgbClr val="4E3629"/>
                </a:solidFill>
                <a:latin typeface="Calibri"/>
                <a:cs typeface="Calibri"/>
              </a:rPr>
              <a:t>como</a:t>
            </a:r>
            <a:r>
              <a:rPr dirty="0" sz="2800" spc="-80">
                <a:solidFill>
                  <a:srgbClr val="4E3629"/>
                </a:solidFill>
                <a:latin typeface="Calibri"/>
                <a:cs typeface="Calibri"/>
              </a:rPr>
              <a:t> </a:t>
            </a:r>
            <a:r>
              <a:rPr dirty="0" sz="2800">
                <a:solidFill>
                  <a:srgbClr val="4E3629"/>
                </a:solidFill>
                <a:latin typeface="Calibri"/>
                <a:cs typeface="Calibri"/>
              </a:rPr>
              <a:t>un</a:t>
            </a:r>
            <a:r>
              <a:rPr dirty="0" sz="2800" spc="-60">
                <a:solidFill>
                  <a:srgbClr val="4E3629"/>
                </a:solidFill>
                <a:latin typeface="Calibri"/>
                <a:cs typeface="Calibri"/>
              </a:rPr>
              <a:t> </a:t>
            </a:r>
            <a:r>
              <a:rPr dirty="0" sz="2800" spc="-10">
                <a:solidFill>
                  <a:srgbClr val="4E3629"/>
                </a:solidFill>
                <a:latin typeface="Calibri"/>
                <a:cs typeface="Calibri"/>
              </a:rPr>
              <a:t>número</a:t>
            </a:r>
            <a:endParaRPr sz="2800">
              <a:latin typeface="Calibri"/>
              <a:cs typeface="Calibri"/>
            </a:endParaRPr>
          </a:p>
          <a:p>
            <a:pPr marL="182880" marR="729615"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Si</a:t>
            </a:r>
            <a:r>
              <a:rPr dirty="0" sz="2800" spc="-60">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spc="-10">
                <a:solidFill>
                  <a:srgbClr val="4E3629"/>
                </a:solidFill>
                <a:latin typeface="Calibri"/>
                <a:cs typeface="Calibri"/>
              </a:rPr>
              <a:t>encuentra</a:t>
            </a:r>
            <a:r>
              <a:rPr dirty="0" sz="2800" spc="-3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subcadena,</a:t>
            </a:r>
            <a:r>
              <a:rPr dirty="0" sz="2800" spc="-3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devuelve</a:t>
            </a:r>
            <a:r>
              <a:rPr dirty="0" sz="2800" spc="-50">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número</a:t>
            </a:r>
            <a:r>
              <a:rPr dirty="0" sz="2800" spc="-114">
                <a:solidFill>
                  <a:srgbClr val="4E3629"/>
                </a:solidFill>
                <a:latin typeface="Calibri"/>
                <a:cs typeface="Calibri"/>
              </a:rPr>
              <a:t> </a:t>
            </a:r>
            <a:r>
              <a:rPr dirty="0" sz="2800" spc="-20">
                <a:solidFill>
                  <a:srgbClr val="4E3629"/>
                </a:solidFill>
                <a:latin typeface="Calibri"/>
                <a:cs typeface="Calibri"/>
              </a:rPr>
              <a:t>cero</a:t>
            </a:r>
            <a:endParaRPr sz="2800">
              <a:latin typeface="Calibri"/>
              <a:cs typeface="Calibri"/>
            </a:endParaRPr>
          </a:p>
        </p:txBody>
      </p:sp>
      <p:graphicFrame>
        <p:nvGraphicFramePr>
          <p:cNvPr id="8" name="object 8" descr=""/>
          <p:cNvGraphicFramePr>
            <a:graphicFrameLocks noGrp="1"/>
          </p:cNvGraphicFramePr>
          <p:nvPr/>
        </p:nvGraphicFramePr>
        <p:xfrm>
          <a:off x="1799371" y="4446716"/>
          <a:ext cx="7034530" cy="1912620"/>
        </p:xfrm>
        <a:graphic>
          <a:graphicData uri="http://schemas.openxmlformats.org/drawingml/2006/table">
            <a:tbl>
              <a:tblPr firstRow="1" bandRow="1">
                <a:tableStyleId>{2D5ABB26-0587-4C30-8999-92F81FD0307C}</a:tableStyleId>
              </a:tblPr>
              <a:tblGrid>
                <a:gridCol w="4983480"/>
                <a:gridCol w="1962150"/>
              </a:tblGrid>
              <a:tr h="36512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2259330">
                        <a:lnSpc>
                          <a:spcPts val="2230"/>
                        </a:lnSpc>
                        <a:spcBef>
                          <a:spcPts val="75"/>
                        </a:spcBef>
                      </a:pPr>
                      <a:r>
                        <a:rPr dirty="0" sz="1600">
                          <a:solidFill>
                            <a:srgbClr val="4E3629"/>
                          </a:solidFill>
                          <a:latin typeface="Calibri"/>
                          <a:cs typeface="Calibri"/>
                        </a:rPr>
                        <a:t>SELECT</a:t>
                      </a:r>
                      <a:r>
                        <a:rPr dirty="0" sz="1600" spc="-20">
                          <a:solidFill>
                            <a:srgbClr val="4E3629"/>
                          </a:solidFill>
                          <a:latin typeface="Calibri"/>
                          <a:cs typeface="Calibri"/>
                        </a:rPr>
                        <a:t> </a:t>
                      </a:r>
                      <a:r>
                        <a:rPr dirty="0" sz="1600" spc="-10">
                          <a:solidFill>
                            <a:srgbClr val="4E3629"/>
                          </a:solidFill>
                          <a:latin typeface="Calibri"/>
                          <a:cs typeface="Calibri"/>
                        </a:rPr>
                        <a:t>INSTR('HelloWorld',</a:t>
                      </a:r>
                      <a:r>
                        <a:rPr dirty="0" sz="1600">
                          <a:solidFill>
                            <a:srgbClr val="4E3629"/>
                          </a:solidFill>
                          <a:latin typeface="Calibri"/>
                          <a:cs typeface="Calibri"/>
                        </a:rPr>
                        <a:t> </a:t>
                      </a:r>
                      <a:r>
                        <a:rPr dirty="0" sz="1600" spc="-20">
                          <a:solidFill>
                            <a:srgbClr val="4E3629"/>
                          </a:solidFill>
                          <a:latin typeface="Calibri"/>
                          <a:cs typeface="Calibri"/>
                        </a:rPr>
                        <a:t>'W')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70"/>
                        </a:spcBef>
                      </a:pPr>
                      <a:r>
                        <a:rPr dirty="0" sz="1600" spc="-50">
                          <a:solidFill>
                            <a:srgbClr val="4E3629"/>
                          </a:solidFill>
                          <a:latin typeface="Calibri"/>
                          <a:cs typeface="Calibri"/>
                        </a:rPr>
                        <a:t>6</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920115">
                <a:tc>
                  <a:txBody>
                    <a:bodyPr/>
                    <a:lstStyle/>
                    <a:p>
                      <a:pPr marL="91440" marR="1553845">
                        <a:lnSpc>
                          <a:spcPts val="2230"/>
                        </a:lnSpc>
                        <a:spcBef>
                          <a:spcPts val="75"/>
                        </a:spcBef>
                      </a:pPr>
                      <a:r>
                        <a:rPr dirty="0" sz="1600">
                          <a:solidFill>
                            <a:srgbClr val="4E3629"/>
                          </a:solidFill>
                          <a:latin typeface="Calibri"/>
                          <a:cs typeface="Calibri"/>
                        </a:rPr>
                        <a:t>SELECT</a:t>
                      </a:r>
                      <a:r>
                        <a:rPr dirty="0" sz="1600" spc="-5">
                          <a:solidFill>
                            <a:srgbClr val="4E3629"/>
                          </a:solidFill>
                          <a:latin typeface="Calibri"/>
                          <a:cs typeface="Calibri"/>
                        </a:rPr>
                        <a:t> </a:t>
                      </a:r>
                      <a:r>
                        <a:rPr dirty="0" sz="1600">
                          <a:solidFill>
                            <a:srgbClr val="4E3629"/>
                          </a:solidFill>
                          <a:latin typeface="Calibri"/>
                          <a:cs typeface="Calibri"/>
                        </a:rPr>
                        <a:t>last_name,</a:t>
                      </a:r>
                      <a:r>
                        <a:rPr dirty="0" sz="1600" spc="-45">
                          <a:solidFill>
                            <a:srgbClr val="4E3629"/>
                          </a:solidFill>
                          <a:latin typeface="Calibri"/>
                          <a:cs typeface="Calibri"/>
                        </a:rPr>
                        <a:t> </a:t>
                      </a:r>
                      <a:r>
                        <a:rPr dirty="0" sz="1600" spc="-10">
                          <a:solidFill>
                            <a:srgbClr val="4E3629"/>
                          </a:solidFill>
                          <a:latin typeface="Calibri"/>
                          <a:cs typeface="Calibri"/>
                        </a:rPr>
                        <a:t>INSTR(last_name,</a:t>
                      </a:r>
                      <a:r>
                        <a:rPr dirty="0" sz="1600" spc="-20">
                          <a:solidFill>
                            <a:srgbClr val="4E3629"/>
                          </a:solidFill>
                          <a:latin typeface="Calibri"/>
                          <a:cs typeface="Calibri"/>
                        </a:rPr>
                        <a:t> 'a')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54"/>
                        </a:spcBef>
                      </a:pPr>
                      <a:r>
                        <a:rPr dirty="0" sz="1600">
                          <a:solidFill>
                            <a:srgbClr val="4E3629"/>
                          </a:solidFill>
                          <a:latin typeface="Calibri"/>
                          <a:cs typeface="Calibri"/>
                        </a:rPr>
                        <a:t>Abel</a:t>
                      </a:r>
                      <a:r>
                        <a:rPr dirty="0" sz="1600" spc="330">
                          <a:solidFill>
                            <a:srgbClr val="4E3629"/>
                          </a:solidFill>
                          <a:latin typeface="Calibri"/>
                          <a:cs typeface="Calibri"/>
                        </a:rPr>
                        <a:t> </a:t>
                      </a:r>
                      <a:r>
                        <a:rPr dirty="0" sz="1600" spc="-50">
                          <a:solidFill>
                            <a:srgbClr val="4E3629"/>
                          </a:solidFill>
                          <a:latin typeface="Calibri"/>
                          <a:cs typeface="Calibri"/>
                        </a:rPr>
                        <a:t>0</a:t>
                      </a:r>
                      <a:endParaRPr sz="1600">
                        <a:latin typeface="Calibri"/>
                        <a:cs typeface="Calibri"/>
                      </a:endParaRPr>
                    </a:p>
                    <a:p>
                      <a:pPr marL="90805">
                        <a:lnSpc>
                          <a:spcPct val="100000"/>
                        </a:lnSpc>
                        <a:spcBef>
                          <a:spcPts val="385"/>
                        </a:spcBef>
                      </a:pPr>
                      <a:r>
                        <a:rPr dirty="0" sz="1600">
                          <a:solidFill>
                            <a:srgbClr val="4E3629"/>
                          </a:solidFill>
                          <a:latin typeface="Calibri"/>
                          <a:cs typeface="Calibri"/>
                        </a:rPr>
                        <a:t>Davies</a:t>
                      </a:r>
                      <a:r>
                        <a:rPr dirty="0" sz="1600" spc="295">
                          <a:solidFill>
                            <a:srgbClr val="4E3629"/>
                          </a:solidFill>
                          <a:latin typeface="Calibri"/>
                          <a:cs typeface="Calibri"/>
                        </a:rPr>
                        <a:t> </a:t>
                      </a:r>
                      <a:r>
                        <a:rPr dirty="0" sz="1600" spc="-60">
                          <a:solidFill>
                            <a:srgbClr val="4E3629"/>
                          </a:solidFill>
                          <a:latin typeface="Calibri"/>
                          <a:cs typeface="Calibri"/>
                        </a:rPr>
                        <a:t>2</a:t>
                      </a:r>
                      <a:endParaRPr sz="1600">
                        <a:latin typeface="Calibri"/>
                        <a:cs typeface="Calibri"/>
                      </a:endParaRPr>
                    </a:p>
                    <a:p>
                      <a:pPr marL="90805">
                        <a:lnSpc>
                          <a:spcPct val="100000"/>
                        </a:lnSpc>
                        <a:spcBef>
                          <a:spcPts val="400"/>
                        </a:spcBef>
                      </a:pPr>
                      <a:r>
                        <a:rPr dirty="0" sz="1600" spc="-50">
                          <a:solidFill>
                            <a:srgbClr val="4E3629"/>
                          </a:solidFill>
                          <a:latin typeface="Calibri"/>
                          <a:cs typeface="Calibri"/>
                        </a:rPr>
                        <a:t>…</a:t>
                      </a:r>
                      <a:endParaRPr sz="1600">
                        <a:latin typeface="Calibri"/>
                        <a:cs typeface="Calibri"/>
                      </a:endParaRPr>
                    </a:p>
                  </a:txBody>
                  <a:tcPr marL="0" marR="0" marB="0" marT="32384">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19</a:t>
            </a:r>
            <a:endParaRPr sz="850">
              <a:latin typeface="Calibri"/>
              <a:cs typeface="Calibri"/>
            </a:endParaRPr>
          </a:p>
        </p:txBody>
      </p:sp>
      <p:sp>
        <p:nvSpPr>
          <p:cNvPr id="3" name="object 3" descr=""/>
          <p:cNvSpPr txBox="1"/>
          <p:nvPr/>
        </p:nvSpPr>
        <p:spPr>
          <a:xfrm>
            <a:off x="483552" y="1415417"/>
            <a:ext cx="7977505" cy="2474595"/>
          </a:xfrm>
          <a:prstGeom prst="rect">
            <a:avLst/>
          </a:prstGeom>
        </p:spPr>
        <p:txBody>
          <a:bodyPr wrap="square" lIns="0" tIns="59690" rIns="0" bIns="0" rtlCol="0" vert="horz">
            <a:spAutoFit/>
          </a:bodyPr>
          <a:lstStyle/>
          <a:p>
            <a:pPr algn="just" marL="159385" marR="667385"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spc="-55">
                <a:solidFill>
                  <a:srgbClr val="4E3629"/>
                </a:solidFill>
                <a:uFill>
                  <a:solidFill>
                    <a:srgbClr val="EC2814"/>
                  </a:solidFill>
                </a:uFill>
                <a:latin typeface="Calibri"/>
                <a:cs typeface="Calibri"/>
              </a:rPr>
              <a:t>LPAD:</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rellena</a:t>
            </a:r>
            <a:r>
              <a:rPr dirty="0" u="heavy" sz="2800" spc="1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parte</a:t>
            </a:r>
            <a:r>
              <a:rPr dirty="0" u="heavy" sz="280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izquierda</a:t>
            </a:r>
            <a:r>
              <a:rPr dirty="0" u="heavy" sz="2800" spc="3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una</a:t>
            </a:r>
            <a:r>
              <a:rPr dirty="0" u="heavy" sz="2800" spc="1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cadena</a:t>
            </a:r>
            <a:r>
              <a:rPr dirty="0" u="heavy" sz="2800" spc="1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sz="2800">
                <a:solidFill>
                  <a:srgbClr val="4E3629"/>
                </a:solidFill>
                <a:latin typeface="Calibri"/>
                <a:cs typeface="Calibri"/>
              </a:rPr>
              <a:t> </a:t>
            </a:r>
            <a:r>
              <a:rPr dirty="0" sz="2800">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caracteres,</a:t>
            </a:r>
            <a:r>
              <a:rPr dirty="0" u="heavy" sz="280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dando</a:t>
            </a:r>
            <a:r>
              <a:rPr dirty="0" u="heavy" sz="2800" spc="3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lugar</a:t>
            </a:r>
            <a:r>
              <a:rPr dirty="0" u="heavy" sz="2800" spc="-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un</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valor</a:t>
            </a:r>
            <a:r>
              <a:rPr dirty="0" u="heavy" sz="2800" spc="-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justificado</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sz="2800">
                <a:solidFill>
                  <a:srgbClr val="4E3629"/>
                </a:solidFill>
                <a:latin typeface="Calibri"/>
                <a:cs typeface="Calibri"/>
              </a:rPr>
              <a:t> </a:t>
            </a:r>
            <a:r>
              <a:rPr dirty="0" sz="2800">
                <a:solidFill>
                  <a:srgbClr val="4E3629"/>
                </a:solidFill>
                <a:latin typeface="Calibri"/>
                <a:cs typeface="Calibri"/>
              </a:rPr>
              <a:t>	</a:t>
            </a:r>
            <a:r>
              <a:rPr dirty="0" u="heavy" sz="2800" spc="-20">
                <a:solidFill>
                  <a:srgbClr val="4E3629"/>
                </a:solidFill>
                <a:uFill>
                  <a:solidFill>
                    <a:srgbClr val="EC2814"/>
                  </a:solidFill>
                </a:uFill>
                <a:latin typeface="Calibri"/>
                <a:cs typeface="Calibri"/>
              </a:rPr>
              <a:t>derecha</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spc="-35">
                <a:solidFill>
                  <a:srgbClr val="4E3629"/>
                </a:solidFill>
                <a:latin typeface="Calibri"/>
                <a:cs typeface="Calibri"/>
              </a:rPr>
              <a:t>LPAD</a:t>
            </a:r>
            <a:r>
              <a:rPr dirty="0" sz="2800" spc="-60">
                <a:solidFill>
                  <a:srgbClr val="4E3629"/>
                </a:solidFill>
                <a:latin typeface="Calibri"/>
                <a:cs typeface="Calibri"/>
              </a:rPr>
              <a:t> </a:t>
            </a:r>
            <a:r>
              <a:rPr dirty="0" sz="2800">
                <a:solidFill>
                  <a:srgbClr val="4E3629"/>
                </a:solidFill>
                <a:latin typeface="Calibri"/>
                <a:cs typeface="Calibri"/>
              </a:rPr>
              <a:t>necesita</a:t>
            </a:r>
            <a:r>
              <a:rPr dirty="0" sz="2800" spc="-60">
                <a:solidFill>
                  <a:srgbClr val="4E3629"/>
                </a:solidFill>
                <a:latin typeface="Calibri"/>
                <a:cs typeface="Calibri"/>
              </a:rPr>
              <a:t> </a:t>
            </a:r>
            <a:r>
              <a:rPr dirty="0" sz="2800">
                <a:solidFill>
                  <a:srgbClr val="4E3629"/>
                </a:solidFill>
                <a:latin typeface="Calibri"/>
                <a:cs typeface="Calibri"/>
              </a:rPr>
              <a:t>3</a:t>
            </a:r>
            <a:r>
              <a:rPr dirty="0" sz="2800" spc="-65">
                <a:solidFill>
                  <a:srgbClr val="4E3629"/>
                </a:solidFill>
                <a:latin typeface="Calibri"/>
                <a:cs typeface="Calibri"/>
              </a:rPr>
              <a:t> </a:t>
            </a:r>
            <a:r>
              <a:rPr dirty="0" sz="2800" spc="-10">
                <a:solidFill>
                  <a:srgbClr val="4E3629"/>
                </a:solidFill>
                <a:latin typeface="Calibri"/>
                <a:cs typeface="Calibri"/>
              </a:rPr>
              <a:t>argumentos:</a:t>
            </a:r>
            <a:r>
              <a:rPr dirty="0" sz="2800" spc="-7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cadena</a:t>
            </a:r>
            <a:r>
              <a:rPr dirty="0" sz="2800" spc="-7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caracteres,</a:t>
            </a:r>
            <a:r>
              <a:rPr dirty="0" sz="2800" spc="-70">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número</a:t>
            </a:r>
            <a:r>
              <a:rPr dirty="0" sz="2800" spc="-30">
                <a:solidFill>
                  <a:srgbClr val="4E3629"/>
                </a:solidFill>
                <a:latin typeface="Calibri"/>
                <a:cs typeface="Calibri"/>
              </a:rPr>
              <a:t> </a:t>
            </a:r>
            <a:r>
              <a:rPr dirty="0" sz="2800">
                <a:solidFill>
                  <a:srgbClr val="4E3629"/>
                </a:solidFill>
                <a:latin typeface="Calibri"/>
                <a:cs typeface="Calibri"/>
              </a:rPr>
              <a:t>total</a:t>
            </a:r>
            <a:r>
              <a:rPr dirty="0" sz="2800" spc="-7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caracteres</a:t>
            </a:r>
            <a:r>
              <a:rPr dirty="0" sz="2800" spc="-65">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spc="-10">
                <a:solidFill>
                  <a:srgbClr val="4E3629"/>
                </a:solidFill>
                <a:latin typeface="Calibri"/>
                <a:cs typeface="Calibri"/>
              </a:rPr>
              <a:t>cadena </a:t>
            </a:r>
            <a:r>
              <a:rPr dirty="0" sz="2800" spc="-10">
                <a:solidFill>
                  <a:srgbClr val="4E3629"/>
                </a:solidFill>
                <a:latin typeface="Calibri"/>
                <a:cs typeface="Calibri"/>
              </a:rPr>
              <a:t>	</a:t>
            </a:r>
            <a:r>
              <a:rPr dirty="0" sz="2800">
                <a:solidFill>
                  <a:srgbClr val="4E3629"/>
                </a:solidFill>
                <a:latin typeface="Calibri"/>
                <a:cs typeface="Calibri"/>
              </a:rPr>
              <a:t>rellena</a:t>
            </a:r>
            <a:r>
              <a:rPr dirty="0" sz="2800" spc="-35">
                <a:solidFill>
                  <a:srgbClr val="4E3629"/>
                </a:solidFill>
                <a:latin typeface="Calibri"/>
                <a:cs typeface="Calibri"/>
              </a:rPr>
              <a:t> </a:t>
            </a:r>
            <a:r>
              <a:rPr dirty="0" sz="2800">
                <a:solidFill>
                  <a:srgbClr val="4E3629"/>
                </a:solidFill>
                <a:latin typeface="Calibri"/>
                <a:cs typeface="Calibri"/>
              </a:rPr>
              <a:t>y</a:t>
            </a:r>
            <a:r>
              <a:rPr dirty="0" sz="2800" spc="-40">
                <a:solidFill>
                  <a:srgbClr val="4E3629"/>
                </a:solidFill>
                <a:latin typeface="Calibri"/>
                <a:cs typeface="Calibri"/>
              </a:rPr>
              <a:t> </a:t>
            </a:r>
            <a:r>
              <a:rPr dirty="0" sz="2800">
                <a:solidFill>
                  <a:srgbClr val="4E3629"/>
                </a:solidFill>
                <a:latin typeface="Calibri"/>
                <a:cs typeface="Calibri"/>
              </a:rPr>
              <a:t>el</a:t>
            </a:r>
            <a:r>
              <a:rPr dirty="0" sz="2800" spc="-45">
                <a:solidFill>
                  <a:srgbClr val="4E3629"/>
                </a:solidFill>
                <a:latin typeface="Calibri"/>
                <a:cs typeface="Calibri"/>
              </a:rPr>
              <a:t> </a:t>
            </a:r>
            <a:r>
              <a:rPr dirty="0" sz="2800" spc="-10">
                <a:solidFill>
                  <a:srgbClr val="4E3629"/>
                </a:solidFill>
                <a:latin typeface="Calibri"/>
                <a:cs typeface="Calibri"/>
              </a:rPr>
              <a:t>carácter</a:t>
            </a:r>
            <a:r>
              <a:rPr dirty="0" sz="2800" spc="-50">
                <a:solidFill>
                  <a:srgbClr val="4E3629"/>
                </a:solidFill>
                <a:latin typeface="Calibri"/>
                <a:cs typeface="Calibri"/>
              </a:rPr>
              <a:t> </a:t>
            </a:r>
            <a:r>
              <a:rPr dirty="0" sz="2800">
                <a:solidFill>
                  <a:srgbClr val="4E3629"/>
                </a:solidFill>
                <a:latin typeface="Calibri"/>
                <a:cs typeface="Calibri"/>
              </a:rPr>
              <a:t>con</a:t>
            </a:r>
            <a:r>
              <a:rPr dirty="0" sz="2800" spc="-25">
                <a:solidFill>
                  <a:srgbClr val="4E3629"/>
                </a:solidFill>
                <a:latin typeface="Calibri"/>
                <a:cs typeface="Calibri"/>
              </a:rPr>
              <a:t> </a:t>
            </a:r>
            <a:r>
              <a:rPr dirty="0" sz="2800">
                <a:solidFill>
                  <a:srgbClr val="4E3629"/>
                </a:solidFill>
                <a:latin typeface="Calibri"/>
                <a:cs typeface="Calibri"/>
              </a:rPr>
              <a:t>el</a:t>
            </a:r>
            <a:r>
              <a:rPr dirty="0" sz="2800" spc="-50">
                <a:solidFill>
                  <a:srgbClr val="4E3629"/>
                </a:solidFill>
                <a:latin typeface="Calibri"/>
                <a:cs typeface="Calibri"/>
              </a:rPr>
              <a:t> </a:t>
            </a:r>
            <a:r>
              <a:rPr dirty="0" sz="2800">
                <a:solidFill>
                  <a:srgbClr val="4E3629"/>
                </a:solidFill>
                <a:latin typeface="Calibri"/>
                <a:cs typeface="Calibri"/>
              </a:rPr>
              <a:t>que</a:t>
            </a:r>
            <a:r>
              <a:rPr dirty="0" sz="2800" spc="-10">
                <a:solidFill>
                  <a:srgbClr val="4E3629"/>
                </a:solidFill>
                <a:latin typeface="Calibri"/>
                <a:cs typeface="Calibri"/>
              </a:rPr>
              <a:t> rellenarla</a:t>
            </a:r>
            <a:endParaRPr sz="2800">
              <a:latin typeface="Calibri"/>
              <a:cs typeface="Calibri"/>
            </a:endParaRPr>
          </a:p>
        </p:txBody>
      </p:sp>
      <p:graphicFrame>
        <p:nvGraphicFramePr>
          <p:cNvPr id="4" name="object 4" descr=""/>
          <p:cNvGraphicFramePr>
            <a:graphicFrameLocks noGrp="1"/>
          </p:cNvGraphicFramePr>
          <p:nvPr/>
        </p:nvGraphicFramePr>
        <p:xfrm>
          <a:off x="939800" y="4000573"/>
          <a:ext cx="7056120" cy="2016125"/>
        </p:xfrm>
        <a:graphic>
          <a:graphicData uri="http://schemas.openxmlformats.org/drawingml/2006/table">
            <a:tbl>
              <a:tblPr firstRow="1" bandRow="1">
                <a:tableStyleId>{2D5ABB26-0587-4C30-8999-92F81FD0307C}</a:tableStyleId>
              </a:tblPr>
              <a:tblGrid>
                <a:gridCol w="4421505"/>
                <a:gridCol w="2545079"/>
              </a:tblGrid>
              <a:tr h="36512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1623695">
                        <a:lnSpc>
                          <a:spcPts val="2230"/>
                        </a:lnSpc>
                        <a:spcBef>
                          <a:spcPts val="75"/>
                        </a:spcBef>
                      </a:pPr>
                      <a:r>
                        <a:rPr dirty="0" sz="1600">
                          <a:solidFill>
                            <a:srgbClr val="4E3629"/>
                          </a:solidFill>
                          <a:latin typeface="Calibri"/>
                          <a:cs typeface="Calibri"/>
                        </a:rPr>
                        <a:t>SELECT</a:t>
                      </a:r>
                      <a:r>
                        <a:rPr dirty="0" sz="1600" spc="-70">
                          <a:solidFill>
                            <a:srgbClr val="4E3629"/>
                          </a:solidFill>
                          <a:latin typeface="Calibri"/>
                          <a:cs typeface="Calibri"/>
                        </a:rPr>
                        <a:t> </a:t>
                      </a:r>
                      <a:r>
                        <a:rPr dirty="0" sz="1600" spc="-10">
                          <a:solidFill>
                            <a:srgbClr val="4E3629"/>
                          </a:solidFill>
                          <a:latin typeface="Calibri"/>
                          <a:cs typeface="Calibri"/>
                        </a:rPr>
                        <a:t>LPAD('HelloWorld',15,</a:t>
                      </a:r>
                      <a:r>
                        <a:rPr dirty="0" sz="1600" spc="-35">
                          <a:solidFill>
                            <a:srgbClr val="4E3629"/>
                          </a:solidFill>
                          <a:latin typeface="Calibri"/>
                          <a:cs typeface="Calibri"/>
                        </a:rPr>
                        <a:t> </a:t>
                      </a:r>
                      <a:r>
                        <a:rPr dirty="0" sz="1600" spc="-10">
                          <a:solidFill>
                            <a:srgbClr val="4E3629"/>
                          </a:solidFill>
                          <a:latin typeface="Calibri"/>
                          <a:cs typeface="Calibri"/>
                        </a:rPr>
                        <a:t>'-</a:t>
                      </a:r>
                      <a:r>
                        <a:rPr dirty="0" sz="1600" spc="-25">
                          <a:solidFill>
                            <a:srgbClr val="4E3629"/>
                          </a:solidFill>
                          <a:latin typeface="Calibri"/>
                          <a:cs typeface="Calibri"/>
                        </a:rPr>
                        <a:t>')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60"/>
                        </a:spcBef>
                      </a:pPr>
                      <a:r>
                        <a:rPr dirty="0" sz="1800">
                          <a:solidFill>
                            <a:srgbClr val="4E3629"/>
                          </a:solidFill>
                          <a:latin typeface="Calibri"/>
                          <a:cs typeface="Calibri"/>
                        </a:rPr>
                        <a:t>-----</a:t>
                      </a:r>
                      <a:r>
                        <a:rPr dirty="0" sz="1800" spc="-10">
                          <a:solidFill>
                            <a:srgbClr val="4E3629"/>
                          </a:solidFill>
                          <a:latin typeface="Calibri"/>
                          <a:cs typeface="Calibri"/>
                        </a:rPr>
                        <a:t>HelloWorld</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23619">
                <a:tc>
                  <a:txBody>
                    <a:bodyPr/>
                    <a:lstStyle/>
                    <a:p>
                      <a:pPr marL="91440" marR="1753870">
                        <a:lnSpc>
                          <a:spcPts val="2230"/>
                        </a:lnSpc>
                        <a:spcBef>
                          <a:spcPts val="75"/>
                        </a:spcBef>
                      </a:pPr>
                      <a:r>
                        <a:rPr dirty="0" sz="1600">
                          <a:solidFill>
                            <a:srgbClr val="4E3629"/>
                          </a:solidFill>
                          <a:latin typeface="Calibri"/>
                          <a:cs typeface="Calibri"/>
                        </a:rPr>
                        <a:t>SELECT</a:t>
                      </a:r>
                      <a:r>
                        <a:rPr dirty="0" sz="1600" spc="-55">
                          <a:solidFill>
                            <a:srgbClr val="4E3629"/>
                          </a:solidFill>
                          <a:latin typeface="Calibri"/>
                          <a:cs typeface="Calibri"/>
                        </a:rPr>
                        <a:t> </a:t>
                      </a:r>
                      <a:r>
                        <a:rPr dirty="0" sz="1600" spc="-10">
                          <a:solidFill>
                            <a:srgbClr val="4E3629"/>
                          </a:solidFill>
                          <a:latin typeface="Calibri"/>
                          <a:cs typeface="Calibri"/>
                        </a:rPr>
                        <a:t>LPAD(last_name,</a:t>
                      </a:r>
                      <a:r>
                        <a:rPr dirty="0" sz="1600" spc="-75">
                          <a:solidFill>
                            <a:srgbClr val="4E3629"/>
                          </a:solidFill>
                          <a:latin typeface="Calibri"/>
                          <a:cs typeface="Calibri"/>
                        </a:rPr>
                        <a:t> </a:t>
                      </a:r>
                      <a:r>
                        <a:rPr dirty="0" sz="1600" spc="-10">
                          <a:solidFill>
                            <a:srgbClr val="4E3629"/>
                          </a:solidFill>
                          <a:latin typeface="Calibri"/>
                          <a:cs typeface="Calibri"/>
                        </a:rPr>
                        <a:t>10,'*')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40"/>
                        </a:spcBef>
                      </a:pPr>
                      <a:r>
                        <a:rPr dirty="0" sz="1800" spc="-10">
                          <a:solidFill>
                            <a:srgbClr val="4E3629"/>
                          </a:solidFill>
                          <a:latin typeface="Calibri"/>
                          <a:cs typeface="Calibri"/>
                        </a:rPr>
                        <a:t>******Abel</a:t>
                      </a:r>
                      <a:endParaRPr sz="1800">
                        <a:latin typeface="Calibri"/>
                        <a:cs typeface="Calibri"/>
                      </a:endParaRPr>
                    </a:p>
                    <a:p>
                      <a:pPr marL="90805">
                        <a:lnSpc>
                          <a:spcPct val="100000"/>
                        </a:lnSpc>
                        <a:spcBef>
                          <a:spcPts val="430"/>
                        </a:spcBef>
                      </a:pPr>
                      <a:r>
                        <a:rPr dirty="0" sz="1800" spc="-10">
                          <a:solidFill>
                            <a:srgbClr val="4E3629"/>
                          </a:solidFill>
                          <a:latin typeface="Calibri"/>
                          <a:cs typeface="Calibri"/>
                        </a:rPr>
                        <a:t>****Davies</a:t>
                      </a:r>
                      <a:endParaRPr sz="1800">
                        <a:latin typeface="Calibri"/>
                        <a:cs typeface="Calibri"/>
                      </a:endParaRPr>
                    </a:p>
                    <a:p>
                      <a:pPr marL="90805">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20</a:t>
            </a:r>
            <a:endParaRPr sz="850">
              <a:latin typeface="Calibri"/>
              <a:cs typeface="Calibri"/>
            </a:endParaRPr>
          </a:p>
        </p:txBody>
      </p:sp>
      <p:sp>
        <p:nvSpPr>
          <p:cNvPr id="3" name="object 3" descr=""/>
          <p:cNvSpPr txBox="1"/>
          <p:nvPr/>
        </p:nvSpPr>
        <p:spPr>
          <a:xfrm>
            <a:off x="483552" y="1415417"/>
            <a:ext cx="7227570" cy="1220470"/>
          </a:xfrm>
          <a:prstGeom prst="rect">
            <a:avLst/>
          </a:prstGeom>
        </p:spPr>
        <p:txBody>
          <a:bodyPr wrap="square" lIns="0" tIns="59690" rIns="0" bIns="0" rtlCol="0" vert="horz">
            <a:spAutoFit/>
          </a:bodyPr>
          <a:lstStyle/>
          <a:p>
            <a:pPr algn="just"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spc="-60">
                <a:solidFill>
                  <a:srgbClr val="4E3629"/>
                </a:solidFill>
                <a:uFill>
                  <a:solidFill>
                    <a:srgbClr val="EC2814"/>
                  </a:solidFill>
                </a:uFill>
                <a:latin typeface="Calibri"/>
                <a:cs typeface="Calibri"/>
              </a:rPr>
              <a:t>RPAD:</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rellena</a:t>
            </a:r>
            <a:r>
              <a:rPr dirty="0" u="heavy" sz="2800" spc="2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parte</a:t>
            </a:r>
            <a:r>
              <a:rPr dirty="0" u="heavy" sz="280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derecha</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de</a:t>
            </a:r>
            <a:r>
              <a:rPr dirty="0" u="heavy" sz="2800" spc="1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una</a:t>
            </a:r>
            <a:r>
              <a:rPr dirty="0" u="heavy" sz="2800" spc="1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cadena</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de</a:t>
            </a:r>
            <a:r>
              <a:rPr dirty="0" sz="2800">
                <a:solidFill>
                  <a:srgbClr val="4E3629"/>
                </a:solidFill>
                <a:latin typeface="Calibri"/>
                <a:cs typeface="Calibri"/>
              </a:rPr>
              <a:t> </a:t>
            </a:r>
            <a:r>
              <a:rPr dirty="0" sz="2800">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caracteres,</a:t>
            </a:r>
            <a:r>
              <a:rPr dirty="0" u="heavy" sz="280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dando</a:t>
            </a:r>
            <a:r>
              <a:rPr dirty="0" u="heavy" sz="2800" spc="3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lugar</a:t>
            </a:r>
            <a:r>
              <a:rPr dirty="0" u="heavy" sz="2800" spc="-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un</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valor</a:t>
            </a:r>
            <a:r>
              <a:rPr dirty="0" u="heavy" sz="2800" spc="-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justificado</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sz="2800">
                <a:solidFill>
                  <a:srgbClr val="4E3629"/>
                </a:solidFill>
                <a:latin typeface="Calibri"/>
                <a:cs typeface="Calibri"/>
              </a:rPr>
              <a:t> </a:t>
            </a:r>
            <a:r>
              <a:rPr dirty="0" sz="2800">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izquierda</a:t>
            </a:r>
            <a:endParaRPr sz="2800">
              <a:latin typeface="Calibri"/>
              <a:cs typeface="Calibri"/>
            </a:endParaRPr>
          </a:p>
        </p:txBody>
      </p:sp>
      <p:graphicFrame>
        <p:nvGraphicFramePr>
          <p:cNvPr id="4" name="object 4" descr=""/>
          <p:cNvGraphicFramePr>
            <a:graphicFrameLocks noGrp="1"/>
          </p:cNvGraphicFramePr>
          <p:nvPr/>
        </p:nvGraphicFramePr>
        <p:xfrm>
          <a:off x="898526" y="3127375"/>
          <a:ext cx="7197725" cy="2046604"/>
        </p:xfrm>
        <a:graphic>
          <a:graphicData uri="http://schemas.openxmlformats.org/drawingml/2006/table">
            <a:tbl>
              <a:tblPr firstRow="1" bandRow="1">
                <a:tableStyleId>{2D5ABB26-0587-4C30-8999-92F81FD0307C}</a:tableStyleId>
              </a:tblPr>
              <a:tblGrid>
                <a:gridCol w="4695825"/>
                <a:gridCol w="2413000"/>
              </a:tblGrid>
              <a:tr h="39560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1873250">
                        <a:lnSpc>
                          <a:spcPts val="2230"/>
                        </a:lnSpc>
                        <a:spcBef>
                          <a:spcPts val="75"/>
                        </a:spcBef>
                      </a:pPr>
                      <a:r>
                        <a:rPr dirty="0" sz="1600">
                          <a:solidFill>
                            <a:srgbClr val="4E3629"/>
                          </a:solidFill>
                          <a:latin typeface="Calibri"/>
                          <a:cs typeface="Calibri"/>
                        </a:rPr>
                        <a:t>SELECT</a:t>
                      </a:r>
                      <a:r>
                        <a:rPr dirty="0" sz="1600" spc="25">
                          <a:solidFill>
                            <a:srgbClr val="4E3629"/>
                          </a:solidFill>
                          <a:latin typeface="Calibri"/>
                          <a:cs typeface="Calibri"/>
                        </a:rPr>
                        <a:t> </a:t>
                      </a:r>
                      <a:r>
                        <a:rPr dirty="0" sz="1600" spc="-20">
                          <a:solidFill>
                            <a:srgbClr val="4E3629"/>
                          </a:solidFill>
                          <a:latin typeface="Calibri"/>
                          <a:cs typeface="Calibri"/>
                        </a:rPr>
                        <a:t>RPAD('HelloWorld',15,</a:t>
                      </a:r>
                      <a:r>
                        <a:rPr dirty="0" sz="1600" spc="60">
                          <a:solidFill>
                            <a:srgbClr val="4E3629"/>
                          </a:solidFill>
                          <a:latin typeface="Calibri"/>
                          <a:cs typeface="Calibri"/>
                        </a:rPr>
                        <a:t> </a:t>
                      </a:r>
                      <a:r>
                        <a:rPr dirty="0" sz="1600">
                          <a:solidFill>
                            <a:srgbClr val="4E3629"/>
                          </a:solidFill>
                          <a:latin typeface="Calibri"/>
                          <a:cs typeface="Calibri"/>
                        </a:rPr>
                        <a:t>'-</a:t>
                      </a:r>
                      <a:r>
                        <a:rPr dirty="0" sz="1600" spc="-25">
                          <a:solidFill>
                            <a:srgbClr val="4E3629"/>
                          </a:solidFill>
                          <a:latin typeface="Calibri"/>
                          <a:cs typeface="Calibri"/>
                        </a:rPr>
                        <a:t>')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60"/>
                        </a:spcBef>
                      </a:pPr>
                      <a:r>
                        <a:rPr dirty="0" sz="1800" spc="-25">
                          <a:solidFill>
                            <a:srgbClr val="4E3629"/>
                          </a:solidFill>
                          <a:latin typeface="Calibri"/>
                          <a:cs typeface="Calibri"/>
                        </a:rPr>
                        <a:t>HelloWorld-</a:t>
                      </a:r>
                      <a:r>
                        <a:rPr dirty="0" sz="1800">
                          <a:solidFill>
                            <a:srgbClr val="4E3629"/>
                          </a:solidFill>
                          <a:latin typeface="Calibri"/>
                          <a:cs typeface="Calibri"/>
                        </a:rPr>
                        <a:t>---</a:t>
                      </a:r>
                      <a:r>
                        <a:rPr dirty="0" sz="1800" spc="-50">
                          <a:solidFill>
                            <a:srgbClr val="4E3629"/>
                          </a:solidFill>
                          <a:latin typeface="Calibri"/>
                          <a:cs typeface="Calibri"/>
                        </a:rPr>
                        <a:t>-</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23619">
                <a:tc>
                  <a:txBody>
                    <a:bodyPr/>
                    <a:lstStyle/>
                    <a:p>
                      <a:pPr marL="91440" marR="2002155">
                        <a:lnSpc>
                          <a:spcPts val="2230"/>
                        </a:lnSpc>
                        <a:spcBef>
                          <a:spcPts val="75"/>
                        </a:spcBef>
                      </a:pPr>
                      <a:r>
                        <a:rPr dirty="0" sz="1600">
                          <a:solidFill>
                            <a:srgbClr val="4E3629"/>
                          </a:solidFill>
                          <a:latin typeface="Calibri"/>
                          <a:cs typeface="Calibri"/>
                        </a:rPr>
                        <a:t>SELECT</a:t>
                      </a:r>
                      <a:r>
                        <a:rPr dirty="0" sz="1600" spc="15">
                          <a:solidFill>
                            <a:srgbClr val="4E3629"/>
                          </a:solidFill>
                          <a:latin typeface="Calibri"/>
                          <a:cs typeface="Calibri"/>
                        </a:rPr>
                        <a:t> </a:t>
                      </a:r>
                      <a:r>
                        <a:rPr dirty="0" sz="1600" spc="-20">
                          <a:solidFill>
                            <a:srgbClr val="4E3629"/>
                          </a:solidFill>
                          <a:latin typeface="Calibri"/>
                          <a:cs typeface="Calibri"/>
                        </a:rPr>
                        <a:t>RPAD(last_name,</a:t>
                      </a:r>
                      <a:r>
                        <a:rPr dirty="0" sz="1600" spc="5">
                          <a:solidFill>
                            <a:srgbClr val="4E3629"/>
                          </a:solidFill>
                          <a:latin typeface="Calibri"/>
                          <a:cs typeface="Calibri"/>
                        </a:rPr>
                        <a:t> </a:t>
                      </a:r>
                      <a:r>
                        <a:rPr dirty="0" sz="1600" spc="-10">
                          <a:solidFill>
                            <a:srgbClr val="4E3629"/>
                          </a:solidFill>
                          <a:latin typeface="Calibri"/>
                          <a:cs typeface="Calibri"/>
                        </a:rPr>
                        <a:t>10,'*')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40"/>
                        </a:spcBef>
                      </a:pPr>
                      <a:r>
                        <a:rPr dirty="0" sz="1800" spc="-10">
                          <a:solidFill>
                            <a:srgbClr val="4E3629"/>
                          </a:solidFill>
                          <a:latin typeface="Calibri"/>
                          <a:cs typeface="Calibri"/>
                        </a:rPr>
                        <a:t>Abel******</a:t>
                      </a:r>
                      <a:endParaRPr sz="1800">
                        <a:latin typeface="Calibri"/>
                        <a:cs typeface="Calibri"/>
                      </a:endParaRPr>
                    </a:p>
                    <a:p>
                      <a:pPr marL="90805">
                        <a:lnSpc>
                          <a:spcPct val="100000"/>
                        </a:lnSpc>
                        <a:spcBef>
                          <a:spcPts val="430"/>
                        </a:spcBef>
                      </a:pPr>
                      <a:r>
                        <a:rPr dirty="0" sz="1800" spc="-10">
                          <a:solidFill>
                            <a:srgbClr val="4E3629"/>
                          </a:solidFill>
                          <a:latin typeface="Calibri"/>
                          <a:cs typeface="Calibri"/>
                        </a:rPr>
                        <a:t>Davies****</a:t>
                      </a:r>
                      <a:endParaRPr sz="1800">
                        <a:latin typeface="Calibri"/>
                        <a:cs typeface="Calibri"/>
                      </a:endParaRPr>
                    </a:p>
                    <a:p>
                      <a:pPr marL="90805">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21</a:t>
            </a:r>
            <a:endParaRPr sz="850">
              <a:latin typeface="Calibri"/>
              <a:cs typeface="Calibri"/>
            </a:endParaRPr>
          </a:p>
        </p:txBody>
      </p:sp>
      <p:sp>
        <p:nvSpPr>
          <p:cNvPr id="3" name="object 3" descr=""/>
          <p:cNvSpPr txBox="1"/>
          <p:nvPr/>
        </p:nvSpPr>
        <p:spPr>
          <a:xfrm>
            <a:off x="483552" y="1415417"/>
            <a:ext cx="7907020" cy="132207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TRIM:</a:t>
            </a:r>
            <a:r>
              <a:rPr dirty="0" u="heavy" sz="2800" spc="-10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elimina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todos</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8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r>
              <a:rPr dirty="0" u="heavy" sz="2800" spc="-10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especificados,</a:t>
            </a:r>
            <a:r>
              <a:rPr dirty="0" u="heavy" sz="2800" spc="-7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ya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sea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principio,</a:t>
            </a:r>
            <a:r>
              <a:rPr dirty="0" u="heavy" sz="2800" spc="-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final,</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ambos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3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cadena</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sintaxis</a:t>
            </a:r>
            <a:r>
              <a:rPr dirty="0" sz="2800" spc="-2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función</a:t>
            </a:r>
            <a:r>
              <a:rPr dirty="0" sz="2800" spc="-25">
                <a:solidFill>
                  <a:srgbClr val="4E3629"/>
                </a:solidFill>
                <a:latin typeface="Calibri"/>
                <a:cs typeface="Calibri"/>
              </a:rPr>
              <a:t> </a:t>
            </a:r>
            <a:r>
              <a:rPr dirty="0" sz="2800">
                <a:solidFill>
                  <a:srgbClr val="4E3629"/>
                </a:solidFill>
                <a:latin typeface="Calibri"/>
                <a:cs typeface="Calibri"/>
              </a:rPr>
              <a:t>TRIM</a:t>
            </a:r>
            <a:r>
              <a:rPr dirty="0" sz="2800" spc="-60">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graphicFrame>
        <p:nvGraphicFramePr>
          <p:cNvPr id="4" name="object 4" descr=""/>
          <p:cNvGraphicFramePr>
            <a:graphicFrameLocks noGrp="1"/>
          </p:cNvGraphicFramePr>
          <p:nvPr/>
        </p:nvGraphicFramePr>
        <p:xfrm>
          <a:off x="712787" y="2937376"/>
          <a:ext cx="7164705" cy="2465070"/>
        </p:xfrm>
        <a:graphic>
          <a:graphicData uri="http://schemas.openxmlformats.org/drawingml/2006/table">
            <a:tbl>
              <a:tblPr firstRow="1" bandRow="1">
                <a:tableStyleId>{2D5ABB26-0587-4C30-8999-92F81FD0307C}</a:tableStyleId>
              </a:tblPr>
              <a:tblGrid>
                <a:gridCol w="5146040"/>
                <a:gridCol w="1930400"/>
              </a:tblGrid>
              <a:tr h="39560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747395">
                <a:tc>
                  <a:txBody>
                    <a:bodyPr/>
                    <a:lstStyle/>
                    <a:p>
                      <a:pPr marL="91440" marR="170561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a:solidFill>
                            <a:srgbClr val="4E3629"/>
                          </a:solidFill>
                          <a:latin typeface="Calibri"/>
                          <a:cs typeface="Calibri"/>
                        </a:rPr>
                        <a:t>TRIM(LEADING</a:t>
                      </a:r>
                      <a:r>
                        <a:rPr dirty="0" sz="1600" spc="-45">
                          <a:solidFill>
                            <a:srgbClr val="4E3629"/>
                          </a:solidFill>
                          <a:latin typeface="Calibri"/>
                          <a:cs typeface="Calibri"/>
                        </a:rPr>
                        <a:t> </a:t>
                      </a:r>
                      <a:r>
                        <a:rPr dirty="0" sz="1600">
                          <a:solidFill>
                            <a:srgbClr val="4E3629"/>
                          </a:solidFill>
                          <a:latin typeface="Calibri"/>
                          <a:cs typeface="Calibri"/>
                        </a:rPr>
                        <a:t>'a'</a:t>
                      </a:r>
                      <a:r>
                        <a:rPr dirty="0" sz="1600" spc="-60">
                          <a:solidFill>
                            <a:srgbClr val="4E3629"/>
                          </a:solidFill>
                          <a:latin typeface="Calibri"/>
                          <a:cs typeface="Calibri"/>
                        </a:rPr>
                        <a:t> </a:t>
                      </a:r>
                      <a:r>
                        <a:rPr dirty="0" sz="1600">
                          <a:solidFill>
                            <a:srgbClr val="4E3629"/>
                          </a:solidFill>
                          <a:latin typeface="Calibri"/>
                          <a:cs typeface="Calibri"/>
                        </a:rPr>
                        <a:t>FROM</a:t>
                      </a:r>
                      <a:r>
                        <a:rPr dirty="0" sz="1600" spc="-45">
                          <a:solidFill>
                            <a:srgbClr val="4E3629"/>
                          </a:solidFill>
                          <a:latin typeface="Calibri"/>
                          <a:cs typeface="Calibri"/>
                        </a:rPr>
                        <a:t> </a:t>
                      </a:r>
                      <a:r>
                        <a:rPr dirty="0" sz="1600" spc="-10">
                          <a:solidFill>
                            <a:srgbClr val="4E3629"/>
                          </a:solidFill>
                          <a:latin typeface="Calibri"/>
                          <a:cs typeface="Calibri"/>
                        </a:rPr>
                        <a:t>'abcba')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1800" spc="-20">
                          <a:solidFill>
                            <a:srgbClr val="4E3629"/>
                          </a:solidFill>
                          <a:latin typeface="Calibri"/>
                          <a:cs typeface="Calibri"/>
                        </a:rPr>
                        <a:t>bcba</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1666875">
                        <a:lnSpc>
                          <a:spcPts val="2230"/>
                        </a:lnSpc>
                        <a:spcBef>
                          <a:spcPts val="75"/>
                        </a:spcBef>
                      </a:pPr>
                      <a:r>
                        <a:rPr dirty="0" sz="1600">
                          <a:solidFill>
                            <a:srgbClr val="4E3629"/>
                          </a:solidFill>
                          <a:latin typeface="Calibri"/>
                          <a:cs typeface="Calibri"/>
                        </a:rPr>
                        <a:t>SELECT</a:t>
                      </a:r>
                      <a:r>
                        <a:rPr dirty="0" sz="1600" spc="-30">
                          <a:solidFill>
                            <a:srgbClr val="4E3629"/>
                          </a:solidFill>
                          <a:latin typeface="Calibri"/>
                          <a:cs typeface="Calibri"/>
                        </a:rPr>
                        <a:t> </a:t>
                      </a:r>
                      <a:r>
                        <a:rPr dirty="0" sz="1600">
                          <a:solidFill>
                            <a:srgbClr val="4E3629"/>
                          </a:solidFill>
                          <a:latin typeface="Calibri"/>
                          <a:cs typeface="Calibri"/>
                        </a:rPr>
                        <a:t>TRIM(TRAILING</a:t>
                      </a:r>
                      <a:r>
                        <a:rPr dirty="0" sz="1600" spc="-45">
                          <a:solidFill>
                            <a:srgbClr val="4E3629"/>
                          </a:solidFill>
                          <a:latin typeface="Calibri"/>
                          <a:cs typeface="Calibri"/>
                        </a:rPr>
                        <a:t> </a:t>
                      </a:r>
                      <a:r>
                        <a:rPr dirty="0" sz="1600">
                          <a:solidFill>
                            <a:srgbClr val="4E3629"/>
                          </a:solidFill>
                          <a:latin typeface="Calibri"/>
                          <a:cs typeface="Calibri"/>
                        </a:rPr>
                        <a:t>'a'</a:t>
                      </a:r>
                      <a:r>
                        <a:rPr dirty="0" sz="1600" spc="-50">
                          <a:solidFill>
                            <a:srgbClr val="4E3629"/>
                          </a:solidFill>
                          <a:latin typeface="Calibri"/>
                          <a:cs typeface="Calibri"/>
                        </a:rPr>
                        <a:t> </a:t>
                      </a:r>
                      <a:r>
                        <a:rPr dirty="0" sz="1600">
                          <a:solidFill>
                            <a:srgbClr val="4E3629"/>
                          </a:solidFill>
                          <a:latin typeface="Calibri"/>
                          <a:cs typeface="Calibri"/>
                        </a:rPr>
                        <a:t>FROM</a:t>
                      </a:r>
                      <a:r>
                        <a:rPr dirty="0" sz="1600" spc="-25">
                          <a:solidFill>
                            <a:srgbClr val="4E3629"/>
                          </a:solidFill>
                          <a:latin typeface="Calibri"/>
                          <a:cs typeface="Calibri"/>
                        </a:rPr>
                        <a:t> </a:t>
                      </a:r>
                      <a:r>
                        <a:rPr dirty="0" sz="1600" spc="-10">
                          <a:solidFill>
                            <a:srgbClr val="4E3629"/>
                          </a:solidFill>
                          <a:latin typeface="Calibri"/>
                          <a:cs typeface="Calibri"/>
                        </a:rPr>
                        <a:t>'abcba')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20">
                          <a:solidFill>
                            <a:srgbClr val="4E3629"/>
                          </a:solidFill>
                          <a:latin typeface="Calibri"/>
                          <a:cs typeface="Calibri"/>
                        </a:rPr>
                        <a:t>abcb</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94690">
                <a:tc>
                  <a:txBody>
                    <a:bodyPr/>
                    <a:lstStyle/>
                    <a:p>
                      <a:pPr marL="91440" marR="1976755">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a:solidFill>
                            <a:srgbClr val="4E3629"/>
                          </a:solidFill>
                          <a:latin typeface="Calibri"/>
                          <a:cs typeface="Calibri"/>
                        </a:rPr>
                        <a:t>TRIM(BOTH</a:t>
                      </a:r>
                      <a:r>
                        <a:rPr dirty="0" sz="1600" spc="-40">
                          <a:solidFill>
                            <a:srgbClr val="4E3629"/>
                          </a:solidFill>
                          <a:latin typeface="Calibri"/>
                          <a:cs typeface="Calibri"/>
                        </a:rPr>
                        <a:t> </a:t>
                      </a:r>
                      <a:r>
                        <a:rPr dirty="0" sz="1600">
                          <a:solidFill>
                            <a:srgbClr val="4E3629"/>
                          </a:solidFill>
                          <a:latin typeface="Calibri"/>
                          <a:cs typeface="Calibri"/>
                        </a:rPr>
                        <a:t>'a'</a:t>
                      </a:r>
                      <a:r>
                        <a:rPr dirty="0" sz="1600" spc="-65">
                          <a:solidFill>
                            <a:srgbClr val="4E3629"/>
                          </a:solidFill>
                          <a:latin typeface="Calibri"/>
                          <a:cs typeface="Calibri"/>
                        </a:rPr>
                        <a:t> </a:t>
                      </a:r>
                      <a:r>
                        <a:rPr dirty="0" sz="1600">
                          <a:solidFill>
                            <a:srgbClr val="4E3629"/>
                          </a:solidFill>
                          <a:latin typeface="Calibri"/>
                          <a:cs typeface="Calibri"/>
                        </a:rPr>
                        <a:t>FROM</a:t>
                      </a:r>
                      <a:r>
                        <a:rPr dirty="0" sz="1600" spc="-45">
                          <a:solidFill>
                            <a:srgbClr val="4E3629"/>
                          </a:solidFill>
                          <a:latin typeface="Calibri"/>
                          <a:cs typeface="Calibri"/>
                        </a:rPr>
                        <a:t> </a:t>
                      </a:r>
                      <a:r>
                        <a:rPr dirty="0" sz="1600" spc="-10">
                          <a:solidFill>
                            <a:srgbClr val="4E3629"/>
                          </a:solidFill>
                          <a:latin typeface="Calibri"/>
                          <a:cs typeface="Calibri"/>
                        </a:rPr>
                        <a:t>'abcba')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1800" spc="-25">
                          <a:solidFill>
                            <a:srgbClr val="4E3629"/>
                          </a:solidFill>
                          <a:latin typeface="Calibri"/>
                          <a:cs typeface="Calibri"/>
                        </a:rPr>
                        <a:t>bcb</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1002665" y="4126458"/>
            <a:ext cx="7477125" cy="655955"/>
          </a:xfrm>
          <a:custGeom>
            <a:avLst/>
            <a:gdLst/>
            <a:ahLst/>
            <a:cxnLst/>
            <a:rect l="l" t="t" r="r" b="b"/>
            <a:pathLst>
              <a:path w="7477125" h="655954">
                <a:moveTo>
                  <a:pt x="864273" y="492315"/>
                </a:moveTo>
                <a:lnTo>
                  <a:pt x="857262" y="432409"/>
                </a:lnTo>
                <a:lnTo>
                  <a:pt x="838784" y="380161"/>
                </a:lnTo>
                <a:lnTo>
                  <a:pt x="812647" y="343204"/>
                </a:lnTo>
                <a:lnTo>
                  <a:pt x="782701" y="329184"/>
                </a:lnTo>
                <a:lnTo>
                  <a:pt x="93306" y="329184"/>
                </a:lnTo>
                <a:lnTo>
                  <a:pt x="63360" y="343204"/>
                </a:lnTo>
                <a:lnTo>
                  <a:pt x="37223" y="380161"/>
                </a:lnTo>
                <a:lnTo>
                  <a:pt x="18745" y="432409"/>
                </a:lnTo>
                <a:lnTo>
                  <a:pt x="11734" y="492315"/>
                </a:lnTo>
                <a:lnTo>
                  <a:pt x="18745" y="552208"/>
                </a:lnTo>
                <a:lnTo>
                  <a:pt x="37223" y="604469"/>
                </a:lnTo>
                <a:lnTo>
                  <a:pt x="63360" y="641426"/>
                </a:lnTo>
                <a:lnTo>
                  <a:pt x="93306" y="655447"/>
                </a:lnTo>
                <a:lnTo>
                  <a:pt x="782701" y="655447"/>
                </a:lnTo>
                <a:lnTo>
                  <a:pt x="812647" y="641426"/>
                </a:lnTo>
                <a:lnTo>
                  <a:pt x="838784" y="604469"/>
                </a:lnTo>
                <a:lnTo>
                  <a:pt x="857262" y="552208"/>
                </a:lnTo>
                <a:lnTo>
                  <a:pt x="864273" y="492315"/>
                </a:lnTo>
                <a:close/>
              </a:path>
              <a:path w="7477125" h="655954">
                <a:moveTo>
                  <a:pt x="7477112" y="163131"/>
                </a:moveTo>
                <a:lnTo>
                  <a:pt x="7470102" y="103225"/>
                </a:lnTo>
                <a:lnTo>
                  <a:pt x="7451623" y="50977"/>
                </a:lnTo>
                <a:lnTo>
                  <a:pt x="7425499" y="14020"/>
                </a:lnTo>
                <a:lnTo>
                  <a:pt x="7395553" y="0"/>
                </a:lnTo>
                <a:lnTo>
                  <a:pt x="81572" y="0"/>
                </a:lnTo>
                <a:lnTo>
                  <a:pt x="51625" y="14020"/>
                </a:lnTo>
                <a:lnTo>
                  <a:pt x="25488" y="50977"/>
                </a:lnTo>
                <a:lnTo>
                  <a:pt x="7010" y="103225"/>
                </a:lnTo>
                <a:lnTo>
                  <a:pt x="0" y="163131"/>
                </a:lnTo>
                <a:lnTo>
                  <a:pt x="7010" y="223024"/>
                </a:lnTo>
                <a:lnTo>
                  <a:pt x="25488" y="275285"/>
                </a:lnTo>
                <a:lnTo>
                  <a:pt x="51625" y="312242"/>
                </a:lnTo>
                <a:lnTo>
                  <a:pt x="81572" y="326263"/>
                </a:lnTo>
                <a:lnTo>
                  <a:pt x="7395553" y="326263"/>
                </a:lnTo>
                <a:lnTo>
                  <a:pt x="7425499" y="312242"/>
                </a:lnTo>
                <a:lnTo>
                  <a:pt x="7451623" y="275285"/>
                </a:lnTo>
                <a:lnTo>
                  <a:pt x="7470102" y="223024"/>
                </a:lnTo>
                <a:lnTo>
                  <a:pt x="7477112" y="163131"/>
                </a:lnTo>
                <a:close/>
              </a:path>
            </a:pathLst>
          </a:custGeom>
          <a:solidFill>
            <a:srgbClr val="FB5C89"/>
          </a:solidFill>
        </p:spPr>
        <p:txBody>
          <a:bodyPr wrap="square" lIns="0" tIns="0" rIns="0" bIns="0" rtlCol="0"/>
          <a:lstStyle/>
          <a:p/>
        </p:txBody>
      </p:sp>
      <p:sp>
        <p:nvSpPr>
          <p:cNvPr id="4" name="object 4" descr=""/>
          <p:cNvSpPr/>
          <p:nvPr/>
        </p:nvSpPr>
        <p:spPr>
          <a:xfrm>
            <a:off x="1002677" y="3746975"/>
            <a:ext cx="7251065" cy="326390"/>
          </a:xfrm>
          <a:custGeom>
            <a:avLst/>
            <a:gdLst/>
            <a:ahLst/>
            <a:cxnLst/>
            <a:rect l="l" t="t" r="r" b="b"/>
            <a:pathLst>
              <a:path w="7251065" h="326389">
                <a:moveTo>
                  <a:pt x="7169475" y="0"/>
                </a:moveTo>
                <a:lnTo>
                  <a:pt x="81564" y="0"/>
                </a:lnTo>
                <a:lnTo>
                  <a:pt x="51615" y="14018"/>
                </a:lnTo>
                <a:lnTo>
                  <a:pt x="25488" y="50977"/>
                </a:lnTo>
                <a:lnTo>
                  <a:pt x="7009" y="103230"/>
                </a:lnTo>
                <a:lnTo>
                  <a:pt x="0" y="163128"/>
                </a:lnTo>
                <a:lnTo>
                  <a:pt x="7009" y="223027"/>
                </a:lnTo>
                <a:lnTo>
                  <a:pt x="25488" y="275280"/>
                </a:lnTo>
                <a:lnTo>
                  <a:pt x="51615" y="312239"/>
                </a:lnTo>
                <a:lnTo>
                  <a:pt x="81564" y="326257"/>
                </a:lnTo>
                <a:lnTo>
                  <a:pt x="7169475" y="326257"/>
                </a:lnTo>
                <a:lnTo>
                  <a:pt x="7199424" y="312239"/>
                </a:lnTo>
                <a:lnTo>
                  <a:pt x="7225550" y="275280"/>
                </a:lnTo>
                <a:lnTo>
                  <a:pt x="7244030" y="223027"/>
                </a:lnTo>
                <a:lnTo>
                  <a:pt x="7251039" y="163128"/>
                </a:lnTo>
                <a:lnTo>
                  <a:pt x="7244030" y="103230"/>
                </a:lnTo>
                <a:lnTo>
                  <a:pt x="7225550" y="50977"/>
                </a:lnTo>
                <a:lnTo>
                  <a:pt x="7199424" y="14018"/>
                </a:lnTo>
                <a:lnTo>
                  <a:pt x="7169475" y="0"/>
                </a:lnTo>
                <a:close/>
              </a:path>
            </a:pathLst>
          </a:custGeom>
          <a:solidFill>
            <a:srgbClr val="FACD5A"/>
          </a:solidFill>
        </p:spPr>
        <p:txBody>
          <a:bodyPr wrap="square" lIns="0" tIns="0" rIns="0" bIns="0" rtlCol="0"/>
          <a:lstStyle/>
          <a:p/>
        </p:txBody>
      </p:sp>
      <p:pic>
        <p:nvPicPr>
          <p:cNvPr id="5" name="object 5" descr=""/>
          <p:cNvPicPr/>
          <p:nvPr/>
        </p:nvPicPr>
        <p:blipFill>
          <a:blip r:embed="rId2" cstate="print"/>
          <a:stretch>
            <a:fillRect/>
          </a:stretch>
        </p:blipFill>
        <p:spPr>
          <a:xfrm>
            <a:off x="0" y="0"/>
            <a:ext cx="9144000" cy="254507"/>
          </a:xfrm>
          <a:prstGeom prst="rect">
            <a:avLst/>
          </a:prstGeom>
        </p:spPr>
      </p:pic>
      <p:pic>
        <p:nvPicPr>
          <p:cNvPr id="6" name="object 6" descr=""/>
          <p:cNvPicPr/>
          <p:nvPr/>
        </p:nvPicPr>
        <p:blipFill>
          <a:blip r:embed="rId3" cstate="print"/>
          <a:stretch>
            <a:fillRect/>
          </a:stretch>
        </p:blipFill>
        <p:spPr>
          <a:xfrm>
            <a:off x="405384" y="6178295"/>
            <a:ext cx="1258824" cy="420624"/>
          </a:xfrm>
          <a:prstGeom prst="rect">
            <a:avLst/>
          </a:prstGeom>
        </p:spPr>
      </p:pic>
      <p:sp>
        <p:nvSpPr>
          <p:cNvPr id="7" name="object 7"/>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11" name="object 11"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12" name="object 12" descr=""/>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22</a:t>
            </a:r>
          </a:p>
        </p:txBody>
      </p:sp>
      <p:sp>
        <p:nvSpPr>
          <p:cNvPr id="13" name="object 13"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p:nvPr/>
        </p:nvSpPr>
        <p:spPr>
          <a:xfrm>
            <a:off x="483552" y="1415417"/>
            <a:ext cx="8141334" cy="132207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REPLACE:</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sustituye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secuencia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7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cadena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por</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otro</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juego</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sintaxis</a:t>
            </a:r>
            <a:r>
              <a:rPr dirty="0" sz="2800" spc="-3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función</a:t>
            </a:r>
            <a:r>
              <a:rPr dirty="0" sz="2800" spc="-35">
                <a:solidFill>
                  <a:srgbClr val="4E3629"/>
                </a:solidFill>
                <a:latin typeface="Calibri"/>
                <a:cs typeface="Calibri"/>
              </a:rPr>
              <a:t> </a:t>
            </a:r>
            <a:r>
              <a:rPr dirty="0" sz="2800">
                <a:solidFill>
                  <a:srgbClr val="4E3629"/>
                </a:solidFill>
                <a:latin typeface="Calibri"/>
                <a:cs typeface="Calibri"/>
              </a:rPr>
              <a:t>REPLACE</a:t>
            </a:r>
            <a:r>
              <a:rPr dirty="0" sz="2800" spc="-65">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9" name="object 9" descr=""/>
          <p:cNvSpPr txBox="1"/>
          <p:nvPr/>
        </p:nvSpPr>
        <p:spPr>
          <a:xfrm>
            <a:off x="826452" y="3701417"/>
            <a:ext cx="7679055" cy="180848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D1350F"/>
                </a:solidFill>
                <a:latin typeface="Calibri"/>
                <a:cs typeface="Calibri"/>
              </a:rPr>
              <a:t>−</a:t>
            </a:r>
            <a:r>
              <a:rPr dirty="0" sz="2400">
                <a:solidFill>
                  <a:srgbClr val="4E3629"/>
                </a:solidFill>
                <a:latin typeface="Calibri"/>
                <a:cs typeface="Calibri"/>
              </a:rPr>
              <a:t>string1</a:t>
            </a:r>
            <a:r>
              <a:rPr dirty="0" sz="2400" spc="-50">
                <a:solidFill>
                  <a:srgbClr val="4E3629"/>
                </a:solidFill>
                <a:latin typeface="Calibri"/>
                <a:cs typeface="Calibri"/>
              </a:rPr>
              <a:t> </a:t>
            </a:r>
            <a:r>
              <a:rPr dirty="0" sz="2400">
                <a:solidFill>
                  <a:srgbClr val="4E3629"/>
                </a:solidFill>
                <a:latin typeface="Calibri"/>
                <a:cs typeface="Calibri"/>
              </a:rPr>
              <a:t>es</a:t>
            </a:r>
            <a:r>
              <a:rPr dirty="0" sz="2400" spc="-35">
                <a:solidFill>
                  <a:srgbClr val="4E3629"/>
                </a:solidFill>
                <a:latin typeface="Calibri"/>
                <a:cs typeface="Calibri"/>
              </a:rPr>
              <a:t> </a:t>
            </a:r>
            <a:r>
              <a:rPr dirty="0" sz="2400">
                <a:solidFill>
                  <a:srgbClr val="4E3629"/>
                </a:solidFill>
                <a:latin typeface="Calibri"/>
                <a:cs typeface="Calibri"/>
              </a:rPr>
              <a:t>la</a:t>
            </a:r>
            <a:r>
              <a:rPr dirty="0" sz="2400" spc="-40">
                <a:solidFill>
                  <a:srgbClr val="4E3629"/>
                </a:solidFill>
                <a:latin typeface="Calibri"/>
                <a:cs typeface="Calibri"/>
              </a:rPr>
              <a:t> </a:t>
            </a:r>
            <a:r>
              <a:rPr dirty="0" sz="2400">
                <a:solidFill>
                  <a:srgbClr val="4E3629"/>
                </a:solidFill>
                <a:latin typeface="Calibri"/>
                <a:cs typeface="Calibri"/>
              </a:rPr>
              <a:t>cadena</a:t>
            </a:r>
            <a:r>
              <a:rPr dirty="0" sz="2400" spc="-30">
                <a:solidFill>
                  <a:srgbClr val="4E3629"/>
                </a:solidFill>
                <a:latin typeface="Calibri"/>
                <a:cs typeface="Calibri"/>
              </a:rPr>
              <a:t> </a:t>
            </a:r>
            <a:r>
              <a:rPr dirty="0" sz="2400">
                <a:solidFill>
                  <a:srgbClr val="4E3629"/>
                </a:solidFill>
                <a:latin typeface="Calibri"/>
                <a:cs typeface="Calibri"/>
              </a:rPr>
              <a:t>que</a:t>
            </a:r>
            <a:r>
              <a:rPr dirty="0" sz="2400" spc="-30">
                <a:solidFill>
                  <a:srgbClr val="4E3629"/>
                </a:solidFill>
                <a:latin typeface="Calibri"/>
                <a:cs typeface="Calibri"/>
              </a:rPr>
              <a:t> </a:t>
            </a:r>
            <a:r>
              <a:rPr dirty="0" sz="2400">
                <a:solidFill>
                  <a:srgbClr val="4E3629"/>
                </a:solidFill>
                <a:latin typeface="Calibri"/>
                <a:cs typeface="Calibri"/>
              </a:rPr>
              <a:t>cuyos</a:t>
            </a:r>
            <a:r>
              <a:rPr dirty="0" sz="2400" spc="-45">
                <a:solidFill>
                  <a:srgbClr val="4E3629"/>
                </a:solidFill>
                <a:latin typeface="Calibri"/>
                <a:cs typeface="Calibri"/>
              </a:rPr>
              <a:t> </a:t>
            </a:r>
            <a:r>
              <a:rPr dirty="0" sz="2400" spc="-10">
                <a:solidFill>
                  <a:srgbClr val="4E3629"/>
                </a:solidFill>
                <a:latin typeface="Calibri"/>
                <a:cs typeface="Calibri"/>
              </a:rPr>
              <a:t>caracteres</a:t>
            </a:r>
            <a:r>
              <a:rPr dirty="0" sz="2400" spc="-55">
                <a:solidFill>
                  <a:srgbClr val="4E3629"/>
                </a:solidFill>
                <a:latin typeface="Calibri"/>
                <a:cs typeface="Calibri"/>
              </a:rPr>
              <a:t> </a:t>
            </a:r>
            <a:r>
              <a:rPr dirty="0" sz="2400">
                <a:solidFill>
                  <a:srgbClr val="4E3629"/>
                </a:solidFill>
                <a:latin typeface="Calibri"/>
                <a:cs typeface="Calibri"/>
              </a:rPr>
              <a:t>serán</a:t>
            </a:r>
            <a:r>
              <a:rPr dirty="0" sz="2400" spc="-30">
                <a:solidFill>
                  <a:srgbClr val="4E3629"/>
                </a:solidFill>
                <a:latin typeface="Calibri"/>
                <a:cs typeface="Calibri"/>
              </a:rPr>
              <a:t> </a:t>
            </a:r>
            <a:r>
              <a:rPr dirty="0" sz="2400" spc="-10">
                <a:solidFill>
                  <a:srgbClr val="4E3629"/>
                </a:solidFill>
                <a:latin typeface="Calibri"/>
                <a:cs typeface="Calibri"/>
              </a:rPr>
              <a:t>sustituidos</a:t>
            </a:r>
            <a:endParaRPr sz="2400">
              <a:latin typeface="Calibri"/>
              <a:cs typeface="Calibri"/>
            </a:endParaRPr>
          </a:p>
          <a:p>
            <a:pPr marL="187325" marR="15875" indent="-175260">
              <a:lnSpc>
                <a:spcPts val="2590"/>
              </a:lnSpc>
              <a:spcBef>
                <a:spcPts val="434"/>
              </a:spcBef>
            </a:pPr>
            <a:r>
              <a:rPr dirty="0" sz="2400">
                <a:solidFill>
                  <a:srgbClr val="D1350F"/>
                </a:solidFill>
                <a:latin typeface="Calibri"/>
                <a:cs typeface="Calibri"/>
              </a:rPr>
              <a:t>−</a:t>
            </a:r>
            <a:r>
              <a:rPr dirty="0" sz="2400">
                <a:solidFill>
                  <a:srgbClr val="4E3629"/>
                </a:solidFill>
                <a:latin typeface="Calibri"/>
                <a:cs typeface="Calibri"/>
              </a:rPr>
              <a:t>String_to_replace</a:t>
            </a:r>
            <a:r>
              <a:rPr dirty="0" sz="2400" spc="-60">
                <a:solidFill>
                  <a:srgbClr val="4E3629"/>
                </a:solidFill>
                <a:latin typeface="Calibri"/>
                <a:cs typeface="Calibri"/>
              </a:rPr>
              <a:t> </a:t>
            </a:r>
            <a:r>
              <a:rPr dirty="0" sz="2400">
                <a:solidFill>
                  <a:srgbClr val="4E3629"/>
                </a:solidFill>
                <a:latin typeface="Calibri"/>
                <a:cs typeface="Calibri"/>
              </a:rPr>
              <a:t>es</a:t>
            </a:r>
            <a:r>
              <a:rPr dirty="0" sz="2400" spc="-45">
                <a:solidFill>
                  <a:srgbClr val="4E3629"/>
                </a:solidFill>
                <a:latin typeface="Calibri"/>
                <a:cs typeface="Calibri"/>
              </a:rPr>
              <a:t> </a:t>
            </a:r>
            <a:r>
              <a:rPr dirty="0" sz="2400">
                <a:solidFill>
                  <a:srgbClr val="4E3629"/>
                </a:solidFill>
                <a:latin typeface="Calibri"/>
                <a:cs typeface="Calibri"/>
              </a:rPr>
              <a:t>la</a:t>
            </a:r>
            <a:r>
              <a:rPr dirty="0" sz="2400" spc="-50">
                <a:solidFill>
                  <a:srgbClr val="4E3629"/>
                </a:solidFill>
                <a:latin typeface="Calibri"/>
                <a:cs typeface="Calibri"/>
              </a:rPr>
              <a:t> </a:t>
            </a:r>
            <a:r>
              <a:rPr dirty="0" sz="2400">
                <a:solidFill>
                  <a:srgbClr val="4E3629"/>
                </a:solidFill>
                <a:latin typeface="Calibri"/>
                <a:cs typeface="Calibri"/>
              </a:rPr>
              <a:t>cadena</a:t>
            </a:r>
            <a:r>
              <a:rPr dirty="0" sz="2400" spc="-40">
                <a:solidFill>
                  <a:srgbClr val="4E3629"/>
                </a:solidFill>
                <a:latin typeface="Calibri"/>
                <a:cs typeface="Calibri"/>
              </a:rPr>
              <a:t> </a:t>
            </a:r>
            <a:r>
              <a:rPr dirty="0" sz="2400">
                <a:solidFill>
                  <a:srgbClr val="4E3629"/>
                </a:solidFill>
                <a:latin typeface="Calibri"/>
                <a:cs typeface="Calibri"/>
              </a:rPr>
              <a:t>que</a:t>
            </a:r>
            <a:r>
              <a:rPr dirty="0" sz="2400" spc="-40">
                <a:solidFill>
                  <a:srgbClr val="4E3629"/>
                </a:solidFill>
                <a:latin typeface="Calibri"/>
                <a:cs typeface="Calibri"/>
              </a:rPr>
              <a:t> </a:t>
            </a:r>
            <a:r>
              <a:rPr dirty="0" sz="2400">
                <a:solidFill>
                  <a:srgbClr val="4E3629"/>
                </a:solidFill>
                <a:latin typeface="Calibri"/>
                <a:cs typeface="Calibri"/>
              </a:rPr>
              <a:t>se</a:t>
            </a:r>
            <a:r>
              <a:rPr dirty="0" sz="2400" spc="-35">
                <a:solidFill>
                  <a:srgbClr val="4E3629"/>
                </a:solidFill>
                <a:latin typeface="Calibri"/>
                <a:cs typeface="Calibri"/>
              </a:rPr>
              <a:t> </a:t>
            </a:r>
            <a:r>
              <a:rPr dirty="0" sz="2400" spc="-10">
                <a:solidFill>
                  <a:srgbClr val="4E3629"/>
                </a:solidFill>
                <a:latin typeface="Calibri"/>
                <a:cs typeface="Calibri"/>
              </a:rPr>
              <a:t>buscará</a:t>
            </a:r>
            <a:r>
              <a:rPr dirty="0" sz="2400" spc="-40">
                <a:solidFill>
                  <a:srgbClr val="4E3629"/>
                </a:solidFill>
                <a:latin typeface="Calibri"/>
                <a:cs typeface="Calibri"/>
              </a:rPr>
              <a:t> </a:t>
            </a:r>
            <a:r>
              <a:rPr dirty="0" sz="2400">
                <a:solidFill>
                  <a:srgbClr val="4E3629"/>
                </a:solidFill>
                <a:latin typeface="Calibri"/>
                <a:cs typeface="Calibri"/>
              </a:rPr>
              <a:t>y</a:t>
            </a:r>
            <a:r>
              <a:rPr dirty="0" sz="2400" spc="-45">
                <a:solidFill>
                  <a:srgbClr val="4E3629"/>
                </a:solidFill>
                <a:latin typeface="Calibri"/>
                <a:cs typeface="Calibri"/>
              </a:rPr>
              <a:t> </a:t>
            </a:r>
            <a:r>
              <a:rPr dirty="0" sz="2400">
                <a:solidFill>
                  <a:srgbClr val="4E3629"/>
                </a:solidFill>
                <a:latin typeface="Calibri"/>
                <a:cs typeface="Calibri"/>
              </a:rPr>
              <a:t>se</a:t>
            </a:r>
            <a:r>
              <a:rPr dirty="0" sz="2400" spc="-35">
                <a:solidFill>
                  <a:srgbClr val="4E3629"/>
                </a:solidFill>
                <a:latin typeface="Calibri"/>
                <a:cs typeface="Calibri"/>
              </a:rPr>
              <a:t> </a:t>
            </a:r>
            <a:r>
              <a:rPr dirty="0" sz="2400">
                <a:solidFill>
                  <a:srgbClr val="4E3629"/>
                </a:solidFill>
                <a:latin typeface="Calibri"/>
                <a:cs typeface="Calibri"/>
              </a:rPr>
              <a:t>sacará</a:t>
            </a:r>
            <a:r>
              <a:rPr dirty="0" sz="2400" spc="-50">
                <a:solidFill>
                  <a:srgbClr val="4E3629"/>
                </a:solidFill>
                <a:latin typeface="Calibri"/>
                <a:cs typeface="Calibri"/>
              </a:rPr>
              <a:t> </a:t>
            </a:r>
            <a:r>
              <a:rPr dirty="0" sz="2400" spc="-25">
                <a:solidFill>
                  <a:srgbClr val="4E3629"/>
                </a:solidFill>
                <a:latin typeface="Calibri"/>
                <a:cs typeface="Calibri"/>
              </a:rPr>
              <a:t>de </a:t>
            </a:r>
            <a:r>
              <a:rPr dirty="0" sz="2400" spc="-10">
                <a:solidFill>
                  <a:srgbClr val="4E3629"/>
                </a:solidFill>
                <a:latin typeface="Calibri"/>
                <a:cs typeface="Calibri"/>
              </a:rPr>
              <a:t>string1</a:t>
            </a:r>
            <a:endParaRPr sz="2400">
              <a:latin typeface="Calibri"/>
              <a:cs typeface="Calibri"/>
            </a:endParaRPr>
          </a:p>
          <a:p>
            <a:pPr marL="187325" marR="5080"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[replacement_string]</a:t>
            </a:r>
            <a:r>
              <a:rPr dirty="0" sz="2400" spc="-65">
                <a:solidFill>
                  <a:srgbClr val="4E3629"/>
                </a:solidFill>
                <a:latin typeface="Calibri"/>
                <a:cs typeface="Calibri"/>
              </a:rPr>
              <a:t> </a:t>
            </a:r>
            <a:r>
              <a:rPr dirty="0" sz="2400">
                <a:solidFill>
                  <a:srgbClr val="4E3629"/>
                </a:solidFill>
                <a:latin typeface="Calibri"/>
                <a:cs typeface="Calibri"/>
              </a:rPr>
              <a:t>es</a:t>
            </a:r>
            <a:r>
              <a:rPr dirty="0" sz="2400" spc="-50">
                <a:solidFill>
                  <a:srgbClr val="4E3629"/>
                </a:solidFill>
                <a:latin typeface="Calibri"/>
                <a:cs typeface="Calibri"/>
              </a:rPr>
              <a:t> </a:t>
            </a:r>
            <a:r>
              <a:rPr dirty="0" sz="2400">
                <a:solidFill>
                  <a:srgbClr val="4E3629"/>
                </a:solidFill>
                <a:latin typeface="Calibri"/>
                <a:cs typeface="Calibri"/>
              </a:rPr>
              <a:t>la</a:t>
            </a:r>
            <a:r>
              <a:rPr dirty="0" sz="2400" spc="-55">
                <a:solidFill>
                  <a:srgbClr val="4E3629"/>
                </a:solidFill>
                <a:latin typeface="Calibri"/>
                <a:cs typeface="Calibri"/>
              </a:rPr>
              <a:t> </a:t>
            </a:r>
            <a:r>
              <a:rPr dirty="0" sz="2400">
                <a:solidFill>
                  <a:srgbClr val="4E3629"/>
                </a:solidFill>
                <a:latin typeface="Calibri"/>
                <a:cs typeface="Calibri"/>
              </a:rPr>
              <a:t>nueva</a:t>
            </a:r>
            <a:r>
              <a:rPr dirty="0" sz="2400" spc="-35">
                <a:solidFill>
                  <a:srgbClr val="4E3629"/>
                </a:solidFill>
                <a:latin typeface="Calibri"/>
                <a:cs typeface="Calibri"/>
              </a:rPr>
              <a:t> </a:t>
            </a:r>
            <a:r>
              <a:rPr dirty="0" sz="2400">
                <a:solidFill>
                  <a:srgbClr val="4E3629"/>
                </a:solidFill>
                <a:latin typeface="Calibri"/>
                <a:cs typeface="Calibri"/>
              </a:rPr>
              <a:t>cadena</a:t>
            </a:r>
            <a:r>
              <a:rPr dirty="0" sz="2400" spc="-55">
                <a:solidFill>
                  <a:srgbClr val="4E3629"/>
                </a:solidFill>
                <a:latin typeface="Calibri"/>
                <a:cs typeface="Calibri"/>
              </a:rPr>
              <a:t> </a:t>
            </a:r>
            <a:r>
              <a:rPr dirty="0" sz="2400">
                <a:solidFill>
                  <a:srgbClr val="4E3629"/>
                </a:solidFill>
                <a:latin typeface="Calibri"/>
                <a:cs typeface="Calibri"/>
              </a:rPr>
              <a:t>que</a:t>
            </a:r>
            <a:r>
              <a:rPr dirty="0" sz="2400" spc="-25">
                <a:solidFill>
                  <a:srgbClr val="4E3629"/>
                </a:solidFill>
                <a:latin typeface="Calibri"/>
                <a:cs typeface="Calibri"/>
              </a:rPr>
              <a:t> </a:t>
            </a:r>
            <a:r>
              <a:rPr dirty="0" sz="2400">
                <a:solidFill>
                  <a:srgbClr val="4E3629"/>
                </a:solidFill>
                <a:latin typeface="Calibri"/>
                <a:cs typeface="Calibri"/>
              </a:rPr>
              <a:t>se</a:t>
            </a:r>
            <a:r>
              <a:rPr dirty="0" sz="2400" spc="-45">
                <a:solidFill>
                  <a:srgbClr val="4E3629"/>
                </a:solidFill>
                <a:latin typeface="Calibri"/>
                <a:cs typeface="Calibri"/>
              </a:rPr>
              <a:t> </a:t>
            </a:r>
            <a:r>
              <a:rPr dirty="0" sz="2400">
                <a:solidFill>
                  <a:srgbClr val="4E3629"/>
                </a:solidFill>
                <a:latin typeface="Calibri"/>
                <a:cs typeface="Calibri"/>
              </a:rPr>
              <a:t>va</a:t>
            </a:r>
            <a:r>
              <a:rPr dirty="0" sz="2400" spc="-45">
                <a:solidFill>
                  <a:srgbClr val="4E3629"/>
                </a:solidFill>
                <a:latin typeface="Calibri"/>
                <a:cs typeface="Calibri"/>
              </a:rPr>
              <a:t> </a:t>
            </a:r>
            <a:r>
              <a:rPr dirty="0" sz="2400">
                <a:solidFill>
                  <a:srgbClr val="4E3629"/>
                </a:solidFill>
                <a:latin typeface="Calibri"/>
                <a:cs typeface="Calibri"/>
              </a:rPr>
              <a:t>a</a:t>
            </a:r>
            <a:r>
              <a:rPr dirty="0" sz="2400" spc="-55">
                <a:solidFill>
                  <a:srgbClr val="4E3629"/>
                </a:solidFill>
                <a:latin typeface="Calibri"/>
                <a:cs typeface="Calibri"/>
              </a:rPr>
              <a:t> </a:t>
            </a:r>
            <a:r>
              <a:rPr dirty="0" sz="2400" spc="-10">
                <a:solidFill>
                  <a:srgbClr val="4E3629"/>
                </a:solidFill>
                <a:latin typeface="Calibri"/>
                <a:cs typeface="Calibri"/>
              </a:rPr>
              <a:t>insertar </a:t>
            </a:r>
            <a:r>
              <a:rPr dirty="0" sz="2400">
                <a:solidFill>
                  <a:srgbClr val="4E3629"/>
                </a:solidFill>
                <a:latin typeface="Calibri"/>
                <a:cs typeface="Calibri"/>
              </a:rPr>
              <a:t>en</a:t>
            </a:r>
            <a:r>
              <a:rPr dirty="0" sz="2400" spc="-25">
                <a:solidFill>
                  <a:srgbClr val="4E3629"/>
                </a:solidFill>
                <a:latin typeface="Calibri"/>
                <a:cs typeface="Calibri"/>
              </a:rPr>
              <a:t> </a:t>
            </a:r>
            <a:r>
              <a:rPr dirty="0" sz="2400" spc="-10">
                <a:solidFill>
                  <a:srgbClr val="4E3629"/>
                </a:solidFill>
                <a:latin typeface="Calibri"/>
                <a:cs typeface="Calibri"/>
              </a:rPr>
              <a:t>string1</a:t>
            </a:r>
            <a:endParaRPr sz="2400">
              <a:latin typeface="Calibri"/>
              <a:cs typeface="Calibri"/>
            </a:endParaRPr>
          </a:p>
        </p:txBody>
      </p:sp>
      <p:sp>
        <p:nvSpPr>
          <p:cNvPr id="10" name="object 10" descr=""/>
          <p:cNvSpPr txBox="1"/>
          <p:nvPr/>
        </p:nvSpPr>
        <p:spPr>
          <a:xfrm>
            <a:off x="393191" y="2921507"/>
            <a:ext cx="8345805" cy="508000"/>
          </a:xfrm>
          <a:prstGeom prst="rect">
            <a:avLst/>
          </a:prstGeom>
          <a:solidFill>
            <a:srgbClr val="9DBEC4">
              <a:alpha val="50199"/>
            </a:srgbClr>
          </a:solidFill>
        </p:spPr>
        <p:txBody>
          <a:bodyPr wrap="square" lIns="0" tIns="88900" rIns="0" bIns="0" rtlCol="0" vert="horz">
            <a:spAutoFit/>
          </a:bodyPr>
          <a:lstStyle/>
          <a:p>
            <a:pPr>
              <a:lnSpc>
                <a:spcPct val="100000"/>
              </a:lnSpc>
              <a:spcBef>
                <a:spcPts val="700"/>
              </a:spcBef>
            </a:pPr>
            <a:r>
              <a:rPr dirty="0" sz="1800" b="1">
                <a:solidFill>
                  <a:srgbClr val="4E3629"/>
                </a:solidFill>
                <a:latin typeface="Courier New"/>
                <a:cs typeface="Courier New"/>
              </a:rPr>
              <a:t>REPLACE</a:t>
            </a:r>
            <a:r>
              <a:rPr dirty="0" sz="1800" spc="-135" b="1">
                <a:solidFill>
                  <a:srgbClr val="4E3629"/>
                </a:solidFill>
                <a:latin typeface="Courier New"/>
                <a:cs typeface="Courier New"/>
              </a:rPr>
              <a:t> </a:t>
            </a:r>
            <a:r>
              <a:rPr dirty="0" sz="1800" b="1">
                <a:solidFill>
                  <a:srgbClr val="4E3629"/>
                </a:solidFill>
                <a:latin typeface="Courier New"/>
                <a:cs typeface="Courier New"/>
              </a:rPr>
              <a:t>(string1,</a:t>
            </a:r>
            <a:r>
              <a:rPr dirty="0" sz="1800" spc="-130" b="1">
                <a:solidFill>
                  <a:srgbClr val="4E3629"/>
                </a:solidFill>
                <a:latin typeface="Courier New"/>
                <a:cs typeface="Courier New"/>
              </a:rPr>
              <a:t> </a:t>
            </a:r>
            <a:r>
              <a:rPr dirty="0" sz="1800" b="1">
                <a:solidFill>
                  <a:srgbClr val="4E3629"/>
                </a:solidFill>
                <a:latin typeface="Courier New"/>
                <a:cs typeface="Courier New"/>
              </a:rPr>
              <a:t>string_to_replace,</a:t>
            </a:r>
            <a:r>
              <a:rPr dirty="0" sz="1800" spc="-135" b="1">
                <a:solidFill>
                  <a:srgbClr val="4E3629"/>
                </a:solidFill>
                <a:latin typeface="Courier New"/>
                <a:cs typeface="Courier New"/>
              </a:rPr>
              <a:t> </a:t>
            </a:r>
            <a:r>
              <a:rPr dirty="0" sz="1800" b="1">
                <a:solidFill>
                  <a:srgbClr val="4E3629"/>
                </a:solidFill>
                <a:latin typeface="Courier New"/>
                <a:cs typeface="Courier New"/>
              </a:rPr>
              <a:t>[replacement_string]</a:t>
            </a:r>
            <a:r>
              <a:rPr dirty="0" sz="1800" spc="-130" b="1">
                <a:solidFill>
                  <a:srgbClr val="4E3629"/>
                </a:solidFill>
                <a:latin typeface="Courier New"/>
                <a:cs typeface="Courier New"/>
              </a:rPr>
              <a:t> </a:t>
            </a:r>
            <a:r>
              <a:rPr dirty="0" sz="1800" spc="-50" b="1">
                <a:solidFill>
                  <a:srgbClr val="4E3629"/>
                </a:solidFill>
                <a:latin typeface="Courier New"/>
                <a:cs typeface="Courier New"/>
              </a:rPr>
              <a:t>)</a:t>
            </a:r>
            <a:endParaRPr sz="1800">
              <a:latin typeface="Courier New"/>
              <a:cs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23</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graphicFrame>
        <p:nvGraphicFramePr>
          <p:cNvPr id="3" name="object 3" descr=""/>
          <p:cNvGraphicFramePr>
            <a:graphicFrameLocks noGrp="1"/>
          </p:cNvGraphicFramePr>
          <p:nvPr/>
        </p:nvGraphicFramePr>
        <p:xfrm>
          <a:off x="398462" y="1441450"/>
          <a:ext cx="8435340" cy="3183254"/>
        </p:xfrm>
        <a:graphic>
          <a:graphicData uri="http://schemas.openxmlformats.org/drawingml/2006/table">
            <a:tbl>
              <a:tblPr firstRow="1" bandRow="1">
                <a:tableStyleId>{2D5ABB26-0587-4C30-8999-92F81FD0307C}</a:tableStyleId>
              </a:tblPr>
              <a:tblGrid>
                <a:gridCol w="6473190"/>
                <a:gridCol w="1873250"/>
              </a:tblGrid>
              <a:tr h="495300">
                <a:tc>
                  <a:txBody>
                    <a:bodyPr/>
                    <a:lstStyle/>
                    <a:p>
                      <a:pPr marL="101600">
                        <a:lnSpc>
                          <a:spcPct val="100000"/>
                        </a:lnSpc>
                        <a:spcBef>
                          <a:spcPts val="240"/>
                        </a:spcBef>
                      </a:pPr>
                      <a:r>
                        <a:rPr dirty="0" sz="2000" spc="-10" b="1">
                          <a:solidFill>
                            <a:srgbClr val="4E3629"/>
                          </a:solidFill>
                          <a:latin typeface="Calibri"/>
                          <a:cs typeface="Calibri"/>
                        </a:rPr>
                        <a:t>Ejemplos:</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1600">
                        <a:lnSpc>
                          <a:spcPct val="100000"/>
                        </a:lnSpc>
                        <a:spcBef>
                          <a:spcPts val="240"/>
                        </a:spcBef>
                      </a:pPr>
                      <a:r>
                        <a:rPr dirty="0" sz="2000" spc="-10" b="1">
                          <a:solidFill>
                            <a:srgbClr val="4E3629"/>
                          </a:solidFill>
                          <a:latin typeface="Calibri"/>
                          <a:cs typeface="Calibri"/>
                        </a:rPr>
                        <a:t>resultado</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780415">
                <a:tc>
                  <a:txBody>
                    <a:bodyPr/>
                    <a:lstStyle/>
                    <a:p>
                      <a:pPr marL="101600" marR="2766060">
                        <a:lnSpc>
                          <a:spcPts val="2520"/>
                        </a:lnSpc>
                        <a:spcBef>
                          <a:spcPts val="20"/>
                        </a:spcBef>
                      </a:pPr>
                      <a:r>
                        <a:rPr dirty="0" sz="1800">
                          <a:solidFill>
                            <a:srgbClr val="4E3629"/>
                          </a:solidFill>
                          <a:latin typeface="Calibri"/>
                          <a:cs typeface="Calibri"/>
                        </a:rPr>
                        <a:t>SELECT</a:t>
                      </a:r>
                      <a:r>
                        <a:rPr dirty="0" sz="1800" spc="-30">
                          <a:solidFill>
                            <a:srgbClr val="4E3629"/>
                          </a:solidFill>
                          <a:latin typeface="Calibri"/>
                          <a:cs typeface="Calibri"/>
                        </a:rPr>
                        <a:t> </a:t>
                      </a:r>
                      <a:r>
                        <a:rPr dirty="0" sz="1800" spc="-10">
                          <a:solidFill>
                            <a:srgbClr val="4E3629"/>
                          </a:solidFill>
                          <a:latin typeface="Calibri"/>
                          <a:cs typeface="Calibri"/>
                        </a:rPr>
                        <a:t>REPLACE('JACK</a:t>
                      </a:r>
                      <a:r>
                        <a:rPr dirty="0" sz="1800" spc="-15">
                          <a:solidFill>
                            <a:srgbClr val="4E3629"/>
                          </a:solidFill>
                          <a:latin typeface="Calibri"/>
                          <a:cs typeface="Calibri"/>
                        </a:rPr>
                        <a:t> </a:t>
                      </a:r>
                      <a:r>
                        <a:rPr dirty="0" sz="1800">
                          <a:solidFill>
                            <a:srgbClr val="4E3629"/>
                          </a:solidFill>
                          <a:latin typeface="Calibri"/>
                          <a:cs typeface="Calibri"/>
                        </a:rPr>
                        <a:t>and</a:t>
                      </a:r>
                      <a:r>
                        <a:rPr dirty="0" sz="1800" spc="-40">
                          <a:solidFill>
                            <a:srgbClr val="4E3629"/>
                          </a:solidFill>
                          <a:latin typeface="Calibri"/>
                          <a:cs typeface="Calibri"/>
                        </a:rPr>
                        <a:t> </a:t>
                      </a:r>
                      <a:r>
                        <a:rPr dirty="0" sz="1800" spc="-10">
                          <a:solidFill>
                            <a:srgbClr val="4E3629"/>
                          </a:solidFill>
                          <a:latin typeface="Calibri"/>
                          <a:cs typeface="Calibri"/>
                        </a:rPr>
                        <a:t>JUE','J','BL')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DUAL;</a:t>
                      </a:r>
                      <a:endParaRPr sz="1800">
                        <a:latin typeface="Calibri"/>
                        <a:cs typeface="Calibri"/>
                      </a:endParaRPr>
                    </a:p>
                  </a:txBody>
                  <a:tcPr marL="0" marR="0" marB="0" marT="25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1600" marR="658495">
                        <a:lnSpc>
                          <a:spcPct val="100499"/>
                        </a:lnSpc>
                        <a:spcBef>
                          <a:spcPts val="219"/>
                        </a:spcBef>
                      </a:pPr>
                      <a:r>
                        <a:rPr dirty="0" sz="2000">
                          <a:solidFill>
                            <a:srgbClr val="4E3629"/>
                          </a:solidFill>
                          <a:latin typeface="Calibri"/>
                          <a:cs typeface="Calibri"/>
                        </a:rPr>
                        <a:t>BLACK</a:t>
                      </a:r>
                      <a:r>
                        <a:rPr dirty="0" sz="2000" spc="-50">
                          <a:solidFill>
                            <a:srgbClr val="4E3629"/>
                          </a:solidFill>
                          <a:latin typeface="Calibri"/>
                          <a:cs typeface="Calibri"/>
                        </a:rPr>
                        <a:t> </a:t>
                      </a:r>
                      <a:r>
                        <a:rPr dirty="0" sz="2000" spc="-25">
                          <a:solidFill>
                            <a:srgbClr val="4E3629"/>
                          </a:solidFill>
                          <a:latin typeface="Calibri"/>
                          <a:cs typeface="Calibri"/>
                        </a:rPr>
                        <a:t>and </a:t>
                      </a:r>
                      <a:r>
                        <a:rPr dirty="0" sz="2000" spc="-20">
                          <a:solidFill>
                            <a:srgbClr val="4E3629"/>
                          </a:solidFill>
                          <a:latin typeface="Calibri"/>
                          <a:cs typeface="Calibri"/>
                        </a:rPr>
                        <a:t>BLUE</a:t>
                      </a:r>
                      <a:endParaRPr sz="2000">
                        <a:latin typeface="Calibri"/>
                        <a:cs typeface="Calibri"/>
                      </a:endParaRPr>
                    </a:p>
                  </a:txBody>
                  <a:tcPr marL="0" marR="0" marB="0" marT="2793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780415">
                <a:tc>
                  <a:txBody>
                    <a:bodyPr/>
                    <a:lstStyle/>
                    <a:p>
                      <a:pPr marL="101600" marR="3145155">
                        <a:lnSpc>
                          <a:spcPts val="2520"/>
                        </a:lnSpc>
                        <a:spcBef>
                          <a:spcPts val="20"/>
                        </a:spcBef>
                      </a:pPr>
                      <a:r>
                        <a:rPr dirty="0" sz="1800">
                          <a:solidFill>
                            <a:srgbClr val="4E3629"/>
                          </a:solidFill>
                          <a:latin typeface="Calibri"/>
                          <a:cs typeface="Calibri"/>
                        </a:rPr>
                        <a:t>SELECT</a:t>
                      </a:r>
                      <a:r>
                        <a:rPr dirty="0" sz="1800" spc="-30">
                          <a:solidFill>
                            <a:srgbClr val="4E3629"/>
                          </a:solidFill>
                          <a:latin typeface="Calibri"/>
                          <a:cs typeface="Calibri"/>
                        </a:rPr>
                        <a:t> </a:t>
                      </a:r>
                      <a:r>
                        <a:rPr dirty="0" sz="1800" spc="-10">
                          <a:solidFill>
                            <a:srgbClr val="4E3629"/>
                          </a:solidFill>
                          <a:latin typeface="Calibri"/>
                          <a:cs typeface="Calibri"/>
                        </a:rPr>
                        <a:t>REPLACE('JACK</a:t>
                      </a:r>
                      <a:r>
                        <a:rPr dirty="0" sz="1800" spc="-15">
                          <a:solidFill>
                            <a:srgbClr val="4E3629"/>
                          </a:solidFill>
                          <a:latin typeface="Calibri"/>
                          <a:cs typeface="Calibri"/>
                        </a:rPr>
                        <a:t> </a:t>
                      </a:r>
                      <a:r>
                        <a:rPr dirty="0" sz="1800">
                          <a:solidFill>
                            <a:srgbClr val="4E3629"/>
                          </a:solidFill>
                          <a:latin typeface="Calibri"/>
                          <a:cs typeface="Calibri"/>
                        </a:rPr>
                        <a:t>and</a:t>
                      </a:r>
                      <a:r>
                        <a:rPr dirty="0" sz="1800" spc="-40">
                          <a:solidFill>
                            <a:srgbClr val="4E3629"/>
                          </a:solidFill>
                          <a:latin typeface="Calibri"/>
                          <a:cs typeface="Calibri"/>
                        </a:rPr>
                        <a:t> </a:t>
                      </a:r>
                      <a:r>
                        <a:rPr dirty="0" sz="1800" spc="-10">
                          <a:solidFill>
                            <a:srgbClr val="4E3629"/>
                          </a:solidFill>
                          <a:latin typeface="Calibri"/>
                          <a:cs typeface="Calibri"/>
                        </a:rPr>
                        <a:t>JUE','J')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DUAL;</a:t>
                      </a:r>
                      <a:endParaRPr sz="1800">
                        <a:latin typeface="Calibri"/>
                        <a:cs typeface="Calibri"/>
                      </a:endParaRPr>
                    </a:p>
                  </a:txBody>
                  <a:tcPr marL="0" marR="0" marB="0" marT="25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1600">
                        <a:lnSpc>
                          <a:spcPct val="100000"/>
                        </a:lnSpc>
                        <a:spcBef>
                          <a:spcPts val="240"/>
                        </a:spcBef>
                      </a:pPr>
                      <a:r>
                        <a:rPr dirty="0" sz="2000">
                          <a:solidFill>
                            <a:srgbClr val="4E3629"/>
                          </a:solidFill>
                          <a:latin typeface="Calibri"/>
                          <a:cs typeface="Calibri"/>
                        </a:rPr>
                        <a:t>ACK</a:t>
                      </a:r>
                      <a:r>
                        <a:rPr dirty="0" sz="2000" spc="-35">
                          <a:solidFill>
                            <a:srgbClr val="4E3629"/>
                          </a:solidFill>
                          <a:latin typeface="Calibri"/>
                          <a:cs typeface="Calibri"/>
                        </a:rPr>
                        <a:t> </a:t>
                      </a:r>
                      <a:r>
                        <a:rPr dirty="0" sz="2000">
                          <a:solidFill>
                            <a:srgbClr val="4E3629"/>
                          </a:solidFill>
                          <a:latin typeface="Calibri"/>
                          <a:cs typeface="Calibri"/>
                        </a:rPr>
                        <a:t>and</a:t>
                      </a:r>
                      <a:r>
                        <a:rPr dirty="0" sz="2000" spc="-20">
                          <a:solidFill>
                            <a:srgbClr val="4E3629"/>
                          </a:solidFill>
                          <a:latin typeface="Calibri"/>
                          <a:cs typeface="Calibri"/>
                        </a:rPr>
                        <a:t> </a:t>
                      </a:r>
                      <a:r>
                        <a:rPr dirty="0" sz="2000" spc="-25">
                          <a:solidFill>
                            <a:srgbClr val="4E3629"/>
                          </a:solidFill>
                          <a:latin typeface="Calibri"/>
                          <a:cs typeface="Calibri"/>
                        </a:rPr>
                        <a:t>UE</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127125">
                <a:tc>
                  <a:txBody>
                    <a:bodyPr/>
                    <a:lstStyle/>
                    <a:p>
                      <a:pPr marL="101600" marR="3199765">
                        <a:lnSpc>
                          <a:spcPts val="2520"/>
                        </a:lnSpc>
                        <a:spcBef>
                          <a:spcPts val="20"/>
                        </a:spcBef>
                      </a:pPr>
                      <a:r>
                        <a:rPr dirty="0" sz="1800">
                          <a:solidFill>
                            <a:srgbClr val="4E3629"/>
                          </a:solidFill>
                          <a:latin typeface="Calibri"/>
                          <a:cs typeface="Calibri"/>
                        </a:rPr>
                        <a:t>SELECT</a:t>
                      </a:r>
                      <a:r>
                        <a:rPr dirty="0" sz="1800" spc="-50">
                          <a:solidFill>
                            <a:srgbClr val="4E3629"/>
                          </a:solidFill>
                          <a:latin typeface="Calibri"/>
                          <a:cs typeface="Calibri"/>
                        </a:rPr>
                        <a:t> </a:t>
                      </a:r>
                      <a:r>
                        <a:rPr dirty="0" sz="1800" spc="-10">
                          <a:solidFill>
                            <a:srgbClr val="4E3629"/>
                          </a:solidFill>
                          <a:latin typeface="Calibri"/>
                          <a:cs typeface="Calibri"/>
                        </a:rPr>
                        <a:t>REPLACE(last_name,'a','*')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employees;</a:t>
                      </a:r>
                      <a:endParaRPr sz="1800">
                        <a:latin typeface="Calibri"/>
                        <a:cs typeface="Calibri"/>
                      </a:endParaRPr>
                    </a:p>
                  </a:txBody>
                  <a:tcPr marL="0" marR="0" marB="0" marT="25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1600">
                        <a:lnSpc>
                          <a:spcPct val="100000"/>
                        </a:lnSpc>
                        <a:spcBef>
                          <a:spcPts val="229"/>
                        </a:spcBef>
                      </a:pPr>
                      <a:r>
                        <a:rPr dirty="0" sz="2000" spc="-20">
                          <a:solidFill>
                            <a:srgbClr val="4E3629"/>
                          </a:solidFill>
                          <a:latin typeface="Calibri"/>
                          <a:cs typeface="Calibri"/>
                        </a:rPr>
                        <a:t>Abel</a:t>
                      </a:r>
                      <a:endParaRPr sz="2000">
                        <a:latin typeface="Calibri"/>
                        <a:cs typeface="Calibri"/>
                      </a:endParaRPr>
                    </a:p>
                    <a:p>
                      <a:pPr marL="101600" marR="877569">
                        <a:lnSpc>
                          <a:spcPts val="2890"/>
                        </a:lnSpc>
                        <a:spcBef>
                          <a:spcPts val="170"/>
                        </a:spcBef>
                      </a:pPr>
                      <a:r>
                        <a:rPr dirty="0" sz="2000" spc="-10">
                          <a:solidFill>
                            <a:srgbClr val="4E3629"/>
                          </a:solidFill>
                          <a:latin typeface="Calibri"/>
                          <a:cs typeface="Calibri"/>
                        </a:rPr>
                        <a:t>D*vies </a:t>
                      </a:r>
                      <a:r>
                        <a:rPr dirty="0" sz="2000">
                          <a:solidFill>
                            <a:srgbClr val="4E3629"/>
                          </a:solidFill>
                          <a:latin typeface="Calibri"/>
                          <a:cs typeface="Calibri"/>
                        </a:rPr>
                        <a:t>De</a:t>
                      </a:r>
                      <a:r>
                        <a:rPr dirty="0" sz="2000" spc="-10">
                          <a:solidFill>
                            <a:srgbClr val="4E3629"/>
                          </a:solidFill>
                          <a:latin typeface="Calibri"/>
                          <a:cs typeface="Calibri"/>
                        </a:rPr>
                        <a:t> </a:t>
                      </a:r>
                      <a:r>
                        <a:rPr dirty="0" sz="2000" spc="-20">
                          <a:solidFill>
                            <a:srgbClr val="4E3629"/>
                          </a:solidFill>
                          <a:latin typeface="Calibri"/>
                          <a:cs typeface="Calibri"/>
                        </a:rPr>
                        <a:t>H**n</a:t>
                      </a:r>
                      <a:endParaRPr sz="2000">
                        <a:latin typeface="Calibri"/>
                        <a:cs typeface="Calibri"/>
                      </a:endParaRPr>
                    </a:p>
                  </a:txBody>
                  <a:tcPr marL="0" marR="0" marB="0" marT="2920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6756400" cy="528320"/>
          </a:xfrm>
          <a:prstGeom prst="rect"/>
        </p:spPr>
        <p:txBody>
          <a:bodyPr wrap="square" lIns="0" tIns="12700" rIns="0" bIns="0" rtlCol="0" vert="horz">
            <a:spAutoFit/>
          </a:bodyPr>
          <a:lstStyle/>
          <a:p>
            <a:pPr marL="12700">
              <a:lnSpc>
                <a:spcPct val="100000"/>
              </a:lnSpc>
              <a:spcBef>
                <a:spcPts val="100"/>
              </a:spcBef>
            </a:pPr>
            <a:r>
              <a:rPr dirty="0"/>
              <a:t>Uso</a:t>
            </a:r>
            <a:r>
              <a:rPr dirty="0" spc="-50"/>
              <a:t> </a:t>
            </a:r>
            <a:r>
              <a:rPr dirty="0"/>
              <a:t>de</a:t>
            </a:r>
            <a:r>
              <a:rPr dirty="0" spc="-50"/>
              <a:t> </a:t>
            </a:r>
            <a:r>
              <a:rPr dirty="0"/>
              <a:t>Alias</a:t>
            </a:r>
            <a:r>
              <a:rPr dirty="0" spc="-30"/>
              <a:t> </a:t>
            </a:r>
            <a:r>
              <a:rPr dirty="0"/>
              <a:t>de</a:t>
            </a:r>
            <a:r>
              <a:rPr dirty="0" spc="-35"/>
              <a:t> </a:t>
            </a:r>
            <a:r>
              <a:rPr dirty="0"/>
              <a:t>Columna</a:t>
            </a:r>
            <a:r>
              <a:rPr dirty="0" spc="-35"/>
              <a:t> </a:t>
            </a:r>
            <a:r>
              <a:rPr dirty="0"/>
              <a:t>con</a:t>
            </a:r>
            <a:r>
              <a:rPr dirty="0" spc="-40"/>
              <a:t> </a:t>
            </a:r>
            <a:r>
              <a:rPr dirty="0" spc="-10"/>
              <a:t>Funciones</a:t>
            </a: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4-</a:t>
            </a:r>
            <a:r>
              <a:rPr dirty="0" spc="-50"/>
              <a:t>1</a:t>
            </a:r>
          </a:p>
          <a:p>
            <a:pPr marL="12700" marR="5080">
              <a:lnSpc>
                <a:spcPts val="919"/>
              </a:lnSpc>
              <a:spcBef>
                <a:spcPts val="60"/>
              </a:spcBef>
            </a:pPr>
            <a:r>
              <a:rPr dirty="0" spc="-10"/>
              <a:t>Manipulación</a:t>
            </a:r>
            <a:r>
              <a:rPr dirty="0" spc="50"/>
              <a:t> </a:t>
            </a:r>
            <a:r>
              <a:rPr dirty="0"/>
              <a:t>de</a:t>
            </a:r>
            <a:r>
              <a:rPr dirty="0" spc="15"/>
              <a:t> </a:t>
            </a:r>
            <a:r>
              <a:rPr dirty="0" spc="-10"/>
              <a:t>Mayúsculas/Minúsculas</a:t>
            </a:r>
            <a:r>
              <a:rPr dirty="0" spc="60"/>
              <a:t> </a:t>
            </a:r>
            <a:r>
              <a:rPr dirty="0"/>
              <a:t>y</a:t>
            </a:r>
            <a:r>
              <a:rPr dirty="0" spc="5"/>
              <a:t> </a:t>
            </a:r>
            <a:r>
              <a:rPr dirty="0" spc="-25"/>
              <a:t>de</a:t>
            </a:r>
            <a:r>
              <a:rPr dirty="0" spc="500"/>
              <a:t> </a:t>
            </a:r>
            <a:r>
              <a:rPr dirty="0" spc="-10"/>
              <a:t>Caracteres</a:t>
            </a:r>
          </a:p>
        </p:txBody>
      </p:sp>
      <p:sp>
        <p:nvSpPr>
          <p:cNvPr id="8" name="object 8" descr=""/>
          <p:cNvSpPr txBox="1"/>
          <p:nvPr/>
        </p:nvSpPr>
        <p:spPr>
          <a:xfrm>
            <a:off x="8750490" y="6567768"/>
            <a:ext cx="153670" cy="152400"/>
          </a:xfrm>
          <a:prstGeom prst="rect">
            <a:avLst/>
          </a:prstGeom>
        </p:spPr>
        <p:txBody>
          <a:bodyPr wrap="square" lIns="0" tIns="0" rIns="0" bIns="0" rtlCol="0" vert="horz">
            <a:spAutoFit/>
          </a:bodyPr>
          <a:lstStyle/>
          <a:p>
            <a:pPr marL="12700">
              <a:lnSpc>
                <a:spcPts val="1045"/>
              </a:lnSpc>
            </a:pPr>
            <a:r>
              <a:rPr dirty="0" sz="1000" spc="-25" b="1">
                <a:solidFill>
                  <a:srgbClr val="4E3629"/>
                </a:solidFill>
                <a:latin typeface="Calibri"/>
                <a:cs typeface="Calibri"/>
              </a:rPr>
              <a:t>26</a:t>
            </a:r>
            <a:endParaRPr sz="100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graphicFrame>
        <p:nvGraphicFramePr>
          <p:cNvPr id="3" name="object 3" descr=""/>
          <p:cNvGraphicFramePr>
            <a:graphicFrameLocks noGrp="1"/>
          </p:cNvGraphicFramePr>
          <p:nvPr/>
        </p:nvGraphicFramePr>
        <p:xfrm>
          <a:off x="7296815" y="1609784"/>
          <a:ext cx="1525270" cy="1362709"/>
        </p:xfrm>
        <a:graphic>
          <a:graphicData uri="http://schemas.openxmlformats.org/drawingml/2006/table">
            <a:tbl>
              <a:tblPr firstRow="1" bandRow="1">
                <a:tableStyleId>{2D5ABB26-0587-4C30-8999-92F81FD0307C}</a:tableStyleId>
              </a:tblPr>
              <a:tblGrid>
                <a:gridCol w="1435735"/>
              </a:tblGrid>
              <a:tr h="335280">
                <a:tc>
                  <a:txBody>
                    <a:bodyPr/>
                    <a:lstStyle/>
                    <a:p>
                      <a:pPr marL="90805">
                        <a:lnSpc>
                          <a:spcPct val="100000"/>
                        </a:lnSpc>
                        <a:spcBef>
                          <a:spcPts val="270"/>
                        </a:spcBef>
                      </a:pPr>
                      <a:r>
                        <a:rPr dirty="0" sz="1600" b="1">
                          <a:solidFill>
                            <a:srgbClr val="4E3629"/>
                          </a:solidFill>
                          <a:latin typeface="Calibri"/>
                          <a:cs typeface="Calibri"/>
                        </a:rPr>
                        <a:t>User</a:t>
                      </a:r>
                      <a:r>
                        <a:rPr dirty="0" sz="1600" spc="-35" b="1">
                          <a:solidFill>
                            <a:srgbClr val="4E3629"/>
                          </a:solidFill>
                          <a:latin typeface="Calibri"/>
                          <a:cs typeface="Calibri"/>
                        </a:rPr>
                        <a:t> </a:t>
                      </a:r>
                      <a:r>
                        <a:rPr dirty="0" sz="1600" spc="-20" b="1">
                          <a:solidFill>
                            <a:srgbClr val="4E3629"/>
                          </a:solidFill>
                          <a:latin typeface="Calibri"/>
                          <a:cs typeface="Calibri"/>
                        </a:rPr>
                        <a:t>Name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35280">
                <a:tc>
                  <a:txBody>
                    <a:bodyPr/>
                    <a:lstStyle/>
                    <a:p>
                      <a:pPr marL="90805">
                        <a:lnSpc>
                          <a:spcPct val="100000"/>
                        </a:lnSpc>
                        <a:spcBef>
                          <a:spcPts val="270"/>
                        </a:spcBef>
                      </a:pPr>
                      <a:r>
                        <a:rPr dirty="0" sz="1600" spc="-10">
                          <a:solidFill>
                            <a:srgbClr val="4E3629"/>
                          </a:solidFill>
                          <a:latin typeface="Calibri"/>
                          <a:cs typeface="Calibri"/>
                        </a:rPr>
                        <a:t>abele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35280">
                <a:tc>
                  <a:txBody>
                    <a:bodyPr/>
                    <a:lstStyle/>
                    <a:p>
                      <a:pPr marL="90805">
                        <a:lnSpc>
                          <a:spcPct val="100000"/>
                        </a:lnSpc>
                        <a:spcBef>
                          <a:spcPts val="270"/>
                        </a:spcBef>
                      </a:pPr>
                      <a:r>
                        <a:rPr dirty="0" sz="1600" spc="-10">
                          <a:solidFill>
                            <a:srgbClr val="4E3629"/>
                          </a:solidFill>
                          <a:latin typeface="Calibri"/>
                          <a:cs typeface="Calibri"/>
                        </a:rPr>
                        <a:t>daviesc</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56870">
                <a:tc>
                  <a:txBody>
                    <a:bodyPr/>
                    <a:lstStyle/>
                    <a:p>
                      <a:pPr marL="90805">
                        <a:lnSpc>
                          <a:spcPct val="100000"/>
                        </a:lnSpc>
                        <a:spcBef>
                          <a:spcPts val="270"/>
                        </a:spcBef>
                      </a:pPr>
                      <a:r>
                        <a:rPr dirty="0" sz="1600">
                          <a:solidFill>
                            <a:srgbClr val="4E3629"/>
                          </a:solidFill>
                          <a:latin typeface="Calibri"/>
                          <a:cs typeface="Calibri"/>
                        </a:rPr>
                        <a:t>de</a:t>
                      </a:r>
                      <a:r>
                        <a:rPr dirty="0" sz="1600" spc="-15">
                          <a:solidFill>
                            <a:srgbClr val="4E3629"/>
                          </a:solidFill>
                          <a:latin typeface="Calibri"/>
                          <a:cs typeface="Calibri"/>
                        </a:rPr>
                        <a:t> </a:t>
                      </a:r>
                      <a:r>
                        <a:rPr dirty="0" sz="1600" spc="-10">
                          <a:solidFill>
                            <a:srgbClr val="4E3629"/>
                          </a:solidFill>
                          <a:latin typeface="Calibri"/>
                          <a:cs typeface="Calibri"/>
                        </a:rPr>
                        <a:t>haanl</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graphicFrame>
        <p:nvGraphicFramePr>
          <p:cNvPr id="4" name="object 4" descr=""/>
          <p:cNvGraphicFramePr>
            <a:graphicFrameLocks noGrp="1"/>
          </p:cNvGraphicFramePr>
          <p:nvPr/>
        </p:nvGraphicFramePr>
        <p:xfrm>
          <a:off x="1488281" y="4289004"/>
          <a:ext cx="6243955" cy="1522730"/>
        </p:xfrm>
        <a:graphic>
          <a:graphicData uri="http://schemas.openxmlformats.org/drawingml/2006/table">
            <a:tbl>
              <a:tblPr firstRow="1" bandRow="1">
                <a:tableStyleId>{2D5ABB26-0587-4C30-8999-92F81FD0307C}</a:tableStyleId>
              </a:tblPr>
              <a:tblGrid>
                <a:gridCol w="6155055"/>
              </a:tblGrid>
              <a:tr h="334645">
                <a:tc>
                  <a:txBody>
                    <a:bodyPr/>
                    <a:lstStyle/>
                    <a:p>
                      <a:pPr marL="91440">
                        <a:lnSpc>
                          <a:spcPct val="100000"/>
                        </a:lnSpc>
                        <a:spcBef>
                          <a:spcPts val="270"/>
                        </a:spcBef>
                      </a:pPr>
                      <a:r>
                        <a:rPr dirty="0" sz="1600" spc="-10" b="1">
                          <a:solidFill>
                            <a:srgbClr val="4E3629"/>
                          </a:solidFill>
                          <a:latin typeface="Calibri"/>
                          <a:cs typeface="Calibri"/>
                        </a:rPr>
                        <a:t>LOWER(LAST_NAME)||LOWER(SUBSTR(FIRST_NAME,1,1))</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96240">
                <a:tc>
                  <a:txBody>
                    <a:bodyPr/>
                    <a:lstStyle/>
                    <a:p>
                      <a:pPr marL="114300">
                        <a:lnSpc>
                          <a:spcPct val="100000"/>
                        </a:lnSpc>
                        <a:spcBef>
                          <a:spcPts val="500"/>
                        </a:spcBef>
                      </a:pPr>
                      <a:r>
                        <a:rPr dirty="0" sz="1600" spc="-20">
                          <a:solidFill>
                            <a:srgbClr val="4E3629"/>
                          </a:solidFill>
                          <a:latin typeface="Calibri"/>
                          <a:cs typeface="Calibri"/>
                        </a:rPr>
                        <a:t>does</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95605">
                <a:tc>
                  <a:txBody>
                    <a:bodyPr/>
                    <a:lstStyle/>
                    <a:p>
                      <a:pPr marL="114300">
                        <a:lnSpc>
                          <a:spcPct val="100000"/>
                        </a:lnSpc>
                        <a:spcBef>
                          <a:spcPts val="500"/>
                        </a:spcBef>
                      </a:pPr>
                      <a:r>
                        <a:rPr dirty="0" sz="1600" spc="-10">
                          <a:solidFill>
                            <a:srgbClr val="4E3629"/>
                          </a:solidFill>
                          <a:latin typeface="Calibri"/>
                          <a:cs typeface="Calibri"/>
                        </a:rPr>
                        <a:t>millerb</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96240">
                <a:tc>
                  <a:txBody>
                    <a:bodyPr/>
                    <a:lstStyle/>
                    <a:p>
                      <a:pPr marL="114300">
                        <a:lnSpc>
                          <a:spcPct val="100000"/>
                        </a:lnSpc>
                        <a:spcBef>
                          <a:spcPts val="500"/>
                        </a:spcBef>
                      </a:pPr>
                      <a:r>
                        <a:rPr dirty="0" sz="1600" spc="-10">
                          <a:solidFill>
                            <a:srgbClr val="4E3629"/>
                          </a:solidFill>
                          <a:latin typeface="Calibri"/>
                          <a:cs typeface="Calibri"/>
                        </a:rPr>
                        <a:t>tuttlem</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393191" y="1615439"/>
            <a:ext cx="6400800" cy="1163320"/>
          </a:xfrm>
          <a:prstGeom prst="rect">
            <a:avLst/>
          </a:prstGeom>
          <a:solidFill>
            <a:srgbClr val="9DBEC4">
              <a:alpha val="50199"/>
            </a:srgbClr>
          </a:solidFill>
        </p:spPr>
        <p:txBody>
          <a:bodyPr wrap="square" lIns="0" tIns="5080" rIns="0" bIns="0" rtlCol="0" vert="horz">
            <a:spAutoFit/>
          </a:bodyPr>
          <a:lstStyle/>
          <a:p>
            <a:pPr marR="2433320">
              <a:lnSpc>
                <a:spcPct val="100000"/>
              </a:lnSpc>
              <a:spcBef>
                <a:spcPts val="40"/>
              </a:spcBef>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LOWER(last_name)|| LOWER(SUBSTR(first_name,1,1))</a:t>
            </a:r>
            <a:endParaRPr sz="1800">
              <a:latin typeface="Courier New"/>
              <a:cs typeface="Courier New"/>
            </a:endParaRPr>
          </a:p>
          <a:p>
            <a:pPr marR="4207510" indent="274320">
              <a:lnSpc>
                <a:spcPct val="100000"/>
              </a:lnSpc>
            </a:pPr>
            <a:r>
              <a:rPr dirty="0" sz="1800" b="1">
                <a:solidFill>
                  <a:srgbClr val="4E3629"/>
                </a:solidFill>
                <a:latin typeface="Courier New"/>
                <a:cs typeface="Courier New"/>
              </a:rPr>
              <a:t>AS</a:t>
            </a:r>
            <a:r>
              <a:rPr dirty="0" sz="1800" spc="-40" b="1">
                <a:solidFill>
                  <a:srgbClr val="4E3629"/>
                </a:solidFill>
                <a:latin typeface="Courier New"/>
                <a:cs typeface="Courier New"/>
              </a:rPr>
              <a:t> </a:t>
            </a:r>
            <a:r>
              <a:rPr dirty="0" sz="1800" b="1">
                <a:solidFill>
                  <a:srgbClr val="4E3629"/>
                </a:solidFill>
                <a:latin typeface="Courier New"/>
                <a:cs typeface="Courier New"/>
              </a:rPr>
              <a:t>"User</a:t>
            </a:r>
            <a:r>
              <a:rPr dirty="0" sz="1800" spc="-45" b="1">
                <a:solidFill>
                  <a:srgbClr val="4E3629"/>
                </a:solidFill>
                <a:latin typeface="Courier New"/>
                <a:cs typeface="Courier New"/>
              </a:rPr>
              <a:t> </a:t>
            </a:r>
            <a:r>
              <a:rPr dirty="0" sz="1800" spc="-10" b="1">
                <a:solidFill>
                  <a:srgbClr val="4E3629"/>
                </a:solidFill>
                <a:latin typeface="Courier New"/>
                <a:cs typeface="Courier New"/>
              </a:rPr>
              <a:t>Name"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p:txBody>
      </p:sp>
      <p:sp>
        <p:nvSpPr>
          <p:cNvPr id="6" name="object 6" descr=""/>
          <p:cNvSpPr txBox="1"/>
          <p:nvPr/>
        </p:nvSpPr>
        <p:spPr>
          <a:xfrm>
            <a:off x="393191" y="3366515"/>
            <a:ext cx="8357870" cy="681355"/>
          </a:xfrm>
          <a:prstGeom prst="rect">
            <a:avLst/>
          </a:prstGeom>
          <a:solidFill>
            <a:srgbClr val="9DBEC4">
              <a:alpha val="50199"/>
            </a:srgbClr>
          </a:solidFill>
        </p:spPr>
        <p:txBody>
          <a:bodyPr wrap="square" lIns="0" tIns="38100" rIns="0" bIns="0" rtlCol="0" vert="horz">
            <a:spAutoFit/>
          </a:bodyPr>
          <a:lstStyle/>
          <a:p>
            <a:pPr marR="842644">
              <a:lnSpc>
                <a:spcPct val="100000"/>
              </a:lnSpc>
              <a:spcBef>
                <a:spcPts val="300"/>
              </a:spcBef>
            </a:pPr>
            <a:r>
              <a:rPr dirty="0" sz="1800" b="1">
                <a:solidFill>
                  <a:srgbClr val="4E3629"/>
                </a:solidFill>
                <a:latin typeface="Courier New"/>
                <a:cs typeface="Courier New"/>
              </a:rPr>
              <a:t>SELECT</a:t>
            </a:r>
            <a:r>
              <a:rPr dirty="0" sz="1800" spc="-65" b="1">
                <a:solidFill>
                  <a:srgbClr val="4E3629"/>
                </a:solidFill>
                <a:latin typeface="Courier New"/>
                <a:cs typeface="Courier New"/>
              </a:rPr>
              <a:t> </a:t>
            </a:r>
            <a:r>
              <a:rPr dirty="0" sz="1800" b="1">
                <a:solidFill>
                  <a:srgbClr val="4E3629"/>
                </a:solidFill>
                <a:latin typeface="Courier New"/>
                <a:cs typeface="Courier New"/>
              </a:rPr>
              <a:t>LOWER</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(last_name)||LOWER(SUBSTR(first_name,1,1))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f_staffs;</a:t>
            </a:r>
            <a:endParaRPr sz="1800">
              <a:latin typeface="Courier New"/>
              <a:cs typeface="Courier New"/>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Oracle Academy</dc:creator>
  <dc:title>PowerPoint Presentation</dc:title>
  <dcterms:created xsi:type="dcterms:W3CDTF">2025-06-01T18:24:52Z</dcterms:created>
  <dcterms:modified xsi:type="dcterms:W3CDTF">2025-06-01T18:24:52Z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2025-04-07T00:00:00Z</vt:filetime>
  </property>
  <property fmtid="{D5CDD505-2E9C-101B-9397-08002B2CF9AE}" pid="3" name="Creator">
    <vt:lpwstr>Acrobat PDFMaker 20 for PowerPoint</vt:lpwstr>
  </property>
  <property fmtid="{D5CDD505-2E9C-101B-9397-08002B2CF9AE}" pid="4" name="LastSaved">
    <vt:filetime>2025-06-01T00:00:00Z</vt:filetime>
  </property>
  <property fmtid="{D5CDD505-2E9C-101B-9397-08002B2CF9AE}" pid="5" name="Producer">
    <vt:lpwstr>macOS Version 15.3.1 (Build 24D70) Quartz PDFContext</vt:lpwstr>
  </property>
</Properties>
</file>