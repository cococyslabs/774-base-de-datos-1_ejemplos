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18:52:46</a:t>
            </a:r>
          </a:p>
          <a:p>
            <a:r>
              <a:t>--------------------------------------------</a:t>
            </a:r>
          </a:p>
          <a:p>
            <a:r>
              <a:t>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5-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Condicionales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5-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Condicionales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5-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Condicionales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5-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Condicionales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5-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Condicionales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4510405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415417"/>
            <a:ext cx="4858385" cy="3018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1183639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5-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Condicionales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1790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.xml"/><Relationship Id="rId5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.xml"/><Relationship Id="rId5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3364229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5-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Expresiones</a:t>
            </a:r>
            <a:r>
              <a:rPr dirty="0" sz="2400" spc="-114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Condicionales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30723" y="2599944"/>
            <a:ext cx="3745991" cy="38968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Expresiones</a:t>
            </a:r>
            <a:r>
              <a:rPr dirty="0" spc="-155"/>
              <a:t> </a:t>
            </a:r>
            <a:r>
              <a:rPr dirty="0" spc="-10"/>
              <a:t>Condicionales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55371"/>
            <a:ext cx="8023859" cy="302069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56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expresiones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condicionales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CASE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DECODE</a:t>
            </a:r>
            <a:endParaRPr sz="2800">
              <a:latin typeface="Calibri"/>
              <a:cs typeface="Calibri"/>
            </a:endParaRPr>
          </a:p>
          <a:p>
            <a:pPr marL="182880" marR="97155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Ya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estudiado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NULLIF,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equivalente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lógico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CASE,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compara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expresiones</a:t>
            </a:r>
            <a:endParaRPr sz="2800">
              <a:latin typeface="Calibri"/>
              <a:cs typeface="Calibri"/>
            </a:endParaRPr>
          </a:p>
          <a:p>
            <a:pPr marL="182880" marR="899794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NULIF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compara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expresiones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expresiones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iguales,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null;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son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iguales,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primera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548884" y="4447032"/>
            <a:ext cx="3005455" cy="1697989"/>
            <a:chOff x="5548884" y="4447032"/>
            <a:chExt cx="3005455" cy="1697989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8884" y="5617464"/>
              <a:ext cx="3005327" cy="52730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6396" y="4447032"/>
              <a:ext cx="2260092" cy="1620012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5-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Condicionales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8750490" y="6567768"/>
            <a:ext cx="8953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50" b="1">
                <a:solidFill>
                  <a:srgbClr val="4E3629"/>
                </a:solidFill>
                <a:latin typeface="Calibri"/>
                <a:cs typeface="Calibri"/>
              </a:rPr>
              <a:t>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Expresiones</a:t>
            </a:r>
            <a:r>
              <a:rPr dirty="0" spc="-155"/>
              <a:t> </a:t>
            </a:r>
            <a:r>
              <a:rPr dirty="0" spc="-10"/>
              <a:t>Condicionales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86420" cy="306133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141351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DECODE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estas 	diferencias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CASE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compatible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ANSI/ISO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99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SQL 	99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DECODE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propiedad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endParaRPr sz="2800">
              <a:latin typeface="Calibri"/>
              <a:cs typeface="Calibri"/>
            </a:endParaRPr>
          </a:p>
          <a:p>
            <a:pPr marL="182880" marR="648970" indent="-170815">
              <a:lnSpc>
                <a:spcPts val="3030"/>
              </a:lnSpc>
              <a:spcBef>
                <a:spcPts val="83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Ambas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devuelven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misma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información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utilizando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114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diferente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548884" y="4447032"/>
            <a:ext cx="3005455" cy="1697989"/>
            <a:chOff x="5548884" y="4447032"/>
            <a:chExt cx="3005455" cy="1697989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8884" y="5617464"/>
              <a:ext cx="3005327" cy="52730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6396" y="4447032"/>
              <a:ext cx="2260092" cy="1620012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5-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Condicionales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Expresión</a:t>
            </a:r>
            <a:r>
              <a:rPr dirty="0" spc="-125"/>
              <a:t> </a:t>
            </a:r>
            <a:r>
              <a:rPr dirty="0" spc="-20"/>
              <a:t>CASE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80959" cy="21920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CASE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básicamente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IF-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THEN-ELSE</a:t>
            </a:r>
            <a:endParaRPr sz="2800">
              <a:latin typeface="Calibri"/>
              <a:cs typeface="Calibri"/>
            </a:endParaRPr>
          </a:p>
          <a:p>
            <a:pPr marL="182880" marR="15367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expresiones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CASE,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deben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iguales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05384" y="3758184"/>
            <a:ext cx="8345805" cy="1445260"/>
          </a:xfrm>
          <a:custGeom>
            <a:avLst/>
            <a:gdLst/>
            <a:ahLst/>
            <a:cxnLst/>
            <a:rect l="l" t="t" r="r" b="b"/>
            <a:pathLst>
              <a:path w="8345805" h="1445260">
                <a:moveTo>
                  <a:pt x="8345424" y="0"/>
                </a:moveTo>
                <a:lnTo>
                  <a:pt x="0" y="0"/>
                </a:lnTo>
                <a:lnTo>
                  <a:pt x="0" y="1444752"/>
                </a:lnTo>
                <a:lnTo>
                  <a:pt x="8345424" y="1444752"/>
                </a:lnTo>
                <a:lnTo>
                  <a:pt x="8345424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405241" y="3758184"/>
          <a:ext cx="6796405" cy="1443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9930"/>
                <a:gridCol w="2319655"/>
                <a:gridCol w="682625"/>
                <a:gridCol w="1737994"/>
              </a:tblGrid>
              <a:tr h="313690"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CASE</a:t>
                      </a:r>
                      <a:r>
                        <a:rPr dirty="0" sz="1800" spc="-4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expr</a:t>
                      </a:r>
                      <a:r>
                        <a:rPr dirty="0" sz="1800" spc="-4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WHEN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8890"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comparison_expr1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8890"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spc="-2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THEN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8890"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return_expr1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8890">
                    <a:solidFill>
                      <a:srgbClr val="9DBEC4">
                        <a:alpha val="50199"/>
                      </a:srgbClr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marR="59690">
                        <a:lnSpc>
                          <a:spcPts val="1920"/>
                        </a:lnSpc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[WHEN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comparison_expr2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dirty="0" sz="1800" spc="-2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THEN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6195">
                        <a:lnSpc>
                          <a:spcPts val="1920"/>
                        </a:lnSpc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return_expr2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algn="r" marR="59690">
                        <a:lnSpc>
                          <a:spcPts val="1920"/>
                        </a:lnSpc>
                      </a:pPr>
                      <a:r>
                        <a:rPr dirty="0" sz="1800" spc="-2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WHEN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comparison_exprn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dirty="0" sz="1800" spc="-2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THEN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ts val="1920"/>
                        </a:lnSpc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return_exprn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</a:tr>
              <a:tr h="581660">
                <a:tc>
                  <a:txBody>
                    <a:bodyPr/>
                    <a:lstStyle/>
                    <a:p>
                      <a:pPr marL="1365250">
                        <a:lnSpc>
                          <a:spcPts val="1920"/>
                        </a:lnSpc>
                      </a:pPr>
                      <a:r>
                        <a:rPr dirty="0" sz="1800" spc="-2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800" spc="-2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END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else_expr]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5-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Condicionales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Sintaxis</a:t>
            </a:r>
            <a:r>
              <a:rPr dirty="0" spc="-85"/>
              <a:t> </a:t>
            </a:r>
            <a:r>
              <a:rPr dirty="0"/>
              <a:t>de</a:t>
            </a:r>
            <a:r>
              <a:rPr dirty="0" spc="-85"/>
              <a:t> </a:t>
            </a:r>
            <a:r>
              <a:rPr dirty="0" spc="-20"/>
              <a:t>CASE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5-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Condicionales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18161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La</a:t>
            </a:r>
            <a:r>
              <a:rPr dirty="0" spc="-90"/>
              <a:t> </a:t>
            </a:r>
            <a:r>
              <a:rPr dirty="0"/>
              <a:t>consulta</a:t>
            </a:r>
            <a:r>
              <a:rPr dirty="0" spc="-45"/>
              <a:t> </a:t>
            </a:r>
            <a:r>
              <a:rPr dirty="0"/>
              <a:t>comprueba</a:t>
            </a:r>
            <a:r>
              <a:rPr dirty="0" spc="-40"/>
              <a:t> </a:t>
            </a:r>
            <a:r>
              <a:rPr dirty="0"/>
              <a:t>el</a:t>
            </a:r>
            <a:r>
              <a:rPr dirty="0" spc="-95"/>
              <a:t> </a:t>
            </a:r>
            <a:r>
              <a:rPr dirty="0" spc="-10"/>
              <a:t>valor 	department_id</a:t>
            </a:r>
          </a:p>
          <a:p>
            <a:pPr marL="355600">
              <a:lnSpc>
                <a:spcPts val="2735"/>
              </a:lnSpc>
              <a:spcBef>
                <a:spcPts val="95"/>
              </a:spcBef>
            </a:pPr>
            <a:r>
              <a:rPr dirty="0" sz="2400" spc="55">
                <a:solidFill>
                  <a:srgbClr val="D1350F"/>
                </a:solidFill>
              </a:rPr>
              <a:t>−</a:t>
            </a:r>
            <a:r>
              <a:rPr dirty="0" sz="2400" spc="55"/>
              <a:t>Si</a:t>
            </a:r>
            <a:r>
              <a:rPr dirty="0" sz="2400" spc="-25"/>
              <a:t> </a:t>
            </a:r>
            <a:r>
              <a:rPr dirty="0" sz="2400"/>
              <a:t>(IF)</a:t>
            </a:r>
            <a:r>
              <a:rPr dirty="0" sz="2400" spc="-20"/>
              <a:t> </a:t>
            </a:r>
            <a:r>
              <a:rPr dirty="0" sz="2400"/>
              <a:t>es</a:t>
            </a:r>
            <a:r>
              <a:rPr dirty="0" sz="2400" spc="-25"/>
              <a:t> </a:t>
            </a:r>
            <a:r>
              <a:rPr dirty="0" sz="2400"/>
              <a:t>90,</a:t>
            </a:r>
            <a:r>
              <a:rPr dirty="0" sz="2400" spc="-10"/>
              <a:t> (then)</a:t>
            </a:r>
            <a:endParaRPr sz="2400"/>
          </a:p>
          <a:p>
            <a:pPr marL="1282065">
              <a:lnSpc>
                <a:spcPts val="2735"/>
              </a:lnSpc>
            </a:pPr>
            <a:r>
              <a:rPr dirty="0" sz="2400"/>
              <a:t>devuelve</a:t>
            </a:r>
            <a:r>
              <a:rPr dirty="0" sz="2400" spc="-114"/>
              <a:t> </a:t>
            </a:r>
            <a:r>
              <a:rPr dirty="0" sz="2400" spc="-10"/>
              <a:t>'Management'</a:t>
            </a:r>
            <a:endParaRPr sz="2400"/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 spc="55">
                <a:solidFill>
                  <a:srgbClr val="D1350F"/>
                </a:solidFill>
              </a:rPr>
              <a:t>−</a:t>
            </a:r>
            <a:r>
              <a:rPr dirty="0" sz="2400" spc="55"/>
              <a:t>Si</a:t>
            </a:r>
            <a:r>
              <a:rPr dirty="0" sz="2400" spc="-45"/>
              <a:t> </a:t>
            </a:r>
            <a:r>
              <a:rPr dirty="0" sz="2400"/>
              <a:t>(IF)</a:t>
            </a:r>
            <a:r>
              <a:rPr dirty="0" sz="2400" spc="-45"/>
              <a:t> </a:t>
            </a:r>
            <a:r>
              <a:rPr dirty="0" sz="2400"/>
              <a:t>es</a:t>
            </a:r>
            <a:r>
              <a:rPr dirty="0" sz="2400" spc="-50"/>
              <a:t> </a:t>
            </a:r>
            <a:r>
              <a:rPr dirty="0" sz="2400"/>
              <a:t>80,</a:t>
            </a:r>
            <a:r>
              <a:rPr dirty="0" sz="2400" spc="-35"/>
              <a:t> </a:t>
            </a:r>
            <a:r>
              <a:rPr dirty="0" sz="2400"/>
              <a:t>(then)</a:t>
            </a:r>
            <a:r>
              <a:rPr dirty="0" sz="2400" spc="-45"/>
              <a:t> </a:t>
            </a:r>
            <a:r>
              <a:rPr dirty="0" sz="2400"/>
              <a:t>devuelve</a:t>
            </a:r>
            <a:r>
              <a:rPr dirty="0" sz="2400" spc="-25"/>
              <a:t> </a:t>
            </a:r>
            <a:r>
              <a:rPr dirty="0" sz="2400" spc="-10"/>
              <a:t>'Sales'</a:t>
            </a:r>
            <a:endParaRPr sz="2400"/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 spc="55">
                <a:solidFill>
                  <a:srgbClr val="D1350F"/>
                </a:solidFill>
              </a:rPr>
              <a:t>−</a:t>
            </a:r>
            <a:r>
              <a:rPr dirty="0" sz="2400" spc="55"/>
              <a:t>Si</a:t>
            </a:r>
            <a:r>
              <a:rPr dirty="0" sz="2400" spc="-45"/>
              <a:t> </a:t>
            </a:r>
            <a:r>
              <a:rPr dirty="0" sz="2400"/>
              <a:t>(IF)</a:t>
            </a:r>
            <a:r>
              <a:rPr dirty="0" sz="2400" spc="-45"/>
              <a:t> </a:t>
            </a:r>
            <a:r>
              <a:rPr dirty="0" sz="2400"/>
              <a:t>es</a:t>
            </a:r>
            <a:r>
              <a:rPr dirty="0" sz="2400" spc="-50"/>
              <a:t> </a:t>
            </a:r>
            <a:r>
              <a:rPr dirty="0" sz="2400"/>
              <a:t>60,</a:t>
            </a:r>
            <a:r>
              <a:rPr dirty="0" sz="2400" spc="-35"/>
              <a:t> </a:t>
            </a:r>
            <a:r>
              <a:rPr dirty="0" sz="2400"/>
              <a:t>(then)</a:t>
            </a:r>
            <a:r>
              <a:rPr dirty="0" sz="2400" spc="-45"/>
              <a:t> </a:t>
            </a:r>
            <a:r>
              <a:rPr dirty="0" sz="2400"/>
              <a:t>devuelve</a:t>
            </a:r>
            <a:r>
              <a:rPr dirty="0" sz="2400" spc="-25"/>
              <a:t> </a:t>
            </a:r>
            <a:r>
              <a:rPr dirty="0" sz="2400" spc="-20"/>
              <a:t>'It'</a:t>
            </a:r>
            <a:endParaRPr sz="2400"/>
          </a:p>
          <a:p>
            <a:pPr marL="530860" marR="1372235" indent="-175260">
              <a:lnSpc>
                <a:spcPts val="2590"/>
              </a:lnSpc>
              <a:spcBef>
                <a:spcPts val="445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sz="2400"/>
              <a:t>En</a:t>
            </a:r>
            <a:r>
              <a:rPr dirty="0" sz="2400" spc="20"/>
              <a:t> </a:t>
            </a:r>
            <a:r>
              <a:rPr dirty="0" sz="2400"/>
              <a:t>caso</a:t>
            </a:r>
            <a:r>
              <a:rPr dirty="0" sz="2400" spc="15"/>
              <a:t> </a:t>
            </a:r>
            <a:r>
              <a:rPr dirty="0" sz="2400" spc="-10"/>
              <a:t>contrario</a:t>
            </a:r>
            <a:r>
              <a:rPr dirty="0" sz="2400"/>
              <a:t> </a:t>
            </a:r>
            <a:r>
              <a:rPr dirty="0" sz="2400" spc="-10"/>
              <a:t>(ELSE) </a:t>
            </a:r>
            <a:r>
              <a:rPr dirty="0" sz="2400"/>
              <a:t>devuelve</a:t>
            </a:r>
            <a:r>
              <a:rPr dirty="0" sz="2400" spc="-80"/>
              <a:t> </a:t>
            </a:r>
            <a:r>
              <a:rPr dirty="0" sz="2400"/>
              <a:t>'Other</a:t>
            </a:r>
            <a:r>
              <a:rPr dirty="0" sz="2400" spc="-85"/>
              <a:t> </a:t>
            </a:r>
            <a:r>
              <a:rPr dirty="0" sz="2400" spc="-10"/>
              <a:t>dept.'</a:t>
            </a:r>
            <a:endParaRPr sz="2400"/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065384" y="1038898"/>
          <a:ext cx="3062605" cy="53689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9990"/>
                <a:gridCol w="1783714"/>
              </a:tblGrid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Whalen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Gietz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Zlotkey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Taylor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Mourgos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Rajs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Davies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Matos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Vargas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Hunold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Ernst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Lorentz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Hartstein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2110739" y="4474464"/>
            <a:ext cx="3876040" cy="194818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2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6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CASE</a:t>
            </a:r>
            <a:r>
              <a:rPr dirty="0" sz="16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endParaRPr sz="1600">
              <a:latin typeface="Courier New"/>
              <a:cs typeface="Courier New"/>
            </a:endParaRPr>
          </a:p>
          <a:p>
            <a:pPr marL="365125" marR="450215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WHEN</a:t>
            </a:r>
            <a:r>
              <a:rPr dirty="0" sz="16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90</a:t>
            </a:r>
            <a:r>
              <a:rPr dirty="0" sz="16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THEN</a:t>
            </a:r>
            <a:r>
              <a:rPr dirty="0" sz="16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'Management'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WHEN</a:t>
            </a:r>
            <a:r>
              <a:rPr dirty="0" sz="16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80</a:t>
            </a:r>
            <a:r>
              <a:rPr dirty="0" sz="16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THEN</a:t>
            </a:r>
            <a:r>
              <a:rPr dirty="0" sz="16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'Sales'</a:t>
            </a:r>
            <a:endParaRPr sz="1600">
              <a:latin typeface="Courier New"/>
              <a:cs typeface="Courier New"/>
            </a:endParaRPr>
          </a:p>
          <a:p>
            <a:pPr marL="365125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WHEN</a:t>
            </a:r>
            <a:r>
              <a:rPr dirty="0" sz="16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60</a:t>
            </a:r>
            <a:r>
              <a:rPr dirty="0" sz="16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THEN</a:t>
            </a:r>
            <a:r>
              <a:rPr dirty="0" sz="16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20" b="1">
                <a:solidFill>
                  <a:srgbClr val="4E3629"/>
                </a:solidFill>
                <a:latin typeface="Courier New"/>
                <a:cs typeface="Courier New"/>
              </a:rPr>
              <a:t>'It'</a:t>
            </a:r>
            <a:endParaRPr sz="1600">
              <a:latin typeface="Courier New"/>
              <a:cs typeface="Courier New"/>
            </a:endParaRPr>
          </a:p>
          <a:p>
            <a:pPr marR="1304925" indent="365760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ELSE</a:t>
            </a:r>
            <a:r>
              <a:rPr dirty="0" sz="16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'Other</a:t>
            </a:r>
            <a:r>
              <a:rPr dirty="0" sz="16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dept.'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END</a:t>
            </a:r>
            <a:r>
              <a:rPr dirty="0" sz="1600" spc="-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600" spc="-1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"Department"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Expresión</a:t>
            </a:r>
            <a:r>
              <a:rPr dirty="0" spc="-125"/>
              <a:t> </a:t>
            </a:r>
            <a:r>
              <a:rPr dirty="0" spc="-10"/>
              <a:t>DECODE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5-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Condicionales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11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11490" cy="21920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DECODE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evalúa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forma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similar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lógica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IF-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THEN-ELSE</a:t>
            </a:r>
            <a:endParaRPr sz="2800">
              <a:latin typeface="Calibri"/>
              <a:cs typeface="Calibri"/>
            </a:endParaRPr>
          </a:p>
          <a:p>
            <a:pPr marL="182880" marR="32893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DECODE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compara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búsqueda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DECODE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4612769"/>
            <a:ext cx="7764145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omite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defecto,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valor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nulo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donde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búsqueda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coincida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con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ninguno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3707891"/>
            <a:ext cx="8333740" cy="87630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8255" rIns="0" bIns="0" rtlCol="0" vert="horz">
            <a:spAutoFit/>
          </a:bodyPr>
          <a:lstStyle/>
          <a:p>
            <a:pPr marL="1228725" marR="2455545" indent="-1229995">
              <a:lnSpc>
                <a:spcPts val="2160"/>
              </a:lnSpc>
              <a:spcBef>
                <a:spcPts val="6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DECODE(columnl|expression,</a:t>
            </a:r>
            <a:r>
              <a:rPr dirty="0" sz="1800" spc="-1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search1,</a:t>
            </a:r>
            <a:r>
              <a:rPr dirty="0" sz="1800" spc="-1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result1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[,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search2,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result2,...,]</a:t>
            </a:r>
            <a:endParaRPr sz="1800">
              <a:latin typeface="Courier New"/>
              <a:cs typeface="Courier New"/>
            </a:endParaRPr>
          </a:p>
          <a:p>
            <a:pPr marL="1228725">
              <a:lnSpc>
                <a:spcPts val="209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[,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default])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Expresión</a:t>
            </a:r>
            <a:r>
              <a:rPr dirty="0" spc="-125"/>
              <a:t> </a:t>
            </a:r>
            <a:r>
              <a:rPr dirty="0" spc="-10"/>
              <a:t>DECODE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5-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Expresiones</a:t>
            </a:r>
            <a:r>
              <a:rPr dirty="0" spc="50"/>
              <a:t> </a:t>
            </a:r>
            <a:r>
              <a:rPr dirty="0" spc="-10"/>
              <a:t>Condicionales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12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31076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Examine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4039745"/>
            <a:ext cx="4799330" cy="181673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5080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1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devuelve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exactamente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mismos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resultados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CASE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anterior,</a:t>
            </a:r>
            <a:r>
              <a:rPr dirty="0" sz="2800" spc="-1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pero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utilizando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 	diferente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640049" y="784225"/>
          <a:ext cx="3193415" cy="5626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0935"/>
                <a:gridCol w="1973579"/>
              </a:tblGrid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Whalen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Gietz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Zlotkey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Taylor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Mourgos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Rajs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Davies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Matos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Vargas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Hunold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Ernst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Lorentz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Hartstein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393191" y="1865376"/>
            <a:ext cx="5055235" cy="219202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endParaRPr sz="1800">
              <a:latin typeface="Courier New"/>
              <a:cs typeface="Courier New"/>
            </a:endParaRPr>
          </a:p>
          <a:p>
            <a:pPr marL="546735" marR="1908175" indent="-273050">
              <a:lnSpc>
                <a:spcPct val="100000"/>
              </a:lnSpc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DECODE(department_id,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90,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'Management',</a:t>
            </a:r>
            <a:endParaRPr sz="1800">
              <a:latin typeface="Courier New"/>
              <a:cs typeface="Courier New"/>
            </a:endParaRPr>
          </a:p>
          <a:p>
            <a:pPr marL="68199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80,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'Sales',</a:t>
            </a:r>
            <a:endParaRPr sz="1800">
              <a:latin typeface="Courier New"/>
              <a:cs typeface="Courier New"/>
            </a:endParaRPr>
          </a:p>
          <a:p>
            <a:pPr marL="54673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60,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'It',</a:t>
            </a:r>
            <a:endParaRPr sz="1800">
              <a:latin typeface="Courier New"/>
              <a:cs typeface="Courier New"/>
            </a:endParaRPr>
          </a:p>
          <a:p>
            <a:pPr marR="2588895" indent="54673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'Other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dept.')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"Department"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2025-06-01T18:24:34Z</dcterms:created>
  <dcterms:modified xsi:type="dcterms:W3CDTF">2025-06-01T18:24:34Z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2025-04-07T00:00:00Z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