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/Relationships>
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/Relationships>
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/Relationships>
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/Relationships>
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/Relationships>
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/Relationships>
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/Relationships>
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Presenter</a:t>
            </a:r>
          </a:p>
          <a:p>
            <a:r>
              <a:t>2020-08-14 18:50:21</a:t>
            </a:r>
          </a:p>
          <a:p>
            <a:r>
              <a:t>--------------------------------------------</a:t>
            </a:r>
          </a:p>
          <a:p>
            <a:r>
              <a:t>El uso de la función ROUND con fechas se tratará en una lección posterior.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Presenter</a:t>
            </a:r>
          </a:p>
          <a:p>
            <a:r>
              <a:t>2020-08-14 18:50:22</a:t>
            </a:r>
          </a:p>
          <a:p>
            <a:r>
              <a:t>--------------------------------------------</a:t>
            </a:r>
          </a:p>
          <a:p>
            <a:r>
              <a:t>El uso de la función TRUNC con fechas se tratará en una lección posterior.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Presenter</a:t>
            </a:r>
          </a:p>
          <a:p>
            <a:r>
              <a:t>2020-08-14 18:50:22</a:t>
            </a:r>
          </a:p>
          <a:p>
            <a:r>
              <a:t>--------------------------------------------</a:t>
            </a:r>
          </a:p>
          <a:p>
            <a:r>
              <a:t>Nota: el operador de módulo se utiliza en muchos lenguajes de programación, y devuelve el resto de una operación de división.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4-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/>
              <a:t>Funciones</a:t>
            </a:r>
            <a:r>
              <a:rPr dirty="0" spc="-45"/>
              <a:t> </a:t>
            </a:r>
            <a:r>
              <a:rPr dirty="0" spc="-10"/>
              <a:t>Numéricas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4-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/>
              <a:t>Funciones</a:t>
            </a:r>
            <a:r>
              <a:rPr dirty="0" spc="-45"/>
              <a:t> </a:t>
            </a:r>
            <a:r>
              <a:rPr dirty="0" spc="-10"/>
              <a:t>Numéricas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4-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/>
              <a:t>Funciones</a:t>
            </a:r>
            <a:r>
              <a:rPr dirty="0" spc="-45"/>
              <a:t> </a:t>
            </a:r>
            <a:r>
              <a:rPr dirty="0" spc="-10"/>
              <a:t>Numéricas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4-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/>
              <a:t>Funciones</a:t>
            </a:r>
            <a:r>
              <a:rPr dirty="0" spc="-45"/>
              <a:t> </a:t>
            </a:r>
            <a:r>
              <a:rPr dirty="0" spc="-10"/>
              <a:t>Numéricas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4-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/>
              <a:t>Funciones</a:t>
            </a:r>
            <a:r>
              <a:rPr dirty="0" spc="-45"/>
              <a:t> </a:t>
            </a:r>
            <a:r>
              <a:rPr dirty="0" spc="-10"/>
              <a:t>Numéricas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0E2E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254507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05384" y="6178295"/>
            <a:ext cx="1258824" cy="4206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2112" y="748031"/>
            <a:ext cx="3657600" cy="528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3552" y="1415417"/>
            <a:ext cx="8031480" cy="3444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172119" y="6589648"/>
            <a:ext cx="3222625" cy="1339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855904" y="6510552"/>
            <a:ext cx="963929" cy="249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4-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/>
              <a:t>Funciones</a:t>
            </a:r>
            <a:r>
              <a:rPr dirty="0" spc="-45"/>
              <a:t> </a:t>
            </a:r>
            <a:r>
              <a:rPr dirty="0" spc="-10"/>
              <a:t>Numéricas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25090" y="6567768"/>
            <a:ext cx="179070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4E362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.xml"/><Relationship Id="rId6" Type="http://schemas.openxmlformats.org/officeDocument/2006/relationships/slide" Target="slide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jpg"/><Relationship Id="rId4" Type="http://schemas.openxmlformats.org/officeDocument/2006/relationships/notesSlide" Target="../notesSlides/notesSlide2.xml"/><Relationship Id="rId5" Type="http://schemas.openxmlformats.org/officeDocument/2006/relationships/slide" Target="slide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slide" Target="slide3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slide" Target="slide4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slide" Target="slide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slide" Target="slide6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slide" Target="slide7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slide" Target="slide8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560831" y="702563"/>
              <a:ext cx="8022590" cy="5453380"/>
            </a:xfrm>
            <a:custGeom>
              <a:avLst/>
              <a:gdLst/>
              <a:ahLst/>
              <a:cxnLst/>
              <a:rect l="l" t="t" r="r" b="b"/>
              <a:pathLst>
                <a:path w="8022590" h="5453380">
                  <a:moveTo>
                    <a:pt x="8022335" y="0"/>
                  </a:moveTo>
                  <a:lnTo>
                    <a:pt x="0" y="0"/>
                  </a:lnTo>
                  <a:lnTo>
                    <a:pt x="0" y="5452872"/>
                  </a:lnTo>
                  <a:lnTo>
                    <a:pt x="8022335" y="5452872"/>
                  </a:lnTo>
                  <a:lnTo>
                    <a:pt x="8022335" y="0"/>
                  </a:lnTo>
                  <a:close/>
                </a:path>
              </a:pathLst>
            </a:custGeom>
            <a:solidFill>
              <a:srgbClr val="E0E2E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0787" y="5570219"/>
              <a:ext cx="1258824" cy="420623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5057819" y="6562597"/>
            <a:ext cx="322262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Copyright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©</a:t>
            </a:r>
            <a:r>
              <a:rPr dirty="0" sz="850" spc="-4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2020,</a:t>
            </a:r>
            <a:r>
              <a:rPr dirty="0" sz="850" spc="-4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Oracle</a:t>
            </a:r>
            <a:r>
              <a:rPr dirty="0" sz="850" spc="-3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y/o</a:t>
            </a:r>
            <a:r>
              <a:rPr dirty="0" sz="850" spc="-3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sus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filiales.</a:t>
            </a:r>
            <a:r>
              <a:rPr dirty="0" sz="850" spc="-10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Todos</a:t>
            </a:r>
            <a:r>
              <a:rPr dirty="0" sz="850" spc="-3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los</a:t>
            </a:r>
            <a:r>
              <a:rPr dirty="0" sz="850" spc="-2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>
                <a:solidFill>
                  <a:srgbClr val="FDF0D9"/>
                </a:solidFill>
                <a:latin typeface="Calibri"/>
                <a:cs typeface="Calibri"/>
              </a:rPr>
              <a:t>derechos</a:t>
            </a:r>
            <a:r>
              <a:rPr dirty="0" sz="850" spc="-5">
                <a:solidFill>
                  <a:srgbClr val="FDF0D9"/>
                </a:solidFill>
                <a:latin typeface="Calibri"/>
                <a:cs typeface="Calibri"/>
              </a:rPr>
              <a:t> </a:t>
            </a:r>
            <a:r>
              <a:rPr dirty="0" sz="850" spc="-10">
                <a:solidFill>
                  <a:srgbClr val="FDF0D9"/>
                </a:solidFill>
                <a:latin typeface="Calibri"/>
                <a:cs typeface="Calibri"/>
              </a:rPr>
              <a:t>reservados.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58315" y="862895"/>
            <a:ext cx="7047865" cy="1342390"/>
          </a:xfrm>
          <a:prstGeom prst="rect"/>
        </p:spPr>
        <p:txBody>
          <a:bodyPr wrap="square" lIns="0" tIns="153670" rIns="0" bIns="0" rtlCol="0" vert="horz">
            <a:spAutoFit/>
          </a:bodyPr>
          <a:lstStyle/>
          <a:p>
            <a:pPr marL="12700" marR="5080">
              <a:lnSpc>
                <a:spcPts val="4610"/>
              </a:lnSpc>
              <a:spcBef>
                <a:spcPts val="1210"/>
              </a:spcBef>
            </a:pPr>
            <a:r>
              <a:rPr dirty="0" sz="4800"/>
              <a:t>Database</a:t>
            </a:r>
            <a:r>
              <a:rPr dirty="0" sz="4800" spc="-190"/>
              <a:t> </a:t>
            </a:r>
            <a:r>
              <a:rPr dirty="0" sz="4800" spc="-20"/>
              <a:t>Programming</a:t>
            </a:r>
            <a:r>
              <a:rPr dirty="0" sz="4800" spc="-185"/>
              <a:t> </a:t>
            </a:r>
            <a:r>
              <a:rPr dirty="0" sz="4800" spc="-20"/>
              <a:t>with </a:t>
            </a:r>
            <a:r>
              <a:rPr dirty="0" sz="4800" spc="-25"/>
              <a:t>SQL</a:t>
            </a:r>
            <a:endParaRPr sz="4800"/>
          </a:p>
        </p:txBody>
      </p:sp>
      <p:sp>
        <p:nvSpPr>
          <p:cNvPr id="8" name="object 8" descr=""/>
          <p:cNvSpPr txBox="1"/>
          <p:nvPr/>
        </p:nvSpPr>
        <p:spPr>
          <a:xfrm>
            <a:off x="962879" y="2400950"/>
            <a:ext cx="2713990" cy="888365"/>
          </a:xfrm>
          <a:prstGeom prst="rect">
            <a:avLst/>
          </a:prstGeom>
        </p:spPr>
        <p:txBody>
          <a:bodyPr wrap="square" lIns="0" tIns="781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dirty="0" sz="2400" spc="-10" b="1">
                <a:solidFill>
                  <a:srgbClr val="4E3629"/>
                </a:solidFill>
                <a:latin typeface="Calibri"/>
                <a:cs typeface="Calibri"/>
              </a:rPr>
              <a:t>4-</a:t>
            </a:r>
            <a:r>
              <a:rPr dirty="0" sz="2400" spc="-50" b="1">
                <a:solidFill>
                  <a:srgbClr val="4E3629"/>
                </a:solidFill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2400" b="1">
                <a:solidFill>
                  <a:srgbClr val="4E3629"/>
                </a:solidFill>
                <a:latin typeface="Calibri"/>
                <a:cs typeface="Calibri"/>
              </a:rPr>
              <a:t>Funciones</a:t>
            </a:r>
            <a:r>
              <a:rPr dirty="0" sz="2400" spc="-55" b="1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4E3629"/>
                </a:solidFill>
                <a:latin typeface="Calibri"/>
                <a:cs typeface="Calibri"/>
              </a:rPr>
              <a:t>Numéricas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98747" y="3485388"/>
            <a:ext cx="5058156" cy="29657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Funciones</a:t>
            </a:r>
            <a:r>
              <a:rPr dirty="0" spc="-70"/>
              <a:t> </a:t>
            </a:r>
            <a:r>
              <a:rPr dirty="0" spc="-10"/>
              <a:t>Numéricas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393401"/>
            <a:ext cx="5041900" cy="1617345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marL="183515" indent="-170815">
              <a:lnSpc>
                <a:spcPct val="100000"/>
              </a:lnSpc>
              <a:spcBef>
                <a:spcPts val="270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Las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tres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funciones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numéricas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son:</a:t>
            </a:r>
            <a:endParaRPr sz="28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45"/>
              </a:spcBef>
            </a:pPr>
            <a:r>
              <a:rPr dirty="0" sz="2400" spc="-1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ROUND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10"/>
              </a:spcBef>
            </a:pPr>
            <a:r>
              <a:rPr dirty="0" sz="2400" spc="-1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 spc="-10">
                <a:solidFill>
                  <a:srgbClr val="4E3629"/>
                </a:solidFill>
                <a:latin typeface="Calibri"/>
                <a:cs typeface="Calibri"/>
              </a:rPr>
              <a:t>TRUNC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05"/>
              </a:spcBef>
            </a:pPr>
            <a:r>
              <a:rPr dirty="0" sz="2400" spc="-20">
                <a:solidFill>
                  <a:srgbClr val="D1350F"/>
                </a:solidFill>
                <a:latin typeface="Calibri"/>
                <a:cs typeface="Calibri"/>
              </a:rPr>
              <a:t>−</a:t>
            </a:r>
            <a:r>
              <a:rPr dirty="0" sz="2400" spc="-20">
                <a:solidFill>
                  <a:srgbClr val="4E3629"/>
                </a:solidFill>
                <a:latin typeface="Calibri"/>
                <a:cs typeface="Calibri"/>
              </a:rPr>
              <a:t>MOD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5049011" y="2540520"/>
            <a:ext cx="3542029" cy="3540760"/>
            <a:chOff x="5049011" y="2540520"/>
            <a:chExt cx="3542029" cy="354076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49011" y="2540520"/>
              <a:ext cx="3541776" cy="3540238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41035" y="2732531"/>
              <a:ext cx="3155154" cy="3152204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4-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/>
              <a:t>Funciones</a:t>
            </a:r>
            <a:r>
              <a:rPr dirty="0" spc="-45"/>
              <a:t> </a:t>
            </a:r>
            <a:r>
              <a:rPr dirty="0" spc="-10"/>
              <a:t>Numéricas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6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ROUND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4-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/>
              <a:t>Funciones</a:t>
            </a:r>
            <a:r>
              <a:rPr dirty="0" spc="-45"/>
              <a:t> </a:t>
            </a:r>
            <a:r>
              <a:rPr dirty="0" spc="-10"/>
              <a:t>Numéricas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7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359029"/>
            <a:ext cx="7562215" cy="2289175"/>
          </a:xfrm>
          <a:prstGeom prst="rect">
            <a:avLst/>
          </a:prstGeom>
        </p:spPr>
        <p:txBody>
          <a:bodyPr wrap="square" lIns="0" tIns="132080" rIns="0" bIns="0" rtlCol="0" vert="horz">
            <a:spAutoFit/>
          </a:bodyPr>
          <a:lstStyle/>
          <a:p>
            <a:pPr marL="184785" marR="73660" indent="-172720">
              <a:lnSpc>
                <a:spcPct val="70000"/>
              </a:lnSpc>
              <a:spcBef>
                <a:spcPts val="104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ROUND</a:t>
            </a:r>
            <a:r>
              <a:rPr dirty="0" sz="26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6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6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utilizar</a:t>
            </a:r>
            <a:r>
              <a:rPr dirty="0" sz="26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tanto</a:t>
            </a:r>
            <a:r>
              <a:rPr dirty="0" sz="26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6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números</a:t>
            </a:r>
            <a:r>
              <a:rPr dirty="0" sz="26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como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25">
                <a:solidFill>
                  <a:srgbClr val="4E3629"/>
                </a:solidFill>
                <a:latin typeface="Calibri"/>
                <a:cs typeface="Calibri"/>
              </a:rPr>
              <a:t>con </a:t>
            </a: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fechas</a:t>
            </a:r>
            <a:endParaRPr sz="2600">
              <a:latin typeface="Calibri"/>
              <a:cs typeface="Calibri"/>
            </a:endParaRPr>
          </a:p>
          <a:p>
            <a:pPr marL="184785" indent="-172085">
              <a:lnSpc>
                <a:spcPts val="2510"/>
              </a:lnSpc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6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utiliza</a:t>
            </a:r>
            <a:r>
              <a:rPr dirty="0" sz="26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principalmente</a:t>
            </a:r>
            <a:r>
              <a:rPr dirty="0" sz="2600" spc="-1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6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redondear</a:t>
            </a:r>
            <a:r>
              <a:rPr dirty="0" sz="26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números</a:t>
            </a:r>
            <a:r>
              <a:rPr dirty="0" sz="26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6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25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endParaRPr sz="2600">
              <a:latin typeface="Calibri"/>
              <a:cs typeface="Calibri"/>
            </a:endParaRPr>
          </a:p>
          <a:p>
            <a:pPr marL="184785">
              <a:lnSpc>
                <a:spcPts val="2185"/>
              </a:lnSpc>
            </a:pP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número</a:t>
            </a:r>
            <a:r>
              <a:rPr dirty="0" sz="26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especificado</a:t>
            </a:r>
            <a:r>
              <a:rPr dirty="0" sz="26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6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posiciones</a:t>
            </a:r>
            <a:r>
              <a:rPr dirty="0" sz="26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decimales,</a:t>
            </a:r>
            <a:r>
              <a:rPr dirty="0" sz="26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20">
                <a:solidFill>
                  <a:srgbClr val="4E3629"/>
                </a:solidFill>
                <a:latin typeface="Calibri"/>
                <a:cs typeface="Calibri"/>
              </a:rPr>
              <a:t>pero</a:t>
            </a:r>
            <a:endParaRPr sz="2600">
              <a:latin typeface="Calibri"/>
              <a:cs typeface="Calibri"/>
            </a:endParaRPr>
          </a:p>
          <a:p>
            <a:pPr marL="184785" marR="19685">
              <a:lnSpc>
                <a:spcPct val="70000"/>
              </a:lnSpc>
              <a:spcBef>
                <a:spcPts val="465"/>
              </a:spcBef>
            </a:pP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también</a:t>
            </a:r>
            <a:r>
              <a:rPr dirty="0" sz="26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6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puede</a:t>
            </a:r>
            <a:r>
              <a:rPr dirty="0" sz="26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utilizar</a:t>
            </a:r>
            <a:r>
              <a:rPr dirty="0" sz="26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para</a:t>
            </a:r>
            <a:r>
              <a:rPr dirty="0" sz="26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redondear</a:t>
            </a:r>
            <a:r>
              <a:rPr dirty="0" sz="26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números</a:t>
            </a:r>
            <a:r>
              <a:rPr dirty="0" sz="26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25">
                <a:solidFill>
                  <a:srgbClr val="4E3629"/>
                </a:solidFill>
                <a:latin typeface="Calibri"/>
                <a:cs typeface="Calibri"/>
              </a:rPr>
              <a:t>la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izquierda</a:t>
            </a:r>
            <a:r>
              <a:rPr dirty="0" sz="26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6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6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coma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decimal</a:t>
            </a:r>
            <a:endParaRPr sz="2600">
              <a:latin typeface="Calibri"/>
              <a:cs typeface="Calibri"/>
            </a:endParaRPr>
          </a:p>
          <a:p>
            <a:pPr marL="259715" indent="-247015">
              <a:lnSpc>
                <a:spcPts val="2985"/>
              </a:lnSpc>
              <a:buClr>
                <a:srgbClr val="D1350F"/>
              </a:buClr>
              <a:buFont typeface="Arial MT"/>
              <a:buChar char="•"/>
              <a:tabLst>
                <a:tab pos="259715" algn="l"/>
              </a:tabLst>
            </a:pP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Sintaxis: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83552" y="3983357"/>
            <a:ext cx="8169275" cy="1736089"/>
          </a:xfrm>
          <a:prstGeom prst="rect">
            <a:avLst/>
          </a:prstGeom>
        </p:spPr>
        <p:txBody>
          <a:bodyPr wrap="square" lIns="0" tIns="132080" rIns="0" bIns="0" rtlCol="0" vert="horz">
            <a:spAutoFit/>
          </a:bodyPr>
          <a:lstStyle/>
          <a:p>
            <a:pPr marL="184785" marR="5080" indent="-172720">
              <a:lnSpc>
                <a:spcPct val="70000"/>
              </a:lnSpc>
              <a:spcBef>
                <a:spcPts val="104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Tenga</a:t>
            </a:r>
            <a:r>
              <a:rPr dirty="0" sz="26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6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cuenta</a:t>
            </a:r>
            <a:r>
              <a:rPr dirty="0" sz="26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6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si</a:t>
            </a:r>
            <a:r>
              <a:rPr dirty="0" sz="26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6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número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6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posiciones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decimales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6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está</a:t>
            </a:r>
            <a:r>
              <a:rPr dirty="0" sz="26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especificado</a:t>
            </a:r>
            <a:r>
              <a:rPr dirty="0" sz="26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o</a:t>
            </a:r>
            <a:r>
              <a:rPr dirty="0" sz="26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es</a:t>
            </a:r>
            <a:r>
              <a:rPr dirty="0" sz="26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cero,</a:t>
            </a:r>
            <a:r>
              <a:rPr dirty="0" sz="26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6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número</a:t>
            </a:r>
            <a:r>
              <a:rPr dirty="0" sz="26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6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redondeará</a:t>
            </a:r>
            <a:r>
              <a:rPr dirty="0" sz="26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25">
                <a:solidFill>
                  <a:srgbClr val="4E3629"/>
                </a:solidFill>
                <a:latin typeface="Calibri"/>
                <a:cs typeface="Calibri"/>
              </a:rPr>
              <a:t>sin </a:t>
            </a: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decimales</a:t>
            </a:r>
            <a:endParaRPr sz="2600">
              <a:latin typeface="Calibri"/>
              <a:cs typeface="Calibri"/>
            </a:endParaRPr>
          </a:p>
          <a:p>
            <a:pPr marL="184785" indent="-172085">
              <a:lnSpc>
                <a:spcPts val="2920"/>
              </a:lnSpc>
              <a:buClr>
                <a:srgbClr val="D1350F"/>
              </a:buClr>
              <a:buFont typeface="Arial MT"/>
              <a:buChar char="•"/>
              <a:tabLst>
                <a:tab pos="184785" algn="l"/>
                <a:tab pos="2755265" algn="l"/>
              </a:tabLst>
            </a:pPr>
            <a:r>
              <a:rPr dirty="0" sz="2600" spc="-10">
                <a:solidFill>
                  <a:srgbClr val="4E3629"/>
                </a:solidFill>
                <a:latin typeface="Calibri"/>
                <a:cs typeface="Calibri"/>
              </a:rPr>
              <a:t>ROUND(45.926)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600" spc="-25">
                <a:solidFill>
                  <a:srgbClr val="4E3629"/>
                </a:solidFill>
                <a:latin typeface="Calibri"/>
                <a:cs typeface="Calibri"/>
              </a:rPr>
              <a:t>46</a:t>
            </a:r>
            <a:endParaRPr sz="2600">
              <a:latin typeface="Calibri"/>
              <a:cs typeface="Calibri"/>
            </a:endParaRPr>
          </a:p>
          <a:p>
            <a:pPr marL="184785" indent="-172085">
              <a:lnSpc>
                <a:spcPts val="3055"/>
              </a:lnSpc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ROUND(45.926,</a:t>
            </a:r>
            <a:r>
              <a:rPr dirty="0" sz="26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4E3629"/>
                </a:solidFill>
                <a:latin typeface="Calibri"/>
                <a:cs typeface="Calibri"/>
              </a:rPr>
              <a:t>0)</a:t>
            </a:r>
            <a:r>
              <a:rPr dirty="0" sz="2600" spc="1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600" spc="-25">
                <a:solidFill>
                  <a:srgbClr val="4E3629"/>
                </a:solidFill>
                <a:latin typeface="Calibri"/>
                <a:cs typeface="Calibri"/>
              </a:rPr>
              <a:t>46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93191" y="3636264"/>
            <a:ext cx="8345805" cy="398145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3429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70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ROUND(column|expression,</a:t>
            </a:r>
            <a:r>
              <a:rPr dirty="0" sz="1800" spc="-1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decimal</a:t>
            </a:r>
            <a:r>
              <a:rPr dirty="0" sz="1800" spc="-1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places)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ROUND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4-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/>
              <a:t>Funciones</a:t>
            </a:r>
            <a:r>
              <a:rPr dirty="0" spc="-45"/>
              <a:t> </a:t>
            </a:r>
            <a:r>
              <a:rPr dirty="0" spc="-10"/>
              <a:t>Numéricas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8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8081009" cy="344487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156845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número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posiciones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decimales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número 	positivo,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número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redondea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número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posiciones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decimales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derecha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coma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decimal</a:t>
            </a:r>
            <a:endParaRPr sz="2800">
              <a:latin typeface="Calibri"/>
              <a:cs typeface="Calibri"/>
            </a:endParaRPr>
          </a:p>
          <a:p>
            <a:pPr marL="183515" indent="-170815">
              <a:lnSpc>
                <a:spcPct val="100000"/>
              </a:lnSpc>
              <a:spcBef>
                <a:spcPts val="409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  <a:tab pos="3092450" algn="l"/>
              </a:tabLst>
            </a:pP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ROUND(45.926,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2)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45.93</a:t>
            </a:r>
            <a:endParaRPr sz="2800">
              <a:latin typeface="Calibri"/>
              <a:cs typeface="Calibri"/>
            </a:endParaRPr>
          </a:p>
          <a:p>
            <a:pPr marL="182880" marR="5080" indent="-170815">
              <a:lnSpc>
                <a:spcPts val="3030"/>
              </a:lnSpc>
              <a:spcBef>
                <a:spcPts val="844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número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posiciones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decimales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número 	negativo,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número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redondea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número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de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posiciones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decimales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izquierda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coma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decimal</a:t>
            </a:r>
            <a:endParaRPr sz="2800">
              <a:latin typeface="Calibri"/>
              <a:cs typeface="Calibri"/>
            </a:endParaRPr>
          </a:p>
          <a:p>
            <a:pPr marL="183515" indent="-170815">
              <a:lnSpc>
                <a:spcPct val="100000"/>
              </a:lnSpc>
              <a:spcBef>
                <a:spcPts val="400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  <a:tab pos="3121025" algn="l"/>
              </a:tabLst>
            </a:pP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ROUND(45.926,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-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1)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50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TRUNC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4-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/>
              <a:t>Funciones</a:t>
            </a:r>
            <a:r>
              <a:rPr dirty="0" spc="-45"/>
              <a:t> </a:t>
            </a:r>
            <a:r>
              <a:rPr dirty="0" spc="-10"/>
              <a:t>Numéricas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9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381889"/>
            <a:ext cx="8043545" cy="3385820"/>
          </a:xfrm>
          <a:prstGeom prst="rect">
            <a:avLst/>
          </a:prstGeom>
        </p:spPr>
        <p:txBody>
          <a:bodyPr wrap="square" lIns="0" tIns="97155" rIns="0" bIns="0" rtlCol="0" vert="horz">
            <a:spAutoFit/>
          </a:bodyPr>
          <a:lstStyle/>
          <a:p>
            <a:pPr marL="159385" marR="5080" indent="-147320">
              <a:lnSpc>
                <a:spcPct val="80000"/>
              </a:lnSpc>
              <a:spcBef>
                <a:spcPts val="76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heavy" sz="2800" spc="-51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La</a:t>
            </a:r>
            <a:r>
              <a:rPr dirty="0" u="heavy" sz="2800" spc="-8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función</a:t>
            </a:r>
            <a:r>
              <a:rPr dirty="0" u="heavy" sz="2800" spc="-4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TRUNC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se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puede</a:t>
            </a:r>
            <a:r>
              <a:rPr dirty="0" u="heavy" sz="2800" spc="-3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utilizar</a:t>
            </a:r>
            <a:r>
              <a:rPr dirty="0" u="heavy" sz="2800" spc="-6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tanto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con</a:t>
            </a:r>
            <a:r>
              <a:rPr dirty="0" u="heavy" sz="2800" spc="-6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 spc="-1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números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como</a:t>
            </a:r>
            <a:r>
              <a:rPr dirty="0" u="heavy" sz="2800" spc="-8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con</a:t>
            </a:r>
            <a:r>
              <a:rPr dirty="0" u="heavy" sz="2800" spc="-75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800">
                <a:solidFill>
                  <a:srgbClr val="4E3629"/>
                </a:solidFill>
                <a:uFill>
                  <a:solidFill>
                    <a:srgbClr val="EC2814"/>
                  </a:solidFill>
                </a:uFill>
                <a:latin typeface="Calibri"/>
                <a:cs typeface="Calibri"/>
              </a:rPr>
              <a:t>fechas.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Principalmente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utiliza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para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terminar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columna,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expresión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valor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un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número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especificado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114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posiciones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decimales</a:t>
            </a:r>
            <a:endParaRPr sz="2800">
              <a:latin typeface="Calibri"/>
              <a:cs typeface="Calibri"/>
            </a:endParaRPr>
          </a:p>
          <a:p>
            <a:pPr marL="182880" marR="216535" indent="-170815">
              <a:lnSpc>
                <a:spcPct val="80000"/>
              </a:lnSpc>
              <a:spcBef>
                <a:spcPts val="81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Cuando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usa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TRUNC,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número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posiciones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decimales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ha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especificado,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entonces,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tal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como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ocurre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ROUND,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número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especificado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define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por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defecto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cero</a:t>
            </a:r>
            <a:endParaRPr sz="2800">
              <a:latin typeface="Calibri"/>
              <a:cs typeface="Calibri"/>
            </a:endParaRPr>
          </a:p>
          <a:p>
            <a:pPr marL="183515" indent="-170815">
              <a:lnSpc>
                <a:spcPct val="100000"/>
              </a:lnSpc>
              <a:spcBef>
                <a:spcPts val="120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Sintaxis: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83552" y="5202557"/>
            <a:ext cx="39878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3515" indent="-170815">
              <a:lnSpc>
                <a:spcPct val="100000"/>
              </a:lnSpc>
              <a:spcBef>
                <a:spcPts val="95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  <a:tab pos="3164840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TRUNC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(45.926,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2)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45.92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05384" y="4828032"/>
            <a:ext cx="8345805" cy="338455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44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TRUNC(column|expression,</a:t>
            </a:r>
            <a:r>
              <a:rPr dirty="0" sz="1800" spc="-16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decimal</a:t>
            </a:r>
            <a:r>
              <a:rPr dirty="0" sz="1800" spc="-15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places)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TRUNC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4-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/>
              <a:t>Funciones</a:t>
            </a:r>
            <a:r>
              <a:rPr dirty="0" spc="-45"/>
              <a:t> </a:t>
            </a:r>
            <a:r>
              <a:rPr dirty="0" spc="-10"/>
              <a:t>Numéricas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10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416165" cy="393128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Al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igual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con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ROUND,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expresión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TRUNC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no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especifica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9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número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posiciones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decimales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o 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especifica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cero,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8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número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se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trunca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cero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posiciones</a:t>
            </a:r>
            <a:r>
              <a:rPr dirty="0" sz="2800" spc="-1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decimales</a:t>
            </a:r>
            <a:endParaRPr sz="2800">
              <a:latin typeface="Calibri"/>
              <a:cs typeface="Calibri"/>
            </a:endParaRPr>
          </a:p>
          <a:p>
            <a:pPr marL="183515" indent="-170815">
              <a:lnSpc>
                <a:spcPct val="100000"/>
              </a:lnSpc>
              <a:spcBef>
                <a:spcPts val="405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  <a:tab pos="308419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TRUNC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(45.926,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0)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45</a:t>
            </a:r>
            <a:endParaRPr sz="2800">
              <a:latin typeface="Calibri"/>
              <a:cs typeface="Calibri"/>
            </a:endParaRPr>
          </a:p>
          <a:p>
            <a:pPr marL="183515" indent="-170815">
              <a:lnSpc>
                <a:spcPct val="10000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  <a:tab pos="283654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TRUNC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(45.926)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45</a:t>
            </a:r>
            <a:endParaRPr sz="2800">
              <a:latin typeface="Calibri"/>
              <a:cs typeface="Calibri"/>
            </a:endParaRPr>
          </a:p>
          <a:p>
            <a:pPr marL="183515" indent="-170815">
              <a:lnSpc>
                <a:spcPct val="100000"/>
              </a:lnSpc>
              <a:spcBef>
                <a:spcPts val="455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Recuerde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TRUNC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no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redondea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número.</a:t>
            </a:r>
            <a:endParaRPr sz="2800">
              <a:latin typeface="Calibri"/>
              <a:cs typeface="Calibri"/>
            </a:endParaRPr>
          </a:p>
          <a:p>
            <a:pPr marL="182880" marR="699770" indent="-170815">
              <a:lnSpc>
                <a:spcPts val="3030"/>
              </a:lnSpc>
              <a:spcBef>
                <a:spcPts val="84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Simplemente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termina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número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en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5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punto 	determinado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"/>
              <a:t>MOD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4-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/>
              <a:t>Funciones</a:t>
            </a:r>
            <a:r>
              <a:rPr dirty="0" spc="-45"/>
              <a:t> </a:t>
            </a:r>
            <a:r>
              <a:rPr dirty="0" spc="-10"/>
              <a:t>Numéricas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11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/>
              <a:t>La</a:t>
            </a:r>
            <a:r>
              <a:rPr dirty="0" spc="-65"/>
              <a:t> </a:t>
            </a:r>
            <a:r>
              <a:rPr dirty="0"/>
              <a:t>función</a:t>
            </a:r>
            <a:r>
              <a:rPr dirty="0" spc="-30"/>
              <a:t> </a:t>
            </a:r>
            <a:r>
              <a:rPr dirty="0"/>
              <a:t>MOD</a:t>
            </a:r>
            <a:r>
              <a:rPr dirty="0" spc="-45"/>
              <a:t> </a:t>
            </a:r>
            <a:r>
              <a:rPr dirty="0" spc="-10"/>
              <a:t>encuentra</a:t>
            </a:r>
            <a:r>
              <a:rPr dirty="0" spc="-30"/>
              <a:t> </a:t>
            </a:r>
            <a:r>
              <a:rPr dirty="0"/>
              <a:t>el</a:t>
            </a:r>
            <a:r>
              <a:rPr dirty="0" spc="-60"/>
              <a:t> </a:t>
            </a:r>
            <a:r>
              <a:rPr dirty="0"/>
              <a:t>resto</a:t>
            </a:r>
            <a:r>
              <a:rPr dirty="0" spc="-50"/>
              <a:t> </a:t>
            </a:r>
            <a:r>
              <a:rPr dirty="0"/>
              <a:t>después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50"/>
              <a:t> </a:t>
            </a:r>
            <a:r>
              <a:rPr dirty="0"/>
              <a:t>que</a:t>
            </a:r>
            <a:r>
              <a:rPr dirty="0" spc="-35"/>
              <a:t> </a:t>
            </a:r>
            <a:r>
              <a:rPr dirty="0" spc="-25"/>
              <a:t>un </a:t>
            </a:r>
            <a:r>
              <a:rPr dirty="0" spc="-25"/>
              <a:t>	</a:t>
            </a:r>
            <a:r>
              <a:rPr dirty="0"/>
              <a:t>valor</a:t>
            </a:r>
            <a:r>
              <a:rPr dirty="0" spc="-75"/>
              <a:t> </a:t>
            </a:r>
            <a:r>
              <a:rPr dirty="0"/>
              <a:t>se</a:t>
            </a:r>
            <a:r>
              <a:rPr dirty="0" spc="-70"/>
              <a:t> </a:t>
            </a:r>
            <a:r>
              <a:rPr dirty="0"/>
              <a:t>divida</a:t>
            </a:r>
            <a:r>
              <a:rPr dirty="0" spc="-45"/>
              <a:t> </a:t>
            </a:r>
            <a:r>
              <a:rPr dirty="0"/>
              <a:t>entre</a:t>
            </a:r>
            <a:r>
              <a:rPr dirty="0" spc="-70"/>
              <a:t> </a:t>
            </a:r>
            <a:r>
              <a:rPr dirty="0"/>
              <a:t>otro</a:t>
            </a:r>
            <a:r>
              <a:rPr dirty="0" spc="-55"/>
              <a:t> </a:t>
            </a:r>
            <a:r>
              <a:rPr dirty="0" spc="-10"/>
              <a:t>valor</a:t>
            </a:r>
          </a:p>
          <a:p>
            <a:pPr marL="183515" indent="-170815">
              <a:lnSpc>
                <a:spcPct val="100000"/>
              </a:lnSpc>
              <a:spcBef>
                <a:spcPts val="415"/>
              </a:spcBef>
              <a:buClr>
                <a:srgbClr val="D1350F"/>
              </a:buClr>
              <a:buFont typeface="Arial MT"/>
              <a:buChar char="•"/>
              <a:tabLst>
                <a:tab pos="183515" algn="l"/>
              </a:tabLst>
            </a:pPr>
            <a:r>
              <a:rPr dirty="0"/>
              <a:t>Por</a:t>
            </a:r>
            <a:r>
              <a:rPr dirty="0" spc="-55"/>
              <a:t> </a:t>
            </a:r>
            <a:r>
              <a:rPr dirty="0"/>
              <a:t>ejemplo,</a:t>
            </a:r>
            <a:r>
              <a:rPr dirty="0" spc="-40"/>
              <a:t> </a:t>
            </a:r>
            <a:r>
              <a:rPr dirty="0"/>
              <a:t>el</a:t>
            </a:r>
            <a:r>
              <a:rPr dirty="0" spc="-70"/>
              <a:t> </a:t>
            </a:r>
            <a:r>
              <a:rPr dirty="0"/>
              <a:t>MOD</a:t>
            </a:r>
            <a:r>
              <a:rPr dirty="0" spc="-45"/>
              <a:t> </a:t>
            </a:r>
            <a:r>
              <a:rPr dirty="0"/>
              <a:t>de</a:t>
            </a:r>
            <a:r>
              <a:rPr dirty="0" spc="-60"/>
              <a:t> </a:t>
            </a:r>
            <a:r>
              <a:rPr dirty="0"/>
              <a:t>5</a:t>
            </a:r>
            <a:r>
              <a:rPr dirty="0" spc="-55"/>
              <a:t> </a:t>
            </a:r>
            <a:r>
              <a:rPr dirty="0"/>
              <a:t>dividido</a:t>
            </a:r>
            <a:r>
              <a:rPr dirty="0" spc="-25"/>
              <a:t> </a:t>
            </a:r>
            <a:r>
              <a:rPr dirty="0"/>
              <a:t>entre</a:t>
            </a:r>
            <a:r>
              <a:rPr dirty="0" spc="-50"/>
              <a:t> </a:t>
            </a:r>
            <a:r>
              <a:rPr dirty="0"/>
              <a:t>2</a:t>
            </a:r>
            <a:r>
              <a:rPr dirty="0" spc="-55"/>
              <a:t> </a:t>
            </a:r>
            <a:r>
              <a:rPr dirty="0"/>
              <a:t>es</a:t>
            </a:r>
            <a:r>
              <a:rPr dirty="0" spc="-60"/>
              <a:t> </a:t>
            </a:r>
            <a:r>
              <a:rPr dirty="0" spc="-50"/>
              <a:t>1</a:t>
            </a:r>
          </a:p>
          <a:p>
            <a:pPr marL="159385" marR="244475" indent="-147320">
              <a:lnSpc>
                <a:spcPts val="3030"/>
              </a:lnSpc>
              <a:spcBef>
                <a:spcPts val="844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u="heavy" spc="-52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MOD</a:t>
            </a:r>
            <a:r>
              <a:rPr dirty="0" u="heavy" spc="-5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se</a:t>
            </a:r>
            <a:r>
              <a:rPr dirty="0" u="heavy" spc="-6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puede</a:t>
            </a:r>
            <a:r>
              <a:rPr dirty="0" u="heavy" spc="-3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utilizar</a:t>
            </a:r>
            <a:r>
              <a:rPr dirty="0" u="heavy" spc="-5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para</a:t>
            </a:r>
            <a:r>
              <a:rPr dirty="0" u="heavy" spc="-6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pc="-10">
                <a:uFill>
                  <a:solidFill>
                    <a:srgbClr val="EC2814"/>
                  </a:solidFill>
                </a:uFill>
              </a:rPr>
              <a:t>determinar</a:t>
            </a:r>
            <a:r>
              <a:rPr dirty="0" u="heavy" spc="-5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si</a:t>
            </a:r>
            <a:r>
              <a:rPr dirty="0" u="heavy" spc="-5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un</a:t>
            </a:r>
            <a:r>
              <a:rPr dirty="0" u="heavy" spc="-45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valor</a:t>
            </a:r>
            <a:r>
              <a:rPr dirty="0" u="heavy" spc="-6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pc="-25">
                <a:uFill>
                  <a:solidFill>
                    <a:srgbClr val="EC2814"/>
                  </a:solidFill>
                </a:uFill>
              </a:rPr>
              <a:t>es</a:t>
            </a:r>
            <a:r>
              <a:rPr dirty="0" spc="-25"/>
              <a:t> </a:t>
            </a:r>
            <a:r>
              <a:rPr dirty="0" spc="-25"/>
              <a:t>	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par</a:t>
            </a:r>
            <a:r>
              <a:rPr dirty="0" u="heavy" spc="-4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>
                <a:uFill>
                  <a:solidFill>
                    <a:srgbClr val="EC2814"/>
                  </a:solidFill>
                </a:uFill>
              </a:rPr>
              <a:t>o</a:t>
            </a:r>
            <a:r>
              <a:rPr dirty="0" u="heavy" spc="-50">
                <a:uFill>
                  <a:solidFill>
                    <a:srgbClr val="EC2814"/>
                  </a:solidFill>
                </a:uFill>
              </a:rPr>
              <a:t> </a:t>
            </a:r>
            <a:r>
              <a:rPr dirty="0" u="heavy" spc="-40">
                <a:uFill>
                  <a:solidFill>
                    <a:srgbClr val="EC2814"/>
                  </a:solidFill>
                </a:uFill>
              </a:rPr>
              <a:t>impar</a:t>
            </a:r>
            <a:r>
              <a:rPr dirty="0" spc="-40"/>
              <a:t>.</a:t>
            </a:r>
            <a:r>
              <a:rPr dirty="0" spc="-35"/>
              <a:t> </a:t>
            </a:r>
            <a:r>
              <a:rPr dirty="0"/>
              <a:t>Si</a:t>
            </a:r>
            <a:r>
              <a:rPr dirty="0" spc="-40"/>
              <a:t> </a:t>
            </a:r>
            <a:r>
              <a:rPr dirty="0"/>
              <a:t>se</a:t>
            </a:r>
            <a:r>
              <a:rPr dirty="0" spc="-50"/>
              <a:t> </a:t>
            </a:r>
            <a:r>
              <a:rPr dirty="0"/>
              <a:t>divide</a:t>
            </a:r>
            <a:r>
              <a:rPr dirty="0" spc="-25"/>
              <a:t> </a:t>
            </a:r>
            <a:r>
              <a:rPr dirty="0"/>
              <a:t>un</a:t>
            </a:r>
            <a:r>
              <a:rPr dirty="0" spc="-30"/>
              <a:t> </a:t>
            </a:r>
            <a:r>
              <a:rPr dirty="0"/>
              <a:t>valor</a:t>
            </a:r>
            <a:r>
              <a:rPr dirty="0" spc="-50"/>
              <a:t> </a:t>
            </a:r>
            <a:r>
              <a:rPr dirty="0"/>
              <a:t>entre</a:t>
            </a:r>
            <a:r>
              <a:rPr dirty="0" spc="-50"/>
              <a:t> </a:t>
            </a:r>
            <a:r>
              <a:rPr dirty="0"/>
              <a:t>2</a:t>
            </a:r>
            <a:r>
              <a:rPr dirty="0" spc="-35"/>
              <a:t> </a:t>
            </a:r>
            <a:r>
              <a:rPr dirty="0"/>
              <a:t>y</a:t>
            </a:r>
            <a:r>
              <a:rPr dirty="0" spc="-60"/>
              <a:t> </a:t>
            </a:r>
            <a:r>
              <a:rPr dirty="0"/>
              <a:t>no</a:t>
            </a:r>
            <a:r>
              <a:rPr dirty="0" spc="-35"/>
              <a:t> </a:t>
            </a:r>
            <a:r>
              <a:rPr dirty="0" spc="-25"/>
              <a:t>hay </a:t>
            </a:r>
            <a:r>
              <a:rPr dirty="0" spc="-25"/>
              <a:t>	</a:t>
            </a:r>
            <a:r>
              <a:rPr dirty="0"/>
              <a:t>ningún</a:t>
            </a:r>
            <a:r>
              <a:rPr dirty="0" spc="-60"/>
              <a:t> </a:t>
            </a:r>
            <a:r>
              <a:rPr dirty="0" spc="-10"/>
              <a:t>resto,</a:t>
            </a:r>
            <a:r>
              <a:rPr dirty="0" spc="-70"/>
              <a:t> </a:t>
            </a:r>
            <a:r>
              <a:rPr dirty="0"/>
              <a:t>el</a:t>
            </a:r>
            <a:r>
              <a:rPr dirty="0" spc="-90"/>
              <a:t> </a:t>
            </a:r>
            <a:r>
              <a:rPr dirty="0"/>
              <a:t>número</a:t>
            </a:r>
            <a:r>
              <a:rPr dirty="0" spc="-60"/>
              <a:t> </a:t>
            </a:r>
            <a:r>
              <a:rPr dirty="0"/>
              <a:t>debe</a:t>
            </a:r>
            <a:r>
              <a:rPr dirty="0" spc="-60"/>
              <a:t> </a:t>
            </a:r>
            <a:r>
              <a:rPr dirty="0"/>
              <a:t>ser</a:t>
            </a:r>
            <a:r>
              <a:rPr dirty="0" spc="-80"/>
              <a:t> </a:t>
            </a:r>
            <a:r>
              <a:rPr dirty="0"/>
              <a:t>un</a:t>
            </a:r>
            <a:r>
              <a:rPr dirty="0" spc="-65"/>
              <a:t> </a:t>
            </a:r>
            <a:r>
              <a:rPr dirty="0"/>
              <a:t>número</a:t>
            </a:r>
            <a:r>
              <a:rPr dirty="0" spc="-50"/>
              <a:t> </a:t>
            </a:r>
            <a:r>
              <a:rPr dirty="0" spc="-25"/>
              <a:t>par</a:t>
            </a:r>
          </a:p>
          <a:p>
            <a:pPr marL="182880" marR="753110" indent="-170815">
              <a:lnSpc>
                <a:spcPts val="3030"/>
              </a:lnSpc>
              <a:spcBef>
                <a:spcPts val="775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/>
              <a:t>Por</a:t>
            </a:r>
            <a:r>
              <a:rPr dirty="0" spc="-50"/>
              <a:t> </a:t>
            </a:r>
            <a:r>
              <a:rPr dirty="0"/>
              <a:t>ejemplo,</a:t>
            </a:r>
            <a:r>
              <a:rPr dirty="0" spc="-35"/>
              <a:t> </a:t>
            </a:r>
            <a:r>
              <a:rPr dirty="0"/>
              <a:t>si</a:t>
            </a:r>
            <a:r>
              <a:rPr dirty="0" spc="-50"/>
              <a:t> </a:t>
            </a:r>
            <a:r>
              <a:rPr dirty="0"/>
              <a:t>el</a:t>
            </a:r>
            <a:r>
              <a:rPr dirty="0" spc="-75"/>
              <a:t> </a:t>
            </a:r>
            <a:r>
              <a:rPr dirty="0"/>
              <a:t>MOD</a:t>
            </a:r>
            <a:r>
              <a:rPr dirty="0" spc="-40"/>
              <a:t> </a:t>
            </a:r>
            <a:r>
              <a:rPr dirty="0"/>
              <a:t>de</a:t>
            </a:r>
            <a:r>
              <a:rPr dirty="0" spc="-45"/>
              <a:t> </a:t>
            </a:r>
            <a:r>
              <a:rPr dirty="0"/>
              <a:t>x</a:t>
            </a:r>
            <a:r>
              <a:rPr dirty="0" spc="-55"/>
              <a:t> </a:t>
            </a:r>
            <a:r>
              <a:rPr dirty="0"/>
              <a:t>dividido</a:t>
            </a:r>
            <a:r>
              <a:rPr dirty="0" spc="-15"/>
              <a:t> </a:t>
            </a:r>
            <a:r>
              <a:rPr dirty="0"/>
              <a:t>entre</a:t>
            </a:r>
            <a:r>
              <a:rPr dirty="0" spc="-55"/>
              <a:t> </a:t>
            </a:r>
            <a:r>
              <a:rPr dirty="0"/>
              <a:t>2</a:t>
            </a:r>
            <a:r>
              <a:rPr dirty="0" spc="-50"/>
              <a:t> </a:t>
            </a:r>
            <a:r>
              <a:rPr dirty="0"/>
              <a:t>es</a:t>
            </a:r>
            <a:r>
              <a:rPr dirty="0" spc="-60"/>
              <a:t> </a:t>
            </a:r>
            <a:r>
              <a:rPr dirty="0" spc="-25"/>
              <a:t>0, </a:t>
            </a:r>
            <a:r>
              <a:rPr dirty="0" spc="-25"/>
              <a:t>	</a:t>
            </a:r>
            <a:r>
              <a:rPr dirty="0" spc="-10"/>
              <a:t>entonces,</a:t>
            </a:r>
            <a:r>
              <a:rPr dirty="0" spc="-45"/>
              <a:t> </a:t>
            </a:r>
            <a:r>
              <a:rPr dirty="0"/>
              <a:t>x</a:t>
            </a:r>
            <a:r>
              <a:rPr dirty="0" spc="-55"/>
              <a:t> </a:t>
            </a:r>
            <a:r>
              <a:rPr dirty="0"/>
              <a:t>debe</a:t>
            </a:r>
            <a:r>
              <a:rPr dirty="0" spc="-50"/>
              <a:t> </a:t>
            </a:r>
            <a:r>
              <a:rPr dirty="0"/>
              <a:t>ser</a:t>
            </a:r>
            <a:r>
              <a:rPr dirty="0" spc="-50"/>
              <a:t> </a:t>
            </a:r>
            <a:r>
              <a:rPr dirty="0"/>
              <a:t>un</a:t>
            </a:r>
            <a:r>
              <a:rPr dirty="0" spc="-40"/>
              <a:t> </a:t>
            </a:r>
            <a:r>
              <a:rPr dirty="0"/>
              <a:t>número</a:t>
            </a:r>
            <a:r>
              <a:rPr dirty="0" spc="-40"/>
              <a:t> </a:t>
            </a:r>
            <a:r>
              <a:rPr dirty="0" spc="-25"/>
              <a:t>par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"/>
              <a:t>MOD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/>
              <a:t>DP</a:t>
            </a:r>
            <a:r>
              <a:rPr dirty="0" spc="5"/>
              <a:t> </a:t>
            </a:r>
            <a:r>
              <a:rPr dirty="0" spc="-10"/>
              <a:t>4-</a:t>
            </a:r>
            <a:r>
              <a:rPr dirty="0" spc="-50"/>
              <a:t>2</a:t>
            </a:r>
          </a:p>
          <a:p>
            <a:pPr marL="12700">
              <a:lnSpc>
                <a:spcPts val="965"/>
              </a:lnSpc>
            </a:pPr>
            <a:r>
              <a:rPr dirty="0"/>
              <a:t>Funciones</a:t>
            </a:r>
            <a:r>
              <a:rPr dirty="0" spc="-45"/>
              <a:t> </a:t>
            </a:r>
            <a:r>
              <a:rPr dirty="0" spc="-10"/>
              <a:t>Numéricas</a:t>
            </a: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045"/>
              </a:lnSpc>
            </a:pPr>
            <a:r>
              <a:rPr dirty="0" spc="-25"/>
              <a:t>12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0"/>
              </a:lnSpc>
            </a:pPr>
            <a:r>
              <a:rPr dirty="0"/>
              <a:t>Copyright</a:t>
            </a:r>
            <a:r>
              <a:rPr dirty="0" spc="-35"/>
              <a:t> </a:t>
            </a:r>
            <a:r>
              <a:rPr dirty="0"/>
              <a:t>©</a:t>
            </a:r>
            <a:r>
              <a:rPr dirty="0" spc="-40"/>
              <a:t> </a:t>
            </a:r>
            <a:r>
              <a:rPr dirty="0"/>
              <a:t>2020,</a:t>
            </a:r>
            <a:r>
              <a:rPr dirty="0" spc="-45"/>
              <a:t> </a:t>
            </a:r>
            <a:r>
              <a:rPr dirty="0"/>
              <a:t>Oracle</a:t>
            </a:r>
            <a:r>
              <a:rPr dirty="0" spc="-30"/>
              <a:t> </a:t>
            </a:r>
            <a:r>
              <a:rPr dirty="0"/>
              <a:t>y/o</a:t>
            </a:r>
            <a:r>
              <a:rPr dirty="0" spc="-30"/>
              <a:t> </a:t>
            </a:r>
            <a:r>
              <a:rPr dirty="0"/>
              <a:t>sus</a:t>
            </a:r>
            <a:r>
              <a:rPr dirty="0" spc="-35"/>
              <a:t> </a:t>
            </a:r>
            <a:r>
              <a:rPr dirty="0"/>
              <a:t>filiales.</a:t>
            </a:r>
            <a:r>
              <a:rPr dirty="0" spc="-10"/>
              <a:t> </a:t>
            </a:r>
            <a:r>
              <a:rPr dirty="0"/>
              <a:t>Todos</a:t>
            </a:r>
            <a:r>
              <a:rPr dirty="0" spc="-35"/>
              <a:t> </a:t>
            </a:r>
            <a:r>
              <a:rPr dirty="0"/>
              <a:t>los</a:t>
            </a:r>
            <a:r>
              <a:rPr dirty="0" spc="-25"/>
              <a:t> </a:t>
            </a:r>
            <a:r>
              <a:rPr dirty="0"/>
              <a:t>derechos</a:t>
            </a:r>
            <a:r>
              <a:rPr dirty="0" spc="-5"/>
              <a:t> </a:t>
            </a:r>
            <a:r>
              <a:rPr dirty="0" spc="-10"/>
              <a:t>reservados.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83552" y="1415417"/>
            <a:ext cx="7654290" cy="836294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La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columna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"Mod</a:t>
            </a:r>
            <a:r>
              <a:rPr dirty="0" sz="2800" spc="-3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Demo"</a:t>
            </a:r>
            <a:r>
              <a:rPr dirty="0" sz="2800" spc="-4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4E3629"/>
                </a:solidFill>
                <a:latin typeface="Calibri"/>
                <a:cs typeface="Calibri"/>
              </a:rPr>
              <a:t>mostrará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7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número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 de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aeropuertos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de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cada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país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un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número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par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o</a:t>
            </a:r>
            <a:r>
              <a:rPr dirty="0" sz="2800" spc="-5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4E3629"/>
                </a:solidFill>
                <a:latin typeface="Calibri"/>
                <a:cs typeface="Calibri"/>
              </a:rPr>
              <a:t>impar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83552" y="3742565"/>
            <a:ext cx="4233545" cy="122047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82880" marR="5080" indent="-170815">
              <a:lnSpc>
                <a:spcPts val="3030"/>
              </a:lnSpc>
              <a:spcBef>
                <a:spcPts val="470"/>
              </a:spcBef>
              <a:buClr>
                <a:srgbClr val="D1350F"/>
              </a:buClr>
              <a:buFont typeface="Arial MT"/>
              <a:buChar char="•"/>
              <a:tabLst>
                <a:tab pos="184785" algn="l"/>
              </a:tabLst>
            </a:pP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1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Significa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que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el</a:t>
            </a:r>
            <a:r>
              <a:rPr dirty="0" sz="2800" spc="-7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número</a:t>
            </a:r>
            <a:r>
              <a:rPr dirty="0" sz="2800" spc="-4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es 	impar,</a:t>
            </a:r>
            <a:r>
              <a:rPr dirty="0" sz="2800" spc="-6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y</a:t>
            </a:r>
            <a:r>
              <a:rPr dirty="0" sz="2800" spc="-9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cero</a:t>
            </a:r>
            <a:r>
              <a:rPr dirty="0" sz="2800" spc="-8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significa</a:t>
            </a:r>
            <a:r>
              <a:rPr dirty="0" sz="2800" spc="-65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que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4E3629"/>
                </a:solidFill>
                <a:latin typeface="Calibri"/>
                <a:cs typeface="Calibri"/>
              </a:rPr>
              <a:t>es</a:t>
            </a:r>
            <a:r>
              <a:rPr dirty="0" sz="2800" spc="-30">
                <a:solidFill>
                  <a:srgbClr val="4E3629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4E3629"/>
                </a:solidFill>
                <a:latin typeface="Calibri"/>
                <a:cs typeface="Calibri"/>
              </a:rPr>
              <a:t>par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5417779" y="2411037"/>
          <a:ext cx="3278504" cy="2989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9785"/>
                <a:gridCol w="1099185"/>
              </a:tblGrid>
              <a:tr h="41148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1600" spc="-1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COUNTRY_NAME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160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Mod</a:t>
                      </a:r>
                      <a:r>
                        <a:rPr dirty="0" sz="1600" spc="-20" b="1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Demo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28575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Canada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28575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Republic</a:t>
                      </a:r>
                      <a:r>
                        <a:rPr dirty="0" sz="1600" spc="-6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Costa</a:t>
                      </a:r>
                      <a:r>
                        <a:rPr dirty="0" sz="1600" spc="-4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2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Rica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Republic</a:t>
                      </a:r>
                      <a:r>
                        <a:rPr dirty="0" sz="1600" spc="-4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Cape</a:t>
                      </a:r>
                      <a:r>
                        <a:rPr dirty="0" sz="1600" spc="-25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Verde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Greenland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Dominican</a:t>
                      </a:r>
                      <a:r>
                        <a:rPr dirty="0" sz="1600" spc="-7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Republic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State</a:t>
                      </a: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600" spc="-3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Eritrea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600" spc="-50">
                          <a:solidFill>
                            <a:srgbClr val="4E3629"/>
                          </a:solidFill>
                          <a:latin typeface="Calibri"/>
                          <a:cs typeface="Calibri"/>
                        </a:rPr>
                        <a:t>…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4953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1350F"/>
                      </a:solidFill>
                      <a:prstDash val="solid"/>
                    </a:lnL>
                    <a:lnR w="12700">
                      <a:solidFill>
                        <a:srgbClr val="D1350F"/>
                      </a:solidFill>
                      <a:prstDash val="solid"/>
                    </a:lnR>
                    <a:lnT w="12700">
                      <a:solidFill>
                        <a:srgbClr val="D1350F"/>
                      </a:solidFill>
                      <a:prstDash val="solid"/>
                    </a:lnT>
                    <a:lnB w="12700">
                      <a:solidFill>
                        <a:srgbClr val="D1350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 descr=""/>
          <p:cNvSpPr txBox="1"/>
          <p:nvPr/>
        </p:nvSpPr>
        <p:spPr>
          <a:xfrm>
            <a:off x="405384" y="2417064"/>
            <a:ext cx="4944110" cy="1100455"/>
          </a:xfrm>
          <a:prstGeom prst="rect">
            <a:avLst/>
          </a:prstGeom>
          <a:solidFill>
            <a:srgbClr val="9DBEC4">
              <a:alpha val="50199"/>
            </a:srgbClr>
          </a:solidFill>
        </p:spPr>
        <p:txBody>
          <a:bodyPr wrap="square" lIns="0" tIns="111125" rIns="0" bIns="0" rtlCol="0" vert="horz">
            <a:spAutoFit/>
          </a:bodyPr>
          <a:lstStyle/>
          <a:p>
            <a:pPr marR="21590">
              <a:lnSpc>
                <a:spcPct val="100000"/>
              </a:lnSpc>
              <a:spcBef>
                <a:spcPts val="875"/>
              </a:spcBef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SELECT</a:t>
            </a:r>
            <a:r>
              <a:rPr dirty="0" sz="1800" spc="-10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country_name,</a:t>
            </a:r>
            <a:r>
              <a:rPr dirty="0" sz="1800" spc="-95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MOD(airports,2)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AS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"Mod</a:t>
            </a:r>
            <a:r>
              <a:rPr dirty="0" sz="1800" spc="-3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20" b="1">
                <a:solidFill>
                  <a:srgbClr val="4E3629"/>
                </a:solidFill>
                <a:latin typeface="Courier New"/>
                <a:cs typeface="Courier New"/>
              </a:rPr>
              <a:t>Demo"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dirty="0" sz="1800" b="1">
                <a:solidFill>
                  <a:srgbClr val="4E3629"/>
                </a:solidFill>
                <a:latin typeface="Courier New"/>
                <a:cs typeface="Courier New"/>
              </a:rPr>
              <a:t>FROM</a:t>
            </a:r>
            <a:r>
              <a:rPr dirty="0" sz="1800" spc="-40" b="1">
                <a:solidFill>
                  <a:srgbClr val="4E3629"/>
                </a:solidFill>
                <a:latin typeface="Courier New"/>
                <a:cs typeface="Courier New"/>
              </a:rPr>
              <a:t> </a:t>
            </a:r>
            <a:r>
              <a:rPr dirty="0" sz="1800" spc="-10" b="1">
                <a:solidFill>
                  <a:srgbClr val="4E3629"/>
                </a:solidFill>
                <a:latin typeface="Courier New"/>
                <a:cs typeface="Courier New"/>
              </a:rPr>
              <a:t>wf_countries;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Oracle Academy</dc:creator>
  <dc:title>PowerPoint Presentation</dc:title>
  <dcterms:created xsi:type="dcterms:W3CDTF">2025-06-01T18:23:24Z</dcterms:created>
  <dcterms:modified xsi:type="dcterms:W3CDTF">2025-06-01T18:23:24Z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2025-04-07T00:00:00Z</vt:filetime>
  </property>
  <property fmtid="{D5CDD505-2E9C-101B-9397-08002B2CF9AE}" pid="3" name="Creator">
    <vt:lpwstr>Acrobat PDFMaker 20 for PowerPoint</vt:lpwstr>
  </property>
  <property fmtid="{D5CDD505-2E9C-101B-9397-08002B2CF9AE}" pid="4" name="LastSaved">
    <vt:filetime>2025-06-01T00:00:00Z</vt:filetime>
  </property>
  <property fmtid="{D5CDD505-2E9C-101B-9397-08002B2CF9AE}" pid="5" name="Producer">
    <vt:lpwstr>macOS Version 15.3.1 (Build 24D70) Quartz PDFContext</vt:lpwstr>
  </property>
</Properties>
</file>