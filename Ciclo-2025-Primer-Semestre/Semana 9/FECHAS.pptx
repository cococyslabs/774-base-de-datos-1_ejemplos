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15:11:00</a:t>
            </a:r>
          </a:p>
          <a:p>
            <a:r>
              <a:t>--------------------------------------------</a:t>
            </a:r>
          </a:p>
          <a:p>
            <a:r>
              <a:t>Estos ejemplos muestran el uso de las operaciones aritméticas con fechas.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15:11:01</a:t>
            </a:r>
          </a:p>
          <a:p>
            <a:r>
              <a:t>--------------------------------------------</a:t>
            </a:r>
          </a:p>
          <a:p>
            <a:r>
              <a:t>Para los ejemplos que figuran a continuación, SYSDATE es 01-Jul-2015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15:11:01</a:t>
            </a:r>
          </a:p>
          <a:p>
            <a:r>
              <a:t>--------------------------------------------</a:t>
            </a:r>
          </a:p>
          <a:p>
            <a:r>
              <a:t>Este ejemplo devuelve los empleados contratados hace más de 240 meses (20 años).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2021-05-06 15:11:01</a:t>
            </a:r>
          </a:p>
          <a:p>
            <a:r>
              <a:t>--------------------------------------------</a:t>
            </a:r>
          </a:p>
          <a:p>
            <a:r>
              <a:t>Este ejemplo agrega 12 meses a la fecha actual.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673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673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673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673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673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398716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980" y="2527300"/>
            <a:ext cx="7380605" cy="310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55904" y="6510552"/>
            <a:ext cx="888364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6856" y="6589648"/>
            <a:ext cx="173608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67310">
              <a:lnSpc>
                <a:spcPts val="9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5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482215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4-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2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5108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Visualización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70"/>
              <a:t> </a:t>
            </a:r>
            <a:r>
              <a:rPr dirty="0" spc="-10"/>
              <a:t>Fechas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910"/>
              </a:lnSpc>
            </a:pPr>
            <a:r>
              <a:rPr dirty="0" spc="-50"/>
              <a:t>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8179434" cy="427228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59385" marR="113030" indent="-147320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visualización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por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defecto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formato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entrada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fechas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DD-Mon-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YYYY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3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ejemplo: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02-Dec-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2014</a:t>
            </a:r>
            <a:endParaRPr sz="2800">
              <a:latin typeface="Calibri"/>
              <a:cs typeface="Calibri"/>
            </a:endParaRPr>
          </a:p>
          <a:p>
            <a:pPr marL="182880" marR="321945" indent="-170815">
              <a:lnSpc>
                <a:spcPct val="800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embargo,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almacena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interno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numérico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representa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siglo,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año,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mes,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día,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hora,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minuto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segundo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ts val="3025"/>
              </a:lnSpc>
              <a:spcBef>
                <a:spcPts val="13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válidas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4712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3025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A.C.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31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diciembre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9999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D.C.</a:t>
            </a:r>
            <a:endParaRPr sz="2800">
              <a:latin typeface="Calibri"/>
              <a:cs typeface="Calibri"/>
            </a:endParaRPr>
          </a:p>
          <a:p>
            <a:pPr marL="182880" marR="109220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representa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rango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puede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correctamente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147764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SYSDATE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910"/>
              </a:lnSpc>
            </a:pPr>
            <a:r>
              <a:rPr dirty="0" spc="-50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35620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SYSDATE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fecha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hora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actuales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servidor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236854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SYSDATE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mostrar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actual,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DUAL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457827" y="4327601"/>
          <a:ext cx="1752600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064"/>
              </a:tblGrid>
              <a:tr h="3848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SYSDATE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01-Jul-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2017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3337559"/>
            <a:ext cx="8345805" cy="6038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SYSDATE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dual;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Trabajar</a:t>
            </a:r>
            <a:r>
              <a:rPr dirty="0" spc="-110"/>
              <a:t> </a:t>
            </a:r>
            <a:r>
              <a:rPr dirty="0"/>
              <a:t>con</a:t>
            </a:r>
            <a:r>
              <a:rPr dirty="0" spc="-90"/>
              <a:t> </a:t>
            </a:r>
            <a:r>
              <a:rPr dirty="0" spc="-10"/>
              <a:t>fechas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8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98462" y="1441450"/>
          <a:ext cx="8437880" cy="3959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1460"/>
                <a:gridCol w="3016885"/>
              </a:tblGrid>
              <a:tr h="39560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104139" marR="2090420">
                        <a:lnSpc>
                          <a:spcPts val="2090"/>
                        </a:lnSpc>
                        <a:spcBef>
                          <a:spcPts val="365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last_name,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hire_date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Agrega</a:t>
                      </a:r>
                      <a:r>
                        <a:rPr dirty="0" sz="20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</a:t>
                      </a:r>
                      <a:r>
                        <a:rPr dirty="0" sz="20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días</a:t>
                      </a:r>
                      <a:r>
                        <a:rPr dirty="0" sz="20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hire_date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05205">
                <a:tc>
                  <a:txBody>
                    <a:bodyPr/>
                    <a:lstStyle/>
                    <a:p>
                      <a:pPr marL="182245" marR="2453005" indent="-781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last_name,</a:t>
                      </a:r>
                      <a:r>
                        <a:rPr dirty="0" sz="18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(SYSDATE</a:t>
                      </a:r>
                      <a:r>
                        <a:rPr dirty="0" sz="18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hire_date)/7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4139">
                        <a:lnSpc>
                          <a:spcPts val="2090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104139" marR="584835">
                        <a:lnSpc>
                          <a:spcPct val="100299"/>
                        </a:lnSpc>
                        <a:spcBef>
                          <a:spcPts val="225"/>
                        </a:spcBef>
                      </a:pP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20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20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número</a:t>
                      </a:r>
                      <a:r>
                        <a:rPr dirty="0" sz="20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semanas</a:t>
                      </a:r>
                      <a:r>
                        <a:rPr dirty="0" sz="20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desde</a:t>
                      </a:r>
                      <a:r>
                        <a:rPr dirty="0" sz="20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20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 </a:t>
                      </a: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contrató</a:t>
                      </a:r>
                      <a:r>
                        <a:rPr dirty="0" sz="20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20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empleado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919605">
                <a:tc>
                  <a:txBody>
                    <a:bodyPr/>
                    <a:lstStyle/>
                    <a:p>
                      <a:pPr marL="182245" marR="2117725" indent="-781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employee_id,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(end_date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start_date)/365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4139" marR="3054350" indent="104775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"Tenure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job"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job_history;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marR="325120">
                        <a:lnSpc>
                          <a:spcPct val="100099"/>
                        </a:lnSpc>
                        <a:spcBef>
                          <a:spcPts val="229"/>
                        </a:spcBef>
                      </a:pP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Busca</a:t>
                      </a:r>
                      <a:r>
                        <a:rPr dirty="0" sz="20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20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número</a:t>
                      </a:r>
                      <a:r>
                        <a:rPr dirty="0" sz="20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días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20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mantuvo</a:t>
                      </a:r>
                      <a:r>
                        <a:rPr dirty="0" sz="20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trabajo</a:t>
                      </a:r>
                      <a:r>
                        <a:rPr dirty="0" sz="20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empleado</a:t>
                      </a:r>
                      <a:r>
                        <a:rPr dirty="0" sz="20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y,</a:t>
                      </a:r>
                      <a:r>
                        <a:rPr dirty="0" sz="20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continuación,</a:t>
                      </a:r>
                      <a:r>
                        <a:rPr dirty="0" sz="20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</a:t>
                      </a:r>
                      <a:r>
                        <a:rPr dirty="0" sz="2000" spc="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divide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entre</a:t>
                      </a:r>
                      <a:r>
                        <a:rPr dirty="0" sz="20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365</a:t>
                      </a:r>
                      <a:r>
                        <a:rPr dirty="0" sz="20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20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mostrarlo </a:t>
                      </a:r>
                      <a:r>
                        <a:rPr dirty="0" sz="20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20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años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144961" y="4620113"/>
            <a:ext cx="1225550" cy="217170"/>
          </a:xfrm>
          <a:custGeom>
            <a:avLst/>
            <a:gdLst/>
            <a:ahLst/>
            <a:cxnLst/>
            <a:rect l="l" t="t" r="r" b="b"/>
            <a:pathLst>
              <a:path w="1225550" h="217170">
                <a:moveTo>
                  <a:pt x="1171093" y="0"/>
                </a:moveTo>
                <a:lnTo>
                  <a:pt x="54240" y="0"/>
                </a:lnTo>
                <a:lnTo>
                  <a:pt x="34323" y="9322"/>
                </a:lnTo>
                <a:lnTo>
                  <a:pt x="16950" y="33900"/>
                </a:lnTo>
                <a:lnTo>
                  <a:pt x="4661" y="68648"/>
                </a:lnTo>
                <a:lnTo>
                  <a:pt x="0" y="108480"/>
                </a:lnTo>
                <a:lnTo>
                  <a:pt x="4661" y="148313"/>
                </a:lnTo>
                <a:lnTo>
                  <a:pt x="16950" y="183061"/>
                </a:lnTo>
                <a:lnTo>
                  <a:pt x="34323" y="207639"/>
                </a:lnTo>
                <a:lnTo>
                  <a:pt x="54240" y="216961"/>
                </a:lnTo>
                <a:lnTo>
                  <a:pt x="1171093" y="216961"/>
                </a:lnTo>
                <a:lnTo>
                  <a:pt x="1191009" y="207639"/>
                </a:lnTo>
                <a:lnTo>
                  <a:pt x="1208383" y="183061"/>
                </a:lnTo>
                <a:lnTo>
                  <a:pt x="1220672" y="148313"/>
                </a:lnTo>
                <a:lnTo>
                  <a:pt x="1225333" y="108480"/>
                </a:lnTo>
                <a:lnTo>
                  <a:pt x="1220672" y="68648"/>
                </a:lnTo>
                <a:lnTo>
                  <a:pt x="1208383" y="33900"/>
                </a:lnTo>
                <a:lnTo>
                  <a:pt x="1191009" y="9322"/>
                </a:lnTo>
                <a:lnTo>
                  <a:pt x="1171093" y="0"/>
                </a:lnTo>
                <a:close/>
              </a:path>
            </a:pathLst>
          </a:custGeom>
          <a:solidFill>
            <a:srgbClr val="7CC86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0"/>
              <a:t>Fecha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9</a:t>
            </a: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2047171" y="4221608"/>
          <a:ext cx="6649084" cy="2254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0585"/>
                <a:gridCol w="4420235"/>
              </a:tblGrid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MONTHS_BETWEEN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Número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meses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entre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dos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ADD_MONTHS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Agregar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meses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calendario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NEXT_DAY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91515">
                        <a:lnSpc>
                          <a:spcPct val="100699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siguiente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incidencia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día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semana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especificado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LAST_DAY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Último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día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ROUND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Redondear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TRUNC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Truncar</a:t>
                      </a:r>
                      <a:r>
                        <a:rPr dirty="0" sz="1600" spc="-8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483552" y="1415417"/>
            <a:ext cx="8039734" cy="27609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3213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muestran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DATE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excepto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función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MONTHS_BETWEEN,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devuelve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tipo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numérico</a:t>
            </a:r>
            <a:endParaRPr sz="2800">
              <a:latin typeface="Calibri"/>
              <a:cs typeface="Calibri"/>
            </a:endParaRPr>
          </a:p>
          <a:p>
            <a:pPr marL="2312670">
              <a:lnSpc>
                <a:spcPct val="100000"/>
              </a:lnSpc>
              <a:spcBef>
                <a:spcPts val="30"/>
              </a:spcBef>
              <a:tabLst>
                <a:tab pos="5191760" algn="l"/>
              </a:tabLst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Función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Descripción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0"/>
              <a:t>Fecha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10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24190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MONTHS_BETWEEN: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toma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2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DATE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número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meses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calendario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entre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2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fechas</a:t>
            </a:r>
            <a:endParaRPr sz="2800">
              <a:latin typeface="Calibri"/>
              <a:cs typeface="Calibri"/>
            </a:endParaRPr>
          </a:p>
          <a:p>
            <a:pPr marL="182880" marR="90995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argumento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anterior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segunda,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975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devuelto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negativo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998537" y="4013200"/>
          <a:ext cx="6707505" cy="17487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1290"/>
                <a:gridCol w="1143635"/>
                <a:gridCol w="1503045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</a:t>
                      </a:r>
                      <a:r>
                        <a:rPr dirty="0" sz="20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r>
                        <a:rPr dirty="0" sz="2000" spc="-5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1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531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6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last_name,</a:t>
                      </a:r>
                      <a:r>
                        <a:rPr dirty="0" sz="18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hire_date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MONTHS_BETWEEN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(SYSDATE,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hire_date)&gt;240;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 marR="254635">
                        <a:lnSpc>
                          <a:spcPct val="120000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17-Jun-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1987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21-Sep-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1989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13-Jan-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1993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0"/>
              <a:t>Fecha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80705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ADD_MONTHS: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toma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2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argumentos,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número.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valor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numérico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agregado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componente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mensual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</a:t>
            </a:r>
            <a:endParaRPr sz="2800">
              <a:latin typeface="Calibri"/>
              <a:cs typeface="Calibri"/>
            </a:endParaRPr>
          </a:p>
          <a:p>
            <a:pPr marL="182880" marR="24574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proporcionado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negativo,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función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restará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meses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argumento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424781" y="3983445"/>
          <a:ext cx="6370955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0"/>
                <a:gridCol w="1589404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</a:t>
                      </a:r>
                      <a:r>
                        <a:rPr dirty="0" sz="20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r>
                        <a:rPr dirty="0" sz="2000" spc="-5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1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23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ADD_MONTHS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(SYSDATE,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12)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 marR="3131820" indent="104775">
                        <a:lnSpc>
                          <a:spcPct val="116700"/>
                        </a:lnSpc>
                        <a:spcBef>
                          <a:spcPts val="7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"Next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Year"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dual;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01-Jul-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0"/>
              <a:t>Fecha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7118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NEXT_DAY: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toma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2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argumentos,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día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7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7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semana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siguiente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incidencia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día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semana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después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920080" y="3194050"/>
          <a:ext cx="7380605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9865"/>
                <a:gridCol w="2021205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</a:t>
                      </a:r>
                      <a:r>
                        <a:rPr dirty="0" sz="20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r>
                        <a:rPr dirty="0" sz="2000" spc="-5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1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23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NEXT_DAY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(SYSDATE,</a:t>
                      </a:r>
                      <a:r>
                        <a:rPr dirty="0" sz="18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'Saturday')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 marR="3291204" indent="104775">
                        <a:lnSpc>
                          <a:spcPct val="116700"/>
                        </a:lnSpc>
                        <a:spcBef>
                          <a:spcPts val="7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"Next</a:t>
                      </a:r>
                      <a:r>
                        <a:rPr dirty="0" sz="18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Saturday"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dual;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08-Jul-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0"/>
              <a:t>Fecha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43712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LAST_DAY: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toma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último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día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mes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920080" y="2712511"/>
          <a:ext cx="7380605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9865"/>
                <a:gridCol w="2021205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</a:t>
                      </a:r>
                      <a:r>
                        <a:rPr dirty="0" sz="20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r>
                        <a:rPr dirty="0" sz="2000" spc="-5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1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10236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LAST_DAY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(SYSDATE)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 marR="2951480" indent="104775">
                        <a:lnSpc>
                          <a:spcPct val="116700"/>
                        </a:lnSpc>
                        <a:spcBef>
                          <a:spcPts val="7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"End</a:t>
                      </a:r>
                      <a:r>
                        <a:rPr dirty="0" sz="18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Month" </a:t>
                      </a: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dual;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31-Jul-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75"/>
              <a:t> </a:t>
            </a:r>
            <a:r>
              <a:rPr dirty="0" spc="-20"/>
              <a:t>Fecha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Fecha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 spc="-25"/>
              <a:t>14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5271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ROUND: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redondeada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unidad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especificada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segundo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argumento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920080" y="2527300"/>
          <a:ext cx="7380605" cy="3100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2735"/>
                <a:gridCol w="1660525"/>
                <a:gridCol w="1528444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Ejemplos</a:t>
                      </a:r>
                      <a:r>
                        <a:rPr dirty="0" sz="20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r>
                        <a:rPr dirty="0" sz="2000" spc="-5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2000" spc="-1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Fecha: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6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hire_date,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16-Nov-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Dec-1999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96215">
                        <a:lnSpc>
                          <a:spcPts val="2105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ROUND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(hire_date,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'Month')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17-Oct-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01-Nov-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91440">
                        <a:lnSpc>
                          <a:spcPts val="2105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department_id=50;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29-Jan-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1997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Feb-1997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SELECT</a:t>
                      </a: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hire_date,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16-Nov-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01-Jan-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196215">
                        <a:lnSpc>
                          <a:spcPts val="2105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ROUND</a:t>
                      </a:r>
                      <a:r>
                        <a:rPr dirty="0" sz="1800" spc="-5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(hire_date,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'Year')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17-Oct-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01-Jan-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91440">
                        <a:lnSpc>
                          <a:spcPts val="2105"/>
                        </a:lnSpc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8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8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18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department_id=50;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29-Jan-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1997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05"/>
                        </a:lnSpc>
                      </a:pPr>
                      <a:r>
                        <a:rPr dirty="0" sz="18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01-Jan-</a:t>
                      </a:r>
                      <a:r>
                        <a:rPr dirty="0" sz="18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1997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8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2025-06-01T18:24:13Z</dcterms:created>
  <dcterms:modified xsi:type="dcterms:W3CDTF">2025-06-01T18:24:13Z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2025-04-07T00:00:00Z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